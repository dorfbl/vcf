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presentation.xml" ContentType="application/vnd.openxmlformats-officedocument.presentationml.presentation.main+xml"/>
  <Override PartName="/ppt/slides/slide113.xml" ContentType="application/vnd.openxmlformats-officedocument.presentationml.slide+xml"/>
  <Override PartName="/ppt/notesSlides/notesSlide68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52.xml" ContentType="application/vnd.openxmlformats-officedocument.presentationml.notesSlide+xml"/>
  <Override PartName="/ppt/notesSlides/notesSlide8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5"/>
  </p:notesMasterIdLst>
  <p:sldIdLst>
    <p:sldId id="256" r:id="rId2"/>
    <p:sldId id="257" r:id="rId3"/>
    <p:sldId id="258" r:id="rId4"/>
    <p:sldId id="2147469470" r:id="rId5"/>
    <p:sldId id="2147469471" r:id="rId6"/>
    <p:sldId id="2147469472" r:id="rId7"/>
    <p:sldId id="2147469473" r:id="rId8"/>
    <p:sldId id="2147469474" r:id="rId9"/>
    <p:sldId id="259" r:id="rId10"/>
    <p:sldId id="260" r:id="rId11"/>
    <p:sldId id="261" r:id="rId12"/>
    <p:sldId id="262" r:id="rId13"/>
    <p:sldId id="2147469479" r:id="rId14"/>
    <p:sldId id="2147469480" r:id="rId15"/>
    <p:sldId id="263" r:id="rId16"/>
    <p:sldId id="264" r:id="rId17"/>
    <p:sldId id="2147469481" r:id="rId18"/>
    <p:sldId id="2147469482" r:id="rId19"/>
    <p:sldId id="265" r:id="rId20"/>
    <p:sldId id="266" r:id="rId21"/>
    <p:sldId id="2147469483" r:id="rId22"/>
    <p:sldId id="2147469484" r:id="rId23"/>
    <p:sldId id="267" r:id="rId24"/>
    <p:sldId id="268" r:id="rId25"/>
    <p:sldId id="269" r:id="rId26"/>
    <p:sldId id="273" r:id="rId27"/>
    <p:sldId id="275" r:id="rId28"/>
    <p:sldId id="277" r:id="rId29"/>
    <p:sldId id="279" r:id="rId30"/>
    <p:sldId id="281" r:id="rId31"/>
    <p:sldId id="283" r:id="rId32"/>
    <p:sldId id="2147469509" r:id="rId33"/>
    <p:sldId id="285" r:id="rId34"/>
    <p:sldId id="286" r:id="rId35"/>
    <p:sldId id="2147469506" r:id="rId36"/>
    <p:sldId id="2147469507" r:id="rId37"/>
    <p:sldId id="287" r:id="rId38"/>
    <p:sldId id="288" r:id="rId39"/>
    <p:sldId id="2147469501" r:id="rId40"/>
    <p:sldId id="2147469512" r:id="rId41"/>
    <p:sldId id="325" r:id="rId42"/>
    <p:sldId id="2147469502" r:id="rId43"/>
    <p:sldId id="2147469508" r:id="rId44"/>
    <p:sldId id="289" r:id="rId45"/>
    <p:sldId id="290" r:id="rId46"/>
    <p:sldId id="2147469475" r:id="rId47"/>
    <p:sldId id="302" r:id="rId48"/>
    <p:sldId id="303" r:id="rId49"/>
    <p:sldId id="309" r:id="rId50"/>
    <p:sldId id="308" r:id="rId51"/>
    <p:sldId id="307" r:id="rId52"/>
    <p:sldId id="2147469494" r:id="rId53"/>
    <p:sldId id="2147469495" r:id="rId54"/>
    <p:sldId id="2147469496" r:id="rId55"/>
    <p:sldId id="2147469497" r:id="rId56"/>
    <p:sldId id="2147469498" r:id="rId57"/>
    <p:sldId id="2147469499" r:id="rId58"/>
    <p:sldId id="300" r:id="rId59"/>
    <p:sldId id="2147469457" r:id="rId60"/>
    <p:sldId id="2147469456" r:id="rId61"/>
    <p:sldId id="2147469458" r:id="rId62"/>
    <p:sldId id="2147469485" r:id="rId63"/>
    <p:sldId id="2147469459" r:id="rId64"/>
    <p:sldId id="2147469486" r:id="rId65"/>
    <p:sldId id="2147469460" r:id="rId66"/>
    <p:sldId id="2147469487" r:id="rId67"/>
    <p:sldId id="2147469461" r:id="rId68"/>
    <p:sldId id="2147469488" r:id="rId69"/>
    <p:sldId id="2147469462" r:id="rId70"/>
    <p:sldId id="2147469500" r:id="rId71"/>
    <p:sldId id="2147469464" r:id="rId72"/>
    <p:sldId id="2147469476" r:id="rId73"/>
    <p:sldId id="2147469465" r:id="rId74"/>
    <p:sldId id="2147469504" r:id="rId75"/>
    <p:sldId id="2147469477" r:id="rId76"/>
    <p:sldId id="2147469466" r:id="rId77"/>
    <p:sldId id="2147469478" r:id="rId78"/>
    <p:sldId id="2147469467" r:id="rId79"/>
    <p:sldId id="2147469491" r:id="rId80"/>
    <p:sldId id="2147469468" r:id="rId81"/>
    <p:sldId id="2147469492" r:id="rId82"/>
    <p:sldId id="2147469469" r:id="rId83"/>
    <p:sldId id="2147469493" r:id="rId84"/>
    <p:sldId id="2147469503" r:id="rId85"/>
    <p:sldId id="2147469505" r:id="rId86"/>
    <p:sldId id="2147469511" r:id="rId87"/>
    <p:sldId id="2147469510" r:id="rId88"/>
    <p:sldId id="291" r:id="rId89"/>
    <p:sldId id="292" r:id="rId90"/>
    <p:sldId id="293" r:id="rId91"/>
    <p:sldId id="294" r:id="rId92"/>
    <p:sldId id="295" r:id="rId93"/>
    <p:sldId id="296" r:id="rId94"/>
    <p:sldId id="297" r:id="rId95"/>
    <p:sldId id="298" r:id="rId96"/>
    <p:sldId id="299" r:id="rId97"/>
    <p:sldId id="314" r:id="rId98"/>
    <p:sldId id="315" r:id="rId99"/>
    <p:sldId id="316" r:id="rId100"/>
    <p:sldId id="329" r:id="rId101"/>
    <p:sldId id="331" r:id="rId102"/>
    <p:sldId id="332" r:id="rId103"/>
    <p:sldId id="333" r:id="rId104"/>
    <p:sldId id="334" r:id="rId105"/>
    <p:sldId id="335" r:id="rId106"/>
    <p:sldId id="317" r:id="rId107"/>
    <p:sldId id="318" r:id="rId108"/>
    <p:sldId id="319" r:id="rId109"/>
    <p:sldId id="320" r:id="rId110"/>
    <p:sldId id="322" r:id="rId111"/>
    <p:sldId id="324" r:id="rId112"/>
    <p:sldId id="326" r:id="rId113"/>
    <p:sldId id="327" r:id="rId114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6D52A15E-343A-304E-8D77-85032A216627}">
          <p14:sldIdLst>
            <p14:sldId id="256"/>
            <p14:sldId id="257"/>
          </p14:sldIdLst>
        </p14:section>
        <p14:section name="Design Blueprints" id="{063A7AF1-1366-124A-BDE0-8C01D219CD8E}">
          <p14:sldIdLst>
            <p14:sldId id="258"/>
            <p14:sldId id="2147469470"/>
            <p14:sldId id="2147469471"/>
            <p14:sldId id="2147469472"/>
            <p14:sldId id="2147469473"/>
            <p14:sldId id="2147469474"/>
          </p14:sldIdLst>
        </p14:section>
        <p14:section name="VCF Private Cloud Constructs" id="{BC2F607A-6339-5D47-A99E-1725E21F82B6}">
          <p14:sldIdLst>
            <p14:sldId id="259"/>
            <p14:sldId id="260"/>
          </p14:sldIdLst>
        </p14:section>
        <p14:section name="VCF Operations" id="{0A75513E-FD5B-8644-966C-908583536D3E}">
          <p14:sldIdLst>
            <p14:sldId id="261"/>
            <p14:sldId id="262"/>
            <p14:sldId id="2147469479"/>
            <p14:sldId id="2147469480"/>
            <p14:sldId id="263"/>
            <p14:sldId id="264"/>
            <p14:sldId id="2147469481"/>
            <p14:sldId id="2147469482"/>
            <p14:sldId id="265"/>
            <p14:sldId id="266"/>
            <p14:sldId id="2147469483"/>
            <p14:sldId id="2147469484"/>
          </p14:sldIdLst>
        </p14:section>
        <p14:section name="VCF Automation" id="{FF6E5998-0E64-9844-B099-C1C182A9F9C0}">
          <p14:sldIdLst>
            <p14:sldId id="267"/>
            <p14:sldId id="268"/>
            <p14:sldId id="269"/>
            <p14:sldId id="273"/>
            <p14:sldId id="275"/>
            <p14:sldId id="277"/>
            <p14:sldId id="279"/>
            <p14:sldId id="281"/>
            <p14:sldId id="283"/>
            <p14:sldId id="2147469509"/>
          </p14:sldIdLst>
        </p14:section>
        <p14:section name="Workload Domains" id="{1D0177D7-D838-7449-B1F5-653BF4832C91}">
          <p14:sldIdLst>
            <p14:sldId id="285"/>
            <p14:sldId id="286"/>
            <p14:sldId id="2147469506"/>
            <p14:sldId id="2147469507"/>
          </p14:sldIdLst>
        </p14:section>
        <p14:section name="vSphere Cluster Models" id="{152992D9-AA51-0C4C-8173-86A5CD219AE8}">
          <p14:sldIdLst>
            <p14:sldId id="287"/>
            <p14:sldId id="288"/>
            <p14:sldId id="2147469501"/>
            <p14:sldId id="2147469512"/>
            <p14:sldId id="325"/>
          </p14:sldIdLst>
        </p14:section>
        <p14:section name="VCF Edge" id="{0085D0F0-5992-2244-8FCF-5557F1A54EE6}">
          <p14:sldIdLst>
            <p14:sldId id="2147469502"/>
            <p14:sldId id="2147469508"/>
          </p14:sldIdLst>
        </p14:section>
        <p14:section name="Distributed Switches" id="{FEF62BA2-2513-FF4B-BEBE-5CAF052220A6}">
          <p14:sldIdLst>
            <p14:sldId id="289"/>
            <p14:sldId id="290"/>
            <p14:sldId id="2147469475"/>
            <p14:sldId id="302"/>
            <p14:sldId id="303"/>
            <p14:sldId id="309"/>
            <p14:sldId id="308"/>
            <p14:sldId id="307"/>
          </p14:sldIdLst>
        </p14:section>
        <p14:section name="Fleet Level Components Networking" id="{FE28DCA2-9F40-F640-975B-F0782EC1C78D}">
          <p14:sldIdLst>
            <p14:sldId id="2147469494"/>
            <p14:sldId id="2147469495"/>
            <p14:sldId id="2147469496"/>
            <p14:sldId id="2147469497"/>
            <p14:sldId id="2147469498"/>
            <p14:sldId id="2147469499"/>
          </p14:sldIdLst>
        </p14:section>
        <p14:section name="Storage" id="{30051958-BFDD-C944-9CB2-0D5D8ED76D42}">
          <p14:sldIdLst>
            <p14:sldId id="300"/>
            <p14:sldId id="2147469457"/>
            <p14:sldId id="2147469456"/>
            <p14:sldId id="2147469458"/>
            <p14:sldId id="2147469485"/>
            <p14:sldId id="2147469459"/>
            <p14:sldId id="2147469486"/>
            <p14:sldId id="2147469460"/>
            <p14:sldId id="2147469487"/>
            <p14:sldId id="2147469461"/>
            <p14:sldId id="2147469488"/>
            <p14:sldId id="2147469462"/>
            <p14:sldId id="2147469500"/>
            <p14:sldId id="2147469464"/>
            <p14:sldId id="2147469476"/>
            <p14:sldId id="2147469465"/>
            <p14:sldId id="2147469504"/>
            <p14:sldId id="2147469477"/>
            <p14:sldId id="2147469466"/>
            <p14:sldId id="2147469478"/>
            <p14:sldId id="2147469467"/>
            <p14:sldId id="2147469491"/>
            <p14:sldId id="2147469468"/>
            <p14:sldId id="2147469492"/>
            <p14:sldId id="2147469469"/>
            <p14:sldId id="2147469493"/>
            <p14:sldId id="2147469503"/>
            <p14:sldId id="2147469505"/>
            <p14:sldId id="2147469511"/>
            <p14:sldId id="2147469510"/>
          </p14:sldIdLst>
        </p14:section>
        <p14:section name="NSX Edge Clusters" id="{BBD582A3-805D-9040-8100-34CEAC27BE0F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NSX Management and Control Plane" id="{89F61B90-46F5-654E-BB7C-96C42AD00E83}">
          <p14:sldIdLst>
            <p14:sldId id="314"/>
          </p14:sldIdLst>
        </p14:section>
        <p14:section name="Networking" id="{6B104CA3-56E6-9948-B846-0684C891A97F}">
          <p14:sldIdLst>
            <p14:sldId id="315"/>
          </p14:sldIdLst>
        </p14:section>
        <p14:section name="VCF Single Sign-On" id="{45108783-EECB-BD4B-8DDD-CBB72A406DEF}">
          <p14:sldIdLst>
            <p14:sldId id="316"/>
            <p14:sldId id="329"/>
            <p14:sldId id="331"/>
            <p14:sldId id="332"/>
            <p14:sldId id="333"/>
            <p14:sldId id="334"/>
            <p14:sldId id="335"/>
          </p14:sldIdLst>
        </p14:section>
        <p14:section name="vSphere Supervisor Models" id="{21F3BAA1-0963-C345-BAEF-9DE9EE127220}">
          <p14:sldIdLst>
            <p14:sldId id="317"/>
            <p14:sldId id="318"/>
            <p14:sldId id="319"/>
            <p14:sldId id="320"/>
            <p14:sldId id="322"/>
            <p14:sldId id="324"/>
            <p14:sldId id="326"/>
            <p14:sldId id="32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6" roundtripDataSignature="AMtx7miXM7WR8GrTK7NG/Un0a/pjzJbz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9B"/>
    <a:srgbClr val="007DA3"/>
    <a:srgbClr val="61A60E"/>
    <a:srgbClr val="0098C7"/>
    <a:srgbClr val="6C4B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81"/>
    <p:restoredTop sz="67753"/>
  </p:normalViewPr>
  <p:slideViewPr>
    <p:cSldViewPr snapToGrid="0">
      <p:cViewPr varScale="1">
        <p:scale>
          <a:sx n="104" d="100"/>
          <a:sy n="104" d="100"/>
        </p:scale>
        <p:origin x="2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customXml" Target="../customXml/item3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customXml" Target="../customXml/item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8" name="Google Shape;11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1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1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Michael Kolos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Added the Design Blueprint diagram to this master deck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Adjusted the font to Metropolis, the source PPT was using Arial but could be based on someone opening the document in Google Slides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Saved the image again using SVG format to obtain a better quality image within </a:t>
            </a:r>
            <a:r>
              <a:rPr lang="en-GB" dirty="0" err="1"/>
              <a:t>DocWorks</a:t>
            </a:r>
            <a:r>
              <a:rPr lang="en-GB" dirty="0"/>
              <a:t> and also captured just the diagram removing excessive whitespace in HTML output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v1.0 - 30 May 2025 by Michael Kolos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of VCF </a:t>
            </a:r>
            <a:r>
              <a:rPr lang="en-GB" dirty="0"/>
              <a:t>Fleet in a Single Site with Minimal Footprint Design Blueprint diagram using standards and guidelines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234" name="Google Shape;1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Michael Kolos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Added the Design Blueprint diagram to this master deck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Adjusted the font to Metropolis, the source PPT was using Arial but could be based on someone opening the document in Google Slides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Saved the image again using SVG format to obtain a better quality image within </a:t>
            </a:r>
            <a:r>
              <a:rPr lang="en-GB" dirty="0" err="1"/>
              <a:t>DocWorks</a:t>
            </a:r>
            <a:r>
              <a:rPr lang="en-GB" dirty="0"/>
              <a:t> and also captured just the diagram removing excessive whitespace in HTML output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v1.0 - 30 May 2025 by Michael Kolos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of VCF </a:t>
            </a:r>
            <a:r>
              <a:rPr lang="en-GB" dirty="0"/>
              <a:t>Fleet in a Single Site Design Blueprint diagram using standards and guidelines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255" name="Google Shape;1255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Michael Kolos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Added the Design Blueprint diagram to this master deck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Adjusted the font to Metropolis, the source PPT was using Arial but could be based on someone opening the document in Google Slides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Saved the image again using SVG format to obtain a better quality image within </a:t>
            </a:r>
            <a:r>
              <a:rPr lang="en-GB" dirty="0" err="1"/>
              <a:t>DocWorks</a:t>
            </a:r>
            <a:r>
              <a:rPr lang="en-GB" dirty="0"/>
              <a:t> and also captured just the diagram removing excessive whitespace in HTML output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v1.0 - 30 May 2025 by Michael Kolos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of VCF </a:t>
            </a:r>
            <a:r>
              <a:rPr lang="en-GB" dirty="0"/>
              <a:t>Fleet with Multiple Sites in a Single Region Design Blueprint diagram using standards and guidelines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291" name="Google Shape;129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Michael Kolos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Added the Design Blueprint diagram to this master deck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Adjusted the font to Metropolis, the source PPT was using Arial but could be based on someone opening the document in Google Slides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Saved the image again using SVG format to obtain a better quality image within </a:t>
            </a:r>
            <a:r>
              <a:rPr lang="en-GB" dirty="0" err="1"/>
              <a:t>DocWorks</a:t>
            </a:r>
            <a:r>
              <a:rPr lang="en-GB" dirty="0"/>
              <a:t> and also captured just the diagram removing excessive whitespace in HTML output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v1.0 - 30 May 2025 by Michael Kolos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of VCF </a:t>
            </a:r>
            <a:r>
              <a:rPr lang="en-GB" dirty="0"/>
              <a:t>Fleet with Multiple Sites across Multiple Region Design Blueprint diagram using standards and guidelines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42" name="Google Shape;134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Michael Kolos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Added the Design Blueprint diagram to this master deck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Adjusted the font to Metropolis, the source PPT was using Arial but could be based on someone opening the document in Google Slides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Saved the image again using SVG format to obtain a better quality image within </a:t>
            </a:r>
            <a:r>
              <a:rPr lang="en-GB" dirty="0" err="1"/>
              <a:t>DocWorks</a:t>
            </a:r>
            <a:r>
              <a:rPr lang="en-GB" dirty="0"/>
              <a:t> and also captured just the diagram removing excessive whitespace in HTML output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v1.0 - 30 May 2025 by Michael Kolos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of VCF </a:t>
            </a:r>
            <a:r>
              <a:rPr lang="en-GB" dirty="0"/>
              <a:t>Fleet with Multiple Sites across Multiple Region Design Blueprint diagram using standards and guidelines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409" name="Google Shape;14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1" name="Google Shape;12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5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Brian O’Connell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v1.0 - 17 January 2025 by Brian O’Connell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of VCF Private Cloud constructs diagram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37" name="Google Shape;123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5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4" name="Google Shape;1264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5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VCF Operations models side by side for use within the Architectural Options section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70" name="Google Shape;127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6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3" name="Google Shape;131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6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Added white solid fill to objects to handle dark mode being enabled on the technical docs site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VCF Operations for logs models side by side for use within the Architectural Options section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19" name="Google Shape;131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25616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9583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6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6" name="Google Shape;136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6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VCF Operations for networks models side by side for use within the Architectural Options section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72" name="Google Shape;1372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7402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88952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6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8" name="Google Shape;141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6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VCF Operations for networks models side by side for use within the Architectural Options section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24" name="Google Shape;1424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0" name="Google Shape;1460;p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????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6" name="Google Shape;1516;p1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????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2" name="Google Shape;1562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????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endParaRPr lang="en-US" sz="120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endParaRPr lang="en-US" sz="120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endParaRPr lang="en-US" sz="120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r>
              <a:rPr lang="en-US" sz="1200" b="1" i="0" u="sng" dirty="0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sz="800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 dirty="0"/>
              <a:t>This is a high-level view of the constructs that comprise an Organization</a:t>
            </a:r>
            <a:br>
              <a:rPr lang="en-US" sz="1200" dirty="0"/>
            </a:br>
            <a:endParaRPr sz="1200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 dirty="0"/>
              <a:t>Organizations – A top-level entity used to group and manage resources, users, policies, IaaS services, and catalog entities, while maintaining a secure boundary from other organizations</a:t>
            </a:r>
            <a:br>
              <a:rPr lang="en-US" sz="1200" dirty="0"/>
            </a:br>
            <a:endParaRPr sz="1200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 dirty="0"/>
              <a:t>Projects – Connect users with the resources they are entitled to and the limits to which they are subject</a:t>
            </a:r>
            <a:br>
              <a:rPr lang="en-US" sz="1200" dirty="0"/>
            </a:br>
            <a:endParaRPr sz="1200"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dirty="0"/>
              <a:t>Supervisor Clusters - Built on VKS using VCF Networking with Virtual Private Clouds (VPCs)</a:t>
            </a:r>
            <a:br>
              <a:rPr lang="en-US" sz="1200" dirty="0"/>
            </a:br>
            <a:endParaRPr sz="1200"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dirty="0"/>
              <a:t>VCF Networking with VPC - Provides an isolated domain of networking resources that can be associated with one or more isolated domains of compute resources (vSphere namespace)</a:t>
            </a:r>
            <a:br>
              <a:rPr lang="en-US" sz="1200" dirty="0"/>
            </a:br>
            <a:endParaRPr sz="1200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 dirty="0"/>
              <a:t>vSphere Namespaces - Define resource limits for CPU, memory, and storage for workloads such as VMs, Kubernetes clusters, and others</a:t>
            </a:r>
            <a:br>
              <a:rPr lang="en-US" sz="1200" dirty="0"/>
            </a:br>
            <a:endParaRPr sz="1200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 dirty="0"/>
              <a:t>Workloads - Traditional VMs and container-based deployments within same infrastructure &amp; managed with the same tools</a:t>
            </a:r>
            <a:endParaRPr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563" name="Google Shape;1563;p7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0" name="Google Shape;1590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????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591" name="Google Shape;1591;p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8" name="Google Shape;1658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????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659" name="Google Shape;1659;p7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4" name="Google Shape;1684;p11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r>
              <a:rPr lang="en-US" sz="1100" b="1" dirty="0"/>
              <a:t>Version:</a:t>
            </a:r>
            <a:r>
              <a:rPr lang="en-US" sz="1100" dirty="0"/>
              <a:t> 1.0</a:t>
            </a:r>
          </a:p>
          <a:p>
            <a:endParaRPr lang="en-US" sz="1100" dirty="0"/>
          </a:p>
          <a:p>
            <a:r>
              <a:rPr lang="en-US" sz="1100" b="1" dirty="0"/>
              <a:t>Original Author: </a:t>
            </a:r>
            <a:r>
              <a:rPr lang="en-US" sz="1100" dirty="0"/>
              <a:t>????</a:t>
            </a:r>
          </a:p>
          <a:p>
            <a:endParaRPr lang="en-US" sz="1100" dirty="0"/>
          </a:p>
          <a:p>
            <a:r>
              <a:rPr lang="en-US" sz="1100" b="1" dirty="0"/>
              <a:t>Change Log:</a:t>
            </a:r>
          </a:p>
          <a:p>
            <a:endParaRPr lang="en-US" sz="1100" b="1" dirty="0"/>
          </a:p>
          <a:p>
            <a:r>
              <a:rPr lang="en-US" sz="1100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Initial creation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endParaRPr lang="en-US" sz="111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endParaRPr lang="en-US" sz="111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endParaRPr lang="en-US" sz="111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r>
              <a:rPr lang="en-US" sz="1110" b="1" i="0" u="sng" dirty="0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sz="740" dirty="0"/>
          </a:p>
          <a:p>
            <a: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1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Technical view of showing further detail on how multiple organizations/tenants with multiple projects can be assigned on certain resources within the vSphere Supervisor infrastructure.</a:t>
            </a:r>
            <a:endParaRPr dirty="0"/>
          </a:p>
          <a:p>
            <a:pPr marL="171450" lvl="0" indent="-82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1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Specifically, this view shows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Tenants across 2 Regions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Regions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 1 includes two separate </a:t>
            </a:r>
            <a:r>
              <a:rPr lang="en-US" sz="1110" dirty="0" err="1"/>
              <a:t>vCenters</a:t>
            </a:r>
            <a:r>
              <a:rPr lang="en-US" sz="1110" dirty="0"/>
              <a:t> sharing one NSX Manager deployment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 2 single vCenter/NSX Pair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Tenant #1 – </a:t>
            </a:r>
            <a:r>
              <a:rPr lang="en-US" sz="1110" dirty="0" err="1"/>
              <a:t>BigCo</a:t>
            </a:r>
            <a:endParaRPr sz="1110"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Projects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vSphere Namespaces per Project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 Quotas</a:t>
            </a:r>
            <a:endParaRPr dirty="0"/>
          </a:p>
          <a:p>
            <a:pPr marL="1543050" marR="0" lvl="3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West - vSphere Supervisor 1</a:t>
            </a:r>
            <a:endParaRPr dirty="0"/>
          </a:p>
          <a:p>
            <a:pPr marL="1543050" marR="0" lvl="3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East - vSphere Supervisor 1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Tenant #2 – Small Co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1 Project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vSphere Namespaces </a:t>
            </a:r>
            <a:endParaRPr dirty="0"/>
          </a:p>
          <a:p>
            <a:pPr marL="1085850" marR="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West - vSphere Supervisor 2</a:t>
            </a:r>
            <a:endParaRPr dirty="0"/>
          </a:p>
          <a:p>
            <a:pPr marL="1085850" marR="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East - vSphere Supervisor 1</a:t>
            </a:r>
            <a:endParaRPr dirty="0"/>
          </a:p>
          <a:p>
            <a:pPr marL="1085850" marR="0" lvl="2" indent="-10096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endParaRPr sz="111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rPr lang="en-US" sz="1110" dirty="0"/>
              <a:t>Note: Each Organization requires a Region Quota that maps the Supervisor in the Region to the Organization. Each Region can only map 1 Supervisor per region. This is why you see </a:t>
            </a:r>
            <a:r>
              <a:rPr lang="en-US" sz="1110" dirty="0" err="1"/>
              <a:t>BigCo</a:t>
            </a:r>
            <a:r>
              <a:rPr lang="en-US" sz="1110" dirty="0"/>
              <a:t> mapped to Region West Supervisor 1 and </a:t>
            </a:r>
            <a:r>
              <a:rPr lang="en-US" sz="1110" dirty="0" err="1"/>
              <a:t>SmallCo</a:t>
            </a:r>
            <a:r>
              <a:rPr lang="en-US" sz="1110" dirty="0"/>
              <a:t> mapped to Region West Supervisor 2.</a:t>
            </a:r>
            <a:endParaRPr dirty="0"/>
          </a:p>
          <a:p>
            <a:pPr marL="628650" lvl="1" indent="-82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10" dirty="0"/>
          </a:p>
        </p:txBody>
      </p:sp>
      <p:sp>
        <p:nvSpPr>
          <p:cNvPr id="1685" name="Google Shape;1685;p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8" name="Google Shape;1828;p11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r>
              <a:rPr lang="en-US" sz="1100" b="1" dirty="0"/>
              <a:t>Version:</a:t>
            </a:r>
            <a:r>
              <a:rPr lang="en-US" sz="1100" dirty="0"/>
              <a:t> 1.0</a:t>
            </a:r>
          </a:p>
          <a:p>
            <a:endParaRPr lang="en-US" sz="1100" dirty="0"/>
          </a:p>
          <a:p>
            <a:r>
              <a:rPr lang="en-US" sz="1100" b="1" dirty="0"/>
              <a:t>Original Author: </a:t>
            </a:r>
            <a:r>
              <a:rPr lang="en-US" sz="1100" dirty="0"/>
              <a:t>????</a:t>
            </a:r>
          </a:p>
          <a:p>
            <a:endParaRPr lang="en-US" sz="1100" dirty="0"/>
          </a:p>
          <a:p>
            <a:r>
              <a:rPr lang="en-US" sz="1100" b="1" dirty="0"/>
              <a:t>Change Log:</a:t>
            </a:r>
          </a:p>
          <a:p>
            <a:endParaRPr lang="en-US" sz="1100" b="1" dirty="0"/>
          </a:p>
          <a:p>
            <a:r>
              <a:rPr lang="en-US" sz="1100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Initial creation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endParaRPr lang="en-US" sz="111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endParaRPr lang="en-US" sz="111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endParaRPr lang="en-US" sz="111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r>
              <a:rPr lang="en-US" sz="1110" b="1" i="0" u="sng" dirty="0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sz="740" dirty="0"/>
          </a:p>
          <a:p>
            <a: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1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Technical view of showing further detail on how multiple organizations/tenants with multiple projects can be assigned on certain resources within the vSphere Supervisor infrastructure.</a:t>
            </a:r>
            <a:endParaRPr dirty="0"/>
          </a:p>
          <a:p>
            <a:pPr marL="171450" lvl="0" indent="-82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1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Specifically, this view shows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Tenants across 2 Regions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Regions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 1 includes two separate </a:t>
            </a:r>
            <a:r>
              <a:rPr lang="en-US" sz="1110" dirty="0" err="1"/>
              <a:t>vCenters</a:t>
            </a:r>
            <a:r>
              <a:rPr lang="en-US" sz="1110" dirty="0"/>
              <a:t> sharing one NSX Manager deployment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 2 single vCenter/NSX Pair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Tenant #1 – </a:t>
            </a:r>
            <a:r>
              <a:rPr lang="en-US" sz="1110" dirty="0" err="1"/>
              <a:t>BigCo</a:t>
            </a:r>
            <a:endParaRPr sz="1110"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Projects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vSphere Namespaces per Project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 Quotas</a:t>
            </a:r>
            <a:endParaRPr dirty="0"/>
          </a:p>
          <a:p>
            <a:pPr marL="1543050" marR="0" lvl="3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West - vSphere Supervisor 1</a:t>
            </a:r>
            <a:endParaRPr dirty="0"/>
          </a:p>
          <a:p>
            <a:pPr marL="1543050" marR="0" lvl="3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East - vSphere Supervisor 1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Tenant #2 – Small Co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1 Project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vSphere Namespaces </a:t>
            </a:r>
            <a:endParaRPr dirty="0"/>
          </a:p>
          <a:p>
            <a:pPr marL="1085850" marR="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West - vSphere Supervisor 2</a:t>
            </a:r>
            <a:endParaRPr dirty="0"/>
          </a:p>
          <a:p>
            <a:pPr marL="1085850" marR="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East - vSphere Supervisor 1</a:t>
            </a:r>
            <a:endParaRPr dirty="0"/>
          </a:p>
          <a:p>
            <a:pPr marL="1085850" marR="0" lvl="2" indent="-10096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endParaRPr sz="111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rPr lang="en-US" sz="1110" dirty="0"/>
              <a:t>Note: Each Organization requires a Region Quota that maps the Supervisor in the Region to the Organization. Each Region can only map 1 Supervisor per region. This is why you see </a:t>
            </a:r>
            <a:r>
              <a:rPr lang="en-US" sz="1110" dirty="0" err="1"/>
              <a:t>BigCo</a:t>
            </a:r>
            <a:r>
              <a:rPr lang="en-US" sz="1110" dirty="0"/>
              <a:t> mapped to Region West Supervisor 1 and </a:t>
            </a:r>
            <a:r>
              <a:rPr lang="en-US" sz="1110" dirty="0" err="1"/>
              <a:t>SmallCo</a:t>
            </a:r>
            <a:r>
              <a:rPr lang="en-US" sz="1110" dirty="0"/>
              <a:t> mapped to Region West Supervisor 2.</a:t>
            </a:r>
            <a:endParaRPr dirty="0"/>
          </a:p>
          <a:p>
            <a:pPr marL="628650" lvl="1" indent="-82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10" dirty="0"/>
          </a:p>
        </p:txBody>
      </p:sp>
      <p:sp>
        <p:nvSpPr>
          <p:cNvPr id="1829" name="Google Shape;1829;p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4" name="Google Shape;4644;p9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Shree Das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b="0" dirty="0"/>
              <a:t>v1.1 – 11</a:t>
            </a:r>
            <a:r>
              <a:rPr lang="en-US" b="0" baseline="30000" dirty="0"/>
              <a:t>th</a:t>
            </a:r>
            <a:r>
              <a:rPr lang="en-US" b="0" dirty="0"/>
              <a:t> June 2025 Gary Blake</a:t>
            </a:r>
          </a:p>
          <a:p>
            <a:endParaRPr lang="en-US" b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Applied diagram standards for box </a:t>
            </a:r>
            <a:r>
              <a:rPr lang="en-US" b="0" dirty="0" err="1"/>
              <a:t>colours</a:t>
            </a:r>
            <a:r>
              <a:rPr lang="en-US" b="0" dirty="0"/>
              <a:t> and </a:t>
            </a:r>
            <a:r>
              <a:rPr lang="en-US" b="0"/>
              <a:t>line width</a:t>
            </a:r>
            <a:endParaRPr lang="en-US" b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endParaRPr lang="en-US" b="1" dirty="0"/>
          </a:p>
          <a:p>
            <a:r>
              <a:rPr lang="en-US" dirty="0"/>
              <a:t>v1.0 – 2</a:t>
            </a:r>
            <a:r>
              <a:rPr lang="en-US" baseline="30000" dirty="0"/>
              <a:t>nd</a:t>
            </a:r>
            <a:r>
              <a:rPr lang="en-US" dirty="0"/>
              <a:t> February 2025 by Shree Das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45" name="Google Shape;4645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6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40" name="Google Shape;1940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Workload Domain models side by side for use within the Architectural Options section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46" name="Google Shape;19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>
          <a:extLst>
            <a:ext uri="{FF2B5EF4-FFF2-40B4-BE49-F238E27FC236}">
              <a16:creationId xmlns:a16="http://schemas.microsoft.com/office/drawing/2014/main" id="{B5C4226C-5A12-845B-4046-FAEF4FA3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:notes">
            <a:extLst>
              <a:ext uri="{FF2B5EF4-FFF2-40B4-BE49-F238E27FC236}">
                <a16:creationId xmlns:a16="http://schemas.microsoft.com/office/drawing/2014/main" id="{B4AEF241-C58A-E632-452A-3D9AC3E49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Brian O’Connell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v1.0 - 16 January 2025 by Brian O’Connell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8" name="Google Shape;1238;p1:notes">
            <a:extLst>
              <a:ext uri="{FF2B5EF4-FFF2-40B4-BE49-F238E27FC236}">
                <a16:creationId xmlns:a16="http://schemas.microsoft.com/office/drawing/2014/main" id="{8B625B41-0767-6011-21DB-A1BF9619E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00768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>
          <a:extLst>
            <a:ext uri="{FF2B5EF4-FFF2-40B4-BE49-F238E27FC236}">
              <a16:creationId xmlns:a16="http://schemas.microsoft.com/office/drawing/2014/main" id="{6C5BDA89-47EF-9154-D479-0741317A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:notes">
            <a:extLst>
              <a:ext uri="{FF2B5EF4-FFF2-40B4-BE49-F238E27FC236}">
                <a16:creationId xmlns:a16="http://schemas.microsoft.com/office/drawing/2014/main" id="{00EB7CA7-C510-2409-1A12-7C15D8028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Brian O’Connell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v1.0 - 16 January 2025 by Brian O’Connell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8" name="Google Shape;1238;p1:notes">
            <a:extLst>
              <a:ext uri="{FF2B5EF4-FFF2-40B4-BE49-F238E27FC236}">
                <a16:creationId xmlns:a16="http://schemas.microsoft.com/office/drawing/2014/main" id="{AA0CC9BA-90B5-D46C-BDEF-079D3D335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79470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5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9" name="Google Shape;195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Brian O’Connell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Removed the cluster model names from outside the VCF Instance box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for diagram standards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v0.1 - 18 Dec 2024 by Brian O’Connell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draft creation of the diagram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65" name="Google Shape;19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Brian O’Connell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for diagram standards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v0.1 - 18 Dec 2024 by Brian O’Connell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draft creation of the diagram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79176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Penderville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v1.0 - 09 June 2025 by Cathal Penderville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diagram creation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55511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38C7C-9E66-ED90-26E2-42375BE96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B833B-6F59-E06E-606F-7BB84C97D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6D480-75B1-32ED-353C-0EDE177A8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Penderville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v1.0 - 09 June 2025 by Cathal Penderville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diagram creation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4091A-3518-B2E9-1AC4-B11A7355B2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10139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7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95" name="Google Shape;199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7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Distributed Switch models side by side for use within the Architectural Options section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01" name="Google Shape;200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9AAA0AE3-06DD-6907-4805-B08D4588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066E9814-6C0A-A484-D07E-3E32CB31B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ESX Management line color to match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Updated the switch objects to reverse the black and white based on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Reduced the size of the boxes so there is not so much white space</a:t>
            </a:r>
          </a:p>
          <a:p>
            <a:endParaRPr lang="en-US" b="1" dirty="0"/>
          </a:p>
          <a:p>
            <a:r>
              <a:rPr lang="en-US" dirty="0"/>
              <a:t>v1.0 – 3</a:t>
            </a:r>
            <a:r>
              <a:rPr lang="en-US" baseline="30000" dirty="0"/>
              <a:t>rd</a:t>
            </a:r>
            <a:r>
              <a:rPr lang="en-US" dirty="0"/>
              <a:t> March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6D813DA2-81A3-FFD4-D945-2B8D87F69D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13575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BD116AD2-2F5A-2161-C7EA-D859CB90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88EC1F85-C898-5A51-A6F9-A83842420F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1.2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v1.2 - 09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the size of </a:t>
            </a:r>
            <a:r>
              <a:rPr lang="en-US" dirty="0" err="1"/>
              <a:t>dPG</a:t>
            </a:r>
            <a:r>
              <a:rPr lang="en-US" dirty="0"/>
              <a:t> boxes to display `Management` rather than `</a:t>
            </a:r>
            <a:r>
              <a:rPr lang="en-US" dirty="0" err="1"/>
              <a:t>Mgmt</a:t>
            </a:r>
            <a:r>
              <a:rPr lang="en-US" dirty="0"/>
              <a:t>`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Moved the </a:t>
            </a:r>
            <a:r>
              <a:rPr lang="en-US" dirty="0" err="1"/>
              <a:t>vDS</a:t>
            </a:r>
            <a:r>
              <a:rPr lang="en-US" dirty="0"/>
              <a:t> names into the main box rather than sperate text boxes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Reversed colors on the switch boxes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v1.1 - 20 May 2025 by Cathal Prendeville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to match standards defined</a:t>
            </a:r>
            <a:endParaRPr lang="en-US" b="0" dirty="0"/>
          </a:p>
          <a:p>
            <a:endParaRPr lang="en-US" b="1" dirty="0"/>
          </a:p>
          <a:p>
            <a:r>
              <a:rPr lang="en-US" dirty="0"/>
              <a:t>v1.0 – 3</a:t>
            </a:r>
            <a:r>
              <a:rPr lang="en-US" baseline="30000" dirty="0"/>
              <a:t>rd</a:t>
            </a:r>
            <a:r>
              <a:rPr lang="en-US" dirty="0"/>
              <a:t> March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0B1F49F2-92ED-5B6F-E91C-90BD15C15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16695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9F260C94-50E8-4891-86A7-8DF1F01D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9422E149-BCC6-AAE8-C4DA-81F8D2A893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1.2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v1.2 - 09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the size of </a:t>
            </a:r>
            <a:r>
              <a:rPr lang="en-US" dirty="0" err="1"/>
              <a:t>dPG</a:t>
            </a:r>
            <a:r>
              <a:rPr lang="en-US" dirty="0"/>
              <a:t> boxes to display `Management` rather than `</a:t>
            </a:r>
            <a:r>
              <a:rPr lang="en-US" dirty="0" err="1"/>
              <a:t>Mgmt</a:t>
            </a:r>
            <a:r>
              <a:rPr lang="en-US" dirty="0"/>
              <a:t>`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Moved the </a:t>
            </a:r>
            <a:r>
              <a:rPr lang="en-US" dirty="0" err="1"/>
              <a:t>vDS</a:t>
            </a:r>
            <a:r>
              <a:rPr lang="en-US" dirty="0"/>
              <a:t> names into the main box rather than sperate text boxes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Reversed colors on the switch boxes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v1.1 - 20 May 2025 by Cathal Prendeville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to match standards defined</a:t>
            </a:r>
            <a:endParaRPr lang="en-US" b="0" dirty="0"/>
          </a:p>
          <a:p>
            <a:endParaRPr lang="en-US" b="1" dirty="0"/>
          </a:p>
          <a:p>
            <a:r>
              <a:rPr lang="en-US" dirty="0"/>
              <a:t>v1.0 – 3</a:t>
            </a:r>
            <a:r>
              <a:rPr lang="en-US" baseline="30000" dirty="0"/>
              <a:t>rd</a:t>
            </a:r>
            <a:r>
              <a:rPr lang="en-US" dirty="0"/>
              <a:t> March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87E44DDB-31F4-87BB-A2FD-4CFA3EC73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16758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F787DB37-E137-4FBF-457B-D760F4F1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1AA0D2AF-C97F-8706-FAA2-6A1DFF79B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1.2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v1.2 - 09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the size of </a:t>
            </a:r>
            <a:r>
              <a:rPr lang="en-US" dirty="0" err="1"/>
              <a:t>dPG</a:t>
            </a:r>
            <a:r>
              <a:rPr lang="en-US" dirty="0"/>
              <a:t> boxes to display `Management` rather than `</a:t>
            </a:r>
            <a:r>
              <a:rPr lang="en-US" dirty="0" err="1"/>
              <a:t>Mgmt</a:t>
            </a:r>
            <a:r>
              <a:rPr lang="en-US" dirty="0"/>
              <a:t>`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Moved the </a:t>
            </a:r>
            <a:r>
              <a:rPr lang="en-US" dirty="0" err="1"/>
              <a:t>vDS</a:t>
            </a:r>
            <a:r>
              <a:rPr lang="en-US" dirty="0"/>
              <a:t> names into the main box rather than sperate text boxes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Reversed colors on the switch boxes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v1.1 - 20 May 2025 by Cathal Prendeville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to match standards defined</a:t>
            </a:r>
            <a:endParaRPr lang="en-US" b="0" dirty="0"/>
          </a:p>
          <a:p>
            <a:endParaRPr lang="en-US" b="1" dirty="0"/>
          </a:p>
          <a:p>
            <a:r>
              <a:rPr lang="en-US" dirty="0"/>
              <a:t>v1.0 – 3</a:t>
            </a:r>
            <a:r>
              <a:rPr lang="en-US" baseline="30000" dirty="0"/>
              <a:t>rd</a:t>
            </a:r>
            <a:r>
              <a:rPr lang="en-US" dirty="0"/>
              <a:t> March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107D4AD6-44F0-1FBF-6B22-60B2331AB7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74321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E8524736-E3FF-C10F-99B8-5F75B686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3C8B9E1A-51F7-31A2-CE73-F7E82A3E2D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1.2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v1.2 - 09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Fixed </a:t>
            </a:r>
            <a:r>
              <a:rPr lang="en-US" dirty="0" err="1"/>
              <a:t>dPG</a:t>
            </a:r>
            <a:r>
              <a:rPr lang="en-US" dirty="0"/>
              <a:t> with curved corners and not square corners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the size of </a:t>
            </a:r>
            <a:r>
              <a:rPr lang="en-US" dirty="0" err="1"/>
              <a:t>dPG</a:t>
            </a:r>
            <a:r>
              <a:rPr lang="en-US" dirty="0"/>
              <a:t> boxes to display `Management` rather than `</a:t>
            </a:r>
            <a:r>
              <a:rPr lang="en-US" dirty="0" err="1"/>
              <a:t>Mgmt</a:t>
            </a:r>
            <a:r>
              <a:rPr lang="en-US" dirty="0"/>
              <a:t>`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Moved the </a:t>
            </a:r>
            <a:r>
              <a:rPr lang="en-US" dirty="0" err="1"/>
              <a:t>vDS</a:t>
            </a:r>
            <a:r>
              <a:rPr lang="en-US" dirty="0"/>
              <a:t> names into the main box rather than sperate text boxes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Reversed colors on the switch boxes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v1.1 - 20 May 2025 by Cathal Prendeville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to match standards defined</a:t>
            </a:r>
            <a:endParaRPr lang="en-US" b="0" dirty="0"/>
          </a:p>
          <a:p>
            <a:endParaRPr lang="en-US" b="1" dirty="0"/>
          </a:p>
          <a:p>
            <a:r>
              <a:rPr lang="en-US" dirty="0"/>
              <a:t>v1.0 – 3</a:t>
            </a:r>
            <a:r>
              <a:rPr lang="en-US" baseline="30000" dirty="0"/>
              <a:t>rd</a:t>
            </a:r>
            <a:r>
              <a:rPr lang="en-US" dirty="0"/>
              <a:t> March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9CEB1706-EE5B-E109-0A0D-49072E465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63071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4E62B453-682E-7CE5-6CFE-B46CC6FC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4796C220-2B70-CAEE-F1C1-99C978ADE2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1.2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v1.2 - 09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the size of </a:t>
            </a:r>
            <a:r>
              <a:rPr lang="en-US" dirty="0" err="1"/>
              <a:t>dPG</a:t>
            </a:r>
            <a:r>
              <a:rPr lang="en-US" dirty="0"/>
              <a:t> boxes to display `Management` rather than `</a:t>
            </a:r>
            <a:r>
              <a:rPr lang="en-US" dirty="0" err="1"/>
              <a:t>Mgmt</a:t>
            </a:r>
            <a:r>
              <a:rPr lang="en-US" dirty="0"/>
              <a:t>`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Moved the </a:t>
            </a:r>
            <a:r>
              <a:rPr lang="en-US" dirty="0" err="1"/>
              <a:t>vDS</a:t>
            </a:r>
            <a:r>
              <a:rPr lang="en-US" dirty="0"/>
              <a:t> names into the main box rather than sperate text boxes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Reversed colors on the switch boxes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v1.1 - 20 May 2025 by Cathal Prendeville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to match standards defined</a:t>
            </a:r>
            <a:endParaRPr lang="en-US" b="0" dirty="0"/>
          </a:p>
          <a:p>
            <a:endParaRPr lang="en-US" b="1" dirty="0"/>
          </a:p>
          <a:p>
            <a:r>
              <a:rPr lang="en-US" dirty="0"/>
              <a:t>v1.0 – 3</a:t>
            </a:r>
            <a:r>
              <a:rPr lang="en-US" baseline="30000" dirty="0"/>
              <a:t>rd</a:t>
            </a:r>
            <a:r>
              <a:rPr lang="en-US" dirty="0"/>
              <a:t> March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E6A231DB-C1E1-82F7-82C0-1AFCA45A9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19112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BCE1FF2C-2674-4473-3D95-CE8EC370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B0F57A67-F232-330B-8FB6-A56482051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`Ops` to `Operations`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v1.0 – 12th May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463A0FCD-96D8-1E05-809A-A0270C35FA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40072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D7AB3D8F-E89E-29B3-36A3-B0C78A06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45791016-341A-4F9E-38C2-E69BC42C5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`Ops` to `Operations`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v1.0 – 12th May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A5B0F234-DE7D-4079-934B-AB72410FF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943823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469650A7-0745-3CC8-03B7-A8546664E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6BB50B8C-48AA-C7C6-9476-4048131D05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`Ops` to `Operations`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Reversed colors on the switch boxes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v1.0 – 12th May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198836E5-BC2F-217D-E25F-0A0CA252E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905922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355709CF-7C67-31FF-14C6-D827BC405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05676B59-E227-3612-D45F-92B57B528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`Ops` to `Operations`</a:t>
            </a:r>
          </a:p>
          <a:p>
            <a:endParaRPr lang="en-US" b="1" dirty="0"/>
          </a:p>
          <a:p>
            <a:r>
              <a:rPr lang="en-US" dirty="0"/>
              <a:t>v1.0 – 12th May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61938BE6-AF25-C3BD-3B73-A0968426A1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582126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1A493B47-48E7-FB9D-4BEE-62A4B058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F46D7B3D-F7AD-1322-0C85-02D00CCCE1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B176A667-AC12-EFF8-5D0E-CAEB175F98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37350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9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4" name="Google Shape;2224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59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072884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748816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653375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62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844417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7009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134446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14163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66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2399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89046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68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15608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Updated the switch objects to reverse the black and white based on standards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69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821040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Updated the switch objects to reverse the black and white based on standards</a:t>
            </a: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721994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317003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72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01431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74259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DD0F8-99BC-E54B-3CDA-843C6D95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0967C-BC25-8762-052B-D43AD67FB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3124E-4BB4-2418-E697-8467F8ED4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99AA8-F2BB-31D2-780E-5717D623E4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683877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321991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76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743313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E259-2C80-F2CB-9699-91406F245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34C6D-2B33-B474-AC77-6374FA640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1FF56-4A7B-737D-B123-195641024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21F33-B655-3921-A7E1-3A54DA684D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835140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78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115543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79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518673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042209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592283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82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809314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SVG import readiness</a:t>
            </a:r>
            <a:br>
              <a:rPr lang="en-US"/>
            </a:b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490308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CC8A5-A87A-9E97-B588-AB4B5C790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DDE7E-B15B-25B7-391B-2FE657235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42D49-20F5-E56B-AEC5-7DEE5E012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10th June 2025 by Paudie Oriordan</a:t>
            </a:r>
            <a:br>
              <a:rPr lang="en-US" dirty="0"/>
            </a:b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original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63ACF-ABC8-E146-D460-C7D89FAE49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141086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B1640-FF1D-CD46-533B-B8F486AA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72542-40FC-5066-D641-6CE39A491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A2B8D-4E1A-BDEE-6C86-B83C8E93E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10th June 2025 by Paudie Oriordan</a:t>
            </a:r>
            <a:br>
              <a:rPr lang="en-US" dirty="0"/>
            </a:b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8EFD6-90FD-F5BE-93C3-3152A2261C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82775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13th June 2025 by Gary Blake</a:t>
            </a:r>
            <a:br>
              <a:rPr lang="en-US" dirty="0"/>
            </a:br>
            <a:endParaRPr lang="en-US" b="1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Initial creation based on a version provided </a:t>
            </a:r>
            <a:r>
              <a:rPr lang="en-US" b="0" dirty="0"/>
              <a:t>by </a:t>
            </a:r>
            <a:r>
              <a:rPr lang="en-GB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Konstantin Nikolov</a:t>
            </a:r>
            <a:r>
              <a:rPr lang="en-US" b="0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86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074778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13th June 2025 by Gary Blake</a:t>
            </a:r>
            <a:br>
              <a:rPr lang="en-US" dirty="0"/>
            </a:br>
            <a:endParaRPr lang="en-US" b="1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Initial creation based on a version provided </a:t>
            </a:r>
            <a:r>
              <a:rPr lang="en-US" b="0" dirty="0"/>
              <a:t>by </a:t>
            </a:r>
            <a:r>
              <a:rPr lang="en-GB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Konstantin Nikolov</a:t>
            </a:r>
            <a:r>
              <a:rPr lang="en-US" b="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87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679941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g35c6e7e29b5_0_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0" name="Google Shape;2170;g35c6e7e29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g35c6e7e29b5_0_1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76" name="Google Shape;2176;g35c6e7e29b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35c6e7e29b5_0_2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82" name="Google Shape;2182;g35c6e7e29b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g35c6e7e29b5_0_2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88" name="Google Shape;2188;g35c6e7e29b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g35c6e7e29b5_0_3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94" name="Google Shape;2194;g35c6e7e29b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g35c6e7e29b5_0_4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0" name="Google Shape;2200;g35c6e7e29b5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g35c6e7e29b5_0_2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06" name="Google Shape;2206;g35c6e7e29b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g35c6e7e29b5_0_6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12" name="Google Shape;2212;g35c6e7e29b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g35c6e7e29b5_0_6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18" name="Google Shape;2218;g35c6e7e29b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11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6" name="Google Shape;3096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" name="Google Shape;3102;p11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3" name="Google Shape;3103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8" name="Google Shape;3108;p11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9" name="Google Shape;3109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Ian Allie and David Zhang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VCF Identity Broker models side by side for use within the Architectural Options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v0.9 – 30 May 2025 by David Zhang</a:t>
            </a:r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Apply format requirements.</a:t>
            </a: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v0.8 – 15 May</a:t>
            </a:r>
            <a:r>
              <a:rPr lang="en-US" baseline="30000" dirty="0"/>
              <a:t> </a:t>
            </a:r>
            <a:r>
              <a:rPr lang="en-US" dirty="0"/>
              <a:t>2025 by David Zhang</a:t>
            </a:r>
            <a:endParaRPr lang="en-US" baseline="30000" dirty="0"/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Add NSX Manager and HCX to the model.</a:t>
            </a:r>
          </a:p>
          <a:p>
            <a:pPr marL="2286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Arial"/>
              <a:cs typeface="Arial"/>
              <a:sym typeface="Arial"/>
            </a:endParaRPr>
          </a:p>
          <a:p>
            <a:pPr marL="2286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V0.7 – 15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Arial"/>
                <a:cs typeface="Arial"/>
                <a:sym typeface="Arial"/>
              </a:rPr>
              <a:t>Aprl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 2025 by David Zhang</a:t>
            </a:r>
          </a:p>
          <a:p>
            <a:pPr marL="400050" marR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Add Appliance VCF Identity Broker Diagram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228600" indent="0">
              <a:buFont typeface="Arial" panose="020B0604020202020204" pitchFamily="34" charset="0"/>
              <a:buNone/>
            </a:pPr>
            <a:r>
              <a:rPr lang="en-US" dirty="0"/>
              <a:t>v0.1 – 07 January 2025 by Ian Allie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dirty="0"/>
              <a:t>Initial creation of </a:t>
            </a:r>
            <a:r>
              <a:rPr lang="en-US"/>
              <a:t>embedded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cs typeface="Arial"/>
                <a:sym typeface="Arial"/>
              </a:rPr>
              <a:t>VCF Identity Broker Diagram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030423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2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Ian Allie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all text to us Metropolis, possible Google Slides issue where opening in that tool resets everything to Arial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the VCF Identity Broker lines to align with color standard for Security and Governance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v0.9 – 30 May 2025 by David Zhang</a:t>
            </a:r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Apply format requirements</a:t>
            </a: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v0.8 – 15 May</a:t>
            </a:r>
            <a:r>
              <a:rPr lang="en-US" baseline="30000" dirty="0"/>
              <a:t> </a:t>
            </a:r>
            <a:r>
              <a:rPr lang="en-US" dirty="0"/>
              <a:t>2025 by David Zhang</a:t>
            </a:r>
            <a:endParaRPr lang="en-US" baseline="30000" dirty="0"/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Add NSX Manager and HCX to the model.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 marL="228600" indent="0">
              <a:buFont typeface="Arial" panose="020B0604020202020204" pitchFamily="34" charset="0"/>
              <a:buNone/>
            </a:pPr>
            <a:r>
              <a:rPr lang="en-US" dirty="0"/>
              <a:t>v0.1 – 07 January 2025 by Ian Allie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dirty="0"/>
              <a:t>Initial creation of embedded and appliance images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16" name="Google Shape;24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4">
          <a:extLst>
            <a:ext uri="{FF2B5EF4-FFF2-40B4-BE49-F238E27FC236}">
              <a16:creationId xmlns:a16="http://schemas.microsoft.com/office/drawing/2014/main" id="{1B33273C-3F2A-0A6E-CFF1-39BD9D7C4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23:notes">
            <a:extLst>
              <a:ext uri="{FF2B5EF4-FFF2-40B4-BE49-F238E27FC236}">
                <a16:creationId xmlns:a16="http://schemas.microsoft.com/office/drawing/2014/main" id="{4CCF574F-916C-7E4C-73D9-9E25DB87B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David Zhang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</a:t>
            </a:r>
            <a:r>
              <a:rPr lang="en-US" baseline="30000" dirty="0"/>
              <a:t>th</a:t>
            </a:r>
            <a:r>
              <a:rPr lang="en-US" dirty="0"/>
              <a:t> Jun 2025 by David Zhang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Add VCF Management</a:t>
            </a:r>
          </a:p>
          <a:p>
            <a:endParaRPr lang="en-US" dirty="0"/>
          </a:p>
          <a:p>
            <a:r>
              <a:rPr lang="en-US" dirty="0"/>
              <a:t>v0.9 – 25 May 2025 by David Zhang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Redefine and redraw all models. </a:t>
            </a:r>
          </a:p>
          <a:p>
            <a:endParaRPr lang="en-US" dirty="0"/>
          </a:p>
          <a:p>
            <a:r>
              <a:rPr lang="en-US" dirty="0"/>
              <a:t>v0.1 – </a:t>
            </a:r>
            <a:r>
              <a:rPr lang="en-US" b="0" dirty="0"/>
              <a:t>9</a:t>
            </a:r>
            <a:r>
              <a:rPr lang="en-US" b="0" baseline="30000" dirty="0"/>
              <a:t>th</a:t>
            </a:r>
            <a:r>
              <a:rPr lang="en-US" b="0" dirty="0"/>
              <a:t> </a:t>
            </a:r>
            <a:r>
              <a:rPr lang="en-US" dirty="0"/>
              <a:t>January 2025 by </a:t>
            </a:r>
            <a:r>
              <a:rPr lang="en-US" b="0" dirty="0"/>
              <a:t>Ian Allie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06" name="Google Shape;2506;p23:notes">
            <a:extLst>
              <a:ext uri="{FF2B5EF4-FFF2-40B4-BE49-F238E27FC236}">
                <a16:creationId xmlns:a16="http://schemas.microsoft.com/office/drawing/2014/main" id="{04B1B270-49B4-2E4C-4D5D-CF9E5C3D2D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621361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4">
          <a:extLst>
            <a:ext uri="{FF2B5EF4-FFF2-40B4-BE49-F238E27FC236}">
              <a16:creationId xmlns:a16="http://schemas.microsoft.com/office/drawing/2014/main" id="{7CEA2B58-C6E2-2B49-A73E-C21D7827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23:notes">
            <a:extLst>
              <a:ext uri="{FF2B5EF4-FFF2-40B4-BE49-F238E27FC236}">
                <a16:creationId xmlns:a16="http://schemas.microsoft.com/office/drawing/2014/main" id="{E6F4642B-0A21-E3C3-2637-AADC0A889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David Zhang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on 5</a:t>
            </a:r>
            <a:r>
              <a:rPr lang="en-US" baseline="30000" dirty="0"/>
              <a:t>th</a:t>
            </a:r>
            <a:r>
              <a:rPr lang="en-US" dirty="0"/>
              <a:t> Jun 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06" name="Google Shape;2506;p23:notes">
            <a:extLst>
              <a:ext uri="{FF2B5EF4-FFF2-40B4-BE49-F238E27FC236}">
                <a16:creationId xmlns:a16="http://schemas.microsoft.com/office/drawing/2014/main" id="{73B27F32-6927-D6CA-CE30-0CA33FDFDD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827519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p3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Ian Allie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v1.0 – </a:t>
            </a:r>
            <a:r>
              <a:rPr lang="en-US" b="0" dirty="0"/>
              <a:t>2 Jun </a:t>
            </a:r>
            <a:r>
              <a:rPr lang="en-US" dirty="0"/>
              <a:t>2025 updated by </a:t>
            </a:r>
            <a:r>
              <a:rPr lang="en-US" b="0" dirty="0"/>
              <a:t>David Zhang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0" dirty="0"/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Apply format requirements</a:t>
            </a:r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1200" b="0" i="0" u="none" strike="noStrike" cap="none" dirty="0">
              <a:solidFill>
                <a:schemeClr val="dk1"/>
              </a:solidFill>
              <a:latin typeface="Arial"/>
              <a:cs typeface="Arial"/>
              <a:sym typeface="Arial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v0.8 – </a:t>
            </a:r>
            <a:r>
              <a:rPr lang="en-US" b="0" dirty="0"/>
              <a:t>Apr </a:t>
            </a:r>
            <a:r>
              <a:rPr lang="en-US" dirty="0"/>
              <a:t>2025 updated by </a:t>
            </a:r>
            <a:r>
              <a:rPr lang="en-US" b="0" dirty="0"/>
              <a:t>Collin Smith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0" dirty="0"/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Change to use VCF Identity Broker Service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1" dirty="0"/>
          </a:p>
          <a:p>
            <a:r>
              <a:rPr lang="en-US" dirty="0"/>
              <a:t>v0.1 – </a:t>
            </a:r>
            <a:r>
              <a:rPr lang="en-US" b="0" dirty="0"/>
              <a:t>9</a:t>
            </a:r>
            <a:r>
              <a:rPr lang="en-US" b="0" baseline="30000" dirty="0"/>
              <a:t>th</a:t>
            </a:r>
            <a:r>
              <a:rPr lang="en-US" b="0" dirty="0"/>
              <a:t> </a:t>
            </a:r>
            <a:r>
              <a:rPr lang="en-US" dirty="0"/>
              <a:t>January 2025 by </a:t>
            </a:r>
            <a:r>
              <a:rPr lang="en-US" b="0" dirty="0"/>
              <a:t>Ian Allie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924" name="Google Shape;292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p3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Ian Allie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v1.0 – </a:t>
            </a:r>
            <a:r>
              <a:rPr lang="en-US" b="0" dirty="0"/>
              <a:t>2 Jun </a:t>
            </a:r>
            <a:r>
              <a:rPr lang="en-US" dirty="0"/>
              <a:t>2025 updated by </a:t>
            </a:r>
            <a:r>
              <a:rPr lang="en-US" b="0" dirty="0"/>
              <a:t>David Zhang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0" dirty="0"/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Apply format requirements</a:t>
            </a:r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1200" b="0" i="0" u="none" strike="noStrike" cap="none" dirty="0">
              <a:solidFill>
                <a:schemeClr val="dk1"/>
              </a:solidFill>
              <a:latin typeface="Arial"/>
              <a:cs typeface="Arial"/>
              <a:sym typeface="Arial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v0.8 – </a:t>
            </a:r>
            <a:r>
              <a:rPr lang="en-US" b="0" dirty="0"/>
              <a:t>Apr </a:t>
            </a:r>
            <a:r>
              <a:rPr lang="en-US" dirty="0"/>
              <a:t>2025 updated by </a:t>
            </a:r>
            <a:r>
              <a:rPr lang="en-US" b="0" dirty="0"/>
              <a:t>Collin Smith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0" dirty="0"/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Change to use VCF Identity Broker Service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1" dirty="0"/>
          </a:p>
          <a:p>
            <a:r>
              <a:rPr lang="en-US" dirty="0"/>
              <a:t>v0.1 – </a:t>
            </a:r>
            <a:r>
              <a:rPr lang="en-US" b="0" dirty="0"/>
              <a:t>9</a:t>
            </a:r>
            <a:r>
              <a:rPr lang="en-US" b="0" baseline="30000" dirty="0"/>
              <a:t>th</a:t>
            </a:r>
            <a:r>
              <a:rPr lang="en-US" b="0" dirty="0"/>
              <a:t> </a:t>
            </a:r>
            <a:r>
              <a:rPr lang="en-US" dirty="0"/>
              <a:t>January 2025 by </a:t>
            </a:r>
            <a:r>
              <a:rPr lang="en-US" b="0" dirty="0"/>
              <a:t>Ian Allie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945" name="Google Shape;294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p8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6" name="Google Shape;3116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1" name="Google Shape;312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2" name="Google Shape;3122;p8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23" name="Google Shape;3123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107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1" name="Google Shape;3151;p8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52" name="Google Shape;3152;p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108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8" name="Google Shape;3208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9" name="Google Shape;3209;p8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210" name="Google Shape;3210;p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109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4" name="Google Shape;3304;p8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305" name="Google Shape;3305;p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110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6" name="Google Shape;3396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7" name="Google Shape;3397;p8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398" name="Google Shape;3398;p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111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Google Shape;3493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4" name="Google Shape;3494;p9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95" name="Google Shape;3495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112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" name="Google Shape;3512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3" name="Google Shape;3513;p9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514" name="Google Shape;3514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title and Content">
  <p:cSld name="1_Title, Sub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7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107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​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100"/>
              <a:buChar char="–"/>
              <a:defRPr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900"/>
              <a:buChar char="–"/>
              <a:defRPr>
                <a:solidFill>
                  <a:schemeClr val="dk1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070D"/>
              </a:buClr>
              <a:buSzPts val="900"/>
              <a:buChar char="•"/>
              <a:defRPr>
                <a:solidFill>
                  <a:srgbClr val="06070D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-"/>
              <a:defRPr/>
            </a:lvl7pPr>
            <a:lvl8pPr marL="3657600" lvl="7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-"/>
              <a:defRPr/>
            </a:lvl9pPr>
          </a:lstStyle>
          <a:p>
            <a:endParaRPr/>
          </a:p>
        </p:txBody>
      </p:sp>
      <p:sp>
        <p:nvSpPr>
          <p:cNvPr id="45" name="Google Shape;45;p10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Section Header – Plum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1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6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6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Title, Subtitle and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•"/>
              <a:defRPr>
                <a:solidFill>
                  <a:srgbClr val="3C3C3C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63" name="Google Shape;63;p10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, Subtitle and Content">
  <p:cSld name="3_Title, Subtitle and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0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None/>
              <a:defRPr sz="1600"/>
            </a:lvl9pPr>
          </a:lstStyle>
          <a:p>
            <a:endParaRPr/>
          </a:p>
        </p:txBody>
      </p:sp>
      <p:sp>
        <p:nvSpPr>
          <p:cNvPr id="67" name="Google Shape;67;p120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070D"/>
              </a:buClr>
              <a:buSzPts val="1260"/>
              <a:buChar char="•"/>
              <a:defRPr>
                <a:solidFill>
                  <a:srgbClr val="06070D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68" name="Google Shape;68;p12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, Subtitle and Content">
  <p:cSld name="5_Title, Subtitle and Conte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2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122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070D"/>
              </a:buClr>
              <a:buSzPts val="1260"/>
              <a:buChar char="•"/>
              <a:defRPr>
                <a:solidFill>
                  <a:srgbClr val="06070D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80" name="Google Shape;80;p1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Aqua">
  <p:cSld name="Section Header – Aqua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2"/>
          <p:cNvPicPr preferRelativeResize="0"/>
          <p:nvPr/>
        </p:nvPicPr>
        <p:blipFill rotWithShape="1">
          <a:blip r:embed="rId2">
            <a:alphaModFix/>
          </a:blip>
          <a:srcRect l="1042" r="1971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</p:pic>
      <p:sp>
        <p:nvSpPr>
          <p:cNvPr id="103" name="Google Shape;103;p12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7" name="Google Shape;107;p12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1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10" name="Google Shape;110;p1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11" name="Google Shape;111;p1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" name="Google Shape;121;p1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22" name="Google Shape;122;p1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9" name="Google Shape;129;p12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2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2"/>
          <p:cNvPicPr preferRelativeResize="0"/>
          <p:nvPr/>
        </p:nvPicPr>
        <p:blipFill rotWithShape="1">
          <a:blip r:embed="rId2">
            <a:alphaModFix/>
          </a:blip>
          <a:srcRect l="1042" r="1971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</p:pic>
      <p:sp>
        <p:nvSpPr>
          <p:cNvPr id="133" name="Google Shape;133;p12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1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7" name="Google Shape;137;p1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38" name="Google Shape;138;p1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1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49" name="Google Shape;149;p1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6" name="Google Shape;156;p12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2894013" y="1359907"/>
            <a:ext cx="7315200" cy="4322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pen Sans"/>
              <a:buChar char="​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None/>
              <a:defRPr sz="1800"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None/>
              <a:defRPr sz="1800">
                <a:solidFill>
                  <a:schemeClr val="dk2"/>
                </a:solidFill>
              </a:defRPr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1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610289" y="1257625"/>
            <a:ext cx="193987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610289" y="1257625"/>
            <a:ext cx="193987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Leaf">
  <p:cSld name="Section Header – Leaf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21000">
                <a:schemeClr val="accent4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– Photo 4">
  <p:cSld name="Section Header – Photo 4"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7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1" cy="563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5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7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1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78" name="Google Shape;178;p1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79" name="Google Shape;179;p1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1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" name="Google Shape;189;p1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0" name="Google Shape;190;p1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7" name="Google Shape;197;p1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7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1" cy="563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5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1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04" name="Google Shape;204;p1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5" name="Google Shape;205;p1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1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1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16" name="Google Shape;216;p1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3" name="Google Shape;223;p1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Leaf">
  <p:cSld name="Quote – Leaf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8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28" name="Google Shape;228;p18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1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p1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33" name="Google Shape;233;p1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34" name="Google Shape;234;p1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1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45" name="Google Shape;245;p1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2" name="Google Shape;252;p18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1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58" name="Google Shape;258;p1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59" name="Google Shape;259;p1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1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1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1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1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1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9" name="Google Shape;269;p1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70" name="Google Shape;270;p1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1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1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Aqua">
  <p:cSld name="Quote – Aqua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9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1" name="Google Shape;281;p19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2" name="Google Shape;282;p19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1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" name="Google Shape;286;p1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87" name="Google Shape;287;p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88" name="Google Shape;288;p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8" name="Google Shape;298;p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99" name="Google Shape;299;p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6" name="Google Shape;306;p19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p1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12" name="Google Shape;312;p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13" name="Google Shape;313;p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24" name="Google Shape;324;p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lum">
  <p:cSld name="Quote – Plum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0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6215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36" name="Google Shape;336;p20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2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0" name="Google Shape;340;p2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41" name="Google Shape;341;p2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42" name="Google Shape;342;p2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2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2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2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2" name="Google Shape;352;p2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53" name="Google Shape;353;p2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2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2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0" name="Google Shape;360;p20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2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66" name="Google Shape;366;p2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67" name="Google Shape;367;p2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2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2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2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2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7" name="Google Shape;377;p2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78" name="Google Shape;378;p2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2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2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2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2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2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hoto 5">
  <p:cSld name="Quote – Photo 5">
    <p:bg>
      <p:bgPr>
        <a:solidFill>
          <a:schemeClr val="lt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1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1"/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3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p2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92" name="Google Shape;392;p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93" name="Google Shape;393;p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3" name="Google Shape;403;p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04" name="Google Shape;404;p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1" name="Google Shape;411;p21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12" name="Google Shape;412;p21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3591052" cy="67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1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1"/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3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1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9" name="Google Shape;419;p2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420" name="Google Shape;420;p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21" name="Google Shape;421;p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1" name="Google Shape;431;p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32" name="Google Shape;432;p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9" name="Google Shape;439;p2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">
  <p:cSld name="Two-Content Balanced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2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43" name="Google Shape;443;p23"/>
          <p:cNvSpPr txBox="1">
            <a:spLocks noGrp="1"/>
          </p:cNvSpPr>
          <p:nvPr>
            <p:ph type="body" idx="2"/>
          </p:nvPr>
        </p:nvSpPr>
        <p:spPr>
          <a:xfrm>
            <a:off x="608013" y="1600200"/>
            <a:ext cx="531378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4" name="Google Shape;444;p23"/>
          <p:cNvSpPr txBox="1">
            <a:spLocks noGrp="1"/>
          </p:cNvSpPr>
          <p:nvPr>
            <p:ph type="body" idx="3"/>
          </p:nvPr>
        </p:nvSpPr>
        <p:spPr>
          <a:xfrm>
            <a:off x="6321287" y="1600200"/>
            <a:ext cx="531378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5" name="Google Shape;445;p2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Right">
  <p:cSld name="Two-Content Balanced Color on Right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 txBox="1">
            <a:spLocks noGrp="1"/>
          </p:cNvSpPr>
          <p:nvPr>
            <p:ph type="body" idx="1"/>
          </p:nvPr>
        </p:nvSpPr>
        <p:spPr>
          <a:xfrm>
            <a:off x="6323381" y="1600201"/>
            <a:ext cx="5865445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24"/>
          <p:cNvSpPr txBox="1">
            <a:spLocks noGrp="1"/>
          </p:cNvSpPr>
          <p:nvPr>
            <p:ph type="subTitle" idx="2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50" name="Google Shape;450;p2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2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4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9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3" name="Google Shape;453;p2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Left">
  <p:cSld name="Two-Content Balanced Color on Left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2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57" name="Google Shape;457;p2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5"/>
          <p:cNvSpPr txBox="1">
            <a:spLocks noGrp="1"/>
          </p:cNvSpPr>
          <p:nvPr>
            <p:ph type="body" idx="2"/>
          </p:nvPr>
        </p:nvSpPr>
        <p:spPr>
          <a:xfrm>
            <a:off x="6323381" y="1600201"/>
            <a:ext cx="586544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9" name="Google Shape;459;p25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9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0" name="Google Shape;460;p2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2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64" name="Google Shape;464;p26"/>
          <p:cNvSpPr txBox="1">
            <a:spLocks noGrp="1"/>
          </p:cNvSpPr>
          <p:nvPr>
            <p:ph type="body" idx="2"/>
          </p:nvPr>
        </p:nvSpPr>
        <p:spPr>
          <a:xfrm>
            <a:off x="592866" y="1600202"/>
            <a:ext cx="5287234" cy="87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6"/>
          <p:cNvSpPr txBox="1">
            <a:spLocks noGrp="1"/>
          </p:cNvSpPr>
          <p:nvPr>
            <p:ph type="body" idx="3"/>
          </p:nvPr>
        </p:nvSpPr>
        <p:spPr>
          <a:xfrm>
            <a:off x="592865" y="2621020"/>
            <a:ext cx="5315794" cy="354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7" name="Google Shape;467;p26"/>
          <p:cNvSpPr txBox="1">
            <a:spLocks noGrp="1"/>
          </p:cNvSpPr>
          <p:nvPr>
            <p:ph type="body" idx="4"/>
          </p:nvPr>
        </p:nvSpPr>
        <p:spPr>
          <a:xfrm>
            <a:off x="6308726" y="1600202"/>
            <a:ext cx="5287234" cy="87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6"/>
          <p:cNvSpPr txBox="1">
            <a:spLocks noGrp="1"/>
          </p:cNvSpPr>
          <p:nvPr>
            <p:ph type="body" idx="5"/>
          </p:nvPr>
        </p:nvSpPr>
        <p:spPr>
          <a:xfrm>
            <a:off x="6308143" y="2621280"/>
            <a:ext cx="5287234" cy="357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70" name="Google Shape;470;p2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-Content Comparison">
  <p:cSld name="Three-Content Comparison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2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77" name="Google Shape;477;p27"/>
          <p:cNvSpPr txBox="1">
            <a:spLocks noGrp="1"/>
          </p:cNvSpPr>
          <p:nvPr>
            <p:ph type="body" idx="2"/>
          </p:nvPr>
        </p:nvSpPr>
        <p:spPr>
          <a:xfrm>
            <a:off x="592866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78" name="Google Shape;478;p27"/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7"/>
          <p:cNvSpPr txBox="1">
            <a:spLocks noGrp="1"/>
          </p:cNvSpPr>
          <p:nvPr>
            <p:ph type="body" idx="3"/>
          </p:nvPr>
        </p:nvSpPr>
        <p:spPr>
          <a:xfrm>
            <a:off x="4297616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0" name="Google Shape;480;p27"/>
          <p:cNvSpPr txBox="1">
            <a:spLocks noGrp="1"/>
          </p:cNvSpPr>
          <p:nvPr>
            <p:ph type="body" idx="4"/>
          </p:nvPr>
        </p:nvSpPr>
        <p:spPr>
          <a:xfrm>
            <a:off x="8001859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7"/>
          <p:cNvSpPr txBox="1">
            <a:spLocks noGrp="1"/>
          </p:cNvSpPr>
          <p:nvPr>
            <p:ph type="body" idx="5"/>
          </p:nvPr>
        </p:nvSpPr>
        <p:spPr>
          <a:xfrm>
            <a:off x="592866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5" name="Google Shape;485;p27"/>
          <p:cNvSpPr txBox="1">
            <a:spLocks noGrp="1"/>
          </p:cNvSpPr>
          <p:nvPr>
            <p:ph type="body" idx="6"/>
          </p:nvPr>
        </p:nvSpPr>
        <p:spPr>
          <a:xfrm>
            <a:off x="4297616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6" name="Google Shape;486;p27"/>
          <p:cNvSpPr txBox="1">
            <a:spLocks noGrp="1"/>
          </p:cNvSpPr>
          <p:nvPr>
            <p:ph type="body" idx="7"/>
          </p:nvPr>
        </p:nvSpPr>
        <p:spPr>
          <a:xfrm>
            <a:off x="8001859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Left">
  <p:cSld name="Two Content Dynamic – Left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2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94" name="Google Shape;494;p28"/>
          <p:cNvSpPr/>
          <p:nvPr/>
        </p:nvSpPr>
        <p:spPr>
          <a:xfrm rot="10800000" flipH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8"/>
          <p:cNvSpPr txBox="1">
            <a:spLocks noGrp="1"/>
          </p:cNvSpPr>
          <p:nvPr>
            <p:ph type="body" idx="2"/>
          </p:nvPr>
        </p:nvSpPr>
        <p:spPr>
          <a:xfrm>
            <a:off x="0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96" name="Google Shape;496;p28"/>
          <p:cNvSpPr txBox="1">
            <a:spLocks noGrp="1"/>
          </p:cNvSpPr>
          <p:nvPr>
            <p:ph type="body" idx="3"/>
          </p:nvPr>
        </p:nvSpPr>
        <p:spPr>
          <a:xfrm>
            <a:off x="3351213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97" name="Google Shape;497;p2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8"/>
          <p:cNvSpPr/>
          <p:nvPr/>
        </p:nvSpPr>
        <p:spPr>
          <a:xfrm rot="10800000" flipH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Right">
  <p:cSld name="Two Content Dynamic – Right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2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03" name="Google Shape;503;p2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9"/>
          <p:cNvSpPr/>
          <p:nvPr/>
        </p:nvSpPr>
        <p:spPr>
          <a:xfrm rot="10800000" flipH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9"/>
          <p:cNvSpPr txBox="1">
            <a:spLocks noGrp="1"/>
          </p:cNvSpPr>
          <p:nvPr>
            <p:ph type="body" idx="2"/>
          </p:nvPr>
        </p:nvSpPr>
        <p:spPr>
          <a:xfrm>
            <a:off x="9294812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06" name="Google Shape;506;p29"/>
          <p:cNvSpPr txBox="1">
            <a:spLocks noGrp="1"/>
          </p:cNvSpPr>
          <p:nvPr>
            <p:ph type="body" idx="3"/>
          </p:nvPr>
        </p:nvSpPr>
        <p:spPr>
          <a:xfrm>
            <a:off x="0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07" name="Google Shape;507;p2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9"/>
          <p:cNvSpPr/>
          <p:nvPr/>
        </p:nvSpPr>
        <p:spPr>
          <a:xfrm rot="10800000" flipH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Content on Right">
  <p:cSld name="Diagram with Content on Right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3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12" name="Google Shape;512;p30"/>
          <p:cNvSpPr/>
          <p:nvPr/>
        </p:nvSpPr>
        <p:spPr>
          <a:xfrm rot="10800000" flipH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0"/>
          <p:cNvSpPr txBox="1">
            <a:spLocks noGrp="1"/>
          </p:cNvSpPr>
          <p:nvPr>
            <p:ph type="body" idx="2"/>
          </p:nvPr>
        </p:nvSpPr>
        <p:spPr>
          <a:xfrm>
            <a:off x="8380413" y="1600200"/>
            <a:ext cx="3808412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594350" bIns="4572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accent2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•"/>
              <a:defRPr sz="1400">
                <a:solidFill>
                  <a:schemeClr val="accent2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–"/>
              <a:defRPr sz="1100">
                <a:solidFill>
                  <a:schemeClr val="accent2"/>
                </a:solidFill>
              </a:defRPr>
            </a:lvl5pPr>
            <a:lvl6pPr marL="2743200" lvl="5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6pPr>
            <a:lvl7pPr marL="3200400" lvl="6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7pPr>
            <a:lvl8pPr marL="3657600" lvl="7" indent="-29146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8pPr>
            <a:lvl9pPr marL="4114800" lvl="8" indent="-291465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3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0"/>
          <p:cNvSpPr txBox="1">
            <a:spLocks noGrp="1"/>
          </p:cNvSpPr>
          <p:nvPr>
            <p:ph type="body" idx="3"/>
          </p:nvPr>
        </p:nvSpPr>
        <p:spPr>
          <a:xfrm>
            <a:off x="608012" y="1600201"/>
            <a:ext cx="739830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6" name="Google Shape;516;p30"/>
          <p:cNvSpPr/>
          <p:nvPr/>
        </p:nvSpPr>
        <p:spPr>
          <a:xfrm rot="10800000" flipH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Outcome, Benefit">
  <p:cSld name="Diagram with Outcome, Benefit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31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521" name="Google Shape;521;p31"/>
          <p:cNvCxnSpPr/>
          <p:nvPr/>
        </p:nvCxnSpPr>
        <p:spPr>
          <a:xfrm>
            <a:off x="8380413" y="1608668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2" name="Google Shape;522;p31"/>
          <p:cNvSpPr txBox="1">
            <a:spLocks noGrp="1"/>
          </p:cNvSpPr>
          <p:nvPr>
            <p:ph type="body" idx="2"/>
          </p:nvPr>
        </p:nvSpPr>
        <p:spPr>
          <a:xfrm>
            <a:off x="8380413" y="1699688"/>
            <a:ext cx="200660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3" name="Google Shape;523;p31"/>
          <p:cNvSpPr txBox="1">
            <a:spLocks noGrp="1"/>
          </p:cNvSpPr>
          <p:nvPr>
            <p:ph type="body" idx="3"/>
          </p:nvPr>
        </p:nvSpPr>
        <p:spPr>
          <a:xfrm>
            <a:off x="8378825" y="2063048"/>
            <a:ext cx="32019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24" name="Google Shape;524;p31"/>
          <p:cNvCxnSpPr/>
          <p:nvPr/>
        </p:nvCxnSpPr>
        <p:spPr>
          <a:xfrm>
            <a:off x="8380413" y="3872441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5" name="Google Shape;525;p31"/>
          <p:cNvSpPr txBox="1">
            <a:spLocks noGrp="1"/>
          </p:cNvSpPr>
          <p:nvPr>
            <p:ph type="body" idx="4"/>
          </p:nvPr>
        </p:nvSpPr>
        <p:spPr>
          <a:xfrm>
            <a:off x="8380413" y="3972469"/>
            <a:ext cx="200660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6" name="Google Shape;526;p31"/>
          <p:cNvSpPr txBox="1">
            <a:spLocks noGrp="1"/>
          </p:cNvSpPr>
          <p:nvPr>
            <p:ph type="body" idx="5"/>
          </p:nvPr>
        </p:nvSpPr>
        <p:spPr>
          <a:xfrm>
            <a:off x="8378825" y="4347904"/>
            <a:ext cx="32019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7" name="Google Shape;527;p3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1"/>
          <p:cNvSpPr txBox="1">
            <a:spLocks noGrp="1"/>
          </p:cNvSpPr>
          <p:nvPr>
            <p:ph type="body" idx="6"/>
          </p:nvPr>
        </p:nvSpPr>
        <p:spPr>
          <a:xfrm>
            <a:off x="608012" y="1600201"/>
            <a:ext cx="739830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529" name="Google Shape;529;p31"/>
          <p:cNvCxnSpPr/>
          <p:nvPr/>
        </p:nvCxnSpPr>
        <p:spPr>
          <a:xfrm>
            <a:off x="8380413" y="1608668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0" name="Google Shape;530;p31"/>
          <p:cNvCxnSpPr/>
          <p:nvPr/>
        </p:nvCxnSpPr>
        <p:spPr>
          <a:xfrm>
            <a:off x="8380413" y="3872441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1" name="Google Shape;531;p3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ccess">
  <p:cSld name="Customer Success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3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535" name="Google Shape;535;p32"/>
          <p:cNvCxnSpPr/>
          <p:nvPr/>
        </p:nvCxnSpPr>
        <p:spPr>
          <a:xfrm>
            <a:off x="609600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6" name="Google Shape;536;p32"/>
          <p:cNvSpPr txBox="1">
            <a:spLocks noGrp="1"/>
          </p:cNvSpPr>
          <p:nvPr>
            <p:ph type="body" idx="2"/>
          </p:nvPr>
        </p:nvSpPr>
        <p:spPr>
          <a:xfrm>
            <a:off x="611645" y="1901093"/>
            <a:ext cx="3201848" cy="121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37" name="Google Shape;537;p32"/>
          <p:cNvCxnSpPr/>
          <p:nvPr/>
        </p:nvCxnSpPr>
        <p:spPr>
          <a:xfrm>
            <a:off x="4412165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8" name="Google Shape;538;p32"/>
          <p:cNvSpPr txBox="1">
            <a:spLocks noGrp="1"/>
          </p:cNvSpPr>
          <p:nvPr>
            <p:ph type="body" idx="3"/>
          </p:nvPr>
        </p:nvSpPr>
        <p:spPr>
          <a:xfrm>
            <a:off x="4414210" y="1901094"/>
            <a:ext cx="3201848" cy="122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39" name="Google Shape;539;p32"/>
          <p:cNvCxnSpPr/>
          <p:nvPr/>
        </p:nvCxnSpPr>
        <p:spPr>
          <a:xfrm>
            <a:off x="609600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0" name="Google Shape;540;p32"/>
          <p:cNvSpPr txBox="1">
            <a:spLocks noGrp="1"/>
          </p:cNvSpPr>
          <p:nvPr>
            <p:ph type="body" idx="4"/>
          </p:nvPr>
        </p:nvSpPr>
        <p:spPr>
          <a:xfrm>
            <a:off x="611645" y="3693430"/>
            <a:ext cx="3201848" cy="111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41" name="Google Shape;541;p32"/>
          <p:cNvCxnSpPr/>
          <p:nvPr/>
        </p:nvCxnSpPr>
        <p:spPr>
          <a:xfrm>
            <a:off x="4412165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2" name="Google Shape;542;p32"/>
          <p:cNvSpPr txBox="1">
            <a:spLocks noGrp="1"/>
          </p:cNvSpPr>
          <p:nvPr>
            <p:ph type="body" idx="5"/>
          </p:nvPr>
        </p:nvSpPr>
        <p:spPr>
          <a:xfrm>
            <a:off x="4414210" y="3693430"/>
            <a:ext cx="3201848" cy="113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43" name="Google Shape;543;p32"/>
          <p:cNvCxnSpPr/>
          <p:nvPr/>
        </p:nvCxnSpPr>
        <p:spPr>
          <a:xfrm>
            <a:off x="608739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4" name="Google Shape;544;p32"/>
          <p:cNvSpPr txBox="1">
            <a:spLocks noGrp="1"/>
          </p:cNvSpPr>
          <p:nvPr>
            <p:ph type="body" idx="6"/>
          </p:nvPr>
        </p:nvSpPr>
        <p:spPr>
          <a:xfrm>
            <a:off x="613093" y="5327336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5" name="Google Shape;545;p32"/>
          <p:cNvSpPr txBox="1">
            <a:spLocks noGrp="1"/>
          </p:cNvSpPr>
          <p:nvPr>
            <p:ph type="body" idx="7"/>
          </p:nvPr>
        </p:nvSpPr>
        <p:spPr>
          <a:xfrm>
            <a:off x="613093" y="5593624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6" name="Google Shape;546;p32"/>
          <p:cNvSpPr txBox="1">
            <a:spLocks noGrp="1"/>
          </p:cNvSpPr>
          <p:nvPr>
            <p:ph type="body" idx="8"/>
          </p:nvPr>
        </p:nvSpPr>
        <p:spPr>
          <a:xfrm>
            <a:off x="613093" y="5859911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7" name="Google Shape;547;p32"/>
          <p:cNvSpPr txBox="1">
            <a:spLocks noGrp="1"/>
          </p:cNvSpPr>
          <p:nvPr>
            <p:ph type="body" idx="9"/>
          </p:nvPr>
        </p:nvSpPr>
        <p:spPr>
          <a:xfrm>
            <a:off x="4400790" y="5327336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8" name="Google Shape;548;p32"/>
          <p:cNvSpPr txBox="1">
            <a:spLocks noGrp="1"/>
          </p:cNvSpPr>
          <p:nvPr>
            <p:ph type="body" idx="13"/>
          </p:nvPr>
        </p:nvSpPr>
        <p:spPr>
          <a:xfrm>
            <a:off x="4400790" y="5593624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9" name="Google Shape;549;p32"/>
          <p:cNvSpPr txBox="1">
            <a:spLocks noGrp="1"/>
          </p:cNvSpPr>
          <p:nvPr>
            <p:ph type="body" idx="14"/>
          </p:nvPr>
        </p:nvSpPr>
        <p:spPr>
          <a:xfrm>
            <a:off x="4400790" y="5859911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0" name="Google Shape;550;p32"/>
          <p:cNvSpPr>
            <a:spLocks noGrp="1"/>
          </p:cNvSpPr>
          <p:nvPr>
            <p:ph type="pic" idx="15"/>
          </p:nvPr>
        </p:nvSpPr>
        <p:spPr>
          <a:xfrm>
            <a:off x="9207965" y="1600200"/>
            <a:ext cx="1841500" cy="660399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32"/>
          <p:cNvSpPr txBox="1">
            <a:spLocks noGrp="1"/>
          </p:cNvSpPr>
          <p:nvPr>
            <p:ph type="body" idx="16"/>
          </p:nvPr>
        </p:nvSpPr>
        <p:spPr>
          <a:xfrm>
            <a:off x="8509465" y="2347933"/>
            <a:ext cx="320675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2" name="Google Shape;552;p32"/>
          <p:cNvSpPr txBox="1">
            <a:spLocks noGrp="1"/>
          </p:cNvSpPr>
          <p:nvPr>
            <p:ph type="body" idx="17"/>
          </p:nvPr>
        </p:nvSpPr>
        <p:spPr>
          <a:xfrm>
            <a:off x="8509465" y="2647290"/>
            <a:ext cx="320675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3" name="Google Shape;553;p32"/>
          <p:cNvSpPr>
            <a:spLocks noGrp="1"/>
          </p:cNvSpPr>
          <p:nvPr>
            <p:ph type="pic" idx="18"/>
          </p:nvPr>
        </p:nvSpPr>
        <p:spPr>
          <a:xfrm>
            <a:off x="8515815" y="2971800"/>
            <a:ext cx="319405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32"/>
          <p:cNvSpPr txBox="1">
            <a:spLocks noGrp="1"/>
          </p:cNvSpPr>
          <p:nvPr>
            <p:ph type="body" idx="19"/>
          </p:nvPr>
        </p:nvSpPr>
        <p:spPr>
          <a:xfrm>
            <a:off x="8515815" y="5022214"/>
            <a:ext cx="3200400" cy="115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861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None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5" name="Google Shape;555;p3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p32"/>
          <p:cNvCxnSpPr/>
          <p:nvPr/>
        </p:nvCxnSpPr>
        <p:spPr>
          <a:xfrm>
            <a:off x="4412165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7" name="Google Shape;557;p32"/>
          <p:cNvSpPr txBox="1">
            <a:spLocks noGrp="1"/>
          </p:cNvSpPr>
          <p:nvPr>
            <p:ph type="body" idx="20"/>
          </p:nvPr>
        </p:nvSpPr>
        <p:spPr>
          <a:xfrm>
            <a:off x="608013" y="1552575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8" name="Google Shape;558;p32"/>
          <p:cNvSpPr txBox="1">
            <a:spLocks noGrp="1"/>
          </p:cNvSpPr>
          <p:nvPr>
            <p:ph type="body" idx="21"/>
          </p:nvPr>
        </p:nvSpPr>
        <p:spPr>
          <a:xfrm>
            <a:off x="4411663" y="1552575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9" name="Google Shape;559;p32"/>
          <p:cNvSpPr txBox="1">
            <a:spLocks noGrp="1"/>
          </p:cNvSpPr>
          <p:nvPr>
            <p:ph type="body" idx="22"/>
          </p:nvPr>
        </p:nvSpPr>
        <p:spPr>
          <a:xfrm>
            <a:off x="608013" y="3338514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0" name="Google Shape;560;p32"/>
          <p:cNvSpPr txBox="1">
            <a:spLocks noGrp="1"/>
          </p:cNvSpPr>
          <p:nvPr>
            <p:ph type="body" idx="23"/>
          </p:nvPr>
        </p:nvSpPr>
        <p:spPr>
          <a:xfrm>
            <a:off x="4427538" y="3338514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24"/>
          </p:nvPr>
        </p:nvSpPr>
        <p:spPr>
          <a:xfrm>
            <a:off x="608013" y="5022850"/>
            <a:ext cx="3243262" cy="2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2" name="Google Shape;562;p32"/>
          <p:cNvSpPr txBox="1">
            <a:spLocks noGrp="1"/>
          </p:cNvSpPr>
          <p:nvPr>
            <p:ph type="body" idx="25"/>
          </p:nvPr>
        </p:nvSpPr>
        <p:spPr>
          <a:xfrm>
            <a:off x="4427538" y="5022850"/>
            <a:ext cx="3243262" cy="2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63" name="Google Shape;563;p32"/>
          <p:cNvCxnSpPr/>
          <p:nvPr/>
        </p:nvCxnSpPr>
        <p:spPr>
          <a:xfrm>
            <a:off x="609600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4" name="Google Shape;564;p32"/>
          <p:cNvCxnSpPr/>
          <p:nvPr/>
        </p:nvCxnSpPr>
        <p:spPr>
          <a:xfrm>
            <a:off x="4412165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5" name="Google Shape;565;p32"/>
          <p:cNvCxnSpPr/>
          <p:nvPr/>
        </p:nvCxnSpPr>
        <p:spPr>
          <a:xfrm>
            <a:off x="609600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6" name="Google Shape;566;p32"/>
          <p:cNvCxnSpPr/>
          <p:nvPr/>
        </p:nvCxnSpPr>
        <p:spPr>
          <a:xfrm>
            <a:off x="4412165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7" name="Google Shape;567;p32"/>
          <p:cNvCxnSpPr/>
          <p:nvPr/>
        </p:nvCxnSpPr>
        <p:spPr>
          <a:xfrm>
            <a:off x="608739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68" name="Google Shape;568;p3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9" name="Google Shape;569;p32"/>
          <p:cNvCxnSpPr/>
          <p:nvPr/>
        </p:nvCxnSpPr>
        <p:spPr>
          <a:xfrm>
            <a:off x="4412165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con ">
  <p:cSld name="Three Icon "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3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73" name="Google Shape;573;p33"/>
          <p:cNvSpPr/>
          <p:nvPr/>
        </p:nvSpPr>
        <p:spPr>
          <a:xfrm>
            <a:off x="1981877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3"/>
          <p:cNvSpPr txBox="1">
            <a:spLocks noGrp="1"/>
          </p:cNvSpPr>
          <p:nvPr>
            <p:ph type="body" idx="2"/>
          </p:nvPr>
        </p:nvSpPr>
        <p:spPr>
          <a:xfrm>
            <a:off x="2188103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5" name="Google Shape;575;p33"/>
          <p:cNvSpPr txBox="1">
            <a:spLocks noGrp="1"/>
          </p:cNvSpPr>
          <p:nvPr>
            <p:ph type="body" idx="3"/>
          </p:nvPr>
        </p:nvSpPr>
        <p:spPr>
          <a:xfrm>
            <a:off x="1525905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6" name="Google Shape;576;p33"/>
          <p:cNvSpPr/>
          <p:nvPr/>
        </p:nvSpPr>
        <p:spPr>
          <a:xfrm>
            <a:off x="5184924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3"/>
          <p:cNvSpPr txBox="1">
            <a:spLocks noGrp="1"/>
          </p:cNvSpPr>
          <p:nvPr>
            <p:ph type="body" idx="4"/>
          </p:nvPr>
        </p:nvSpPr>
        <p:spPr>
          <a:xfrm>
            <a:off x="5408612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8" name="Google Shape;578;p33"/>
          <p:cNvSpPr txBox="1">
            <a:spLocks noGrp="1"/>
          </p:cNvSpPr>
          <p:nvPr>
            <p:ph type="body" idx="5"/>
          </p:nvPr>
        </p:nvSpPr>
        <p:spPr>
          <a:xfrm>
            <a:off x="4721225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9" name="Google Shape;579;p33"/>
          <p:cNvSpPr/>
          <p:nvPr/>
        </p:nvSpPr>
        <p:spPr>
          <a:xfrm>
            <a:off x="8389301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3"/>
          <p:cNvSpPr txBox="1">
            <a:spLocks noGrp="1"/>
          </p:cNvSpPr>
          <p:nvPr>
            <p:ph type="body" idx="6"/>
          </p:nvPr>
        </p:nvSpPr>
        <p:spPr>
          <a:xfrm>
            <a:off x="7923213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1" name="Google Shape;581;p33"/>
          <p:cNvSpPr txBox="1">
            <a:spLocks noGrp="1"/>
          </p:cNvSpPr>
          <p:nvPr>
            <p:ph type="body" idx="7"/>
          </p:nvPr>
        </p:nvSpPr>
        <p:spPr>
          <a:xfrm>
            <a:off x="8609012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2" name="Google Shape;582;p3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3"/>
          <p:cNvSpPr/>
          <p:nvPr/>
        </p:nvSpPr>
        <p:spPr>
          <a:xfrm>
            <a:off x="1981877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3"/>
          <p:cNvSpPr/>
          <p:nvPr/>
        </p:nvSpPr>
        <p:spPr>
          <a:xfrm>
            <a:off x="5184924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3"/>
          <p:cNvSpPr/>
          <p:nvPr/>
        </p:nvSpPr>
        <p:spPr>
          <a:xfrm>
            <a:off x="8389301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con ">
  <p:cSld name="Four Icon 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3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90" name="Google Shape;590;p34"/>
          <p:cNvSpPr/>
          <p:nvPr/>
        </p:nvSpPr>
        <p:spPr>
          <a:xfrm>
            <a:off x="1065749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4"/>
          <p:cNvSpPr txBox="1">
            <a:spLocks noGrp="1"/>
          </p:cNvSpPr>
          <p:nvPr>
            <p:ph type="body" idx="2"/>
          </p:nvPr>
        </p:nvSpPr>
        <p:spPr>
          <a:xfrm>
            <a:off x="1273703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2" name="Google Shape;592;p34"/>
          <p:cNvSpPr txBox="1">
            <a:spLocks noGrp="1"/>
          </p:cNvSpPr>
          <p:nvPr>
            <p:ph type="body" idx="3"/>
          </p:nvPr>
        </p:nvSpPr>
        <p:spPr>
          <a:xfrm>
            <a:off x="84267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3" name="Google Shape;593;p34"/>
          <p:cNvSpPr/>
          <p:nvPr/>
        </p:nvSpPr>
        <p:spPr>
          <a:xfrm>
            <a:off x="38069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4"/>
          <p:cNvSpPr txBox="1">
            <a:spLocks noGrp="1"/>
          </p:cNvSpPr>
          <p:nvPr>
            <p:ph type="body" idx="4"/>
          </p:nvPr>
        </p:nvSpPr>
        <p:spPr>
          <a:xfrm>
            <a:off x="4000597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5" name="Google Shape;595;p34"/>
          <p:cNvSpPr txBox="1">
            <a:spLocks noGrp="1"/>
          </p:cNvSpPr>
          <p:nvPr>
            <p:ph type="body" idx="5"/>
          </p:nvPr>
        </p:nvSpPr>
        <p:spPr>
          <a:xfrm>
            <a:off x="35798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6" name="Google Shape;596;p34"/>
          <p:cNvSpPr/>
          <p:nvPr/>
        </p:nvSpPr>
        <p:spPr>
          <a:xfrm>
            <a:off x="6562100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4"/>
          <p:cNvSpPr txBox="1">
            <a:spLocks noGrp="1"/>
          </p:cNvSpPr>
          <p:nvPr>
            <p:ph type="body" idx="6"/>
          </p:nvPr>
        </p:nvSpPr>
        <p:spPr>
          <a:xfrm>
            <a:off x="6772120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8" name="Google Shape;598;p34"/>
          <p:cNvSpPr txBox="1">
            <a:spLocks noGrp="1"/>
          </p:cNvSpPr>
          <p:nvPr>
            <p:ph type="body" idx="7"/>
          </p:nvPr>
        </p:nvSpPr>
        <p:spPr>
          <a:xfrm>
            <a:off x="63230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9" name="Google Shape;599;p34"/>
          <p:cNvSpPr/>
          <p:nvPr/>
        </p:nvSpPr>
        <p:spPr>
          <a:xfrm>
            <a:off x="93021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4"/>
          <p:cNvSpPr txBox="1">
            <a:spLocks noGrp="1"/>
          </p:cNvSpPr>
          <p:nvPr>
            <p:ph type="body" idx="8"/>
          </p:nvPr>
        </p:nvSpPr>
        <p:spPr>
          <a:xfrm>
            <a:off x="9538248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1" name="Google Shape;601;p34"/>
          <p:cNvSpPr txBox="1">
            <a:spLocks noGrp="1"/>
          </p:cNvSpPr>
          <p:nvPr>
            <p:ph type="body" idx="9"/>
          </p:nvPr>
        </p:nvSpPr>
        <p:spPr>
          <a:xfrm>
            <a:off x="90662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2" name="Google Shape;602;p3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"/>
          <p:cNvSpPr/>
          <p:nvPr/>
        </p:nvSpPr>
        <p:spPr>
          <a:xfrm>
            <a:off x="1065749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"/>
          <p:cNvSpPr/>
          <p:nvPr/>
        </p:nvSpPr>
        <p:spPr>
          <a:xfrm>
            <a:off x="38069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4"/>
          <p:cNvSpPr/>
          <p:nvPr/>
        </p:nvSpPr>
        <p:spPr>
          <a:xfrm>
            <a:off x="6562100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4"/>
          <p:cNvSpPr/>
          <p:nvPr/>
        </p:nvSpPr>
        <p:spPr>
          <a:xfrm>
            <a:off x="93021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Icon ">
  <p:cSld name="Five Icon 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3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611" name="Google Shape;611;p35"/>
          <p:cNvSpPr/>
          <p:nvPr/>
        </p:nvSpPr>
        <p:spPr>
          <a:xfrm>
            <a:off x="60980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"/>
          <p:cNvSpPr txBox="1">
            <a:spLocks noGrp="1"/>
          </p:cNvSpPr>
          <p:nvPr>
            <p:ph type="body" idx="2"/>
          </p:nvPr>
        </p:nvSpPr>
        <p:spPr>
          <a:xfrm>
            <a:off x="820549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13" name="Google Shape;613;p35"/>
          <p:cNvSpPr txBox="1">
            <a:spLocks noGrp="1"/>
          </p:cNvSpPr>
          <p:nvPr>
            <p:ph type="body" idx="3"/>
          </p:nvPr>
        </p:nvSpPr>
        <p:spPr>
          <a:xfrm>
            <a:off x="610850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14" name="Google Shape;614;p35"/>
          <p:cNvSpPr/>
          <p:nvPr/>
        </p:nvSpPr>
        <p:spPr>
          <a:xfrm>
            <a:off x="2892452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5"/>
          <p:cNvSpPr txBox="1">
            <a:spLocks noGrp="1"/>
          </p:cNvSpPr>
          <p:nvPr>
            <p:ph type="body" idx="4"/>
          </p:nvPr>
        </p:nvSpPr>
        <p:spPr>
          <a:xfrm>
            <a:off x="3110473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16" name="Google Shape;616;p35"/>
          <p:cNvSpPr txBox="1">
            <a:spLocks noGrp="1"/>
          </p:cNvSpPr>
          <p:nvPr>
            <p:ph type="body" idx="5"/>
          </p:nvPr>
        </p:nvSpPr>
        <p:spPr>
          <a:xfrm>
            <a:off x="289401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17" name="Google Shape;617;p35"/>
          <p:cNvSpPr/>
          <p:nvPr/>
        </p:nvSpPr>
        <p:spPr>
          <a:xfrm>
            <a:off x="520138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5"/>
          <p:cNvSpPr txBox="1">
            <a:spLocks noGrp="1"/>
          </p:cNvSpPr>
          <p:nvPr>
            <p:ph type="body" idx="6"/>
          </p:nvPr>
        </p:nvSpPr>
        <p:spPr>
          <a:xfrm>
            <a:off x="5412658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19" name="Google Shape;619;p35"/>
          <p:cNvSpPr txBox="1">
            <a:spLocks noGrp="1"/>
          </p:cNvSpPr>
          <p:nvPr>
            <p:ph type="body" idx="7"/>
          </p:nvPr>
        </p:nvSpPr>
        <p:spPr>
          <a:xfrm>
            <a:off x="518509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20" name="Google Shape;620;p35"/>
          <p:cNvSpPr/>
          <p:nvPr/>
        </p:nvSpPr>
        <p:spPr>
          <a:xfrm>
            <a:off x="7464921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5"/>
          <p:cNvSpPr txBox="1">
            <a:spLocks noGrp="1"/>
          </p:cNvSpPr>
          <p:nvPr>
            <p:ph type="body" idx="8"/>
          </p:nvPr>
        </p:nvSpPr>
        <p:spPr>
          <a:xfrm>
            <a:off x="7677080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22" name="Google Shape;622;p35"/>
          <p:cNvSpPr txBox="1">
            <a:spLocks noGrp="1"/>
          </p:cNvSpPr>
          <p:nvPr>
            <p:ph type="body" idx="9"/>
          </p:nvPr>
        </p:nvSpPr>
        <p:spPr>
          <a:xfrm>
            <a:off x="7470001" y="4282873"/>
            <a:ext cx="1894336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23" name="Google Shape;623;p35"/>
          <p:cNvSpPr/>
          <p:nvPr/>
        </p:nvSpPr>
        <p:spPr>
          <a:xfrm>
            <a:off x="9744473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5"/>
          <p:cNvSpPr txBox="1">
            <a:spLocks noGrp="1"/>
          </p:cNvSpPr>
          <p:nvPr>
            <p:ph type="body" idx="13"/>
          </p:nvPr>
        </p:nvSpPr>
        <p:spPr>
          <a:xfrm>
            <a:off x="9980612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rgbClr val="3C3C3C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25" name="Google Shape;625;p35"/>
          <p:cNvSpPr txBox="1">
            <a:spLocks noGrp="1"/>
          </p:cNvSpPr>
          <p:nvPr>
            <p:ph type="body" idx="14"/>
          </p:nvPr>
        </p:nvSpPr>
        <p:spPr>
          <a:xfrm>
            <a:off x="975201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rgbClr val="3C3C3C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26" name="Google Shape;626;p3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5"/>
          <p:cNvSpPr/>
          <p:nvPr/>
        </p:nvSpPr>
        <p:spPr>
          <a:xfrm>
            <a:off x="60980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5"/>
          <p:cNvSpPr/>
          <p:nvPr/>
        </p:nvSpPr>
        <p:spPr>
          <a:xfrm>
            <a:off x="2892452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5"/>
          <p:cNvSpPr/>
          <p:nvPr/>
        </p:nvSpPr>
        <p:spPr>
          <a:xfrm>
            <a:off x="520138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5"/>
          <p:cNvSpPr/>
          <p:nvPr/>
        </p:nvSpPr>
        <p:spPr>
          <a:xfrm>
            <a:off x="7464921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5"/>
          <p:cNvSpPr/>
          <p:nvPr/>
        </p:nvSpPr>
        <p:spPr>
          <a:xfrm>
            <a:off x="9744473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Numbered ">
  <p:cSld name="Five Numbered 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6"/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6"/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6"/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6"/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3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641" name="Google Shape;641;p36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2" name="Google Shape;642;p36"/>
          <p:cNvSpPr txBox="1">
            <a:spLocks noGrp="1"/>
          </p:cNvSpPr>
          <p:nvPr>
            <p:ph type="body" idx="2"/>
          </p:nvPr>
        </p:nvSpPr>
        <p:spPr>
          <a:xfrm>
            <a:off x="61085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43" name="Google Shape;643;p36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4" name="Google Shape;644;p36"/>
          <p:cNvSpPr txBox="1">
            <a:spLocks noGrp="1"/>
          </p:cNvSpPr>
          <p:nvPr>
            <p:ph type="body" idx="3"/>
          </p:nvPr>
        </p:nvSpPr>
        <p:spPr>
          <a:xfrm>
            <a:off x="2894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3429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45" name="Google Shape;645;p36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6" name="Google Shape;646;p36"/>
          <p:cNvSpPr txBox="1">
            <a:spLocks noGrp="1"/>
          </p:cNvSpPr>
          <p:nvPr>
            <p:ph type="body" idx="4"/>
          </p:nvPr>
        </p:nvSpPr>
        <p:spPr>
          <a:xfrm>
            <a:off x="518509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47" name="Google Shape;647;p36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8" name="Google Shape;648;p36"/>
          <p:cNvSpPr txBox="1">
            <a:spLocks noGrp="1"/>
          </p:cNvSpPr>
          <p:nvPr>
            <p:ph type="body" idx="5"/>
          </p:nvPr>
        </p:nvSpPr>
        <p:spPr>
          <a:xfrm>
            <a:off x="747000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49" name="Google Shape;649;p36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0" name="Google Shape;650;p36"/>
          <p:cNvSpPr txBox="1">
            <a:spLocks noGrp="1"/>
          </p:cNvSpPr>
          <p:nvPr>
            <p:ph type="body" idx="6"/>
          </p:nvPr>
        </p:nvSpPr>
        <p:spPr>
          <a:xfrm>
            <a:off x="9752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3C3C3C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51" name="Google Shape;651;p3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6"/>
          <p:cNvSpPr/>
          <p:nvPr/>
        </p:nvSpPr>
        <p:spPr>
          <a:xfrm>
            <a:off x="1131007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6"/>
          <p:cNvSpPr/>
          <p:nvPr/>
        </p:nvSpPr>
        <p:spPr>
          <a:xfrm>
            <a:off x="3414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6"/>
          <p:cNvSpPr/>
          <p:nvPr/>
        </p:nvSpPr>
        <p:spPr>
          <a:xfrm>
            <a:off x="570525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6"/>
          <p:cNvSpPr/>
          <p:nvPr/>
        </p:nvSpPr>
        <p:spPr>
          <a:xfrm>
            <a:off x="7990158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6"/>
          <p:cNvSpPr/>
          <p:nvPr/>
        </p:nvSpPr>
        <p:spPr>
          <a:xfrm>
            <a:off x="10272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6"/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6"/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6"/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6"/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6"/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2" name="Google Shape;662;p36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3" name="Google Shape;663;p36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4" name="Google Shape;664;p36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5" name="Google Shape;665;p36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6" name="Google Shape;666;p36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7" name="Google Shape;667;p3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6"/>
          <p:cNvSpPr/>
          <p:nvPr/>
        </p:nvSpPr>
        <p:spPr>
          <a:xfrm>
            <a:off x="1131007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6"/>
          <p:cNvSpPr/>
          <p:nvPr/>
        </p:nvSpPr>
        <p:spPr>
          <a:xfrm>
            <a:off x="3414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6"/>
          <p:cNvSpPr/>
          <p:nvPr/>
        </p:nvSpPr>
        <p:spPr>
          <a:xfrm>
            <a:off x="570525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6"/>
          <p:cNvSpPr/>
          <p:nvPr/>
        </p:nvSpPr>
        <p:spPr>
          <a:xfrm>
            <a:off x="7990158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6"/>
          <p:cNvSpPr/>
          <p:nvPr/>
        </p:nvSpPr>
        <p:spPr>
          <a:xfrm>
            <a:off x="10272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3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676" name="Google Shape;676;p37" descr="Row 1 label"/>
          <p:cNvSpPr txBox="1">
            <a:spLocks noGrp="1"/>
          </p:cNvSpPr>
          <p:nvPr>
            <p:ph type="body" idx="2"/>
          </p:nvPr>
        </p:nvSpPr>
        <p:spPr>
          <a:xfrm>
            <a:off x="271464" y="1546789"/>
            <a:ext cx="574570" cy="4391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7" name="Google Shape;677;p37" descr="Row 1 text box is a long horizontal box the width of the slide acting as a header. "/>
          <p:cNvSpPr txBox="1">
            <a:spLocks noGrp="1"/>
          </p:cNvSpPr>
          <p:nvPr>
            <p:ph type="body" idx="3"/>
          </p:nvPr>
        </p:nvSpPr>
        <p:spPr>
          <a:xfrm>
            <a:off x="1034040" y="1561701"/>
            <a:ext cx="10630969" cy="429469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8" name="Google Shape;678;p37" descr="Row 2 label; this row shows 4 content boxes labeled A through D, each is a different color and holds text."/>
          <p:cNvSpPr txBox="1">
            <a:spLocks noGrp="1"/>
          </p:cNvSpPr>
          <p:nvPr>
            <p:ph type="body" idx="4"/>
          </p:nvPr>
        </p:nvSpPr>
        <p:spPr>
          <a:xfrm>
            <a:off x="285750" y="3304775"/>
            <a:ext cx="560283" cy="6580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79" name="Google Shape;679;p37"/>
          <p:cNvCxnSpPr/>
          <p:nvPr/>
        </p:nvCxnSpPr>
        <p:spPr>
          <a:xfrm>
            <a:off x="1093076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0" name="Google Shape;680;p37" descr="Row 2, box 1: text in plum"/>
          <p:cNvSpPr txBox="1">
            <a:spLocks noGrp="1"/>
          </p:cNvSpPr>
          <p:nvPr>
            <p:ph type="body" idx="5"/>
          </p:nvPr>
        </p:nvSpPr>
        <p:spPr>
          <a:xfrm>
            <a:off x="1102407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4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81" name="Google Shape;681;p37"/>
          <p:cNvCxnSpPr/>
          <p:nvPr/>
        </p:nvCxnSpPr>
        <p:spPr>
          <a:xfrm>
            <a:off x="3805092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2" name="Google Shape;682;p37" descr="Row 2, box 3: text in indigo"/>
          <p:cNvSpPr txBox="1">
            <a:spLocks noGrp="1"/>
          </p:cNvSpPr>
          <p:nvPr>
            <p:ph type="body" idx="6"/>
          </p:nvPr>
        </p:nvSpPr>
        <p:spPr>
          <a:xfrm>
            <a:off x="3816081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83" name="Google Shape;683;p37"/>
          <p:cNvCxnSpPr/>
          <p:nvPr/>
        </p:nvCxnSpPr>
        <p:spPr>
          <a:xfrm>
            <a:off x="6517108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4" name="Google Shape;684;p37" descr="Row 2, box 2: text in ocean"/>
          <p:cNvSpPr txBox="1">
            <a:spLocks noGrp="1"/>
          </p:cNvSpPr>
          <p:nvPr>
            <p:ph type="body" idx="7"/>
          </p:nvPr>
        </p:nvSpPr>
        <p:spPr>
          <a:xfrm>
            <a:off x="6529755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2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85" name="Google Shape;685;p37"/>
          <p:cNvCxnSpPr/>
          <p:nvPr/>
        </p:nvCxnSpPr>
        <p:spPr>
          <a:xfrm>
            <a:off x="9229123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6" name="Google Shape;686;p37" descr="Row 2, box 4: text in dark green"/>
          <p:cNvSpPr txBox="1">
            <a:spLocks noGrp="1"/>
          </p:cNvSpPr>
          <p:nvPr>
            <p:ph type="body" idx="8"/>
          </p:nvPr>
        </p:nvSpPr>
        <p:spPr>
          <a:xfrm>
            <a:off x="9243428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5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87" name="Google Shape;687;p37" descr="Row 3 label: this row shows six, small content boxes in a horiztonal row"/>
          <p:cNvSpPr txBox="1">
            <a:spLocks noGrp="1"/>
          </p:cNvSpPr>
          <p:nvPr>
            <p:ph type="body" idx="9"/>
          </p:nvPr>
        </p:nvSpPr>
        <p:spPr>
          <a:xfrm>
            <a:off x="300038" y="5065521"/>
            <a:ext cx="545995" cy="6580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88" name="Google Shape;688;p37" descr="Row 3, text box 1"/>
          <p:cNvSpPr txBox="1">
            <a:spLocks noGrp="1"/>
          </p:cNvSpPr>
          <p:nvPr>
            <p:ph type="body" idx="13"/>
          </p:nvPr>
        </p:nvSpPr>
        <p:spPr>
          <a:xfrm>
            <a:off x="1115051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89" name="Google Shape;689;p37" descr="Row 3, text box 2"/>
          <p:cNvSpPr txBox="1">
            <a:spLocks noGrp="1"/>
          </p:cNvSpPr>
          <p:nvPr>
            <p:ph type="body" idx="14"/>
          </p:nvPr>
        </p:nvSpPr>
        <p:spPr>
          <a:xfrm>
            <a:off x="2886312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90" name="Google Shape;690;p37" descr="Row 3, text box 3"/>
          <p:cNvSpPr txBox="1">
            <a:spLocks noGrp="1"/>
          </p:cNvSpPr>
          <p:nvPr>
            <p:ph type="body" idx="15"/>
          </p:nvPr>
        </p:nvSpPr>
        <p:spPr>
          <a:xfrm>
            <a:off x="4657573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91" name="Google Shape;691;p37" descr="Row 3, text box 4"/>
          <p:cNvSpPr txBox="1">
            <a:spLocks noGrp="1"/>
          </p:cNvSpPr>
          <p:nvPr>
            <p:ph type="body" idx="16"/>
          </p:nvPr>
        </p:nvSpPr>
        <p:spPr>
          <a:xfrm>
            <a:off x="6428834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92" name="Google Shape;692;p37" descr="Row 3, text box 5"/>
          <p:cNvSpPr txBox="1">
            <a:spLocks noGrp="1"/>
          </p:cNvSpPr>
          <p:nvPr>
            <p:ph type="body" idx="17"/>
          </p:nvPr>
        </p:nvSpPr>
        <p:spPr>
          <a:xfrm>
            <a:off x="8200095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93" name="Google Shape;693;p37" descr="Row 3, text box 6"/>
          <p:cNvSpPr txBox="1">
            <a:spLocks noGrp="1"/>
          </p:cNvSpPr>
          <p:nvPr>
            <p:ph type="body" idx="18"/>
          </p:nvPr>
        </p:nvSpPr>
        <p:spPr>
          <a:xfrm>
            <a:off x="9971354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94" name="Google Shape;694;p3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5" name="Google Shape;695;p37"/>
          <p:cNvCxnSpPr/>
          <p:nvPr/>
        </p:nvCxnSpPr>
        <p:spPr>
          <a:xfrm>
            <a:off x="1093076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6" name="Google Shape;696;p37"/>
          <p:cNvCxnSpPr/>
          <p:nvPr/>
        </p:nvCxnSpPr>
        <p:spPr>
          <a:xfrm>
            <a:off x="3805092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7" name="Google Shape;697;p37"/>
          <p:cNvCxnSpPr/>
          <p:nvPr/>
        </p:nvCxnSpPr>
        <p:spPr>
          <a:xfrm>
            <a:off x="6517108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8" name="Google Shape;698;p37"/>
          <p:cNvCxnSpPr/>
          <p:nvPr/>
        </p:nvCxnSpPr>
        <p:spPr>
          <a:xfrm>
            <a:off x="9229123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99" name="Google Shape;699;p3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Leaf">
  <p:cSld name="Big Statement - Leaf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" name="Google Shape;701;p38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02" name="Google Shape;702;p38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8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4" name="Google Shape;704;p38"/>
          <p:cNvSpPr txBox="1">
            <a:spLocks noGrp="1"/>
          </p:cNvSpPr>
          <p:nvPr>
            <p:ph type="body" idx="1"/>
          </p:nvPr>
        </p:nvSpPr>
        <p:spPr>
          <a:xfrm>
            <a:off x="608013" y="2233670"/>
            <a:ext cx="6497867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05" name="Google Shape;705;p3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6" name="Google Shape;706;p38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07" name="Google Shape;707;p38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8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9" name="Google Shape;709;p3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Aqua">
  <p:cSld name="Big Statement - Aqua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9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12" name="Google Shape;712;p39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39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4" name="Google Shape;714;p39"/>
          <p:cNvSpPr txBox="1">
            <a:spLocks noGrp="1"/>
          </p:cNvSpPr>
          <p:nvPr>
            <p:ph type="body" idx="1"/>
          </p:nvPr>
        </p:nvSpPr>
        <p:spPr>
          <a:xfrm>
            <a:off x="608013" y="2233670"/>
            <a:ext cx="6497867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15" name="Google Shape;715;p3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6" name="Google Shape;716;p39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17" name="Google Shape;717;p39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9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9" name="Google Shape;719;p3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Plum">
  <p:cSld name="Big Statement - Plum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oogle Shape;721;p40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22" name="Google Shape;722;p4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4" name="Google Shape;724;p40"/>
          <p:cNvSpPr txBox="1">
            <a:spLocks noGrp="1"/>
          </p:cNvSpPr>
          <p:nvPr>
            <p:ph type="body" idx="1"/>
          </p:nvPr>
        </p:nvSpPr>
        <p:spPr>
          <a:xfrm>
            <a:off x="608013" y="2233670"/>
            <a:ext cx="6497867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25" name="Google Shape;725;p4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6" name="Google Shape;726;p40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27" name="Google Shape;727;p4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4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9" name="Google Shape;729;p4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2 - Leaf 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1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1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1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1A30E"/>
              </a:gs>
              <a:gs pos="21000">
                <a:srgbClr val="61A30E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1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4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36" name="Google Shape;736;p4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Aqua">
  <p:cSld name="Big Statement 2 - Aqua"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2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2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2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2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2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4" name="Google Shape;744;p42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45" name="Google Shape;745;p42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2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Plum">
  <p:cSld name="Big Statement 2 - Plum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3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3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3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3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4" name="Google Shape;754;p4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55" name="Google Shape;755;p43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3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3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with Photo">
  <p:cSld name="Big Statement with Photo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4"/>
          <p:cNvSpPr txBox="1">
            <a:spLocks noGrp="1"/>
          </p:cNvSpPr>
          <p:nvPr>
            <p:ph type="body" idx="1"/>
          </p:nvPr>
        </p:nvSpPr>
        <p:spPr>
          <a:xfrm>
            <a:off x="608014" y="2514600"/>
            <a:ext cx="5485844" cy="182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61" name="Google Shape;761;p44"/>
          <p:cNvSpPr>
            <a:spLocks noGrp="1"/>
          </p:cNvSpPr>
          <p:nvPr>
            <p:ph type="pic" idx="2"/>
          </p:nvPr>
        </p:nvSpPr>
        <p:spPr>
          <a:xfrm>
            <a:off x="6785687" y="69850"/>
            <a:ext cx="5403138" cy="6788150"/>
          </a:xfrm>
          <a:prstGeom prst="rect">
            <a:avLst/>
          </a:prstGeom>
          <a:noFill/>
          <a:ln>
            <a:noFill/>
          </a:ln>
        </p:spPr>
      </p:sp>
      <p:sp>
        <p:nvSpPr>
          <p:cNvPr id="762" name="Google Shape;762;p4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istic">
  <p:cSld name="Big Statistic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5"/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5"/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5" descr="Doughnut chart label 3"/>
          <p:cNvSpPr txBox="1">
            <a:spLocks noGrp="1"/>
          </p:cNvSpPr>
          <p:nvPr>
            <p:ph type="body" idx="1"/>
          </p:nvPr>
        </p:nvSpPr>
        <p:spPr>
          <a:xfrm>
            <a:off x="6096000" y="2514599"/>
            <a:ext cx="5027613" cy="13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68" name="Google Shape;768;p45"/>
          <p:cNvSpPr>
            <a:spLocks noGrp="1"/>
          </p:cNvSpPr>
          <p:nvPr>
            <p:ph type="chart" idx="2"/>
          </p:nvPr>
        </p:nvSpPr>
        <p:spPr>
          <a:xfrm>
            <a:off x="662672" y="722997"/>
            <a:ext cx="4480256" cy="448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45" descr="Doughnut chart label 1"/>
          <p:cNvSpPr txBox="1">
            <a:spLocks noGrp="1"/>
          </p:cNvSpPr>
          <p:nvPr>
            <p:ph type="body" idx="3"/>
          </p:nvPr>
        </p:nvSpPr>
        <p:spPr>
          <a:xfrm>
            <a:off x="608330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70" name="Google Shape;770;p45" descr="Doughnut chart label 2"/>
          <p:cNvSpPr txBox="1">
            <a:spLocks noGrp="1"/>
          </p:cNvSpPr>
          <p:nvPr>
            <p:ph type="body" idx="4"/>
          </p:nvPr>
        </p:nvSpPr>
        <p:spPr>
          <a:xfrm>
            <a:off x="2436416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71" name="Google Shape;771;p45" descr="Doughnut chart label 4"/>
          <p:cNvSpPr txBox="1">
            <a:spLocks noGrp="1"/>
          </p:cNvSpPr>
          <p:nvPr>
            <p:ph type="body" idx="5"/>
          </p:nvPr>
        </p:nvSpPr>
        <p:spPr>
          <a:xfrm>
            <a:off x="4261103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72" name="Google Shape;772;p45" descr="Doughnut chart label 5"/>
          <p:cNvSpPr txBox="1">
            <a:spLocks noGrp="1"/>
          </p:cNvSpPr>
          <p:nvPr>
            <p:ph type="body" idx="6"/>
          </p:nvPr>
        </p:nvSpPr>
        <p:spPr>
          <a:xfrm>
            <a:off x="6088109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73" name="Google Shape;773;p45" descr="Doughnut chart label 6"/>
          <p:cNvSpPr txBox="1">
            <a:spLocks noGrp="1"/>
          </p:cNvSpPr>
          <p:nvPr>
            <p:ph type="body" idx="7"/>
          </p:nvPr>
        </p:nvSpPr>
        <p:spPr>
          <a:xfrm>
            <a:off x="7920672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74" name="Google Shape;774;p4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5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5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7" name="Google Shape;777;p4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78" name="Google Shape;778;p4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79" name="Google Shape;779;p4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4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4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4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4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4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4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4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4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4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9" name="Google Shape;789;p4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90" name="Google Shape;790;p4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4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4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4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4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4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4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97" name="Google Shape;797;p45"/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5"/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5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5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2" name="Google Shape;802;p4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03" name="Google Shape;803;p4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04" name="Google Shape;804;p4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4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4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4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4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4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4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4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4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4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4" name="Google Shape;814;p4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15" name="Google Shape;815;p4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4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4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4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4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4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4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Leaf">
  <p:cSld name="Thank You / Closing - Leaf"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7"/>
          <p:cNvSpPr/>
          <p:nvPr/>
        </p:nvSpPr>
        <p:spPr>
          <a:xfrm>
            <a:off x="-2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7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47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47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8" name="Google Shape;828;p4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29" name="Google Shape;829;p4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30" name="Google Shape;830;p4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4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4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4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4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0" name="Google Shape;840;p4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41" name="Google Shape;841;p4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4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4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48" name="Google Shape;848;p47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7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47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Aqua">
  <p:cSld name="Thank You / Closing - Aqua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48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8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8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4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8" name="Google Shape;858;p4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59" name="Google Shape;859;p4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60" name="Google Shape;860;p4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4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4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4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4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4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4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4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4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4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0" name="Google Shape;870;p4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71" name="Google Shape;871;p4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4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4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4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4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4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4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78" name="Google Shape;878;p4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48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8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8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4" name="Google Shape;884;p4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85" name="Google Shape;885;p4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86" name="Google Shape;886;p4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4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4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4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4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4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4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4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4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4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6" name="Google Shape;896;p4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97" name="Google Shape;897;p4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4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4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4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4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4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4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Plum">
  <p:cSld name="Thank You / Closing - Plum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9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49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49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4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4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0" name="Google Shape;910;p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911" name="Google Shape;911;p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12" name="Google Shape;912;p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2" name="Google Shape;922;p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23" name="Google Shape;923;p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30" name="Google Shape;930;p49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49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49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49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4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4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6" name="Google Shape;936;p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937" name="Google Shape;937;p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38" name="Google Shape;938;p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8" name="Google Shape;948;p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49" name="Google Shape;949;p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56" name="Google Shape;956;p49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ont Check">
  <p:cSld name="Font Check">
    <p:bg>
      <p:bgPr>
        <a:solidFill>
          <a:schemeClr val="accent5"/>
        </a:solidFill>
        <a:effectLst/>
      </p:bgPr>
    </p:bg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9" name="Google Shape;959;p50"/>
          <p:cNvSpPr txBox="1">
            <a:spLocks noGrp="1"/>
          </p:cNvSpPr>
          <p:nvPr>
            <p:ph type="subTitle" idx="1"/>
          </p:nvPr>
        </p:nvSpPr>
        <p:spPr>
          <a:xfrm>
            <a:off x="592866" y="838105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60" name="Google Shape;960;p50" descr="Do the fonts in the words below match on your screen?"/>
          <p:cNvSpPr/>
          <p:nvPr/>
        </p:nvSpPr>
        <p:spPr>
          <a:xfrm>
            <a:off x="623364" y="1613035"/>
            <a:ext cx="2884608" cy="247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Do the fonts in the words below match?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1" name="Google Shape;961;p50"/>
          <p:cNvCxnSpPr/>
          <p:nvPr/>
        </p:nvCxnSpPr>
        <p:spPr>
          <a:xfrm>
            <a:off x="623364" y="1860778"/>
            <a:ext cx="10150654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62" name="Google Shape;962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7155" y="2219739"/>
            <a:ext cx="3088310" cy="557972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50"/>
          <p:cNvSpPr txBox="1">
            <a:spLocks noGrp="1"/>
          </p:cNvSpPr>
          <p:nvPr>
            <p:ph type="body" idx="2"/>
          </p:nvPr>
        </p:nvSpPr>
        <p:spPr>
          <a:xfrm>
            <a:off x="598114" y="2908233"/>
            <a:ext cx="5354637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086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10"/>
              <a:buChar char="​"/>
              <a:defRPr sz="4900">
                <a:solidFill>
                  <a:schemeClr val="lt1"/>
                </a:solidFill>
              </a:defRPr>
            </a:lvl1pPr>
            <a:lvl2pPr marL="914400" lvl="1" indent="-4343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40"/>
              <a:buChar char="•"/>
              <a:defRPr sz="3600">
                <a:solidFill>
                  <a:schemeClr val="lt1"/>
                </a:solidFill>
              </a:defRPr>
            </a:lvl2pPr>
            <a:lvl3pPr marL="1371600" lvl="2" indent="-4114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80"/>
              <a:buChar char="–"/>
              <a:defRPr sz="3200">
                <a:solidFill>
                  <a:schemeClr val="lt1"/>
                </a:solidFill>
              </a:defRPr>
            </a:lvl3pPr>
            <a:lvl4pPr marL="1828800" lvl="3" indent="-38861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•"/>
              <a:defRPr sz="2800">
                <a:solidFill>
                  <a:schemeClr val="lt1"/>
                </a:solidFill>
              </a:defRPr>
            </a:lvl4pPr>
            <a:lvl5pPr marL="2286000" lvl="4" indent="-38862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–"/>
              <a:defRPr sz="28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pic>
        <p:nvPicPr>
          <p:cNvPr id="964" name="Google Shape;964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0912" y="2242892"/>
            <a:ext cx="4743106" cy="538407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50"/>
          <p:cNvSpPr txBox="1">
            <a:spLocks noGrp="1"/>
          </p:cNvSpPr>
          <p:nvPr>
            <p:ph type="body" idx="3"/>
          </p:nvPr>
        </p:nvSpPr>
        <p:spPr>
          <a:xfrm>
            <a:off x="5983683" y="2908233"/>
            <a:ext cx="5354637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086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10"/>
              <a:buChar char="​"/>
              <a:defRPr sz="4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343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40"/>
              <a:buChar char="•"/>
              <a:defRPr sz="3600">
                <a:solidFill>
                  <a:schemeClr val="lt1"/>
                </a:solidFill>
              </a:defRPr>
            </a:lvl2pPr>
            <a:lvl3pPr marL="1371600" lvl="2" indent="-4114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80"/>
              <a:buChar char="–"/>
              <a:defRPr sz="3200">
                <a:solidFill>
                  <a:schemeClr val="lt1"/>
                </a:solidFill>
              </a:defRPr>
            </a:lvl3pPr>
            <a:lvl4pPr marL="1828800" lvl="3" indent="-38861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•"/>
              <a:defRPr sz="2800">
                <a:solidFill>
                  <a:schemeClr val="lt1"/>
                </a:solidFill>
              </a:defRPr>
            </a:lvl4pPr>
            <a:lvl5pPr marL="2286000" lvl="4" indent="-38862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–"/>
              <a:defRPr sz="28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66" name="Google Shape;966;p50" descr="Do the fonts in the words below match on your screen?"/>
          <p:cNvSpPr/>
          <p:nvPr/>
        </p:nvSpPr>
        <p:spPr>
          <a:xfrm>
            <a:off x="623364" y="1613035"/>
            <a:ext cx="2884608" cy="247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Do the fonts in the words below match?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7" name="Google Shape;967;p50"/>
          <p:cNvCxnSpPr/>
          <p:nvPr/>
        </p:nvCxnSpPr>
        <p:spPr>
          <a:xfrm>
            <a:off x="623364" y="1860778"/>
            <a:ext cx="10150654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68" name="Google Shape;968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7155" y="2219739"/>
            <a:ext cx="3088310" cy="557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0912" y="2242892"/>
            <a:ext cx="4743106" cy="538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id">
  <p:cSld name="Grid"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1" name="Google Shape;971;p51"/>
          <p:cNvGrpSpPr/>
          <p:nvPr/>
        </p:nvGrpSpPr>
        <p:grpSpPr>
          <a:xfrm>
            <a:off x="-254" y="0"/>
            <a:ext cx="12189079" cy="6858000"/>
            <a:chOff x="-254" y="0"/>
            <a:chExt cx="12189079" cy="6858000"/>
          </a:xfrm>
        </p:grpSpPr>
        <p:grpSp>
          <p:nvGrpSpPr>
            <p:cNvPr id="972" name="Google Shape;972;p51"/>
            <p:cNvGrpSpPr/>
            <p:nvPr/>
          </p:nvGrpSpPr>
          <p:grpSpPr>
            <a:xfrm>
              <a:off x="-254" y="0"/>
              <a:ext cx="12189079" cy="6858000"/>
              <a:chOff x="-127" y="-4574"/>
              <a:chExt cx="12189079" cy="6858000"/>
            </a:xfrm>
          </p:grpSpPr>
          <p:grpSp>
            <p:nvGrpSpPr>
              <p:cNvPr id="973" name="Google Shape;973;p51"/>
              <p:cNvGrpSpPr/>
              <p:nvPr/>
            </p:nvGrpSpPr>
            <p:grpSpPr>
              <a:xfrm>
                <a:off x="0" y="-4574"/>
                <a:ext cx="12188952" cy="6858000"/>
                <a:chOff x="12729307" y="-4574"/>
                <a:chExt cx="12188952" cy="6858000"/>
              </a:xfrm>
            </p:grpSpPr>
            <p:cxnSp>
              <p:nvCxnSpPr>
                <p:cNvPr id="974" name="Google Shape;974;p51"/>
                <p:cNvCxnSpPr/>
                <p:nvPr/>
              </p:nvCxnSpPr>
              <p:spPr>
                <a:xfrm>
                  <a:off x="12729307" y="1367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5" name="Google Shape;975;p51"/>
                <p:cNvCxnSpPr/>
                <p:nvPr/>
              </p:nvCxnSpPr>
              <p:spPr>
                <a:xfrm>
                  <a:off x="12729307" y="1709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6" name="Google Shape;976;p51"/>
                <p:cNvCxnSpPr/>
                <p:nvPr/>
              </p:nvCxnSpPr>
              <p:spPr>
                <a:xfrm>
                  <a:off x="12729307" y="1024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7" name="Google Shape;977;p51"/>
                <p:cNvCxnSpPr/>
                <p:nvPr/>
              </p:nvCxnSpPr>
              <p:spPr>
                <a:xfrm>
                  <a:off x="12729307" y="681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8" name="Google Shape;978;p51"/>
                <p:cNvCxnSpPr/>
                <p:nvPr/>
              </p:nvCxnSpPr>
              <p:spPr>
                <a:xfrm>
                  <a:off x="12729307" y="338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9" name="Google Shape;979;p51"/>
                <p:cNvCxnSpPr/>
                <p:nvPr/>
              </p:nvCxnSpPr>
              <p:spPr>
                <a:xfrm>
                  <a:off x="12729307" y="-4574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0" name="Google Shape;980;p51"/>
                <p:cNvCxnSpPr/>
                <p:nvPr/>
              </p:nvCxnSpPr>
              <p:spPr>
                <a:xfrm>
                  <a:off x="12729307" y="3081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1" name="Google Shape;981;p51"/>
                <p:cNvCxnSpPr/>
                <p:nvPr/>
              </p:nvCxnSpPr>
              <p:spPr>
                <a:xfrm>
                  <a:off x="12729307" y="3424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2" name="Google Shape;982;p51"/>
                <p:cNvCxnSpPr/>
                <p:nvPr/>
              </p:nvCxnSpPr>
              <p:spPr>
                <a:xfrm>
                  <a:off x="12729307" y="2738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3" name="Google Shape;983;p51"/>
                <p:cNvCxnSpPr/>
                <p:nvPr/>
              </p:nvCxnSpPr>
              <p:spPr>
                <a:xfrm>
                  <a:off x="12729307" y="2395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4" name="Google Shape;984;p51"/>
                <p:cNvCxnSpPr/>
                <p:nvPr/>
              </p:nvCxnSpPr>
              <p:spPr>
                <a:xfrm>
                  <a:off x="12729307" y="2052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5" name="Google Shape;985;p51"/>
                <p:cNvCxnSpPr/>
                <p:nvPr/>
              </p:nvCxnSpPr>
              <p:spPr>
                <a:xfrm>
                  <a:off x="12729307" y="4796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6" name="Google Shape;986;p51"/>
                <p:cNvCxnSpPr/>
                <p:nvPr/>
              </p:nvCxnSpPr>
              <p:spPr>
                <a:xfrm>
                  <a:off x="12729307" y="5138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7" name="Google Shape;987;p51"/>
                <p:cNvCxnSpPr/>
                <p:nvPr/>
              </p:nvCxnSpPr>
              <p:spPr>
                <a:xfrm>
                  <a:off x="12729307" y="4453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8" name="Google Shape;988;p51"/>
                <p:cNvCxnSpPr/>
                <p:nvPr/>
              </p:nvCxnSpPr>
              <p:spPr>
                <a:xfrm>
                  <a:off x="12729307" y="4110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9" name="Google Shape;989;p51"/>
                <p:cNvCxnSpPr/>
                <p:nvPr/>
              </p:nvCxnSpPr>
              <p:spPr>
                <a:xfrm>
                  <a:off x="12729307" y="3767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0" name="Google Shape;990;p51"/>
                <p:cNvCxnSpPr/>
                <p:nvPr/>
              </p:nvCxnSpPr>
              <p:spPr>
                <a:xfrm>
                  <a:off x="12729307" y="6510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1" name="Google Shape;991;p51"/>
                <p:cNvCxnSpPr/>
                <p:nvPr/>
              </p:nvCxnSpPr>
              <p:spPr>
                <a:xfrm>
                  <a:off x="12729307" y="6853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2" name="Google Shape;992;p51"/>
                <p:cNvCxnSpPr/>
                <p:nvPr/>
              </p:nvCxnSpPr>
              <p:spPr>
                <a:xfrm>
                  <a:off x="12729307" y="5824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3" name="Google Shape;993;p51"/>
                <p:cNvCxnSpPr/>
                <p:nvPr/>
              </p:nvCxnSpPr>
              <p:spPr>
                <a:xfrm>
                  <a:off x="12729307" y="5481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4" name="Google Shape;994;p51"/>
                <p:cNvCxnSpPr/>
                <p:nvPr/>
              </p:nvCxnSpPr>
              <p:spPr>
                <a:xfrm>
                  <a:off x="12729307" y="6167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995" name="Google Shape;995;p51"/>
              <p:cNvGrpSpPr/>
              <p:nvPr/>
            </p:nvGrpSpPr>
            <p:grpSpPr>
              <a:xfrm>
                <a:off x="-127" y="109726"/>
                <a:ext cx="12188952" cy="6629400"/>
                <a:chOff x="12729307" y="109726"/>
                <a:chExt cx="12188952" cy="6629400"/>
              </a:xfrm>
            </p:grpSpPr>
            <p:cxnSp>
              <p:nvCxnSpPr>
                <p:cNvPr id="996" name="Google Shape;996;p51"/>
                <p:cNvCxnSpPr/>
                <p:nvPr/>
              </p:nvCxnSpPr>
              <p:spPr>
                <a:xfrm>
                  <a:off x="12729307" y="1481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7" name="Google Shape;997;p51"/>
                <p:cNvCxnSpPr/>
                <p:nvPr/>
              </p:nvCxnSpPr>
              <p:spPr>
                <a:xfrm>
                  <a:off x="12729307" y="1824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8" name="Google Shape;998;p51"/>
                <p:cNvCxnSpPr/>
                <p:nvPr/>
              </p:nvCxnSpPr>
              <p:spPr>
                <a:xfrm>
                  <a:off x="12729307" y="1138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9" name="Google Shape;999;p51"/>
                <p:cNvCxnSpPr/>
                <p:nvPr/>
              </p:nvCxnSpPr>
              <p:spPr>
                <a:xfrm>
                  <a:off x="12729307" y="795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0" name="Google Shape;1000;p51"/>
                <p:cNvCxnSpPr/>
                <p:nvPr/>
              </p:nvCxnSpPr>
              <p:spPr>
                <a:xfrm>
                  <a:off x="12729307" y="452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1" name="Google Shape;1001;p51"/>
                <p:cNvCxnSpPr/>
                <p:nvPr/>
              </p:nvCxnSpPr>
              <p:spPr>
                <a:xfrm>
                  <a:off x="12729307" y="109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2" name="Google Shape;1002;p51"/>
                <p:cNvCxnSpPr/>
                <p:nvPr/>
              </p:nvCxnSpPr>
              <p:spPr>
                <a:xfrm>
                  <a:off x="12729307" y="3195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3" name="Google Shape;1003;p51"/>
                <p:cNvCxnSpPr/>
                <p:nvPr/>
              </p:nvCxnSpPr>
              <p:spPr>
                <a:xfrm>
                  <a:off x="12729307" y="3538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4" name="Google Shape;1004;p51"/>
                <p:cNvCxnSpPr/>
                <p:nvPr/>
              </p:nvCxnSpPr>
              <p:spPr>
                <a:xfrm>
                  <a:off x="12729307" y="2852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5" name="Google Shape;1005;p51"/>
                <p:cNvCxnSpPr/>
                <p:nvPr/>
              </p:nvCxnSpPr>
              <p:spPr>
                <a:xfrm>
                  <a:off x="12729307" y="2510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6" name="Google Shape;1006;p51"/>
                <p:cNvCxnSpPr/>
                <p:nvPr/>
              </p:nvCxnSpPr>
              <p:spPr>
                <a:xfrm>
                  <a:off x="12729307" y="2167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7" name="Google Shape;1007;p51"/>
                <p:cNvCxnSpPr/>
                <p:nvPr/>
              </p:nvCxnSpPr>
              <p:spPr>
                <a:xfrm>
                  <a:off x="12729307" y="4910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8" name="Google Shape;1008;p51"/>
                <p:cNvCxnSpPr/>
                <p:nvPr/>
              </p:nvCxnSpPr>
              <p:spPr>
                <a:xfrm>
                  <a:off x="12729307" y="5253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9" name="Google Shape;1009;p51"/>
                <p:cNvCxnSpPr/>
                <p:nvPr/>
              </p:nvCxnSpPr>
              <p:spPr>
                <a:xfrm>
                  <a:off x="12729307" y="4567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0" name="Google Shape;1010;p51"/>
                <p:cNvCxnSpPr/>
                <p:nvPr/>
              </p:nvCxnSpPr>
              <p:spPr>
                <a:xfrm>
                  <a:off x="12729307" y="4224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1" name="Google Shape;1011;p51"/>
                <p:cNvCxnSpPr/>
                <p:nvPr/>
              </p:nvCxnSpPr>
              <p:spPr>
                <a:xfrm>
                  <a:off x="12729307" y="3881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2" name="Google Shape;1012;p51"/>
                <p:cNvCxnSpPr/>
                <p:nvPr/>
              </p:nvCxnSpPr>
              <p:spPr>
                <a:xfrm>
                  <a:off x="12729307" y="6624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3" name="Google Shape;1013;p51"/>
                <p:cNvCxnSpPr/>
                <p:nvPr/>
              </p:nvCxnSpPr>
              <p:spPr>
                <a:xfrm>
                  <a:off x="12729307" y="6281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4" name="Google Shape;1014;p51"/>
                <p:cNvCxnSpPr/>
                <p:nvPr/>
              </p:nvCxnSpPr>
              <p:spPr>
                <a:xfrm>
                  <a:off x="12729307" y="5939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5" name="Google Shape;1015;p51"/>
                <p:cNvCxnSpPr/>
                <p:nvPr/>
              </p:nvCxnSpPr>
              <p:spPr>
                <a:xfrm>
                  <a:off x="12729307" y="5596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6" name="Google Shape;1016;p51"/>
                <p:cNvCxnSpPr/>
                <p:nvPr/>
              </p:nvCxnSpPr>
              <p:spPr>
                <a:xfrm>
                  <a:off x="12729307" y="1595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7" name="Google Shape;1017;p51"/>
                <p:cNvCxnSpPr/>
                <p:nvPr/>
              </p:nvCxnSpPr>
              <p:spPr>
                <a:xfrm>
                  <a:off x="12729307" y="1938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8" name="Google Shape;1018;p51"/>
                <p:cNvCxnSpPr/>
                <p:nvPr/>
              </p:nvCxnSpPr>
              <p:spPr>
                <a:xfrm>
                  <a:off x="12729307" y="1252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9" name="Google Shape;1019;p51"/>
                <p:cNvCxnSpPr/>
                <p:nvPr/>
              </p:nvCxnSpPr>
              <p:spPr>
                <a:xfrm>
                  <a:off x="12729307" y="909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0" name="Google Shape;1020;p51"/>
                <p:cNvCxnSpPr/>
                <p:nvPr/>
              </p:nvCxnSpPr>
              <p:spPr>
                <a:xfrm>
                  <a:off x="12729307" y="566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1" name="Google Shape;1021;p51"/>
                <p:cNvCxnSpPr/>
                <p:nvPr/>
              </p:nvCxnSpPr>
              <p:spPr>
                <a:xfrm>
                  <a:off x="12729307" y="224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2" name="Google Shape;1022;p51"/>
                <p:cNvCxnSpPr/>
                <p:nvPr/>
              </p:nvCxnSpPr>
              <p:spPr>
                <a:xfrm>
                  <a:off x="12729307" y="3310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3" name="Google Shape;1023;p51"/>
                <p:cNvCxnSpPr/>
                <p:nvPr/>
              </p:nvCxnSpPr>
              <p:spPr>
                <a:xfrm>
                  <a:off x="12729307" y="3653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4" name="Google Shape;1024;p51"/>
                <p:cNvCxnSpPr/>
                <p:nvPr/>
              </p:nvCxnSpPr>
              <p:spPr>
                <a:xfrm>
                  <a:off x="12729307" y="2967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5" name="Google Shape;1025;p51"/>
                <p:cNvCxnSpPr/>
                <p:nvPr/>
              </p:nvCxnSpPr>
              <p:spPr>
                <a:xfrm>
                  <a:off x="12729307" y="2624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6" name="Google Shape;1026;p51"/>
                <p:cNvCxnSpPr/>
                <p:nvPr/>
              </p:nvCxnSpPr>
              <p:spPr>
                <a:xfrm>
                  <a:off x="12729307" y="2281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7" name="Google Shape;1027;p51"/>
                <p:cNvCxnSpPr/>
                <p:nvPr/>
              </p:nvCxnSpPr>
              <p:spPr>
                <a:xfrm>
                  <a:off x="12729307" y="5024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8" name="Google Shape;1028;p51"/>
                <p:cNvCxnSpPr/>
                <p:nvPr/>
              </p:nvCxnSpPr>
              <p:spPr>
                <a:xfrm>
                  <a:off x="12729307" y="5367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9" name="Google Shape;1029;p51"/>
                <p:cNvCxnSpPr/>
                <p:nvPr/>
              </p:nvCxnSpPr>
              <p:spPr>
                <a:xfrm>
                  <a:off x="12729307" y="4681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0" name="Google Shape;1030;p51"/>
                <p:cNvCxnSpPr/>
                <p:nvPr/>
              </p:nvCxnSpPr>
              <p:spPr>
                <a:xfrm>
                  <a:off x="12729307" y="4338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1" name="Google Shape;1031;p51"/>
                <p:cNvCxnSpPr/>
                <p:nvPr/>
              </p:nvCxnSpPr>
              <p:spPr>
                <a:xfrm>
                  <a:off x="12729307" y="3995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2" name="Google Shape;1032;p51"/>
                <p:cNvCxnSpPr/>
                <p:nvPr/>
              </p:nvCxnSpPr>
              <p:spPr>
                <a:xfrm>
                  <a:off x="12729307" y="6739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3" name="Google Shape;1033;p51"/>
                <p:cNvCxnSpPr/>
                <p:nvPr/>
              </p:nvCxnSpPr>
              <p:spPr>
                <a:xfrm>
                  <a:off x="12729307" y="6396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4" name="Google Shape;1034;p51"/>
                <p:cNvCxnSpPr/>
                <p:nvPr/>
              </p:nvCxnSpPr>
              <p:spPr>
                <a:xfrm>
                  <a:off x="12729307" y="6053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5" name="Google Shape;1035;p51"/>
                <p:cNvCxnSpPr/>
                <p:nvPr/>
              </p:nvCxnSpPr>
              <p:spPr>
                <a:xfrm>
                  <a:off x="12729307" y="5710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036" name="Google Shape;1036;p51"/>
            <p:cNvGrpSpPr/>
            <p:nvPr/>
          </p:nvGrpSpPr>
          <p:grpSpPr>
            <a:xfrm>
              <a:off x="970985" y="0"/>
              <a:ext cx="10247475" cy="6858000"/>
              <a:chOff x="971112" y="0"/>
              <a:chExt cx="10247475" cy="6858000"/>
            </a:xfrm>
          </p:grpSpPr>
          <p:cxnSp>
            <p:nvCxnSpPr>
              <p:cNvPr id="1037" name="Google Shape;1037;p51"/>
              <p:cNvCxnSpPr/>
              <p:nvPr/>
            </p:nvCxnSpPr>
            <p:spPr>
              <a:xfrm flipH="1">
                <a:off x="97111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8" name="Google Shape;1038;p51"/>
              <p:cNvCxnSpPr/>
              <p:nvPr/>
            </p:nvCxnSpPr>
            <p:spPr>
              <a:xfrm flipH="1">
                <a:off x="1902579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9" name="Google Shape;1039;p51"/>
              <p:cNvCxnSpPr/>
              <p:nvPr/>
            </p:nvCxnSpPr>
            <p:spPr>
              <a:xfrm flipH="1">
                <a:off x="28340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0" name="Google Shape;1040;p51"/>
              <p:cNvCxnSpPr/>
              <p:nvPr/>
            </p:nvCxnSpPr>
            <p:spPr>
              <a:xfrm flipH="1">
                <a:off x="3765513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1" name="Google Shape;1041;p51"/>
              <p:cNvCxnSpPr/>
              <p:nvPr/>
            </p:nvCxnSpPr>
            <p:spPr>
              <a:xfrm flipH="1">
                <a:off x="4696980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2" name="Google Shape;1042;p51"/>
              <p:cNvCxnSpPr/>
              <p:nvPr/>
            </p:nvCxnSpPr>
            <p:spPr>
              <a:xfrm flipH="1">
                <a:off x="5628447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3" name="Google Shape;1043;p51"/>
              <p:cNvCxnSpPr/>
              <p:nvPr/>
            </p:nvCxnSpPr>
            <p:spPr>
              <a:xfrm flipH="1">
                <a:off x="6559914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4" name="Google Shape;1044;p51"/>
              <p:cNvCxnSpPr/>
              <p:nvPr/>
            </p:nvCxnSpPr>
            <p:spPr>
              <a:xfrm flipH="1">
                <a:off x="7491381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5" name="Google Shape;1045;p51"/>
              <p:cNvCxnSpPr/>
              <p:nvPr/>
            </p:nvCxnSpPr>
            <p:spPr>
              <a:xfrm flipH="1">
                <a:off x="8422848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6" name="Google Shape;1046;p51"/>
              <p:cNvCxnSpPr/>
              <p:nvPr/>
            </p:nvCxnSpPr>
            <p:spPr>
              <a:xfrm flipH="1">
                <a:off x="9354315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7" name="Google Shape;1047;p51"/>
              <p:cNvCxnSpPr/>
              <p:nvPr/>
            </p:nvCxnSpPr>
            <p:spPr>
              <a:xfrm flipH="1">
                <a:off x="1028578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8" name="Google Shape;1048;p51"/>
              <p:cNvCxnSpPr/>
              <p:nvPr/>
            </p:nvCxnSpPr>
            <p:spPr>
              <a:xfrm flipH="1">
                <a:off x="112172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049" name="Google Shape;1049;p51"/>
            <p:cNvGrpSpPr/>
            <p:nvPr/>
          </p:nvGrpSpPr>
          <p:grpSpPr>
            <a:xfrm>
              <a:off x="608758" y="448731"/>
              <a:ext cx="10971928" cy="5722842"/>
              <a:chOff x="608885" y="1604366"/>
              <a:chExt cx="10971928" cy="4567208"/>
            </a:xfrm>
          </p:grpSpPr>
          <p:sp>
            <p:nvSpPr>
              <p:cNvPr id="1050" name="Google Shape;1050;p51"/>
              <p:cNvSpPr/>
              <p:nvPr/>
            </p:nvSpPr>
            <p:spPr>
              <a:xfrm>
                <a:off x="60888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51"/>
              <p:cNvSpPr/>
              <p:nvPr/>
            </p:nvSpPr>
            <p:spPr>
              <a:xfrm>
                <a:off x="1540352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51"/>
              <p:cNvSpPr/>
              <p:nvPr/>
            </p:nvSpPr>
            <p:spPr>
              <a:xfrm>
                <a:off x="24718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51"/>
              <p:cNvSpPr/>
              <p:nvPr/>
            </p:nvSpPr>
            <p:spPr>
              <a:xfrm>
                <a:off x="3403286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51"/>
              <p:cNvSpPr/>
              <p:nvPr/>
            </p:nvSpPr>
            <p:spPr>
              <a:xfrm>
                <a:off x="4334753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51"/>
              <p:cNvSpPr/>
              <p:nvPr/>
            </p:nvSpPr>
            <p:spPr>
              <a:xfrm>
                <a:off x="5266220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51"/>
              <p:cNvSpPr/>
              <p:nvPr/>
            </p:nvSpPr>
            <p:spPr>
              <a:xfrm>
                <a:off x="6197687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51"/>
              <p:cNvSpPr/>
              <p:nvPr/>
            </p:nvSpPr>
            <p:spPr>
              <a:xfrm>
                <a:off x="7129154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51"/>
              <p:cNvSpPr/>
              <p:nvPr/>
            </p:nvSpPr>
            <p:spPr>
              <a:xfrm>
                <a:off x="8060621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51"/>
              <p:cNvSpPr/>
              <p:nvPr/>
            </p:nvSpPr>
            <p:spPr>
              <a:xfrm>
                <a:off x="8992088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51"/>
              <p:cNvSpPr/>
              <p:nvPr/>
            </p:nvSpPr>
            <p:spPr>
              <a:xfrm>
                <a:off x="992355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51"/>
              <p:cNvSpPr/>
              <p:nvPr/>
            </p:nvSpPr>
            <p:spPr>
              <a:xfrm>
                <a:off x="108550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62" name="Google Shape;1062;p51"/>
          <p:cNvGrpSpPr/>
          <p:nvPr/>
        </p:nvGrpSpPr>
        <p:grpSpPr>
          <a:xfrm>
            <a:off x="-254" y="0"/>
            <a:ext cx="12189079" cy="6858000"/>
            <a:chOff x="-254" y="0"/>
            <a:chExt cx="12189079" cy="6858000"/>
          </a:xfrm>
        </p:grpSpPr>
        <p:grpSp>
          <p:nvGrpSpPr>
            <p:cNvPr id="1063" name="Google Shape;1063;p51"/>
            <p:cNvGrpSpPr/>
            <p:nvPr/>
          </p:nvGrpSpPr>
          <p:grpSpPr>
            <a:xfrm>
              <a:off x="-254" y="0"/>
              <a:ext cx="12189079" cy="6858000"/>
              <a:chOff x="-127" y="-4574"/>
              <a:chExt cx="12189079" cy="6858000"/>
            </a:xfrm>
          </p:grpSpPr>
          <p:grpSp>
            <p:nvGrpSpPr>
              <p:cNvPr id="1064" name="Google Shape;1064;p51"/>
              <p:cNvGrpSpPr/>
              <p:nvPr/>
            </p:nvGrpSpPr>
            <p:grpSpPr>
              <a:xfrm>
                <a:off x="0" y="-4574"/>
                <a:ext cx="12188952" cy="6858000"/>
                <a:chOff x="12729307" y="-4574"/>
                <a:chExt cx="12188952" cy="6858000"/>
              </a:xfrm>
            </p:grpSpPr>
            <p:cxnSp>
              <p:nvCxnSpPr>
                <p:cNvPr id="1065" name="Google Shape;1065;p51"/>
                <p:cNvCxnSpPr/>
                <p:nvPr/>
              </p:nvCxnSpPr>
              <p:spPr>
                <a:xfrm>
                  <a:off x="12729307" y="1367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6" name="Google Shape;1066;p51"/>
                <p:cNvCxnSpPr/>
                <p:nvPr/>
              </p:nvCxnSpPr>
              <p:spPr>
                <a:xfrm>
                  <a:off x="12729307" y="1709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7" name="Google Shape;1067;p51"/>
                <p:cNvCxnSpPr/>
                <p:nvPr/>
              </p:nvCxnSpPr>
              <p:spPr>
                <a:xfrm>
                  <a:off x="12729307" y="1024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8" name="Google Shape;1068;p51"/>
                <p:cNvCxnSpPr/>
                <p:nvPr/>
              </p:nvCxnSpPr>
              <p:spPr>
                <a:xfrm>
                  <a:off x="12729307" y="681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9" name="Google Shape;1069;p51"/>
                <p:cNvCxnSpPr/>
                <p:nvPr/>
              </p:nvCxnSpPr>
              <p:spPr>
                <a:xfrm>
                  <a:off x="12729307" y="338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0" name="Google Shape;1070;p51"/>
                <p:cNvCxnSpPr/>
                <p:nvPr/>
              </p:nvCxnSpPr>
              <p:spPr>
                <a:xfrm>
                  <a:off x="12729307" y="-4574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1" name="Google Shape;1071;p51"/>
                <p:cNvCxnSpPr/>
                <p:nvPr/>
              </p:nvCxnSpPr>
              <p:spPr>
                <a:xfrm>
                  <a:off x="12729307" y="3081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2" name="Google Shape;1072;p51"/>
                <p:cNvCxnSpPr/>
                <p:nvPr/>
              </p:nvCxnSpPr>
              <p:spPr>
                <a:xfrm>
                  <a:off x="12729307" y="3424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3" name="Google Shape;1073;p51"/>
                <p:cNvCxnSpPr/>
                <p:nvPr/>
              </p:nvCxnSpPr>
              <p:spPr>
                <a:xfrm>
                  <a:off x="12729307" y="2738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4" name="Google Shape;1074;p51"/>
                <p:cNvCxnSpPr/>
                <p:nvPr/>
              </p:nvCxnSpPr>
              <p:spPr>
                <a:xfrm>
                  <a:off x="12729307" y="2395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5" name="Google Shape;1075;p51"/>
                <p:cNvCxnSpPr/>
                <p:nvPr/>
              </p:nvCxnSpPr>
              <p:spPr>
                <a:xfrm>
                  <a:off x="12729307" y="2052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6" name="Google Shape;1076;p51"/>
                <p:cNvCxnSpPr/>
                <p:nvPr/>
              </p:nvCxnSpPr>
              <p:spPr>
                <a:xfrm>
                  <a:off x="12729307" y="4796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7" name="Google Shape;1077;p51"/>
                <p:cNvCxnSpPr/>
                <p:nvPr/>
              </p:nvCxnSpPr>
              <p:spPr>
                <a:xfrm>
                  <a:off x="12729307" y="5138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8" name="Google Shape;1078;p51"/>
                <p:cNvCxnSpPr/>
                <p:nvPr/>
              </p:nvCxnSpPr>
              <p:spPr>
                <a:xfrm>
                  <a:off x="12729307" y="4453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9" name="Google Shape;1079;p51"/>
                <p:cNvCxnSpPr/>
                <p:nvPr/>
              </p:nvCxnSpPr>
              <p:spPr>
                <a:xfrm>
                  <a:off x="12729307" y="4110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0" name="Google Shape;1080;p51"/>
                <p:cNvCxnSpPr/>
                <p:nvPr/>
              </p:nvCxnSpPr>
              <p:spPr>
                <a:xfrm>
                  <a:off x="12729307" y="3767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1" name="Google Shape;1081;p51"/>
                <p:cNvCxnSpPr/>
                <p:nvPr/>
              </p:nvCxnSpPr>
              <p:spPr>
                <a:xfrm>
                  <a:off x="12729307" y="6510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2" name="Google Shape;1082;p51"/>
                <p:cNvCxnSpPr/>
                <p:nvPr/>
              </p:nvCxnSpPr>
              <p:spPr>
                <a:xfrm>
                  <a:off x="12729307" y="6853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3" name="Google Shape;1083;p51"/>
                <p:cNvCxnSpPr/>
                <p:nvPr/>
              </p:nvCxnSpPr>
              <p:spPr>
                <a:xfrm>
                  <a:off x="12729307" y="5824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4" name="Google Shape;1084;p51"/>
                <p:cNvCxnSpPr/>
                <p:nvPr/>
              </p:nvCxnSpPr>
              <p:spPr>
                <a:xfrm>
                  <a:off x="12729307" y="5481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5" name="Google Shape;1085;p51"/>
                <p:cNvCxnSpPr/>
                <p:nvPr/>
              </p:nvCxnSpPr>
              <p:spPr>
                <a:xfrm>
                  <a:off x="12729307" y="6167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086" name="Google Shape;1086;p51"/>
              <p:cNvGrpSpPr/>
              <p:nvPr/>
            </p:nvGrpSpPr>
            <p:grpSpPr>
              <a:xfrm>
                <a:off x="-127" y="109726"/>
                <a:ext cx="12188952" cy="6629400"/>
                <a:chOff x="12729307" y="109726"/>
                <a:chExt cx="12188952" cy="6629400"/>
              </a:xfrm>
            </p:grpSpPr>
            <p:cxnSp>
              <p:nvCxnSpPr>
                <p:cNvPr id="1087" name="Google Shape;1087;p51"/>
                <p:cNvCxnSpPr/>
                <p:nvPr/>
              </p:nvCxnSpPr>
              <p:spPr>
                <a:xfrm>
                  <a:off x="12729307" y="1481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8" name="Google Shape;1088;p51"/>
                <p:cNvCxnSpPr/>
                <p:nvPr/>
              </p:nvCxnSpPr>
              <p:spPr>
                <a:xfrm>
                  <a:off x="12729307" y="1824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9" name="Google Shape;1089;p51"/>
                <p:cNvCxnSpPr/>
                <p:nvPr/>
              </p:nvCxnSpPr>
              <p:spPr>
                <a:xfrm>
                  <a:off x="12729307" y="1138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0" name="Google Shape;1090;p51"/>
                <p:cNvCxnSpPr/>
                <p:nvPr/>
              </p:nvCxnSpPr>
              <p:spPr>
                <a:xfrm>
                  <a:off x="12729307" y="795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1" name="Google Shape;1091;p51"/>
                <p:cNvCxnSpPr/>
                <p:nvPr/>
              </p:nvCxnSpPr>
              <p:spPr>
                <a:xfrm>
                  <a:off x="12729307" y="452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2" name="Google Shape;1092;p51"/>
                <p:cNvCxnSpPr/>
                <p:nvPr/>
              </p:nvCxnSpPr>
              <p:spPr>
                <a:xfrm>
                  <a:off x="12729307" y="109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3" name="Google Shape;1093;p51"/>
                <p:cNvCxnSpPr/>
                <p:nvPr/>
              </p:nvCxnSpPr>
              <p:spPr>
                <a:xfrm>
                  <a:off x="12729307" y="3195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4" name="Google Shape;1094;p51"/>
                <p:cNvCxnSpPr/>
                <p:nvPr/>
              </p:nvCxnSpPr>
              <p:spPr>
                <a:xfrm>
                  <a:off x="12729307" y="3538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5" name="Google Shape;1095;p51"/>
                <p:cNvCxnSpPr/>
                <p:nvPr/>
              </p:nvCxnSpPr>
              <p:spPr>
                <a:xfrm>
                  <a:off x="12729307" y="2852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6" name="Google Shape;1096;p51"/>
                <p:cNvCxnSpPr/>
                <p:nvPr/>
              </p:nvCxnSpPr>
              <p:spPr>
                <a:xfrm>
                  <a:off x="12729307" y="2510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7" name="Google Shape;1097;p51"/>
                <p:cNvCxnSpPr/>
                <p:nvPr/>
              </p:nvCxnSpPr>
              <p:spPr>
                <a:xfrm>
                  <a:off x="12729307" y="2167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8" name="Google Shape;1098;p51"/>
                <p:cNvCxnSpPr/>
                <p:nvPr/>
              </p:nvCxnSpPr>
              <p:spPr>
                <a:xfrm>
                  <a:off x="12729307" y="4910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9" name="Google Shape;1099;p51"/>
                <p:cNvCxnSpPr/>
                <p:nvPr/>
              </p:nvCxnSpPr>
              <p:spPr>
                <a:xfrm>
                  <a:off x="12729307" y="5253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0" name="Google Shape;1100;p51"/>
                <p:cNvCxnSpPr/>
                <p:nvPr/>
              </p:nvCxnSpPr>
              <p:spPr>
                <a:xfrm>
                  <a:off x="12729307" y="4567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1" name="Google Shape;1101;p51"/>
                <p:cNvCxnSpPr/>
                <p:nvPr/>
              </p:nvCxnSpPr>
              <p:spPr>
                <a:xfrm>
                  <a:off x="12729307" y="4224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2" name="Google Shape;1102;p51"/>
                <p:cNvCxnSpPr/>
                <p:nvPr/>
              </p:nvCxnSpPr>
              <p:spPr>
                <a:xfrm>
                  <a:off x="12729307" y="3881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3" name="Google Shape;1103;p51"/>
                <p:cNvCxnSpPr/>
                <p:nvPr/>
              </p:nvCxnSpPr>
              <p:spPr>
                <a:xfrm>
                  <a:off x="12729307" y="6624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4" name="Google Shape;1104;p51"/>
                <p:cNvCxnSpPr/>
                <p:nvPr/>
              </p:nvCxnSpPr>
              <p:spPr>
                <a:xfrm>
                  <a:off x="12729307" y="6281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5" name="Google Shape;1105;p51"/>
                <p:cNvCxnSpPr/>
                <p:nvPr/>
              </p:nvCxnSpPr>
              <p:spPr>
                <a:xfrm>
                  <a:off x="12729307" y="5939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6" name="Google Shape;1106;p51"/>
                <p:cNvCxnSpPr/>
                <p:nvPr/>
              </p:nvCxnSpPr>
              <p:spPr>
                <a:xfrm>
                  <a:off x="12729307" y="5596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7" name="Google Shape;1107;p51"/>
                <p:cNvCxnSpPr/>
                <p:nvPr/>
              </p:nvCxnSpPr>
              <p:spPr>
                <a:xfrm>
                  <a:off x="12729307" y="1595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8" name="Google Shape;1108;p51"/>
                <p:cNvCxnSpPr/>
                <p:nvPr/>
              </p:nvCxnSpPr>
              <p:spPr>
                <a:xfrm>
                  <a:off x="12729307" y="1938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9" name="Google Shape;1109;p51"/>
                <p:cNvCxnSpPr/>
                <p:nvPr/>
              </p:nvCxnSpPr>
              <p:spPr>
                <a:xfrm>
                  <a:off x="12729307" y="1252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0" name="Google Shape;1110;p51"/>
                <p:cNvCxnSpPr/>
                <p:nvPr/>
              </p:nvCxnSpPr>
              <p:spPr>
                <a:xfrm>
                  <a:off x="12729307" y="909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1" name="Google Shape;1111;p51"/>
                <p:cNvCxnSpPr/>
                <p:nvPr/>
              </p:nvCxnSpPr>
              <p:spPr>
                <a:xfrm>
                  <a:off x="12729307" y="566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2" name="Google Shape;1112;p51"/>
                <p:cNvCxnSpPr/>
                <p:nvPr/>
              </p:nvCxnSpPr>
              <p:spPr>
                <a:xfrm>
                  <a:off x="12729307" y="224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3" name="Google Shape;1113;p51"/>
                <p:cNvCxnSpPr/>
                <p:nvPr/>
              </p:nvCxnSpPr>
              <p:spPr>
                <a:xfrm>
                  <a:off x="12729307" y="3310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4" name="Google Shape;1114;p51"/>
                <p:cNvCxnSpPr/>
                <p:nvPr/>
              </p:nvCxnSpPr>
              <p:spPr>
                <a:xfrm>
                  <a:off x="12729307" y="3653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5" name="Google Shape;1115;p51"/>
                <p:cNvCxnSpPr/>
                <p:nvPr/>
              </p:nvCxnSpPr>
              <p:spPr>
                <a:xfrm>
                  <a:off x="12729307" y="2967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6" name="Google Shape;1116;p51"/>
                <p:cNvCxnSpPr/>
                <p:nvPr/>
              </p:nvCxnSpPr>
              <p:spPr>
                <a:xfrm>
                  <a:off x="12729307" y="2624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7" name="Google Shape;1117;p51"/>
                <p:cNvCxnSpPr/>
                <p:nvPr/>
              </p:nvCxnSpPr>
              <p:spPr>
                <a:xfrm>
                  <a:off x="12729307" y="2281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8" name="Google Shape;1118;p51"/>
                <p:cNvCxnSpPr/>
                <p:nvPr/>
              </p:nvCxnSpPr>
              <p:spPr>
                <a:xfrm>
                  <a:off x="12729307" y="5024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9" name="Google Shape;1119;p51"/>
                <p:cNvCxnSpPr/>
                <p:nvPr/>
              </p:nvCxnSpPr>
              <p:spPr>
                <a:xfrm>
                  <a:off x="12729307" y="5367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0" name="Google Shape;1120;p51"/>
                <p:cNvCxnSpPr/>
                <p:nvPr/>
              </p:nvCxnSpPr>
              <p:spPr>
                <a:xfrm>
                  <a:off x="12729307" y="4681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1" name="Google Shape;1121;p51"/>
                <p:cNvCxnSpPr/>
                <p:nvPr/>
              </p:nvCxnSpPr>
              <p:spPr>
                <a:xfrm>
                  <a:off x="12729307" y="4338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2" name="Google Shape;1122;p51"/>
                <p:cNvCxnSpPr/>
                <p:nvPr/>
              </p:nvCxnSpPr>
              <p:spPr>
                <a:xfrm>
                  <a:off x="12729307" y="3995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3" name="Google Shape;1123;p51"/>
                <p:cNvCxnSpPr/>
                <p:nvPr/>
              </p:nvCxnSpPr>
              <p:spPr>
                <a:xfrm>
                  <a:off x="12729307" y="6739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4" name="Google Shape;1124;p51"/>
                <p:cNvCxnSpPr/>
                <p:nvPr/>
              </p:nvCxnSpPr>
              <p:spPr>
                <a:xfrm>
                  <a:off x="12729307" y="6396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5" name="Google Shape;1125;p51"/>
                <p:cNvCxnSpPr/>
                <p:nvPr/>
              </p:nvCxnSpPr>
              <p:spPr>
                <a:xfrm>
                  <a:off x="12729307" y="6053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6" name="Google Shape;1126;p51"/>
                <p:cNvCxnSpPr/>
                <p:nvPr/>
              </p:nvCxnSpPr>
              <p:spPr>
                <a:xfrm>
                  <a:off x="12729307" y="5710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127" name="Google Shape;1127;p51"/>
            <p:cNvGrpSpPr/>
            <p:nvPr/>
          </p:nvGrpSpPr>
          <p:grpSpPr>
            <a:xfrm>
              <a:off x="970985" y="0"/>
              <a:ext cx="10247475" cy="6858000"/>
              <a:chOff x="971112" y="0"/>
              <a:chExt cx="10247475" cy="6858000"/>
            </a:xfrm>
          </p:grpSpPr>
          <p:cxnSp>
            <p:nvCxnSpPr>
              <p:cNvPr id="1128" name="Google Shape;1128;p51"/>
              <p:cNvCxnSpPr/>
              <p:nvPr/>
            </p:nvCxnSpPr>
            <p:spPr>
              <a:xfrm flipH="1">
                <a:off x="97111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9" name="Google Shape;1129;p51"/>
              <p:cNvCxnSpPr/>
              <p:nvPr/>
            </p:nvCxnSpPr>
            <p:spPr>
              <a:xfrm flipH="1">
                <a:off x="1902579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0" name="Google Shape;1130;p51"/>
              <p:cNvCxnSpPr/>
              <p:nvPr/>
            </p:nvCxnSpPr>
            <p:spPr>
              <a:xfrm flipH="1">
                <a:off x="28340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1" name="Google Shape;1131;p51"/>
              <p:cNvCxnSpPr/>
              <p:nvPr/>
            </p:nvCxnSpPr>
            <p:spPr>
              <a:xfrm flipH="1">
                <a:off x="3765513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2" name="Google Shape;1132;p51"/>
              <p:cNvCxnSpPr/>
              <p:nvPr/>
            </p:nvCxnSpPr>
            <p:spPr>
              <a:xfrm flipH="1">
                <a:off x="4696980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3" name="Google Shape;1133;p51"/>
              <p:cNvCxnSpPr/>
              <p:nvPr/>
            </p:nvCxnSpPr>
            <p:spPr>
              <a:xfrm flipH="1">
                <a:off x="5628447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4" name="Google Shape;1134;p51"/>
              <p:cNvCxnSpPr/>
              <p:nvPr/>
            </p:nvCxnSpPr>
            <p:spPr>
              <a:xfrm flipH="1">
                <a:off x="6559914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5" name="Google Shape;1135;p51"/>
              <p:cNvCxnSpPr/>
              <p:nvPr/>
            </p:nvCxnSpPr>
            <p:spPr>
              <a:xfrm flipH="1">
                <a:off x="7491381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6" name="Google Shape;1136;p51"/>
              <p:cNvCxnSpPr/>
              <p:nvPr/>
            </p:nvCxnSpPr>
            <p:spPr>
              <a:xfrm flipH="1">
                <a:off x="8422848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7" name="Google Shape;1137;p51"/>
              <p:cNvCxnSpPr/>
              <p:nvPr/>
            </p:nvCxnSpPr>
            <p:spPr>
              <a:xfrm flipH="1">
                <a:off x="9354315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8" name="Google Shape;1138;p51"/>
              <p:cNvCxnSpPr/>
              <p:nvPr/>
            </p:nvCxnSpPr>
            <p:spPr>
              <a:xfrm flipH="1">
                <a:off x="1028578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9" name="Google Shape;1139;p51"/>
              <p:cNvCxnSpPr/>
              <p:nvPr/>
            </p:nvCxnSpPr>
            <p:spPr>
              <a:xfrm flipH="1">
                <a:off x="112172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140" name="Google Shape;1140;p51"/>
            <p:cNvGrpSpPr/>
            <p:nvPr/>
          </p:nvGrpSpPr>
          <p:grpSpPr>
            <a:xfrm>
              <a:off x="608758" y="448731"/>
              <a:ext cx="10971928" cy="5722842"/>
              <a:chOff x="608885" y="1604366"/>
              <a:chExt cx="10971928" cy="4567208"/>
            </a:xfrm>
          </p:grpSpPr>
          <p:sp>
            <p:nvSpPr>
              <p:cNvPr id="1141" name="Google Shape;1141;p51"/>
              <p:cNvSpPr/>
              <p:nvPr/>
            </p:nvSpPr>
            <p:spPr>
              <a:xfrm>
                <a:off x="60888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51"/>
              <p:cNvSpPr/>
              <p:nvPr/>
            </p:nvSpPr>
            <p:spPr>
              <a:xfrm>
                <a:off x="1540352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51"/>
              <p:cNvSpPr/>
              <p:nvPr/>
            </p:nvSpPr>
            <p:spPr>
              <a:xfrm>
                <a:off x="24718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51"/>
              <p:cNvSpPr/>
              <p:nvPr/>
            </p:nvSpPr>
            <p:spPr>
              <a:xfrm>
                <a:off x="3403286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51"/>
              <p:cNvSpPr/>
              <p:nvPr/>
            </p:nvSpPr>
            <p:spPr>
              <a:xfrm>
                <a:off x="4334753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51"/>
              <p:cNvSpPr/>
              <p:nvPr/>
            </p:nvSpPr>
            <p:spPr>
              <a:xfrm>
                <a:off x="5266220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51"/>
              <p:cNvSpPr/>
              <p:nvPr/>
            </p:nvSpPr>
            <p:spPr>
              <a:xfrm>
                <a:off x="6197687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51"/>
              <p:cNvSpPr/>
              <p:nvPr/>
            </p:nvSpPr>
            <p:spPr>
              <a:xfrm>
                <a:off x="7129154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51"/>
              <p:cNvSpPr/>
              <p:nvPr/>
            </p:nvSpPr>
            <p:spPr>
              <a:xfrm>
                <a:off x="8060621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51"/>
              <p:cNvSpPr/>
              <p:nvPr/>
            </p:nvSpPr>
            <p:spPr>
              <a:xfrm>
                <a:off x="8992088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51"/>
              <p:cNvSpPr/>
              <p:nvPr/>
            </p:nvSpPr>
            <p:spPr>
              <a:xfrm>
                <a:off x="992355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51"/>
              <p:cNvSpPr/>
              <p:nvPr/>
            </p:nvSpPr>
            <p:spPr>
              <a:xfrm>
                <a:off x="108550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of Template">
  <p:cSld name="End of Template">
    <p:bg>
      <p:bgPr>
        <a:solidFill>
          <a:schemeClr val="accent6"/>
        </a:solidFill>
        <a:effectLst/>
      </p:bgPr>
    </p:bg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52"/>
          <p:cNvSpPr txBox="1"/>
          <p:nvPr/>
        </p:nvSpPr>
        <p:spPr>
          <a:xfrm>
            <a:off x="606392" y="721895"/>
            <a:ext cx="10876547" cy="48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 NOT USE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LAYOUTS PAST THIS ARE NOT PART OF THIS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52"/>
          <p:cNvSpPr txBox="1"/>
          <p:nvPr/>
        </p:nvSpPr>
        <p:spPr>
          <a:xfrm>
            <a:off x="606392" y="721895"/>
            <a:ext cx="10876547" cy="48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 NOT USE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LAYOUTS PAST THIS ARE NOT PART OF THIS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FE2A-AF6F-1450-5B9A-8F28471E6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76DC-F38A-71D4-99BD-93CB3BDB9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D7AFB-9724-03EC-2CA9-CCC8C97F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16695C9-32F7-A14D-AAB1-B073A40E944E}" type="datetimeFigureOut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7/30/25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29D48-A9CE-57D4-7BC8-7C06864A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7B6F8-4016-4167-75A8-5DBEFF2EC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DEE05DFC-D15F-EE4B-8D9A-62E9D28582BA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024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146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860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8609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>
            <a:off x="4037013" y="735203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ldNum" idx="12"/>
          </p:nvPr>
        </p:nvSpPr>
        <p:spPr>
          <a:xfrm>
            <a:off x="8609013" y="7352030"/>
            <a:ext cx="2741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7"/>
          <p:cNvSpPr txBox="1"/>
          <p:nvPr/>
        </p:nvSpPr>
        <p:spPr>
          <a:xfrm>
            <a:off x="1645084" y="6461498"/>
            <a:ext cx="3052118" cy="14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2025 Broadcom.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p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7" name="Google Shape;17;p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8" name="Google Shape;18;p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" name="Google Shape;28;p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9" name="Google Shape;29;p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" name="Google Shape;36;p7"/>
          <p:cNvSpPr/>
          <p:nvPr/>
        </p:nvSpPr>
        <p:spPr>
          <a:xfrm>
            <a:off x="0" y="0"/>
            <a:ext cx="12188825" cy="74871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8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open?id=11YdRuhuNcH-bj0ik4mg-HMfJQeGO8buZ&amp;usp=drive_f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9.sv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7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sv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4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7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sv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sv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33.sv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sv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2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27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37.sv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sv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26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17.svg"/><Relationship Id="rId4" Type="http://schemas.openxmlformats.org/officeDocument/2006/relationships/image" Target="../media/image27.svg"/><Relationship Id="rId9" Type="http://schemas.openxmlformats.org/officeDocument/2006/relationships/image" Target="../media/image1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sv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7.sv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sv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6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8.svg"/><Relationship Id="rId4" Type="http://schemas.openxmlformats.org/officeDocument/2006/relationships/image" Target="../media/image47.svg"/><Relationship Id="rId9" Type="http://schemas.openxmlformats.org/officeDocument/2006/relationships/image" Target="../media/image17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sv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6.png"/><Relationship Id="rId7" Type="http://schemas.openxmlformats.org/officeDocument/2006/relationships/image" Target="../media/image16.pn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11" Type="http://schemas.openxmlformats.org/officeDocument/2006/relationships/image" Target="../media/image46.png"/><Relationship Id="rId5" Type="http://schemas.openxmlformats.org/officeDocument/2006/relationships/image" Target="../media/image26.png"/><Relationship Id="rId10" Type="http://schemas.openxmlformats.org/officeDocument/2006/relationships/image" Target="../media/image14.svg"/><Relationship Id="rId4" Type="http://schemas.openxmlformats.org/officeDocument/2006/relationships/image" Target="../media/image37.svg"/><Relationship Id="rId9" Type="http://schemas.openxmlformats.org/officeDocument/2006/relationships/image" Target="../media/image1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sv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26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7.sv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sv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14.sv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14.sv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8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Colors</a:t>
            </a:r>
            <a:endParaRPr/>
          </a:p>
        </p:txBody>
      </p:sp>
      <p:grpSp>
        <p:nvGrpSpPr>
          <p:cNvPr id="1161" name="Google Shape;1161;p1"/>
          <p:cNvGrpSpPr/>
          <p:nvPr/>
        </p:nvGrpSpPr>
        <p:grpSpPr>
          <a:xfrm>
            <a:off x="579809" y="991639"/>
            <a:ext cx="2036216" cy="4643807"/>
            <a:chOff x="579809" y="991638"/>
            <a:chExt cx="2036216" cy="4643807"/>
          </a:xfrm>
        </p:grpSpPr>
        <p:grpSp>
          <p:nvGrpSpPr>
            <p:cNvPr id="1162" name="Google Shape;1162;p1"/>
            <p:cNvGrpSpPr/>
            <p:nvPr/>
          </p:nvGrpSpPr>
          <p:grpSpPr>
            <a:xfrm>
              <a:off x="579809" y="991638"/>
              <a:ext cx="2036216" cy="769441"/>
              <a:chOff x="579809" y="991638"/>
              <a:chExt cx="2036216" cy="769441"/>
            </a:xfrm>
          </p:grpSpPr>
          <p:sp>
            <p:nvSpPr>
              <p:cNvPr id="1163" name="Google Shape;1163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1"/>
              <p:cNvSpPr txBox="1"/>
              <p:nvPr/>
            </p:nvSpPr>
            <p:spPr>
              <a:xfrm>
                <a:off x="1420185" y="991638"/>
                <a:ext cx="119584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Black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PMS Pantone Black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0-0-0-100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0-0-0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#000000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5" name="Google Shape;1165;p1"/>
            <p:cNvGrpSpPr/>
            <p:nvPr/>
          </p:nvGrpSpPr>
          <p:grpSpPr>
            <a:xfrm>
              <a:off x="579809" y="2351247"/>
              <a:ext cx="1944846" cy="615553"/>
              <a:chOff x="579809" y="1059792"/>
              <a:chExt cx="1944846" cy="615553"/>
            </a:xfrm>
          </p:grpSpPr>
          <p:sp>
            <p:nvSpPr>
              <p:cNvPr id="1166" name="Google Shape;1166;p1"/>
              <p:cNvSpPr/>
              <p:nvPr/>
            </p:nvSpPr>
            <p:spPr>
              <a:xfrm>
                <a:off x="579809" y="1068582"/>
                <a:ext cx="597973" cy="59797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1"/>
              <p:cNvSpPr txBox="1"/>
              <p:nvPr/>
            </p:nvSpPr>
            <p:spPr>
              <a:xfrm>
                <a:off x="1420185" y="1059792"/>
                <a:ext cx="1104470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White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255-255-255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#FFFFFF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8" name="Google Shape;1168;p1"/>
            <p:cNvGrpSpPr/>
            <p:nvPr/>
          </p:nvGrpSpPr>
          <p:grpSpPr>
            <a:xfrm>
              <a:off x="579809" y="3574548"/>
              <a:ext cx="2004156" cy="769441"/>
              <a:chOff x="579809" y="991638"/>
              <a:chExt cx="2004156" cy="769441"/>
            </a:xfrm>
          </p:grpSpPr>
          <p:sp>
            <p:nvSpPr>
              <p:cNvPr id="1169" name="Google Shape;1169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1"/>
              <p:cNvSpPr txBox="1"/>
              <p:nvPr/>
            </p:nvSpPr>
            <p:spPr>
              <a:xfrm>
                <a:off x="1420185" y="991638"/>
                <a:ext cx="116378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Dark Blue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4146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100-82-0-81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27-29-54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#1B1D36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1" name="Google Shape;1171;p1"/>
            <p:cNvGrpSpPr/>
            <p:nvPr/>
          </p:nvGrpSpPr>
          <p:grpSpPr>
            <a:xfrm>
              <a:off x="579809" y="4866004"/>
              <a:ext cx="1951258" cy="769441"/>
              <a:chOff x="579809" y="991638"/>
              <a:chExt cx="1951258" cy="769441"/>
            </a:xfrm>
          </p:grpSpPr>
          <p:sp>
            <p:nvSpPr>
              <p:cNvPr id="1172" name="Google Shape;1172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1"/>
              <p:cNvSpPr txBox="1"/>
              <p:nvPr/>
            </p:nvSpPr>
            <p:spPr>
              <a:xfrm>
                <a:off x="1420185" y="991638"/>
                <a:ext cx="111088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Blue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7469 C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96-64-24-6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0-92-138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#005C8A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74" name="Google Shape;1174;p1"/>
          <p:cNvGrpSpPr/>
          <p:nvPr/>
        </p:nvGrpSpPr>
        <p:grpSpPr>
          <a:xfrm>
            <a:off x="7070071" y="991638"/>
            <a:ext cx="1964082" cy="3352351"/>
            <a:chOff x="7095322" y="991638"/>
            <a:chExt cx="1964082" cy="3352351"/>
          </a:xfrm>
        </p:grpSpPr>
        <p:grpSp>
          <p:nvGrpSpPr>
            <p:cNvPr id="1175" name="Google Shape;1175;p1"/>
            <p:cNvGrpSpPr/>
            <p:nvPr/>
          </p:nvGrpSpPr>
          <p:grpSpPr>
            <a:xfrm>
              <a:off x="7095322" y="991638"/>
              <a:ext cx="1964082" cy="769441"/>
              <a:chOff x="579809" y="991638"/>
              <a:chExt cx="1964082" cy="769441"/>
            </a:xfrm>
          </p:grpSpPr>
          <p:sp>
            <p:nvSpPr>
              <p:cNvPr id="1176" name="Google Shape;1176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CC092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Red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186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0-100-81-4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204-9-47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#CC092F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8" name="Google Shape;1178;p1"/>
            <p:cNvGrpSpPr/>
            <p:nvPr/>
          </p:nvGrpSpPr>
          <p:grpSpPr>
            <a:xfrm>
              <a:off x="7095322" y="3574548"/>
              <a:ext cx="1964082" cy="769441"/>
              <a:chOff x="579809" y="991638"/>
              <a:chExt cx="1964082" cy="769441"/>
            </a:xfrm>
          </p:grpSpPr>
          <p:sp>
            <p:nvSpPr>
              <p:cNvPr id="1179" name="Google Shape;1179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Yellow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7408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0-29-100-0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243-186-22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#F3BA16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1" name="Google Shape;1181;p1"/>
            <p:cNvGrpSpPr/>
            <p:nvPr/>
          </p:nvGrpSpPr>
          <p:grpSpPr>
            <a:xfrm>
              <a:off x="7095322" y="2283093"/>
              <a:ext cx="1964082" cy="769441"/>
              <a:chOff x="579809" y="991638"/>
              <a:chExt cx="1964082" cy="769441"/>
            </a:xfrm>
          </p:grpSpPr>
          <p:sp>
            <p:nvSpPr>
              <p:cNvPr id="1182" name="Google Shape;1182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E68C2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Orange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138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0-52-100-0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230-140-40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#E68C28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84" name="Google Shape;1184;p1"/>
          <p:cNvGrpSpPr/>
          <p:nvPr/>
        </p:nvGrpSpPr>
        <p:grpSpPr>
          <a:xfrm>
            <a:off x="9626391" y="991639"/>
            <a:ext cx="1933624" cy="3352350"/>
            <a:chOff x="9541549" y="991639"/>
            <a:chExt cx="1933624" cy="3352350"/>
          </a:xfrm>
        </p:grpSpPr>
        <p:grpSp>
          <p:nvGrpSpPr>
            <p:cNvPr id="1185" name="Google Shape;1185;p1"/>
            <p:cNvGrpSpPr/>
            <p:nvPr/>
          </p:nvGrpSpPr>
          <p:grpSpPr>
            <a:xfrm>
              <a:off x="9541549" y="991639"/>
              <a:ext cx="1885534" cy="769441"/>
              <a:chOff x="579809" y="991638"/>
              <a:chExt cx="1885534" cy="769441"/>
            </a:xfrm>
          </p:grpSpPr>
          <p:sp>
            <p:nvSpPr>
              <p:cNvPr id="1186" name="Google Shape;1186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53565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1"/>
              <p:cNvSpPr txBox="1"/>
              <p:nvPr/>
            </p:nvSpPr>
            <p:spPr>
              <a:xfrm>
                <a:off x="1420185" y="991638"/>
                <a:ext cx="1045158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Dark Gray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Cool Gray 11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0-0-0-80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83-86-90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#53565A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8" name="Google Shape;1188;p1"/>
            <p:cNvGrpSpPr/>
            <p:nvPr/>
          </p:nvGrpSpPr>
          <p:grpSpPr>
            <a:xfrm>
              <a:off x="9541549" y="2360038"/>
              <a:ext cx="1858283" cy="769441"/>
              <a:chOff x="579809" y="991638"/>
              <a:chExt cx="1858283" cy="769441"/>
            </a:xfrm>
          </p:grpSpPr>
          <p:sp>
            <p:nvSpPr>
              <p:cNvPr id="1189" name="Google Shape;1189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99999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1"/>
              <p:cNvSpPr txBox="1"/>
              <p:nvPr/>
            </p:nvSpPr>
            <p:spPr>
              <a:xfrm>
                <a:off x="1420185" y="991638"/>
                <a:ext cx="1017907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Cool Gray 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Cool Gray 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0-0-0-48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151-153-155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#97999B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1" name="Google Shape;1191;p1"/>
            <p:cNvGrpSpPr/>
            <p:nvPr/>
          </p:nvGrpSpPr>
          <p:grpSpPr>
            <a:xfrm>
              <a:off x="9541549" y="3728436"/>
              <a:ext cx="1933624" cy="615553"/>
              <a:chOff x="8968870" y="2351247"/>
              <a:chExt cx="1933624" cy="615553"/>
            </a:xfrm>
          </p:grpSpPr>
          <p:sp>
            <p:nvSpPr>
              <p:cNvPr id="1192" name="Google Shape;1192;p1"/>
              <p:cNvSpPr/>
              <p:nvPr/>
            </p:nvSpPr>
            <p:spPr>
              <a:xfrm>
                <a:off x="8968870" y="2360037"/>
                <a:ext cx="597973" cy="597973"/>
              </a:xfrm>
              <a:prstGeom prst="ellipse">
                <a:avLst/>
              </a:prstGeom>
              <a:solidFill>
                <a:srgbClr val="E2E3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1"/>
              <p:cNvSpPr txBox="1"/>
              <p:nvPr/>
            </p:nvSpPr>
            <p:spPr>
              <a:xfrm>
                <a:off x="9809246" y="2351247"/>
                <a:ext cx="1093248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Broadcom Gray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0-0-0-12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226-227-228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#E2E3E4</a:t>
                </a: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94" name="Google Shape;1194;p1"/>
          <p:cNvGrpSpPr/>
          <p:nvPr/>
        </p:nvGrpSpPr>
        <p:grpSpPr>
          <a:xfrm>
            <a:off x="3208264" y="991638"/>
            <a:ext cx="3269568" cy="4643808"/>
            <a:chOff x="3163464" y="991638"/>
            <a:chExt cx="3269568" cy="4643808"/>
          </a:xfrm>
        </p:grpSpPr>
        <p:grpSp>
          <p:nvGrpSpPr>
            <p:cNvPr id="1195" name="Google Shape;1195;p1"/>
            <p:cNvGrpSpPr/>
            <p:nvPr/>
          </p:nvGrpSpPr>
          <p:grpSpPr>
            <a:xfrm>
              <a:off x="3163464" y="2283093"/>
              <a:ext cx="1887137" cy="769441"/>
              <a:chOff x="579809" y="991638"/>
              <a:chExt cx="1887137" cy="769441"/>
            </a:xfrm>
          </p:grpSpPr>
          <p:sp>
            <p:nvSpPr>
              <p:cNvPr id="1196" name="Google Shape;1196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1"/>
              <p:cNvSpPr txBox="1"/>
              <p:nvPr/>
            </p:nvSpPr>
            <p:spPr>
              <a:xfrm>
                <a:off x="1420185" y="991638"/>
                <a:ext cx="1046761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Purple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7678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74-85-0-0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108-75-148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#6C4B94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8" name="Google Shape;1198;p1"/>
            <p:cNvGrpSpPr/>
            <p:nvPr/>
          </p:nvGrpSpPr>
          <p:grpSpPr>
            <a:xfrm>
              <a:off x="3163465" y="991638"/>
              <a:ext cx="1951258" cy="769441"/>
              <a:chOff x="579809" y="991638"/>
              <a:chExt cx="1951258" cy="769441"/>
            </a:xfrm>
          </p:grpSpPr>
          <p:sp>
            <p:nvSpPr>
              <p:cNvPr id="1199" name="Google Shape;1199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1"/>
              <p:cNvSpPr txBox="1"/>
              <p:nvPr/>
            </p:nvSpPr>
            <p:spPr>
              <a:xfrm>
                <a:off x="1420185" y="991638"/>
                <a:ext cx="111088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Aqua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7474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96-9-32-29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0-123-140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#007B8C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1" name="Google Shape;1201;p1"/>
            <p:cNvGrpSpPr/>
            <p:nvPr/>
          </p:nvGrpSpPr>
          <p:grpSpPr>
            <a:xfrm>
              <a:off x="3163465" y="3574548"/>
              <a:ext cx="3269567" cy="769441"/>
              <a:chOff x="3163465" y="3574548"/>
              <a:chExt cx="3269567" cy="769441"/>
            </a:xfrm>
          </p:grpSpPr>
          <p:sp>
            <p:nvSpPr>
              <p:cNvPr id="1202" name="Google Shape;1202;p1"/>
              <p:cNvSpPr/>
              <p:nvPr/>
            </p:nvSpPr>
            <p:spPr>
              <a:xfrm>
                <a:off x="3163465" y="3660283"/>
                <a:ext cx="597973" cy="597973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1"/>
              <p:cNvSpPr txBox="1"/>
              <p:nvPr/>
            </p:nvSpPr>
            <p:spPr>
              <a:xfrm>
                <a:off x="4003840" y="3574548"/>
                <a:ext cx="242919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Azure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313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100-0-11-2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0-152-199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#0098C7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(AA Compliant)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0-125-163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#007DA3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1"/>
              <p:cNvSpPr/>
              <p:nvPr/>
            </p:nvSpPr>
            <p:spPr>
              <a:xfrm>
                <a:off x="3462450" y="3660282"/>
                <a:ext cx="298988" cy="597974"/>
              </a:xfrm>
              <a:custGeom>
                <a:avLst/>
                <a:gdLst/>
                <a:ahLst/>
                <a:cxnLst/>
                <a:rect l="l" t="t" r="r" b="b"/>
                <a:pathLst>
                  <a:path w="298988" h="597974" extrusionOk="0">
                    <a:moveTo>
                      <a:pt x="1" y="0"/>
                    </a:moveTo>
                    <a:cubicBezTo>
                      <a:pt x="165127" y="0"/>
                      <a:pt x="298988" y="133861"/>
                      <a:pt x="298988" y="298987"/>
                    </a:cubicBezTo>
                    <a:cubicBezTo>
                      <a:pt x="298988" y="464113"/>
                      <a:pt x="165127" y="597974"/>
                      <a:pt x="1" y="597974"/>
                    </a:cubicBezTo>
                    <a:lnTo>
                      <a:pt x="0" y="597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D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5" name="Google Shape;1205;p1"/>
            <p:cNvGrpSpPr/>
            <p:nvPr/>
          </p:nvGrpSpPr>
          <p:grpSpPr>
            <a:xfrm>
              <a:off x="3163464" y="4866005"/>
              <a:ext cx="3269568" cy="769441"/>
              <a:chOff x="3163464" y="4866005"/>
              <a:chExt cx="3269568" cy="769441"/>
            </a:xfrm>
          </p:grpSpPr>
          <p:sp>
            <p:nvSpPr>
              <p:cNvPr id="1206" name="Google Shape;1206;p1"/>
              <p:cNvSpPr/>
              <p:nvPr/>
            </p:nvSpPr>
            <p:spPr>
              <a:xfrm>
                <a:off x="3163464" y="4951739"/>
                <a:ext cx="597973" cy="59797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7" name="Google Shape;1207;p1"/>
              <p:cNvSpPr/>
              <p:nvPr/>
            </p:nvSpPr>
            <p:spPr>
              <a:xfrm>
                <a:off x="3462450" y="4951738"/>
                <a:ext cx="298988" cy="597974"/>
              </a:xfrm>
              <a:custGeom>
                <a:avLst/>
                <a:gdLst/>
                <a:ahLst/>
                <a:cxnLst/>
                <a:rect l="l" t="t" r="r" b="b"/>
                <a:pathLst>
                  <a:path w="298988" h="597974" extrusionOk="0">
                    <a:moveTo>
                      <a:pt x="1" y="0"/>
                    </a:moveTo>
                    <a:cubicBezTo>
                      <a:pt x="165127" y="0"/>
                      <a:pt x="298988" y="133861"/>
                      <a:pt x="298988" y="298987"/>
                    </a:cubicBezTo>
                    <a:cubicBezTo>
                      <a:pt x="298988" y="464113"/>
                      <a:pt x="165127" y="597974"/>
                      <a:pt x="1" y="597974"/>
                    </a:cubicBezTo>
                    <a:lnTo>
                      <a:pt x="0" y="597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80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1"/>
              <p:cNvSpPr txBox="1"/>
              <p:nvPr/>
            </p:nvSpPr>
            <p:spPr>
              <a:xfrm>
                <a:off x="4003840" y="4866005"/>
                <a:ext cx="242919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Green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369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67-12-100-1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97-166-14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#61A60E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(AA Compliant)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35-128-10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#23800A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1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Diagram Guidelines</a:t>
            </a:r>
            <a:endParaRPr/>
          </a:p>
        </p:txBody>
      </p:sp>
      <p:sp>
        <p:nvSpPr>
          <p:cNvPr id="1214" name="Google Shape;1214;p111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5" name="Google Shape;1215;p111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4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/>
              <a:t>Mac Color File: </a:t>
            </a:r>
            <a:r>
              <a:rPr lang="en-US" sz="1600" u="sng">
                <a:solidFill>
                  <a:schemeClr val="hlink"/>
                </a:solidFill>
                <a:hlinkClick r:id="rId3"/>
              </a:rPr>
              <a:t>https://drive.google.com/open?id=11YdRuhuNcH-bj0ik4mg-HMfJQeGO8buZ&amp;usp=drive_fs</a:t>
            </a:r>
            <a:br>
              <a:rPr lang="en-US" sz="1600"/>
            </a:br>
            <a:endParaRPr/>
          </a:p>
        </p:txBody>
      </p:sp>
      <p:sp>
        <p:nvSpPr>
          <p:cNvPr id="1216" name="Google Shape;1216;p111"/>
          <p:cNvSpPr txBox="1"/>
          <p:nvPr/>
        </p:nvSpPr>
        <p:spPr>
          <a:xfrm>
            <a:off x="592868" y="2188396"/>
            <a:ext cx="5253128" cy="375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Corporate Colors</a:t>
            </a:r>
            <a:endParaRPr sz="14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= Broadcom Yellow  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 = Broadcom Green  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Virtual Infrastructure = Broadcom Azure (Blue)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and Governance = Broadcom Purple  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Protection and Recovery = Broadcom Red  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Objects (icons) = black and white  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lines = Black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111"/>
          <p:cNvSpPr txBox="1"/>
          <p:nvPr/>
        </p:nvSpPr>
        <p:spPr>
          <a:xfrm>
            <a:off x="6005637" y="2188396"/>
            <a:ext cx="5583668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Styles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Boxes = Square corners (not curved)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 Width: 1pt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 Style: Solid or Style 3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Outer-most box (EG: Datacenter) must have white background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Solid Colors (no gradients)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product icons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shadows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 Text: Aligned as heading (not separate free-text object)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 = Metropolis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111"/>
          <p:cNvSpPr/>
          <p:nvPr/>
        </p:nvSpPr>
        <p:spPr>
          <a:xfrm>
            <a:off x="4824064" y="2700188"/>
            <a:ext cx="734502" cy="167005"/>
          </a:xfrm>
          <a:prstGeom prst="rect">
            <a:avLst/>
          </a:prstGeom>
          <a:solidFill>
            <a:srgbClr val="F3BA16"/>
          </a:solidFill>
          <a:ln w="254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11"/>
          <p:cNvSpPr/>
          <p:nvPr/>
        </p:nvSpPr>
        <p:spPr>
          <a:xfrm>
            <a:off x="4824064" y="3129104"/>
            <a:ext cx="734502" cy="167005"/>
          </a:xfrm>
          <a:prstGeom prst="rect">
            <a:avLst/>
          </a:prstGeom>
          <a:solidFill>
            <a:srgbClr val="61A60E"/>
          </a:solidFill>
          <a:ln w="25400" cap="flat" cmpd="sng">
            <a:solidFill>
              <a:srgbClr val="61A6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111"/>
          <p:cNvSpPr/>
          <p:nvPr/>
        </p:nvSpPr>
        <p:spPr>
          <a:xfrm>
            <a:off x="4824064" y="3548119"/>
            <a:ext cx="734502" cy="167005"/>
          </a:xfrm>
          <a:prstGeom prst="rect">
            <a:avLst/>
          </a:prstGeom>
          <a:solidFill>
            <a:srgbClr val="0098C7"/>
          </a:solidFill>
          <a:ln w="254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111"/>
          <p:cNvSpPr/>
          <p:nvPr/>
        </p:nvSpPr>
        <p:spPr>
          <a:xfrm>
            <a:off x="4824064" y="3977035"/>
            <a:ext cx="734502" cy="167005"/>
          </a:xfrm>
          <a:prstGeom prst="rect">
            <a:avLst/>
          </a:prstGeom>
          <a:solidFill>
            <a:srgbClr val="6C4B94"/>
          </a:solidFill>
          <a:ln w="25400" cap="flat" cmpd="sng">
            <a:solidFill>
              <a:srgbClr val="6C4B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111"/>
          <p:cNvSpPr/>
          <p:nvPr/>
        </p:nvSpPr>
        <p:spPr>
          <a:xfrm>
            <a:off x="4824064" y="4404699"/>
            <a:ext cx="734502" cy="167005"/>
          </a:xfrm>
          <a:prstGeom prst="rect">
            <a:avLst/>
          </a:prstGeom>
          <a:solidFill>
            <a:srgbClr val="CC092F"/>
          </a:solidFill>
          <a:ln w="25400" cap="flat" cmpd="sng">
            <a:solidFill>
              <a:srgbClr val="CC09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12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Design Blueprints</a:t>
            </a:r>
            <a:endParaRPr/>
          </a:p>
        </p:txBody>
      </p:sp>
      <p:sp>
        <p:nvSpPr>
          <p:cNvPr id="1228" name="Google Shape;1228;p112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4"/>
          <p:cNvSpPr/>
          <p:nvPr/>
        </p:nvSpPr>
        <p:spPr>
          <a:xfrm>
            <a:off x="590320" y="982561"/>
            <a:ext cx="11176142" cy="524005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 dirty="0">
                <a:solidFill>
                  <a:schemeClr val="dk2"/>
                </a:solidFill>
                <a:latin typeface="Metropolis" pitchFamily="2" charset="77"/>
              </a:rPr>
              <a:t>Region A – Site 1</a:t>
            </a:r>
            <a:endParaRPr sz="1866" dirty="0">
              <a:latin typeface="Metropolis" pitchFamily="2" charset="77"/>
            </a:endParaRPr>
          </a:p>
        </p:txBody>
      </p:sp>
      <p:sp>
        <p:nvSpPr>
          <p:cNvPr id="1237" name="Google Shape;1237;p4"/>
          <p:cNvSpPr/>
          <p:nvPr/>
        </p:nvSpPr>
        <p:spPr>
          <a:xfrm>
            <a:off x="934830" y="1919256"/>
            <a:ext cx="10370659" cy="2540045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1</a:t>
            </a:r>
            <a:endParaRPr sz="1866">
              <a:latin typeface="Metropolis" pitchFamily="2" charset="77"/>
            </a:endParaRPr>
          </a:p>
        </p:txBody>
      </p:sp>
      <p:sp>
        <p:nvSpPr>
          <p:cNvPr id="1238" name="Google Shape;1238;p4"/>
          <p:cNvSpPr/>
          <p:nvPr/>
        </p:nvSpPr>
        <p:spPr>
          <a:xfrm>
            <a:off x="934830" y="1305934"/>
            <a:ext cx="10370659" cy="215944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Self-Service with VCF Automation</a:t>
            </a:r>
            <a:endParaRPr sz="1866">
              <a:latin typeface="Metropolis" pitchFamily="2" charset="77"/>
            </a:endParaRPr>
          </a:p>
        </p:txBody>
      </p:sp>
      <p:sp>
        <p:nvSpPr>
          <p:cNvPr id="1239" name="Google Shape;1239;p4"/>
          <p:cNvSpPr/>
          <p:nvPr/>
        </p:nvSpPr>
        <p:spPr>
          <a:xfrm>
            <a:off x="934830" y="1603547"/>
            <a:ext cx="10370659" cy="215944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240" name="Google Shape;1240;p4"/>
          <p:cNvSpPr/>
          <p:nvPr/>
        </p:nvSpPr>
        <p:spPr>
          <a:xfrm>
            <a:off x="1032164" y="2182819"/>
            <a:ext cx="10153331" cy="1438967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 1</a:t>
            </a:r>
            <a:endParaRPr sz="1866">
              <a:latin typeface="Metropolis" pitchFamily="2" charset="77"/>
            </a:endParaRPr>
          </a:p>
        </p:txBody>
      </p:sp>
      <p:sp>
        <p:nvSpPr>
          <p:cNvPr id="1241" name="Google Shape;1241;p4"/>
          <p:cNvSpPr/>
          <p:nvPr/>
        </p:nvSpPr>
        <p:spPr>
          <a:xfrm>
            <a:off x="1655538" y="2505858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vCenter</a:t>
            </a:r>
            <a:endParaRPr sz="1866">
              <a:latin typeface="Metropolis" pitchFamily="2" charset="77"/>
            </a:endParaRPr>
          </a:p>
        </p:txBody>
      </p:sp>
      <p:sp>
        <p:nvSpPr>
          <p:cNvPr id="1242" name="Google Shape;1242;p4"/>
          <p:cNvSpPr/>
          <p:nvPr/>
        </p:nvSpPr>
        <p:spPr>
          <a:xfrm>
            <a:off x="1655539" y="3037798"/>
            <a:ext cx="1097238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6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NSX Manager</a:t>
            </a:r>
            <a:endParaRPr sz="1866">
              <a:latin typeface="Metropolis" pitchFamily="2" charset="77"/>
            </a:endParaRPr>
          </a:p>
        </p:txBody>
      </p:sp>
      <p:sp>
        <p:nvSpPr>
          <p:cNvPr id="1243" name="Google Shape;1243;p4"/>
          <p:cNvSpPr/>
          <p:nvPr/>
        </p:nvSpPr>
        <p:spPr>
          <a:xfrm>
            <a:off x="9409455" y="2505858"/>
            <a:ext cx="1097238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6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244" name="Google Shape;1244;p4"/>
          <p:cNvSpPr/>
          <p:nvPr/>
        </p:nvSpPr>
        <p:spPr>
          <a:xfrm>
            <a:off x="9409455" y="3037798"/>
            <a:ext cx="1097238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6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VCF Automation</a:t>
            </a:r>
            <a:endParaRPr sz="1866">
              <a:latin typeface="Metropolis" pitchFamily="2" charset="77"/>
            </a:endParaRPr>
          </a:p>
        </p:txBody>
      </p:sp>
      <p:sp>
        <p:nvSpPr>
          <p:cNvPr id="1245" name="Google Shape;1245;p4"/>
          <p:cNvSpPr/>
          <p:nvPr/>
        </p:nvSpPr>
        <p:spPr>
          <a:xfrm>
            <a:off x="1032166" y="3711517"/>
            <a:ext cx="10153331" cy="6577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 2</a:t>
            </a:r>
            <a:endParaRPr sz="1866">
              <a:latin typeface="Metropolis" pitchFamily="2" charset="77"/>
            </a:endParaRPr>
          </a:p>
        </p:txBody>
      </p:sp>
      <p:sp>
        <p:nvSpPr>
          <p:cNvPr id="1246" name="Google Shape;1246;p4"/>
          <p:cNvSpPr/>
          <p:nvPr/>
        </p:nvSpPr>
        <p:spPr>
          <a:xfrm>
            <a:off x="1655538" y="3982492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247" name="Google Shape;1247;p4"/>
          <p:cNvSpPr/>
          <p:nvPr/>
        </p:nvSpPr>
        <p:spPr>
          <a:xfrm>
            <a:off x="2818203" y="3982492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248" name="Google Shape;1248;p4"/>
          <p:cNvSpPr/>
          <p:nvPr/>
        </p:nvSpPr>
        <p:spPr>
          <a:xfrm>
            <a:off x="934830" y="4656737"/>
            <a:ext cx="10370659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Storage Site A1</a:t>
            </a:r>
            <a:endParaRPr sz="1866">
              <a:latin typeface="Metropolis" pitchFamily="2" charset="77"/>
            </a:endParaRPr>
          </a:p>
        </p:txBody>
      </p:sp>
      <p:sp>
        <p:nvSpPr>
          <p:cNvPr id="1249" name="Google Shape;1249;p4"/>
          <p:cNvSpPr/>
          <p:nvPr/>
        </p:nvSpPr>
        <p:spPr>
          <a:xfrm>
            <a:off x="934830" y="5218346"/>
            <a:ext cx="10370659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sp>
        <p:nvSpPr>
          <p:cNvPr id="1250" name="Google Shape;1250;p4"/>
          <p:cNvSpPr/>
          <p:nvPr/>
        </p:nvSpPr>
        <p:spPr>
          <a:xfrm>
            <a:off x="934828" y="5778713"/>
            <a:ext cx="10370656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333">
              <a:latin typeface="Metropolis" pitchFamily="2" charset="77"/>
            </a:endParaRPr>
          </a:p>
        </p:txBody>
      </p:sp>
      <p:sp>
        <p:nvSpPr>
          <p:cNvPr id="1251" name="Google Shape;1251;p4"/>
          <p:cNvSpPr/>
          <p:nvPr/>
        </p:nvSpPr>
        <p:spPr>
          <a:xfrm>
            <a:off x="5595294" y="3982492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Supervisor VM</a:t>
            </a:r>
            <a:endParaRPr sz="1866">
              <a:latin typeface="Metropolis" pitchFamily="2" charset="77"/>
            </a:endParaRPr>
          </a:p>
        </p:txBody>
      </p:sp>
      <p:sp>
        <p:nvSpPr>
          <p:cNvPr id="1252" name="Google Shape;1252;p4"/>
          <p:cNvSpPr txBox="1"/>
          <p:nvPr/>
        </p:nvSpPr>
        <p:spPr>
          <a:xfrm>
            <a:off x="9219426" y="4037972"/>
            <a:ext cx="205559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SzPts val="600"/>
            </a:pPr>
            <a:r>
              <a:rPr lang="en" sz="800">
                <a:solidFill>
                  <a:schemeClr val="dk2"/>
                </a:solidFill>
                <a:latin typeface="Metropolis" pitchFamily="2" charset="77"/>
              </a:rPr>
              <a:t>*Second cluster required for VCF Automation All Apps Organization</a:t>
            </a:r>
            <a:endParaRPr sz="1866">
              <a:latin typeface="Metropoli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2DAAC-F363-5F66-643E-8C95961A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VCF </a:t>
            </a:r>
            <a:r>
              <a:rPr lang="en-GB" sz="2400" dirty="0"/>
              <a:t>Fleet in a Single Site with Minimal Footprint v1.1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98"/>
          <p:cNvSpPr/>
          <p:nvPr/>
        </p:nvSpPr>
        <p:spPr>
          <a:xfrm>
            <a:off x="579809" y="940521"/>
            <a:ext cx="11176142" cy="524005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A – Site 1</a:t>
            </a:r>
            <a:endParaRPr sz="1866">
              <a:latin typeface="Metropolis" pitchFamily="2" charset="77"/>
            </a:endParaRPr>
          </a:p>
        </p:txBody>
      </p:sp>
      <p:sp>
        <p:nvSpPr>
          <p:cNvPr id="1258" name="Google Shape;1258;p98"/>
          <p:cNvSpPr/>
          <p:nvPr/>
        </p:nvSpPr>
        <p:spPr>
          <a:xfrm>
            <a:off x="924319" y="1877216"/>
            <a:ext cx="10370659" cy="2540045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1</a:t>
            </a:r>
            <a:endParaRPr sz="1866">
              <a:latin typeface="Metropolis" pitchFamily="2" charset="77"/>
            </a:endParaRPr>
          </a:p>
        </p:txBody>
      </p:sp>
      <p:sp>
        <p:nvSpPr>
          <p:cNvPr id="1259" name="Google Shape;1259;p98"/>
          <p:cNvSpPr/>
          <p:nvPr/>
        </p:nvSpPr>
        <p:spPr>
          <a:xfrm>
            <a:off x="924319" y="1263894"/>
            <a:ext cx="10370659" cy="215944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Self-Service with VCF Automation</a:t>
            </a:r>
            <a:endParaRPr sz="1866">
              <a:latin typeface="Metropolis" pitchFamily="2" charset="77"/>
            </a:endParaRPr>
          </a:p>
        </p:txBody>
      </p:sp>
      <p:sp>
        <p:nvSpPr>
          <p:cNvPr id="1260" name="Google Shape;1260;p98"/>
          <p:cNvSpPr/>
          <p:nvPr/>
        </p:nvSpPr>
        <p:spPr>
          <a:xfrm>
            <a:off x="924319" y="1561507"/>
            <a:ext cx="10370659" cy="215944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261" name="Google Shape;1261;p98"/>
          <p:cNvSpPr/>
          <p:nvPr/>
        </p:nvSpPr>
        <p:spPr>
          <a:xfrm>
            <a:off x="1021653" y="2140779"/>
            <a:ext cx="10153331" cy="1438967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262" name="Google Shape;1262;p98"/>
          <p:cNvSpPr/>
          <p:nvPr/>
        </p:nvSpPr>
        <p:spPr>
          <a:xfrm>
            <a:off x="1645027" y="2463818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 dirty="0" err="1">
                <a:solidFill>
                  <a:schemeClr val="dk1"/>
                </a:solidFill>
                <a:latin typeface="Metropolis" pitchFamily="2" charset="77"/>
              </a:rPr>
              <a:t>Mgmt</a:t>
            </a:r>
            <a:r>
              <a:rPr lang="en" sz="933" dirty="0">
                <a:solidFill>
                  <a:schemeClr val="dk1"/>
                </a:solidFill>
                <a:latin typeface="Metropolis" pitchFamily="2" charset="77"/>
              </a:rPr>
              <a:t> vCenter</a:t>
            </a:r>
            <a:endParaRPr sz="1866" dirty="0">
              <a:latin typeface="Metropolis" pitchFamily="2" charset="77"/>
            </a:endParaRPr>
          </a:p>
        </p:txBody>
      </p:sp>
      <p:grpSp>
        <p:nvGrpSpPr>
          <p:cNvPr id="1263" name="Google Shape;1263;p98"/>
          <p:cNvGrpSpPr/>
          <p:nvPr/>
        </p:nvGrpSpPr>
        <p:grpSpPr>
          <a:xfrm>
            <a:off x="1645027" y="2995759"/>
            <a:ext cx="1192468" cy="459391"/>
            <a:chOff x="1817546" y="2406224"/>
            <a:chExt cx="894584" cy="344633"/>
          </a:xfrm>
        </p:grpSpPr>
        <p:sp>
          <p:nvSpPr>
            <p:cNvPr id="1264" name="Google Shape;1264;p98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65" name="Google Shape;1265;p98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66" name="Google Shape;1266;p98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Mgmt NSX Manager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267" name="Google Shape;1267;p98"/>
          <p:cNvGrpSpPr/>
          <p:nvPr/>
        </p:nvGrpSpPr>
        <p:grpSpPr>
          <a:xfrm>
            <a:off x="9376650" y="2463819"/>
            <a:ext cx="1192468" cy="459391"/>
            <a:chOff x="1817546" y="2406224"/>
            <a:chExt cx="894584" cy="344633"/>
          </a:xfrm>
        </p:grpSpPr>
        <p:sp>
          <p:nvSpPr>
            <p:cNvPr id="1268" name="Google Shape;1268;p98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69" name="Google Shape;1269;p98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70" name="Google Shape;1270;p98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Operations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271" name="Google Shape;1271;p98"/>
          <p:cNvGrpSpPr/>
          <p:nvPr/>
        </p:nvGrpSpPr>
        <p:grpSpPr>
          <a:xfrm>
            <a:off x="9398943" y="2995759"/>
            <a:ext cx="1192468" cy="459391"/>
            <a:chOff x="1817546" y="2406224"/>
            <a:chExt cx="894584" cy="344633"/>
          </a:xfrm>
        </p:grpSpPr>
        <p:sp>
          <p:nvSpPr>
            <p:cNvPr id="1272" name="Google Shape;1272;p98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73" name="Google Shape;1273;p98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74" name="Google Shape;1274;p98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Automation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275" name="Google Shape;1275;p98"/>
          <p:cNvSpPr/>
          <p:nvPr/>
        </p:nvSpPr>
        <p:spPr>
          <a:xfrm>
            <a:off x="5510839" y="2463818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 dirty="0">
                <a:solidFill>
                  <a:schemeClr val="dk1"/>
                </a:solidFill>
                <a:latin typeface="Metropolis" pitchFamily="2" charset="77"/>
              </a:rPr>
              <a:t>WLD vCenter</a:t>
            </a:r>
            <a:endParaRPr sz="1866" dirty="0">
              <a:latin typeface="Metropolis" pitchFamily="2" charset="77"/>
            </a:endParaRPr>
          </a:p>
        </p:txBody>
      </p:sp>
      <p:grpSp>
        <p:nvGrpSpPr>
          <p:cNvPr id="1276" name="Google Shape;1276;p98"/>
          <p:cNvGrpSpPr/>
          <p:nvPr/>
        </p:nvGrpSpPr>
        <p:grpSpPr>
          <a:xfrm>
            <a:off x="5521985" y="2995759"/>
            <a:ext cx="1192468" cy="459391"/>
            <a:chOff x="1817546" y="2406224"/>
            <a:chExt cx="894584" cy="344633"/>
          </a:xfrm>
        </p:grpSpPr>
        <p:sp>
          <p:nvSpPr>
            <p:cNvPr id="1277" name="Google Shape;1277;p98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78" name="Google Shape;1278;p98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79" name="Google Shape;1279;p98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WLD NSX Manager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280" name="Google Shape;1280;p98"/>
          <p:cNvSpPr/>
          <p:nvPr/>
        </p:nvSpPr>
        <p:spPr>
          <a:xfrm>
            <a:off x="1021655" y="3669477"/>
            <a:ext cx="10153331" cy="6577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Workload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281" name="Google Shape;1281;p98"/>
          <p:cNvSpPr/>
          <p:nvPr/>
        </p:nvSpPr>
        <p:spPr>
          <a:xfrm>
            <a:off x="5598885" y="3933610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Supervisor VM</a:t>
            </a:r>
            <a:endParaRPr sz="1866">
              <a:latin typeface="Metropolis" pitchFamily="2" charset="77"/>
            </a:endParaRPr>
          </a:p>
        </p:txBody>
      </p:sp>
      <p:sp>
        <p:nvSpPr>
          <p:cNvPr id="1282" name="Google Shape;1282;p98"/>
          <p:cNvSpPr/>
          <p:nvPr/>
        </p:nvSpPr>
        <p:spPr>
          <a:xfrm>
            <a:off x="1645027" y="3953830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283" name="Google Shape;1283;p98"/>
          <p:cNvSpPr/>
          <p:nvPr/>
        </p:nvSpPr>
        <p:spPr>
          <a:xfrm>
            <a:off x="3956124" y="3933610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Supervisor VM</a:t>
            </a:r>
            <a:endParaRPr sz="1866">
              <a:latin typeface="Metropolis" pitchFamily="2" charset="77"/>
            </a:endParaRPr>
          </a:p>
        </p:txBody>
      </p:sp>
      <p:sp>
        <p:nvSpPr>
          <p:cNvPr id="1284" name="Google Shape;1284;p98"/>
          <p:cNvSpPr/>
          <p:nvPr/>
        </p:nvSpPr>
        <p:spPr>
          <a:xfrm>
            <a:off x="9600357" y="3942755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285" name="Google Shape;1285;p98"/>
          <p:cNvSpPr/>
          <p:nvPr/>
        </p:nvSpPr>
        <p:spPr>
          <a:xfrm>
            <a:off x="7241648" y="3933610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Supervisor VM</a:t>
            </a:r>
            <a:endParaRPr sz="1866">
              <a:latin typeface="Metropolis" pitchFamily="2" charset="77"/>
            </a:endParaRPr>
          </a:p>
        </p:txBody>
      </p:sp>
      <p:sp>
        <p:nvSpPr>
          <p:cNvPr id="1286" name="Google Shape;1286;p98"/>
          <p:cNvSpPr/>
          <p:nvPr/>
        </p:nvSpPr>
        <p:spPr>
          <a:xfrm>
            <a:off x="924319" y="4614697"/>
            <a:ext cx="10370659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Storage Site A1</a:t>
            </a:r>
            <a:endParaRPr sz="1866">
              <a:latin typeface="Metropolis" pitchFamily="2" charset="77"/>
            </a:endParaRPr>
          </a:p>
        </p:txBody>
      </p:sp>
      <p:sp>
        <p:nvSpPr>
          <p:cNvPr id="1287" name="Google Shape;1287;p98"/>
          <p:cNvSpPr/>
          <p:nvPr/>
        </p:nvSpPr>
        <p:spPr>
          <a:xfrm>
            <a:off x="924319" y="5176306"/>
            <a:ext cx="10370659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sp>
        <p:nvSpPr>
          <p:cNvPr id="1288" name="Google Shape;1288;p98"/>
          <p:cNvSpPr/>
          <p:nvPr/>
        </p:nvSpPr>
        <p:spPr>
          <a:xfrm>
            <a:off x="924317" y="5736673"/>
            <a:ext cx="10370656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333">
              <a:latin typeface="Metropoli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29FA3-6BB4-7B93-E8CF-2E9F5E59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VCF </a:t>
            </a:r>
            <a:r>
              <a:rPr lang="en-GB" sz="2400" dirty="0"/>
              <a:t>Fleet in a Single Site v1.1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4;p99">
            <a:extLst>
              <a:ext uri="{FF2B5EF4-FFF2-40B4-BE49-F238E27FC236}">
                <a16:creationId xmlns:a16="http://schemas.microsoft.com/office/drawing/2014/main" id="{A3E57E93-2430-EB6C-B959-6A759BCACA67}"/>
              </a:ext>
            </a:extLst>
          </p:cNvPr>
          <p:cNvSpPr/>
          <p:nvPr/>
        </p:nvSpPr>
        <p:spPr>
          <a:xfrm>
            <a:off x="534065" y="914982"/>
            <a:ext cx="11046748" cy="5611941"/>
          </a:xfrm>
          <a:prstGeom prst="rect">
            <a:avLst/>
          </a:prstGeom>
          <a:solidFill>
            <a:schemeClr val="lt1"/>
          </a:solidFill>
          <a:ln w="12700" cap="flat" cmpd="sng">
            <a:noFill/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endParaRPr sz="1866" dirty="0">
              <a:latin typeface="Metropolis" pitchFamily="2" charset="77"/>
            </a:endParaRPr>
          </a:p>
        </p:txBody>
      </p:sp>
      <p:sp>
        <p:nvSpPr>
          <p:cNvPr id="1293" name="Google Shape;1293;p99"/>
          <p:cNvSpPr/>
          <p:nvPr/>
        </p:nvSpPr>
        <p:spPr>
          <a:xfrm>
            <a:off x="6271462" y="960278"/>
            <a:ext cx="5210295" cy="54849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 dirty="0">
                <a:solidFill>
                  <a:schemeClr val="dk2"/>
                </a:solidFill>
                <a:latin typeface="Metropolis" pitchFamily="2" charset="77"/>
              </a:rPr>
              <a:t>Region A – Site 2</a:t>
            </a:r>
            <a:endParaRPr sz="1866" dirty="0">
              <a:latin typeface="Metropolis" pitchFamily="2" charset="77"/>
            </a:endParaRPr>
          </a:p>
        </p:txBody>
      </p:sp>
      <p:sp>
        <p:nvSpPr>
          <p:cNvPr id="1294" name="Google Shape;1294;p99"/>
          <p:cNvSpPr/>
          <p:nvPr/>
        </p:nvSpPr>
        <p:spPr>
          <a:xfrm>
            <a:off x="579809" y="960278"/>
            <a:ext cx="5210295" cy="54849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A – Site 1</a:t>
            </a:r>
            <a:endParaRPr sz="1866">
              <a:latin typeface="Metropolis" pitchFamily="2" charset="77"/>
            </a:endParaRPr>
          </a:p>
        </p:txBody>
      </p:sp>
      <p:sp>
        <p:nvSpPr>
          <p:cNvPr id="1295" name="Google Shape;1295;p99"/>
          <p:cNvSpPr/>
          <p:nvPr/>
        </p:nvSpPr>
        <p:spPr>
          <a:xfrm>
            <a:off x="924319" y="1271398"/>
            <a:ext cx="10370659" cy="2159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 dirty="0">
                <a:solidFill>
                  <a:schemeClr val="dk2"/>
                </a:solidFill>
                <a:latin typeface="Metropolis" pitchFamily="2" charset="77"/>
              </a:rPr>
              <a:t>Self-Service with VCF Automation</a:t>
            </a:r>
            <a:endParaRPr sz="1866" dirty="0">
              <a:latin typeface="Metropolis" pitchFamily="2" charset="77"/>
            </a:endParaRPr>
          </a:p>
        </p:txBody>
      </p:sp>
      <p:sp>
        <p:nvSpPr>
          <p:cNvPr id="1296" name="Google Shape;1296;p99"/>
          <p:cNvSpPr/>
          <p:nvPr/>
        </p:nvSpPr>
        <p:spPr>
          <a:xfrm>
            <a:off x="924319" y="1568431"/>
            <a:ext cx="10370659" cy="2159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297" name="Google Shape;1297;p99"/>
          <p:cNvSpPr/>
          <p:nvPr/>
        </p:nvSpPr>
        <p:spPr>
          <a:xfrm>
            <a:off x="924319" y="1923563"/>
            <a:ext cx="10370659" cy="2997698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1</a:t>
            </a:r>
            <a:endParaRPr sz="1866">
              <a:latin typeface="Metropolis" pitchFamily="2" charset="77"/>
            </a:endParaRPr>
          </a:p>
        </p:txBody>
      </p:sp>
      <p:sp>
        <p:nvSpPr>
          <p:cNvPr id="1298" name="Google Shape;1298;p99"/>
          <p:cNvSpPr/>
          <p:nvPr/>
        </p:nvSpPr>
        <p:spPr>
          <a:xfrm>
            <a:off x="1068730" y="4031666"/>
            <a:ext cx="10077862" cy="7953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Workload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299" name="Google Shape;1299;p99"/>
          <p:cNvSpPr/>
          <p:nvPr/>
        </p:nvSpPr>
        <p:spPr>
          <a:xfrm>
            <a:off x="1068730" y="2270690"/>
            <a:ext cx="10077862" cy="16599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00" name="Google Shape;1300;p99"/>
          <p:cNvGrpSpPr/>
          <p:nvPr/>
        </p:nvGrpSpPr>
        <p:grpSpPr>
          <a:xfrm>
            <a:off x="5526496" y="4331925"/>
            <a:ext cx="1093611" cy="394385"/>
            <a:chOff x="1830239" y="3231368"/>
            <a:chExt cx="820422" cy="295866"/>
          </a:xfrm>
        </p:grpSpPr>
        <p:sp>
          <p:nvSpPr>
            <p:cNvPr id="1301" name="Google Shape;1301;p99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02" name="Google Shape;1302;p99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03" name="Google Shape;1303;p99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933">
                  <a:solidFill>
                    <a:schemeClr val="dk1"/>
                  </a:solidFill>
                  <a:latin typeface="Metropolis" pitchFamily="2" charset="77"/>
                </a:rPr>
                <a:t>Supervisor VM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04" name="Google Shape;1304;p99"/>
          <p:cNvSpPr/>
          <p:nvPr/>
        </p:nvSpPr>
        <p:spPr>
          <a:xfrm>
            <a:off x="1292709" y="2579000"/>
            <a:ext cx="3903406" cy="12610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305" name="Google Shape;1305;p99"/>
          <p:cNvSpPr/>
          <p:nvPr/>
        </p:nvSpPr>
        <p:spPr>
          <a:xfrm>
            <a:off x="1440748" y="2845264"/>
            <a:ext cx="1097237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Mgmt vCenter</a:t>
            </a:r>
            <a:endParaRPr sz="1866">
              <a:latin typeface="Metropolis" pitchFamily="2" charset="77"/>
            </a:endParaRPr>
          </a:p>
        </p:txBody>
      </p:sp>
      <p:sp>
        <p:nvSpPr>
          <p:cNvPr id="1306" name="Google Shape;1306;p99"/>
          <p:cNvSpPr/>
          <p:nvPr/>
        </p:nvSpPr>
        <p:spPr>
          <a:xfrm>
            <a:off x="1292709" y="4125631"/>
            <a:ext cx="1244666" cy="63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307" name="Google Shape;1307;p99"/>
          <p:cNvSpPr/>
          <p:nvPr/>
        </p:nvSpPr>
        <p:spPr>
          <a:xfrm>
            <a:off x="1440747" y="4348771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308" name="Google Shape;1308;p99"/>
          <p:cNvSpPr/>
          <p:nvPr/>
        </p:nvSpPr>
        <p:spPr>
          <a:xfrm>
            <a:off x="9654973" y="4088722"/>
            <a:ext cx="1244666" cy="63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309" name="Google Shape;1309;p99"/>
          <p:cNvSpPr/>
          <p:nvPr/>
        </p:nvSpPr>
        <p:spPr>
          <a:xfrm>
            <a:off x="9789797" y="4294409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310" name="Google Shape;1310;p99"/>
          <p:cNvSpPr/>
          <p:nvPr/>
        </p:nvSpPr>
        <p:spPr>
          <a:xfrm>
            <a:off x="6889336" y="2594009"/>
            <a:ext cx="4006779" cy="12460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Failover Capacity</a:t>
            </a:r>
            <a:endParaRPr sz="800">
              <a:latin typeface="Metropolis" pitchFamily="2" charset="77"/>
            </a:endParaRPr>
          </a:p>
        </p:txBody>
      </p:sp>
      <p:sp>
        <p:nvSpPr>
          <p:cNvPr id="1311" name="Google Shape;1311;p99"/>
          <p:cNvSpPr/>
          <p:nvPr/>
        </p:nvSpPr>
        <p:spPr>
          <a:xfrm>
            <a:off x="5206640" y="2993673"/>
            <a:ext cx="1682696" cy="49027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800"/>
            </a:pPr>
            <a:r>
              <a:rPr lang="en" sz="800">
                <a:latin typeface="Metropolis" pitchFamily="2" charset="77"/>
              </a:rPr>
              <a:t>vSphere HA</a:t>
            </a:r>
            <a:endParaRPr sz="800">
              <a:latin typeface="Metropolis" pitchFamily="2" charset="77"/>
            </a:endParaRPr>
          </a:p>
        </p:txBody>
      </p:sp>
      <p:sp>
        <p:nvSpPr>
          <p:cNvPr id="1312" name="Google Shape;1312;p99"/>
          <p:cNvSpPr/>
          <p:nvPr/>
        </p:nvSpPr>
        <p:spPr>
          <a:xfrm>
            <a:off x="1068730" y="5608165"/>
            <a:ext cx="10051364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13" name="Google Shape;1313;p99"/>
          <p:cNvGrpSpPr/>
          <p:nvPr/>
        </p:nvGrpSpPr>
        <p:grpSpPr>
          <a:xfrm>
            <a:off x="1442561" y="3306812"/>
            <a:ext cx="1158751" cy="417876"/>
            <a:chOff x="1830239" y="3231368"/>
            <a:chExt cx="820422" cy="295866"/>
          </a:xfrm>
        </p:grpSpPr>
        <p:sp>
          <p:nvSpPr>
            <p:cNvPr id="1314" name="Google Shape;1314;p99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15" name="Google Shape;1315;p99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16" name="Google Shape;1316;p99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Mgmt NSX Manager Cluster</a:t>
              </a:r>
              <a:endParaRPr sz="1600">
                <a:latin typeface="Metropolis" pitchFamily="2" charset="77"/>
              </a:endParaRPr>
            </a:p>
          </p:txBody>
        </p:sp>
      </p:grpSp>
      <p:grpSp>
        <p:nvGrpSpPr>
          <p:cNvPr id="1317" name="Google Shape;1317;p99"/>
          <p:cNvGrpSpPr/>
          <p:nvPr/>
        </p:nvGrpSpPr>
        <p:grpSpPr>
          <a:xfrm>
            <a:off x="5422232" y="5964180"/>
            <a:ext cx="1256943" cy="369332"/>
            <a:chOff x="2435294" y="4468495"/>
            <a:chExt cx="942953" cy="277072"/>
          </a:xfrm>
        </p:grpSpPr>
        <p:sp>
          <p:nvSpPr>
            <p:cNvPr id="1318" name="Google Shape;1318;p99"/>
            <p:cNvSpPr txBox="1"/>
            <p:nvPr/>
          </p:nvSpPr>
          <p:spPr>
            <a:xfrm>
              <a:off x="2435294" y="4468495"/>
              <a:ext cx="942953" cy="2770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Layer 2 &amp;</a:t>
              </a:r>
            </a:p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Layer 3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319" name="Google Shape;1319;p99"/>
            <p:cNvCxnSpPr>
              <a:stCxn id="1318" idx="1"/>
              <a:endCxn id="1318" idx="3"/>
            </p:cNvCxnSpPr>
            <p:nvPr/>
          </p:nvCxnSpPr>
          <p:spPr>
            <a:xfrm>
              <a:off x="2435294" y="4607031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320" name="Google Shape;1320;p99"/>
          <p:cNvGrpSpPr/>
          <p:nvPr/>
        </p:nvGrpSpPr>
        <p:grpSpPr>
          <a:xfrm>
            <a:off x="5432087" y="5055463"/>
            <a:ext cx="1256943" cy="369332"/>
            <a:chOff x="2435293" y="4696196"/>
            <a:chExt cx="942953" cy="277071"/>
          </a:xfrm>
        </p:grpSpPr>
        <p:sp>
          <p:nvSpPr>
            <p:cNvPr id="1321" name="Google Shape;1321;p99"/>
            <p:cNvSpPr txBox="1"/>
            <p:nvPr/>
          </p:nvSpPr>
          <p:spPr>
            <a:xfrm>
              <a:off x="2435293" y="4696196"/>
              <a:ext cx="942953" cy="27707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Synchronous Replication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322" name="Google Shape;1322;p99"/>
            <p:cNvCxnSpPr/>
            <p:nvPr/>
          </p:nvCxnSpPr>
          <p:spPr>
            <a:xfrm>
              <a:off x="2435293" y="4850023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323" name="Google Shape;1323;p99"/>
          <p:cNvGrpSpPr/>
          <p:nvPr/>
        </p:nvGrpSpPr>
        <p:grpSpPr>
          <a:xfrm>
            <a:off x="3892917" y="2845264"/>
            <a:ext cx="1156499" cy="417491"/>
            <a:chOff x="1817546" y="2406224"/>
            <a:chExt cx="894584" cy="344633"/>
          </a:xfrm>
        </p:grpSpPr>
        <p:sp>
          <p:nvSpPr>
            <p:cNvPr id="1324" name="Google Shape;1324;p99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25" name="Google Shape;1325;p99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26" name="Google Shape;1326;p99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Operations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327" name="Google Shape;1327;p99"/>
          <p:cNvGrpSpPr/>
          <p:nvPr/>
        </p:nvGrpSpPr>
        <p:grpSpPr>
          <a:xfrm>
            <a:off x="3892917" y="3331704"/>
            <a:ext cx="1156499" cy="417491"/>
            <a:chOff x="1817546" y="2406224"/>
            <a:chExt cx="894584" cy="344633"/>
          </a:xfrm>
        </p:grpSpPr>
        <p:sp>
          <p:nvSpPr>
            <p:cNvPr id="1328" name="Google Shape;1328;p99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29" name="Google Shape;1329;p99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30" name="Google Shape;1330;p99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Automation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31" name="Google Shape;1331;p99"/>
          <p:cNvSpPr/>
          <p:nvPr/>
        </p:nvSpPr>
        <p:spPr>
          <a:xfrm>
            <a:off x="2634069" y="2845264"/>
            <a:ext cx="1097237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WLD vCenter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32" name="Google Shape;1332;p99"/>
          <p:cNvGrpSpPr/>
          <p:nvPr/>
        </p:nvGrpSpPr>
        <p:grpSpPr>
          <a:xfrm>
            <a:off x="2636925" y="3332979"/>
            <a:ext cx="1158178" cy="417670"/>
            <a:chOff x="1830239" y="3231368"/>
            <a:chExt cx="820422" cy="295866"/>
          </a:xfrm>
        </p:grpSpPr>
        <p:sp>
          <p:nvSpPr>
            <p:cNvPr id="1333" name="Google Shape;1333;p99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34" name="Google Shape;1334;p99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35" name="Google Shape;1335;p99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WLD NSX Manager Cluster</a:t>
              </a:r>
              <a:endParaRPr sz="1600">
                <a:latin typeface="Metropolis" pitchFamily="2" charset="77"/>
              </a:endParaRPr>
            </a:p>
          </p:txBody>
        </p:sp>
      </p:grpSp>
      <p:sp>
        <p:nvSpPr>
          <p:cNvPr id="1336" name="Google Shape;1336;p99"/>
          <p:cNvSpPr/>
          <p:nvPr/>
        </p:nvSpPr>
        <p:spPr>
          <a:xfrm>
            <a:off x="6690365" y="6010368"/>
            <a:ext cx="4429729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337" name="Google Shape;1337;p99"/>
          <p:cNvSpPr/>
          <p:nvPr/>
        </p:nvSpPr>
        <p:spPr>
          <a:xfrm>
            <a:off x="1068730" y="6010368"/>
            <a:ext cx="4353502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338" name="Google Shape;1338;p99"/>
          <p:cNvSpPr/>
          <p:nvPr/>
        </p:nvSpPr>
        <p:spPr>
          <a:xfrm>
            <a:off x="6690364" y="5112615"/>
            <a:ext cx="4429730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 Site A2</a:t>
            </a:r>
            <a:endParaRPr sz="1200">
              <a:latin typeface="Metropolis" pitchFamily="2" charset="77"/>
            </a:endParaRPr>
          </a:p>
        </p:txBody>
      </p:sp>
      <p:sp>
        <p:nvSpPr>
          <p:cNvPr id="1339" name="Google Shape;1339;p99"/>
          <p:cNvSpPr/>
          <p:nvPr/>
        </p:nvSpPr>
        <p:spPr>
          <a:xfrm>
            <a:off x="1068730" y="5112615"/>
            <a:ext cx="4353502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 Site A1</a:t>
            </a:r>
            <a:endParaRPr sz="1200">
              <a:latin typeface="Metropoli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ED372-FBCE-623A-9E77-3655346F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VCF Fleet with Multiple Sites in a Single Region v1.1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4;p99">
            <a:extLst>
              <a:ext uri="{FF2B5EF4-FFF2-40B4-BE49-F238E27FC236}">
                <a16:creationId xmlns:a16="http://schemas.microsoft.com/office/drawing/2014/main" id="{BBA48946-D880-A5D1-FACE-925FADD2EB0F}"/>
              </a:ext>
            </a:extLst>
          </p:cNvPr>
          <p:cNvSpPr/>
          <p:nvPr/>
        </p:nvSpPr>
        <p:spPr>
          <a:xfrm>
            <a:off x="534065" y="914982"/>
            <a:ext cx="11046748" cy="5762227"/>
          </a:xfrm>
          <a:prstGeom prst="rect">
            <a:avLst/>
          </a:prstGeom>
          <a:solidFill>
            <a:schemeClr val="lt1"/>
          </a:solidFill>
          <a:ln w="12700" cap="flat" cmpd="sng">
            <a:noFill/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endParaRPr sz="1866" dirty="0">
              <a:latin typeface="Metropolis" pitchFamily="2" charset="77"/>
            </a:endParaRPr>
          </a:p>
        </p:txBody>
      </p:sp>
      <p:sp>
        <p:nvSpPr>
          <p:cNvPr id="1344" name="Google Shape;1344;p100"/>
          <p:cNvSpPr/>
          <p:nvPr/>
        </p:nvSpPr>
        <p:spPr>
          <a:xfrm>
            <a:off x="6271462" y="939387"/>
            <a:ext cx="5210243" cy="55353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B – Site 2</a:t>
            </a:r>
            <a:endParaRPr sz="1333">
              <a:latin typeface="Metropolis" pitchFamily="2" charset="77"/>
            </a:endParaRPr>
          </a:p>
          <a:p>
            <a:pPr>
              <a:buSzPts val="1000"/>
            </a:pPr>
            <a:endParaRPr sz="1333">
              <a:latin typeface="Metropolis" pitchFamily="2" charset="77"/>
            </a:endParaRPr>
          </a:p>
        </p:txBody>
      </p:sp>
      <p:sp>
        <p:nvSpPr>
          <p:cNvPr id="1345" name="Google Shape;1345;p100"/>
          <p:cNvSpPr/>
          <p:nvPr/>
        </p:nvSpPr>
        <p:spPr>
          <a:xfrm>
            <a:off x="579809" y="939388"/>
            <a:ext cx="5210295" cy="55352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A – Site 1</a:t>
            </a:r>
            <a:endParaRPr sz="1866">
              <a:latin typeface="Metropolis" pitchFamily="2" charset="77"/>
            </a:endParaRPr>
          </a:p>
        </p:txBody>
      </p:sp>
      <p:sp>
        <p:nvSpPr>
          <p:cNvPr id="1346" name="Google Shape;1346;p100"/>
          <p:cNvSpPr/>
          <p:nvPr/>
        </p:nvSpPr>
        <p:spPr>
          <a:xfrm>
            <a:off x="902156" y="4075395"/>
            <a:ext cx="4398066" cy="73136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Workload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347" name="Google Shape;1347;p100"/>
          <p:cNvSpPr/>
          <p:nvPr/>
        </p:nvSpPr>
        <p:spPr>
          <a:xfrm>
            <a:off x="1142663" y="4351216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348" name="Google Shape;1348;p100"/>
          <p:cNvSpPr/>
          <p:nvPr/>
        </p:nvSpPr>
        <p:spPr>
          <a:xfrm>
            <a:off x="4153517" y="4361689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349" name="Google Shape;1349;p100"/>
          <p:cNvSpPr/>
          <p:nvPr/>
        </p:nvSpPr>
        <p:spPr>
          <a:xfrm>
            <a:off x="902156" y="5045862"/>
            <a:ext cx="4398066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Storage Site A1</a:t>
            </a:r>
            <a:endParaRPr sz="1866">
              <a:latin typeface="Metropolis" pitchFamily="2" charset="77"/>
            </a:endParaRPr>
          </a:p>
        </p:txBody>
      </p:sp>
      <p:sp>
        <p:nvSpPr>
          <p:cNvPr id="1350" name="Google Shape;1350;p100"/>
          <p:cNvSpPr/>
          <p:nvPr/>
        </p:nvSpPr>
        <p:spPr>
          <a:xfrm>
            <a:off x="6799534" y="5045862"/>
            <a:ext cx="4400454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Storage Site B2</a:t>
            </a:r>
            <a:endParaRPr sz="1866">
              <a:latin typeface="Metropolis" pitchFamily="2" charset="77"/>
            </a:endParaRPr>
          </a:p>
        </p:txBody>
      </p:sp>
      <p:sp>
        <p:nvSpPr>
          <p:cNvPr id="1351" name="Google Shape;1351;p100"/>
          <p:cNvSpPr/>
          <p:nvPr/>
        </p:nvSpPr>
        <p:spPr>
          <a:xfrm>
            <a:off x="902156" y="2364952"/>
            <a:ext cx="4398066" cy="16378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352" name="Google Shape;1352;p100"/>
          <p:cNvSpPr/>
          <p:nvPr/>
        </p:nvSpPr>
        <p:spPr>
          <a:xfrm>
            <a:off x="735947" y="1254569"/>
            <a:ext cx="10631577" cy="2703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Self-Service with VCF Automation</a:t>
            </a:r>
            <a:endParaRPr sz="1866">
              <a:latin typeface="Metropolis" pitchFamily="2" charset="77"/>
            </a:endParaRPr>
          </a:p>
        </p:txBody>
      </p:sp>
      <p:sp>
        <p:nvSpPr>
          <p:cNvPr id="1353" name="Google Shape;1353;p100"/>
          <p:cNvSpPr/>
          <p:nvPr/>
        </p:nvSpPr>
        <p:spPr>
          <a:xfrm>
            <a:off x="735947" y="1632160"/>
            <a:ext cx="10631577" cy="2703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354" name="Google Shape;1354;p100"/>
          <p:cNvSpPr txBox="1"/>
          <p:nvPr/>
        </p:nvSpPr>
        <p:spPr>
          <a:xfrm>
            <a:off x="7535437" y="6492543"/>
            <a:ext cx="214776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SzPts val="900"/>
            </a:pPr>
            <a:r>
              <a:rPr lang="en" sz="1200" dirty="0">
                <a:solidFill>
                  <a:schemeClr val="dk2"/>
                </a:solidFill>
                <a:latin typeface="Metropolis" pitchFamily="2" charset="77"/>
              </a:rPr>
              <a:t>*Optional data replication</a:t>
            </a:r>
            <a:endParaRPr sz="1866" dirty="0">
              <a:latin typeface="Metropolis" pitchFamily="2" charset="77"/>
            </a:endParaRPr>
          </a:p>
        </p:txBody>
      </p:sp>
      <p:grpSp>
        <p:nvGrpSpPr>
          <p:cNvPr id="1355" name="Google Shape;1355;p100"/>
          <p:cNvGrpSpPr/>
          <p:nvPr/>
        </p:nvGrpSpPr>
        <p:grpSpPr>
          <a:xfrm>
            <a:off x="2596812" y="4351216"/>
            <a:ext cx="1093611" cy="394385"/>
            <a:chOff x="1830239" y="3231368"/>
            <a:chExt cx="820422" cy="295866"/>
          </a:xfrm>
        </p:grpSpPr>
        <p:sp>
          <p:nvSpPr>
            <p:cNvPr id="1356" name="Google Shape;1356;p100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57" name="Google Shape;1357;p100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58" name="Google Shape;1358;p100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933">
                  <a:solidFill>
                    <a:schemeClr val="dk1"/>
                  </a:solidFill>
                  <a:latin typeface="Metropolis" pitchFamily="2" charset="77"/>
                </a:rPr>
                <a:t>Supervisor VM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59" name="Google Shape;1359;p100"/>
          <p:cNvSpPr/>
          <p:nvPr/>
        </p:nvSpPr>
        <p:spPr>
          <a:xfrm>
            <a:off x="1044822" y="2976844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Mgmt vCenter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60" name="Google Shape;1360;p100"/>
          <p:cNvGrpSpPr/>
          <p:nvPr/>
        </p:nvGrpSpPr>
        <p:grpSpPr>
          <a:xfrm>
            <a:off x="1044822" y="3380838"/>
            <a:ext cx="1192468" cy="459391"/>
            <a:chOff x="1817546" y="2406224"/>
            <a:chExt cx="894584" cy="344633"/>
          </a:xfrm>
        </p:grpSpPr>
        <p:sp>
          <p:nvSpPr>
            <p:cNvPr id="1361" name="Google Shape;1361;p100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62" name="Google Shape;1362;p100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63" name="Google Shape;1363;p100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Mgmt NSX Manager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364" name="Google Shape;1364;p100"/>
          <p:cNvGrpSpPr/>
          <p:nvPr/>
        </p:nvGrpSpPr>
        <p:grpSpPr>
          <a:xfrm>
            <a:off x="4017504" y="2921447"/>
            <a:ext cx="1192468" cy="459391"/>
            <a:chOff x="1817546" y="2406224"/>
            <a:chExt cx="894584" cy="344633"/>
          </a:xfrm>
        </p:grpSpPr>
        <p:sp>
          <p:nvSpPr>
            <p:cNvPr id="1365" name="Google Shape;1365;p100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66" name="Google Shape;1366;p100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67" name="Google Shape;1367;p100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Operations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368" name="Google Shape;1368;p100"/>
          <p:cNvGrpSpPr/>
          <p:nvPr/>
        </p:nvGrpSpPr>
        <p:grpSpPr>
          <a:xfrm>
            <a:off x="4039797" y="3453387"/>
            <a:ext cx="1192468" cy="459391"/>
            <a:chOff x="1817546" y="2406224"/>
            <a:chExt cx="894584" cy="344633"/>
          </a:xfrm>
        </p:grpSpPr>
        <p:sp>
          <p:nvSpPr>
            <p:cNvPr id="1369" name="Google Shape;1369;p100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70" name="Google Shape;1370;p100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71" name="Google Shape;1371;p100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Automation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72" name="Google Shape;1372;p100"/>
          <p:cNvSpPr/>
          <p:nvPr/>
        </p:nvSpPr>
        <p:spPr>
          <a:xfrm>
            <a:off x="2589925" y="2988470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WLD vCenter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73" name="Google Shape;1373;p100"/>
          <p:cNvGrpSpPr/>
          <p:nvPr/>
        </p:nvGrpSpPr>
        <p:grpSpPr>
          <a:xfrm>
            <a:off x="2589925" y="3399244"/>
            <a:ext cx="1192468" cy="459391"/>
            <a:chOff x="1817546" y="2406224"/>
            <a:chExt cx="894584" cy="344633"/>
          </a:xfrm>
        </p:grpSpPr>
        <p:sp>
          <p:nvSpPr>
            <p:cNvPr id="1374" name="Google Shape;1374;p100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75" name="Google Shape;1375;p100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76" name="Google Shape;1376;p100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WLD NSX Manager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77" name="Google Shape;1377;p100"/>
          <p:cNvSpPr/>
          <p:nvPr/>
        </p:nvSpPr>
        <p:spPr>
          <a:xfrm>
            <a:off x="735947" y="2006555"/>
            <a:ext cx="4722526" cy="29213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1</a:t>
            </a:r>
            <a:endParaRPr sz="1866">
              <a:latin typeface="Metropolis" pitchFamily="2" charset="77"/>
            </a:endParaRPr>
          </a:p>
        </p:txBody>
      </p:sp>
      <p:sp>
        <p:nvSpPr>
          <p:cNvPr id="1378" name="Google Shape;1378;p100"/>
          <p:cNvSpPr/>
          <p:nvPr/>
        </p:nvSpPr>
        <p:spPr>
          <a:xfrm>
            <a:off x="6637348" y="1999631"/>
            <a:ext cx="4724827" cy="29213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2</a:t>
            </a:r>
            <a:endParaRPr sz="1866">
              <a:latin typeface="Metropolis" pitchFamily="2" charset="77"/>
            </a:endParaRPr>
          </a:p>
        </p:txBody>
      </p:sp>
      <p:sp>
        <p:nvSpPr>
          <p:cNvPr id="1379" name="Google Shape;1379;p100"/>
          <p:cNvSpPr/>
          <p:nvPr/>
        </p:nvSpPr>
        <p:spPr>
          <a:xfrm>
            <a:off x="6772893" y="4105951"/>
            <a:ext cx="4436819" cy="72882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Workload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380" name="Google Shape;1380;p100"/>
          <p:cNvSpPr/>
          <p:nvPr/>
        </p:nvSpPr>
        <p:spPr>
          <a:xfrm>
            <a:off x="6893901" y="4379230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381" name="Google Shape;1381;p100"/>
          <p:cNvSpPr/>
          <p:nvPr/>
        </p:nvSpPr>
        <p:spPr>
          <a:xfrm>
            <a:off x="10090235" y="4389703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382" name="Google Shape;1382;p100"/>
          <p:cNvSpPr/>
          <p:nvPr/>
        </p:nvSpPr>
        <p:spPr>
          <a:xfrm>
            <a:off x="6772891" y="2364952"/>
            <a:ext cx="4436820" cy="166590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83" name="Google Shape;1383;p100"/>
          <p:cNvGrpSpPr/>
          <p:nvPr/>
        </p:nvGrpSpPr>
        <p:grpSpPr>
          <a:xfrm>
            <a:off x="8443868" y="4379230"/>
            <a:ext cx="1087455" cy="394385"/>
            <a:chOff x="1830239" y="3231368"/>
            <a:chExt cx="815804" cy="295866"/>
          </a:xfrm>
        </p:grpSpPr>
        <p:sp>
          <p:nvSpPr>
            <p:cNvPr id="1384" name="Google Shape;1384;p100"/>
            <p:cNvSpPr/>
            <p:nvPr/>
          </p:nvSpPr>
          <p:spPr>
            <a:xfrm>
              <a:off x="1902559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85" name="Google Shape;1385;p100"/>
            <p:cNvSpPr/>
            <p:nvPr/>
          </p:nvSpPr>
          <p:spPr>
            <a:xfrm>
              <a:off x="1864556" y="326522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86" name="Google Shape;1386;p100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933">
                  <a:solidFill>
                    <a:schemeClr val="dk1"/>
                  </a:solidFill>
                  <a:latin typeface="Metropolis" pitchFamily="2" charset="77"/>
                </a:rPr>
                <a:t>Supervisor VM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87" name="Google Shape;1387;p100"/>
          <p:cNvSpPr/>
          <p:nvPr/>
        </p:nvSpPr>
        <p:spPr>
          <a:xfrm>
            <a:off x="6849054" y="2970174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Mgmt vCenter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88" name="Google Shape;1388;p100"/>
          <p:cNvGrpSpPr/>
          <p:nvPr/>
        </p:nvGrpSpPr>
        <p:grpSpPr>
          <a:xfrm>
            <a:off x="6849054" y="3385944"/>
            <a:ext cx="1192468" cy="459391"/>
            <a:chOff x="1817546" y="2406224"/>
            <a:chExt cx="894584" cy="344633"/>
          </a:xfrm>
        </p:grpSpPr>
        <p:sp>
          <p:nvSpPr>
            <p:cNvPr id="1389" name="Google Shape;1389;p100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90" name="Google Shape;1390;p100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91" name="Google Shape;1391;p100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Mgmt NSX Manager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92" name="Google Shape;1392;p100"/>
          <p:cNvSpPr/>
          <p:nvPr/>
        </p:nvSpPr>
        <p:spPr>
          <a:xfrm>
            <a:off x="9923083" y="2970174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WLD vCenter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93" name="Google Shape;1393;p100"/>
          <p:cNvGrpSpPr/>
          <p:nvPr/>
        </p:nvGrpSpPr>
        <p:grpSpPr>
          <a:xfrm>
            <a:off x="9923083" y="3385944"/>
            <a:ext cx="1192468" cy="459391"/>
            <a:chOff x="1817546" y="2406224"/>
            <a:chExt cx="894584" cy="344633"/>
          </a:xfrm>
        </p:grpSpPr>
        <p:sp>
          <p:nvSpPr>
            <p:cNvPr id="1394" name="Google Shape;1394;p100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95" name="Google Shape;1395;p100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96" name="Google Shape;1396;p100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WLD NSX Manager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97" name="Google Shape;1397;p100"/>
          <p:cNvSpPr/>
          <p:nvPr/>
        </p:nvSpPr>
        <p:spPr>
          <a:xfrm>
            <a:off x="902156" y="5493136"/>
            <a:ext cx="4398066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sp>
        <p:nvSpPr>
          <p:cNvPr id="1398" name="Google Shape;1398;p100"/>
          <p:cNvSpPr/>
          <p:nvPr/>
        </p:nvSpPr>
        <p:spPr>
          <a:xfrm>
            <a:off x="902155" y="5967898"/>
            <a:ext cx="4398065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333">
              <a:latin typeface="Metropolis" pitchFamily="2" charset="77"/>
            </a:endParaRPr>
          </a:p>
        </p:txBody>
      </p:sp>
      <p:grpSp>
        <p:nvGrpSpPr>
          <p:cNvPr id="1399" name="Google Shape;1399;p100"/>
          <p:cNvGrpSpPr/>
          <p:nvPr/>
        </p:nvGrpSpPr>
        <p:grpSpPr>
          <a:xfrm>
            <a:off x="5307909" y="6123895"/>
            <a:ext cx="1483931" cy="184666"/>
            <a:chOff x="2435292" y="4881156"/>
            <a:chExt cx="971009" cy="129058"/>
          </a:xfrm>
        </p:grpSpPr>
        <p:sp>
          <p:nvSpPr>
            <p:cNvPr id="1400" name="Google Shape;1400;p100"/>
            <p:cNvSpPr txBox="1"/>
            <p:nvPr/>
          </p:nvSpPr>
          <p:spPr>
            <a:xfrm>
              <a:off x="2474150" y="4881156"/>
              <a:ext cx="932151" cy="12905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Layer 3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401" name="Google Shape;1401;p100"/>
            <p:cNvCxnSpPr/>
            <p:nvPr/>
          </p:nvCxnSpPr>
          <p:spPr>
            <a:xfrm>
              <a:off x="2435292" y="4883154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402" name="Google Shape;1402;p100"/>
          <p:cNvGrpSpPr/>
          <p:nvPr/>
        </p:nvGrpSpPr>
        <p:grpSpPr>
          <a:xfrm>
            <a:off x="5315601" y="5000107"/>
            <a:ext cx="1483932" cy="369331"/>
            <a:chOff x="2435292" y="4695870"/>
            <a:chExt cx="942954" cy="277071"/>
          </a:xfrm>
        </p:grpSpPr>
        <p:sp>
          <p:nvSpPr>
            <p:cNvPr id="1403" name="Google Shape;1403;p100"/>
            <p:cNvSpPr txBox="1"/>
            <p:nvPr/>
          </p:nvSpPr>
          <p:spPr>
            <a:xfrm>
              <a:off x="2435292" y="4695870"/>
              <a:ext cx="942953" cy="27707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*Async</a:t>
              </a:r>
              <a:endParaRPr sz="1800" dirty="0">
                <a:latin typeface="Metropolis" pitchFamily="2" charset="77"/>
              </a:endParaRPr>
            </a:p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Replication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404" name="Google Shape;1404;p100"/>
            <p:cNvCxnSpPr/>
            <p:nvPr/>
          </p:nvCxnSpPr>
          <p:spPr>
            <a:xfrm>
              <a:off x="2435293" y="4850023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405" name="Google Shape;1405;p100"/>
          <p:cNvSpPr/>
          <p:nvPr/>
        </p:nvSpPr>
        <p:spPr>
          <a:xfrm>
            <a:off x="6799534" y="5492515"/>
            <a:ext cx="4400454" cy="31191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sp>
        <p:nvSpPr>
          <p:cNvPr id="1406" name="Google Shape;1406;p100"/>
          <p:cNvSpPr/>
          <p:nvPr/>
        </p:nvSpPr>
        <p:spPr>
          <a:xfrm>
            <a:off x="6799534" y="5967898"/>
            <a:ext cx="4400454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333">
              <a:latin typeface="Metropoli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76DC3-E260-725B-FF95-44159BD4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VCF Fleet with Multiple Sites Across Multiple Regions v1.1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4;p99">
            <a:extLst>
              <a:ext uri="{FF2B5EF4-FFF2-40B4-BE49-F238E27FC236}">
                <a16:creationId xmlns:a16="http://schemas.microsoft.com/office/drawing/2014/main" id="{EA4E57F9-1B03-9E13-09FC-B2066BB7AD21}"/>
              </a:ext>
            </a:extLst>
          </p:cNvPr>
          <p:cNvSpPr/>
          <p:nvPr/>
        </p:nvSpPr>
        <p:spPr>
          <a:xfrm>
            <a:off x="534065" y="914982"/>
            <a:ext cx="11046748" cy="5762227"/>
          </a:xfrm>
          <a:prstGeom prst="rect">
            <a:avLst/>
          </a:prstGeom>
          <a:solidFill>
            <a:schemeClr val="lt1"/>
          </a:solidFill>
          <a:ln w="12700" cap="flat" cmpd="sng">
            <a:noFill/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endParaRPr sz="1866" dirty="0">
              <a:latin typeface="Metropolis" pitchFamily="2" charset="77"/>
            </a:endParaRPr>
          </a:p>
        </p:txBody>
      </p:sp>
      <p:sp>
        <p:nvSpPr>
          <p:cNvPr id="1411" name="Google Shape;1411;p3"/>
          <p:cNvSpPr/>
          <p:nvPr/>
        </p:nvSpPr>
        <p:spPr>
          <a:xfrm>
            <a:off x="3891668" y="991033"/>
            <a:ext cx="3282782" cy="53491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A – Site 2</a:t>
            </a:r>
            <a:endParaRPr sz="1866">
              <a:latin typeface="Metropolis" pitchFamily="2" charset="77"/>
            </a:endParaRPr>
          </a:p>
        </p:txBody>
      </p:sp>
      <p:sp>
        <p:nvSpPr>
          <p:cNvPr id="1412" name="Google Shape;1412;p3"/>
          <p:cNvSpPr/>
          <p:nvPr/>
        </p:nvSpPr>
        <p:spPr>
          <a:xfrm>
            <a:off x="579809" y="991033"/>
            <a:ext cx="3213570" cy="53491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A – Site 1</a:t>
            </a:r>
            <a:endParaRPr sz="1866">
              <a:latin typeface="Metropolis" pitchFamily="2" charset="77"/>
            </a:endParaRPr>
          </a:p>
        </p:txBody>
      </p:sp>
      <p:sp>
        <p:nvSpPr>
          <p:cNvPr id="1413" name="Google Shape;1413;p3"/>
          <p:cNvSpPr/>
          <p:nvPr/>
        </p:nvSpPr>
        <p:spPr>
          <a:xfrm>
            <a:off x="661608" y="1900502"/>
            <a:ext cx="6434231" cy="2997698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1</a:t>
            </a:r>
            <a:endParaRPr sz="1866">
              <a:latin typeface="Metropolis" pitchFamily="2" charset="77"/>
            </a:endParaRPr>
          </a:p>
        </p:txBody>
      </p:sp>
      <p:sp>
        <p:nvSpPr>
          <p:cNvPr id="1414" name="Google Shape;1414;p3"/>
          <p:cNvSpPr/>
          <p:nvPr/>
        </p:nvSpPr>
        <p:spPr>
          <a:xfrm>
            <a:off x="7529927" y="991033"/>
            <a:ext cx="3904774" cy="53491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B – Site 3</a:t>
            </a:r>
            <a:endParaRPr sz="1866">
              <a:latin typeface="Metropolis" pitchFamily="2" charset="77"/>
            </a:endParaRPr>
          </a:p>
        </p:txBody>
      </p:sp>
      <p:sp>
        <p:nvSpPr>
          <p:cNvPr id="1415" name="Google Shape;1415;p3"/>
          <p:cNvSpPr/>
          <p:nvPr/>
        </p:nvSpPr>
        <p:spPr>
          <a:xfrm>
            <a:off x="843220" y="4008604"/>
            <a:ext cx="6088023" cy="7953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Workload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416" name="Google Shape;1416;p3"/>
          <p:cNvSpPr/>
          <p:nvPr/>
        </p:nvSpPr>
        <p:spPr>
          <a:xfrm>
            <a:off x="666735" y="1313083"/>
            <a:ext cx="10682911" cy="21383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Self-Service with VCF Automation</a:t>
            </a:r>
            <a:endParaRPr sz="1866">
              <a:latin typeface="Metropolis" pitchFamily="2" charset="77"/>
            </a:endParaRPr>
          </a:p>
        </p:txBody>
      </p:sp>
      <p:sp>
        <p:nvSpPr>
          <p:cNvPr id="1417" name="Google Shape;1417;p3"/>
          <p:cNvSpPr/>
          <p:nvPr/>
        </p:nvSpPr>
        <p:spPr>
          <a:xfrm>
            <a:off x="843221" y="2247629"/>
            <a:ext cx="6096895" cy="16599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418" name="Google Shape;1418;p3"/>
          <p:cNvSpPr/>
          <p:nvPr/>
        </p:nvSpPr>
        <p:spPr>
          <a:xfrm>
            <a:off x="666735" y="1611850"/>
            <a:ext cx="10682911" cy="21560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419" name="Google Shape;1419;p3"/>
          <p:cNvSpPr/>
          <p:nvPr/>
        </p:nvSpPr>
        <p:spPr>
          <a:xfrm>
            <a:off x="7627931" y="1913452"/>
            <a:ext cx="3721713" cy="298584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2</a:t>
            </a:r>
            <a:endParaRPr sz="1866">
              <a:latin typeface="Metropolis" pitchFamily="2" charset="77"/>
            </a:endParaRPr>
          </a:p>
        </p:txBody>
      </p:sp>
      <p:sp>
        <p:nvSpPr>
          <p:cNvPr id="1420" name="Google Shape;1420;p3"/>
          <p:cNvSpPr/>
          <p:nvPr/>
        </p:nvSpPr>
        <p:spPr>
          <a:xfrm>
            <a:off x="7800705" y="4005220"/>
            <a:ext cx="3399324" cy="7699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Workload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421" name="Google Shape;1421;p3"/>
          <p:cNvSpPr/>
          <p:nvPr/>
        </p:nvSpPr>
        <p:spPr>
          <a:xfrm>
            <a:off x="7800705" y="2233389"/>
            <a:ext cx="3399324" cy="165430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422" name="Google Shape;1422;p3"/>
          <p:cNvSpPr/>
          <p:nvPr/>
        </p:nvSpPr>
        <p:spPr>
          <a:xfrm>
            <a:off x="8141549" y="2841333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vCenters</a:t>
            </a:r>
            <a:endParaRPr sz="1866">
              <a:latin typeface="Metropolis" pitchFamily="2" charset="77"/>
            </a:endParaRPr>
          </a:p>
        </p:txBody>
      </p:sp>
      <p:sp>
        <p:nvSpPr>
          <p:cNvPr id="1423" name="Google Shape;1423;p3"/>
          <p:cNvSpPr/>
          <p:nvPr/>
        </p:nvSpPr>
        <p:spPr>
          <a:xfrm>
            <a:off x="7877755" y="4312322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424" name="Google Shape;1424;p3"/>
          <p:cNvSpPr/>
          <p:nvPr/>
        </p:nvSpPr>
        <p:spPr>
          <a:xfrm>
            <a:off x="10127174" y="4306929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425" name="Google Shape;1425;p3"/>
          <p:cNvGrpSpPr/>
          <p:nvPr/>
        </p:nvGrpSpPr>
        <p:grpSpPr>
          <a:xfrm>
            <a:off x="3324909" y="4308863"/>
            <a:ext cx="1093611" cy="394385"/>
            <a:chOff x="1830239" y="3231368"/>
            <a:chExt cx="820422" cy="295866"/>
          </a:xfrm>
        </p:grpSpPr>
        <p:sp>
          <p:nvSpPr>
            <p:cNvPr id="1426" name="Google Shape;1426;p3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27" name="Google Shape;1427;p3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28" name="Google Shape;1428;p3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933">
                  <a:solidFill>
                    <a:schemeClr val="dk1"/>
                  </a:solidFill>
                  <a:latin typeface="Metropolis" pitchFamily="2" charset="77"/>
                </a:rPr>
                <a:t>Supervisor VM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429" name="Google Shape;1429;p3"/>
          <p:cNvGrpSpPr/>
          <p:nvPr/>
        </p:nvGrpSpPr>
        <p:grpSpPr>
          <a:xfrm>
            <a:off x="8963579" y="4306138"/>
            <a:ext cx="1093611" cy="394385"/>
            <a:chOff x="1830239" y="3231368"/>
            <a:chExt cx="820422" cy="295866"/>
          </a:xfrm>
        </p:grpSpPr>
        <p:sp>
          <p:nvSpPr>
            <p:cNvPr id="1430" name="Google Shape;1430;p3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31" name="Google Shape;1431;p3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32" name="Google Shape;1432;p3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933">
                  <a:solidFill>
                    <a:schemeClr val="dk1"/>
                  </a:solidFill>
                  <a:latin typeface="Metropolis" pitchFamily="2" charset="77"/>
                </a:rPr>
                <a:t>Supervisor VM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433" name="Google Shape;1433;p3"/>
          <p:cNvSpPr/>
          <p:nvPr/>
        </p:nvSpPr>
        <p:spPr>
          <a:xfrm>
            <a:off x="928279" y="2575070"/>
            <a:ext cx="2697790" cy="12610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434" name="Google Shape;1434;p3"/>
          <p:cNvSpPr/>
          <p:nvPr/>
        </p:nvSpPr>
        <p:spPr>
          <a:xfrm>
            <a:off x="1076317" y="2841333"/>
            <a:ext cx="1097237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vCenters</a:t>
            </a:r>
            <a:endParaRPr sz="1866">
              <a:latin typeface="Metropolis" pitchFamily="2" charset="77"/>
            </a:endParaRPr>
          </a:p>
        </p:txBody>
      </p:sp>
      <p:sp>
        <p:nvSpPr>
          <p:cNvPr id="1435" name="Google Shape;1435;p3"/>
          <p:cNvSpPr/>
          <p:nvPr/>
        </p:nvSpPr>
        <p:spPr>
          <a:xfrm>
            <a:off x="9680256" y="2840340"/>
            <a:ext cx="1097238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6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VCF Operations Collector</a:t>
            </a:r>
            <a:endParaRPr sz="1866">
              <a:latin typeface="Metropolis" pitchFamily="2" charset="77"/>
            </a:endParaRPr>
          </a:p>
        </p:txBody>
      </p:sp>
      <p:sp>
        <p:nvSpPr>
          <p:cNvPr id="1436" name="Google Shape;1436;p3"/>
          <p:cNvSpPr/>
          <p:nvPr/>
        </p:nvSpPr>
        <p:spPr>
          <a:xfrm>
            <a:off x="928280" y="4085724"/>
            <a:ext cx="1244666" cy="63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437" name="Google Shape;1437;p3"/>
          <p:cNvSpPr/>
          <p:nvPr/>
        </p:nvSpPr>
        <p:spPr>
          <a:xfrm>
            <a:off x="1076317" y="4308863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438" name="Google Shape;1438;p3"/>
          <p:cNvSpPr/>
          <p:nvPr/>
        </p:nvSpPr>
        <p:spPr>
          <a:xfrm>
            <a:off x="5570781" y="4090632"/>
            <a:ext cx="1244666" cy="63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439" name="Google Shape;1439;p3"/>
          <p:cNvSpPr/>
          <p:nvPr/>
        </p:nvSpPr>
        <p:spPr>
          <a:xfrm>
            <a:off x="5705605" y="4296318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440" name="Google Shape;1440;p3"/>
          <p:cNvSpPr/>
          <p:nvPr/>
        </p:nvSpPr>
        <p:spPr>
          <a:xfrm>
            <a:off x="4134224" y="2570947"/>
            <a:ext cx="2726706" cy="12610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Failover Capacity</a:t>
            </a:r>
            <a:endParaRPr sz="800">
              <a:latin typeface="Metropolis" pitchFamily="2" charset="77"/>
            </a:endParaRPr>
          </a:p>
        </p:txBody>
      </p:sp>
      <p:sp>
        <p:nvSpPr>
          <p:cNvPr id="1441" name="Google Shape;1441;p3"/>
          <p:cNvSpPr/>
          <p:nvPr/>
        </p:nvSpPr>
        <p:spPr>
          <a:xfrm>
            <a:off x="3519788" y="2992848"/>
            <a:ext cx="897765" cy="49027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800"/>
            </a:pPr>
            <a:r>
              <a:rPr lang="en" sz="800" dirty="0">
                <a:latin typeface="Metropolis" pitchFamily="2" charset="77"/>
              </a:rPr>
              <a:t>vSphere HA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1442" name="Google Shape;1442;p3"/>
          <p:cNvSpPr/>
          <p:nvPr/>
        </p:nvSpPr>
        <p:spPr>
          <a:xfrm>
            <a:off x="661608" y="5496988"/>
            <a:ext cx="6362121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sp>
        <p:nvSpPr>
          <p:cNvPr id="1443" name="Google Shape;1443;p3"/>
          <p:cNvSpPr/>
          <p:nvPr/>
        </p:nvSpPr>
        <p:spPr>
          <a:xfrm>
            <a:off x="7627931" y="5496432"/>
            <a:ext cx="3721713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444" name="Google Shape;1444;p3"/>
          <p:cNvGrpSpPr/>
          <p:nvPr/>
        </p:nvGrpSpPr>
        <p:grpSpPr>
          <a:xfrm>
            <a:off x="2248173" y="3306663"/>
            <a:ext cx="1202799" cy="394385"/>
            <a:chOff x="1830239" y="3231368"/>
            <a:chExt cx="820422" cy="295866"/>
          </a:xfrm>
        </p:grpSpPr>
        <p:sp>
          <p:nvSpPr>
            <p:cNvPr id="1445" name="Google Shape;1445;p3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46" name="Google Shape;1446;p3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47" name="Google Shape;1447;p3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Automation Cluster</a:t>
              </a:r>
              <a:endParaRPr sz="1600">
                <a:latin typeface="Metropolis" pitchFamily="2" charset="77"/>
              </a:endParaRPr>
            </a:p>
          </p:txBody>
        </p:sp>
      </p:grpSp>
      <p:grpSp>
        <p:nvGrpSpPr>
          <p:cNvPr id="1448" name="Google Shape;1448;p3"/>
          <p:cNvGrpSpPr/>
          <p:nvPr/>
        </p:nvGrpSpPr>
        <p:grpSpPr>
          <a:xfrm>
            <a:off x="2248173" y="2836543"/>
            <a:ext cx="1202799" cy="394385"/>
            <a:chOff x="1830239" y="3231368"/>
            <a:chExt cx="820422" cy="295866"/>
          </a:xfrm>
        </p:grpSpPr>
        <p:sp>
          <p:nvSpPr>
            <p:cNvPr id="1449" name="Google Shape;1449;p3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50" name="Google Shape;1450;p3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51" name="Google Shape;1451;p3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Operations Cluster</a:t>
              </a:r>
              <a:endParaRPr sz="1600">
                <a:latin typeface="Metropolis" pitchFamily="2" charset="77"/>
              </a:endParaRPr>
            </a:p>
          </p:txBody>
        </p:sp>
      </p:grpSp>
      <p:grpSp>
        <p:nvGrpSpPr>
          <p:cNvPr id="1452" name="Google Shape;1452;p3"/>
          <p:cNvGrpSpPr/>
          <p:nvPr/>
        </p:nvGrpSpPr>
        <p:grpSpPr>
          <a:xfrm>
            <a:off x="1078130" y="3302882"/>
            <a:ext cx="1093611" cy="394385"/>
            <a:chOff x="1830239" y="3231368"/>
            <a:chExt cx="820422" cy="295866"/>
          </a:xfrm>
        </p:grpSpPr>
        <p:sp>
          <p:nvSpPr>
            <p:cNvPr id="1453" name="Google Shape;1453;p3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54" name="Google Shape;1454;p3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55" name="Google Shape;1455;p3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NSX Manager Clusters</a:t>
              </a:r>
              <a:endParaRPr sz="1600">
                <a:latin typeface="Metropolis" pitchFamily="2" charset="77"/>
              </a:endParaRPr>
            </a:p>
          </p:txBody>
        </p:sp>
      </p:grpSp>
      <p:grpSp>
        <p:nvGrpSpPr>
          <p:cNvPr id="1456" name="Google Shape;1456;p3"/>
          <p:cNvGrpSpPr/>
          <p:nvPr/>
        </p:nvGrpSpPr>
        <p:grpSpPr>
          <a:xfrm>
            <a:off x="8145175" y="3298085"/>
            <a:ext cx="1093611" cy="394385"/>
            <a:chOff x="1830239" y="3231368"/>
            <a:chExt cx="820422" cy="295866"/>
          </a:xfrm>
        </p:grpSpPr>
        <p:sp>
          <p:nvSpPr>
            <p:cNvPr id="1457" name="Google Shape;1457;p3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58" name="Google Shape;1458;p3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59" name="Google Shape;1459;p3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NSX Manager Clusters</a:t>
              </a:r>
              <a:endParaRPr sz="1600">
                <a:latin typeface="Metropolis" pitchFamily="2" charset="77"/>
              </a:endParaRPr>
            </a:p>
          </p:txBody>
        </p:sp>
      </p:grpSp>
      <p:grpSp>
        <p:nvGrpSpPr>
          <p:cNvPr id="1460" name="Google Shape;1460;p3"/>
          <p:cNvGrpSpPr/>
          <p:nvPr/>
        </p:nvGrpSpPr>
        <p:grpSpPr>
          <a:xfrm>
            <a:off x="3263017" y="5853003"/>
            <a:ext cx="1266797" cy="369332"/>
            <a:chOff x="2443117" y="4468495"/>
            <a:chExt cx="942953" cy="277072"/>
          </a:xfrm>
        </p:grpSpPr>
        <p:sp>
          <p:nvSpPr>
            <p:cNvPr id="1461" name="Google Shape;1461;p3"/>
            <p:cNvSpPr txBox="1"/>
            <p:nvPr/>
          </p:nvSpPr>
          <p:spPr>
            <a:xfrm>
              <a:off x="2443117" y="4468495"/>
              <a:ext cx="942953" cy="2770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Layer 2 &amp;</a:t>
              </a:r>
            </a:p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Layer 3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462" name="Google Shape;1462;p3"/>
            <p:cNvCxnSpPr>
              <a:cxnSpLocks/>
              <a:stCxn id="1461" idx="1"/>
              <a:endCxn id="1461" idx="3"/>
            </p:cNvCxnSpPr>
            <p:nvPr/>
          </p:nvCxnSpPr>
          <p:spPr>
            <a:xfrm>
              <a:off x="2443117" y="4607031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463" name="Google Shape;1463;p3"/>
          <p:cNvGrpSpPr/>
          <p:nvPr/>
        </p:nvGrpSpPr>
        <p:grpSpPr>
          <a:xfrm>
            <a:off x="6545479" y="6062363"/>
            <a:ext cx="1942466" cy="184665"/>
            <a:chOff x="2435293" y="4836574"/>
            <a:chExt cx="942953" cy="138535"/>
          </a:xfrm>
        </p:grpSpPr>
        <p:sp>
          <p:nvSpPr>
            <p:cNvPr id="1464" name="Google Shape;1464;p3"/>
            <p:cNvSpPr txBox="1"/>
            <p:nvPr/>
          </p:nvSpPr>
          <p:spPr>
            <a:xfrm>
              <a:off x="2446095" y="4836574"/>
              <a:ext cx="932151" cy="13853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Layer 3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465" name="Google Shape;1465;p3"/>
            <p:cNvCxnSpPr/>
            <p:nvPr/>
          </p:nvCxnSpPr>
          <p:spPr>
            <a:xfrm>
              <a:off x="2435293" y="4850023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466" name="Google Shape;1466;p3"/>
          <p:cNvGrpSpPr/>
          <p:nvPr/>
        </p:nvGrpSpPr>
        <p:grpSpPr>
          <a:xfrm>
            <a:off x="3252507" y="4944286"/>
            <a:ext cx="1266798" cy="369332"/>
            <a:chOff x="2427900" y="4696196"/>
            <a:chExt cx="950346" cy="277071"/>
          </a:xfrm>
        </p:grpSpPr>
        <p:sp>
          <p:nvSpPr>
            <p:cNvPr id="1467" name="Google Shape;1467;p3"/>
            <p:cNvSpPr txBox="1"/>
            <p:nvPr/>
          </p:nvSpPr>
          <p:spPr>
            <a:xfrm>
              <a:off x="2480529" y="4696196"/>
              <a:ext cx="897717" cy="27707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Synchronous Replication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468" name="Google Shape;1468;p3"/>
            <p:cNvCxnSpPr/>
            <p:nvPr/>
          </p:nvCxnSpPr>
          <p:spPr>
            <a:xfrm>
              <a:off x="2427900" y="4850023"/>
              <a:ext cx="95034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469" name="Google Shape;1469;p3"/>
          <p:cNvGrpSpPr/>
          <p:nvPr/>
        </p:nvGrpSpPr>
        <p:grpSpPr>
          <a:xfrm>
            <a:off x="6536231" y="4989904"/>
            <a:ext cx="1951717" cy="369331"/>
            <a:chOff x="2435292" y="4695870"/>
            <a:chExt cx="942954" cy="277071"/>
          </a:xfrm>
        </p:grpSpPr>
        <p:sp>
          <p:nvSpPr>
            <p:cNvPr id="1470" name="Google Shape;1470;p3"/>
            <p:cNvSpPr txBox="1"/>
            <p:nvPr/>
          </p:nvSpPr>
          <p:spPr>
            <a:xfrm>
              <a:off x="2435292" y="4695870"/>
              <a:ext cx="942953" cy="27707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*Async</a:t>
              </a:r>
              <a:endParaRPr sz="1800" dirty="0">
                <a:latin typeface="Metropolis" pitchFamily="2" charset="77"/>
              </a:endParaRPr>
            </a:p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Replication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471" name="Google Shape;1471;p3"/>
            <p:cNvCxnSpPr/>
            <p:nvPr/>
          </p:nvCxnSpPr>
          <p:spPr>
            <a:xfrm>
              <a:off x="2435293" y="4850023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472" name="Google Shape;1472;p3"/>
          <p:cNvSpPr txBox="1"/>
          <p:nvPr/>
        </p:nvSpPr>
        <p:spPr>
          <a:xfrm>
            <a:off x="8041469" y="6385408"/>
            <a:ext cx="218951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SzPts val="900"/>
            </a:pPr>
            <a:r>
              <a:rPr lang="en" sz="1200" dirty="0">
                <a:solidFill>
                  <a:schemeClr val="dk2"/>
                </a:solidFill>
                <a:latin typeface="Metropolis" pitchFamily="2" charset="77"/>
              </a:rPr>
              <a:t>*Optional data replication</a:t>
            </a:r>
            <a:endParaRPr sz="1866" dirty="0">
              <a:latin typeface="Metropolis" pitchFamily="2" charset="77"/>
            </a:endParaRPr>
          </a:p>
        </p:txBody>
      </p:sp>
      <p:sp>
        <p:nvSpPr>
          <p:cNvPr id="1473" name="Google Shape;1473;p3"/>
          <p:cNvSpPr/>
          <p:nvPr/>
        </p:nvSpPr>
        <p:spPr>
          <a:xfrm>
            <a:off x="4520640" y="5899191"/>
            <a:ext cx="2024838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474" name="Google Shape;1474;p3"/>
          <p:cNvSpPr/>
          <p:nvPr/>
        </p:nvSpPr>
        <p:spPr>
          <a:xfrm>
            <a:off x="1227669" y="5899191"/>
            <a:ext cx="2024838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475" name="Google Shape;1475;p3"/>
          <p:cNvSpPr/>
          <p:nvPr/>
        </p:nvSpPr>
        <p:spPr>
          <a:xfrm>
            <a:off x="8487947" y="5899191"/>
            <a:ext cx="2024838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476" name="Google Shape;1476;p3"/>
          <p:cNvSpPr/>
          <p:nvPr/>
        </p:nvSpPr>
        <p:spPr>
          <a:xfrm>
            <a:off x="4520640" y="5001438"/>
            <a:ext cx="2024838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 Site A2</a:t>
            </a:r>
            <a:endParaRPr sz="1200">
              <a:latin typeface="Metropolis" pitchFamily="2" charset="77"/>
            </a:endParaRPr>
          </a:p>
        </p:txBody>
      </p:sp>
      <p:sp>
        <p:nvSpPr>
          <p:cNvPr id="1477" name="Google Shape;1477;p3"/>
          <p:cNvSpPr/>
          <p:nvPr/>
        </p:nvSpPr>
        <p:spPr>
          <a:xfrm>
            <a:off x="1227669" y="5001438"/>
            <a:ext cx="2024838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 Site A1</a:t>
            </a:r>
            <a:endParaRPr sz="1200">
              <a:latin typeface="Metropolis" pitchFamily="2" charset="77"/>
            </a:endParaRPr>
          </a:p>
        </p:txBody>
      </p:sp>
      <p:sp>
        <p:nvSpPr>
          <p:cNvPr id="1478" name="Google Shape;1478;p3"/>
          <p:cNvSpPr/>
          <p:nvPr/>
        </p:nvSpPr>
        <p:spPr>
          <a:xfrm>
            <a:off x="8487947" y="5001438"/>
            <a:ext cx="2024838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 Site B3</a:t>
            </a:r>
            <a:endParaRPr sz="1200">
              <a:latin typeface="Metropoli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8E3A9-D508-E65C-AA06-E996BDD56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VCF Fleet with Multiple Sites in a Single Region Additional Region(s) v1.1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5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VCF Private Cloud Constructs</a:t>
            </a:r>
            <a:endParaRPr>
              <a:solidFill>
                <a:srgbClr val="005C8A"/>
              </a:solidFill>
            </a:endParaRPr>
          </a:p>
        </p:txBody>
      </p:sp>
      <p:sp>
        <p:nvSpPr>
          <p:cNvPr id="1234" name="Google Shape;1234;p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5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VCF Private Cloud Construct v1.0</a:t>
            </a:r>
            <a:endParaRPr sz="2400" dirty="0"/>
          </a:p>
        </p:txBody>
      </p:sp>
      <p:grpSp>
        <p:nvGrpSpPr>
          <p:cNvPr id="1240" name="Google Shape;1240;p53"/>
          <p:cNvGrpSpPr/>
          <p:nvPr/>
        </p:nvGrpSpPr>
        <p:grpSpPr>
          <a:xfrm>
            <a:off x="3433403" y="1355712"/>
            <a:ext cx="4309889" cy="4146575"/>
            <a:chOff x="719311" y="1423298"/>
            <a:chExt cx="4309889" cy="4146575"/>
          </a:xfrm>
        </p:grpSpPr>
        <p:sp>
          <p:nvSpPr>
            <p:cNvPr id="1241" name="Google Shape;1241;p53"/>
            <p:cNvSpPr/>
            <p:nvPr/>
          </p:nvSpPr>
          <p:spPr>
            <a:xfrm>
              <a:off x="719311" y="1423298"/>
              <a:ext cx="4309889" cy="414657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Private Cloud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2" name="Google Shape;1242;p53"/>
            <p:cNvSpPr/>
            <p:nvPr/>
          </p:nvSpPr>
          <p:spPr>
            <a:xfrm>
              <a:off x="830547" y="1755650"/>
              <a:ext cx="1935641" cy="3681801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Fleet</a:t>
              </a:r>
              <a:endParaRPr sz="11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3" name="Google Shape;1243;p53"/>
            <p:cNvSpPr/>
            <p:nvPr/>
          </p:nvSpPr>
          <p:spPr>
            <a:xfrm>
              <a:off x="929477" y="2882698"/>
              <a:ext cx="1737360" cy="197675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0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4" name="Google Shape;1244;p53"/>
            <p:cNvSpPr/>
            <p:nvPr/>
          </p:nvSpPr>
          <p:spPr>
            <a:xfrm>
              <a:off x="1017063" y="2479515"/>
              <a:ext cx="1556095" cy="2718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Automation</a:t>
              </a:r>
              <a:endParaRPr sz="14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5" name="Google Shape;1245;p53"/>
            <p:cNvSpPr/>
            <p:nvPr/>
          </p:nvSpPr>
          <p:spPr>
            <a:xfrm>
              <a:off x="1017063" y="3178799"/>
              <a:ext cx="1556095" cy="11924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Management Domain</a:t>
              </a:r>
              <a:endParaRPr sz="12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6" name="Google Shape;1246;p53"/>
            <p:cNvSpPr/>
            <p:nvPr/>
          </p:nvSpPr>
          <p:spPr>
            <a:xfrm>
              <a:off x="1116722" y="3521005"/>
              <a:ext cx="1354057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vCenter</a:t>
              </a:r>
              <a:endParaRPr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7" name="Google Shape;1247;p53"/>
            <p:cNvSpPr/>
            <p:nvPr/>
          </p:nvSpPr>
          <p:spPr>
            <a:xfrm>
              <a:off x="1116722" y="3796357"/>
              <a:ext cx="1354058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NSX</a:t>
              </a:r>
              <a:endParaRPr sz="11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8" name="Google Shape;1248;p53"/>
            <p:cNvSpPr/>
            <p:nvPr/>
          </p:nvSpPr>
          <p:spPr>
            <a:xfrm>
              <a:off x="1116720" y="4069741"/>
              <a:ext cx="1354059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SDDC Manager</a:t>
              </a:r>
              <a:endParaRPr sz="11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9" name="Google Shape;1249;p53"/>
            <p:cNvSpPr/>
            <p:nvPr/>
          </p:nvSpPr>
          <p:spPr>
            <a:xfrm>
              <a:off x="929476" y="4986429"/>
              <a:ext cx="1737360" cy="335747"/>
            </a:xfrm>
            <a:prstGeom prst="rect">
              <a:avLst/>
            </a:prstGeom>
            <a:noFill/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Additional VCF Instances</a:t>
              </a:r>
              <a:endParaRPr sz="10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0" name="Google Shape;1250;p53"/>
            <p:cNvSpPr/>
            <p:nvPr/>
          </p:nvSpPr>
          <p:spPr>
            <a:xfrm>
              <a:off x="1020108" y="2082843"/>
              <a:ext cx="1556095" cy="2657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4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1" name="Google Shape;1251;p53"/>
            <p:cNvSpPr/>
            <p:nvPr/>
          </p:nvSpPr>
          <p:spPr>
            <a:xfrm>
              <a:off x="1015701" y="4498374"/>
              <a:ext cx="1556096" cy="24318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Workload Domains</a:t>
              </a:r>
              <a:endParaRPr sz="12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2" name="Google Shape;1252;p53"/>
            <p:cNvSpPr/>
            <p:nvPr/>
          </p:nvSpPr>
          <p:spPr>
            <a:xfrm>
              <a:off x="2952704" y="1755650"/>
              <a:ext cx="1935641" cy="3681801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Fleet</a:t>
              </a:r>
              <a:endParaRPr sz="11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3" name="Google Shape;1253;p53"/>
            <p:cNvSpPr/>
            <p:nvPr/>
          </p:nvSpPr>
          <p:spPr>
            <a:xfrm>
              <a:off x="3051634" y="2882698"/>
              <a:ext cx="1737360" cy="197675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0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4" name="Google Shape;1254;p53"/>
            <p:cNvSpPr/>
            <p:nvPr/>
          </p:nvSpPr>
          <p:spPr>
            <a:xfrm>
              <a:off x="3139220" y="2479515"/>
              <a:ext cx="1556095" cy="2718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Automation</a:t>
              </a:r>
              <a:endParaRPr sz="14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5" name="Google Shape;1255;p53"/>
            <p:cNvSpPr/>
            <p:nvPr/>
          </p:nvSpPr>
          <p:spPr>
            <a:xfrm>
              <a:off x="3139220" y="3178799"/>
              <a:ext cx="1556095" cy="11924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Management Domain</a:t>
              </a:r>
              <a:endParaRPr sz="12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6" name="Google Shape;1256;p53"/>
            <p:cNvSpPr/>
            <p:nvPr/>
          </p:nvSpPr>
          <p:spPr>
            <a:xfrm>
              <a:off x="3238879" y="3521005"/>
              <a:ext cx="1354057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vCenter</a:t>
              </a:r>
              <a:endParaRPr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7" name="Google Shape;1257;p53"/>
            <p:cNvSpPr/>
            <p:nvPr/>
          </p:nvSpPr>
          <p:spPr>
            <a:xfrm>
              <a:off x="3238879" y="3796357"/>
              <a:ext cx="1354058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NSX</a:t>
              </a:r>
              <a:endParaRPr sz="11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8" name="Google Shape;1258;p53"/>
            <p:cNvSpPr/>
            <p:nvPr/>
          </p:nvSpPr>
          <p:spPr>
            <a:xfrm>
              <a:off x="3238877" y="4069741"/>
              <a:ext cx="1354059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SDDC Manager</a:t>
              </a:r>
              <a:endParaRPr sz="11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9" name="Google Shape;1259;p53"/>
            <p:cNvSpPr/>
            <p:nvPr/>
          </p:nvSpPr>
          <p:spPr>
            <a:xfrm>
              <a:off x="3051633" y="4986429"/>
              <a:ext cx="1737360" cy="335747"/>
            </a:xfrm>
            <a:prstGeom prst="rect">
              <a:avLst/>
            </a:prstGeom>
            <a:noFill/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Additional VCF Instances</a:t>
              </a:r>
              <a:endParaRPr sz="10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60" name="Google Shape;1260;p53"/>
            <p:cNvSpPr/>
            <p:nvPr/>
          </p:nvSpPr>
          <p:spPr>
            <a:xfrm>
              <a:off x="3142265" y="2082843"/>
              <a:ext cx="1556095" cy="2657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4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61" name="Google Shape;1261;p53"/>
            <p:cNvSpPr/>
            <p:nvPr/>
          </p:nvSpPr>
          <p:spPr>
            <a:xfrm>
              <a:off x="3137858" y="4498374"/>
              <a:ext cx="1556096" cy="24318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Workload Domains</a:t>
              </a:r>
              <a:endParaRPr sz="12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57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Models</a:t>
            </a:r>
            <a:endParaRPr/>
          </a:p>
        </p:txBody>
      </p:sp>
      <p:sp>
        <p:nvSpPr>
          <p:cNvPr id="1267" name="Google Shape;1267;p5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58"/>
          <p:cNvSpPr/>
          <p:nvPr/>
        </p:nvSpPr>
        <p:spPr>
          <a:xfrm>
            <a:off x="6337190" y="1293805"/>
            <a:ext cx="4412918" cy="412157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High Availability - 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7" name="Google Shape;1297;p58"/>
          <p:cNvSpPr/>
          <p:nvPr/>
        </p:nvSpPr>
        <p:spPr>
          <a:xfrm>
            <a:off x="1543604" y="1293805"/>
            <a:ext cx="4412918" cy="412157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Simple - 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2" name="Google Shape;1272;p5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VCF Operations Models v1.1</a:t>
            </a:r>
            <a:endParaRPr sz="2400" dirty="0"/>
          </a:p>
        </p:txBody>
      </p:sp>
      <p:sp>
        <p:nvSpPr>
          <p:cNvPr id="1273" name="Google Shape;1273;p58"/>
          <p:cNvSpPr/>
          <p:nvPr/>
        </p:nvSpPr>
        <p:spPr>
          <a:xfrm>
            <a:off x="6495580" y="1666053"/>
            <a:ext cx="1752600" cy="20927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4" name="Google Shape;1274;p58"/>
          <p:cNvSpPr/>
          <p:nvPr/>
        </p:nvSpPr>
        <p:spPr>
          <a:xfrm>
            <a:off x="6781293" y="2351716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5" name="Google Shape;1275;p58"/>
          <p:cNvSpPr/>
          <p:nvPr/>
        </p:nvSpPr>
        <p:spPr>
          <a:xfrm>
            <a:off x="6781293" y="2791868"/>
            <a:ext cx="1181174" cy="35919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Replica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6" name="Google Shape;1276;p58"/>
          <p:cNvSpPr/>
          <p:nvPr/>
        </p:nvSpPr>
        <p:spPr>
          <a:xfrm>
            <a:off x="6781293" y="3231674"/>
            <a:ext cx="1181174" cy="36033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Data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7" name="Google Shape;1277;p58"/>
          <p:cNvSpPr/>
          <p:nvPr/>
        </p:nvSpPr>
        <p:spPr>
          <a:xfrm>
            <a:off x="6781292" y="1902763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8" name="Google Shape;1278;p58"/>
          <p:cNvSpPr/>
          <p:nvPr/>
        </p:nvSpPr>
        <p:spPr>
          <a:xfrm>
            <a:off x="8787236" y="2379405"/>
            <a:ext cx="1752600" cy="281254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9" name="Google Shape;1279;p58"/>
          <p:cNvSpPr/>
          <p:nvPr/>
        </p:nvSpPr>
        <p:spPr>
          <a:xfrm>
            <a:off x="9000603" y="2936411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80" name="Google Shape;1280;p58"/>
          <p:cNvSpPr/>
          <p:nvPr/>
        </p:nvSpPr>
        <p:spPr>
          <a:xfrm>
            <a:off x="8895697" y="2645000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282" name="Google Shape;1282;p58"/>
          <p:cNvGrpSpPr/>
          <p:nvPr/>
        </p:nvGrpSpPr>
        <p:grpSpPr>
          <a:xfrm>
            <a:off x="6495580" y="4369940"/>
            <a:ext cx="1752600" cy="822007"/>
            <a:chOff x="8833581" y="1666053"/>
            <a:chExt cx="1752600" cy="822007"/>
          </a:xfrm>
          <a:solidFill>
            <a:schemeClr val="lt1"/>
          </a:solidFill>
        </p:grpSpPr>
        <p:sp>
          <p:nvSpPr>
            <p:cNvPr id="1283" name="Google Shape;1283;p58"/>
            <p:cNvSpPr/>
            <p:nvPr/>
          </p:nvSpPr>
          <p:spPr>
            <a:xfrm>
              <a:off x="9119294" y="1934274"/>
              <a:ext cx="1181174" cy="357028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84" name="Google Shape;1284;p58"/>
            <p:cNvSpPr/>
            <p:nvPr/>
          </p:nvSpPr>
          <p:spPr>
            <a:xfrm>
              <a:off x="8833581" y="1666053"/>
              <a:ext cx="1752600" cy="822007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  <p:sp>
        <p:nvSpPr>
          <p:cNvPr id="1285" name="Google Shape;1285;p58"/>
          <p:cNvSpPr/>
          <p:nvPr/>
        </p:nvSpPr>
        <p:spPr>
          <a:xfrm>
            <a:off x="8995856" y="3201445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86" name="Google Shape;1286;p58"/>
          <p:cNvSpPr/>
          <p:nvPr/>
        </p:nvSpPr>
        <p:spPr>
          <a:xfrm>
            <a:off x="9000603" y="3480450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87" name="Google Shape;1287;p58"/>
          <p:cNvSpPr/>
          <p:nvPr/>
        </p:nvSpPr>
        <p:spPr>
          <a:xfrm>
            <a:off x="9000603" y="416936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88" name="Google Shape;1288;p58"/>
          <p:cNvSpPr/>
          <p:nvPr/>
        </p:nvSpPr>
        <p:spPr>
          <a:xfrm>
            <a:off x="8895697" y="3877957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89" name="Google Shape;1289;p58"/>
          <p:cNvSpPr/>
          <p:nvPr/>
        </p:nvSpPr>
        <p:spPr>
          <a:xfrm>
            <a:off x="8995856" y="443440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0" name="Google Shape;1290;p58"/>
          <p:cNvSpPr/>
          <p:nvPr/>
        </p:nvSpPr>
        <p:spPr>
          <a:xfrm>
            <a:off x="9000603" y="4713407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1" name="Google Shape;1291;p58"/>
          <p:cNvSpPr/>
          <p:nvPr/>
        </p:nvSpPr>
        <p:spPr>
          <a:xfrm>
            <a:off x="1701994" y="1666053"/>
            <a:ext cx="1752600" cy="12147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2" name="Google Shape;1292;p58"/>
          <p:cNvSpPr/>
          <p:nvPr/>
        </p:nvSpPr>
        <p:spPr>
          <a:xfrm>
            <a:off x="1987707" y="2351716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3" name="Google Shape;1293;p58"/>
          <p:cNvSpPr/>
          <p:nvPr/>
        </p:nvSpPr>
        <p:spPr>
          <a:xfrm>
            <a:off x="1987706" y="1902763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4" name="Google Shape;1294;p58"/>
          <p:cNvSpPr/>
          <p:nvPr/>
        </p:nvSpPr>
        <p:spPr>
          <a:xfrm>
            <a:off x="3971565" y="1666057"/>
            <a:ext cx="1752600" cy="281254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5" name="Google Shape;1295;p58"/>
          <p:cNvSpPr/>
          <p:nvPr/>
        </p:nvSpPr>
        <p:spPr>
          <a:xfrm>
            <a:off x="4184932" y="2223063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6" name="Google Shape;1296;p58"/>
          <p:cNvSpPr/>
          <p:nvPr/>
        </p:nvSpPr>
        <p:spPr>
          <a:xfrm>
            <a:off x="4080026" y="1931652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298" name="Google Shape;1298;p58"/>
          <p:cNvGrpSpPr/>
          <p:nvPr/>
        </p:nvGrpSpPr>
        <p:grpSpPr>
          <a:xfrm>
            <a:off x="1701994" y="3639214"/>
            <a:ext cx="1752600" cy="822007"/>
            <a:chOff x="3761797" y="1666034"/>
            <a:chExt cx="1752600" cy="822007"/>
          </a:xfrm>
          <a:solidFill>
            <a:schemeClr val="lt1"/>
          </a:solidFill>
        </p:grpSpPr>
        <p:sp>
          <p:nvSpPr>
            <p:cNvPr id="1299" name="Google Shape;1299;p58"/>
            <p:cNvSpPr/>
            <p:nvPr/>
          </p:nvSpPr>
          <p:spPr>
            <a:xfrm>
              <a:off x="4062432" y="1934274"/>
              <a:ext cx="1181174" cy="357028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300" name="Google Shape;1300;p58"/>
            <p:cNvSpPr/>
            <p:nvPr/>
          </p:nvSpPr>
          <p:spPr>
            <a:xfrm>
              <a:off x="3761797" y="1666034"/>
              <a:ext cx="1752600" cy="822007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  <p:sp>
        <p:nvSpPr>
          <p:cNvPr id="1301" name="Google Shape;1301;p58"/>
          <p:cNvSpPr/>
          <p:nvPr/>
        </p:nvSpPr>
        <p:spPr>
          <a:xfrm>
            <a:off x="4180185" y="2488097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02" name="Google Shape;1302;p58"/>
          <p:cNvSpPr/>
          <p:nvPr/>
        </p:nvSpPr>
        <p:spPr>
          <a:xfrm>
            <a:off x="4184932" y="2767102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03" name="Google Shape;1303;p58"/>
          <p:cNvSpPr/>
          <p:nvPr/>
        </p:nvSpPr>
        <p:spPr>
          <a:xfrm>
            <a:off x="4184932" y="345602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04" name="Google Shape;1304;p58"/>
          <p:cNvSpPr/>
          <p:nvPr/>
        </p:nvSpPr>
        <p:spPr>
          <a:xfrm>
            <a:off x="4080026" y="3164609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05" name="Google Shape;1305;p58"/>
          <p:cNvSpPr/>
          <p:nvPr/>
        </p:nvSpPr>
        <p:spPr>
          <a:xfrm>
            <a:off x="4180185" y="372105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06" name="Google Shape;1306;p58"/>
          <p:cNvSpPr/>
          <p:nvPr/>
        </p:nvSpPr>
        <p:spPr>
          <a:xfrm>
            <a:off x="4184932" y="4000059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07" name="Google Shape;1307;p58"/>
          <p:cNvCxnSpPr>
            <a:stCxn id="1300" idx="0"/>
            <a:endCxn id="1291" idx="2"/>
          </p:cNvCxnSpPr>
          <p:nvPr/>
        </p:nvCxnSpPr>
        <p:spPr>
          <a:xfrm rot="10800000">
            <a:off x="2578294" y="2880814"/>
            <a:ext cx="0" cy="758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8" name="Google Shape;1308;p58"/>
          <p:cNvCxnSpPr>
            <a:stCxn id="1300" idx="3"/>
          </p:cNvCxnSpPr>
          <p:nvPr/>
        </p:nvCxnSpPr>
        <p:spPr>
          <a:xfrm>
            <a:off x="3454594" y="4050218"/>
            <a:ext cx="511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9" name="Google Shape;1309;p58"/>
          <p:cNvCxnSpPr/>
          <p:nvPr/>
        </p:nvCxnSpPr>
        <p:spPr>
          <a:xfrm rot="10800000" flipH="1">
            <a:off x="7371879" y="3771869"/>
            <a:ext cx="1" cy="57516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0" name="Google Shape;1310;p58"/>
          <p:cNvCxnSpPr/>
          <p:nvPr/>
        </p:nvCxnSpPr>
        <p:spPr>
          <a:xfrm rot="10800000" flipH="1">
            <a:off x="8262148" y="4759417"/>
            <a:ext cx="511119" cy="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899A3C6-849E-04AB-33A1-E51A889A8606}"/>
              </a:ext>
            </a:extLst>
          </p:cNvPr>
          <p:cNvSpPr/>
          <p:nvPr/>
        </p:nvSpPr>
        <p:spPr>
          <a:xfrm>
            <a:off x="3603946" y="1973957"/>
            <a:ext cx="4150166" cy="29881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BB9F62-F6E6-06BD-1A45-EF089147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VCF Operations Simple Model v1.0</a:t>
            </a:r>
          </a:p>
        </p:txBody>
      </p:sp>
      <p:sp>
        <p:nvSpPr>
          <p:cNvPr id="8" name="Google Shape;1291;p58">
            <a:extLst>
              <a:ext uri="{FF2B5EF4-FFF2-40B4-BE49-F238E27FC236}">
                <a16:creationId xmlns:a16="http://schemas.microsoft.com/office/drawing/2014/main" id="{BB0BF99F-21FA-0831-B42C-74D0B483650F}"/>
              </a:ext>
            </a:extLst>
          </p:cNvPr>
          <p:cNvSpPr/>
          <p:nvPr/>
        </p:nvSpPr>
        <p:spPr>
          <a:xfrm>
            <a:off x="3689290" y="2022725"/>
            <a:ext cx="1752600" cy="12147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9" name="Google Shape;1292;p58">
            <a:extLst>
              <a:ext uri="{FF2B5EF4-FFF2-40B4-BE49-F238E27FC236}">
                <a16:creationId xmlns:a16="http://schemas.microsoft.com/office/drawing/2014/main" id="{09097E73-CC56-FAFB-F46C-9151668A04BE}"/>
              </a:ext>
            </a:extLst>
          </p:cNvPr>
          <p:cNvSpPr/>
          <p:nvPr/>
        </p:nvSpPr>
        <p:spPr>
          <a:xfrm>
            <a:off x="3975003" y="2708388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0" name="Google Shape;1293;p58">
            <a:extLst>
              <a:ext uri="{FF2B5EF4-FFF2-40B4-BE49-F238E27FC236}">
                <a16:creationId xmlns:a16="http://schemas.microsoft.com/office/drawing/2014/main" id="{EA1D9302-4A1B-9BD8-545B-9A34F37D5AB7}"/>
              </a:ext>
            </a:extLst>
          </p:cNvPr>
          <p:cNvSpPr/>
          <p:nvPr/>
        </p:nvSpPr>
        <p:spPr>
          <a:xfrm>
            <a:off x="3975002" y="2259435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1" name="Google Shape;1294;p58">
            <a:extLst>
              <a:ext uri="{FF2B5EF4-FFF2-40B4-BE49-F238E27FC236}">
                <a16:creationId xmlns:a16="http://schemas.microsoft.com/office/drawing/2014/main" id="{E558216D-1C0D-5DD5-A545-FA5AFC6B5786}"/>
              </a:ext>
            </a:extLst>
          </p:cNvPr>
          <p:cNvSpPr/>
          <p:nvPr/>
        </p:nvSpPr>
        <p:spPr>
          <a:xfrm>
            <a:off x="5958861" y="2022729"/>
            <a:ext cx="1752600" cy="281254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" name="Google Shape;1295;p58">
            <a:extLst>
              <a:ext uri="{FF2B5EF4-FFF2-40B4-BE49-F238E27FC236}">
                <a16:creationId xmlns:a16="http://schemas.microsoft.com/office/drawing/2014/main" id="{2909BC9E-48CF-827B-E73A-454346A25312}"/>
              </a:ext>
            </a:extLst>
          </p:cNvPr>
          <p:cNvSpPr/>
          <p:nvPr/>
        </p:nvSpPr>
        <p:spPr>
          <a:xfrm>
            <a:off x="6172228" y="2579735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" name="Google Shape;1296;p58">
            <a:extLst>
              <a:ext uri="{FF2B5EF4-FFF2-40B4-BE49-F238E27FC236}">
                <a16:creationId xmlns:a16="http://schemas.microsoft.com/office/drawing/2014/main" id="{A02ED47D-D35F-F7B9-9163-B35CD331C8FC}"/>
              </a:ext>
            </a:extLst>
          </p:cNvPr>
          <p:cNvSpPr/>
          <p:nvPr/>
        </p:nvSpPr>
        <p:spPr>
          <a:xfrm>
            <a:off x="6067322" y="2288324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4" name="Google Shape;1298;p58">
            <a:extLst>
              <a:ext uri="{FF2B5EF4-FFF2-40B4-BE49-F238E27FC236}">
                <a16:creationId xmlns:a16="http://schemas.microsoft.com/office/drawing/2014/main" id="{839F0467-DB40-A10A-D69A-6DF1D19F21DD}"/>
              </a:ext>
            </a:extLst>
          </p:cNvPr>
          <p:cNvGrpSpPr/>
          <p:nvPr/>
        </p:nvGrpSpPr>
        <p:grpSpPr>
          <a:xfrm>
            <a:off x="3689290" y="3995886"/>
            <a:ext cx="1752600" cy="822007"/>
            <a:chOff x="3761797" y="1666034"/>
            <a:chExt cx="1752600" cy="822007"/>
          </a:xfrm>
          <a:solidFill>
            <a:schemeClr val="lt1"/>
          </a:solidFill>
        </p:grpSpPr>
        <p:sp>
          <p:nvSpPr>
            <p:cNvPr id="15" name="Google Shape;1299;p58">
              <a:extLst>
                <a:ext uri="{FF2B5EF4-FFF2-40B4-BE49-F238E27FC236}">
                  <a16:creationId xmlns:a16="http://schemas.microsoft.com/office/drawing/2014/main" id="{438EC75B-088D-EC2F-03E1-9BE4FF2FA37F}"/>
                </a:ext>
              </a:extLst>
            </p:cNvPr>
            <p:cNvSpPr/>
            <p:nvPr/>
          </p:nvSpPr>
          <p:spPr>
            <a:xfrm>
              <a:off x="4062432" y="1934274"/>
              <a:ext cx="1181174" cy="357028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6" name="Google Shape;1300;p58">
              <a:extLst>
                <a:ext uri="{FF2B5EF4-FFF2-40B4-BE49-F238E27FC236}">
                  <a16:creationId xmlns:a16="http://schemas.microsoft.com/office/drawing/2014/main" id="{1E9976CF-10E7-1B62-CD4A-078FCB0480CE}"/>
                </a:ext>
              </a:extLst>
            </p:cNvPr>
            <p:cNvSpPr/>
            <p:nvPr/>
          </p:nvSpPr>
          <p:spPr>
            <a:xfrm>
              <a:off x="3761797" y="1666034"/>
              <a:ext cx="1752600" cy="822007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  <p:sp>
        <p:nvSpPr>
          <p:cNvPr id="17" name="Google Shape;1301;p58">
            <a:extLst>
              <a:ext uri="{FF2B5EF4-FFF2-40B4-BE49-F238E27FC236}">
                <a16:creationId xmlns:a16="http://schemas.microsoft.com/office/drawing/2014/main" id="{A4ECBAE3-BD3C-BCA1-0D0E-652E7166D8DB}"/>
              </a:ext>
            </a:extLst>
          </p:cNvPr>
          <p:cNvSpPr/>
          <p:nvPr/>
        </p:nvSpPr>
        <p:spPr>
          <a:xfrm>
            <a:off x="6167481" y="2844769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8" name="Google Shape;1302;p58">
            <a:extLst>
              <a:ext uri="{FF2B5EF4-FFF2-40B4-BE49-F238E27FC236}">
                <a16:creationId xmlns:a16="http://schemas.microsoft.com/office/drawing/2014/main" id="{66623C03-FCD6-EC38-B9EE-D662BB82CE72}"/>
              </a:ext>
            </a:extLst>
          </p:cNvPr>
          <p:cNvSpPr/>
          <p:nvPr/>
        </p:nvSpPr>
        <p:spPr>
          <a:xfrm>
            <a:off x="6172228" y="3123774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" name="Google Shape;1303;p58">
            <a:extLst>
              <a:ext uri="{FF2B5EF4-FFF2-40B4-BE49-F238E27FC236}">
                <a16:creationId xmlns:a16="http://schemas.microsoft.com/office/drawing/2014/main" id="{3BA74AAC-DCB5-7B2B-2BB6-44A480A542B5}"/>
              </a:ext>
            </a:extLst>
          </p:cNvPr>
          <p:cNvSpPr/>
          <p:nvPr/>
        </p:nvSpPr>
        <p:spPr>
          <a:xfrm>
            <a:off x="6172228" y="381269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0" name="Google Shape;1304;p58">
            <a:extLst>
              <a:ext uri="{FF2B5EF4-FFF2-40B4-BE49-F238E27FC236}">
                <a16:creationId xmlns:a16="http://schemas.microsoft.com/office/drawing/2014/main" id="{CD66628B-0B19-C552-A1B6-18CD7DB7995F}"/>
              </a:ext>
            </a:extLst>
          </p:cNvPr>
          <p:cNvSpPr/>
          <p:nvPr/>
        </p:nvSpPr>
        <p:spPr>
          <a:xfrm>
            <a:off x="6067322" y="3521281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" name="Google Shape;1305;p58">
            <a:extLst>
              <a:ext uri="{FF2B5EF4-FFF2-40B4-BE49-F238E27FC236}">
                <a16:creationId xmlns:a16="http://schemas.microsoft.com/office/drawing/2014/main" id="{C41AAAB7-2B0F-7B7C-A576-05E9A669EF94}"/>
              </a:ext>
            </a:extLst>
          </p:cNvPr>
          <p:cNvSpPr/>
          <p:nvPr/>
        </p:nvSpPr>
        <p:spPr>
          <a:xfrm>
            <a:off x="6167481" y="407772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2" name="Google Shape;1306;p58">
            <a:extLst>
              <a:ext uri="{FF2B5EF4-FFF2-40B4-BE49-F238E27FC236}">
                <a16:creationId xmlns:a16="http://schemas.microsoft.com/office/drawing/2014/main" id="{CBC0714F-9A0F-83C1-3E22-9D19D9109704}"/>
              </a:ext>
            </a:extLst>
          </p:cNvPr>
          <p:cNvSpPr/>
          <p:nvPr/>
        </p:nvSpPr>
        <p:spPr>
          <a:xfrm>
            <a:off x="6172228" y="4356731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" name="Google Shape;1307;p58">
            <a:extLst>
              <a:ext uri="{FF2B5EF4-FFF2-40B4-BE49-F238E27FC236}">
                <a16:creationId xmlns:a16="http://schemas.microsoft.com/office/drawing/2014/main" id="{A66E7C73-0500-8607-21E7-0E334D6C31E7}"/>
              </a:ext>
            </a:extLst>
          </p:cNvPr>
          <p:cNvCxnSpPr>
            <a:stCxn id="16" idx="0"/>
            <a:endCxn id="8" idx="2"/>
          </p:cNvCxnSpPr>
          <p:nvPr/>
        </p:nvCxnSpPr>
        <p:spPr>
          <a:xfrm rot="10800000">
            <a:off x="4565590" y="3237486"/>
            <a:ext cx="0" cy="758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1308;p58">
            <a:extLst>
              <a:ext uri="{FF2B5EF4-FFF2-40B4-BE49-F238E27FC236}">
                <a16:creationId xmlns:a16="http://schemas.microsoft.com/office/drawing/2014/main" id="{54596D54-A376-A057-5BBD-F5070529FE55}"/>
              </a:ext>
            </a:extLst>
          </p:cNvPr>
          <p:cNvCxnSpPr>
            <a:stCxn id="16" idx="3"/>
          </p:cNvCxnSpPr>
          <p:nvPr/>
        </p:nvCxnSpPr>
        <p:spPr>
          <a:xfrm>
            <a:off x="5441890" y="4406890"/>
            <a:ext cx="511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06800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3B1D-27DC-7583-740B-22B18094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C8CD02C-FB58-ED5E-876D-D95403C072EF}"/>
              </a:ext>
            </a:extLst>
          </p:cNvPr>
          <p:cNvSpPr/>
          <p:nvPr/>
        </p:nvSpPr>
        <p:spPr>
          <a:xfrm>
            <a:off x="3772576" y="1637725"/>
            <a:ext cx="4225376" cy="3738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299D662-2B54-4EDF-11BE-DF88D32C8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VCF Operations High Availability Model v1.0</a:t>
            </a:r>
          </a:p>
        </p:txBody>
      </p:sp>
      <p:sp>
        <p:nvSpPr>
          <p:cNvPr id="2" name="Google Shape;1273;p58">
            <a:extLst>
              <a:ext uri="{FF2B5EF4-FFF2-40B4-BE49-F238E27FC236}">
                <a16:creationId xmlns:a16="http://schemas.microsoft.com/office/drawing/2014/main" id="{34C58C77-3A31-45D8-B468-F6223CA7BB3D}"/>
              </a:ext>
            </a:extLst>
          </p:cNvPr>
          <p:cNvSpPr/>
          <p:nvPr/>
        </p:nvSpPr>
        <p:spPr>
          <a:xfrm>
            <a:off x="3862108" y="1696552"/>
            <a:ext cx="1752600" cy="20927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" name="Google Shape;1274;p58">
            <a:extLst>
              <a:ext uri="{FF2B5EF4-FFF2-40B4-BE49-F238E27FC236}">
                <a16:creationId xmlns:a16="http://schemas.microsoft.com/office/drawing/2014/main" id="{8FD2EF19-33CA-23E0-665C-A079ADC38526}"/>
              </a:ext>
            </a:extLst>
          </p:cNvPr>
          <p:cNvSpPr/>
          <p:nvPr/>
        </p:nvSpPr>
        <p:spPr>
          <a:xfrm>
            <a:off x="4147821" y="2382215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4" name="Google Shape;1275;p58">
            <a:extLst>
              <a:ext uri="{FF2B5EF4-FFF2-40B4-BE49-F238E27FC236}">
                <a16:creationId xmlns:a16="http://schemas.microsoft.com/office/drawing/2014/main" id="{9495A179-9C7F-1524-2AE3-C01FB542A215}"/>
              </a:ext>
            </a:extLst>
          </p:cNvPr>
          <p:cNvSpPr/>
          <p:nvPr/>
        </p:nvSpPr>
        <p:spPr>
          <a:xfrm>
            <a:off x="4147821" y="2822367"/>
            <a:ext cx="1181174" cy="35919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Replica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5" name="Google Shape;1276;p58">
            <a:extLst>
              <a:ext uri="{FF2B5EF4-FFF2-40B4-BE49-F238E27FC236}">
                <a16:creationId xmlns:a16="http://schemas.microsoft.com/office/drawing/2014/main" id="{2D797E7A-AE18-6818-016D-FA9FCB307586}"/>
              </a:ext>
            </a:extLst>
          </p:cNvPr>
          <p:cNvSpPr/>
          <p:nvPr/>
        </p:nvSpPr>
        <p:spPr>
          <a:xfrm>
            <a:off x="4147821" y="3262173"/>
            <a:ext cx="1181174" cy="36033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Data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Google Shape;1277;p58">
            <a:extLst>
              <a:ext uri="{FF2B5EF4-FFF2-40B4-BE49-F238E27FC236}">
                <a16:creationId xmlns:a16="http://schemas.microsoft.com/office/drawing/2014/main" id="{F69A57C1-A7E3-3EDC-CF72-25C4C4FF1F80}"/>
              </a:ext>
            </a:extLst>
          </p:cNvPr>
          <p:cNvSpPr/>
          <p:nvPr/>
        </p:nvSpPr>
        <p:spPr>
          <a:xfrm>
            <a:off x="4147820" y="1933262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1278;p58">
            <a:extLst>
              <a:ext uri="{FF2B5EF4-FFF2-40B4-BE49-F238E27FC236}">
                <a16:creationId xmlns:a16="http://schemas.microsoft.com/office/drawing/2014/main" id="{548C5222-8F43-6071-90E4-8193A511EFD0}"/>
              </a:ext>
            </a:extLst>
          </p:cNvPr>
          <p:cNvSpPr/>
          <p:nvPr/>
        </p:nvSpPr>
        <p:spPr>
          <a:xfrm>
            <a:off x="6153764" y="2409904"/>
            <a:ext cx="1752600" cy="281254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7" name="Google Shape;1279;p58">
            <a:extLst>
              <a:ext uri="{FF2B5EF4-FFF2-40B4-BE49-F238E27FC236}">
                <a16:creationId xmlns:a16="http://schemas.microsoft.com/office/drawing/2014/main" id="{F79D18E5-A222-7904-AD28-307ACD497A19}"/>
              </a:ext>
            </a:extLst>
          </p:cNvPr>
          <p:cNvSpPr/>
          <p:nvPr/>
        </p:nvSpPr>
        <p:spPr>
          <a:xfrm>
            <a:off x="6367131" y="296691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8" name="Google Shape;1280;p58">
            <a:extLst>
              <a:ext uri="{FF2B5EF4-FFF2-40B4-BE49-F238E27FC236}">
                <a16:creationId xmlns:a16="http://schemas.microsoft.com/office/drawing/2014/main" id="{CFEBCD2F-01CA-1C47-1901-6D0970AEDBBF}"/>
              </a:ext>
            </a:extLst>
          </p:cNvPr>
          <p:cNvSpPr/>
          <p:nvPr/>
        </p:nvSpPr>
        <p:spPr>
          <a:xfrm>
            <a:off x="6262225" y="2675499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29" name="Google Shape;1282;p58">
            <a:extLst>
              <a:ext uri="{FF2B5EF4-FFF2-40B4-BE49-F238E27FC236}">
                <a16:creationId xmlns:a16="http://schemas.microsoft.com/office/drawing/2014/main" id="{A35C6FD2-7B23-2392-1018-D1049EF83B14}"/>
              </a:ext>
            </a:extLst>
          </p:cNvPr>
          <p:cNvGrpSpPr/>
          <p:nvPr/>
        </p:nvGrpSpPr>
        <p:grpSpPr>
          <a:xfrm>
            <a:off x="3862108" y="4400439"/>
            <a:ext cx="1752600" cy="822007"/>
            <a:chOff x="8833581" y="1666053"/>
            <a:chExt cx="1752600" cy="822007"/>
          </a:xfrm>
          <a:solidFill>
            <a:schemeClr val="lt1"/>
          </a:solidFill>
        </p:grpSpPr>
        <p:sp>
          <p:nvSpPr>
            <p:cNvPr id="30" name="Google Shape;1283;p58">
              <a:extLst>
                <a:ext uri="{FF2B5EF4-FFF2-40B4-BE49-F238E27FC236}">
                  <a16:creationId xmlns:a16="http://schemas.microsoft.com/office/drawing/2014/main" id="{867D6F28-D02E-8C6F-9163-C31F460A4B6A}"/>
                </a:ext>
              </a:extLst>
            </p:cNvPr>
            <p:cNvSpPr/>
            <p:nvPr/>
          </p:nvSpPr>
          <p:spPr>
            <a:xfrm>
              <a:off x="9119294" y="1934274"/>
              <a:ext cx="1181174" cy="357028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31" name="Google Shape;1284;p58">
              <a:extLst>
                <a:ext uri="{FF2B5EF4-FFF2-40B4-BE49-F238E27FC236}">
                  <a16:creationId xmlns:a16="http://schemas.microsoft.com/office/drawing/2014/main" id="{7150224C-BBD0-7C58-8F42-17AA1047E424}"/>
                </a:ext>
              </a:extLst>
            </p:cNvPr>
            <p:cNvSpPr/>
            <p:nvPr/>
          </p:nvSpPr>
          <p:spPr>
            <a:xfrm>
              <a:off x="8833581" y="1666053"/>
              <a:ext cx="1752600" cy="822007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  <p:sp>
        <p:nvSpPr>
          <p:cNvPr id="32" name="Google Shape;1285;p58">
            <a:extLst>
              <a:ext uri="{FF2B5EF4-FFF2-40B4-BE49-F238E27FC236}">
                <a16:creationId xmlns:a16="http://schemas.microsoft.com/office/drawing/2014/main" id="{0BB37C15-80BB-40E2-F002-27AE77AD3FBC}"/>
              </a:ext>
            </a:extLst>
          </p:cNvPr>
          <p:cNvSpPr/>
          <p:nvPr/>
        </p:nvSpPr>
        <p:spPr>
          <a:xfrm>
            <a:off x="6362384" y="323194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3" name="Google Shape;1286;p58">
            <a:extLst>
              <a:ext uri="{FF2B5EF4-FFF2-40B4-BE49-F238E27FC236}">
                <a16:creationId xmlns:a16="http://schemas.microsoft.com/office/drawing/2014/main" id="{F7A5BAE7-7404-F872-80F6-D6B1972A1AAC}"/>
              </a:ext>
            </a:extLst>
          </p:cNvPr>
          <p:cNvSpPr/>
          <p:nvPr/>
        </p:nvSpPr>
        <p:spPr>
          <a:xfrm>
            <a:off x="6367131" y="3510949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4" name="Google Shape;1287;p58">
            <a:extLst>
              <a:ext uri="{FF2B5EF4-FFF2-40B4-BE49-F238E27FC236}">
                <a16:creationId xmlns:a16="http://schemas.microsoft.com/office/drawing/2014/main" id="{18AEEFFD-8CD9-4EA6-7579-30F0B0D57A49}"/>
              </a:ext>
            </a:extLst>
          </p:cNvPr>
          <p:cNvSpPr/>
          <p:nvPr/>
        </p:nvSpPr>
        <p:spPr>
          <a:xfrm>
            <a:off x="6367131" y="4199867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5" name="Google Shape;1288;p58">
            <a:extLst>
              <a:ext uri="{FF2B5EF4-FFF2-40B4-BE49-F238E27FC236}">
                <a16:creationId xmlns:a16="http://schemas.microsoft.com/office/drawing/2014/main" id="{0E978A4C-F0A0-849D-9796-70D3C4AFB42B}"/>
              </a:ext>
            </a:extLst>
          </p:cNvPr>
          <p:cNvSpPr/>
          <p:nvPr/>
        </p:nvSpPr>
        <p:spPr>
          <a:xfrm>
            <a:off x="6262225" y="3908456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6" name="Google Shape;1289;p58">
            <a:extLst>
              <a:ext uri="{FF2B5EF4-FFF2-40B4-BE49-F238E27FC236}">
                <a16:creationId xmlns:a16="http://schemas.microsoft.com/office/drawing/2014/main" id="{86B5A08F-F45E-A875-FEC1-C041093B45FC}"/>
              </a:ext>
            </a:extLst>
          </p:cNvPr>
          <p:cNvSpPr/>
          <p:nvPr/>
        </p:nvSpPr>
        <p:spPr>
          <a:xfrm>
            <a:off x="6362384" y="4464901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7" name="Google Shape;1290;p58">
            <a:extLst>
              <a:ext uri="{FF2B5EF4-FFF2-40B4-BE49-F238E27FC236}">
                <a16:creationId xmlns:a16="http://schemas.microsoft.com/office/drawing/2014/main" id="{7861C3EF-A4F0-0F00-2FE5-C18BEA92E9E5}"/>
              </a:ext>
            </a:extLst>
          </p:cNvPr>
          <p:cNvSpPr/>
          <p:nvPr/>
        </p:nvSpPr>
        <p:spPr>
          <a:xfrm>
            <a:off x="6367131" y="4743906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38" name="Google Shape;1309;p58">
            <a:extLst>
              <a:ext uri="{FF2B5EF4-FFF2-40B4-BE49-F238E27FC236}">
                <a16:creationId xmlns:a16="http://schemas.microsoft.com/office/drawing/2014/main" id="{806ECBA8-484C-1738-713F-35F63C24B78D}"/>
              </a:ext>
            </a:extLst>
          </p:cNvPr>
          <p:cNvCxnSpPr/>
          <p:nvPr/>
        </p:nvCxnSpPr>
        <p:spPr>
          <a:xfrm rot="10800000" flipH="1">
            <a:off x="4738407" y="3802368"/>
            <a:ext cx="1" cy="57516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310;p58">
            <a:extLst>
              <a:ext uri="{FF2B5EF4-FFF2-40B4-BE49-F238E27FC236}">
                <a16:creationId xmlns:a16="http://schemas.microsoft.com/office/drawing/2014/main" id="{D1AFDC37-188D-0C74-A333-659B8D873891}"/>
              </a:ext>
            </a:extLst>
          </p:cNvPr>
          <p:cNvCxnSpPr/>
          <p:nvPr/>
        </p:nvCxnSpPr>
        <p:spPr>
          <a:xfrm rot="10800000" flipH="1">
            <a:off x="5628676" y="4789916"/>
            <a:ext cx="511119" cy="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3982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60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for Logs Models</a:t>
            </a:r>
            <a:endParaRPr/>
          </a:p>
        </p:txBody>
      </p:sp>
      <p:sp>
        <p:nvSpPr>
          <p:cNvPr id="1316" name="Google Shape;1316;p60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61"/>
          <p:cNvSpPr/>
          <p:nvPr/>
        </p:nvSpPr>
        <p:spPr>
          <a:xfrm>
            <a:off x="6328801" y="1058912"/>
            <a:ext cx="4412918" cy="505938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High Availability - 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26" name="Google Shape;1326;p61"/>
          <p:cNvSpPr/>
          <p:nvPr/>
        </p:nvSpPr>
        <p:spPr>
          <a:xfrm>
            <a:off x="1271939" y="1058912"/>
            <a:ext cx="4412918" cy="505938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Simple - 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21" name="Google Shape;1321;p6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VCF Operations for Logs Models v1.1</a:t>
            </a:r>
            <a:endParaRPr sz="2400" dirty="0"/>
          </a:p>
        </p:txBody>
      </p:sp>
      <p:sp>
        <p:nvSpPr>
          <p:cNvPr id="1323" name="Google Shape;1323;p61"/>
          <p:cNvSpPr/>
          <p:nvPr/>
        </p:nvSpPr>
        <p:spPr>
          <a:xfrm>
            <a:off x="1430328" y="1431161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24" name="Google Shape;1324;p61"/>
          <p:cNvSpPr/>
          <p:nvPr/>
        </p:nvSpPr>
        <p:spPr>
          <a:xfrm>
            <a:off x="1562124" y="1722054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25" name="Google Shape;1325;p61"/>
          <p:cNvSpPr/>
          <p:nvPr/>
        </p:nvSpPr>
        <p:spPr>
          <a:xfrm>
            <a:off x="2852095" y="1721579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27" name="Google Shape;1327;p61"/>
          <p:cNvSpPr/>
          <p:nvPr/>
        </p:nvSpPr>
        <p:spPr>
          <a:xfrm>
            <a:off x="4142067" y="1721579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28" name="Google Shape;1328;p61"/>
          <p:cNvSpPr/>
          <p:nvPr/>
        </p:nvSpPr>
        <p:spPr>
          <a:xfrm>
            <a:off x="2429072" y="2608203"/>
            <a:ext cx="2011709" cy="13757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29" name="Google Shape;1329;p61"/>
          <p:cNvCxnSpPr>
            <a:stCxn id="1328" idx="0"/>
            <a:endCxn id="1323" idx="2"/>
          </p:cNvCxnSpPr>
          <p:nvPr/>
        </p:nvCxnSpPr>
        <p:spPr>
          <a:xfrm rot="10800000" flipH="1">
            <a:off x="3434927" y="2207103"/>
            <a:ext cx="66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30" name="Google Shape;1330;p61"/>
          <p:cNvCxnSpPr>
            <a:stCxn id="1331" idx="0"/>
            <a:endCxn id="1328" idx="2"/>
          </p:cNvCxnSpPr>
          <p:nvPr/>
        </p:nvCxnSpPr>
        <p:spPr>
          <a:xfrm rot="10800000" flipH="1">
            <a:off x="3430088" y="3983946"/>
            <a:ext cx="4800" cy="393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32" name="Google Shape;1332;p61"/>
          <p:cNvSpPr/>
          <p:nvPr/>
        </p:nvSpPr>
        <p:spPr>
          <a:xfrm>
            <a:off x="2865744" y="3550629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3" name="Google Shape;1333;p61"/>
          <p:cNvSpPr/>
          <p:nvPr/>
        </p:nvSpPr>
        <p:spPr>
          <a:xfrm>
            <a:off x="2865743" y="2870512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Internal Load Balancer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1" name="Google Shape;1331;p61"/>
          <p:cNvSpPr/>
          <p:nvPr/>
        </p:nvSpPr>
        <p:spPr>
          <a:xfrm>
            <a:off x="1703649" y="4377846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4" name="Google Shape;1334;p61"/>
          <p:cNvSpPr/>
          <p:nvPr/>
        </p:nvSpPr>
        <p:spPr>
          <a:xfrm>
            <a:off x="1812109" y="4665542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5" name="Google Shape;1335;p61"/>
          <p:cNvSpPr/>
          <p:nvPr/>
        </p:nvSpPr>
        <p:spPr>
          <a:xfrm>
            <a:off x="1904430" y="496675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6" name="Google Shape;1336;p61"/>
          <p:cNvSpPr/>
          <p:nvPr/>
        </p:nvSpPr>
        <p:spPr>
          <a:xfrm>
            <a:off x="1899683" y="523178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7" name="Google Shape;1337;p61"/>
          <p:cNvSpPr/>
          <p:nvPr/>
        </p:nvSpPr>
        <p:spPr>
          <a:xfrm>
            <a:off x="3491402" y="4666633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8" name="Google Shape;1338;p61"/>
          <p:cNvSpPr/>
          <p:nvPr/>
        </p:nvSpPr>
        <p:spPr>
          <a:xfrm>
            <a:off x="3583723" y="496784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9" name="Google Shape;1339;p61"/>
          <p:cNvSpPr/>
          <p:nvPr/>
        </p:nvSpPr>
        <p:spPr>
          <a:xfrm>
            <a:off x="3578976" y="523287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40" name="Google Shape;1340;p61"/>
          <p:cNvSpPr/>
          <p:nvPr/>
        </p:nvSpPr>
        <p:spPr>
          <a:xfrm>
            <a:off x="1899683" y="549681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41" name="Google Shape;1341;p61"/>
          <p:cNvCxnSpPr>
            <a:stCxn id="1333" idx="2"/>
            <a:endCxn id="1332" idx="0"/>
          </p:cNvCxnSpPr>
          <p:nvPr/>
        </p:nvCxnSpPr>
        <p:spPr>
          <a:xfrm>
            <a:off x="3456331" y="3230530"/>
            <a:ext cx="0" cy="32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42" name="Google Shape;1342;p61"/>
          <p:cNvSpPr/>
          <p:nvPr/>
        </p:nvSpPr>
        <p:spPr>
          <a:xfrm>
            <a:off x="6546500" y="1431161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43" name="Google Shape;1343;p61"/>
          <p:cNvSpPr/>
          <p:nvPr/>
        </p:nvSpPr>
        <p:spPr>
          <a:xfrm>
            <a:off x="6678296" y="1722054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44" name="Google Shape;1344;p61"/>
          <p:cNvSpPr/>
          <p:nvPr/>
        </p:nvSpPr>
        <p:spPr>
          <a:xfrm>
            <a:off x="7968267" y="1721579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45" name="Google Shape;1345;p61"/>
          <p:cNvSpPr/>
          <p:nvPr/>
        </p:nvSpPr>
        <p:spPr>
          <a:xfrm>
            <a:off x="9258239" y="1721579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46" name="Google Shape;1346;p61"/>
          <p:cNvSpPr/>
          <p:nvPr/>
        </p:nvSpPr>
        <p:spPr>
          <a:xfrm>
            <a:off x="6546500" y="2608203"/>
            <a:ext cx="4022173" cy="13757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47" name="Google Shape;1347;p61"/>
          <p:cNvCxnSpPr>
            <a:stCxn id="1346" idx="0"/>
            <a:endCxn id="1342" idx="2"/>
          </p:cNvCxnSpPr>
          <p:nvPr/>
        </p:nvCxnSpPr>
        <p:spPr>
          <a:xfrm rot="10800000">
            <a:off x="8557587" y="2207103"/>
            <a:ext cx="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48" name="Google Shape;1348;p61"/>
          <p:cNvCxnSpPr>
            <a:stCxn id="1349" idx="0"/>
            <a:endCxn id="1346" idx="2"/>
          </p:cNvCxnSpPr>
          <p:nvPr/>
        </p:nvCxnSpPr>
        <p:spPr>
          <a:xfrm rot="10800000" flipH="1">
            <a:off x="8555175" y="3983982"/>
            <a:ext cx="2400" cy="387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0" name="Google Shape;1350;p61"/>
          <p:cNvSpPr/>
          <p:nvPr/>
        </p:nvSpPr>
        <p:spPr>
          <a:xfrm>
            <a:off x="7981916" y="3550629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1" name="Google Shape;1351;p61"/>
          <p:cNvSpPr/>
          <p:nvPr/>
        </p:nvSpPr>
        <p:spPr>
          <a:xfrm>
            <a:off x="7981915" y="2870512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Internal Load Balancer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49" name="Google Shape;1349;p61"/>
          <p:cNvSpPr/>
          <p:nvPr/>
        </p:nvSpPr>
        <p:spPr>
          <a:xfrm>
            <a:off x="6828736" y="4371582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2" name="Google Shape;1352;p61"/>
          <p:cNvSpPr/>
          <p:nvPr/>
        </p:nvSpPr>
        <p:spPr>
          <a:xfrm>
            <a:off x="6937196" y="4659278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3" name="Google Shape;1353;p61"/>
          <p:cNvSpPr/>
          <p:nvPr/>
        </p:nvSpPr>
        <p:spPr>
          <a:xfrm>
            <a:off x="7029517" y="496048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4" name="Google Shape;1354;p61"/>
          <p:cNvSpPr/>
          <p:nvPr/>
        </p:nvSpPr>
        <p:spPr>
          <a:xfrm>
            <a:off x="7024770" y="522552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5" name="Google Shape;1355;p61"/>
          <p:cNvSpPr/>
          <p:nvPr/>
        </p:nvSpPr>
        <p:spPr>
          <a:xfrm>
            <a:off x="8616489" y="4660369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6" name="Google Shape;1356;p61"/>
          <p:cNvSpPr/>
          <p:nvPr/>
        </p:nvSpPr>
        <p:spPr>
          <a:xfrm>
            <a:off x="8708810" y="496157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7" name="Google Shape;1357;p61"/>
          <p:cNvSpPr/>
          <p:nvPr/>
        </p:nvSpPr>
        <p:spPr>
          <a:xfrm>
            <a:off x="8704063" y="522661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8" name="Google Shape;1358;p61"/>
          <p:cNvSpPr/>
          <p:nvPr/>
        </p:nvSpPr>
        <p:spPr>
          <a:xfrm>
            <a:off x="7024770" y="549055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59" name="Google Shape;1359;p61"/>
          <p:cNvCxnSpPr>
            <a:stCxn id="1351" idx="2"/>
            <a:endCxn id="1350" idx="0"/>
          </p:cNvCxnSpPr>
          <p:nvPr/>
        </p:nvCxnSpPr>
        <p:spPr>
          <a:xfrm>
            <a:off x="8572503" y="3230530"/>
            <a:ext cx="0" cy="32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60" name="Google Shape;1360;p61"/>
          <p:cNvSpPr/>
          <p:nvPr/>
        </p:nvSpPr>
        <p:spPr>
          <a:xfrm>
            <a:off x="6678296" y="3550629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61" name="Google Shape;1361;p61"/>
          <p:cNvSpPr/>
          <p:nvPr/>
        </p:nvSpPr>
        <p:spPr>
          <a:xfrm>
            <a:off x="9258239" y="3550629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62" name="Google Shape;1362;p61"/>
          <p:cNvCxnSpPr>
            <a:stCxn id="1351" idx="2"/>
            <a:endCxn id="1360" idx="0"/>
          </p:cNvCxnSpPr>
          <p:nvPr/>
        </p:nvCxnSpPr>
        <p:spPr>
          <a:xfrm rot="5400000">
            <a:off x="7760703" y="2738830"/>
            <a:ext cx="320100" cy="13035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63" name="Google Shape;1363;p61"/>
          <p:cNvCxnSpPr>
            <a:stCxn id="1351" idx="2"/>
            <a:endCxn id="1361" idx="0"/>
          </p:cNvCxnSpPr>
          <p:nvPr/>
        </p:nvCxnSpPr>
        <p:spPr>
          <a:xfrm rot="-5400000" flipH="1">
            <a:off x="9050553" y="2752480"/>
            <a:ext cx="320100" cy="12762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DACA586-6274-6DE8-DEEF-0B83FCF990CD}"/>
              </a:ext>
            </a:extLst>
          </p:cNvPr>
          <p:cNvSpPr/>
          <p:nvPr/>
        </p:nvSpPr>
        <p:spPr>
          <a:xfrm>
            <a:off x="3474691" y="1182122"/>
            <a:ext cx="4129224" cy="46892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18754C-D58E-9F97-9881-AC713DA0C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Simple VCF Operations for Logs Model v1.0</a:t>
            </a:r>
          </a:p>
        </p:txBody>
      </p:sp>
      <p:sp>
        <p:nvSpPr>
          <p:cNvPr id="6" name="Google Shape;1323;p61">
            <a:extLst>
              <a:ext uri="{FF2B5EF4-FFF2-40B4-BE49-F238E27FC236}">
                <a16:creationId xmlns:a16="http://schemas.microsoft.com/office/drawing/2014/main" id="{81C6A0A1-EF3C-8F3E-EC02-2CD0AC6665D4}"/>
              </a:ext>
            </a:extLst>
          </p:cNvPr>
          <p:cNvSpPr/>
          <p:nvPr/>
        </p:nvSpPr>
        <p:spPr>
          <a:xfrm>
            <a:off x="3539544" y="1284857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1324;p61">
            <a:extLst>
              <a:ext uri="{FF2B5EF4-FFF2-40B4-BE49-F238E27FC236}">
                <a16:creationId xmlns:a16="http://schemas.microsoft.com/office/drawing/2014/main" id="{F6D16100-1841-CD2E-3A72-6E1C77FB62B4}"/>
              </a:ext>
            </a:extLst>
          </p:cNvPr>
          <p:cNvSpPr/>
          <p:nvPr/>
        </p:nvSpPr>
        <p:spPr>
          <a:xfrm>
            <a:off x="3671340" y="1575750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8" name="Google Shape;1325;p61">
            <a:extLst>
              <a:ext uri="{FF2B5EF4-FFF2-40B4-BE49-F238E27FC236}">
                <a16:creationId xmlns:a16="http://schemas.microsoft.com/office/drawing/2014/main" id="{6114946F-8CFB-9B30-7A1A-0D980DC3E29A}"/>
              </a:ext>
            </a:extLst>
          </p:cNvPr>
          <p:cNvSpPr/>
          <p:nvPr/>
        </p:nvSpPr>
        <p:spPr>
          <a:xfrm>
            <a:off x="4961311" y="1575275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9" name="Google Shape;1327;p61">
            <a:extLst>
              <a:ext uri="{FF2B5EF4-FFF2-40B4-BE49-F238E27FC236}">
                <a16:creationId xmlns:a16="http://schemas.microsoft.com/office/drawing/2014/main" id="{8DA3CB2A-A0AB-918A-12DC-A49B54A52C3F}"/>
              </a:ext>
            </a:extLst>
          </p:cNvPr>
          <p:cNvSpPr/>
          <p:nvPr/>
        </p:nvSpPr>
        <p:spPr>
          <a:xfrm>
            <a:off x="6251283" y="1575275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0" name="Google Shape;1328;p61">
            <a:extLst>
              <a:ext uri="{FF2B5EF4-FFF2-40B4-BE49-F238E27FC236}">
                <a16:creationId xmlns:a16="http://schemas.microsoft.com/office/drawing/2014/main" id="{EFDADC0A-E46F-CB10-E15F-9A7F6EE4F419}"/>
              </a:ext>
            </a:extLst>
          </p:cNvPr>
          <p:cNvSpPr/>
          <p:nvPr/>
        </p:nvSpPr>
        <p:spPr>
          <a:xfrm>
            <a:off x="4538288" y="2461899"/>
            <a:ext cx="2011709" cy="13757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1" name="Google Shape;1329;p61">
            <a:extLst>
              <a:ext uri="{FF2B5EF4-FFF2-40B4-BE49-F238E27FC236}">
                <a16:creationId xmlns:a16="http://schemas.microsoft.com/office/drawing/2014/main" id="{2CF76E44-F9CF-193E-42AA-90CF71A94E57}"/>
              </a:ext>
            </a:extLst>
          </p:cNvPr>
          <p:cNvCxnSpPr>
            <a:stCxn id="10" idx="0"/>
            <a:endCxn id="6" idx="2"/>
          </p:cNvCxnSpPr>
          <p:nvPr/>
        </p:nvCxnSpPr>
        <p:spPr>
          <a:xfrm rot="10800000" flipH="1">
            <a:off x="5544143" y="2060799"/>
            <a:ext cx="66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1330;p61">
            <a:extLst>
              <a:ext uri="{FF2B5EF4-FFF2-40B4-BE49-F238E27FC236}">
                <a16:creationId xmlns:a16="http://schemas.microsoft.com/office/drawing/2014/main" id="{B92E0BF8-9A9B-88CA-EB3F-EC4FF694099B}"/>
              </a:ext>
            </a:extLst>
          </p:cNvPr>
          <p:cNvCxnSpPr>
            <a:stCxn id="15" idx="0"/>
            <a:endCxn id="10" idx="2"/>
          </p:cNvCxnSpPr>
          <p:nvPr/>
        </p:nvCxnSpPr>
        <p:spPr>
          <a:xfrm rot="10800000" flipH="1">
            <a:off x="5539304" y="3837642"/>
            <a:ext cx="4800" cy="393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Google Shape;1332;p61">
            <a:extLst>
              <a:ext uri="{FF2B5EF4-FFF2-40B4-BE49-F238E27FC236}">
                <a16:creationId xmlns:a16="http://schemas.microsoft.com/office/drawing/2014/main" id="{237DC36C-2D9E-D6A2-F3E6-AFE3A919C22C}"/>
              </a:ext>
            </a:extLst>
          </p:cNvPr>
          <p:cNvSpPr/>
          <p:nvPr/>
        </p:nvSpPr>
        <p:spPr>
          <a:xfrm>
            <a:off x="4974960" y="3404325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" name="Google Shape;1333;p61">
            <a:extLst>
              <a:ext uri="{FF2B5EF4-FFF2-40B4-BE49-F238E27FC236}">
                <a16:creationId xmlns:a16="http://schemas.microsoft.com/office/drawing/2014/main" id="{B92F52C1-1E53-0BBA-DFC3-196530CC36FB}"/>
              </a:ext>
            </a:extLst>
          </p:cNvPr>
          <p:cNvSpPr/>
          <p:nvPr/>
        </p:nvSpPr>
        <p:spPr>
          <a:xfrm>
            <a:off x="4974959" y="2724208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Internal Load Balancer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5" name="Google Shape;1331;p61">
            <a:extLst>
              <a:ext uri="{FF2B5EF4-FFF2-40B4-BE49-F238E27FC236}">
                <a16:creationId xmlns:a16="http://schemas.microsoft.com/office/drawing/2014/main" id="{EC6EA48D-2FAB-C938-ADCC-20120FED1DDB}"/>
              </a:ext>
            </a:extLst>
          </p:cNvPr>
          <p:cNvSpPr/>
          <p:nvPr/>
        </p:nvSpPr>
        <p:spPr>
          <a:xfrm>
            <a:off x="3812865" y="4231542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6" name="Google Shape;1334;p61">
            <a:extLst>
              <a:ext uri="{FF2B5EF4-FFF2-40B4-BE49-F238E27FC236}">
                <a16:creationId xmlns:a16="http://schemas.microsoft.com/office/drawing/2014/main" id="{988E606F-6068-C0A4-9793-32A1EE05C169}"/>
              </a:ext>
            </a:extLst>
          </p:cNvPr>
          <p:cNvSpPr/>
          <p:nvPr/>
        </p:nvSpPr>
        <p:spPr>
          <a:xfrm>
            <a:off x="3921325" y="4519238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7" name="Google Shape;1335;p61">
            <a:extLst>
              <a:ext uri="{FF2B5EF4-FFF2-40B4-BE49-F238E27FC236}">
                <a16:creationId xmlns:a16="http://schemas.microsoft.com/office/drawing/2014/main" id="{A25434D1-3D5F-EEEC-1EB2-1AF3C496F457}"/>
              </a:ext>
            </a:extLst>
          </p:cNvPr>
          <p:cNvSpPr/>
          <p:nvPr/>
        </p:nvSpPr>
        <p:spPr>
          <a:xfrm>
            <a:off x="4013646" y="482044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8" name="Google Shape;1336;p61">
            <a:extLst>
              <a:ext uri="{FF2B5EF4-FFF2-40B4-BE49-F238E27FC236}">
                <a16:creationId xmlns:a16="http://schemas.microsoft.com/office/drawing/2014/main" id="{326F3044-2DD9-6438-36BB-FEA87C89DE78}"/>
              </a:ext>
            </a:extLst>
          </p:cNvPr>
          <p:cNvSpPr/>
          <p:nvPr/>
        </p:nvSpPr>
        <p:spPr>
          <a:xfrm>
            <a:off x="4008899" y="508548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" name="Google Shape;1337;p61">
            <a:extLst>
              <a:ext uri="{FF2B5EF4-FFF2-40B4-BE49-F238E27FC236}">
                <a16:creationId xmlns:a16="http://schemas.microsoft.com/office/drawing/2014/main" id="{4C4D69B9-3993-1F19-F514-586317007C34}"/>
              </a:ext>
            </a:extLst>
          </p:cNvPr>
          <p:cNvSpPr/>
          <p:nvPr/>
        </p:nvSpPr>
        <p:spPr>
          <a:xfrm>
            <a:off x="5600618" y="4520329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0" name="Google Shape;1338;p61">
            <a:extLst>
              <a:ext uri="{FF2B5EF4-FFF2-40B4-BE49-F238E27FC236}">
                <a16:creationId xmlns:a16="http://schemas.microsoft.com/office/drawing/2014/main" id="{91E82130-69D1-09D6-F3F6-405156EAD200}"/>
              </a:ext>
            </a:extLst>
          </p:cNvPr>
          <p:cNvSpPr/>
          <p:nvPr/>
        </p:nvSpPr>
        <p:spPr>
          <a:xfrm>
            <a:off x="5692939" y="482153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" name="Google Shape;1339;p61">
            <a:extLst>
              <a:ext uri="{FF2B5EF4-FFF2-40B4-BE49-F238E27FC236}">
                <a16:creationId xmlns:a16="http://schemas.microsoft.com/office/drawing/2014/main" id="{C03612C8-C03E-6CA0-98C6-9DA97DB5026D}"/>
              </a:ext>
            </a:extLst>
          </p:cNvPr>
          <p:cNvSpPr/>
          <p:nvPr/>
        </p:nvSpPr>
        <p:spPr>
          <a:xfrm>
            <a:off x="5688192" y="508657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2" name="Google Shape;1340;p61">
            <a:extLst>
              <a:ext uri="{FF2B5EF4-FFF2-40B4-BE49-F238E27FC236}">
                <a16:creationId xmlns:a16="http://schemas.microsoft.com/office/drawing/2014/main" id="{54815CF0-8ED6-C9EE-A814-B17071369B6F}"/>
              </a:ext>
            </a:extLst>
          </p:cNvPr>
          <p:cNvSpPr/>
          <p:nvPr/>
        </p:nvSpPr>
        <p:spPr>
          <a:xfrm>
            <a:off x="4008899" y="535051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" name="Google Shape;1341;p61">
            <a:extLst>
              <a:ext uri="{FF2B5EF4-FFF2-40B4-BE49-F238E27FC236}">
                <a16:creationId xmlns:a16="http://schemas.microsoft.com/office/drawing/2014/main" id="{305F955E-A5FF-7393-6B55-BFDCA349CF95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>
            <a:off x="5565547" y="3084226"/>
            <a:ext cx="0" cy="32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786677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61FCE-4F73-BF3F-46A6-D01AA898F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71B9FBB-C59E-5812-6358-816A1337C5AB}"/>
              </a:ext>
            </a:extLst>
          </p:cNvPr>
          <p:cNvSpPr/>
          <p:nvPr/>
        </p:nvSpPr>
        <p:spPr>
          <a:xfrm>
            <a:off x="3881474" y="1247088"/>
            <a:ext cx="4129224" cy="46892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058F97-9FC4-1625-7A7E-D1A3EC65C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High Availability VCF Operations for Logs Model v1.0</a:t>
            </a:r>
          </a:p>
        </p:txBody>
      </p:sp>
      <p:sp>
        <p:nvSpPr>
          <p:cNvPr id="2" name="Google Shape;1342;p61">
            <a:extLst>
              <a:ext uri="{FF2B5EF4-FFF2-40B4-BE49-F238E27FC236}">
                <a16:creationId xmlns:a16="http://schemas.microsoft.com/office/drawing/2014/main" id="{CD19C3EA-8DB1-0C21-510A-8DF7377FD146}"/>
              </a:ext>
            </a:extLst>
          </p:cNvPr>
          <p:cNvSpPr/>
          <p:nvPr/>
        </p:nvSpPr>
        <p:spPr>
          <a:xfrm>
            <a:off x="3937412" y="1358009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" name="Google Shape;1343;p61">
            <a:extLst>
              <a:ext uri="{FF2B5EF4-FFF2-40B4-BE49-F238E27FC236}">
                <a16:creationId xmlns:a16="http://schemas.microsoft.com/office/drawing/2014/main" id="{AAAAA36B-13B0-2CCD-0BEF-D4FD9E6D395B}"/>
              </a:ext>
            </a:extLst>
          </p:cNvPr>
          <p:cNvSpPr/>
          <p:nvPr/>
        </p:nvSpPr>
        <p:spPr>
          <a:xfrm>
            <a:off x="4069208" y="1648902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4" name="Google Shape;1344;p61">
            <a:extLst>
              <a:ext uri="{FF2B5EF4-FFF2-40B4-BE49-F238E27FC236}">
                <a16:creationId xmlns:a16="http://schemas.microsoft.com/office/drawing/2014/main" id="{7C073FEC-61FD-2D2C-F86A-94FC26867ADD}"/>
              </a:ext>
            </a:extLst>
          </p:cNvPr>
          <p:cNvSpPr/>
          <p:nvPr/>
        </p:nvSpPr>
        <p:spPr>
          <a:xfrm>
            <a:off x="5359179" y="1648427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Google Shape;1345;p61">
            <a:extLst>
              <a:ext uri="{FF2B5EF4-FFF2-40B4-BE49-F238E27FC236}">
                <a16:creationId xmlns:a16="http://schemas.microsoft.com/office/drawing/2014/main" id="{C1CEC98C-3102-E504-0766-4ECAA9EC391F}"/>
              </a:ext>
            </a:extLst>
          </p:cNvPr>
          <p:cNvSpPr/>
          <p:nvPr/>
        </p:nvSpPr>
        <p:spPr>
          <a:xfrm>
            <a:off x="6649151" y="1648427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1346;p61">
            <a:extLst>
              <a:ext uri="{FF2B5EF4-FFF2-40B4-BE49-F238E27FC236}">
                <a16:creationId xmlns:a16="http://schemas.microsoft.com/office/drawing/2014/main" id="{26CDC7DA-97FB-4322-3D29-F1477990B52B}"/>
              </a:ext>
            </a:extLst>
          </p:cNvPr>
          <p:cNvSpPr/>
          <p:nvPr/>
        </p:nvSpPr>
        <p:spPr>
          <a:xfrm>
            <a:off x="3937412" y="2535051"/>
            <a:ext cx="4022173" cy="13757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8" name="Google Shape;1347;p61">
            <a:extLst>
              <a:ext uri="{FF2B5EF4-FFF2-40B4-BE49-F238E27FC236}">
                <a16:creationId xmlns:a16="http://schemas.microsoft.com/office/drawing/2014/main" id="{10CEDF84-A0FF-E49D-DA85-52A6BDA0E8C6}"/>
              </a:ext>
            </a:extLst>
          </p:cNvPr>
          <p:cNvCxnSpPr>
            <a:stCxn id="7" idx="0"/>
            <a:endCxn id="2" idx="2"/>
          </p:cNvCxnSpPr>
          <p:nvPr/>
        </p:nvCxnSpPr>
        <p:spPr>
          <a:xfrm rot="10800000">
            <a:off x="5948499" y="2133951"/>
            <a:ext cx="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" name="Google Shape;1348;p61">
            <a:extLst>
              <a:ext uri="{FF2B5EF4-FFF2-40B4-BE49-F238E27FC236}">
                <a16:creationId xmlns:a16="http://schemas.microsoft.com/office/drawing/2014/main" id="{293D4346-BFA6-ED44-FE65-0CA51DE13573}"/>
              </a:ext>
            </a:extLst>
          </p:cNvPr>
          <p:cNvCxnSpPr>
            <a:stCxn id="12" idx="0"/>
            <a:endCxn id="7" idx="2"/>
          </p:cNvCxnSpPr>
          <p:nvPr/>
        </p:nvCxnSpPr>
        <p:spPr>
          <a:xfrm rot="10800000" flipH="1">
            <a:off x="5946087" y="3910830"/>
            <a:ext cx="2400" cy="387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" name="Google Shape;1350;p61">
            <a:extLst>
              <a:ext uri="{FF2B5EF4-FFF2-40B4-BE49-F238E27FC236}">
                <a16:creationId xmlns:a16="http://schemas.microsoft.com/office/drawing/2014/main" id="{CE643C6B-08C3-CB83-F2A3-1A74E5860551}"/>
              </a:ext>
            </a:extLst>
          </p:cNvPr>
          <p:cNvSpPr/>
          <p:nvPr/>
        </p:nvSpPr>
        <p:spPr>
          <a:xfrm>
            <a:off x="5372828" y="3477477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1" name="Google Shape;1351;p61">
            <a:extLst>
              <a:ext uri="{FF2B5EF4-FFF2-40B4-BE49-F238E27FC236}">
                <a16:creationId xmlns:a16="http://schemas.microsoft.com/office/drawing/2014/main" id="{5D8AB63E-5694-41EA-ABE5-4F895A3AEE87}"/>
              </a:ext>
            </a:extLst>
          </p:cNvPr>
          <p:cNvSpPr/>
          <p:nvPr/>
        </p:nvSpPr>
        <p:spPr>
          <a:xfrm>
            <a:off x="5372827" y="2797360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Internal Load Balancer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" name="Google Shape;1349;p61">
            <a:extLst>
              <a:ext uri="{FF2B5EF4-FFF2-40B4-BE49-F238E27FC236}">
                <a16:creationId xmlns:a16="http://schemas.microsoft.com/office/drawing/2014/main" id="{23F19DDA-248A-E662-9CB8-ED70AB54DA54}"/>
              </a:ext>
            </a:extLst>
          </p:cNvPr>
          <p:cNvSpPr/>
          <p:nvPr/>
        </p:nvSpPr>
        <p:spPr>
          <a:xfrm>
            <a:off x="4219648" y="4298430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" name="Google Shape;1352;p61">
            <a:extLst>
              <a:ext uri="{FF2B5EF4-FFF2-40B4-BE49-F238E27FC236}">
                <a16:creationId xmlns:a16="http://schemas.microsoft.com/office/drawing/2014/main" id="{376AA3A6-F8AD-0E9C-8040-AA30E257F6E3}"/>
              </a:ext>
            </a:extLst>
          </p:cNvPr>
          <p:cNvSpPr/>
          <p:nvPr/>
        </p:nvSpPr>
        <p:spPr>
          <a:xfrm>
            <a:off x="4328108" y="4586126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" name="Google Shape;1353;p61">
            <a:extLst>
              <a:ext uri="{FF2B5EF4-FFF2-40B4-BE49-F238E27FC236}">
                <a16:creationId xmlns:a16="http://schemas.microsoft.com/office/drawing/2014/main" id="{43163A13-4BA1-6753-1B16-4BA475B11DA9}"/>
              </a:ext>
            </a:extLst>
          </p:cNvPr>
          <p:cNvSpPr/>
          <p:nvPr/>
        </p:nvSpPr>
        <p:spPr>
          <a:xfrm>
            <a:off x="4420429" y="488733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5" name="Google Shape;1354;p61">
            <a:extLst>
              <a:ext uri="{FF2B5EF4-FFF2-40B4-BE49-F238E27FC236}">
                <a16:creationId xmlns:a16="http://schemas.microsoft.com/office/drawing/2014/main" id="{D1EED99F-B8DE-D0BA-E96D-0BC3657D0004}"/>
              </a:ext>
            </a:extLst>
          </p:cNvPr>
          <p:cNvSpPr/>
          <p:nvPr/>
        </p:nvSpPr>
        <p:spPr>
          <a:xfrm>
            <a:off x="4415682" y="515236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6" name="Google Shape;1355;p61">
            <a:extLst>
              <a:ext uri="{FF2B5EF4-FFF2-40B4-BE49-F238E27FC236}">
                <a16:creationId xmlns:a16="http://schemas.microsoft.com/office/drawing/2014/main" id="{CCD1E7A0-FCB0-1CDD-3CCF-36848E08E244}"/>
              </a:ext>
            </a:extLst>
          </p:cNvPr>
          <p:cNvSpPr/>
          <p:nvPr/>
        </p:nvSpPr>
        <p:spPr>
          <a:xfrm>
            <a:off x="6007401" y="4587217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7" name="Google Shape;1356;p61">
            <a:extLst>
              <a:ext uri="{FF2B5EF4-FFF2-40B4-BE49-F238E27FC236}">
                <a16:creationId xmlns:a16="http://schemas.microsoft.com/office/drawing/2014/main" id="{066A506C-8B9C-6097-B0E9-B0A9ED54D785}"/>
              </a:ext>
            </a:extLst>
          </p:cNvPr>
          <p:cNvSpPr/>
          <p:nvPr/>
        </p:nvSpPr>
        <p:spPr>
          <a:xfrm>
            <a:off x="6099722" y="488842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8" name="Google Shape;1357;p61">
            <a:extLst>
              <a:ext uri="{FF2B5EF4-FFF2-40B4-BE49-F238E27FC236}">
                <a16:creationId xmlns:a16="http://schemas.microsoft.com/office/drawing/2014/main" id="{E55528CD-2C04-4D4B-25F3-5B507125B168}"/>
              </a:ext>
            </a:extLst>
          </p:cNvPr>
          <p:cNvSpPr/>
          <p:nvPr/>
        </p:nvSpPr>
        <p:spPr>
          <a:xfrm>
            <a:off x="6094975" y="515346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" name="Google Shape;1358;p61">
            <a:extLst>
              <a:ext uri="{FF2B5EF4-FFF2-40B4-BE49-F238E27FC236}">
                <a16:creationId xmlns:a16="http://schemas.microsoft.com/office/drawing/2014/main" id="{A1B61DE4-05A3-E689-EB72-D2B1CD9084C7}"/>
              </a:ext>
            </a:extLst>
          </p:cNvPr>
          <p:cNvSpPr/>
          <p:nvPr/>
        </p:nvSpPr>
        <p:spPr>
          <a:xfrm>
            <a:off x="4415682" y="541740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0" name="Google Shape;1359;p61">
            <a:extLst>
              <a:ext uri="{FF2B5EF4-FFF2-40B4-BE49-F238E27FC236}">
                <a16:creationId xmlns:a16="http://schemas.microsoft.com/office/drawing/2014/main" id="{D60E024E-0E48-E9AE-BE83-D535187A03EF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5963415" y="3157378"/>
            <a:ext cx="0" cy="32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" name="Google Shape;1360;p61">
            <a:extLst>
              <a:ext uri="{FF2B5EF4-FFF2-40B4-BE49-F238E27FC236}">
                <a16:creationId xmlns:a16="http://schemas.microsoft.com/office/drawing/2014/main" id="{56A05972-00E2-2E7B-E54D-942D15AD7944}"/>
              </a:ext>
            </a:extLst>
          </p:cNvPr>
          <p:cNvSpPr/>
          <p:nvPr/>
        </p:nvSpPr>
        <p:spPr>
          <a:xfrm>
            <a:off x="4069208" y="3477477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2" name="Google Shape;1361;p61">
            <a:extLst>
              <a:ext uri="{FF2B5EF4-FFF2-40B4-BE49-F238E27FC236}">
                <a16:creationId xmlns:a16="http://schemas.microsoft.com/office/drawing/2014/main" id="{A35BDFFA-01A0-C93F-E3B7-9D35F888E0E5}"/>
              </a:ext>
            </a:extLst>
          </p:cNvPr>
          <p:cNvSpPr/>
          <p:nvPr/>
        </p:nvSpPr>
        <p:spPr>
          <a:xfrm>
            <a:off x="6649151" y="3477477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" name="Google Shape;1362;p61">
            <a:extLst>
              <a:ext uri="{FF2B5EF4-FFF2-40B4-BE49-F238E27FC236}">
                <a16:creationId xmlns:a16="http://schemas.microsoft.com/office/drawing/2014/main" id="{287D7D21-2B7E-6695-DA35-6D890F4381FC}"/>
              </a:ext>
            </a:extLst>
          </p:cNvPr>
          <p:cNvCxnSpPr>
            <a:stCxn id="11" idx="2"/>
            <a:endCxn id="21" idx="0"/>
          </p:cNvCxnSpPr>
          <p:nvPr/>
        </p:nvCxnSpPr>
        <p:spPr>
          <a:xfrm rot="5400000">
            <a:off x="5151615" y="2665678"/>
            <a:ext cx="320100" cy="13035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1363;p61">
            <a:extLst>
              <a:ext uri="{FF2B5EF4-FFF2-40B4-BE49-F238E27FC236}">
                <a16:creationId xmlns:a16="http://schemas.microsoft.com/office/drawing/2014/main" id="{189A25A8-786B-98B5-F000-D3BF7517970B}"/>
              </a:ext>
            </a:extLst>
          </p:cNvPr>
          <p:cNvCxnSpPr>
            <a:stCxn id="11" idx="2"/>
            <a:endCxn id="22" idx="0"/>
          </p:cNvCxnSpPr>
          <p:nvPr/>
        </p:nvCxnSpPr>
        <p:spPr>
          <a:xfrm rot="-5400000" flipH="1">
            <a:off x="6441465" y="2679328"/>
            <a:ext cx="320100" cy="12762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82962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63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for Networks Models</a:t>
            </a:r>
            <a:endParaRPr/>
          </a:p>
        </p:txBody>
      </p:sp>
      <p:sp>
        <p:nvSpPr>
          <p:cNvPr id="1369" name="Google Shape;1369;p6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64"/>
          <p:cNvSpPr/>
          <p:nvPr/>
        </p:nvSpPr>
        <p:spPr>
          <a:xfrm>
            <a:off x="6305153" y="885491"/>
            <a:ext cx="4412918" cy="527498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High Availability - 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79" name="Google Shape;1379;p64"/>
          <p:cNvSpPr/>
          <p:nvPr/>
        </p:nvSpPr>
        <p:spPr>
          <a:xfrm>
            <a:off x="1535033" y="885491"/>
            <a:ext cx="4412918" cy="527498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Simple - 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74" name="Google Shape;1374;p6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VCF Operations for Networks Models v1.1</a:t>
            </a:r>
            <a:endParaRPr sz="2400" dirty="0"/>
          </a:p>
        </p:txBody>
      </p:sp>
      <p:sp>
        <p:nvSpPr>
          <p:cNvPr id="1376" name="Google Shape;1376;p64"/>
          <p:cNvSpPr/>
          <p:nvPr/>
        </p:nvSpPr>
        <p:spPr>
          <a:xfrm>
            <a:off x="1693422" y="1257740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77" name="Google Shape;1377;p64"/>
          <p:cNvSpPr/>
          <p:nvPr/>
        </p:nvSpPr>
        <p:spPr>
          <a:xfrm>
            <a:off x="1825218" y="1548633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78" name="Google Shape;1378;p64"/>
          <p:cNvSpPr/>
          <p:nvPr/>
        </p:nvSpPr>
        <p:spPr>
          <a:xfrm>
            <a:off x="3115189" y="1548158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0" name="Google Shape;1380;p64"/>
          <p:cNvSpPr/>
          <p:nvPr/>
        </p:nvSpPr>
        <p:spPr>
          <a:xfrm>
            <a:off x="4405161" y="1548158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1" name="Google Shape;1381;p64"/>
          <p:cNvSpPr/>
          <p:nvPr/>
        </p:nvSpPr>
        <p:spPr>
          <a:xfrm>
            <a:off x="2240578" y="2434783"/>
            <a:ext cx="2930998" cy="8784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82" name="Google Shape;1382;p64"/>
          <p:cNvCxnSpPr>
            <a:stCxn id="1381" idx="0"/>
            <a:endCxn id="1376" idx="2"/>
          </p:cNvCxnSpPr>
          <p:nvPr/>
        </p:nvCxnSpPr>
        <p:spPr>
          <a:xfrm rot="10800000">
            <a:off x="3704577" y="2033683"/>
            <a:ext cx="15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83" name="Google Shape;1383;p64"/>
          <p:cNvCxnSpPr>
            <a:stCxn id="1384" idx="0"/>
            <a:endCxn id="1381" idx="2"/>
          </p:cNvCxnSpPr>
          <p:nvPr/>
        </p:nvCxnSpPr>
        <p:spPr>
          <a:xfrm rot="10800000" flipH="1">
            <a:off x="3699838" y="3313122"/>
            <a:ext cx="6300" cy="398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85" name="Google Shape;1385;p64"/>
          <p:cNvSpPr/>
          <p:nvPr/>
        </p:nvSpPr>
        <p:spPr>
          <a:xfrm>
            <a:off x="3832070" y="2803764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6" name="Google Shape;1386;p64"/>
          <p:cNvSpPr/>
          <p:nvPr/>
        </p:nvSpPr>
        <p:spPr>
          <a:xfrm>
            <a:off x="2396654" y="2803289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4" name="Google Shape;1384;p64"/>
          <p:cNvSpPr/>
          <p:nvPr/>
        </p:nvSpPr>
        <p:spPr>
          <a:xfrm>
            <a:off x="1973399" y="3711822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7" name="Google Shape;1387;p64"/>
          <p:cNvSpPr/>
          <p:nvPr/>
        </p:nvSpPr>
        <p:spPr>
          <a:xfrm>
            <a:off x="2081859" y="3999518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8" name="Google Shape;1388;p64"/>
          <p:cNvSpPr/>
          <p:nvPr/>
        </p:nvSpPr>
        <p:spPr>
          <a:xfrm>
            <a:off x="2174180" y="430072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9" name="Google Shape;1389;p64"/>
          <p:cNvSpPr/>
          <p:nvPr/>
        </p:nvSpPr>
        <p:spPr>
          <a:xfrm>
            <a:off x="2169433" y="456576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0" name="Google Shape;1390;p64"/>
          <p:cNvSpPr/>
          <p:nvPr/>
        </p:nvSpPr>
        <p:spPr>
          <a:xfrm>
            <a:off x="3761152" y="4000609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1" name="Google Shape;1391;p64"/>
          <p:cNvSpPr/>
          <p:nvPr/>
        </p:nvSpPr>
        <p:spPr>
          <a:xfrm>
            <a:off x="3853473" y="430181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2" name="Google Shape;1392;p64"/>
          <p:cNvSpPr/>
          <p:nvPr/>
        </p:nvSpPr>
        <p:spPr>
          <a:xfrm>
            <a:off x="3848726" y="456685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3" name="Google Shape;1393;p64"/>
          <p:cNvSpPr/>
          <p:nvPr/>
        </p:nvSpPr>
        <p:spPr>
          <a:xfrm>
            <a:off x="2169433" y="483079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94" name="Google Shape;1394;p64"/>
          <p:cNvCxnSpPr>
            <a:stCxn id="1386" idx="3"/>
            <a:endCxn id="1385" idx="1"/>
          </p:cNvCxnSpPr>
          <p:nvPr/>
        </p:nvCxnSpPr>
        <p:spPr>
          <a:xfrm>
            <a:off x="3577829" y="2983298"/>
            <a:ext cx="254100" cy="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95" name="Google Shape;1395;p64"/>
          <p:cNvSpPr/>
          <p:nvPr/>
        </p:nvSpPr>
        <p:spPr>
          <a:xfrm>
            <a:off x="6522852" y="1257740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6" name="Google Shape;1396;p64"/>
          <p:cNvSpPr/>
          <p:nvPr/>
        </p:nvSpPr>
        <p:spPr>
          <a:xfrm>
            <a:off x="6654648" y="1548633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7" name="Google Shape;1397;p64"/>
          <p:cNvSpPr/>
          <p:nvPr/>
        </p:nvSpPr>
        <p:spPr>
          <a:xfrm>
            <a:off x="7944619" y="1548158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9" name="Google Shape;1399;p64"/>
          <p:cNvSpPr/>
          <p:nvPr/>
        </p:nvSpPr>
        <p:spPr>
          <a:xfrm>
            <a:off x="6522852" y="2434782"/>
            <a:ext cx="4022173" cy="165677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8" name="Google Shape;1398;p64"/>
          <p:cNvSpPr/>
          <p:nvPr/>
        </p:nvSpPr>
        <p:spPr>
          <a:xfrm>
            <a:off x="9234591" y="1548158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400" name="Google Shape;1400;p64"/>
          <p:cNvCxnSpPr>
            <a:stCxn id="1399" idx="0"/>
            <a:endCxn id="1395" idx="2"/>
          </p:cNvCxnSpPr>
          <p:nvPr/>
        </p:nvCxnSpPr>
        <p:spPr>
          <a:xfrm rot="10800000">
            <a:off x="8533939" y="2033682"/>
            <a:ext cx="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01" name="Google Shape;1401;p64"/>
          <p:cNvCxnSpPr>
            <a:stCxn id="1402" idx="0"/>
            <a:endCxn id="1399" idx="2"/>
          </p:cNvCxnSpPr>
          <p:nvPr/>
        </p:nvCxnSpPr>
        <p:spPr>
          <a:xfrm rot="10800000" flipH="1">
            <a:off x="8531527" y="4091685"/>
            <a:ext cx="2400" cy="374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02" name="Google Shape;1402;p64"/>
          <p:cNvSpPr/>
          <p:nvPr/>
        </p:nvSpPr>
        <p:spPr>
          <a:xfrm>
            <a:off x="6805088" y="4465785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04" name="Google Shape;1404;p64"/>
          <p:cNvSpPr/>
          <p:nvPr/>
        </p:nvSpPr>
        <p:spPr>
          <a:xfrm>
            <a:off x="6913548" y="4753481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05" name="Google Shape;1405;p64"/>
          <p:cNvSpPr/>
          <p:nvPr/>
        </p:nvSpPr>
        <p:spPr>
          <a:xfrm>
            <a:off x="7005869" y="5054689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13" name="Google Shape;1413;p64"/>
          <p:cNvSpPr/>
          <p:nvPr/>
        </p:nvSpPr>
        <p:spPr>
          <a:xfrm>
            <a:off x="6598794" y="2676438"/>
            <a:ext cx="3856077" cy="7130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Cluster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06" name="Google Shape;1406;p64"/>
          <p:cNvSpPr/>
          <p:nvPr/>
        </p:nvSpPr>
        <p:spPr>
          <a:xfrm>
            <a:off x="7001122" y="5319723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07" name="Google Shape;1407;p64"/>
          <p:cNvSpPr/>
          <p:nvPr/>
        </p:nvSpPr>
        <p:spPr>
          <a:xfrm>
            <a:off x="8592841" y="4754572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08" name="Google Shape;1408;p64"/>
          <p:cNvSpPr/>
          <p:nvPr/>
        </p:nvSpPr>
        <p:spPr>
          <a:xfrm>
            <a:off x="8685162" y="5055781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09" name="Google Shape;1409;p64"/>
          <p:cNvSpPr/>
          <p:nvPr/>
        </p:nvSpPr>
        <p:spPr>
          <a:xfrm>
            <a:off x="8680415" y="5320815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10" name="Google Shape;1410;p64"/>
          <p:cNvSpPr/>
          <p:nvPr/>
        </p:nvSpPr>
        <p:spPr>
          <a:xfrm>
            <a:off x="7001122" y="5584757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11" name="Google Shape;1411;p64"/>
          <p:cNvSpPr/>
          <p:nvPr/>
        </p:nvSpPr>
        <p:spPr>
          <a:xfrm>
            <a:off x="6652119" y="2901614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12" name="Google Shape;1412;p64"/>
          <p:cNvSpPr/>
          <p:nvPr/>
        </p:nvSpPr>
        <p:spPr>
          <a:xfrm>
            <a:off x="9232062" y="2901614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14" name="Google Shape;1414;p64"/>
          <p:cNvSpPr/>
          <p:nvPr/>
        </p:nvSpPr>
        <p:spPr>
          <a:xfrm>
            <a:off x="7936246" y="3631177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415" name="Google Shape;1415;p64"/>
          <p:cNvCxnSpPr>
            <a:stCxn id="1414" idx="0"/>
            <a:endCxn id="1413" idx="2"/>
          </p:cNvCxnSpPr>
          <p:nvPr/>
        </p:nvCxnSpPr>
        <p:spPr>
          <a:xfrm flipV="1">
            <a:off x="8526833" y="3389522"/>
            <a:ext cx="0" cy="24165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03" name="Google Shape;1403;p64"/>
          <p:cNvSpPr/>
          <p:nvPr/>
        </p:nvSpPr>
        <p:spPr>
          <a:xfrm>
            <a:off x="7944620" y="2901614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700" b="0" i="0" u="none" strike="noStrike" cap="none" dirty="0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001D8CB-64B3-7E91-F8F7-4C2AB07B546E}"/>
              </a:ext>
            </a:extLst>
          </p:cNvPr>
          <p:cNvSpPr/>
          <p:nvPr/>
        </p:nvSpPr>
        <p:spPr>
          <a:xfrm>
            <a:off x="3788265" y="1357536"/>
            <a:ext cx="4184857" cy="4273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998A69-ADEF-2835-AD78-2D7BD213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Simple VCF Operations for Networks Model v1.0</a:t>
            </a:r>
          </a:p>
        </p:txBody>
      </p:sp>
      <p:sp>
        <p:nvSpPr>
          <p:cNvPr id="6" name="Google Shape;1376;p64">
            <a:extLst>
              <a:ext uri="{FF2B5EF4-FFF2-40B4-BE49-F238E27FC236}">
                <a16:creationId xmlns:a16="http://schemas.microsoft.com/office/drawing/2014/main" id="{365937B4-B39B-72DB-21D8-5223260903D6}"/>
              </a:ext>
            </a:extLst>
          </p:cNvPr>
          <p:cNvSpPr/>
          <p:nvPr/>
        </p:nvSpPr>
        <p:spPr>
          <a:xfrm>
            <a:off x="3867910" y="1480764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1377;p64">
            <a:extLst>
              <a:ext uri="{FF2B5EF4-FFF2-40B4-BE49-F238E27FC236}">
                <a16:creationId xmlns:a16="http://schemas.microsoft.com/office/drawing/2014/main" id="{B0C66FD9-D0C4-F236-47FC-12442056C663}"/>
              </a:ext>
            </a:extLst>
          </p:cNvPr>
          <p:cNvSpPr/>
          <p:nvPr/>
        </p:nvSpPr>
        <p:spPr>
          <a:xfrm>
            <a:off x="3999706" y="1771657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8" name="Google Shape;1378;p64">
            <a:extLst>
              <a:ext uri="{FF2B5EF4-FFF2-40B4-BE49-F238E27FC236}">
                <a16:creationId xmlns:a16="http://schemas.microsoft.com/office/drawing/2014/main" id="{EBAD661B-00D3-14C5-ACAD-B532FCAFD5AA}"/>
              </a:ext>
            </a:extLst>
          </p:cNvPr>
          <p:cNvSpPr/>
          <p:nvPr/>
        </p:nvSpPr>
        <p:spPr>
          <a:xfrm>
            <a:off x="5289677" y="1771182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9" name="Google Shape;1380;p64">
            <a:extLst>
              <a:ext uri="{FF2B5EF4-FFF2-40B4-BE49-F238E27FC236}">
                <a16:creationId xmlns:a16="http://schemas.microsoft.com/office/drawing/2014/main" id="{B061F56D-AFD3-15BC-A97B-0578A7A83624}"/>
              </a:ext>
            </a:extLst>
          </p:cNvPr>
          <p:cNvSpPr/>
          <p:nvPr/>
        </p:nvSpPr>
        <p:spPr>
          <a:xfrm>
            <a:off x="6579649" y="1771182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0" name="Google Shape;1381;p64">
            <a:extLst>
              <a:ext uri="{FF2B5EF4-FFF2-40B4-BE49-F238E27FC236}">
                <a16:creationId xmlns:a16="http://schemas.microsoft.com/office/drawing/2014/main" id="{0C401A38-5032-FBFF-9D76-F815EDDB3D89}"/>
              </a:ext>
            </a:extLst>
          </p:cNvPr>
          <p:cNvSpPr/>
          <p:nvPr/>
        </p:nvSpPr>
        <p:spPr>
          <a:xfrm>
            <a:off x="4415066" y="2657807"/>
            <a:ext cx="2930998" cy="8784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1" name="Google Shape;1382;p64">
            <a:extLst>
              <a:ext uri="{FF2B5EF4-FFF2-40B4-BE49-F238E27FC236}">
                <a16:creationId xmlns:a16="http://schemas.microsoft.com/office/drawing/2014/main" id="{9BE9DBFA-FE1E-1213-5FF0-51A89264172B}"/>
              </a:ext>
            </a:extLst>
          </p:cNvPr>
          <p:cNvCxnSpPr>
            <a:stCxn id="10" idx="0"/>
            <a:endCxn id="6" idx="2"/>
          </p:cNvCxnSpPr>
          <p:nvPr/>
        </p:nvCxnSpPr>
        <p:spPr>
          <a:xfrm rot="10800000">
            <a:off x="5879065" y="2256707"/>
            <a:ext cx="15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1383;p64">
            <a:extLst>
              <a:ext uri="{FF2B5EF4-FFF2-40B4-BE49-F238E27FC236}">
                <a16:creationId xmlns:a16="http://schemas.microsoft.com/office/drawing/2014/main" id="{C1F7D23B-E4AA-DEDB-CE2B-BF66838FBFDE}"/>
              </a:ext>
            </a:extLst>
          </p:cNvPr>
          <p:cNvCxnSpPr>
            <a:stCxn id="15" idx="0"/>
            <a:endCxn id="10" idx="2"/>
          </p:cNvCxnSpPr>
          <p:nvPr/>
        </p:nvCxnSpPr>
        <p:spPr>
          <a:xfrm rot="10800000" flipH="1">
            <a:off x="5874326" y="3536146"/>
            <a:ext cx="6300" cy="398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Google Shape;1385;p64">
            <a:extLst>
              <a:ext uri="{FF2B5EF4-FFF2-40B4-BE49-F238E27FC236}">
                <a16:creationId xmlns:a16="http://schemas.microsoft.com/office/drawing/2014/main" id="{0E6E9F6B-AF63-C1A9-2DD6-DCF29CE86AF8}"/>
              </a:ext>
            </a:extLst>
          </p:cNvPr>
          <p:cNvSpPr/>
          <p:nvPr/>
        </p:nvSpPr>
        <p:spPr>
          <a:xfrm>
            <a:off x="6006558" y="3026788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" name="Google Shape;1386;p64">
            <a:extLst>
              <a:ext uri="{FF2B5EF4-FFF2-40B4-BE49-F238E27FC236}">
                <a16:creationId xmlns:a16="http://schemas.microsoft.com/office/drawing/2014/main" id="{29A67DB6-7B9B-261E-999F-0A81968B5FCD}"/>
              </a:ext>
            </a:extLst>
          </p:cNvPr>
          <p:cNvSpPr/>
          <p:nvPr/>
        </p:nvSpPr>
        <p:spPr>
          <a:xfrm>
            <a:off x="4571142" y="3026313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5" name="Google Shape;1384;p64">
            <a:extLst>
              <a:ext uri="{FF2B5EF4-FFF2-40B4-BE49-F238E27FC236}">
                <a16:creationId xmlns:a16="http://schemas.microsoft.com/office/drawing/2014/main" id="{85B9FA8E-450C-46A1-659C-1A5AD1C0B3D0}"/>
              </a:ext>
            </a:extLst>
          </p:cNvPr>
          <p:cNvSpPr/>
          <p:nvPr/>
        </p:nvSpPr>
        <p:spPr>
          <a:xfrm>
            <a:off x="4147887" y="3934846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6" name="Google Shape;1387;p64">
            <a:extLst>
              <a:ext uri="{FF2B5EF4-FFF2-40B4-BE49-F238E27FC236}">
                <a16:creationId xmlns:a16="http://schemas.microsoft.com/office/drawing/2014/main" id="{3CBD8F2B-9CE8-020A-9618-772CECD145A9}"/>
              </a:ext>
            </a:extLst>
          </p:cNvPr>
          <p:cNvSpPr/>
          <p:nvPr/>
        </p:nvSpPr>
        <p:spPr>
          <a:xfrm>
            <a:off x="4256347" y="4222542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7" name="Google Shape;1388;p64">
            <a:extLst>
              <a:ext uri="{FF2B5EF4-FFF2-40B4-BE49-F238E27FC236}">
                <a16:creationId xmlns:a16="http://schemas.microsoft.com/office/drawing/2014/main" id="{707BC246-C303-10E8-2C96-ADE7309001AC}"/>
              </a:ext>
            </a:extLst>
          </p:cNvPr>
          <p:cNvSpPr/>
          <p:nvPr/>
        </p:nvSpPr>
        <p:spPr>
          <a:xfrm>
            <a:off x="4348668" y="452375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8" name="Google Shape;1389;p64">
            <a:extLst>
              <a:ext uri="{FF2B5EF4-FFF2-40B4-BE49-F238E27FC236}">
                <a16:creationId xmlns:a16="http://schemas.microsoft.com/office/drawing/2014/main" id="{9803B2E8-6B3D-0F5F-83EA-9402A4D755FC}"/>
              </a:ext>
            </a:extLst>
          </p:cNvPr>
          <p:cNvSpPr/>
          <p:nvPr/>
        </p:nvSpPr>
        <p:spPr>
          <a:xfrm>
            <a:off x="4343921" y="478878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" name="Google Shape;1390;p64">
            <a:extLst>
              <a:ext uri="{FF2B5EF4-FFF2-40B4-BE49-F238E27FC236}">
                <a16:creationId xmlns:a16="http://schemas.microsoft.com/office/drawing/2014/main" id="{AE146265-F133-1F26-D36D-BD684539C077}"/>
              </a:ext>
            </a:extLst>
          </p:cNvPr>
          <p:cNvSpPr/>
          <p:nvPr/>
        </p:nvSpPr>
        <p:spPr>
          <a:xfrm>
            <a:off x="5935640" y="4223633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0" name="Google Shape;1391;p64">
            <a:extLst>
              <a:ext uri="{FF2B5EF4-FFF2-40B4-BE49-F238E27FC236}">
                <a16:creationId xmlns:a16="http://schemas.microsoft.com/office/drawing/2014/main" id="{1EB01026-3192-8FA5-7387-4F8483E588E5}"/>
              </a:ext>
            </a:extLst>
          </p:cNvPr>
          <p:cNvSpPr/>
          <p:nvPr/>
        </p:nvSpPr>
        <p:spPr>
          <a:xfrm>
            <a:off x="6027961" y="452484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" name="Google Shape;1392;p64">
            <a:extLst>
              <a:ext uri="{FF2B5EF4-FFF2-40B4-BE49-F238E27FC236}">
                <a16:creationId xmlns:a16="http://schemas.microsoft.com/office/drawing/2014/main" id="{E030C410-F43D-2E22-9B9A-C79D4F2ABE18}"/>
              </a:ext>
            </a:extLst>
          </p:cNvPr>
          <p:cNvSpPr/>
          <p:nvPr/>
        </p:nvSpPr>
        <p:spPr>
          <a:xfrm>
            <a:off x="6023214" y="478987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2" name="Google Shape;1393;p64">
            <a:extLst>
              <a:ext uri="{FF2B5EF4-FFF2-40B4-BE49-F238E27FC236}">
                <a16:creationId xmlns:a16="http://schemas.microsoft.com/office/drawing/2014/main" id="{CAF8FE22-ACCF-B7FD-8D79-CE8FE9B0824D}"/>
              </a:ext>
            </a:extLst>
          </p:cNvPr>
          <p:cNvSpPr/>
          <p:nvPr/>
        </p:nvSpPr>
        <p:spPr>
          <a:xfrm>
            <a:off x="4343921" y="505381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" name="Google Shape;1394;p64">
            <a:extLst>
              <a:ext uri="{FF2B5EF4-FFF2-40B4-BE49-F238E27FC236}">
                <a16:creationId xmlns:a16="http://schemas.microsoft.com/office/drawing/2014/main" id="{9201A105-4631-37B3-8159-54902A0C0CD1}"/>
              </a:ext>
            </a:extLst>
          </p:cNvPr>
          <p:cNvCxnSpPr>
            <a:stCxn id="14" idx="3"/>
            <a:endCxn id="13" idx="1"/>
          </p:cNvCxnSpPr>
          <p:nvPr/>
        </p:nvCxnSpPr>
        <p:spPr>
          <a:xfrm>
            <a:off x="5752317" y="3206322"/>
            <a:ext cx="254100" cy="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2649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C1C32-FD35-AC07-CE9B-3E77D918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112FB3E-454C-BDC5-B300-EBBF230F0D7F}"/>
              </a:ext>
            </a:extLst>
          </p:cNvPr>
          <p:cNvSpPr/>
          <p:nvPr/>
        </p:nvSpPr>
        <p:spPr>
          <a:xfrm>
            <a:off x="3980985" y="1103971"/>
            <a:ext cx="4215161" cy="50403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E3B1D5-95BB-F179-31A4-4F29EF89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High Availability VCF Operations for Networks Model v1.0</a:t>
            </a:r>
          </a:p>
        </p:txBody>
      </p:sp>
      <p:sp>
        <p:nvSpPr>
          <p:cNvPr id="2" name="Google Shape;1395;p64">
            <a:extLst>
              <a:ext uri="{FF2B5EF4-FFF2-40B4-BE49-F238E27FC236}">
                <a16:creationId xmlns:a16="http://schemas.microsoft.com/office/drawing/2014/main" id="{01F31652-B074-A426-2C61-9DA3E7D6C158}"/>
              </a:ext>
            </a:extLst>
          </p:cNvPr>
          <p:cNvSpPr/>
          <p:nvPr/>
        </p:nvSpPr>
        <p:spPr>
          <a:xfrm>
            <a:off x="4083325" y="1235438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" name="Google Shape;1396;p64">
            <a:extLst>
              <a:ext uri="{FF2B5EF4-FFF2-40B4-BE49-F238E27FC236}">
                <a16:creationId xmlns:a16="http://schemas.microsoft.com/office/drawing/2014/main" id="{01AB48A8-AF6B-18CE-4E7A-19A824B7EEBE}"/>
              </a:ext>
            </a:extLst>
          </p:cNvPr>
          <p:cNvSpPr/>
          <p:nvPr/>
        </p:nvSpPr>
        <p:spPr>
          <a:xfrm>
            <a:off x="4215121" y="1526331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4" name="Google Shape;1397;p64">
            <a:extLst>
              <a:ext uri="{FF2B5EF4-FFF2-40B4-BE49-F238E27FC236}">
                <a16:creationId xmlns:a16="http://schemas.microsoft.com/office/drawing/2014/main" id="{C6AD9942-D53A-CCD7-655D-617394E93213}"/>
              </a:ext>
            </a:extLst>
          </p:cNvPr>
          <p:cNvSpPr/>
          <p:nvPr/>
        </p:nvSpPr>
        <p:spPr>
          <a:xfrm>
            <a:off x="5505092" y="1525856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Google Shape;1399;p64">
            <a:extLst>
              <a:ext uri="{FF2B5EF4-FFF2-40B4-BE49-F238E27FC236}">
                <a16:creationId xmlns:a16="http://schemas.microsoft.com/office/drawing/2014/main" id="{0E8F4E8E-F300-03E9-B9E5-28F86EB1B33F}"/>
              </a:ext>
            </a:extLst>
          </p:cNvPr>
          <p:cNvSpPr/>
          <p:nvPr/>
        </p:nvSpPr>
        <p:spPr>
          <a:xfrm>
            <a:off x="4083325" y="2412480"/>
            <a:ext cx="4022173" cy="165677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1398;p64">
            <a:extLst>
              <a:ext uri="{FF2B5EF4-FFF2-40B4-BE49-F238E27FC236}">
                <a16:creationId xmlns:a16="http://schemas.microsoft.com/office/drawing/2014/main" id="{8F6BF7C8-BF11-B4EE-E3F2-2FBC4D0B90AF}"/>
              </a:ext>
            </a:extLst>
          </p:cNvPr>
          <p:cNvSpPr/>
          <p:nvPr/>
        </p:nvSpPr>
        <p:spPr>
          <a:xfrm>
            <a:off x="6795064" y="1525856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8" name="Google Shape;1400;p64">
            <a:extLst>
              <a:ext uri="{FF2B5EF4-FFF2-40B4-BE49-F238E27FC236}">
                <a16:creationId xmlns:a16="http://schemas.microsoft.com/office/drawing/2014/main" id="{6F3E3DCF-2D4F-2674-5410-CE2B482ADA23}"/>
              </a:ext>
            </a:extLst>
          </p:cNvPr>
          <p:cNvCxnSpPr>
            <a:stCxn id="6" idx="0"/>
            <a:endCxn id="2" idx="2"/>
          </p:cNvCxnSpPr>
          <p:nvPr/>
        </p:nvCxnSpPr>
        <p:spPr>
          <a:xfrm rot="10800000">
            <a:off x="6094412" y="2011380"/>
            <a:ext cx="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" name="Google Shape;1401;p64">
            <a:extLst>
              <a:ext uri="{FF2B5EF4-FFF2-40B4-BE49-F238E27FC236}">
                <a16:creationId xmlns:a16="http://schemas.microsoft.com/office/drawing/2014/main" id="{C68A5247-DD49-ECAD-C431-B462EEB9CCEF}"/>
              </a:ext>
            </a:extLst>
          </p:cNvPr>
          <p:cNvCxnSpPr>
            <a:stCxn id="10" idx="0"/>
            <a:endCxn id="6" idx="2"/>
          </p:cNvCxnSpPr>
          <p:nvPr/>
        </p:nvCxnSpPr>
        <p:spPr>
          <a:xfrm rot="10800000" flipH="1">
            <a:off x="6092000" y="4069383"/>
            <a:ext cx="2400" cy="374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" name="Google Shape;1402;p64">
            <a:extLst>
              <a:ext uri="{FF2B5EF4-FFF2-40B4-BE49-F238E27FC236}">
                <a16:creationId xmlns:a16="http://schemas.microsoft.com/office/drawing/2014/main" id="{1EFBB7E3-6507-3B4B-D5D7-440AE1973854}"/>
              </a:ext>
            </a:extLst>
          </p:cNvPr>
          <p:cNvSpPr/>
          <p:nvPr/>
        </p:nvSpPr>
        <p:spPr>
          <a:xfrm>
            <a:off x="4365561" y="4443483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1" name="Google Shape;1404;p64">
            <a:extLst>
              <a:ext uri="{FF2B5EF4-FFF2-40B4-BE49-F238E27FC236}">
                <a16:creationId xmlns:a16="http://schemas.microsoft.com/office/drawing/2014/main" id="{C01810D1-38D0-0766-D044-E121236AB75E}"/>
              </a:ext>
            </a:extLst>
          </p:cNvPr>
          <p:cNvSpPr/>
          <p:nvPr/>
        </p:nvSpPr>
        <p:spPr>
          <a:xfrm>
            <a:off x="4474021" y="4731179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" name="Google Shape;1405;p64">
            <a:extLst>
              <a:ext uri="{FF2B5EF4-FFF2-40B4-BE49-F238E27FC236}">
                <a16:creationId xmlns:a16="http://schemas.microsoft.com/office/drawing/2014/main" id="{1DE31BCF-E0D8-5581-DB9F-9ABB6349253A}"/>
              </a:ext>
            </a:extLst>
          </p:cNvPr>
          <p:cNvSpPr/>
          <p:nvPr/>
        </p:nvSpPr>
        <p:spPr>
          <a:xfrm>
            <a:off x="4566342" y="5032387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" name="Google Shape;1413;p64">
            <a:extLst>
              <a:ext uri="{FF2B5EF4-FFF2-40B4-BE49-F238E27FC236}">
                <a16:creationId xmlns:a16="http://schemas.microsoft.com/office/drawing/2014/main" id="{0847B042-667B-5A0B-D8D5-C4288CDF1FB9}"/>
              </a:ext>
            </a:extLst>
          </p:cNvPr>
          <p:cNvSpPr/>
          <p:nvPr/>
        </p:nvSpPr>
        <p:spPr>
          <a:xfrm>
            <a:off x="4159267" y="2654136"/>
            <a:ext cx="3856077" cy="7130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Cluster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" name="Google Shape;1406;p64">
            <a:extLst>
              <a:ext uri="{FF2B5EF4-FFF2-40B4-BE49-F238E27FC236}">
                <a16:creationId xmlns:a16="http://schemas.microsoft.com/office/drawing/2014/main" id="{2A50BB79-027D-BAAD-CE42-E61D7709CAC1}"/>
              </a:ext>
            </a:extLst>
          </p:cNvPr>
          <p:cNvSpPr/>
          <p:nvPr/>
        </p:nvSpPr>
        <p:spPr>
          <a:xfrm>
            <a:off x="4561595" y="5297421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5" name="Google Shape;1407;p64">
            <a:extLst>
              <a:ext uri="{FF2B5EF4-FFF2-40B4-BE49-F238E27FC236}">
                <a16:creationId xmlns:a16="http://schemas.microsoft.com/office/drawing/2014/main" id="{39E5A871-C779-B22D-58CF-6D0C2BE52CDA}"/>
              </a:ext>
            </a:extLst>
          </p:cNvPr>
          <p:cNvSpPr/>
          <p:nvPr/>
        </p:nvSpPr>
        <p:spPr>
          <a:xfrm>
            <a:off x="6153314" y="4732270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6" name="Google Shape;1408;p64">
            <a:extLst>
              <a:ext uri="{FF2B5EF4-FFF2-40B4-BE49-F238E27FC236}">
                <a16:creationId xmlns:a16="http://schemas.microsoft.com/office/drawing/2014/main" id="{7C1D5463-82D3-3E6F-1A37-6370E93E2497}"/>
              </a:ext>
            </a:extLst>
          </p:cNvPr>
          <p:cNvSpPr/>
          <p:nvPr/>
        </p:nvSpPr>
        <p:spPr>
          <a:xfrm>
            <a:off x="6245635" y="5033479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7" name="Google Shape;1409;p64">
            <a:extLst>
              <a:ext uri="{FF2B5EF4-FFF2-40B4-BE49-F238E27FC236}">
                <a16:creationId xmlns:a16="http://schemas.microsoft.com/office/drawing/2014/main" id="{B8965A7B-3A4C-4324-6457-F37F11AFBE4C}"/>
              </a:ext>
            </a:extLst>
          </p:cNvPr>
          <p:cNvSpPr/>
          <p:nvPr/>
        </p:nvSpPr>
        <p:spPr>
          <a:xfrm>
            <a:off x="6240888" y="5298513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8" name="Google Shape;1410;p64">
            <a:extLst>
              <a:ext uri="{FF2B5EF4-FFF2-40B4-BE49-F238E27FC236}">
                <a16:creationId xmlns:a16="http://schemas.microsoft.com/office/drawing/2014/main" id="{7DF3A80D-04B8-20E7-0AF6-AFA1310750BA}"/>
              </a:ext>
            </a:extLst>
          </p:cNvPr>
          <p:cNvSpPr/>
          <p:nvPr/>
        </p:nvSpPr>
        <p:spPr>
          <a:xfrm>
            <a:off x="4561595" y="5562455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" name="Google Shape;1411;p64">
            <a:extLst>
              <a:ext uri="{FF2B5EF4-FFF2-40B4-BE49-F238E27FC236}">
                <a16:creationId xmlns:a16="http://schemas.microsoft.com/office/drawing/2014/main" id="{BBB047AA-41B1-7224-4464-705B3DFBF6CD}"/>
              </a:ext>
            </a:extLst>
          </p:cNvPr>
          <p:cNvSpPr/>
          <p:nvPr/>
        </p:nvSpPr>
        <p:spPr>
          <a:xfrm>
            <a:off x="4212592" y="2879312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0" name="Google Shape;1412;p64">
            <a:extLst>
              <a:ext uri="{FF2B5EF4-FFF2-40B4-BE49-F238E27FC236}">
                <a16:creationId xmlns:a16="http://schemas.microsoft.com/office/drawing/2014/main" id="{B4E9F292-E4D6-8467-FBCF-BCE7667E2505}"/>
              </a:ext>
            </a:extLst>
          </p:cNvPr>
          <p:cNvSpPr/>
          <p:nvPr/>
        </p:nvSpPr>
        <p:spPr>
          <a:xfrm>
            <a:off x="6792535" y="2879312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" name="Google Shape;1414;p64">
            <a:extLst>
              <a:ext uri="{FF2B5EF4-FFF2-40B4-BE49-F238E27FC236}">
                <a16:creationId xmlns:a16="http://schemas.microsoft.com/office/drawing/2014/main" id="{9ABA39D4-4CEA-154F-B2D4-E303F2C2B557}"/>
              </a:ext>
            </a:extLst>
          </p:cNvPr>
          <p:cNvSpPr/>
          <p:nvPr/>
        </p:nvSpPr>
        <p:spPr>
          <a:xfrm>
            <a:off x="5496719" y="3608875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2" name="Google Shape;1415;p64">
            <a:extLst>
              <a:ext uri="{FF2B5EF4-FFF2-40B4-BE49-F238E27FC236}">
                <a16:creationId xmlns:a16="http://schemas.microsoft.com/office/drawing/2014/main" id="{5DA778CF-495F-6E73-402A-AE5F0E7743B6}"/>
              </a:ext>
            </a:extLst>
          </p:cNvPr>
          <p:cNvCxnSpPr>
            <a:stCxn id="21" idx="0"/>
            <a:endCxn id="13" idx="2"/>
          </p:cNvCxnSpPr>
          <p:nvPr/>
        </p:nvCxnSpPr>
        <p:spPr>
          <a:xfrm flipV="1">
            <a:off x="6087306" y="3367220"/>
            <a:ext cx="0" cy="24165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" name="Google Shape;1403;p64">
            <a:extLst>
              <a:ext uri="{FF2B5EF4-FFF2-40B4-BE49-F238E27FC236}">
                <a16:creationId xmlns:a16="http://schemas.microsoft.com/office/drawing/2014/main" id="{7475D816-F545-BD76-451D-228C4DE5A663}"/>
              </a:ext>
            </a:extLst>
          </p:cNvPr>
          <p:cNvSpPr/>
          <p:nvPr/>
        </p:nvSpPr>
        <p:spPr>
          <a:xfrm>
            <a:off x="5505093" y="2879312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700" b="0" i="0" u="none" strike="noStrike" cap="none" dirty="0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332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66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VCF Automation Models</a:t>
            </a:r>
            <a:endParaRPr/>
          </a:p>
        </p:txBody>
      </p:sp>
      <p:sp>
        <p:nvSpPr>
          <p:cNvPr id="1421" name="Google Shape;1421;p6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6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VCF Automation Models v1.0</a:t>
            </a:r>
            <a:endParaRPr sz="2400" dirty="0"/>
          </a:p>
        </p:txBody>
      </p:sp>
      <p:sp>
        <p:nvSpPr>
          <p:cNvPr id="1427" name="Google Shape;1427;p6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428" name="Google Shape;1428;p67"/>
          <p:cNvSpPr/>
          <p:nvPr/>
        </p:nvSpPr>
        <p:spPr>
          <a:xfrm>
            <a:off x="6252802" y="2216469"/>
            <a:ext cx="4086603" cy="1458741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67"/>
          <p:cNvSpPr/>
          <p:nvPr/>
        </p:nvSpPr>
        <p:spPr>
          <a:xfrm>
            <a:off x="7724220" y="3140540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2)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67"/>
          <p:cNvSpPr/>
          <p:nvPr/>
        </p:nvSpPr>
        <p:spPr>
          <a:xfrm>
            <a:off x="9025333" y="3136782"/>
            <a:ext cx="1181174" cy="359197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3)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67"/>
          <p:cNvSpPr/>
          <p:nvPr/>
        </p:nvSpPr>
        <p:spPr>
          <a:xfrm>
            <a:off x="6423106" y="3140540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67"/>
          <p:cNvSpPr/>
          <p:nvPr/>
        </p:nvSpPr>
        <p:spPr>
          <a:xfrm>
            <a:off x="6094412" y="1844221"/>
            <a:ext cx="4436829" cy="380197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-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67"/>
          <p:cNvSpPr/>
          <p:nvPr/>
        </p:nvSpPr>
        <p:spPr>
          <a:xfrm>
            <a:off x="2421060" y="2190198"/>
            <a:ext cx="1752600" cy="1485012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67"/>
          <p:cNvSpPr/>
          <p:nvPr/>
        </p:nvSpPr>
        <p:spPr>
          <a:xfrm>
            <a:off x="2682467" y="3140540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67"/>
          <p:cNvSpPr/>
          <p:nvPr/>
        </p:nvSpPr>
        <p:spPr>
          <a:xfrm>
            <a:off x="6588368" y="4104699"/>
            <a:ext cx="3452878" cy="135606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67"/>
          <p:cNvSpPr/>
          <p:nvPr/>
        </p:nvSpPr>
        <p:spPr>
          <a:xfrm>
            <a:off x="1037550" y="1844221"/>
            <a:ext cx="4436829" cy="380197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-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67"/>
          <p:cNvSpPr/>
          <p:nvPr/>
        </p:nvSpPr>
        <p:spPr>
          <a:xfrm>
            <a:off x="6696828" y="4392394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67"/>
          <p:cNvSpPr/>
          <p:nvPr/>
        </p:nvSpPr>
        <p:spPr>
          <a:xfrm>
            <a:off x="6789149" y="469360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67"/>
          <p:cNvSpPr/>
          <p:nvPr/>
        </p:nvSpPr>
        <p:spPr>
          <a:xfrm>
            <a:off x="6784402" y="495863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67"/>
          <p:cNvSpPr/>
          <p:nvPr/>
        </p:nvSpPr>
        <p:spPr>
          <a:xfrm>
            <a:off x="8376121" y="4393486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67"/>
          <p:cNvSpPr/>
          <p:nvPr/>
        </p:nvSpPr>
        <p:spPr>
          <a:xfrm>
            <a:off x="8468442" y="469469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67"/>
          <p:cNvSpPr/>
          <p:nvPr/>
        </p:nvSpPr>
        <p:spPr>
          <a:xfrm>
            <a:off x="8463695" y="4959729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3" name="Google Shape;1443;p67"/>
          <p:cNvCxnSpPr>
            <a:stCxn id="1428" idx="2"/>
          </p:cNvCxnSpPr>
          <p:nvPr/>
        </p:nvCxnSpPr>
        <p:spPr>
          <a:xfrm>
            <a:off x="8296104" y="3675210"/>
            <a:ext cx="0" cy="42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44" name="Google Shape;1444;p67"/>
          <p:cNvSpPr/>
          <p:nvPr/>
        </p:nvSpPr>
        <p:spPr>
          <a:xfrm>
            <a:off x="2682468" y="2485360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5" name="Google Shape;1445;p67"/>
          <p:cNvCxnSpPr>
            <a:stCxn id="1444" idx="2"/>
            <a:endCxn id="1434" idx="0"/>
          </p:cNvCxnSpPr>
          <p:nvPr/>
        </p:nvCxnSpPr>
        <p:spPr>
          <a:xfrm>
            <a:off x="3273056" y="2845378"/>
            <a:ext cx="0" cy="295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46" name="Google Shape;1446;p67"/>
          <p:cNvSpPr/>
          <p:nvPr/>
        </p:nvSpPr>
        <p:spPr>
          <a:xfrm>
            <a:off x="7724220" y="2498496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7" name="Google Shape;1447;p67"/>
          <p:cNvCxnSpPr>
            <a:stCxn id="1446" idx="2"/>
            <a:endCxn id="1431" idx="0"/>
          </p:cNvCxnSpPr>
          <p:nvPr/>
        </p:nvCxnSpPr>
        <p:spPr>
          <a:xfrm rot="5400000">
            <a:off x="7523258" y="2348964"/>
            <a:ext cx="282000" cy="13011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48" name="Google Shape;1448;p67"/>
          <p:cNvCxnSpPr>
            <a:stCxn id="1446" idx="2"/>
            <a:endCxn id="1430" idx="0"/>
          </p:cNvCxnSpPr>
          <p:nvPr/>
        </p:nvCxnSpPr>
        <p:spPr>
          <a:xfrm rot="-5400000" flipH="1">
            <a:off x="8826158" y="2347164"/>
            <a:ext cx="278400" cy="13011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49" name="Google Shape;1449;p67"/>
          <p:cNvCxnSpPr>
            <a:stCxn id="1446" idx="2"/>
            <a:endCxn id="1429" idx="0"/>
          </p:cNvCxnSpPr>
          <p:nvPr/>
        </p:nvCxnSpPr>
        <p:spPr>
          <a:xfrm>
            <a:off x="8314808" y="2858514"/>
            <a:ext cx="0" cy="282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50" name="Google Shape;1450;p67"/>
          <p:cNvSpPr/>
          <p:nvPr/>
        </p:nvSpPr>
        <p:spPr>
          <a:xfrm>
            <a:off x="1583440" y="4104699"/>
            <a:ext cx="3452878" cy="135606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67"/>
          <p:cNvSpPr/>
          <p:nvPr/>
        </p:nvSpPr>
        <p:spPr>
          <a:xfrm>
            <a:off x="1691900" y="4392394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67"/>
          <p:cNvSpPr/>
          <p:nvPr/>
        </p:nvSpPr>
        <p:spPr>
          <a:xfrm>
            <a:off x="1784221" y="469360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67"/>
          <p:cNvSpPr/>
          <p:nvPr/>
        </p:nvSpPr>
        <p:spPr>
          <a:xfrm>
            <a:off x="1779474" y="495863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67"/>
          <p:cNvSpPr/>
          <p:nvPr/>
        </p:nvSpPr>
        <p:spPr>
          <a:xfrm>
            <a:off x="3371193" y="4393486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67"/>
          <p:cNvSpPr/>
          <p:nvPr/>
        </p:nvSpPr>
        <p:spPr>
          <a:xfrm>
            <a:off x="3463514" y="469469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67"/>
          <p:cNvSpPr/>
          <p:nvPr/>
        </p:nvSpPr>
        <p:spPr>
          <a:xfrm>
            <a:off x="3458767" y="4959729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7" name="Google Shape;1457;p67"/>
          <p:cNvCxnSpPr/>
          <p:nvPr/>
        </p:nvCxnSpPr>
        <p:spPr>
          <a:xfrm>
            <a:off x="3291176" y="3675210"/>
            <a:ext cx="0" cy="42948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dirty="0"/>
              <a:t>VCF Simple and HA Models Combined v2</a:t>
            </a:r>
            <a:endParaRPr dirty="0"/>
          </a:p>
        </p:txBody>
      </p:sp>
      <p:sp>
        <p:nvSpPr>
          <p:cNvPr id="1463" name="Google Shape;1463;p2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4" name="Google Shape;1464;p2"/>
          <p:cNvSpPr/>
          <p:nvPr/>
        </p:nvSpPr>
        <p:spPr>
          <a:xfrm>
            <a:off x="1191372" y="1304622"/>
            <a:ext cx="4189909" cy="40712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–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2"/>
          <p:cNvSpPr/>
          <p:nvPr/>
        </p:nvSpPr>
        <p:spPr>
          <a:xfrm>
            <a:off x="2378512" y="1668392"/>
            <a:ext cx="1819859" cy="16928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2"/>
          <p:cNvSpPr/>
          <p:nvPr/>
        </p:nvSpPr>
        <p:spPr>
          <a:xfrm>
            <a:off x="2522408" y="2030449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2"/>
          <p:cNvSpPr/>
          <p:nvPr/>
        </p:nvSpPr>
        <p:spPr>
          <a:xfrm>
            <a:off x="2607052" y="2904203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2"/>
          <p:cNvSpPr/>
          <p:nvPr/>
        </p:nvSpPr>
        <p:spPr>
          <a:xfrm>
            <a:off x="1379706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2"/>
          <p:cNvSpPr/>
          <p:nvPr/>
        </p:nvSpPr>
        <p:spPr>
          <a:xfrm>
            <a:off x="1523601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2"/>
          <p:cNvSpPr/>
          <p:nvPr/>
        </p:nvSpPr>
        <p:spPr>
          <a:xfrm>
            <a:off x="1519369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2"/>
          <p:cNvSpPr/>
          <p:nvPr/>
        </p:nvSpPr>
        <p:spPr>
          <a:xfrm>
            <a:off x="3334996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2"/>
          <p:cNvSpPr/>
          <p:nvPr/>
        </p:nvSpPr>
        <p:spPr>
          <a:xfrm>
            <a:off x="3478892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2"/>
          <p:cNvSpPr/>
          <p:nvPr/>
        </p:nvSpPr>
        <p:spPr>
          <a:xfrm>
            <a:off x="3474660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4" name="Google Shape;1474;p2"/>
          <p:cNvCxnSpPr>
            <a:stCxn id="1466" idx="2"/>
            <a:endCxn id="1467" idx="0"/>
          </p:cNvCxnSpPr>
          <p:nvPr/>
        </p:nvCxnSpPr>
        <p:spPr>
          <a:xfrm>
            <a:off x="3292674" y="2379911"/>
            <a:ext cx="0" cy="524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75" name="Google Shape;1475;p2"/>
          <p:cNvCxnSpPr>
            <a:stCxn id="1468" idx="0"/>
            <a:endCxn id="1465" idx="2"/>
          </p:cNvCxnSpPr>
          <p:nvPr/>
        </p:nvCxnSpPr>
        <p:spPr>
          <a:xfrm rot="10800000" flipH="1">
            <a:off x="2289636" y="3361209"/>
            <a:ext cx="9987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76" name="Google Shape;1476;p2"/>
          <p:cNvSpPr/>
          <p:nvPr/>
        </p:nvSpPr>
        <p:spPr>
          <a:xfrm>
            <a:off x="5990722" y="1304622"/>
            <a:ext cx="4555997" cy="40712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–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2"/>
          <p:cNvSpPr/>
          <p:nvPr/>
        </p:nvSpPr>
        <p:spPr>
          <a:xfrm>
            <a:off x="6064786" y="1668392"/>
            <a:ext cx="4405751" cy="16928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2"/>
          <p:cNvSpPr/>
          <p:nvPr/>
        </p:nvSpPr>
        <p:spPr>
          <a:xfrm>
            <a:off x="7499513" y="2030449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2"/>
          <p:cNvSpPr/>
          <p:nvPr/>
        </p:nvSpPr>
        <p:spPr>
          <a:xfrm>
            <a:off x="6356810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2"/>
          <p:cNvSpPr/>
          <p:nvPr/>
        </p:nvSpPr>
        <p:spPr>
          <a:xfrm>
            <a:off x="6500706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2"/>
          <p:cNvSpPr/>
          <p:nvPr/>
        </p:nvSpPr>
        <p:spPr>
          <a:xfrm>
            <a:off x="6496474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2"/>
          <p:cNvSpPr/>
          <p:nvPr/>
        </p:nvSpPr>
        <p:spPr>
          <a:xfrm>
            <a:off x="8312101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2"/>
          <p:cNvSpPr/>
          <p:nvPr/>
        </p:nvSpPr>
        <p:spPr>
          <a:xfrm>
            <a:off x="8455997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2"/>
          <p:cNvSpPr/>
          <p:nvPr/>
        </p:nvSpPr>
        <p:spPr>
          <a:xfrm>
            <a:off x="8451765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5" name="Google Shape;1485;p2"/>
          <p:cNvCxnSpPr>
            <a:stCxn id="1478" idx="2"/>
            <a:endCxn id="1486" idx="0"/>
          </p:cNvCxnSpPr>
          <p:nvPr/>
        </p:nvCxnSpPr>
        <p:spPr>
          <a:xfrm>
            <a:off x="8269779" y="2379911"/>
            <a:ext cx="4200" cy="488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87" name="Google Shape;1487;p2"/>
          <p:cNvCxnSpPr>
            <a:stCxn id="1479" idx="0"/>
            <a:endCxn id="1477" idx="2"/>
          </p:cNvCxnSpPr>
          <p:nvPr/>
        </p:nvCxnSpPr>
        <p:spPr>
          <a:xfrm rot="10800000" flipH="1">
            <a:off x="7266740" y="3361209"/>
            <a:ext cx="10008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88" name="Google Shape;1488;p2"/>
          <p:cNvSpPr/>
          <p:nvPr/>
        </p:nvSpPr>
        <p:spPr>
          <a:xfrm>
            <a:off x="6145199" y="2868229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2"/>
          <p:cNvSpPr/>
          <p:nvPr/>
        </p:nvSpPr>
        <p:spPr>
          <a:xfrm>
            <a:off x="7588389" y="2868229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2"/>
          <p:cNvSpPr/>
          <p:nvPr/>
        </p:nvSpPr>
        <p:spPr>
          <a:xfrm>
            <a:off x="9010418" y="2868229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3)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0" name="Google Shape;1490;p2"/>
          <p:cNvCxnSpPr>
            <a:stCxn id="1488" idx="0"/>
            <a:endCxn id="1489" idx="0"/>
          </p:cNvCxnSpPr>
          <p:nvPr/>
        </p:nvCxnSpPr>
        <p:spPr>
          <a:xfrm rot="-5400000" flipH="1">
            <a:off x="8263171" y="1435879"/>
            <a:ext cx="600" cy="2865300"/>
          </a:xfrm>
          <a:prstGeom prst="bentConnector3">
            <a:avLst>
              <a:gd name="adj1" fmla="val -38958565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91" name="Google Shape;1491;p2"/>
          <p:cNvCxnSpPr>
            <a:stCxn id="1471" idx="0"/>
            <a:endCxn id="1465" idx="2"/>
          </p:cNvCxnSpPr>
          <p:nvPr/>
        </p:nvCxnSpPr>
        <p:spPr>
          <a:xfrm rot="10800000">
            <a:off x="3288525" y="3361209"/>
            <a:ext cx="9564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92" name="Google Shape;1492;p2"/>
          <p:cNvCxnSpPr>
            <a:stCxn id="1482" idx="0"/>
            <a:endCxn id="1477" idx="2"/>
          </p:cNvCxnSpPr>
          <p:nvPr/>
        </p:nvCxnSpPr>
        <p:spPr>
          <a:xfrm rot="10800000">
            <a:off x="8267731" y="3361209"/>
            <a:ext cx="9543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Simple and HA Models Combined w/ External LB v2</a:t>
            </a:r>
            <a:endParaRPr/>
          </a:p>
        </p:txBody>
      </p:sp>
      <p:sp>
        <p:nvSpPr>
          <p:cNvPr id="1519" name="Google Shape;1519;p11"/>
          <p:cNvSpPr txBox="1">
            <a:spLocks noGrp="1"/>
          </p:cNvSpPr>
          <p:nvPr>
            <p:ph type="subTitle" idx="1"/>
          </p:nvPr>
        </p:nvSpPr>
        <p:spPr>
          <a:xfrm>
            <a:off x="600439" y="845131"/>
            <a:ext cx="1098794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0" name="Google Shape;1520;p11"/>
          <p:cNvSpPr/>
          <p:nvPr/>
        </p:nvSpPr>
        <p:spPr>
          <a:xfrm>
            <a:off x="1545955" y="1424971"/>
            <a:ext cx="4189909" cy="446057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–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11"/>
          <p:cNvSpPr/>
          <p:nvPr/>
        </p:nvSpPr>
        <p:spPr>
          <a:xfrm>
            <a:off x="2733096" y="1742166"/>
            <a:ext cx="1819859" cy="212883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11"/>
          <p:cNvSpPr/>
          <p:nvPr/>
        </p:nvSpPr>
        <p:spPr>
          <a:xfrm>
            <a:off x="2870644" y="2705044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11"/>
          <p:cNvSpPr/>
          <p:nvPr/>
        </p:nvSpPr>
        <p:spPr>
          <a:xfrm>
            <a:off x="2961636" y="3413917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11"/>
          <p:cNvSpPr/>
          <p:nvPr/>
        </p:nvSpPr>
        <p:spPr>
          <a:xfrm>
            <a:off x="1734289" y="4609523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11"/>
          <p:cNvSpPr/>
          <p:nvPr/>
        </p:nvSpPr>
        <p:spPr>
          <a:xfrm>
            <a:off x="1878185" y="4905779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11"/>
          <p:cNvSpPr/>
          <p:nvPr/>
        </p:nvSpPr>
        <p:spPr>
          <a:xfrm>
            <a:off x="1873953" y="5264462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11"/>
          <p:cNvSpPr/>
          <p:nvPr/>
        </p:nvSpPr>
        <p:spPr>
          <a:xfrm>
            <a:off x="3689580" y="4609523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11"/>
          <p:cNvSpPr/>
          <p:nvPr/>
        </p:nvSpPr>
        <p:spPr>
          <a:xfrm>
            <a:off x="3833476" y="4905779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11"/>
          <p:cNvSpPr/>
          <p:nvPr/>
        </p:nvSpPr>
        <p:spPr>
          <a:xfrm>
            <a:off x="3829243" y="5264462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0" name="Google Shape;1530;p11"/>
          <p:cNvCxnSpPr>
            <a:stCxn id="1522" idx="2"/>
            <a:endCxn id="1523" idx="0"/>
          </p:cNvCxnSpPr>
          <p:nvPr/>
        </p:nvCxnSpPr>
        <p:spPr>
          <a:xfrm>
            <a:off x="3640910" y="3054506"/>
            <a:ext cx="6300" cy="359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31" name="Google Shape;1531;p11"/>
          <p:cNvCxnSpPr>
            <a:stCxn id="1524" idx="0"/>
            <a:endCxn id="1521" idx="2"/>
          </p:cNvCxnSpPr>
          <p:nvPr/>
        </p:nvCxnSpPr>
        <p:spPr>
          <a:xfrm rot="10800000" flipH="1">
            <a:off x="2644219" y="3870923"/>
            <a:ext cx="9987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32" name="Google Shape;1532;p11"/>
          <p:cNvCxnSpPr>
            <a:stCxn id="1527" idx="0"/>
            <a:endCxn id="1521" idx="2"/>
          </p:cNvCxnSpPr>
          <p:nvPr/>
        </p:nvCxnSpPr>
        <p:spPr>
          <a:xfrm rot="10800000">
            <a:off x="3643110" y="3870923"/>
            <a:ext cx="9564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33" name="Google Shape;1533;p11"/>
          <p:cNvSpPr/>
          <p:nvPr/>
        </p:nvSpPr>
        <p:spPr>
          <a:xfrm>
            <a:off x="2870644" y="2051805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Load Balancer (Optional)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4" name="Google Shape;1534;p11"/>
          <p:cNvCxnSpPr>
            <a:stCxn id="1533" idx="2"/>
            <a:endCxn id="1522" idx="0"/>
          </p:cNvCxnSpPr>
          <p:nvPr/>
        </p:nvCxnSpPr>
        <p:spPr>
          <a:xfrm>
            <a:off x="3640910" y="2401267"/>
            <a:ext cx="0" cy="3039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35" name="Google Shape;1535;p11"/>
          <p:cNvSpPr/>
          <p:nvPr/>
        </p:nvSpPr>
        <p:spPr>
          <a:xfrm>
            <a:off x="6094412" y="1424971"/>
            <a:ext cx="4555997" cy="446057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–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11"/>
          <p:cNvSpPr/>
          <p:nvPr/>
        </p:nvSpPr>
        <p:spPr>
          <a:xfrm>
            <a:off x="6168477" y="1742166"/>
            <a:ext cx="4405751" cy="212883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11"/>
          <p:cNvSpPr/>
          <p:nvPr/>
        </p:nvSpPr>
        <p:spPr>
          <a:xfrm>
            <a:off x="7593812" y="2671621"/>
            <a:ext cx="1540532" cy="38288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11"/>
          <p:cNvSpPr/>
          <p:nvPr/>
        </p:nvSpPr>
        <p:spPr>
          <a:xfrm>
            <a:off x="6460501" y="4609523"/>
            <a:ext cx="1819859" cy="11198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11"/>
          <p:cNvSpPr/>
          <p:nvPr/>
        </p:nvSpPr>
        <p:spPr>
          <a:xfrm>
            <a:off x="6604397" y="4880077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11"/>
          <p:cNvSpPr/>
          <p:nvPr/>
        </p:nvSpPr>
        <p:spPr>
          <a:xfrm>
            <a:off x="6600164" y="5238759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11"/>
          <p:cNvSpPr/>
          <p:nvPr/>
        </p:nvSpPr>
        <p:spPr>
          <a:xfrm>
            <a:off x="8415791" y="4609523"/>
            <a:ext cx="1819859" cy="11198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11"/>
          <p:cNvSpPr/>
          <p:nvPr/>
        </p:nvSpPr>
        <p:spPr>
          <a:xfrm>
            <a:off x="8559687" y="4880077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11"/>
          <p:cNvSpPr/>
          <p:nvPr/>
        </p:nvSpPr>
        <p:spPr>
          <a:xfrm>
            <a:off x="8555455" y="5238759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4" name="Google Shape;1544;p11"/>
          <p:cNvCxnSpPr>
            <a:stCxn id="1537" idx="2"/>
            <a:endCxn id="1545" idx="0"/>
          </p:cNvCxnSpPr>
          <p:nvPr/>
        </p:nvCxnSpPr>
        <p:spPr>
          <a:xfrm>
            <a:off x="8364078" y="3054505"/>
            <a:ext cx="2100" cy="343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46" name="Google Shape;1546;p11"/>
          <p:cNvCxnSpPr>
            <a:stCxn id="1538" idx="0"/>
            <a:endCxn id="1536" idx="2"/>
          </p:cNvCxnSpPr>
          <p:nvPr/>
        </p:nvCxnSpPr>
        <p:spPr>
          <a:xfrm rot="10800000" flipH="1">
            <a:off x="7370430" y="3870923"/>
            <a:ext cx="10008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47" name="Google Shape;1547;p11"/>
          <p:cNvSpPr/>
          <p:nvPr/>
        </p:nvSpPr>
        <p:spPr>
          <a:xfrm>
            <a:off x="6237383" y="3398015"/>
            <a:ext cx="1371243" cy="392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11"/>
          <p:cNvSpPr/>
          <p:nvPr/>
        </p:nvSpPr>
        <p:spPr>
          <a:xfrm>
            <a:off x="7680573" y="3398015"/>
            <a:ext cx="1371243" cy="392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11"/>
          <p:cNvSpPr/>
          <p:nvPr/>
        </p:nvSpPr>
        <p:spPr>
          <a:xfrm>
            <a:off x="9102602" y="3398015"/>
            <a:ext cx="1371243" cy="392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3)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9" name="Google Shape;1549;p11"/>
          <p:cNvCxnSpPr>
            <a:stCxn id="1547" idx="0"/>
            <a:endCxn id="1548" idx="0"/>
          </p:cNvCxnSpPr>
          <p:nvPr/>
        </p:nvCxnSpPr>
        <p:spPr>
          <a:xfrm rot="-5400000" flipH="1">
            <a:off x="8355355" y="1965665"/>
            <a:ext cx="600" cy="2865300"/>
          </a:xfrm>
          <a:prstGeom prst="bentConnector3">
            <a:avLst>
              <a:gd name="adj1" fmla="val -29061533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50" name="Google Shape;1550;p11"/>
          <p:cNvCxnSpPr>
            <a:stCxn id="1541" idx="0"/>
            <a:endCxn id="1536" idx="2"/>
          </p:cNvCxnSpPr>
          <p:nvPr/>
        </p:nvCxnSpPr>
        <p:spPr>
          <a:xfrm rot="10800000">
            <a:off x="8371421" y="3870923"/>
            <a:ext cx="9543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51" name="Google Shape;1551;p11"/>
          <p:cNvSpPr/>
          <p:nvPr/>
        </p:nvSpPr>
        <p:spPr>
          <a:xfrm>
            <a:off x="7593812" y="2051805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Load Balancer (Optional)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2" name="Google Shape;1552;p11"/>
          <p:cNvCxnSpPr>
            <a:stCxn id="1551" idx="2"/>
            <a:endCxn id="1537" idx="0"/>
          </p:cNvCxnSpPr>
          <p:nvPr/>
        </p:nvCxnSpPr>
        <p:spPr>
          <a:xfrm>
            <a:off x="8364078" y="2401267"/>
            <a:ext cx="0" cy="2703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73"/>
          <p:cNvSpPr txBox="1">
            <a:spLocks noGrp="1"/>
          </p:cNvSpPr>
          <p:nvPr>
            <p:ph type="title"/>
          </p:nvPr>
        </p:nvSpPr>
        <p:spPr>
          <a:xfrm>
            <a:off x="579809" y="413536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599"/>
              <a:t>VCF Automation - Object Flow v2</a:t>
            </a:r>
            <a:endParaRPr/>
          </a:p>
        </p:txBody>
      </p:sp>
      <p:sp>
        <p:nvSpPr>
          <p:cNvPr id="1566" name="Google Shape;1566;p73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8794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Organization Construct Hierarchy</a:t>
            </a:r>
            <a:endParaRPr/>
          </a:p>
        </p:txBody>
      </p:sp>
      <p:sp>
        <p:nvSpPr>
          <p:cNvPr id="1567" name="Google Shape;1567;p73"/>
          <p:cNvSpPr/>
          <p:nvPr/>
        </p:nvSpPr>
        <p:spPr>
          <a:xfrm>
            <a:off x="1208096" y="1666447"/>
            <a:ext cx="9405890" cy="384875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73"/>
          <p:cNvSpPr/>
          <p:nvPr/>
        </p:nvSpPr>
        <p:spPr>
          <a:xfrm>
            <a:off x="5873512" y="2890778"/>
            <a:ext cx="4585534" cy="254061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866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73"/>
          <p:cNvSpPr/>
          <p:nvPr/>
        </p:nvSpPr>
        <p:spPr>
          <a:xfrm>
            <a:off x="1345130" y="1770560"/>
            <a:ext cx="1729359" cy="9338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73"/>
          <p:cNvSpPr/>
          <p:nvPr/>
        </p:nvSpPr>
        <p:spPr>
          <a:xfrm>
            <a:off x="3684966" y="2555418"/>
            <a:ext cx="1729359" cy="93389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73"/>
          <p:cNvSpPr/>
          <p:nvPr/>
        </p:nvSpPr>
        <p:spPr>
          <a:xfrm flipH="1">
            <a:off x="5957433" y="3276593"/>
            <a:ext cx="4395767" cy="202912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6"/>
              <a:buFont typeface="Arial"/>
              <a:buNone/>
            </a:pP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2" name="Google Shape;1572;p73"/>
          <p:cNvCxnSpPr>
            <a:stCxn id="1569" idx="3"/>
            <a:endCxn id="1570" idx="1"/>
          </p:cNvCxnSpPr>
          <p:nvPr/>
        </p:nvCxnSpPr>
        <p:spPr>
          <a:xfrm>
            <a:off x="3074489" y="2237510"/>
            <a:ext cx="610500" cy="784800"/>
          </a:xfrm>
          <a:prstGeom prst="bentConnector3">
            <a:avLst>
              <a:gd name="adj1" fmla="val 50011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73" name="Google Shape;1573;p73"/>
          <p:cNvSpPr/>
          <p:nvPr/>
        </p:nvSpPr>
        <p:spPr>
          <a:xfrm>
            <a:off x="6080315" y="3914846"/>
            <a:ext cx="1729359" cy="93389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73"/>
          <p:cNvSpPr/>
          <p:nvPr/>
        </p:nvSpPr>
        <p:spPr>
          <a:xfrm>
            <a:off x="9057279" y="3590826"/>
            <a:ext cx="930835" cy="59305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Workloads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5" name="Google Shape;1575;p73"/>
          <p:cNvCxnSpPr>
            <a:stCxn id="1573" idx="3"/>
            <a:endCxn id="1574" idx="1"/>
          </p:cNvCxnSpPr>
          <p:nvPr/>
        </p:nvCxnSpPr>
        <p:spPr>
          <a:xfrm rot="10800000" flipH="1">
            <a:off x="7809674" y="3887396"/>
            <a:ext cx="1247700" cy="494400"/>
          </a:xfrm>
          <a:prstGeom prst="bentConnector3">
            <a:avLst>
              <a:gd name="adj1" fmla="val 49999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76" name="Google Shape;1576;p73"/>
          <p:cNvCxnSpPr>
            <a:stCxn id="1570" idx="3"/>
            <a:endCxn id="1573" idx="1"/>
          </p:cNvCxnSpPr>
          <p:nvPr/>
        </p:nvCxnSpPr>
        <p:spPr>
          <a:xfrm>
            <a:off x="5414325" y="3022368"/>
            <a:ext cx="666000" cy="1359300"/>
          </a:xfrm>
          <a:prstGeom prst="bentConnector3">
            <a:avLst>
              <a:gd name="adj1" fmla="val 49987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77" name="Google Shape;1577;p73"/>
          <p:cNvSpPr/>
          <p:nvPr/>
        </p:nvSpPr>
        <p:spPr>
          <a:xfrm>
            <a:off x="9057279" y="4548672"/>
            <a:ext cx="930835" cy="59305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Container Workloads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8" name="Google Shape;1578;p73"/>
          <p:cNvCxnSpPr>
            <a:stCxn id="1573" idx="3"/>
            <a:endCxn id="1577" idx="1"/>
          </p:cNvCxnSpPr>
          <p:nvPr/>
        </p:nvCxnSpPr>
        <p:spPr>
          <a:xfrm>
            <a:off x="7809674" y="4381796"/>
            <a:ext cx="1247700" cy="463500"/>
          </a:xfrm>
          <a:prstGeom prst="bentConnector3">
            <a:avLst>
              <a:gd name="adj1" fmla="val 49999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79" name="Google Shape;1579;p73"/>
          <p:cNvSpPr txBox="1"/>
          <p:nvPr/>
        </p:nvSpPr>
        <p:spPr>
          <a:xfrm>
            <a:off x="7185481" y="3289300"/>
            <a:ext cx="1871799" cy="38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50" tIns="121850" rIns="121850" bIns="121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en-US" sz="933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Networking with VPC</a:t>
            </a:r>
            <a:endParaRPr sz="933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75"/>
          <p:cNvSpPr txBox="1">
            <a:spLocks noGrp="1"/>
          </p:cNvSpPr>
          <p:nvPr>
            <p:ph type="title"/>
          </p:nvPr>
        </p:nvSpPr>
        <p:spPr>
          <a:xfrm>
            <a:off x="579809" y="413536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Org Hierarchy with VPC v2</a:t>
            </a:r>
            <a:endParaRPr/>
          </a:p>
        </p:txBody>
      </p:sp>
      <p:sp>
        <p:nvSpPr>
          <p:cNvPr id="1594" name="Google Shape;1594;p75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6268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5" name="Google Shape;1595;p75"/>
          <p:cNvSpPr/>
          <p:nvPr/>
        </p:nvSpPr>
        <p:spPr>
          <a:xfrm>
            <a:off x="197086" y="1699043"/>
            <a:ext cx="11794652" cy="3884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675" rIns="91400" bIns="45675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6"/>
              <a:buFont typeface="Arial"/>
              <a:buNone/>
            </a:pPr>
            <a:r>
              <a:rPr lang="en-US" sz="146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6" name="Google Shape;1596;p75"/>
          <p:cNvGrpSpPr/>
          <p:nvPr/>
        </p:nvGrpSpPr>
        <p:grpSpPr>
          <a:xfrm>
            <a:off x="278724" y="2060592"/>
            <a:ext cx="5764488" cy="3347883"/>
            <a:chOff x="209098" y="1545177"/>
            <a:chExt cx="4324492" cy="2511566"/>
          </a:xfrm>
        </p:grpSpPr>
        <p:sp>
          <p:nvSpPr>
            <p:cNvPr id="1597" name="Google Shape;1597;p75"/>
            <p:cNvSpPr/>
            <p:nvPr/>
          </p:nvSpPr>
          <p:spPr>
            <a:xfrm>
              <a:off x="209098" y="1545177"/>
              <a:ext cx="4324492" cy="251156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Organization 01</a:t>
              </a:r>
              <a:endPara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8" name="Google Shape;1598;p75"/>
            <p:cNvGrpSpPr/>
            <p:nvPr/>
          </p:nvGrpSpPr>
          <p:grpSpPr>
            <a:xfrm>
              <a:off x="238126" y="1792324"/>
              <a:ext cx="2120443" cy="2219550"/>
              <a:chOff x="238126" y="1792324"/>
              <a:chExt cx="2120443" cy="2219550"/>
            </a:xfrm>
          </p:grpSpPr>
          <p:sp>
            <p:nvSpPr>
              <p:cNvPr id="1599" name="Google Shape;1599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33"/>
                  <a:buFont typeface="Arial"/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0" name="Google Shape;1610;p75"/>
            <p:cNvGrpSpPr/>
            <p:nvPr/>
          </p:nvGrpSpPr>
          <p:grpSpPr>
            <a:xfrm>
              <a:off x="2382457" y="1792324"/>
              <a:ext cx="2120443" cy="2219550"/>
              <a:chOff x="238126" y="1792324"/>
              <a:chExt cx="2120443" cy="2219550"/>
            </a:xfrm>
          </p:grpSpPr>
          <p:sp>
            <p:nvSpPr>
              <p:cNvPr id="1611" name="Google Shape;1611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33"/>
                  <a:buFont typeface="Arial"/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6" name="Google Shape;1616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9" name="Google Shape;1619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22" name="Google Shape;1622;p75"/>
          <p:cNvGrpSpPr/>
          <p:nvPr/>
        </p:nvGrpSpPr>
        <p:grpSpPr>
          <a:xfrm>
            <a:off x="6144044" y="2058641"/>
            <a:ext cx="5764488" cy="3347883"/>
            <a:chOff x="209098" y="1545177"/>
            <a:chExt cx="4324492" cy="2511566"/>
          </a:xfrm>
        </p:grpSpPr>
        <p:sp>
          <p:nvSpPr>
            <p:cNvPr id="1623" name="Google Shape;1623;p75"/>
            <p:cNvSpPr/>
            <p:nvPr/>
          </p:nvSpPr>
          <p:spPr>
            <a:xfrm>
              <a:off x="209098" y="1545177"/>
              <a:ext cx="4324492" cy="251156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Organization 01</a:t>
              </a:r>
              <a:endPara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4" name="Google Shape;1624;p75"/>
            <p:cNvGrpSpPr/>
            <p:nvPr/>
          </p:nvGrpSpPr>
          <p:grpSpPr>
            <a:xfrm>
              <a:off x="238126" y="1792324"/>
              <a:ext cx="2120443" cy="2219550"/>
              <a:chOff x="238126" y="1792324"/>
              <a:chExt cx="2120443" cy="2219550"/>
            </a:xfrm>
          </p:grpSpPr>
          <p:sp>
            <p:nvSpPr>
              <p:cNvPr id="1625" name="Google Shape;1625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33"/>
                  <a:buFont typeface="Arial"/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2" name="Google Shape;1632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3" name="Google Shape;1633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6" name="Google Shape;1636;p75"/>
            <p:cNvGrpSpPr/>
            <p:nvPr/>
          </p:nvGrpSpPr>
          <p:grpSpPr>
            <a:xfrm>
              <a:off x="2382457" y="1792324"/>
              <a:ext cx="2120443" cy="2219550"/>
              <a:chOff x="238126" y="1792324"/>
              <a:chExt cx="2120443" cy="2219550"/>
            </a:xfrm>
          </p:grpSpPr>
          <p:sp>
            <p:nvSpPr>
              <p:cNvPr id="1637" name="Google Shape;1637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33"/>
                  <a:buFont typeface="Arial"/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4" name="Google Shape;1644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77"/>
          <p:cNvSpPr/>
          <p:nvPr/>
        </p:nvSpPr>
        <p:spPr>
          <a:xfrm>
            <a:off x="2501705" y="1354273"/>
            <a:ext cx="6163626" cy="441303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F3BA16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866" b="0" i="0" u="none" strike="noStrike" cap="none">
              <a:solidFill>
                <a:srgbClr val="F3BA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77"/>
          <p:cNvSpPr txBox="1">
            <a:spLocks noGrp="1"/>
          </p:cNvSpPr>
          <p:nvPr>
            <p:ph type="title"/>
          </p:nvPr>
        </p:nvSpPr>
        <p:spPr>
          <a:xfrm>
            <a:off x="554419" y="431411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Provider Consumption Org v1</a:t>
            </a:r>
            <a:endParaRPr/>
          </a:p>
        </p:txBody>
      </p:sp>
      <p:sp>
        <p:nvSpPr>
          <p:cNvPr id="1663" name="Google Shape;1663;p77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6268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Flow Chart</a:t>
            </a:r>
            <a:endParaRPr/>
          </a:p>
        </p:txBody>
      </p:sp>
      <p:sp>
        <p:nvSpPr>
          <p:cNvPr id="1664" name="Google Shape;1664;p77"/>
          <p:cNvSpPr/>
          <p:nvPr/>
        </p:nvSpPr>
        <p:spPr>
          <a:xfrm>
            <a:off x="4179026" y="1709719"/>
            <a:ext cx="2611892" cy="2186818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/ Enterprise Admin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77"/>
          <p:cNvSpPr/>
          <p:nvPr/>
        </p:nvSpPr>
        <p:spPr>
          <a:xfrm>
            <a:off x="4716617" y="2024934"/>
            <a:ext cx="1582621" cy="8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Management Functions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77"/>
          <p:cNvSpPr/>
          <p:nvPr/>
        </p:nvSpPr>
        <p:spPr>
          <a:xfrm>
            <a:off x="4788896" y="2942380"/>
            <a:ext cx="1424434" cy="8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Consumption Organization (PCO)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77"/>
          <p:cNvSpPr/>
          <p:nvPr/>
        </p:nvSpPr>
        <p:spPr>
          <a:xfrm>
            <a:off x="2728244" y="4731533"/>
            <a:ext cx="1572358" cy="9664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1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77"/>
          <p:cNvSpPr/>
          <p:nvPr/>
        </p:nvSpPr>
        <p:spPr>
          <a:xfrm>
            <a:off x="4716617" y="4731533"/>
            <a:ext cx="1568993" cy="9664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2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77"/>
          <p:cNvSpPr/>
          <p:nvPr/>
        </p:nvSpPr>
        <p:spPr>
          <a:xfrm>
            <a:off x="6719411" y="4731533"/>
            <a:ext cx="1568993" cy="9664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N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0" name="Google Shape;1670;p77"/>
          <p:cNvCxnSpPr>
            <a:stCxn id="1666" idx="2"/>
            <a:endCxn id="1667" idx="0"/>
          </p:cNvCxnSpPr>
          <p:nvPr/>
        </p:nvCxnSpPr>
        <p:spPr>
          <a:xfrm flipH="1">
            <a:off x="3514513" y="3776621"/>
            <a:ext cx="1986600" cy="95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671" name="Google Shape;1671;p77"/>
          <p:cNvCxnSpPr>
            <a:stCxn id="1666" idx="2"/>
            <a:endCxn id="1668" idx="0"/>
          </p:cNvCxnSpPr>
          <p:nvPr/>
        </p:nvCxnSpPr>
        <p:spPr>
          <a:xfrm>
            <a:off x="5501113" y="3776621"/>
            <a:ext cx="0" cy="95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672" name="Google Shape;1672;p77"/>
          <p:cNvCxnSpPr>
            <a:stCxn id="1666" idx="2"/>
            <a:endCxn id="1669" idx="0"/>
          </p:cNvCxnSpPr>
          <p:nvPr/>
        </p:nvCxnSpPr>
        <p:spPr>
          <a:xfrm>
            <a:off x="5501113" y="3776621"/>
            <a:ext cx="2002800" cy="95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673" name="Google Shape;1673;p77"/>
          <p:cNvSpPr/>
          <p:nvPr/>
        </p:nvSpPr>
        <p:spPr>
          <a:xfrm>
            <a:off x="7400788" y="3019366"/>
            <a:ext cx="1171703" cy="106267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50002" y="112056"/>
                </a:lnTo>
                <a:lnTo>
                  <a:pt x="-60769" y="140851"/>
                </a:lnTo>
              </a:path>
            </a:pathLst>
          </a:custGeom>
          <a:noFill/>
          <a:ln w="12700" cap="flat" cmpd="sng">
            <a:solidFill>
              <a:srgbClr val="003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Visibility to allow for publishing of catalog items from PCO to Organizations</a:t>
            </a:r>
            <a:endParaRPr sz="1066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13"/>
          <p:cNvSpPr/>
          <p:nvPr/>
        </p:nvSpPr>
        <p:spPr>
          <a:xfrm>
            <a:off x="304720" y="1634534"/>
            <a:ext cx="11181554" cy="4596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6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11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Example – Supervisor to Organization Relationship v1</a:t>
            </a:r>
            <a:endParaRPr/>
          </a:p>
        </p:txBody>
      </p:sp>
      <p:sp>
        <p:nvSpPr>
          <p:cNvPr id="1689" name="Google Shape;1689;p113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Shared Infrastructure </a:t>
            </a:r>
            <a:endParaRPr/>
          </a:p>
        </p:txBody>
      </p:sp>
      <p:sp>
        <p:nvSpPr>
          <p:cNvPr id="1690" name="Google Shape;1690;p113"/>
          <p:cNvSpPr/>
          <p:nvPr/>
        </p:nvSpPr>
        <p:spPr>
          <a:xfrm>
            <a:off x="1164285" y="2146116"/>
            <a:ext cx="5162714" cy="13709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113"/>
          <p:cNvSpPr/>
          <p:nvPr/>
        </p:nvSpPr>
        <p:spPr>
          <a:xfrm>
            <a:off x="1329791" y="2438174"/>
            <a:ext cx="2285403" cy="86745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113"/>
          <p:cNvSpPr txBox="1"/>
          <p:nvPr/>
        </p:nvSpPr>
        <p:spPr>
          <a:xfrm>
            <a:off x="1278179" y="2138533"/>
            <a:ext cx="1860091" cy="28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BigCo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113"/>
          <p:cNvSpPr txBox="1"/>
          <p:nvPr/>
        </p:nvSpPr>
        <p:spPr>
          <a:xfrm>
            <a:off x="1329791" y="2459939"/>
            <a:ext cx="1259373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- Apple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113"/>
          <p:cNvSpPr txBox="1"/>
          <p:nvPr/>
        </p:nvSpPr>
        <p:spPr>
          <a:xfrm>
            <a:off x="2396929" y="3010882"/>
            <a:ext cx="1182393" cy="1615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Namespace:  Mac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113"/>
          <p:cNvSpPr txBox="1"/>
          <p:nvPr/>
        </p:nvSpPr>
        <p:spPr>
          <a:xfrm>
            <a:off x="1406771" y="2766827"/>
            <a:ext cx="1182393" cy="16153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Namespace: Crisp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6" name="Google Shape;1696;p113"/>
          <p:cNvCxnSpPr/>
          <p:nvPr/>
        </p:nvCxnSpPr>
        <p:spPr>
          <a:xfrm>
            <a:off x="702550" y="3782858"/>
            <a:ext cx="10358523" cy="0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97" name="Google Shape;1697;p113"/>
          <p:cNvSpPr/>
          <p:nvPr/>
        </p:nvSpPr>
        <p:spPr>
          <a:xfrm>
            <a:off x="4042209" y="2438174"/>
            <a:ext cx="2174188" cy="8674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113"/>
          <p:cNvSpPr txBox="1"/>
          <p:nvPr/>
        </p:nvSpPr>
        <p:spPr>
          <a:xfrm>
            <a:off x="4049951" y="2451455"/>
            <a:ext cx="1182393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- Pear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113"/>
          <p:cNvSpPr txBox="1"/>
          <p:nvPr/>
        </p:nvSpPr>
        <p:spPr>
          <a:xfrm>
            <a:off x="4109754" y="2767487"/>
            <a:ext cx="1323594" cy="1615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Namespace: Bartlett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113"/>
          <p:cNvSpPr txBox="1"/>
          <p:nvPr/>
        </p:nvSpPr>
        <p:spPr>
          <a:xfrm>
            <a:off x="4992483" y="3029981"/>
            <a:ext cx="1127533" cy="1615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Namespace: Bosc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113"/>
          <p:cNvSpPr/>
          <p:nvPr/>
        </p:nvSpPr>
        <p:spPr>
          <a:xfrm>
            <a:off x="7957155" y="2144690"/>
            <a:ext cx="2116947" cy="137239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113"/>
          <p:cNvSpPr/>
          <p:nvPr/>
        </p:nvSpPr>
        <p:spPr>
          <a:xfrm>
            <a:off x="8096742" y="2484269"/>
            <a:ext cx="1830281" cy="8670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113"/>
          <p:cNvSpPr txBox="1"/>
          <p:nvPr/>
        </p:nvSpPr>
        <p:spPr>
          <a:xfrm>
            <a:off x="7985034" y="2127305"/>
            <a:ext cx="2054412" cy="28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SmallCo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113"/>
          <p:cNvSpPr txBox="1"/>
          <p:nvPr/>
        </p:nvSpPr>
        <p:spPr>
          <a:xfrm>
            <a:off x="8104778" y="2460576"/>
            <a:ext cx="1182393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- Corp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113"/>
          <p:cNvSpPr txBox="1"/>
          <p:nvPr/>
        </p:nvSpPr>
        <p:spPr>
          <a:xfrm>
            <a:off x="8683110" y="3077615"/>
            <a:ext cx="1172147" cy="1615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Namespace: Plant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113"/>
          <p:cNvSpPr txBox="1"/>
          <p:nvPr/>
        </p:nvSpPr>
        <p:spPr>
          <a:xfrm>
            <a:off x="8151825" y="2806847"/>
            <a:ext cx="1240718" cy="1615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Namespace: Finance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7" name="Google Shape;1707;p113"/>
          <p:cNvGrpSpPr/>
          <p:nvPr/>
        </p:nvGrpSpPr>
        <p:grpSpPr>
          <a:xfrm>
            <a:off x="9345782" y="4546619"/>
            <a:ext cx="1166236" cy="839173"/>
            <a:chOff x="6158472" y="2128245"/>
            <a:chExt cx="1166540" cy="839391"/>
          </a:xfrm>
        </p:grpSpPr>
        <p:grpSp>
          <p:nvGrpSpPr>
            <p:cNvPr id="1708" name="Google Shape;1708;p113"/>
            <p:cNvGrpSpPr/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1709" name="Google Shape;1709;p113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0" name="Google Shape;1710;p113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11" name="Google Shape;1711;p113"/>
            <p:cNvSpPr txBox="1"/>
            <p:nvPr/>
          </p:nvSpPr>
          <p:spPr>
            <a:xfrm>
              <a:off x="6158472" y="2528989"/>
              <a:ext cx="1166540" cy="438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50" rIns="68550" bIns="342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Provider Admins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12" name="Google Shape;1712;p113"/>
            <p:cNvGrpSpPr/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1713" name="Google Shape;1713;p113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4" name="Google Shape;1714;p113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5" name="Google Shape;1715;p113"/>
            <p:cNvGrpSpPr/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1716" name="Google Shape;1716;p113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113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18" name="Google Shape;1718;p113"/>
          <p:cNvSpPr/>
          <p:nvPr/>
        </p:nvSpPr>
        <p:spPr>
          <a:xfrm>
            <a:off x="2685625" y="4066242"/>
            <a:ext cx="3880976" cy="195288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113"/>
          <p:cNvSpPr txBox="1"/>
          <p:nvPr/>
        </p:nvSpPr>
        <p:spPr>
          <a:xfrm rot="5400000">
            <a:off x="2231982" y="4991321"/>
            <a:ext cx="1283008" cy="28464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 West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113"/>
          <p:cNvSpPr txBox="1"/>
          <p:nvPr/>
        </p:nvSpPr>
        <p:spPr>
          <a:xfrm>
            <a:off x="3034852" y="5655931"/>
            <a:ext cx="3422057" cy="238478"/>
          </a:xfrm>
          <a:prstGeom prst="rect">
            <a:avLst/>
          </a:prstGeom>
          <a:noFill/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Local Manager West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13"/>
          <p:cNvSpPr/>
          <p:nvPr/>
        </p:nvSpPr>
        <p:spPr>
          <a:xfrm>
            <a:off x="3187851" y="4662722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113"/>
          <p:cNvSpPr/>
          <p:nvPr/>
        </p:nvSpPr>
        <p:spPr>
          <a:xfrm>
            <a:off x="3187851" y="4571262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113"/>
          <p:cNvSpPr/>
          <p:nvPr/>
        </p:nvSpPr>
        <p:spPr>
          <a:xfrm>
            <a:off x="3153172" y="4427974"/>
            <a:ext cx="377176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113"/>
          <p:cNvSpPr/>
          <p:nvPr/>
        </p:nvSpPr>
        <p:spPr>
          <a:xfrm>
            <a:off x="3187851" y="4479803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113"/>
          <p:cNvSpPr txBox="1"/>
          <p:nvPr/>
        </p:nvSpPr>
        <p:spPr>
          <a:xfrm>
            <a:off x="3041741" y="4738033"/>
            <a:ext cx="547636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p113"/>
          <p:cNvSpPr/>
          <p:nvPr/>
        </p:nvSpPr>
        <p:spPr>
          <a:xfrm>
            <a:off x="3735488" y="4662722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p113"/>
          <p:cNvSpPr/>
          <p:nvPr/>
        </p:nvSpPr>
        <p:spPr>
          <a:xfrm>
            <a:off x="3735488" y="4571262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p113"/>
          <p:cNvSpPr/>
          <p:nvPr/>
        </p:nvSpPr>
        <p:spPr>
          <a:xfrm>
            <a:off x="3700809" y="4427974"/>
            <a:ext cx="377870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113"/>
          <p:cNvSpPr/>
          <p:nvPr/>
        </p:nvSpPr>
        <p:spPr>
          <a:xfrm>
            <a:off x="3735488" y="4479803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113"/>
          <p:cNvSpPr txBox="1"/>
          <p:nvPr/>
        </p:nvSpPr>
        <p:spPr>
          <a:xfrm>
            <a:off x="3589378" y="4738033"/>
            <a:ext cx="547636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113"/>
          <p:cNvSpPr/>
          <p:nvPr/>
        </p:nvSpPr>
        <p:spPr>
          <a:xfrm>
            <a:off x="4283124" y="4662722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113"/>
          <p:cNvSpPr/>
          <p:nvPr/>
        </p:nvSpPr>
        <p:spPr>
          <a:xfrm>
            <a:off x="4283124" y="4571262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113"/>
          <p:cNvSpPr/>
          <p:nvPr/>
        </p:nvSpPr>
        <p:spPr>
          <a:xfrm>
            <a:off x="4248445" y="4427974"/>
            <a:ext cx="378563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113"/>
          <p:cNvSpPr/>
          <p:nvPr/>
        </p:nvSpPr>
        <p:spPr>
          <a:xfrm>
            <a:off x="4283124" y="4479803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113"/>
          <p:cNvSpPr txBox="1"/>
          <p:nvPr/>
        </p:nvSpPr>
        <p:spPr>
          <a:xfrm>
            <a:off x="4137014" y="4738033"/>
            <a:ext cx="547636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113"/>
          <p:cNvSpPr txBox="1"/>
          <p:nvPr/>
        </p:nvSpPr>
        <p:spPr>
          <a:xfrm>
            <a:off x="3138271" y="4211347"/>
            <a:ext cx="425160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zone1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113"/>
          <p:cNvSpPr/>
          <p:nvPr/>
        </p:nvSpPr>
        <p:spPr>
          <a:xfrm>
            <a:off x="3677152" y="4229960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113"/>
          <p:cNvSpPr txBox="1"/>
          <p:nvPr/>
        </p:nvSpPr>
        <p:spPr>
          <a:xfrm>
            <a:off x="3677151" y="4204503"/>
            <a:ext cx="433846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zone2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113"/>
          <p:cNvSpPr/>
          <p:nvPr/>
        </p:nvSpPr>
        <p:spPr>
          <a:xfrm>
            <a:off x="4225481" y="4229960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113"/>
          <p:cNvSpPr txBox="1"/>
          <p:nvPr/>
        </p:nvSpPr>
        <p:spPr>
          <a:xfrm>
            <a:off x="4192890" y="4205162"/>
            <a:ext cx="459168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zone3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113"/>
          <p:cNvSpPr txBox="1"/>
          <p:nvPr/>
        </p:nvSpPr>
        <p:spPr>
          <a:xfrm>
            <a:off x="3041741" y="5083151"/>
            <a:ext cx="1642909" cy="2384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Supervisor 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113"/>
          <p:cNvSpPr txBox="1"/>
          <p:nvPr/>
        </p:nvSpPr>
        <p:spPr>
          <a:xfrm>
            <a:off x="3034851" y="5349632"/>
            <a:ext cx="1649800" cy="2384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  West 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113"/>
          <p:cNvSpPr/>
          <p:nvPr/>
        </p:nvSpPr>
        <p:spPr>
          <a:xfrm>
            <a:off x="4945705" y="4667485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113"/>
          <p:cNvSpPr/>
          <p:nvPr/>
        </p:nvSpPr>
        <p:spPr>
          <a:xfrm>
            <a:off x="4945705" y="4576025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113"/>
          <p:cNvSpPr/>
          <p:nvPr/>
        </p:nvSpPr>
        <p:spPr>
          <a:xfrm>
            <a:off x="4911026" y="4432737"/>
            <a:ext cx="377176" cy="286385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113"/>
          <p:cNvSpPr/>
          <p:nvPr/>
        </p:nvSpPr>
        <p:spPr>
          <a:xfrm>
            <a:off x="4945705" y="4484564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113"/>
          <p:cNvSpPr txBox="1"/>
          <p:nvPr/>
        </p:nvSpPr>
        <p:spPr>
          <a:xfrm>
            <a:off x="4799594" y="4742796"/>
            <a:ext cx="562042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113"/>
          <p:cNvSpPr/>
          <p:nvPr/>
        </p:nvSpPr>
        <p:spPr>
          <a:xfrm>
            <a:off x="5493341" y="4667485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113"/>
          <p:cNvSpPr/>
          <p:nvPr/>
        </p:nvSpPr>
        <p:spPr>
          <a:xfrm>
            <a:off x="5493341" y="4576025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113"/>
          <p:cNvSpPr/>
          <p:nvPr/>
        </p:nvSpPr>
        <p:spPr>
          <a:xfrm>
            <a:off x="5458661" y="4432737"/>
            <a:ext cx="377870" cy="286385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113"/>
          <p:cNvSpPr/>
          <p:nvPr/>
        </p:nvSpPr>
        <p:spPr>
          <a:xfrm>
            <a:off x="5493341" y="4484564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113"/>
          <p:cNvSpPr txBox="1"/>
          <p:nvPr/>
        </p:nvSpPr>
        <p:spPr>
          <a:xfrm>
            <a:off x="5347230" y="4742796"/>
            <a:ext cx="562042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113"/>
          <p:cNvSpPr/>
          <p:nvPr/>
        </p:nvSpPr>
        <p:spPr>
          <a:xfrm>
            <a:off x="6040978" y="4667485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113"/>
          <p:cNvSpPr/>
          <p:nvPr/>
        </p:nvSpPr>
        <p:spPr>
          <a:xfrm>
            <a:off x="6040978" y="4576025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113"/>
          <p:cNvSpPr/>
          <p:nvPr/>
        </p:nvSpPr>
        <p:spPr>
          <a:xfrm>
            <a:off x="6006299" y="4432737"/>
            <a:ext cx="378563" cy="286385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113"/>
          <p:cNvSpPr/>
          <p:nvPr/>
        </p:nvSpPr>
        <p:spPr>
          <a:xfrm>
            <a:off x="6040978" y="4484564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113"/>
          <p:cNvSpPr txBox="1"/>
          <p:nvPr/>
        </p:nvSpPr>
        <p:spPr>
          <a:xfrm>
            <a:off x="5894867" y="4742796"/>
            <a:ext cx="562042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113"/>
          <p:cNvSpPr txBox="1"/>
          <p:nvPr/>
        </p:nvSpPr>
        <p:spPr>
          <a:xfrm>
            <a:off x="4896123" y="4216109"/>
            <a:ext cx="436344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zone4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113"/>
          <p:cNvSpPr/>
          <p:nvPr/>
        </p:nvSpPr>
        <p:spPr>
          <a:xfrm>
            <a:off x="5435005" y="4234721"/>
            <a:ext cx="401527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113"/>
          <p:cNvSpPr txBox="1"/>
          <p:nvPr/>
        </p:nvSpPr>
        <p:spPr>
          <a:xfrm>
            <a:off x="5435005" y="4209264"/>
            <a:ext cx="436345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zone5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113"/>
          <p:cNvSpPr/>
          <p:nvPr/>
        </p:nvSpPr>
        <p:spPr>
          <a:xfrm>
            <a:off x="5983334" y="4234721"/>
            <a:ext cx="401527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113"/>
          <p:cNvSpPr txBox="1"/>
          <p:nvPr/>
        </p:nvSpPr>
        <p:spPr>
          <a:xfrm>
            <a:off x="5983334" y="4209264"/>
            <a:ext cx="436345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zone6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113"/>
          <p:cNvSpPr txBox="1"/>
          <p:nvPr/>
        </p:nvSpPr>
        <p:spPr>
          <a:xfrm>
            <a:off x="802852" y="4645722"/>
            <a:ext cx="1117657" cy="50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Level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4" name="Google Shape;1764;p113"/>
          <p:cNvCxnSpPr>
            <a:stCxn id="1695" idx="2"/>
            <a:endCxn id="1736" idx="0"/>
          </p:cNvCxnSpPr>
          <p:nvPr/>
        </p:nvCxnSpPr>
        <p:spPr>
          <a:xfrm>
            <a:off x="1997967" y="2928361"/>
            <a:ext cx="1353000" cy="12831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765" name="Google Shape;1765;p113"/>
          <p:cNvCxnSpPr>
            <a:stCxn id="1695" idx="2"/>
            <a:endCxn id="1738" idx="0"/>
          </p:cNvCxnSpPr>
          <p:nvPr/>
        </p:nvCxnSpPr>
        <p:spPr>
          <a:xfrm>
            <a:off x="1997967" y="2928361"/>
            <a:ext cx="1896000" cy="1276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766" name="Google Shape;1766;p113"/>
          <p:cNvCxnSpPr>
            <a:stCxn id="1694" idx="2"/>
            <a:endCxn id="1740" idx="0"/>
          </p:cNvCxnSpPr>
          <p:nvPr/>
        </p:nvCxnSpPr>
        <p:spPr>
          <a:xfrm>
            <a:off x="2988126" y="3172416"/>
            <a:ext cx="1434300" cy="1032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767" name="Google Shape;1767;p113"/>
          <p:cNvCxnSpPr>
            <a:stCxn id="1699" idx="2"/>
            <a:endCxn id="1738" idx="0"/>
          </p:cNvCxnSpPr>
          <p:nvPr/>
        </p:nvCxnSpPr>
        <p:spPr>
          <a:xfrm flipH="1">
            <a:off x="3894051" y="2929021"/>
            <a:ext cx="877500" cy="1275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768" name="Google Shape;1768;p113"/>
          <p:cNvCxnSpPr>
            <a:stCxn id="1699" idx="2"/>
            <a:endCxn id="1740" idx="0"/>
          </p:cNvCxnSpPr>
          <p:nvPr/>
        </p:nvCxnSpPr>
        <p:spPr>
          <a:xfrm flipH="1">
            <a:off x="4422351" y="2929021"/>
            <a:ext cx="349200" cy="1276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769" name="Google Shape;1769;p113"/>
          <p:cNvCxnSpPr>
            <a:stCxn id="1706" idx="2"/>
            <a:endCxn id="1762" idx="0"/>
          </p:cNvCxnSpPr>
          <p:nvPr/>
        </p:nvCxnSpPr>
        <p:spPr>
          <a:xfrm flipH="1">
            <a:off x="6201484" y="2968381"/>
            <a:ext cx="2570700" cy="12408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770" name="Google Shape;1770;p113"/>
          <p:cNvSpPr txBox="1"/>
          <p:nvPr/>
        </p:nvSpPr>
        <p:spPr>
          <a:xfrm>
            <a:off x="415540" y="2434724"/>
            <a:ext cx="748745" cy="50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Tenant Level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113"/>
          <p:cNvSpPr/>
          <p:nvPr/>
        </p:nvSpPr>
        <p:spPr>
          <a:xfrm>
            <a:off x="6867134" y="2387101"/>
            <a:ext cx="415782" cy="416141"/>
          </a:xfrm>
          <a:custGeom>
            <a:avLst/>
            <a:gdLst/>
            <a:ahLst/>
            <a:cxnLst/>
            <a:rect l="l" t="t" r="r" b="b"/>
            <a:pathLst>
              <a:path w="981" h="982" extrusionOk="0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113"/>
          <p:cNvSpPr/>
          <p:nvPr/>
        </p:nvSpPr>
        <p:spPr>
          <a:xfrm>
            <a:off x="7014133" y="2503342"/>
            <a:ext cx="107656" cy="107477"/>
          </a:xfrm>
          <a:custGeom>
            <a:avLst/>
            <a:gdLst/>
            <a:ahLst/>
            <a:cxnLst/>
            <a:rect l="l" t="t" r="r" b="b"/>
            <a:pathLst>
              <a:path w="254" h="254" extrusionOk="0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113"/>
          <p:cNvSpPr txBox="1"/>
          <p:nvPr/>
        </p:nvSpPr>
        <p:spPr>
          <a:xfrm>
            <a:off x="6494875" y="2787741"/>
            <a:ext cx="1166236" cy="62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BigCo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113"/>
          <p:cNvSpPr/>
          <p:nvPr/>
        </p:nvSpPr>
        <p:spPr>
          <a:xfrm>
            <a:off x="7116413" y="2387101"/>
            <a:ext cx="415782" cy="416141"/>
          </a:xfrm>
          <a:custGeom>
            <a:avLst/>
            <a:gdLst/>
            <a:ahLst/>
            <a:cxnLst/>
            <a:rect l="l" t="t" r="r" b="b"/>
            <a:pathLst>
              <a:path w="981" h="982" extrusionOk="0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113"/>
          <p:cNvSpPr/>
          <p:nvPr/>
        </p:nvSpPr>
        <p:spPr>
          <a:xfrm>
            <a:off x="7263412" y="2503342"/>
            <a:ext cx="107656" cy="107477"/>
          </a:xfrm>
          <a:custGeom>
            <a:avLst/>
            <a:gdLst/>
            <a:ahLst/>
            <a:cxnLst/>
            <a:rect l="l" t="t" r="r" b="b"/>
            <a:pathLst>
              <a:path w="254" h="254" extrusionOk="0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113"/>
          <p:cNvSpPr/>
          <p:nvPr/>
        </p:nvSpPr>
        <p:spPr>
          <a:xfrm>
            <a:off x="6571089" y="2387101"/>
            <a:ext cx="415782" cy="416141"/>
          </a:xfrm>
          <a:custGeom>
            <a:avLst/>
            <a:gdLst/>
            <a:ahLst/>
            <a:cxnLst/>
            <a:rect l="l" t="t" r="r" b="b"/>
            <a:pathLst>
              <a:path w="981" h="982" extrusionOk="0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113"/>
          <p:cNvSpPr/>
          <p:nvPr/>
        </p:nvSpPr>
        <p:spPr>
          <a:xfrm>
            <a:off x="6718089" y="2503342"/>
            <a:ext cx="107656" cy="107477"/>
          </a:xfrm>
          <a:custGeom>
            <a:avLst/>
            <a:gdLst/>
            <a:ahLst/>
            <a:cxnLst/>
            <a:rect l="l" t="t" r="r" b="b"/>
            <a:pathLst>
              <a:path w="254" h="254" extrusionOk="0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8" name="Google Shape;1778;p113"/>
          <p:cNvGrpSpPr/>
          <p:nvPr/>
        </p:nvGrpSpPr>
        <p:grpSpPr>
          <a:xfrm>
            <a:off x="10051702" y="2418495"/>
            <a:ext cx="1166236" cy="1023838"/>
            <a:chOff x="6158472" y="2128245"/>
            <a:chExt cx="1166540" cy="1024103"/>
          </a:xfrm>
        </p:grpSpPr>
        <p:grpSp>
          <p:nvGrpSpPr>
            <p:cNvPr id="1779" name="Google Shape;1779;p113"/>
            <p:cNvGrpSpPr/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1780" name="Google Shape;1780;p113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1" name="Google Shape;1781;p113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82" name="Google Shape;1782;p113"/>
            <p:cNvSpPr txBox="1"/>
            <p:nvPr/>
          </p:nvSpPr>
          <p:spPr>
            <a:xfrm>
              <a:off x="6158472" y="2528988"/>
              <a:ext cx="1166540" cy="623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50" rIns="68550" bIns="342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SmallCo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Admins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83" name="Google Shape;1783;p113"/>
            <p:cNvGrpSpPr/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1784" name="Google Shape;1784;p113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5" name="Google Shape;1785;p113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6" name="Google Shape;1786;p113"/>
            <p:cNvGrpSpPr/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1787" name="Google Shape;1787;p113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8" name="Google Shape;1788;p113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89" name="Google Shape;1789;p113"/>
          <p:cNvSpPr/>
          <p:nvPr/>
        </p:nvSpPr>
        <p:spPr>
          <a:xfrm>
            <a:off x="6938731" y="4048634"/>
            <a:ext cx="2288076" cy="195288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113"/>
          <p:cNvSpPr txBox="1"/>
          <p:nvPr/>
        </p:nvSpPr>
        <p:spPr>
          <a:xfrm rot="5400000">
            <a:off x="6529610" y="4983959"/>
            <a:ext cx="1198569" cy="28464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 East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113"/>
          <p:cNvSpPr txBox="1"/>
          <p:nvPr/>
        </p:nvSpPr>
        <p:spPr>
          <a:xfrm>
            <a:off x="7367937" y="5706138"/>
            <a:ext cx="1783811" cy="23847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Local Manager East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113"/>
          <p:cNvSpPr/>
          <p:nvPr/>
        </p:nvSpPr>
        <p:spPr>
          <a:xfrm>
            <a:off x="7578688" y="4697580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113"/>
          <p:cNvSpPr/>
          <p:nvPr/>
        </p:nvSpPr>
        <p:spPr>
          <a:xfrm>
            <a:off x="7578688" y="4606119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113"/>
          <p:cNvSpPr/>
          <p:nvPr/>
        </p:nvSpPr>
        <p:spPr>
          <a:xfrm>
            <a:off x="7544009" y="4462832"/>
            <a:ext cx="377176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5" name="Google Shape;1795;p113"/>
          <p:cNvSpPr/>
          <p:nvPr/>
        </p:nvSpPr>
        <p:spPr>
          <a:xfrm>
            <a:off x="7578688" y="4514661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113"/>
          <p:cNvSpPr txBox="1"/>
          <p:nvPr/>
        </p:nvSpPr>
        <p:spPr>
          <a:xfrm>
            <a:off x="7432578" y="4772891"/>
            <a:ext cx="547636" cy="31542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113"/>
          <p:cNvSpPr/>
          <p:nvPr/>
        </p:nvSpPr>
        <p:spPr>
          <a:xfrm>
            <a:off x="8126326" y="4697580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113"/>
          <p:cNvSpPr/>
          <p:nvPr/>
        </p:nvSpPr>
        <p:spPr>
          <a:xfrm>
            <a:off x="8126326" y="4606119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113"/>
          <p:cNvSpPr/>
          <p:nvPr/>
        </p:nvSpPr>
        <p:spPr>
          <a:xfrm>
            <a:off x="8091646" y="4462832"/>
            <a:ext cx="377870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113"/>
          <p:cNvSpPr/>
          <p:nvPr/>
        </p:nvSpPr>
        <p:spPr>
          <a:xfrm>
            <a:off x="8126326" y="4514661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113"/>
          <p:cNvSpPr txBox="1"/>
          <p:nvPr/>
        </p:nvSpPr>
        <p:spPr>
          <a:xfrm>
            <a:off x="7980215" y="4772891"/>
            <a:ext cx="547636" cy="31542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113"/>
          <p:cNvSpPr/>
          <p:nvPr/>
        </p:nvSpPr>
        <p:spPr>
          <a:xfrm>
            <a:off x="8673962" y="4697580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113"/>
          <p:cNvSpPr/>
          <p:nvPr/>
        </p:nvSpPr>
        <p:spPr>
          <a:xfrm>
            <a:off x="8673962" y="4606119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113"/>
          <p:cNvSpPr/>
          <p:nvPr/>
        </p:nvSpPr>
        <p:spPr>
          <a:xfrm>
            <a:off x="8639282" y="4462832"/>
            <a:ext cx="378563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113"/>
          <p:cNvSpPr/>
          <p:nvPr/>
        </p:nvSpPr>
        <p:spPr>
          <a:xfrm>
            <a:off x="8673962" y="4514661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113"/>
          <p:cNvSpPr txBox="1"/>
          <p:nvPr/>
        </p:nvSpPr>
        <p:spPr>
          <a:xfrm>
            <a:off x="8527851" y="4772891"/>
            <a:ext cx="547636" cy="31542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113"/>
          <p:cNvSpPr txBox="1"/>
          <p:nvPr/>
        </p:nvSpPr>
        <p:spPr>
          <a:xfrm>
            <a:off x="7529110" y="4246205"/>
            <a:ext cx="425160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zone1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113"/>
          <p:cNvSpPr/>
          <p:nvPr/>
        </p:nvSpPr>
        <p:spPr>
          <a:xfrm>
            <a:off x="8067989" y="4264816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113"/>
          <p:cNvSpPr txBox="1"/>
          <p:nvPr/>
        </p:nvSpPr>
        <p:spPr>
          <a:xfrm>
            <a:off x="8067989" y="4239359"/>
            <a:ext cx="441860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zone2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113"/>
          <p:cNvSpPr/>
          <p:nvPr/>
        </p:nvSpPr>
        <p:spPr>
          <a:xfrm>
            <a:off x="8616318" y="4264816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113"/>
          <p:cNvSpPr txBox="1"/>
          <p:nvPr/>
        </p:nvSpPr>
        <p:spPr>
          <a:xfrm>
            <a:off x="8616318" y="4239359"/>
            <a:ext cx="462481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zone3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13"/>
          <p:cNvSpPr txBox="1"/>
          <p:nvPr/>
        </p:nvSpPr>
        <p:spPr>
          <a:xfrm>
            <a:off x="7432578" y="5118008"/>
            <a:ext cx="1642908" cy="23847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Supervisor 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13"/>
          <p:cNvSpPr txBox="1"/>
          <p:nvPr/>
        </p:nvSpPr>
        <p:spPr>
          <a:xfrm>
            <a:off x="7433373" y="5395178"/>
            <a:ext cx="1649798" cy="23847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  East 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4" name="Google Shape;1814;p113"/>
          <p:cNvCxnSpPr>
            <a:stCxn id="1705" idx="2"/>
            <a:endCxn id="1809" idx="0"/>
          </p:cNvCxnSpPr>
          <p:nvPr/>
        </p:nvCxnSpPr>
        <p:spPr>
          <a:xfrm flipH="1">
            <a:off x="8288784" y="3239149"/>
            <a:ext cx="980400" cy="1000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815" name="Google Shape;1815;p113"/>
          <p:cNvCxnSpPr>
            <a:stCxn id="1700" idx="2"/>
            <a:endCxn id="1807" idx="0"/>
          </p:cNvCxnSpPr>
          <p:nvPr/>
        </p:nvCxnSpPr>
        <p:spPr>
          <a:xfrm>
            <a:off x="5556249" y="3191515"/>
            <a:ext cx="2185500" cy="10548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816" name="Google Shape;1816;p113"/>
          <p:cNvCxnSpPr>
            <a:stCxn id="1705" idx="2"/>
            <a:endCxn id="1811" idx="0"/>
          </p:cNvCxnSpPr>
          <p:nvPr/>
        </p:nvCxnSpPr>
        <p:spPr>
          <a:xfrm flipH="1">
            <a:off x="8847684" y="3239149"/>
            <a:ext cx="421500" cy="1000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817" name="Google Shape;1817;p113"/>
          <p:cNvSpPr txBox="1"/>
          <p:nvPr/>
        </p:nvSpPr>
        <p:spPr>
          <a:xfrm>
            <a:off x="4814000" y="5089518"/>
            <a:ext cx="1642909" cy="2384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Supervisor 2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113"/>
          <p:cNvSpPr txBox="1"/>
          <p:nvPr/>
        </p:nvSpPr>
        <p:spPr>
          <a:xfrm>
            <a:off x="4807110" y="5356000"/>
            <a:ext cx="1649800" cy="2384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  West 2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15"/>
          <p:cNvSpPr/>
          <p:nvPr/>
        </p:nvSpPr>
        <p:spPr>
          <a:xfrm>
            <a:off x="592866" y="1400847"/>
            <a:ext cx="8876019" cy="46446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6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115"/>
          <p:cNvSpPr/>
          <p:nvPr/>
        </p:nvSpPr>
        <p:spPr>
          <a:xfrm>
            <a:off x="761802" y="3615679"/>
            <a:ext cx="7084753" cy="221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Provider Level</a:t>
            </a:r>
            <a:endParaRPr/>
          </a:p>
        </p:txBody>
      </p:sp>
      <p:sp>
        <p:nvSpPr>
          <p:cNvPr id="1833" name="Google Shape;1833;p115"/>
          <p:cNvSpPr/>
          <p:nvPr/>
        </p:nvSpPr>
        <p:spPr>
          <a:xfrm>
            <a:off x="761802" y="1541428"/>
            <a:ext cx="7084753" cy="188756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Organization for All Apps</a:t>
            </a:r>
            <a:endParaRPr/>
          </a:p>
        </p:txBody>
      </p:sp>
      <p:sp>
        <p:nvSpPr>
          <p:cNvPr id="1834" name="Google Shape;1834;p11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VCF Automation Org Model v1</a:t>
            </a:r>
            <a:endParaRPr dirty="0"/>
          </a:p>
        </p:txBody>
      </p:sp>
      <p:sp>
        <p:nvSpPr>
          <p:cNvPr id="1835" name="Google Shape;1835;p115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836" name="Google Shape;1836;p115"/>
          <p:cNvSpPr/>
          <p:nvPr/>
        </p:nvSpPr>
        <p:spPr>
          <a:xfrm>
            <a:off x="1045275" y="1892622"/>
            <a:ext cx="3070816" cy="145947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115"/>
          <p:cNvSpPr txBox="1"/>
          <p:nvPr/>
        </p:nvSpPr>
        <p:spPr>
          <a:xfrm>
            <a:off x="1008141" y="1921979"/>
            <a:ext cx="668177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115"/>
          <p:cNvSpPr txBox="1"/>
          <p:nvPr/>
        </p:nvSpPr>
        <p:spPr>
          <a:xfrm>
            <a:off x="1084609" y="2267946"/>
            <a:ext cx="1137226" cy="192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9" name="Google Shape;1839;p115"/>
          <p:cNvCxnSpPr/>
          <p:nvPr/>
        </p:nvCxnSpPr>
        <p:spPr>
          <a:xfrm>
            <a:off x="761801" y="3542115"/>
            <a:ext cx="8436221" cy="0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1840" name="Google Shape;1840;p115"/>
          <p:cNvGrpSpPr/>
          <p:nvPr/>
        </p:nvGrpSpPr>
        <p:grpSpPr>
          <a:xfrm>
            <a:off x="7996755" y="4335905"/>
            <a:ext cx="1166236" cy="839173"/>
            <a:chOff x="6158472" y="2128245"/>
            <a:chExt cx="1166540" cy="839391"/>
          </a:xfrm>
        </p:grpSpPr>
        <p:grpSp>
          <p:nvGrpSpPr>
            <p:cNvPr id="1841" name="Google Shape;1841;p115"/>
            <p:cNvGrpSpPr/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1842" name="Google Shape;1842;p115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115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44" name="Google Shape;1844;p115"/>
            <p:cNvSpPr txBox="1"/>
            <p:nvPr/>
          </p:nvSpPr>
          <p:spPr>
            <a:xfrm>
              <a:off x="6158472" y="2528989"/>
              <a:ext cx="1166540" cy="438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50" rIns="68550" bIns="342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Provider Admins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45" name="Google Shape;1845;p115"/>
            <p:cNvGrpSpPr/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1846" name="Google Shape;1846;p115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115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48" name="Google Shape;1848;p115"/>
            <p:cNvGrpSpPr/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1849" name="Google Shape;1849;p115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0" name="Google Shape;1850;p115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51" name="Google Shape;1851;p115"/>
          <p:cNvSpPr/>
          <p:nvPr/>
        </p:nvSpPr>
        <p:spPr>
          <a:xfrm>
            <a:off x="1024199" y="3920499"/>
            <a:ext cx="2090722" cy="185315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115"/>
          <p:cNvSpPr txBox="1"/>
          <p:nvPr/>
        </p:nvSpPr>
        <p:spPr>
          <a:xfrm>
            <a:off x="1367353" y="5469713"/>
            <a:ext cx="1649798" cy="238478"/>
          </a:xfrm>
          <a:prstGeom prst="rect">
            <a:avLst/>
          </a:prstGeom>
          <a:noFill/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Local Manager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115"/>
          <p:cNvSpPr/>
          <p:nvPr/>
        </p:nvSpPr>
        <p:spPr>
          <a:xfrm>
            <a:off x="1520352" y="4518826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115"/>
          <p:cNvSpPr/>
          <p:nvPr/>
        </p:nvSpPr>
        <p:spPr>
          <a:xfrm>
            <a:off x="1520352" y="4427366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115"/>
          <p:cNvSpPr/>
          <p:nvPr/>
        </p:nvSpPr>
        <p:spPr>
          <a:xfrm>
            <a:off x="1485673" y="4284079"/>
            <a:ext cx="377176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115"/>
          <p:cNvSpPr/>
          <p:nvPr/>
        </p:nvSpPr>
        <p:spPr>
          <a:xfrm>
            <a:off x="1520352" y="4335907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115"/>
          <p:cNvSpPr txBox="1"/>
          <p:nvPr/>
        </p:nvSpPr>
        <p:spPr>
          <a:xfrm>
            <a:off x="1374242" y="4594137"/>
            <a:ext cx="547636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115"/>
          <p:cNvSpPr/>
          <p:nvPr/>
        </p:nvSpPr>
        <p:spPr>
          <a:xfrm>
            <a:off x="2067989" y="4518826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115"/>
          <p:cNvSpPr/>
          <p:nvPr/>
        </p:nvSpPr>
        <p:spPr>
          <a:xfrm>
            <a:off x="2067989" y="4427366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115"/>
          <p:cNvSpPr/>
          <p:nvPr/>
        </p:nvSpPr>
        <p:spPr>
          <a:xfrm>
            <a:off x="2033310" y="4284079"/>
            <a:ext cx="377870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115"/>
          <p:cNvSpPr/>
          <p:nvPr/>
        </p:nvSpPr>
        <p:spPr>
          <a:xfrm>
            <a:off x="2067989" y="4335907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115"/>
          <p:cNvSpPr txBox="1"/>
          <p:nvPr/>
        </p:nvSpPr>
        <p:spPr>
          <a:xfrm>
            <a:off x="1921879" y="4594137"/>
            <a:ext cx="547636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15"/>
          <p:cNvSpPr/>
          <p:nvPr/>
        </p:nvSpPr>
        <p:spPr>
          <a:xfrm>
            <a:off x="2615625" y="4518826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15"/>
          <p:cNvSpPr/>
          <p:nvPr/>
        </p:nvSpPr>
        <p:spPr>
          <a:xfrm>
            <a:off x="2615625" y="4427366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15"/>
          <p:cNvSpPr/>
          <p:nvPr/>
        </p:nvSpPr>
        <p:spPr>
          <a:xfrm>
            <a:off x="2580946" y="4284079"/>
            <a:ext cx="378563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115"/>
          <p:cNvSpPr/>
          <p:nvPr/>
        </p:nvSpPr>
        <p:spPr>
          <a:xfrm>
            <a:off x="2615625" y="4335907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115"/>
          <p:cNvSpPr txBox="1"/>
          <p:nvPr/>
        </p:nvSpPr>
        <p:spPr>
          <a:xfrm>
            <a:off x="2469515" y="4594137"/>
            <a:ext cx="547636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115"/>
          <p:cNvSpPr txBox="1"/>
          <p:nvPr/>
        </p:nvSpPr>
        <p:spPr>
          <a:xfrm>
            <a:off x="1470772" y="4067452"/>
            <a:ext cx="425160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zone1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115"/>
          <p:cNvSpPr/>
          <p:nvPr/>
        </p:nvSpPr>
        <p:spPr>
          <a:xfrm>
            <a:off x="2009653" y="4086064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115"/>
          <p:cNvSpPr txBox="1"/>
          <p:nvPr/>
        </p:nvSpPr>
        <p:spPr>
          <a:xfrm>
            <a:off x="2009653" y="4060607"/>
            <a:ext cx="433846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zone2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115"/>
          <p:cNvSpPr/>
          <p:nvPr/>
        </p:nvSpPr>
        <p:spPr>
          <a:xfrm>
            <a:off x="2557982" y="4086064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115"/>
          <p:cNvSpPr txBox="1"/>
          <p:nvPr/>
        </p:nvSpPr>
        <p:spPr>
          <a:xfrm>
            <a:off x="2525391" y="4061267"/>
            <a:ext cx="459168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zone3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115"/>
          <p:cNvSpPr txBox="1"/>
          <p:nvPr/>
        </p:nvSpPr>
        <p:spPr>
          <a:xfrm>
            <a:off x="1374242" y="4939255"/>
            <a:ext cx="1642909" cy="2384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115"/>
          <p:cNvSpPr txBox="1"/>
          <p:nvPr/>
        </p:nvSpPr>
        <p:spPr>
          <a:xfrm>
            <a:off x="1367352" y="5205736"/>
            <a:ext cx="1649800" cy="2384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5" name="Google Shape;1875;p115"/>
          <p:cNvCxnSpPr>
            <a:stCxn id="1838" idx="2"/>
            <a:endCxn id="1868" idx="0"/>
          </p:cNvCxnSpPr>
          <p:nvPr/>
        </p:nvCxnSpPr>
        <p:spPr>
          <a:xfrm>
            <a:off x="1653222" y="2460258"/>
            <a:ext cx="30000" cy="16071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876" name="Google Shape;1876;p115"/>
          <p:cNvCxnSpPr>
            <a:stCxn id="1838" idx="2"/>
            <a:endCxn id="1870" idx="0"/>
          </p:cNvCxnSpPr>
          <p:nvPr/>
        </p:nvCxnSpPr>
        <p:spPr>
          <a:xfrm>
            <a:off x="1653222" y="2460258"/>
            <a:ext cx="573300" cy="1600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877" name="Google Shape;1877;p115"/>
          <p:cNvCxnSpPr>
            <a:stCxn id="1838" idx="2"/>
            <a:endCxn id="1872" idx="0"/>
          </p:cNvCxnSpPr>
          <p:nvPr/>
        </p:nvCxnSpPr>
        <p:spPr>
          <a:xfrm>
            <a:off x="1653222" y="2460258"/>
            <a:ext cx="1101900" cy="16011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878" name="Google Shape;1878;p115"/>
          <p:cNvSpPr/>
          <p:nvPr/>
        </p:nvSpPr>
        <p:spPr>
          <a:xfrm>
            <a:off x="1808243" y="1929336"/>
            <a:ext cx="215312" cy="214955"/>
          </a:xfrm>
          <a:custGeom>
            <a:avLst/>
            <a:gdLst/>
            <a:ahLst/>
            <a:cxnLst/>
            <a:rect l="l" t="t" r="r" b="b"/>
            <a:pathLst>
              <a:path w="981" h="982" extrusionOk="0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115"/>
          <p:cNvSpPr/>
          <p:nvPr/>
        </p:nvSpPr>
        <p:spPr>
          <a:xfrm>
            <a:off x="1887527" y="1994790"/>
            <a:ext cx="55749" cy="55516"/>
          </a:xfrm>
          <a:custGeom>
            <a:avLst/>
            <a:gdLst/>
            <a:ahLst/>
            <a:cxnLst/>
            <a:rect l="l" t="t" r="r" b="b"/>
            <a:pathLst>
              <a:path w="254" h="254" extrusionOk="0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0" name="Google Shape;1880;p115"/>
          <p:cNvGrpSpPr/>
          <p:nvPr/>
        </p:nvGrpSpPr>
        <p:grpSpPr>
          <a:xfrm>
            <a:off x="7996756" y="2065675"/>
            <a:ext cx="1166236" cy="839173"/>
            <a:chOff x="6158472" y="2128245"/>
            <a:chExt cx="1166540" cy="839389"/>
          </a:xfrm>
        </p:grpSpPr>
        <p:grpSp>
          <p:nvGrpSpPr>
            <p:cNvPr id="1881" name="Google Shape;1881;p115"/>
            <p:cNvGrpSpPr/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1882" name="Google Shape;1882;p115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115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4" name="Google Shape;1884;p115"/>
            <p:cNvSpPr txBox="1"/>
            <p:nvPr/>
          </p:nvSpPr>
          <p:spPr>
            <a:xfrm>
              <a:off x="6158472" y="2528988"/>
              <a:ext cx="1166540" cy="438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50" rIns="68550" bIns="342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Admins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5" name="Google Shape;1885;p115"/>
            <p:cNvGrpSpPr/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1886" name="Google Shape;1886;p115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115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8" name="Google Shape;1888;p115"/>
            <p:cNvGrpSpPr/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1889" name="Google Shape;1889;p115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0" name="Google Shape;1890;p115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91" name="Google Shape;1891;p115"/>
          <p:cNvSpPr txBox="1"/>
          <p:nvPr/>
        </p:nvSpPr>
        <p:spPr>
          <a:xfrm>
            <a:off x="1943276" y="1934442"/>
            <a:ext cx="1160495" cy="23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Admins</a:t>
            </a:r>
            <a:endParaRPr sz="10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15"/>
          <p:cNvSpPr/>
          <p:nvPr/>
        </p:nvSpPr>
        <p:spPr>
          <a:xfrm>
            <a:off x="2464929" y="2753930"/>
            <a:ext cx="1312214" cy="5036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15"/>
          <p:cNvSpPr txBox="1"/>
          <p:nvPr/>
        </p:nvSpPr>
        <p:spPr>
          <a:xfrm>
            <a:off x="2376777" y="2732169"/>
            <a:ext cx="51130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VPC</a:t>
            </a:r>
            <a:endParaRPr/>
          </a:p>
        </p:txBody>
      </p:sp>
      <p:sp>
        <p:nvSpPr>
          <p:cNvPr id="1894" name="Google Shape;1894;p115"/>
          <p:cNvSpPr txBox="1"/>
          <p:nvPr/>
        </p:nvSpPr>
        <p:spPr>
          <a:xfrm>
            <a:off x="2719940" y="2871135"/>
            <a:ext cx="115348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VPC CIDR</a:t>
            </a:r>
            <a:endParaRPr/>
          </a:p>
        </p:txBody>
      </p:sp>
      <p:sp>
        <p:nvSpPr>
          <p:cNvPr id="1895" name="Google Shape;1895;p115"/>
          <p:cNvSpPr/>
          <p:nvPr/>
        </p:nvSpPr>
        <p:spPr>
          <a:xfrm>
            <a:off x="2945632" y="3072838"/>
            <a:ext cx="643299" cy="14241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3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w.x.y.z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115"/>
          <p:cNvSpPr/>
          <p:nvPr/>
        </p:nvSpPr>
        <p:spPr>
          <a:xfrm>
            <a:off x="4403997" y="2755662"/>
            <a:ext cx="1651115" cy="5036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115"/>
          <p:cNvSpPr txBox="1"/>
          <p:nvPr/>
        </p:nvSpPr>
        <p:spPr>
          <a:xfrm>
            <a:off x="4315847" y="2733901"/>
            <a:ext cx="1330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Connectivity Profile</a:t>
            </a:r>
            <a:endParaRPr/>
          </a:p>
        </p:txBody>
      </p:sp>
      <p:sp>
        <p:nvSpPr>
          <p:cNvPr id="1898" name="Google Shape;1898;p115"/>
          <p:cNvSpPr txBox="1"/>
          <p:nvPr/>
        </p:nvSpPr>
        <p:spPr>
          <a:xfrm>
            <a:off x="4820548" y="2864502"/>
            <a:ext cx="144565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TGW IP Blocks</a:t>
            </a:r>
            <a:endParaRPr/>
          </a:p>
        </p:txBody>
      </p:sp>
      <p:sp>
        <p:nvSpPr>
          <p:cNvPr id="1899" name="Google Shape;1899;p115"/>
          <p:cNvSpPr/>
          <p:nvPr/>
        </p:nvSpPr>
        <p:spPr>
          <a:xfrm>
            <a:off x="5174189" y="3073839"/>
            <a:ext cx="643299" cy="14241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3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a.b.c.d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115"/>
          <p:cNvSpPr txBox="1"/>
          <p:nvPr/>
        </p:nvSpPr>
        <p:spPr>
          <a:xfrm>
            <a:off x="6405915" y="1907454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115"/>
          <p:cNvSpPr txBox="1"/>
          <p:nvPr/>
        </p:nvSpPr>
        <p:spPr>
          <a:xfrm>
            <a:off x="6405915" y="2135995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Classes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115"/>
          <p:cNvSpPr txBox="1"/>
          <p:nvPr/>
        </p:nvSpPr>
        <p:spPr>
          <a:xfrm>
            <a:off x="6405915" y="2356071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Classes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115"/>
          <p:cNvSpPr txBox="1"/>
          <p:nvPr/>
        </p:nvSpPr>
        <p:spPr>
          <a:xfrm>
            <a:off x="6405915" y="2591303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Libraries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115"/>
          <p:cNvSpPr/>
          <p:nvPr/>
        </p:nvSpPr>
        <p:spPr>
          <a:xfrm>
            <a:off x="6043625" y="1863078"/>
            <a:ext cx="550190" cy="961140"/>
          </a:xfrm>
          <a:prstGeom prst="leftBrace">
            <a:avLst>
              <a:gd name="adj1" fmla="val 8333"/>
              <a:gd name="adj2" fmla="val 50000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6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115"/>
          <p:cNvSpPr txBox="1"/>
          <p:nvPr/>
        </p:nvSpPr>
        <p:spPr>
          <a:xfrm>
            <a:off x="6420082" y="3057373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 IAM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115"/>
          <p:cNvSpPr txBox="1"/>
          <p:nvPr/>
        </p:nvSpPr>
        <p:spPr>
          <a:xfrm>
            <a:off x="8060796" y="3058645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 IdP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7" name="Google Shape;1907;p115"/>
          <p:cNvCxnSpPr>
            <a:stCxn id="1838" idx="3"/>
            <a:endCxn id="1904" idx="1"/>
          </p:cNvCxnSpPr>
          <p:nvPr/>
        </p:nvCxnSpPr>
        <p:spPr>
          <a:xfrm rot="10800000" flipH="1">
            <a:off x="2221835" y="2343702"/>
            <a:ext cx="3821700" cy="20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908" name="Google Shape;1908;p115"/>
          <p:cNvCxnSpPr>
            <a:stCxn id="1892" idx="3"/>
            <a:endCxn id="1896" idx="1"/>
          </p:cNvCxnSpPr>
          <p:nvPr/>
        </p:nvCxnSpPr>
        <p:spPr>
          <a:xfrm>
            <a:off x="3777143" y="3005780"/>
            <a:ext cx="627000" cy="18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909" name="Google Shape;1909;p115"/>
          <p:cNvCxnSpPr>
            <a:stCxn id="1905" idx="3"/>
            <a:endCxn id="1906" idx="1"/>
          </p:cNvCxnSpPr>
          <p:nvPr/>
        </p:nvCxnSpPr>
        <p:spPr>
          <a:xfrm>
            <a:off x="7557308" y="3153529"/>
            <a:ext cx="503400" cy="1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910" name="Google Shape;1910;p115"/>
          <p:cNvSpPr txBox="1"/>
          <p:nvPr/>
        </p:nvSpPr>
        <p:spPr>
          <a:xfrm>
            <a:off x="3860713" y="4321696"/>
            <a:ext cx="1433272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Regional Quota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115"/>
          <p:cNvSpPr txBox="1"/>
          <p:nvPr/>
        </p:nvSpPr>
        <p:spPr>
          <a:xfrm>
            <a:off x="3858111" y="4539902"/>
            <a:ext cx="1433272" cy="192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Content Libraries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115"/>
          <p:cNvSpPr txBox="1"/>
          <p:nvPr/>
        </p:nvSpPr>
        <p:spPr>
          <a:xfrm>
            <a:off x="3858111" y="4759978"/>
            <a:ext cx="1433271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Default Namespaces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115"/>
          <p:cNvSpPr txBox="1"/>
          <p:nvPr/>
        </p:nvSpPr>
        <p:spPr>
          <a:xfrm>
            <a:off x="3858112" y="4978281"/>
            <a:ext cx="1433269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StorageClasses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115"/>
          <p:cNvSpPr/>
          <p:nvPr/>
        </p:nvSpPr>
        <p:spPr>
          <a:xfrm>
            <a:off x="3495822" y="4250057"/>
            <a:ext cx="550190" cy="1207096"/>
          </a:xfrm>
          <a:prstGeom prst="leftBrace">
            <a:avLst>
              <a:gd name="adj1" fmla="val 8333"/>
              <a:gd name="adj2" fmla="val 50000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6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115"/>
          <p:cNvSpPr txBox="1"/>
          <p:nvPr/>
        </p:nvSpPr>
        <p:spPr>
          <a:xfrm>
            <a:off x="3858112" y="5213033"/>
            <a:ext cx="1433269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VirtualMachineClasses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6" name="Google Shape;1916;p115"/>
          <p:cNvCxnSpPr>
            <a:stCxn id="1851" idx="3"/>
            <a:endCxn id="1914" idx="1"/>
          </p:cNvCxnSpPr>
          <p:nvPr/>
        </p:nvCxnSpPr>
        <p:spPr>
          <a:xfrm>
            <a:off x="3114921" y="4847078"/>
            <a:ext cx="381000" cy="6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917" name="Google Shape;1917;p115"/>
          <p:cNvSpPr txBox="1"/>
          <p:nvPr/>
        </p:nvSpPr>
        <p:spPr>
          <a:xfrm>
            <a:off x="6124036" y="4167080"/>
            <a:ext cx="1433272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Gateway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115"/>
          <p:cNvSpPr/>
          <p:nvPr/>
        </p:nvSpPr>
        <p:spPr>
          <a:xfrm rot="-5400000">
            <a:off x="6716169" y="3718700"/>
            <a:ext cx="226921" cy="1472286"/>
          </a:xfrm>
          <a:prstGeom prst="leftBrace">
            <a:avLst>
              <a:gd name="adj1" fmla="val 8333"/>
              <a:gd name="adj2" fmla="val 50000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6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115"/>
          <p:cNvSpPr/>
          <p:nvPr/>
        </p:nvSpPr>
        <p:spPr>
          <a:xfrm>
            <a:off x="5641819" y="4718085"/>
            <a:ext cx="1166235" cy="4128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IP Blocks</a:t>
            </a:r>
            <a:endParaRPr/>
          </a:p>
        </p:txBody>
      </p:sp>
      <p:sp>
        <p:nvSpPr>
          <p:cNvPr id="1920" name="Google Shape;1920;p115"/>
          <p:cNvSpPr/>
          <p:nvPr/>
        </p:nvSpPr>
        <p:spPr>
          <a:xfrm>
            <a:off x="5897899" y="4892551"/>
            <a:ext cx="643299" cy="15477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3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e.f.g.h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1" name="Google Shape;1921;p115"/>
          <p:cNvGrpSpPr/>
          <p:nvPr/>
        </p:nvGrpSpPr>
        <p:grpSpPr>
          <a:xfrm>
            <a:off x="7082883" y="4778647"/>
            <a:ext cx="394104" cy="420433"/>
            <a:chOff x="5305045" y="3607918"/>
            <a:chExt cx="1096994" cy="1096994"/>
          </a:xfrm>
        </p:grpSpPr>
        <p:sp>
          <p:nvSpPr>
            <p:cNvPr id="1922" name="Google Shape;1922;p115"/>
            <p:cNvSpPr/>
            <p:nvPr/>
          </p:nvSpPr>
          <p:spPr>
            <a:xfrm>
              <a:off x="5305045" y="3607918"/>
              <a:ext cx="1096994" cy="10969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66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23" name="Google Shape;1923;p1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483032" y="3786136"/>
              <a:ext cx="741016" cy="7410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4" name="Google Shape;1924;p115"/>
          <p:cNvSpPr txBox="1"/>
          <p:nvPr/>
        </p:nvSpPr>
        <p:spPr>
          <a:xfrm>
            <a:off x="6832670" y="4583429"/>
            <a:ext cx="76815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T0 Gateway</a:t>
            </a:r>
            <a:endParaRPr/>
          </a:p>
        </p:txBody>
      </p:sp>
      <p:sp>
        <p:nvSpPr>
          <p:cNvPr id="1925" name="Google Shape;1925;p115"/>
          <p:cNvSpPr txBox="1"/>
          <p:nvPr/>
        </p:nvSpPr>
        <p:spPr>
          <a:xfrm>
            <a:off x="6405974" y="5415327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IAM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115"/>
          <p:cNvSpPr txBox="1"/>
          <p:nvPr/>
        </p:nvSpPr>
        <p:spPr>
          <a:xfrm>
            <a:off x="8046688" y="5416599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IdP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7" name="Google Shape;1927;p115"/>
          <p:cNvCxnSpPr>
            <a:stCxn id="1925" idx="3"/>
            <a:endCxn id="1926" idx="1"/>
          </p:cNvCxnSpPr>
          <p:nvPr/>
        </p:nvCxnSpPr>
        <p:spPr>
          <a:xfrm>
            <a:off x="7543200" y="5511483"/>
            <a:ext cx="503400" cy="1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928" name="Google Shape;1928;p115"/>
          <p:cNvCxnSpPr>
            <a:stCxn id="1896" idx="2"/>
            <a:endCxn id="1917" idx="0"/>
          </p:cNvCxnSpPr>
          <p:nvPr/>
        </p:nvCxnSpPr>
        <p:spPr>
          <a:xfrm>
            <a:off x="5229555" y="3259361"/>
            <a:ext cx="1611000" cy="9078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929" name="Google Shape;1929;p115"/>
          <p:cNvCxnSpPr>
            <a:stCxn id="1838" idx="3"/>
            <a:endCxn id="1892" idx="0"/>
          </p:cNvCxnSpPr>
          <p:nvPr/>
        </p:nvCxnSpPr>
        <p:spPr>
          <a:xfrm>
            <a:off x="2221835" y="2364102"/>
            <a:ext cx="899100" cy="3897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930" name="Google Shape;1930;p115"/>
          <p:cNvSpPr txBox="1"/>
          <p:nvPr/>
        </p:nvSpPr>
        <p:spPr>
          <a:xfrm rot="5400000">
            <a:off x="654357" y="4708933"/>
            <a:ext cx="1137226" cy="2538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BA4FE3A-A53C-3B32-7039-9228E186AD15}"/>
              </a:ext>
            </a:extLst>
          </p:cNvPr>
          <p:cNvSpPr/>
          <p:nvPr/>
        </p:nvSpPr>
        <p:spPr>
          <a:xfrm>
            <a:off x="2253916" y="1844842"/>
            <a:ext cx="5574631" cy="2799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0C42B-E3B1-FC94-65F5-80ED57FA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Chargeback Integration with VCF Operation v1.1</a:t>
            </a:r>
            <a:endParaRPr lang="en-US" sz="2400" dirty="0"/>
          </a:p>
        </p:txBody>
      </p:sp>
      <p:sp>
        <p:nvSpPr>
          <p:cNvPr id="4648" name="Google Shape;4648;p90"/>
          <p:cNvSpPr/>
          <p:nvPr/>
        </p:nvSpPr>
        <p:spPr>
          <a:xfrm>
            <a:off x="2326106" y="1934314"/>
            <a:ext cx="2864608" cy="261370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100" b="0" i="0" u="none" strike="noStrike" cap="none" dirty="0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4649" name="Google Shape;4649;p90"/>
          <p:cNvSpPr/>
          <p:nvPr/>
        </p:nvSpPr>
        <p:spPr>
          <a:xfrm>
            <a:off x="3922295" y="2390274"/>
            <a:ext cx="1138989" cy="549553"/>
          </a:xfrm>
          <a:prstGeom prst="rect">
            <a:avLst/>
          </a:prstGeom>
          <a:solidFill>
            <a:schemeClr val="bg1"/>
          </a:solidFill>
          <a:ln>
            <a:solidFill>
              <a:srgbClr val="61A60E"/>
            </a:solidFill>
            <a:miter lim="800000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VCF Automation Management Pack</a:t>
            </a:r>
            <a:endParaRPr dirty="0"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4652" name="Google Shape;4652;p90"/>
          <p:cNvSpPr/>
          <p:nvPr/>
        </p:nvSpPr>
        <p:spPr>
          <a:xfrm>
            <a:off x="6545179" y="2395663"/>
            <a:ext cx="1189359" cy="549553"/>
          </a:xfrm>
          <a:prstGeom prst="rect">
            <a:avLst/>
          </a:prstGeom>
          <a:solidFill>
            <a:schemeClr val="bg1"/>
          </a:solidFill>
          <a:ln>
            <a:solidFill>
              <a:srgbClr val="F3BA16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VCF</a:t>
            </a:r>
            <a:endParaRPr dirty="0">
              <a:solidFill>
                <a:schemeClr val="tx1"/>
              </a:solidFill>
              <a:latin typeface="Metropolis" pitchFamily="2" charset="7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Automation</a:t>
            </a:r>
            <a:endParaRPr dirty="0">
              <a:latin typeface="Metropolis" pitchFamily="2" charset="77"/>
            </a:endParaRPr>
          </a:p>
        </p:txBody>
      </p:sp>
      <p:sp>
        <p:nvSpPr>
          <p:cNvPr id="4653" name="Google Shape;4653;p90"/>
          <p:cNvSpPr/>
          <p:nvPr/>
        </p:nvSpPr>
        <p:spPr>
          <a:xfrm>
            <a:off x="6545179" y="3045335"/>
            <a:ext cx="1189359" cy="545351"/>
          </a:xfrm>
          <a:prstGeom prst="rect">
            <a:avLst/>
          </a:prstGeom>
          <a:solidFill>
            <a:schemeClr val="bg1"/>
          </a:solidFill>
          <a:ln>
            <a:solidFill>
              <a:srgbClr val="0098C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vCenter</a:t>
            </a:r>
            <a:endParaRPr dirty="0"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4654" name="Google Shape;4654;p90"/>
          <p:cNvSpPr/>
          <p:nvPr/>
        </p:nvSpPr>
        <p:spPr>
          <a:xfrm>
            <a:off x="6545178" y="3696530"/>
            <a:ext cx="1189359" cy="551318"/>
          </a:xfrm>
          <a:prstGeom prst="rect">
            <a:avLst/>
          </a:prstGeom>
          <a:solidFill>
            <a:schemeClr val="bg1"/>
          </a:solidFill>
          <a:ln>
            <a:solidFill>
              <a:srgbClr val="0098C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NSX</a:t>
            </a:r>
            <a:endParaRPr dirty="0">
              <a:solidFill>
                <a:schemeClr val="tx1"/>
              </a:solidFill>
              <a:latin typeface="Metropolis" pitchFamily="2" charset="77"/>
            </a:endParaRPr>
          </a:p>
        </p:txBody>
      </p:sp>
      <p:cxnSp>
        <p:nvCxnSpPr>
          <p:cNvPr id="4655" name="Google Shape;4655;p90"/>
          <p:cNvCxnSpPr>
            <a:cxnSpLocks/>
            <a:stCxn id="4649" idx="3"/>
            <a:endCxn id="4652" idx="1"/>
          </p:cNvCxnSpPr>
          <p:nvPr/>
        </p:nvCxnSpPr>
        <p:spPr>
          <a:xfrm>
            <a:off x="5061284" y="2665051"/>
            <a:ext cx="1483895" cy="53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656" name="Google Shape;4656;p90"/>
          <p:cNvCxnSpPr>
            <a:cxnSpLocks/>
            <a:stCxn id="6" idx="3"/>
            <a:endCxn id="4653" idx="1"/>
          </p:cNvCxnSpPr>
          <p:nvPr/>
        </p:nvCxnSpPr>
        <p:spPr>
          <a:xfrm flipV="1">
            <a:off x="5061284" y="3318011"/>
            <a:ext cx="1483895" cy="210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657" name="Google Shape;4657;p90"/>
          <p:cNvCxnSpPr>
            <a:cxnSpLocks/>
            <a:stCxn id="7" idx="3"/>
            <a:endCxn id="4654" idx="1"/>
          </p:cNvCxnSpPr>
          <p:nvPr/>
        </p:nvCxnSpPr>
        <p:spPr>
          <a:xfrm flipV="1">
            <a:off x="5061284" y="3972189"/>
            <a:ext cx="1483894" cy="298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659" name="Google Shape;4659;p90"/>
          <p:cNvSpPr/>
          <p:nvPr/>
        </p:nvSpPr>
        <p:spPr>
          <a:xfrm>
            <a:off x="2696914" y="2827925"/>
            <a:ext cx="807402" cy="305973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tx1"/>
                </a:solidFill>
                <a:latin typeface="Metropolis" pitchFamily="2" charset="77"/>
                <a:sym typeface="Arial"/>
              </a:rPr>
              <a:t>Pricing Engine</a:t>
            </a:r>
            <a:endParaRPr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4660" name="Google Shape;4660;p90"/>
          <p:cNvSpPr/>
          <p:nvPr/>
        </p:nvSpPr>
        <p:spPr>
          <a:xfrm>
            <a:off x="2696913" y="3500298"/>
            <a:ext cx="807402" cy="305973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tx1"/>
                </a:solidFill>
                <a:latin typeface="Metropolis" pitchFamily="2" charset="77"/>
                <a:sym typeface="Arial"/>
              </a:rPr>
              <a:t>Billing</a:t>
            </a:r>
            <a:endParaRPr>
              <a:solidFill>
                <a:schemeClr val="tx1"/>
              </a:solidFill>
              <a:latin typeface="Metropolis" pitchFamily="2" charset="7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tx1"/>
                </a:solidFill>
                <a:latin typeface="Metropolis" pitchFamily="2" charset="77"/>
                <a:sym typeface="Arial"/>
              </a:rPr>
              <a:t>Engine</a:t>
            </a:r>
            <a:endParaRPr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4661" name="Google Shape;4661;p90"/>
          <p:cNvSpPr txBox="1"/>
          <p:nvPr/>
        </p:nvSpPr>
        <p:spPr>
          <a:xfrm>
            <a:off x="5431174" y="2495834"/>
            <a:ext cx="74411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Data Collection</a:t>
            </a:r>
            <a:endParaRPr>
              <a:latin typeface="Metropolis" pitchFamily="2" charset="77"/>
            </a:endParaRPr>
          </a:p>
        </p:txBody>
      </p:sp>
      <p:sp>
        <p:nvSpPr>
          <p:cNvPr id="4662" name="Google Shape;4662;p90"/>
          <p:cNvSpPr txBox="1"/>
          <p:nvPr/>
        </p:nvSpPr>
        <p:spPr>
          <a:xfrm>
            <a:off x="5431174" y="3148834"/>
            <a:ext cx="74411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Data Collection</a:t>
            </a:r>
            <a:endParaRPr dirty="0">
              <a:latin typeface="Metropolis" pitchFamily="2" charset="77"/>
            </a:endParaRPr>
          </a:p>
        </p:txBody>
      </p:sp>
      <p:sp>
        <p:nvSpPr>
          <p:cNvPr id="4663" name="Google Shape;4663;p90"/>
          <p:cNvSpPr txBox="1"/>
          <p:nvPr/>
        </p:nvSpPr>
        <p:spPr>
          <a:xfrm>
            <a:off x="5395333" y="3900385"/>
            <a:ext cx="74411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Data Collection</a:t>
            </a:r>
            <a:endParaRPr>
              <a:latin typeface="Metropolis" pitchFamily="2" charset="77"/>
            </a:endParaRPr>
          </a:p>
        </p:txBody>
      </p:sp>
      <p:sp>
        <p:nvSpPr>
          <p:cNvPr id="6" name="Google Shape;4649;p90">
            <a:extLst>
              <a:ext uri="{FF2B5EF4-FFF2-40B4-BE49-F238E27FC236}">
                <a16:creationId xmlns:a16="http://schemas.microsoft.com/office/drawing/2014/main" id="{D19D3CEC-AF0A-2868-458C-AEC260F299F7}"/>
              </a:ext>
            </a:extLst>
          </p:cNvPr>
          <p:cNvSpPr/>
          <p:nvPr/>
        </p:nvSpPr>
        <p:spPr>
          <a:xfrm>
            <a:off x="3922295" y="3045335"/>
            <a:ext cx="1138989" cy="549553"/>
          </a:xfrm>
          <a:prstGeom prst="rect">
            <a:avLst/>
          </a:prstGeom>
          <a:solidFill>
            <a:schemeClr val="bg1"/>
          </a:solidFill>
          <a:ln>
            <a:solidFill>
              <a:srgbClr val="61A60E"/>
            </a:solidFill>
            <a:miter lim="800000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VCF Automation Management Pack</a:t>
            </a:r>
            <a:endParaRPr dirty="0"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7" name="Google Shape;4649;p90">
            <a:extLst>
              <a:ext uri="{FF2B5EF4-FFF2-40B4-BE49-F238E27FC236}">
                <a16:creationId xmlns:a16="http://schemas.microsoft.com/office/drawing/2014/main" id="{923B8A38-2925-02C7-C041-043B431B7F45}"/>
              </a:ext>
            </a:extLst>
          </p:cNvPr>
          <p:cNvSpPr/>
          <p:nvPr/>
        </p:nvSpPr>
        <p:spPr>
          <a:xfrm>
            <a:off x="3922295" y="3700396"/>
            <a:ext cx="1138989" cy="549553"/>
          </a:xfrm>
          <a:prstGeom prst="rect">
            <a:avLst/>
          </a:prstGeom>
          <a:solidFill>
            <a:schemeClr val="bg1"/>
          </a:solidFill>
          <a:ln>
            <a:solidFill>
              <a:srgbClr val="61A60E"/>
            </a:solidFill>
            <a:miter lim="800000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VCF Automation Management Pack</a:t>
            </a:r>
            <a:endParaRPr dirty="0">
              <a:solidFill>
                <a:schemeClr val="tx1"/>
              </a:solidFill>
              <a:latin typeface="Metropolis" pitchFamily="2" charset="7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69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Workload Domain Models</a:t>
            </a:r>
            <a:endParaRPr/>
          </a:p>
        </p:txBody>
      </p:sp>
      <p:sp>
        <p:nvSpPr>
          <p:cNvPr id="1943" name="Google Shape;1943;p69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4"/>
          <p:cNvSpPr/>
          <p:nvPr/>
        </p:nvSpPr>
        <p:spPr>
          <a:xfrm>
            <a:off x="3938981" y="1887751"/>
            <a:ext cx="3741385" cy="219252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8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55" name="Google Shape;1955;p4"/>
          <p:cNvSpPr/>
          <p:nvPr/>
        </p:nvSpPr>
        <p:spPr>
          <a:xfrm>
            <a:off x="5965322" y="2166621"/>
            <a:ext cx="1529825" cy="12928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10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48" name="Google Shape;1948;p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Workload Domain Models v1.1</a:t>
            </a:r>
            <a:endParaRPr sz="2400" dirty="0"/>
          </a:p>
        </p:txBody>
      </p:sp>
      <p:sp>
        <p:nvSpPr>
          <p:cNvPr id="1952" name="Google Shape;1952;p4"/>
          <p:cNvSpPr/>
          <p:nvPr/>
        </p:nvSpPr>
        <p:spPr>
          <a:xfrm>
            <a:off x="4135596" y="2172822"/>
            <a:ext cx="1529825" cy="17770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10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49" name="Google Shape;1949;p4"/>
          <p:cNvSpPr/>
          <p:nvPr/>
        </p:nvSpPr>
        <p:spPr>
          <a:xfrm>
            <a:off x="4309922" y="2532322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50" name="Google Shape;1950;p4"/>
          <p:cNvSpPr/>
          <p:nvPr/>
        </p:nvSpPr>
        <p:spPr>
          <a:xfrm>
            <a:off x="4309922" y="2999804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51" name="Google Shape;1951;p4"/>
          <p:cNvSpPr/>
          <p:nvPr/>
        </p:nvSpPr>
        <p:spPr>
          <a:xfrm>
            <a:off x="4309922" y="3465775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53" name="Google Shape;1953;p4"/>
          <p:cNvSpPr/>
          <p:nvPr/>
        </p:nvSpPr>
        <p:spPr>
          <a:xfrm>
            <a:off x="6139648" y="2526121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54" name="Google Shape;1954;p4"/>
          <p:cNvSpPr/>
          <p:nvPr/>
        </p:nvSpPr>
        <p:spPr>
          <a:xfrm>
            <a:off x="6139648" y="2993603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>
          <a:extLst>
            <a:ext uri="{FF2B5EF4-FFF2-40B4-BE49-F238E27FC236}">
              <a16:creationId xmlns:a16="http://schemas.microsoft.com/office/drawing/2014/main" id="{6516F2B8-47F5-24DA-6CD5-DF303AD3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5ACCA0-C566-724B-4FE0-1B524F4CED94}"/>
              </a:ext>
            </a:extLst>
          </p:cNvPr>
          <p:cNvSpPr/>
          <p:nvPr/>
        </p:nvSpPr>
        <p:spPr>
          <a:xfrm>
            <a:off x="4488110" y="1334644"/>
            <a:ext cx="2214694" cy="41769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6" name="Google Shape;1256;p1">
            <a:extLst>
              <a:ext uri="{FF2B5EF4-FFF2-40B4-BE49-F238E27FC236}">
                <a16:creationId xmlns:a16="http://schemas.microsoft.com/office/drawing/2014/main" id="{ECA53393-3FE6-D917-27BB-8FF32A0629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GB" sz="2400" dirty="0">
                <a:latin typeface="Metropolis" pitchFamily="2" charset="77"/>
              </a:rPr>
              <a:t>Management Domain Model v1.0</a:t>
            </a:r>
            <a:endParaRPr sz="2400" dirty="0">
              <a:latin typeface="Metropolis" pitchFamily="2" charset="77"/>
            </a:endParaRPr>
          </a:p>
        </p:txBody>
      </p:sp>
      <p:sp>
        <p:nvSpPr>
          <p:cNvPr id="1230" name="Google Shape;1281;p2">
            <a:extLst>
              <a:ext uri="{FF2B5EF4-FFF2-40B4-BE49-F238E27FC236}">
                <a16:creationId xmlns:a16="http://schemas.microsoft.com/office/drawing/2014/main" id="{DE9D1456-E0E7-6974-B864-BA1BBAE79110}"/>
              </a:ext>
            </a:extLst>
          </p:cNvPr>
          <p:cNvSpPr/>
          <p:nvPr/>
        </p:nvSpPr>
        <p:spPr>
          <a:xfrm>
            <a:off x="4582246" y="1457676"/>
            <a:ext cx="2030279" cy="394264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Metropolis" pitchFamily="2" charset="77"/>
            </a:endParaRPr>
          </a:p>
        </p:txBody>
      </p:sp>
      <p:sp>
        <p:nvSpPr>
          <p:cNvPr id="1228" name="Google Shape;1284;p2">
            <a:extLst>
              <a:ext uri="{FF2B5EF4-FFF2-40B4-BE49-F238E27FC236}">
                <a16:creationId xmlns:a16="http://schemas.microsoft.com/office/drawing/2014/main" id="{72799A95-3BF9-FAD0-926D-7169E349B896}"/>
              </a:ext>
            </a:extLst>
          </p:cNvPr>
          <p:cNvSpPr/>
          <p:nvPr/>
        </p:nvSpPr>
        <p:spPr>
          <a:xfrm>
            <a:off x="4792585" y="4618536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</a:p>
        </p:txBody>
      </p:sp>
      <p:sp>
        <p:nvSpPr>
          <p:cNvPr id="1229" name="Google Shape;1284;p2">
            <a:extLst>
              <a:ext uri="{FF2B5EF4-FFF2-40B4-BE49-F238E27FC236}">
                <a16:creationId xmlns:a16="http://schemas.microsoft.com/office/drawing/2014/main" id="{3BDBCA5D-D1B1-A8A4-55CE-7E9C150A833C}"/>
              </a:ext>
            </a:extLst>
          </p:cNvPr>
          <p:cNvSpPr/>
          <p:nvPr/>
        </p:nvSpPr>
        <p:spPr>
          <a:xfrm>
            <a:off x="4792585" y="5004492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</a:p>
        </p:txBody>
      </p:sp>
      <p:sp>
        <p:nvSpPr>
          <p:cNvPr id="1236" name="Google Shape;1284;p2">
            <a:extLst>
              <a:ext uri="{FF2B5EF4-FFF2-40B4-BE49-F238E27FC236}">
                <a16:creationId xmlns:a16="http://schemas.microsoft.com/office/drawing/2014/main" id="{348650DF-B4E3-E2A1-691F-6277814A385F}"/>
              </a:ext>
            </a:extLst>
          </p:cNvPr>
          <p:cNvSpPr/>
          <p:nvPr/>
        </p:nvSpPr>
        <p:spPr>
          <a:xfrm>
            <a:off x="4792585" y="4220864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E2DE09AF-D241-FCBC-3C5C-0ABEFBB6BB58}"/>
              </a:ext>
            </a:extLst>
          </p:cNvPr>
          <p:cNvSpPr txBox="1"/>
          <p:nvPr/>
        </p:nvSpPr>
        <p:spPr>
          <a:xfrm>
            <a:off x="4957924" y="1334644"/>
            <a:ext cx="1278921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Management Domain</a:t>
            </a:r>
          </a:p>
        </p:txBody>
      </p:sp>
      <p:sp>
        <p:nvSpPr>
          <p:cNvPr id="1271" name="Google Shape;1281;p2">
            <a:extLst>
              <a:ext uri="{FF2B5EF4-FFF2-40B4-BE49-F238E27FC236}">
                <a16:creationId xmlns:a16="http://schemas.microsoft.com/office/drawing/2014/main" id="{4DE3FEBC-2F93-6279-EBE9-5094DD930B05}"/>
              </a:ext>
            </a:extLst>
          </p:cNvPr>
          <p:cNvSpPr/>
          <p:nvPr/>
        </p:nvSpPr>
        <p:spPr>
          <a:xfrm>
            <a:off x="4688193" y="1656867"/>
            <a:ext cx="1818385" cy="2070361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Metropolis" pitchFamily="2" charset="77"/>
            </a:endParaRPr>
          </a:p>
        </p:txBody>
      </p:sp>
      <p:sp>
        <p:nvSpPr>
          <p:cNvPr id="1272" name="Google Shape;1284;p2">
            <a:extLst>
              <a:ext uri="{FF2B5EF4-FFF2-40B4-BE49-F238E27FC236}">
                <a16:creationId xmlns:a16="http://schemas.microsoft.com/office/drawing/2014/main" id="{55E325C5-6727-FC86-5E6A-03DEF6788EED}"/>
              </a:ext>
            </a:extLst>
          </p:cNvPr>
          <p:cNvSpPr/>
          <p:nvPr/>
        </p:nvSpPr>
        <p:spPr>
          <a:xfrm>
            <a:off x="4789035" y="1796671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</a:p>
        </p:txBody>
      </p:sp>
      <p:sp>
        <p:nvSpPr>
          <p:cNvPr id="1273" name="Google Shape;1284;p2">
            <a:extLst>
              <a:ext uri="{FF2B5EF4-FFF2-40B4-BE49-F238E27FC236}">
                <a16:creationId xmlns:a16="http://schemas.microsoft.com/office/drawing/2014/main" id="{A78C2FDB-15E1-B8FC-6FBC-B6328AC4A508}"/>
              </a:ext>
            </a:extLst>
          </p:cNvPr>
          <p:cNvSpPr/>
          <p:nvPr/>
        </p:nvSpPr>
        <p:spPr>
          <a:xfrm>
            <a:off x="4789035" y="2183941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Collector</a:t>
            </a:r>
            <a:endParaRPr dirty="0">
              <a:latin typeface="Metropolis" pitchFamily="2" charset="77"/>
            </a:endParaRPr>
          </a:p>
        </p:txBody>
      </p:sp>
      <p:sp>
        <p:nvSpPr>
          <p:cNvPr id="1274" name="Google Shape;1284;p2">
            <a:extLst>
              <a:ext uri="{FF2B5EF4-FFF2-40B4-BE49-F238E27FC236}">
                <a16:creationId xmlns:a16="http://schemas.microsoft.com/office/drawing/2014/main" id="{DE001209-70FC-3536-4B03-85D4A9C1D247}"/>
              </a:ext>
            </a:extLst>
          </p:cNvPr>
          <p:cNvSpPr/>
          <p:nvPr/>
        </p:nvSpPr>
        <p:spPr>
          <a:xfrm>
            <a:off x="4789035" y="2568396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Fleet Management</a:t>
            </a:r>
            <a:endParaRPr dirty="0">
              <a:latin typeface="Metropolis" pitchFamily="2" charset="77"/>
            </a:endParaRPr>
          </a:p>
        </p:txBody>
      </p:sp>
      <p:sp>
        <p:nvSpPr>
          <p:cNvPr id="1277" name="TextBox 1276">
            <a:extLst>
              <a:ext uri="{FF2B5EF4-FFF2-40B4-BE49-F238E27FC236}">
                <a16:creationId xmlns:a16="http://schemas.microsoft.com/office/drawing/2014/main" id="{CE8E3D60-90D0-4110-BE08-26ED8F0F322A}"/>
              </a:ext>
            </a:extLst>
          </p:cNvPr>
          <p:cNvSpPr txBox="1"/>
          <p:nvPr/>
        </p:nvSpPr>
        <p:spPr>
          <a:xfrm>
            <a:off x="5093950" y="1552711"/>
            <a:ext cx="1006871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VCF Operations</a:t>
            </a:r>
          </a:p>
        </p:txBody>
      </p:sp>
      <p:sp>
        <p:nvSpPr>
          <p:cNvPr id="1286" name="Google Shape;1284;p2">
            <a:extLst>
              <a:ext uri="{FF2B5EF4-FFF2-40B4-BE49-F238E27FC236}">
                <a16:creationId xmlns:a16="http://schemas.microsoft.com/office/drawing/2014/main" id="{B31CD30E-5D29-B926-CCEB-EF767E9006AB}"/>
              </a:ext>
            </a:extLst>
          </p:cNvPr>
          <p:cNvSpPr/>
          <p:nvPr/>
        </p:nvSpPr>
        <p:spPr>
          <a:xfrm>
            <a:off x="4792585" y="2945102"/>
            <a:ext cx="1609601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for Logs</a:t>
            </a:r>
          </a:p>
        </p:txBody>
      </p:sp>
      <p:sp>
        <p:nvSpPr>
          <p:cNvPr id="1317" name="Google Shape;1284;p2">
            <a:extLst>
              <a:ext uri="{FF2B5EF4-FFF2-40B4-BE49-F238E27FC236}">
                <a16:creationId xmlns:a16="http://schemas.microsoft.com/office/drawing/2014/main" id="{C0B604BB-3690-8288-48C1-422961F911C2}"/>
              </a:ext>
            </a:extLst>
          </p:cNvPr>
          <p:cNvSpPr/>
          <p:nvPr/>
        </p:nvSpPr>
        <p:spPr>
          <a:xfrm>
            <a:off x="4799685" y="3823192"/>
            <a:ext cx="1602501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Automation</a:t>
            </a:r>
          </a:p>
        </p:txBody>
      </p:sp>
      <p:sp>
        <p:nvSpPr>
          <p:cNvPr id="2" name="Google Shape;1284;p2">
            <a:extLst>
              <a:ext uri="{FF2B5EF4-FFF2-40B4-BE49-F238E27FC236}">
                <a16:creationId xmlns:a16="http://schemas.microsoft.com/office/drawing/2014/main" id="{644F051D-B167-073D-0080-F236A608F311}"/>
              </a:ext>
            </a:extLst>
          </p:cNvPr>
          <p:cNvSpPr/>
          <p:nvPr/>
        </p:nvSpPr>
        <p:spPr>
          <a:xfrm>
            <a:off x="4799685" y="3363740"/>
            <a:ext cx="1609601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for Networks</a:t>
            </a:r>
          </a:p>
        </p:txBody>
      </p:sp>
    </p:spTree>
    <p:extLst>
      <p:ext uri="{BB962C8B-B14F-4D97-AF65-F5344CB8AC3E}">
        <p14:creationId xmlns:p14="http://schemas.microsoft.com/office/powerpoint/2010/main" val="42223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>
          <a:extLst>
            <a:ext uri="{FF2B5EF4-FFF2-40B4-BE49-F238E27FC236}">
              <a16:creationId xmlns:a16="http://schemas.microsoft.com/office/drawing/2014/main" id="{5CE3A2A6-3787-333D-096C-1008C581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95E44B-389F-52A1-E33F-5A53D442415C}"/>
              </a:ext>
            </a:extLst>
          </p:cNvPr>
          <p:cNvSpPr/>
          <p:nvPr/>
        </p:nvSpPr>
        <p:spPr>
          <a:xfrm>
            <a:off x="4316965" y="1936344"/>
            <a:ext cx="2147491" cy="1183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6" name="Google Shape;1256;p1">
            <a:extLst>
              <a:ext uri="{FF2B5EF4-FFF2-40B4-BE49-F238E27FC236}">
                <a16:creationId xmlns:a16="http://schemas.microsoft.com/office/drawing/2014/main" id="{5B40F180-9E96-3A36-E961-E40844AACA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GB" sz="2400" dirty="0">
                <a:latin typeface="Metropolis" pitchFamily="2" charset="77"/>
              </a:rPr>
              <a:t>Workload Domain Model v1.0</a:t>
            </a:r>
            <a:endParaRPr sz="2400" dirty="0">
              <a:latin typeface="Metropolis" pitchFamily="2" charset="77"/>
            </a:endParaRPr>
          </a:p>
        </p:txBody>
      </p:sp>
      <p:sp>
        <p:nvSpPr>
          <p:cNvPr id="3" name="Google Shape;1281;p2">
            <a:extLst>
              <a:ext uri="{FF2B5EF4-FFF2-40B4-BE49-F238E27FC236}">
                <a16:creationId xmlns:a16="http://schemas.microsoft.com/office/drawing/2014/main" id="{75A9AE69-3B22-E26F-B65B-C6F766E839EE}"/>
              </a:ext>
            </a:extLst>
          </p:cNvPr>
          <p:cNvSpPr/>
          <p:nvPr/>
        </p:nvSpPr>
        <p:spPr>
          <a:xfrm>
            <a:off x="4373889" y="2048702"/>
            <a:ext cx="2030279" cy="96640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Metropolis" pitchFamily="2" charset="77"/>
            </a:endParaRPr>
          </a:p>
        </p:txBody>
      </p:sp>
      <p:sp>
        <p:nvSpPr>
          <p:cNvPr id="6" name="Google Shape;1284;p2">
            <a:extLst>
              <a:ext uri="{FF2B5EF4-FFF2-40B4-BE49-F238E27FC236}">
                <a16:creationId xmlns:a16="http://schemas.microsoft.com/office/drawing/2014/main" id="{8CA225DD-C65E-B96C-3236-E82A510C891A}"/>
              </a:ext>
            </a:extLst>
          </p:cNvPr>
          <p:cNvSpPr/>
          <p:nvPr/>
        </p:nvSpPr>
        <p:spPr>
          <a:xfrm>
            <a:off x="4580678" y="2617433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8865A-1AE1-397E-F356-369BE6092CCD}"/>
              </a:ext>
            </a:extLst>
          </p:cNvPr>
          <p:cNvSpPr txBox="1"/>
          <p:nvPr/>
        </p:nvSpPr>
        <p:spPr>
          <a:xfrm>
            <a:off x="4850511" y="1921522"/>
            <a:ext cx="1077035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Workload Domain</a:t>
            </a:r>
          </a:p>
        </p:txBody>
      </p:sp>
      <p:sp>
        <p:nvSpPr>
          <p:cNvPr id="8" name="Google Shape;1284;p2">
            <a:extLst>
              <a:ext uri="{FF2B5EF4-FFF2-40B4-BE49-F238E27FC236}">
                <a16:creationId xmlns:a16="http://schemas.microsoft.com/office/drawing/2014/main" id="{F5B39062-0664-4937-A3A9-B38386BBD332}"/>
              </a:ext>
            </a:extLst>
          </p:cNvPr>
          <p:cNvSpPr/>
          <p:nvPr/>
        </p:nvSpPr>
        <p:spPr>
          <a:xfrm>
            <a:off x="4580678" y="2226345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800" dirty="0">
              <a:latin typeface="Metropolis" pitchFamily="2" charset="77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162E655-678E-D186-00C1-B13A4CF37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6965" y="3641326"/>
            <a:ext cx="2240280" cy="124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5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55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vSphere Cluster Models</a:t>
            </a:r>
            <a:endParaRPr/>
          </a:p>
        </p:txBody>
      </p:sp>
      <p:sp>
        <p:nvSpPr>
          <p:cNvPr id="1962" name="Google Shape;1962;p5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vSphere Cluster Models v1.1</a:t>
            </a:r>
            <a:endParaRPr sz="2400" dirty="0"/>
          </a:p>
        </p:txBody>
      </p:sp>
      <p:sp>
        <p:nvSpPr>
          <p:cNvPr id="1970" name="Google Shape;1970;p3"/>
          <p:cNvSpPr/>
          <p:nvPr/>
        </p:nvSpPr>
        <p:spPr>
          <a:xfrm flipH="1">
            <a:off x="2404768" y="1612631"/>
            <a:ext cx="7056620" cy="392330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D0E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VCF Instance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71" name="Google Shape;1971;p3"/>
          <p:cNvSpPr/>
          <p:nvPr/>
        </p:nvSpPr>
        <p:spPr>
          <a:xfrm flipH="1">
            <a:off x="7704871" y="1917489"/>
            <a:ext cx="1655588" cy="35175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52565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Availability Zone 2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72" name="Google Shape;1972;p3"/>
          <p:cNvSpPr/>
          <p:nvPr/>
        </p:nvSpPr>
        <p:spPr>
          <a:xfrm flipH="1">
            <a:off x="2500131" y="1917489"/>
            <a:ext cx="5102128" cy="35175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52565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Availability Zone 1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73" name="Google Shape;1973;p3"/>
          <p:cNvSpPr/>
          <p:nvPr/>
        </p:nvSpPr>
        <p:spPr>
          <a:xfrm flipH="1">
            <a:off x="2579305" y="2161179"/>
            <a:ext cx="1436867" cy="317767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9999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Rack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74" name="Google Shape;1974;p3"/>
          <p:cNvSpPr/>
          <p:nvPr/>
        </p:nvSpPr>
        <p:spPr>
          <a:xfrm flipH="1">
            <a:off x="2663028" y="2421131"/>
            <a:ext cx="1260862" cy="8881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B0F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Workload Domain 1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0" name="Google Shape;1980;p3"/>
          <p:cNvSpPr/>
          <p:nvPr/>
        </p:nvSpPr>
        <p:spPr>
          <a:xfrm>
            <a:off x="2747116" y="2683735"/>
            <a:ext cx="1092927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Single Rack Cluster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1" name="Google Shape;1981;p3"/>
          <p:cNvSpPr/>
          <p:nvPr/>
        </p:nvSpPr>
        <p:spPr>
          <a:xfrm>
            <a:off x="2747115" y="3002311"/>
            <a:ext cx="1092927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Single Rack Cluster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2" name="Google Shape;1982;p3"/>
          <p:cNvSpPr/>
          <p:nvPr/>
        </p:nvSpPr>
        <p:spPr>
          <a:xfrm flipH="1">
            <a:off x="6066150" y="2161179"/>
            <a:ext cx="1436867" cy="317767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9999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Rack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3" name="Google Shape;1983;p3"/>
          <p:cNvSpPr/>
          <p:nvPr/>
        </p:nvSpPr>
        <p:spPr>
          <a:xfrm flipH="1">
            <a:off x="4320648" y="2161179"/>
            <a:ext cx="1436867" cy="317767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9999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Rack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4" name="Google Shape;1984;p3"/>
          <p:cNvSpPr/>
          <p:nvPr/>
        </p:nvSpPr>
        <p:spPr>
          <a:xfrm flipH="1">
            <a:off x="7811651" y="2161179"/>
            <a:ext cx="1436867" cy="317767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9999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Rack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5" name="Google Shape;1985;p3"/>
          <p:cNvSpPr/>
          <p:nvPr/>
        </p:nvSpPr>
        <p:spPr>
          <a:xfrm flipH="1">
            <a:off x="2663023" y="3401884"/>
            <a:ext cx="6495637" cy="11866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Workload Domain 2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6" name="Google Shape;1986;p3"/>
          <p:cNvSpPr/>
          <p:nvPr/>
        </p:nvSpPr>
        <p:spPr>
          <a:xfrm>
            <a:off x="4492619" y="3635684"/>
            <a:ext cx="1092927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Single Rack Cluster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7" name="Google Shape;1987;p3"/>
          <p:cNvSpPr/>
          <p:nvPr/>
        </p:nvSpPr>
        <p:spPr>
          <a:xfrm>
            <a:off x="2747116" y="3962845"/>
            <a:ext cx="4677131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Multi Rack Cluster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8" name="Google Shape;1988;p3"/>
          <p:cNvSpPr/>
          <p:nvPr/>
        </p:nvSpPr>
        <p:spPr>
          <a:xfrm>
            <a:off x="2747117" y="4271234"/>
            <a:ext cx="1092927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Single Rack Cluster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9" name="Google Shape;1989;p3"/>
          <p:cNvSpPr/>
          <p:nvPr/>
        </p:nvSpPr>
        <p:spPr>
          <a:xfrm>
            <a:off x="6146244" y="4268882"/>
            <a:ext cx="2927271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Stretched Cluster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90" name="Google Shape;1990;p3"/>
          <p:cNvSpPr/>
          <p:nvPr/>
        </p:nvSpPr>
        <p:spPr>
          <a:xfrm flipH="1">
            <a:off x="2663024" y="4674261"/>
            <a:ext cx="3009880" cy="57891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B0F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Workload Domain 3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91" name="Google Shape;1991;p3"/>
          <p:cNvSpPr/>
          <p:nvPr/>
        </p:nvSpPr>
        <p:spPr>
          <a:xfrm>
            <a:off x="2761499" y="4912771"/>
            <a:ext cx="1092927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Storage Cluster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92" name="Google Shape;1992;p3"/>
          <p:cNvSpPr/>
          <p:nvPr/>
        </p:nvSpPr>
        <p:spPr>
          <a:xfrm>
            <a:off x="4488301" y="4914613"/>
            <a:ext cx="1092927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Compute Cluster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41B511-762D-5737-8857-28010007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vSphere Cluster Models v1.0</a:t>
            </a:r>
          </a:p>
        </p:txBody>
      </p:sp>
      <p:grpSp>
        <p:nvGrpSpPr>
          <p:cNvPr id="6" name="Google Shape;1341;p4">
            <a:extLst>
              <a:ext uri="{FF2B5EF4-FFF2-40B4-BE49-F238E27FC236}">
                <a16:creationId xmlns:a16="http://schemas.microsoft.com/office/drawing/2014/main" id="{22ADCAE9-68F2-6641-137F-3F75310B43AE}"/>
              </a:ext>
            </a:extLst>
          </p:cNvPr>
          <p:cNvGrpSpPr/>
          <p:nvPr/>
        </p:nvGrpSpPr>
        <p:grpSpPr>
          <a:xfrm>
            <a:off x="1022765" y="1600956"/>
            <a:ext cx="1793913" cy="1958513"/>
            <a:chOff x="1665724" y="1298448"/>
            <a:chExt cx="1793913" cy="1958513"/>
          </a:xfrm>
        </p:grpSpPr>
        <p:sp>
          <p:nvSpPr>
            <p:cNvPr id="7" name="Google Shape;1342;p4">
              <a:extLst>
                <a:ext uri="{FF2B5EF4-FFF2-40B4-BE49-F238E27FC236}">
                  <a16:creationId xmlns:a16="http://schemas.microsoft.com/office/drawing/2014/main" id="{811EC17B-17D3-A9CB-DF27-91B6D9E5BA70}"/>
                </a:ext>
              </a:extLst>
            </p:cNvPr>
            <p:cNvSpPr/>
            <p:nvPr/>
          </p:nvSpPr>
          <p:spPr>
            <a:xfrm>
              <a:off x="1665724" y="1298448"/>
              <a:ext cx="1793913" cy="19585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8" name="Google Shape;1343;p4">
              <a:extLst>
                <a:ext uri="{FF2B5EF4-FFF2-40B4-BE49-F238E27FC236}">
                  <a16:creationId xmlns:a16="http://schemas.microsoft.com/office/drawing/2014/main" id="{F6CF7C31-EF3A-9D24-27E5-557E4D4238B6}"/>
                </a:ext>
              </a:extLst>
            </p:cNvPr>
            <p:cNvSpPr/>
            <p:nvPr/>
          </p:nvSpPr>
          <p:spPr>
            <a:xfrm>
              <a:off x="1743456" y="1542288"/>
              <a:ext cx="1631340" cy="15921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tx1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chemeClr val="dk2"/>
                  </a:solidFill>
                  <a:latin typeface="Metropolis" pitchFamily="2" charset="77"/>
                  <a:sym typeface="Arial"/>
                </a:rPr>
                <a:t>Availability Zone 1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9" name="Google Shape;1344;p4">
              <a:extLst>
                <a:ext uri="{FF2B5EF4-FFF2-40B4-BE49-F238E27FC236}">
                  <a16:creationId xmlns:a16="http://schemas.microsoft.com/office/drawing/2014/main" id="{C57157CB-AEE3-E093-98D3-C27EE859C7B3}"/>
                </a:ext>
              </a:extLst>
            </p:cNvPr>
            <p:cNvSpPr/>
            <p:nvPr/>
          </p:nvSpPr>
          <p:spPr>
            <a:xfrm>
              <a:off x="1818790" y="1775337"/>
              <a:ext cx="1459912" cy="12506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Rack</a:t>
              </a:r>
              <a:endParaRPr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0" name="Google Shape;1345;p4">
              <a:extLst>
                <a:ext uri="{FF2B5EF4-FFF2-40B4-BE49-F238E27FC236}">
                  <a16:creationId xmlns:a16="http://schemas.microsoft.com/office/drawing/2014/main" id="{F6198CA4-CACD-1412-8AA1-EE81B6AFCD0D}"/>
                </a:ext>
              </a:extLst>
            </p:cNvPr>
            <p:cNvSpPr/>
            <p:nvPr/>
          </p:nvSpPr>
          <p:spPr>
            <a:xfrm>
              <a:off x="1932659" y="2021592"/>
              <a:ext cx="1232452" cy="92372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98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Workload Domain 1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1" name="Google Shape;1346;p4">
              <a:extLst>
                <a:ext uri="{FF2B5EF4-FFF2-40B4-BE49-F238E27FC236}">
                  <a16:creationId xmlns:a16="http://schemas.microsoft.com/office/drawing/2014/main" id="{0D892664-C9BC-D028-3CF1-E90A8E52CC9B}"/>
                </a:ext>
              </a:extLst>
            </p:cNvPr>
            <p:cNvSpPr/>
            <p:nvPr/>
          </p:nvSpPr>
          <p:spPr>
            <a:xfrm>
              <a:off x="2000148" y="2641099"/>
              <a:ext cx="1084567" cy="2334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61A6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Standard Cluster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" name="Google Shape;1347;p4">
              <a:extLst>
                <a:ext uri="{FF2B5EF4-FFF2-40B4-BE49-F238E27FC236}">
                  <a16:creationId xmlns:a16="http://schemas.microsoft.com/office/drawing/2014/main" id="{7C5912F6-D58E-3435-A79E-3017D7E654CF}"/>
                </a:ext>
              </a:extLst>
            </p:cNvPr>
            <p:cNvSpPr/>
            <p:nvPr/>
          </p:nvSpPr>
          <p:spPr>
            <a:xfrm>
              <a:off x="2000147" y="2314226"/>
              <a:ext cx="1084567" cy="2334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61A6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Standard Cluster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  <p:grpSp>
        <p:nvGrpSpPr>
          <p:cNvPr id="13" name="Google Shape;1348;p4">
            <a:extLst>
              <a:ext uri="{FF2B5EF4-FFF2-40B4-BE49-F238E27FC236}">
                <a16:creationId xmlns:a16="http://schemas.microsoft.com/office/drawing/2014/main" id="{8DAC14FB-3894-2B0B-3B27-ACC142A8A53F}"/>
              </a:ext>
            </a:extLst>
          </p:cNvPr>
          <p:cNvGrpSpPr/>
          <p:nvPr/>
        </p:nvGrpSpPr>
        <p:grpSpPr>
          <a:xfrm>
            <a:off x="4811466" y="1600956"/>
            <a:ext cx="4876478" cy="1709299"/>
            <a:chOff x="4149687" y="1359722"/>
            <a:chExt cx="4876478" cy="1709299"/>
          </a:xfrm>
        </p:grpSpPr>
        <p:sp>
          <p:nvSpPr>
            <p:cNvPr id="14" name="Google Shape;1349;p4">
              <a:extLst>
                <a:ext uri="{FF2B5EF4-FFF2-40B4-BE49-F238E27FC236}">
                  <a16:creationId xmlns:a16="http://schemas.microsoft.com/office/drawing/2014/main" id="{ABB6EAD0-D79D-989C-F9CE-C5AD44615C04}"/>
                </a:ext>
              </a:extLst>
            </p:cNvPr>
            <p:cNvSpPr/>
            <p:nvPr/>
          </p:nvSpPr>
          <p:spPr>
            <a:xfrm>
              <a:off x="4149687" y="1359722"/>
              <a:ext cx="4876478" cy="170929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5" name="Google Shape;1350;p4">
              <a:extLst>
                <a:ext uri="{FF2B5EF4-FFF2-40B4-BE49-F238E27FC236}">
                  <a16:creationId xmlns:a16="http://schemas.microsoft.com/office/drawing/2014/main" id="{7718DD68-9C72-2C53-3965-C0C3B7CC369A}"/>
                </a:ext>
              </a:extLst>
            </p:cNvPr>
            <p:cNvSpPr/>
            <p:nvPr/>
          </p:nvSpPr>
          <p:spPr>
            <a:xfrm>
              <a:off x="4227419" y="1603562"/>
              <a:ext cx="4706112" cy="1357052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tx1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2"/>
                  </a:solidFill>
                  <a:latin typeface="Metropolis" pitchFamily="2" charset="77"/>
                  <a:sym typeface="Arial"/>
                </a:rPr>
                <a:t>Availability Zone 1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6" name="Google Shape;1351;p4">
              <a:extLst>
                <a:ext uri="{FF2B5EF4-FFF2-40B4-BE49-F238E27FC236}">
                  <a16:creationId xmlns:a16="http://schemas.microsoft.com/office/drawing/2014/main" id="{C4DBD361-13E0-E10C-C624-1E9C8D85A62C}"/>
                </a:ext>
              </a:extLst>
            </p:cNvPr>
            <p:cNvSpPr/>
            <p:nvPr/>
          </p:nvSpPr>
          <p:spPr>
            <a:xfrm>
              <a:off x="5903426" y="1836611"/>
              <a:ext cx="1409744" cy="10433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Rack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7" name="Google Shape;1352;p4">
              <a:extLst>
                <a:ext uri="{FF2B5EF4-FFF2-40B4-BE49-F238E27FC236}">
                  <a16:creationId xmlns:a16="http://schemas.microsoft.com/office/drawing/2014/main" id="{0787E6E1-51BC-A2F0-2AE6-555ED7F1B74F}"/>
                </a:ext>
              </a:extLst>
            </p:cNvPr>
            <p:cNvSpPr/>
            <p:nvPr/>
          </p:nvSpPr>
          <p:spPr>
            <a:xfrm>
              <a:off x="4302753" y="1836611"/>
              <a:ext cx="1459912" cy="10433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Rack</a:t>
              </a:r>
              <a:endParaRPr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8" name="Google Shape;1353;p4">
              <a:extLst>
                <a:ext uri="{FF2B5EF4-FFF2-40B4-BE49-F238E27FC236}">
                  <a16:creationId xmlns:a16="http://schemas.microsoft.com/office/drawing/2014/main" id="{C65C8015-B440-62F5-53B8-D9475BB8D16E}"/>
                </a:ext>
              </a:extLst>
            </p:cNvPr>
            <p:cNvSpPr/>
            <p:nvPr/>
          </p:nvSpPr>
          <p:spPr>
            <a:xfrm>
              <a:off x="7471282" y="1836611"/>
              <a:ext cx="1409744" cy="10433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Rack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9" name="Google Shape;1354;p4">
              <a:extLst>
                <a:ext uri="{FF2B5EF4-FFF2-40B4-BE49-F238E27FC236}">
                  <a16:creationId xmlns:a16="http://schemas.microsoft.com/office/drawing/2014/main" id="{A593BD2A-1668-25E8-0C4E-5413854C420E}"/>
                </a:ext>
              </a:extLst>
            </p:cNvPr>
            <p:cNvSpPr/>
            <p:nvPr/>
          </p:nvSpPr>
          <p:spPr>
            <a:xfrm>
              <a:off x="4416622" y="2082867"/>
              <a:ext cx="4370604" cy="646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Workload Domain 1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0" name="Google Shape;1355;p4">
              <a:extLst>
                <a:ext uri="{FF2B5EF4-FFF2-40B4-BE49-F238E27FC236}">
                  <a16:creationId xmlns:a16="http://schemas.microsoft.com/office/drawing/2014/main" id="{F7815555-7E8F-F64B-A7FC-B19E158A641A}"/>
                </a:ext>
              </a:extLst>
            </p:cNvPr>
            <p:cNvSpPr/>
            <p:nvPr/>
          </p:nvSpPr>
          <p:spPr>
            <a:xfrm>
              <a:off x="4502560" y="2365564"/>
              <a:ext cx="4207808" cy="2334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61A6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Multi Rack Cluster</a:t>
              </a:r>
              <a:endParaRPr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</p:grpSp>
      <p:grpSp>
        <p:nvGrpSpPr>
          <p:cNvPr id="21" name="Google Shape;1356;p4">
            <a:extLst>
              <a:ext uri="{FF2B5EF4-FFF2-40B4-BE49-F238E27FC236}">
                <a16:creationId xmlns:a16="http://schemas.microsoft.com/office/drawing/2014/main" id="{97FE5D29-F92F-CC43-B9D6-64A896C2E58C}"/>
              </a:ext>
            </a:extLst>
          </p:cNvPr>
          <p:cNvGrpSpPr/>
          <p:nvPr/>
        </p:nvGrpSpPr>
        <p:grpSpPr>
          <a:xfrm>
            <a:off x="5440563" y="3884335"/>
            <a:ext cx="3646279" cy="1709299"/>
            <a:chOff x="2688533" y="2960613"/>
            <a:chExt cx="3646279" cy="1709299"/>
          </a:xfrm>
        </p:grpSpPr>
        <p:sp>
          <p:nvSpPr>
            <p:cNvPr id="22" name="Google Shape;1357;p4">
              <a:extLst>
                <a:ext uri="{FF2B5EF4-FFF2-40B4-BE49-F238E27FC236}">
                  <a16:creationId xmlns:a16="http://schemas.microsoft.com/office/drawing/2014/main" id="{3B21F0FC-D006-31A3-B855-AA80DF38795C}"/>
                </a:ext>
              </a:extLst>
            </p:cNvPr>
            <p:cNvSpPr/>
            <p:nvPr/>
          </p:nvSpPr>
          <p:spPr>
            <a:xfrm>
              <a:off x="2688533" y="2960613"/>
              <a:ext cx="3646279" cy="170929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3" name="Google Shape;1358;p4">
              <a:extLst>
                <a:ext uri="{FF2B5EF4-FFF2-40B4-BE49-F238E27FC236}">
                  <a16:creationId xmlns:a16="http://schemas.microsoft.com/office/drawing/2014/main" id="{1DAF7C82-9E62-6BB9-A463-7E8C7393E73D}"/>
                </a:ext>
              </a:extLst>
            </p:cNvPr>
            <p:cNvSpPr/>
            <p:nvPr/>
          </p:nvSpPr>
          <p:spPr>
            <a:xfrm>
              <a:off x="2766265" y="3204453"/>
              <a:ext cx="1650193" cy="136850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tx1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2"/>
                  </a:solidFill>
                  <a:latin typeface="Metropolis" pitchFamily="2" charset="77"/>
                  <a:sym typeface="Arial"/>
                </a:rPr>
                <a:t>Availability Zone 1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4" name="Google Shape;1359;p4">
              <a:extLst>
                <a:ext uri="{FF2B5EF4-FFF2-40B4-BE49-F238E27FC236}">
                  <a16:creationId xmlns:a16="http://schemas.microsoft.com/office/drawing/2014/main" id="{02D29D49-5465-65A7-1496-EA302C946CE0}"/>
                </a:ext>
              </a:extLst>
            </p:cNvPr>
            <p:cNvSpPr/>
            <p:nvPr/>
          </p:nvSpPr>
          <p:spPr>
            <a:xfrm>
              <a:off x="4648777" y="3193002"/>
              <a:ext cx="1596769" cy="136850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5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2"/>
                  </a:solidFill>
                  <a:latin typeface="Metropolis" pitchFamily="2" charset="77"/>
                  <a:sym typeface="Arial"/>
                </a:rPr>
                <a:t>Availability Zone 2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" name="Google Shape;1360;p4">
              <a:extLst>
                <a:ext uri="{FF2B5EF4-FFF2-40B4-BE49-F238E27FC236}">
                  <a16:creationId xmlns:a16="http://schemas.microsoft.com/office/drawing/2014/main" id="{D8FC733F-A5F3-0188-0193-E61D6AD5ACF1}"/>
                </a:ext>
              </a:extLst>
            </p:cNvPr>
            <p:cNvSpPr/>
            <p:nvPr/>
          </p:nvSpPr>
          <p:spPr>
            <a:xfrm>
              <a:off x="4722898" y="3426051"/>
              <a:ext cx="1459912" cy="101868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Rack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6" name="Google Shape;1361;p4">
              <a:extLst>
                <a:ext uri="{FF2B5EF4-FFF2-40B4-BE49-F238E27FC236}">
                  <a16:creationId xmlns:a16="http://schemas.microsoft.com/office/drawing/2014/main" id="{099094CE-F9B1-626F-4481-E0D24C663EB9}"/>
                </a:ext>
              </a:extLst>
            </p:cNvPr>
            <p:cNvSpPr/>
            <p:nvPr/>
          </p:nvSpPr>
          <p:spPr>
            <a:xfrm>
              <a:off x="2841599" y="3437502"/>
              <a:ext cx="1459912" cy="101868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Rack</a:t>
              </a:r>
              <a:endParaRPr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7" name="Google Shape;1362;p4">
              <a:extLst>
                <a:ext uri="{FF2B5EF4-FFF2-40B4-BE49-F238E27FC236}">
                  <a16:creationId xmlns:a16="http://schemas.microsoft.com/office/drawing/2014/main" id="{CCA62946-DAAA-0DA7-4B95-2A82B94F782F}"/>
                </a:ext>
              </a:extLst>
            </p:cNvPr>
            <p:cNvSpPr/>
            <p:nvPr/>
          </p:nvSpPr>
          <p:spPr>
            <a:xfrm>
              <a:off x="2955468" y="3683757"/>
              <a:ext cx="3138944" cy="64619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Workload Domain 1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8" name="Google Shape;1363;p4">
              <a:extLst>
                <a:ext uri="{FF2B5EF4-FFF2-40B4-BE49-F238E27FC236}">
                  <a16:creationId xmlns:a16="http://schemas.microsoft.com/office/drawing/2014/main" id="{31DF0CC8-4D1B-615C-3190-ADF49B47ABE2}"/>
                </a:ext>
              </a:extLst>
            </p:cNvPr>
            <p:cNvSpPr/>
            <p:nvPr/>
          </p:nvSpPr>
          <p:spPr>
            <a:xfrm>
              <a:off x="3037973" y="3971770"/>
              <a:ext cx="2948048" cy="2334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Stretched Cluster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130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86248FEB-8319-8C34-582C-37FEF6078C7A}"/>
              </a:ext>
            </a:extLst>
          </p:cNvPr>
          <p:cNvSpPr/>
          <p:nvPr/>
        </p:nvSpPr>
        <p:spPr>
          <a:xfrm>
            <a:off x="2606353" y="1675422"/>
            <a:ext cx="6612942" cy="41984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8EECA76-FBCE-C2D7-9521-CB06C577C60D}"/>
              </a:ext>
            </a:extLst>
          </p:cNvPr>
          <p:cNvGrpSpPr/>
          <p:nvPr/>
        </p:nvGrpSpPr>
        <p:grpSpPr>
          <a:xfrm>
            <a:off x="2502126" y="1196735"/>
            <a:ext cx="7184572" cy="4464529"/>
            <a:chOff x="2220686" y="653143"/>
            <a:chExt cx="7184572" cy="4464529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A83C3E81-7015-4248-2D9F-9F7F683268CE}"/>
                </a:ext>
              </a:extLst>
            </p:cNvPr>
            <p:cNvGrpSpPr/>
            <p:nvPr/>
          </p:nvGrpSpPr>
          <p:grpSpPr>
            <a:xfrm>
              <a:off x="2508046" y="1101445"/>
              <a:ext cx="6531816" cy="3752257"/>
              <a:chOff x="2779351" y="1342605"/>
              <a:chExt cx="6531816" cy="3752257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E54C85E-2735-BB1B-21FF-C9557B7D8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9264" y="1486889"/>
                <a:ext cx="0" cy="3603612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FE58855-2D08-27C7-F5D1-4EC6563B08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6017" y="1499168"/>
                <a:ext cx="0" cy="3591333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A85AA640-903B-6B48-FF81-250F2442A2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8390" y="1497843"/>
                <a:ext cx="0" cy="3592658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Google Shape;2227;g331808b2882_0_3053">
                <a:extLst>
                  <a:ext uri="{FF2B5EF4-FFF2-40B4-BE49-F238E27FC236}">
                    <a16:creationId xmlns:a16="http://schemas.microsoft.com/office/drawing/2014/main" id="{7FA49664-3DB8-83C7-4A6C-00A0081F1266}"/>
                  </a:ext>
                </a:extLst>
              </p:cNvPr>
              <p:cNvSpPr/>
              <p:nvPr/>
            </p:nvSpPr>
            <p:spPr>
              <a:xfrm rot="10800000" flipV="1">
                <a:off x="7775673" y="1605652"/>
                <a:ext cx="1436490" cy="3396716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4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" name="Google Shape;2227;g331808b2882_0_3053">
                <a:extLst>
                  <a:ext uri="{FF2B5EF4-FFF2-40B4-BE49-F238E27FC236}">
                    <a16:creationId xmlns:a16="http://schemas.microsoft.com/office/drawing/2014/main" id="{58DC9C49-CCF9-1B46-12CB-FEEEC7BF13F1}"/>
                  </a:ext>
                </a:extLst>
              </p:cNvPr>
              <p:cNvSpPr/>
              <p:nvPr/>
            </p:nvSpPr>
            <p:spPr>
              <a:xfrm rot="10800000" flipV="1">
                <a:off x="6155181" y="1603194"/>
                <a:ext cx="1436490" cy="3392714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3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0" name="Google Shape;2227;g331808b2882_0_3053">
                <a:extLst>
                  <a:ext uri="{FF2B5EF4-FFF2-40B4-BE49-F238E27FC236}">
                    <a16:creationId xmlns:a16="http://schemas.microsoft.com/office/drawing/2014/main" id="{B54078EF-49F2-0A8F-CB3E-DE5F23C3D393}"/>
                  </a:ext>
                </a:extLst>
              </p:cNvPr>
              <p:cNvSpPr/>
              <p:nvPr/>
            </p:nvSpPr>
            <p:spPr>
              <a:xfrm rot="10800000" flipV="1">
                <a:off x="4535396" y="1599192"/>
                <a:ext cx="1436490" cy="3399175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2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1" name="Google Shape;2227;g331808b2882_0_3053">
                <a:extLst>
                  <a:ext uri="{FF2B5EF4-FFF2-40B4-BE49-F238E27FC236}">
                    <a16:creationId xmlns:a16="http://schemas.microsoft.com/office/drawing/2014/main" id="{6D8B286F-4993-418E-3D02-3CFF1C91C5E1}"/>
                  </a:ext>
                </a:extLst>
              </p:cNvPr>
              <p:cNvSpPr/>
              <p:nvPr/>
            </p:nvSpPr>
            <p:spPr>
              <a:xfrm rot="10800000" flipV="1">
                <a:off x="2914904" y="1596733"/>
                <a:ext cx="1436490" cy="3399175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</a:t>
                </a:r>
                <a:r>
                  <a:rPr lang="en-AU" sz="800" dirty="0">
                    <a:solidFill>
                      <a:srgbClr val="221E20"/>
                    </a:solidFill>
                    <a:latin typeface="Metropolis" pitchFamily="2" charset="77"/>
                  </a:rPr>
                  <a:t>1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2" name="Google Shape;2227;g331808b2882_0_3053">
                <a:extLst>
                  <a:ext uri="{FF2B5EF4-FFF2-40B4-BE49-F238E27FC236}">
                    <a16:creationId xmlns:a16="http://schemas.microsoft.com/office/drawing/2014/main" id="{7BE081BD-067C-03F7-6E88-BAD139F8AA31}"/>
                  </a:ext>
                </a:extLst>
              </p:cNvPr>
              <p:cNvSpPr/>
              <p:nvPr/>
            </p:nvSpPr>
            <p:spPr>
              <a:xfrm>
                <a:off x="3007002" y="2493750"/>
                <a:ext cx="6115229" cy="22455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Layer 2 vSphere Cluster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D7CB5C4-E1CC-F864-7054-F5805AF02B0E}"/>
                  </a:ext>
                </a:extLst>
              </p:cNvPr>
              <p:cNvGrpSpPr/>
              <p:nvPr/>
            </p:nvGrpSpPr>
            <p:grpSpPr>
              <a:xfrm>
                <a:off x="7914754" y="1667265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F1F7BB6-FE10-6A39-E58C-F5DE9CC4E878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B6D8B9E2-2330-CB7E-F8E4-E441682B55E2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19" name="Graphic 18">
                    <a:extLst>
                      <a:ext uri="{FF2B5EF4-FFF2-40B4-BE49-F238E27FC236}">
                        <a16:creationId xmlns:a16="http://schemas.microsoft.com/office/drawing/2014/main" id="{D2639D77-C424-F3FF-0B5D-D0D874A9CAE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72911638-9F9F-0545-764D-5A99954D78BE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BF25B009-D388-B7EE-B1C4-7474F2E19201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ED1F2F5F-4434-32E4-ED34-1E2F65B3BC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0B3FE9-06A8-BA63-A61D-EECEC255AC98}"/>
                  </a:ext>
                </a:extLst>
              </p:cNvPr>
              <p:cNvSpPr txBox="1"/>
              <p:nvPr/>
            </p:nvSpPr>
            <p:spPr>
              <a:xfrm>
                <a:off x="8010090" y="2144172"/>
                <a:ext cx="96853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4 Switches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13CA1520-6D8E-EE50-7F34-C8964E52CBF0}"/>
                  </a:ext>
                </a:extLst>
              </p:cNvPr>
              <p:cNvGrpSpPr/>
              <p:nvPr/>
            </p:nvGrpSpPr>
            <p:grpSpPr>
              <a:xfrm>
                <a:off x="6294262" y="1664806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49B79690-8C7F-9F7A-7D20-D032198AF820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D4F9AF29-AAF2-3B83-53B4-486F89E9DF72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34" name="Graphic 33">
                    <a:extLst>
                      <a:ext uri="{FF2B5EF4-FFF2-40B4-BE49-F238E27FC236}">
                        <a16:creationId xmlns:a16="http://schemas.microsoft.com/office/drawing/2014/main" id="{A096AF08-AC6E-6DA7-B3AA-3C05239F7F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0551A14A-8140-6678-3F29-686440469611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AAEE176D-38FB-1193-B4D8-86B1C394B098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32" name="Graphic 31">
                    <a:extLst>
                      <a:ext uri="{FF2B5EF4-FFF2-40B4-BE49-F238E27FC236}">
                        <a16:creationId xmlns:a16="http://schemas.microsoft.com/office/drawing/2014/main" id="{9410CE6F-F708-5C70-3A2F-13B7586A9E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C16E9BB-D478-15D5-588F-DABF8C9310EF}"/>
                  </a:ext>
                </a:extLst>
              </p:cNvPr>
              <p:cNvSpPr txBox="1"/>
              <p:nvPr/>
            </p:nvSpPr>
            <p:spPr>
              <a:xfrm>
                <a:off x="6390399" y="2161306"/>
                <a:ext cx="96693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3 Switches</a:t>
                </a: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B136C0F1-C301-7F5F-2E78-6A28276B34AC}"/>
                  </a:ext>
                </a:extLst>
              </p:cNvPr>
              <p:cNvGrpSpPr/>
              <p:nvPr/>
            </p:nvGrpSpPr>
            <p:grpSpPr>
              <a:xfrm>
                <a:off x="4674477" y="1660805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16ACEF77-BF1E-19BE-BC4A-94BB3534D4FA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E14AABBE-4020-8E59-3660-3C39E286FC2B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49" name="Graphic 48">
                    <a:extLst>
                      <a:ext uri="{FF2B5EF4-FFF2-40B4-BE49-F238E27FC236}">
                        <a16:creationId xmlns:a16="http://schemas.microsoft.com/office/drawing/2014/main" id="{2276D0DF-39A0-F503-028D-5082E64986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6985E93B-F2E6-F250-793A-BBC5E69080FB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3E1D53AE-40AF-42C1-3137-076185D5B435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47" name="Graphic 46">
                    <a:extLst>
                      <a:ext uri="{FF2B5EF4-FFF2-40B4-BE49-F238E27FC236}">
                        <a16:creationId xmlns:a16="http://schemas.microsoft.com/office/drawing/2014/main" id="{A1B51253-8960-C4A4-7080-A50567749E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D7788BC-3895-2378-159C-964CE02E2B42}"/>
                  </a:ext>
                </a:extLst>
              </p:cNvPr>
              <p:cNvSpPr txBox="1"/>
              <p:nvPr/>
            </p:nvSpPr>
            <p:spPr>
              <a:xfrm>
                <a:off x="4771417" y="2157305"/>
                <a:ext cx="96532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2 Switches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9BBE36BE-2B7C-60A0-328D-599DE8F4FDDD}"/>
                  </a:ext>
                </a:extLst>
              </p:cNvPr>
              <p:cNvGrpSpPr/>
              <p:nvPr/>
            </p:nvGrpSpPr>
            <p:grpSpPr>
              <a:xfrm>
                <a:off x="3053985" y="1658346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03AE54D-CA86-E658-02A4-B7EF4CF4A431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C90908DD-EC94-8BB1-5AF1-D7D6C340CFD7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64" name="Graphic 63">
                    <a:extLst>
                      <a:ext uri="{FF2B5EF4-FFF2-40B4-BE49-F238E27FC236}">
                        <a16:creationId xmlns:a16="http://schemas.microsoft.com/office/drawing/2014/main" id="{2134B7FB-F7CA-6DF2-118F-71E30B399E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58424E92-E8F7-E0C3-DC31-9D67C5F32565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32429B9B-0E9D-9542-AA63-FB827C62993A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62" name="Graphic 61">
                    <a:extLst>
                      <a:ext uri="{FF2B5EF4-FFF2-40B4-BE49-F238E27FC236}">
                        <a16:creationId xmlns:a16="http://schemas.microsoft.com/office/drawing/2014/main" id="{FEE41D6A-D43E-F6F9-F935-E2214F40847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B76EB58-9AE9-E108-BB97-BAD0C8CB9221}"/>
                  </a:ext>
                </a:extLst>
              </p:cNvPr>
              <p:cNvSpPr txBox="1"/>
              <p:nvPr/>
            </p:nvSpPr>
            <p:spPr>
              <a:xfrm>
                <a:off x="3161346" y="2154846"/>
                <a:ext cx="94448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1 Switches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93FD5F0-371D-EB37-1A74-53AEC7EFF2C7}"/>
                  </a:ext>
                </a:extLst>
              </p:cNvPr>
              <p:cNvSpPr/>
              <p:nvPr/>
            </p:nvSpPr>
            <p:spPr>
              <a:xfrm>
                <a:off x="2815878" y="1342605"/>
                <a:ext cx="6495289" cy="157550"/>
              </a:xfrm>
              <a:prstGeom prst="rect">
                <a:avLst/>
              </a:prstGeom>
              <a:noFill/>
              <a:ln w="12700">
                <a:solidFill>
                  <a:srgbClr val="99999B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Layer 2 Adjacencies</a:t>
                </a:r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38229E9-35B2-BB4F-7C45-3CEB72C091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15878" y="1497843"/>
                <a:ext cx="0" cy="3592658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10CEFCD5-1A44-5C92-F324-EE786578AE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79351" y="5094862"/>
                <a:ext cx="6489396" cy="0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B3E1051B-80A4-B9AA-A1F0-F2B6E9DA94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1167" y="1497843"/>
                <a:ext cx="0" cy="3592658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EBEE008A-F690-B02F-57D3-27B94415AB8B}"/>
                  </a:ext>
                </a:extLst>
              </p:cNvPr>
              <p:cNvGrpSpPr/>
              <p:nvPr/>
            </p:nvGrpSpPr>
            <p:grpSpPr>
              <a:xfrm>
                <a:off x="3272107" y="3873244"/>
                <a:ext cx="699596" cy="866031"/>
                <a:chOff x="3272107" y="3186684"/>
                <a:chExt cx="699596" cy="866031"/>
              </a:xfrm>
            </p:grpSpPr>
            <p:pic>
              <p:nvPicPr>
                <p:cNvPr id="66" name="Google Shape;2232;g331808b2882_0_3053">
                  <a:extLst>
                    <a:ext uri="{FF2B5EF4-FFF2-40B4-BE49-F238E27FC236}">
                      <a16:creationId xmlns:a16="http://schemas.microsoft.com/office/drawing/2014/main" id="{0617D32F-D56C-AEB4-70B5-AA143511212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9" name="Google Shape;2232;g331808b2882_0_3053">
                  <a:extLst>
                    <a:ext uri="{FF2B5EF4-FFF2-40B4-BE49-F238E27FC236}">
                      <a16:creationId xmlns:a16="http://schemas.microsoft.com/office/drawing/2014/main" id="{1991FFA6-46EB-B05A-D118-4D8BDEF25C6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B3D10D93-665D-AA7F-7464-A34C03690BC0}"/>
                  </a:ext>
                </a:extLst>
              </p:cNvPr>
              <p:cNvGrpSpPr/>
              <p:nvPr/>
            </p:nvGrpSpPr>
            <p:grpSpPr>
              <a:xfrm>
                <a:off x="4887182" y="3873244"/>
                <a:ext cx="699596" cy="866031"/>
                <a:chOff x="3272107" y="3186684"/>
                <a:chExt cx="699596" cy="866031"/>
              </a:xfrm>
            </p:grpSpPr>
            <p:pic>
              <p:nvPicPr>
                <p:cNvPr id="83" name="Google Shape;2232;g331808b2882_0_3053">
                  <a:extLst>
                    <a:ext uri="{FF2B5EF4-FFF2-40B4-BE49-F238E27FC236}">
                      <a16:creationId xmlns:a16="http://schemas.microsoft.com/office/drawing/2014/main" id="{D605DBF1-2A3E-33AA-EFE3-96F342F173CF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4" name="Google Shape;2232;g331808b2882_0_3053">
                  <a:extLst>
                    <a:ext uri="{FF2B5EF4-FFF2-40B4-BE49-F238E27FC236}">
                      <a16:creationId xmlns:a16="http://schemas.microsoft.com/office/drawing/2014/main" id="{C6589BD4-E424-19F6-D224-23D127FE671F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619B1B2-9759-514E-648A-ED71D7B43AD2}"/>
                  </a:ext>
                </a:extLst>
              </p:cNvPr>
              <p:cNvGrpSpPr/>
              <p:nvPr/>
            </p:nvGrpSpPr>
            <p:grpSpPr>
              <a:xfrm>
                <a:off x="6510422" y="3908897"/>
                <a:ext cx="699596" cy="866031"/>
                <a:chOff x="3272107" y="3186684"/>
                <a:chExt cx="699596" cy="866031"/>
              </a:xfrm>
            </p:grpSpPr>
            <p:pic>
              <p:nvPicPr>
                <p:cNvPr id="87" name="Google Shape;2232;g331808b2882_0_3053">
                  <a:extLst>
                    <a:ext uri="{FF2B5EF4-FFF2-40B4-BE49-F238E27FC236}">
                      <a16:creationId xmlns:a16="http://schemas.microsoft.com/office/drawing/2014/main" id="{3A1E2CCD-BFB1-1747-3C63-2B20B11AB15C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8" name="Google Shape;2232;g331808b2882_0_3053">
                  <a:extLst>
                    <a:ext uri="{FF2B5EF4-FFF2-40B4-BE49-F238E27FC236}">
                      <a16:creationId xmlns:a16="http://schemas.microsoft.com/office/drawing/2014/main" id="{A0DFD37D-5718-BA0F-3DB0-4A7F984A0FA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4BE435BF-7CCA-5339-132B-9C46CBEA1FF5}"/>
                  </a:ext>
                </a:extLst>
              </p:cNvPr>
              <p:cNvGrpSpPr/>
              <p:nvPr/>
            </p:nvGrpSpPr>
            <p:grpSpPr>
              <a:xfrm>
                <a:off x="8127781" y="3922270"/>
                <a:ext cx="699596" cy="866031"/>
                <a:chOff x="3272107" y="3186684"/>
                <a:chExt cx="699596" cy="866031"/>
              </a:xfrm>
            </p:grpSpPr>
            <p:pic>
              <p:nvPicPr>
                <p:cNvPr id="90" name="Google Shape;2232;g331808b2882_0_3053">
                  <a:extLst>
                    <a:ext uri="{FF2B5EF4-FFF2-40B4-BE49-F238E27FC236}">
                      <a16:creationId xmlns:a16="http://schemas.microsoft.com/office/drawing/2014/main" id="{34FF2345-F9B0-8E49-5A63-1F609AB9F32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1" name="Google Shape;2232;g331808b2882_0_3053">
                  <a:extLst>
                    <a:ext uri="{FF2B5EF4-FFF2-40B4-BE49-F238E27FC236}">
                      <a16:creationId xmlns:a16="http://schemas.microsoft.com/office/drawing/2014/main" id="{6E7D43F0-FEC5-9764-A55F-AA59AE89811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92" name="Google Shape;2227;g331808b2882_0_3053">
                <a:extLst>
                  <a:ext uri="{FF2B5EF4-FFF2-40B4-BE49-F238E27FC236}">
                    <a16:creationId xmlns:a16="http://schemas.microsoft.com/office/drawing/2014/main" id="{F1C471FA-7236-3C90-27D6-DE4AFA2D0505}"/>
                  </a:ext>
                </a:extLst>
              </p:cNvPr>
              <p:cNvSpPr/>
              <p:nvPr/>
            </p:nvSpPr>
            <p:spPr>
              <a:xfrm>
                <a:off x="3053984" y="2593400"/>
                <a:ext cx="6014905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 Management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3" name="Google Shape;2227;g331808b2882_0_3053">
                <a:extLst>
                  <a:ext uri="{FF2B5EF4-FFF2-40B4-BE49-F238E27FC236}">
                    <a16:creationId xmlns:a16="http://schemas.microsoft.com/office/drawing/2014/main" id="{93419BA3-EAF9-30DC-511B-17388A4EEEE9}"/>
                  </a:ext>
                </a:extLst>
              </p:cNvPr>
              <p:cNvSpPr/>
              <p:nvPr/>
            </p:nvSpPr>
            <p:spPr>
              <a:xfrm>
                <a:off x="3053984" y="3175019"/>
                <a:ext cx="6014905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8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vMotion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4" name="Google Shape;2227;g331808b2882_0_3053">
                <a:extLst>
                  <a:ext uri="{FF2B5EF4-FFF2-40B4-BE49-F238E27FC236}">
                    <a16:creationId xmlns:a16="http://schemas.microsoft.com/office/drawing/2014/main" id="{06AD08C0-8B8D-0AD8-4CB0-866BCEC38489}"/>
                  </a:ext>
                </a:extLst>
              </p:cNvPr>
              <p:cNvSpPr/>
              <p:nvPr/>
            </p:nvSpPr>
            <p:spPr>
              <a:xfrm>
                <a:off x="3053984" y="3488097"/>
                <a:ext cx="6014905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IP Storage (NFS/</a:t>
                </a:r>
                <a:r>
                  <a:rPr lang="en-GB" sz="8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vSAN</a:t>
                </a:r>
                <a:r>
                  <a:rPr lang="en-GB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)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5" name="Google Shape;2227;g331808b2882_0_3053">
                <a:extLst>
                  <a:ext uri="{FF2B5EF4-FFF2-40B4-BE49-F238E27FC236}">
                    <a16:creationId xmlns:a16="http://schemas.microsoft.com/office/drawing/2014/main" id="{8C528E6C-C68D-3E6F-F398-5284CC234430}"/>
                  </a:ext>
                </a:extLst>
              </p:cNvPr>
              <p:cNvSpPr/>
              <p:nvPr/>
            </p:nvSpPr>
            <p:spPr>
              <a:xfrm>
                <a:off x="3053984" y="2878144"/>
                <a:ext cx="6014905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800" dirty="0">
                    <a:solidFill>
                      <a:schemeClr val="tx1"/>
                    </a:solidFill>
                    <a:latin typeface="Metropolis" pitchFamily="2" charset="77"/>
                  </a:rPr>
                  <a:t>ESX</a:t>
                </a:r>
                <a:r>
                  <a:rPr lang="en-GB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Management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6" name="Google Shape;2227;g331808b2882_0_3053">
                <a:extLst>
                  <a:ext uri="{FF2B5EF4-FFF2-40B4-BE49-F238E27FC236}">
                    <a16:creationId xmlns:a16="http://schemas.microsoft.com/office/drawing/2014/main" id="{B427F644-13A9-8CFE-C5E7-A5C49488C3D4}"/>
                  </a:ext>
                </a:extLst>
              </p:cNvPr>
              <p:cNvSpPr/>
              <p:nvPr/>
            </p:nvSpPr>
            <p:spPr>
              <a:xfrm>
                <a:off x="3053984" y="3813929"/>
                <a:ext cx="6014905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NSX Host TEP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97026BB-4499-77F2-6168-56A9A46932B2}"/>
                </a:ext>
              </a:extLst>
            </p:cNvPr>
            <p:cNvSpPr/>
            <p:nvPr/>
          </p:nvSpPr>
          <p:spPr>
            <a:xfrm>
              <a:off x="2220686" y="653143"/>
              <a:ext cx="7184572" cy="44645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E3E5586-6B70-24F9-E05E-E585E5A31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 2 Multi-Rack Cluster Model v1.0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58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8A74-9B86-C68C-FB29-2015350E6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672AF50-9C7A-125F-4467-F407B6335DFC}"/>
              </a:ext>
            </a:extLst>
          </p:cNvPr>
          <p:cNvSpPr/>
          <p:nvPr/>
        </p:nvSpPr>
        <p:spPr>
          <a:xfrm>
            <a:off x="2877658" y="1916582"/>
            <a:ext cx="6612942" cy="41984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028DE1C-333E-DECB-033B-EA9D89C874B8}"/>
              </a:ext>
            </a:extLst>
          </p:cNvPr>
          <p:cNvGrpSpPr/>
          <p:nvPr/>
        </p:nvGrpSpPr>
        <p:grpSpPr>
          <a:xfrm>
            <a:off x="2591843" y="1356493"/>
            <a:ext cx="7184572" cy="4464529"/>
            <a:chOff x="2468338" y="784993"/>
            <a:chExt cx="7184572" cy="446452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96A4625-E981-F8C8-C4A7-503212FB1242}"/>
                </a:ext>
              </a:extLst>
            </p:cNvPr>
            <p:cNvGrpSpPr/>
            <p:nvPr/>
          </p:nvGrpSpPr>
          <p:grpSpPr>
            <a:xfrm>
              <a:off x="2813792" y="1129989"/>
              <a:ext cx="6504450" cy="3960512"/>
              <a:chOff x="2813792" y="1129989"/>
              <a:chExt cx="6504450" cy="3960512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60496D63-1204-4BCF-43D4-74654E2CAF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9264" y="1486889"/>
                <a:ext cx="0" cy="3603612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D427195-53FA-EF49-0CD7-7E26F3AC2E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6017" y="1499168"/>
                <a:ext cx="0" cy="3591333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5CB5247-BC93-0483-FDD6-DB8822333D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8390" y="1497843"/>
                <a:ext cx="0" cy="3592658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Google Shape;2227;g331808b2882_0_3053">
                <a:extLst>
                  <a:ext uri="{FF2B5EF4-FFF2-40B4-BE49-F238E27FC236}">
                    <a16:creationId xmlns:a16="http://schemas.microsoft.com/office/drawing/2014/main" id="{64C04990-1EE2-AF82-DF12-2DFA0F86FC23}"/>
                  </a:ext>
                </a:extLst>
              </p:cNvPr>
              <p:cNvSpPr/>
              <p:nvPr/>
            </p:nvSpPr>
            <p:spPr>
              <a:xfrm rot="10800000" flipV="1">
                <a:off x="7775673" y="1605652"/>
                <a:ext cx="1436490" cy="3396716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4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" name="Google Shape;2227;g331808b2882_0_3053">
                <a:extLst>
                  <a:ext uri="{FF2B5EF4-FFF2-40B4-BE49-F238E27FC236}">
                    <a16:creationId xmlns:a16="http://schemas.microsoft.com/office/drawing/2014/main" id="{26D96F2B-1E6B-E007-8975-05B69076B5FE}"/>
                  </a:ext>
                </a:extLst>
              </p:cNvPr>
              <p:cNvSpPr/>
              <p:nvPr/>
            </p:nvSpPr>
            <p:spPr>
              <a:xfrm rot="10800000" flipV="1">
                <a:off x="6155181" y="1603194"/>
                <a:ext cx="1436490" cy="3392714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3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0" name="Google Shape;2227;g331808b2882_0_3053">
                <a:extLst>
                  <a:ext uri="{FF2B5EF4-FFF2-40B4-BE49-F238E27FC236}">
                    <a16:creationId xmlns:a16="http://schemas.microsoft.com/office/drawing/2014/main" id="{08D8E8BE-7F25-08C7-CA19-27A6617EAF20}"/>
                  </a:ext>
                </a:extLst>
              </p:cNvPr>
              <p:cNvSpPr/>
              <p:nvPr/>
            </p:nvSpPr>
            <p:spPr>
              <a:xfrm rot="10800000" flipV="1">
                <a:off x="4535396" y="1599192"/>
                <a:ext cx="1436490" cy="3399175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2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1" name="Google Shape;2227;g331808b2882_0_3053">
                <a:extLst>
                  <a:ext uri="{FF2B5EF4-FFF2-40B4-BE49-F238E27FC236}">
                    <a16:creationId xmlns:a16="http://schemas.microsoft.com/office/drawing/2014/main" id="{9ECF9227-3533-0B2E-A807-0A5BC0C25CD9}"/>
                  </a:ext>
                </a:extLst>
              </p:cNvPr>
              <p:cNvSpPr/>
              <p:nvPr/>
            </p:nvSpPr>
            <p:spPr>
              <a:xfrm rot="10800000" flipV="1">
                <a:off x="2914904" y="1596733"/>
                <a:ext cx="1436490" cy="3399175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</a:t>
                </a:r>
                <a:r>
                  <a:rPr lang="en-AU" sz="800" dirty="0">
                    <a:solidFill>
                      <a:srgbClr val="221E20"/>
                    </a:solidFill>
                    <a:latin typeface="Metropolis" pitchFamily="2" charset="77"/>
                  </a:rPr>
                  <a:t>1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2" name="Google Shape;2227;g331808b2882_0_3053">
                <a:extLst>
                  <a:ext uri="{FF2B5EF4-FFF2-40B4-BE49-F238E27FC236}">
                    <a16:creationId xmlns:a16="http://schemas.microsoft.com/office/drawing/2014/main" id="{3A9C51AC-5B63-D4A9-4D13-1402A7B800D2}"/>
                  </a:ext>
                </a:extLst>
              </p:cNvPr>
              <p:cNvSpPr/>
              <p:nvPr/>
            </p:nvSpPr>
            <p:spPr>
              <a:xfrm>
                <a:off x="2989518" y="2516391"/>
                <a:ext cx="6142213" cy="22455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Layer 3 vSphere Cluster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9D2D498-F0C2-DD82-BE39-02866C5A6930}"/>
                  </a:ext>
                </a:extLst>
              </p:cNvPr>
              <p:cNvGrpSpPr/>
              <p:nvPr/>
            </p:nvGrpSpPr>
            <p:grpSpPr>
              <a:xfrm>
                <a:off x="7914754" y="1667265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E2A639DB-8AE5-7829-D943-B67C450706C5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9F6087E-B3D1-B746-B417-C471F7E59D90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19" name="Graphic 18">
                    <a:extLst>
                      <a:ext uri="{FF2B5EF4-FFF2-40B4-BE49-F238E27FC236}">
                        <a16:creationId xmlns:a16="http://schemas.microsoft.com/office/drawing/2014/main" id="{11CA164D-B43A-3623-434E-914E43881A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31A24550-B3E1-07AB-41A9-4A72737C110D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7B1C6F68-D05A-2E04-20EE-063BF6844174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880A099-B955-8C92-3A58-A5526B6D65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012A41C-3D97-692E-7D3E-5408E93E1B39}"/>
                  </a:ext>
                </a:extLst>
              </p:cNvPr>
              <p:cNvSpPr txBox="1"/>
              <p:nvPr/>
            </p:nvSpPr>
            <p:spPr>
              <a:xfrm>
                <a:off x="8010090" y="2144172"/>
                <a:ext cx="96853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4 Switches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BB9251B-AD4E-9182-2119-49CF6E7A4D88}"/>
                  </a:ext>
                </a:extLst>
              </p:cNvPr>
              <p:cNvGrpSpPr/>
              <p:nvPr/>
            </p:nvGrpSpPr>
            <p:grpSpPr>
              <a:xfrm>
                <a:off x="6294262" y="1664806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B9FB8B96-2447-759D-4719-A7C99E6D9B7A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D2AC8FF8-681B-DE17-78B9-97A7CA06B903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34" name="Graphic 33">
                    <a:extLst>
                      <a:ext uri="{FF2B5EF4-FFF2-40B4-BE49-F238E27FC236}">
                        <a16:creationId xmlns:a16="http://schemas.microsoft.com/office/drawing/2014/main" id="{182BA538-B1EA-D9AD-1643-CB067D097E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8B815BF8-5484-4C4D-40EE-B962B2DBAEC4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A68A7E2B-8333-670C-81C6-076CFA38DF5D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32" name="Graphic 31">
                    <a:extLst>
                      <a:ext uri="{FF2B5EF4-FFF2-40B4-BE49-F238E27FC236}">
                        <a16:creationId xmlns:a16="http://schemas.microsoft.com/office/drawing/2014/main" id="{9C67BD1B-11B9-7528-E517-56D314BFB2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44B4B00-F8ED-11F0-0395-46503A4E4B8F}"/>
                  </a:ext>
                </a:extLst>
              </p:cNvPr>
              <p:cNvSpPr txBox="1"/>
              <p:nvPr/>
            </p:nvSpPr>
            <p:spPr>
              <a:xfrm>
                <a:off x="6390399" y="2161306"/>
                <a:ext cx="96693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3 Switches</a:t>
                </a: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32250AEF-54B5-0C27-0501-585552C592B1}"/>
                  </a:ext>
                </a:extLst>
              </p:cNvPr>
              <p:cNvGrpSpPr/>
              <p:nvPr/>
            </p:nvGrpSpPr>
            <p:grpSpPr>
              <a:xfrm>
                <a:off x="4674477" y="1660805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76561314-3EC7-155F-CEC5-6FB6C0AA807E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E5E5E9C0-1EA2-0F62-281C-C55F0D742EEC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49" name="Graphic 48">
                    <a:extLst>
                      <a:ext uri="{FF2B5EF4-FFF2-40B4-BE49-F238E27FC236}">
                        <a16:creationId xmlns:a16="http://schemas.microsoft.com/office/drawing/2014/main" id="{9E81CB69-03E7-13CE-91C1-8770E27ED9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0E49961D-3B4B-D272-9689-F3D8DD9F5EA8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1C900960-6763-FF44-F2B5-F67BA0FFA596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47" name="Graphic 46">
                    <a:extLst>
                      <a:ext uri="{FF2B5EF4-FFF2-40B4-BE49-F238E27FC236}">
                        <a16:creationId xmlns:a16="http://schemas.microsoft.com/office/drawing/2014/main" id="{F6349045-CA5A-797D-4A64-B655423B95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0D79F0D-CAB0-8C38-B089-33560A0EE9F5}"/>
                  </a:ext>
                </a:extLst>
              </p:cNvPr>
              <p:cNvSpPr txBox="1"/>
              <p:nvPr/>
            </p:nvSpPr>
            <p:spPr>
              <a:xfrm>
                <a:off x="4771417" y="2157305"/>
                <a:ext cx="96532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2 Switches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A249B53-B243-33B6-6504-528B54831F7E}"/>
                  </a:ext>
                </a:extLst>
              </p:cNvPr>
              <p:cNvGrpSpPr/>
              <p:nvPr/>
            </p:nvGrpSpPr>
            <p:grpSpPr>
              <a:xfrm>
                <a:off x="3053985" y="1658346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71ECE799-1946-D137-94AA-A787AA80E008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E08F5CA3-7172-789A-FEB2-05D0492E1E7F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64" name="Graphic 63">
                    <a:extLst>
                      <a:ext uri="{FF2B5EF4-FFF2-40B4-BE49-F238E27FC236}">
                        <a16:creationId xmlns:a16="http://schemas.microsoft.com/office/drawing/2014/main" id="{2485516C-CF23-A9BA-52B6-ED41892E47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8BDB19BD-FA82-82CE-EE71-A89814F9648B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5D874D37-26D4-5B34-70E2-3A16C0FA30AE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62" name="Graphic 61">
                    <a:extLst>
                      <a:ext uri="{FF2B5EF4-FFF2-40B4-BE49-F238E27FC236}">
                        <a16:creationId xmlns:a16="http://schemas.microsoft.com/office/drawing/2014/main" id="{77216F0B-A9F1-0FA5-E3D2-80FC998F6E4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7366C38-C5CA-7575-FE6E-887065641C58}"/>
                  </a:ext>
                </a:extLst>
              </p:cNvPr>
              <p:cNvSpPr txBox="1"/>
              <p:nvPr/>
            </p:nvSpPr>
            <p:spPr>
              <a:xfrm>
                <a:off x="3161346" y="2154846"/>
                <a:ext cx="94448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1 Switches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98BDB15-3953-74E2-04AF-EFD6D9280D58}"/>
                  </a:ext>
                </a:extLst>
              </p:cNvPr>
              <p:cNvSpPr/>
              <p:nvPr/>
            </p:nvSpPr>
            <p:spPr>
              <a:xfrm>
                <a:off x="2813792" y="1129989"/>
                <a:ext cx="6495289" cy="1575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Layer 3 Boundaries</a:t>
                </a:r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261AA9BC-CDBB-F077-84A2-8FBFF957C5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15878" y="1497843"/>
                <a:ext cx="0" cy="3592658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DE74405-5CF4-19EE-FC72-E45EBC08CD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9685" y="5090501"/>
                <a:ext cx="6489396" cy="0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8FE7E68B-17CA-7013-AFB0-46A346284D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1167" y="1497843"/>
                <a:ext cx="0" cy="3592658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6A108CEB-E4C4-1619-46F4-CE0C91F04007}"/>
                  </a:ext>
                </a:extLst>
              </p:cNvPr>
              <p:cNvGrpSpPr/>
              <p:nvPr/>
            </p:nvGrpSpPr>
            <p:grpSpPr>
              <a:xfrm>
                <a:off x="3283350" y="3928861"/>
                <a:ext cx="699596" cy="866031"/>
                <a:chOff x="3272107" y="3186684"/>
                <a:chExt cx="699596" cy="866031"/>
              </a:xfrm>
            </p:grpSpPr>
            <p:pic>
              <p:nvPicPr>
                <p:cNvPr id="66" name="Google Shape;2232;g331808b2882_0_3053">
                  <a:extLst>
                    <a:ext uri="{FF2B5EF4-FFF2-40B4-BE49-F238E27FC236}">
                      <a16:creationId xmlns:a16="http://schemas.microsoft.com/office/drawing/2014/main" id="{CF2A055C-0F40-5CB3-F4E0-6EBDB7547939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9" name="Google Shape;2232;g331808b2882_0_3053">
                  <a:extLst>
                    <a:ext uri="{FF2B5EF4-FFF2-40B4-BE49-F238E27FC236}">
                      <a16:creationId xmlns:a16="http://schemas.microsoft.com/office/drawing/2014/main" id="{886332AC-BC45-4575-D132-8BC49FE2DF22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B2E97263-2299-E83A-E1E2-65E3333642F4}"/>
                  </a:ext>
                </a:extLst>
              </p:cNvPr>
              <p:cNvGrpSpPr/>
              <p:nvPr/>
            </p:nvGrpSpPr>
            <p:grpSpPr>
              <a:xfrm>
                <a:off x="4887580" y="3942493"/>
                <a:ext cx="699596" cy="866031"/>
                <a:chOff x="3272107" y="3186684"/>
                <a:chExt cx="699596" cy="866031"/>
              </a:xfrm>
            </p:grpSpPr>
            <p:pic>
              <p:nvPicPr>
                <p:cNvPr id="83" name="Google Shape;2232;g331808b2882_0_3053">
                  <a:extLst>
                    <a:ext uri="{FF2B5EF4-FFF2-40B4-BE49-F238E27FC236}">
                      <a16:creationId xmlns:a16="http://schemas.microsoft.com/office/drawing/2014/main" id="{7E3B554D-2A4E-DA78-DC83-EC798128AADA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4" name="Google Shape;2232;g331808b2882_0_3053">
                  <a:extLst>
                    <a:ext uri="{FF2B5EF4-FFF2-40B4-BE49-F238E27FC236}">
                      <a16:creationId xmlns:a16="http://schemas.microsoft.com/office/drawing/2014/main" id="{20C509E4-FFE3-DA7C-E062-4901A5315C62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609FBCA8-53C5-14F0-3B30-3AD19F16B22B}"/>
                  </a:ext>
                </a:extLst>
              </p:cNvPr>
              <p:cNvGrpSpPr/>
              <p:nvPr/>
            </p:nvGrpSpPr>
            <p:grpSpPr>
              <a:xfrm>
                <a:off x="6516255" y="3948022"/>
                <a:ext cx="699596" cy="866031"/>
                <a:chOff x="3272107" y="3186684"/>
                <a:chExt cx="699596" cy="866031"/>
              </a:xfrm>
            </p:grpSpPr>
            <p:pic>
              <p:nvPicPr>
                <p:cNvPr id="87" name="Google Shape;2232;g331808b2882_0_3053">
                  <a:extLst>
                    <a:ext uri="{FF2B5EF4-FFF2-40B4-BE49-F238E27FC236}">
                      <a16:creationId xmlns:a16="http://schemas.microsoft.com/office/drawing/2014/main" id="{ED3635B3-3CC8-EDB8-106D-0CD95ECCB78F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8" name="Google Shape;2232;g331808b2882_0_3053">
                  <a:extLst>
                    <a:ext uri="{FF2B5EF4-FFF2-40B4-BE49-F238E27FC236}">
                      <a16:creationId xmlns:a16="http://schemas.microsoft.com/office/drawing/2014/main" id="{A916D269-25CF-1126-9167-712E0834396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0A96A7E1-0E85-0ED5-651D-FEB44D795B11}"/>
                  </a:ext>
                </a:extLst>
              </p:cNvPr>
              <p:cNvGrpSpPr/>
              <p:nvPr/>
            </p:nvGrpSpPr>
            <p:grpSpPr>
              <a:xfrm>
                <a:off x="8170531" y="3935891"/>
                <a:ext cx="699596" cy="866031"/>
                <a:chOff x="3272107" y="3186684"/>
                <a:chExt cx="699596" cy="866031"/>
              </a:xfrm>
            </p:grpSpPr>
            <p:pic>
              <p:nvPicPr>
                <p:cNvPr id="90" name="Google Shape;2232;g331808b2882_0_3053">
                  <a:extLst>
                    <a:ext uri="{FF2B5EF4-FFF2-40B4-BE49-F238E27FC236}">
                      <a16:creationId xmlns:a16="http://schemas.microsoft.com/office/drawing/2014/main" id="{6E937192-B13D-2F61-4538-DF0F96623849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1" name="Google Shape;2232;g331808b2882_0_3053">
                  <a:extLst>
                    <a:ext uri="{FF2B5EF4-FFF2-40B4-BE49-F238E27FC236}">
                      <a16:creationId xmlns:a16="http://schemas.microsoft.com/office/drawing/2014/main" id="{A06F4156-205B-A8D2-98E4-0FA4EA3E526F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92" name="Google Shape;2227;g331808b2882_0_3053">
                <a:extLst>
                  <a:ext uri="{FF2B5EF4-FFF2-40B4-BE49-F238E27FC236}">
                    <a16:creationId xmlns:a16="http://schemas.microsoft.com/office/drawing/2014/main" id="{CB1F9319-9EDD-D5BC-725E-61CF76B5CC28}"/>
                  </a:ext>
                </a:extLst>
              </p:cNvPr>
              <p:cNvSpPr/>
              <p:nvPr/>
            </p:nvSpPr>
            <p:spPr>
              <a:xfrm>
                <a:off x="3053985" y="2593400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 Management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Rack 1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3" name="Google Shape;2227;g331808b2882_0_3053">
                <a:extLst>
                  <a:ext uri="{FF2B5EF4-FFF2-40B4-BE49-F238E27FC236}">
                    <a16:creationId xmlns:a16="http://schemas.microsoft.com/office/drawing/2014/main" id="{202C5746-192F-583A-6EF3-F80A6BCB1F62}"/>
                  </a:ext>
                </a:extLst>
              </p:cNvPr>
              <p:cNvSpPr/>
              <p:nvPr/>
            </p:nvSpPr>
            <p:spPr>
              <a:xfrm>
                <a:off x="3053985" y="3175019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vMotion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Rack 1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4" name="Google Shape;2227;g331808b2882_0_3053">
                <a:extLst>
                  <a:ext uri="{FF2B5EF4-FFF2-40B4-BE49-F238E27FC236}">
                    <a16:creationId xmlns:a16="http://schemas.microsoft.com/office/drawing/2014/main" id="{AEF8F7CC-E0D6-56A1-8011-450501E608EC}"/>
                  </a:ext>
                </a:extLst>
              </p:cNvPr>
              <p:cNvSpPr/>
              <p:nvPr/>
            </p:nvSpPr>
            <p:spPr>
              <a:xfrm>
                <a:off x="3053985" y="3488097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IP Storage (NFS/</a:t>
                </a: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vSAN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)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1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5" name="Google Shape;2227;g331808b2882_0_3053">
                <a:extLst>
                  <a:ext uri="{FF2B5EF4-FFF2-40B4-BE49-F238E27FC236}">
                    <a16:creationId xmlns:a16="http://schemas.microsoft.com/office/drawing/2014/main" id="{525DA12E-D2EE-4F92-B412-A14DCC9AE581}"/>
                  </a:ext>
                </a:extLst>
              </p:cNvPr>
              <p:cNvSpPr/>
              <p:nvPr/>
            </p:nvSpPr>
            <p:spPr>
              <a:xfrm>
                <a:off x="3053985" y="2878144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ESX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Management 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Rack 1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6" name="Google Shape;2227;g331808b2882_0_3053">
                <a:extLst>
                  <a:ext uri="{FF2B5EF4-FFF2-40B4-BE49-F238E27FC236}">
                    <a16:creationId xmlns:a16="http://schemas.microsoft.com/office/drawing/2014/main" id="{B21957BC-79B6-807A-D09C-AC4FEABD35D5}"/>
                  </a:ext>
                </a:extLst>
              </p:cNvPr>
              <p:cNvSpPr/>
              <p:nvPr/>
            </p:nvSpPr>
            <p:spPr>
              <a:xfrm>
                <a:off x="3053985" y="3813929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NSX Host TEP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Rack 1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C367AC7-EEA7-97FA-EBBD-33B957431658}"/>
                  </a:ext>
                </a:extLst>
              </p:cNvPr>
              <p:cNvSpPr/>
              <p:nvPr/>
            </p:nvSpPr>
            <p:spPr>
              <a:xfrm>
                <a:off x="2813792" y="1341691"/>
                <a:ext cx="1625472" cy="157550"/>
              </a:xfrm>
              <a:prstGeom prst="rect">
                <a:avLst/>
              </a:prstGeom>
              <a:noFill/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Layer 2 Adjacencies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59AFB0C-29C8-0734-C4EA-6F29AEE3FA96}"/>
                  </a:ext>
                </a:extLst>
              </p:cNvPr>
              <p:cNvSpPr/>
              <p:nvPr/>
            </p:nvSpPr>
            <p:spPr>
              <a:xfrm>
                <a:off x="4438356" y="1347790"/>
                <a:ext cx="1625472" cy="157550"/>
              </a:xfrm>
              <a:prstGeom prst="rect">
                <a:avLst/>
              </a:prstGeom>
              <a:noFill/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Layer 2 Adjacencies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44863FE-1AB6-379B-13CB-AEDE90315299}"/>
                  </a:ext>
                </a:extLst>
              </p:cNvPr>
              <p:cNvSpPr/>
              <p:nvPr/>
            </p:nvSpPr>
            <p:spPr>
              <a:xfrm>
                <a:off x="6061435" y="1341199"/>
                <a:ext cx="1625472" cy="157550"/>
              </a:xfrm>
              <a:prstGeom prst="rect">
                <a:avLst/>
              </a:prstGeom>
              <a:noFill/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Layer 2 Adjacencies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F0FF80D-E526-1022-EFF3-A79D61FDAD1D}"/>
                  </a:ext>
                </a:extLst>
              </p:cNvPr>
              <p:cNvSpPr/>
              <p:nvPr/>
            </p:nvSpPr>
            <p:spPr>
              <a:xfrm>
                <a:off x="7692770" y="1341198"/>
                <a:ext cx="1625472" cy="157550"/>
              </a:xfrm>
              <a:prstGeom prst="rect">
                <a:avLst/>
              </a:prstGeom>
              <a:noFill/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Layer 2 Adjacencies</a:t>
                </a:r>
              </a:p>
            </p:txBody>
          </p:sp>
          <p:sp>
            <p:nvSpPr>
              <p:cNvPr id="22" name="Google Shape;2227;g331808b2882_0_3053">
                <a:extLst>
                  <a:ext uri="{FF2B5EF4-FFF2-40B4-BE49-F238E27FC236}">
                    <a16:creationId xmlns:a16="http://schemas.microsoft.com/office/drawing/2014/main" id="{7AB6C9B8-7F61-2B17-2D2D-5542DC6556EE}"/>
                  </a:ext>
                </a:extLst>
              </p:cNvPr>
              <p:cNvSpPr/>
              <p:nvPr/>
            </p:nvSpPr>
            <p:spPr>
              <a:xfrm>
                <a:off x="4653895" y="2610146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 Management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Rack 2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3" name="Google Shape;2227;g331808b2882_0_3053">
                <a:extLst>
                  <a:ext uri="{FF2B5EF4-FFF2-40B4-BE49-F238E27FC236}">
                    <a16:creationId xmlns:a16="http://schemas.microsoft.com/office/drawing/2014/main" id="{42779758-99F6-9F04-CFF0-4E47B76C4C51}"/>
                  </a:ext>
                </a:extLst>
              </p:cNvPr>
              <p:cNvSpPr/>
              <p:nvPr/>
            </p:nvSpPr>
            <p:spPr>
              <a:xfrm>
                <a:off x="4653895" y="3191765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vMotion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2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4" name="Google Shape;2227;g331808b2882_0_3053">
                <a:extLst>
                  <a:ext uri="{FF2B5EF4-FFF2-40B4-BE49-F238E27FC236}">
                    <a16:creationId xmlns:a16="http://schemas.microsoft.com/office/drawing/2014/main" id="{D3D4CD77-B57E-174D-E09C-3E291F90BA4E}"/>
                  </a:ext>
                </a:extLst>
              </p:cNvPr>
              <p:cNvSpPr/>
              <p:nvPr/>
            </p:nvSpPr>
            <p:spPr>
              <a:xfrm>
                <a:off x="4653895" y="3504843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IP Storage (NFS/</a:t>
                </a: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vSAN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)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2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5" name="Google Shape;2227;g331808b2882_0_3053">
                <a:extLst>
                  <a:ext uri="{FF2B5EF4-FFF2-40B4-BE49-F238E27FC236}">
                    <a16:creationId xmlns:a16="http://schemas.microsoft.com/office/drawing/2014/main" id="{ECE773D1-B9E3-BB3D-3610-7FB66F70F234}"/>
                  </a:ext>
                </a:extLst>
              </p:cNvPr>
              <p:cNvSpPr/>
              <p:nvPr/>
            </p:nvSpPr>
            <p:spPr>
              <a:xfrm>
                <a:off x="4653895" y="2894890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ESX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Management 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2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6" name="Google Shape;2227;g331808b2882_0_3053">
                <a:extLst>
                  <a:ext uri="{FF2B5EF4-FFF2-40B4-BE49-F238E27FC236}">
                    <a16:creationId xmlns:a16="http://schemas.microsoft.com/office/drawing/2014/main" id="{869B6E0A-5569-5DCC-BB2A-216C56703EB2}"/>
                  </a:ext>
                </a:extLst>
              </p:cNvPr>
              <p:cNvSpPr/>
              <p:nvPr/>
            </p:nvSpPr>
            <p:spPr>
              <a:xfrm>
                <a:off x="4653895" y="3830675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NSX Host TEP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2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35" name="Google Shape;2227;g331808b2882_0_3053">
                <a:extLst>
                  <a:ext uri="{FF2B5EF4-FFF2-40B4-BE49-F238E27FC236}">
                    <a16:creationId xmlns:a16="http://schemas.microsoft.com/office/drawing/2014/main" id="{6480EED5-0B8A-C780-779C-3FA3B782ED45}"/>
                  </a:ext>
                </a:extLst>
              </p:cNvPr>
              <p:cNvSpPr/>
              <p:nvPr/>
            </p:nvSpPr>
            <p:spPr>
              <a:xfrm>
                <a:off x="6273185" y="2610146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 Management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Rack 3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36" name="Google Shape;2227;g331808b2882_0_3053">
                <a:extLst>
                  <a:ext uri="{FF2B5EF4-FFF2-40B4-BE49-F238E27FC236}">
                    <a16:creationId xmlns:a16="http://schemas.microsoft.com/office/drawing/2014/main" id="{0BDD9AEF-0BC3-CB2D-8E02-5224BC1EE90D}"/>
                  </a:ext>
                </a:extLst>
              </p:cNvPr>
              <p:cNvSpPr/>
              <p:nvPr/>
            </p:nvSpPr>
            <p:spPr>
              <a:xfrm>
                <a:off x="6273185" y="3191765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vMotion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3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37" name="Google Shape;2227;g331808b2882_0_3053">
                <a:extLst>
                  <a:ext uri="{FF2B5EF4-FFF2-40B4-BE49-F238E27FC236}">
                    <a16:creationId xmlns:a16="http://schemas.microsoft.com/office/drawing/2014/main" id="{D3106B0B-5DCB-F62D-3222-13A348CBA8AD}"/>
                  </a:ext>
                </a:extLst>
              </p:cNvPr>
              <p:cNvSpPr/>
              <p:nvPr/>
            </p:nvSpPr>
            <p:spPr>
              <a:xfrm>
                <a:off x="6273185" y="3504843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IP Storage (NFS/</a:t>
                </a: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vSAN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)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3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38" name="Google Shape;2227;g331808b2882_0_3053">
                <a:extLst>
                  <a:ext uri="{FF2B5EF4-FFF2-40B4-BE49-F238E27FC236}">
                    <a16:creationId xmlns:a16="http://schemas.microsoft.com/office/drawing/2014/main" id="{CF385716-FB2C-C567-F138-C7C202D5C923}"/>
                  </a:ext>
                </a:extLst>
              </p:cNvPr>
              <p:cNvSpPr/>
              <p:nvPr/>
            </p:nvSpPr>
            <p:spPr>
              <a:xfrm>
                <a:off x="6273185" y="2894890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ESX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Management 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3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39" name="Google Shape;2227;g331808b2882_0_3053">
                <a:extLst>
                  <a:ext uri="{FF2B5EF4-FFF2-40B4-BE49-F238E27FC236}">
                    <a16:creationId xmlns:a16="http://schemas.microsoft.com/office/drawing/2014/main" id="{7CED1C80-5DDC-7CC9-4537-E716390C6BC7}"/>
                  </a:ext>
                </a:extLst>
              </p:cNvPr>
              <p:cNvSpPr/>
              <p:nvPr/>
            </p:nvSpPr>
            <p:spPr>
              <a:xfrm>
                <a:off x="6273185" y="3830675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NSX Host TEP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3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40" name="Google Shape;2227;g331808b2882_0_3053">
                <a:extLst>
                  <a:ext uri="{FF2B5EF4-FFF2-40B4-BE49-F238E27FC236}">
                    <a16:creationId xmlns:a16="http://schemas.microsoft.com/office/drawing/2014/main" id="{5F28D5FE-1DC0-286A-88C4-B7D756E543BC}"/>
                  </a:ext>
                </a:extLst>
              </p:cNvPr>
              <p:cNvSpPr/>
              <p:nvPr/>
            </p:nvSpPr>
            <p:spPr>
              <a:xfrm>
                <a:off x="7872581" y="2581279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 Management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Rack 4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41" name="Google Shape;2227;g331808b2882_0_3053">
                <a:extLst>
                  <a:ext uri="{FF2B5EF4-FFF2-40B4-BE49-F238E27FC236}">
                    <a16:creationId xmlns:a16="http://schemas.microsoft.com/office/drawing/2014/main" id="{ABFB0F6B-23FC-BFF4-F470-D8D37B0D2C02}"/>
                  </a:ext>
                </a:extLst>
              </p:cNvPr>
              <p:cNvSpPr/>
              <p:nvPr/>
            </p:nvSpPr>
            <p:spPr>
              <a:xfrm>
                <a:off x="7872581" y="3162898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vMotion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4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50" name="Google Shape;2227;g331808b2882_0_3053">
                <a:extLst>
                  <a:ext uri="{FF2B5EF4-FFF2-40B4-BE49-F238E27FC236}">
                    <a16:creationId xmlns:a16="http://schemas.microsoft.com/office/drawing/2014/main" id="{27CC1A69-3D06-03BC-F047-3A47E186D698}"/>
                  </a:ext>
                </a:extLst>
              </p:cNvPr>
              <p:cNvSpPr/>
              <p:nvPr/>
            </p:nvSpPr>
            <p:spPr>
              <a:xfrm>
                <a:off x="7872581" y="3475976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IP Storage (NFS/</a:t>
                </a: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vSAN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)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4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51" name="Google Shape;2227;g331808b2882_0_3053">
                <a:extLst>
                  <a:ext uri="{FF2B5EF4-FFF2-40B4-BE49-F238E27FC236}">
                    <a16:creationId xmlns:a16="http://schemas.microsoft.com/office/drawing/2014/main" id="{9AED4711-CE58-56CE-1E29-303FB10C3C4A}"/>
                  </a:ext>
                </a:extLst>
              </p:cNvPr>
              <p:cNvSpPr/>
              <p:nvPr/>
            </p:nvSpPr>
            <p:spPr>
              <a:xfrm>
                <a:off x="7872581" y="2866023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ESX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Management 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4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52" name="Google Shape;2227;g331808b2882_0_3053">
                <a:extLst>
                  <a:ext uri="{FF2B5EF4-FFF2-40B4-BE49-F238E27FC236}">
                    <a16:creationId xmlns:a16="http://schemas.microsoft.com/office/drawing/2014/main" id="{48C1DFE2-552D-73BE-D819-5E7A7E0326C4}"/>
                  </a:ext>
                </a:extLst>
              </p:cNvPr>
              <p:cNvSpPr/>
              <p:nvPr/>
            </p:nvSpPr>
            <p:spPr>
              <a:xfrm>
                <a:off x="7872581" y="3801808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NSX Host TEP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4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A8125CF9-BC75-FFD1-59A5-6572AA8ADB3E}"/>
                </a:ext>
              </a:extLst>
            </p:cNvPr>
            <p:cNvSpPr/>
            <p:nvPr/>
          </p:nvSpPr>
          <p:spPr>
            <a:xfrm>
              <a:off x="2468338" y="784993"/>
              <a:ext cx="7184572" cy="44645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Title 54">
            <a:extLst>
              <a:ext uri="{FF2B5EF4-FFF2-40B4-BE49-F238E27FC236}">
                <a16:creationId xmlns:a16="http://schemas.microsoft.com/office/drawing/2014/main" id="{0B96E729-576A-DD4C-EDD1-770A2E28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 3 Multi-Rack Cluster Model v1.0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18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7607BF-C774-CE54-1D8A-30A8E9B6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VCF Edge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3E4B79A-A876-D18D-A799-A1CBB248A8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7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02F4FB-77E0-028F-3612-4C98B23D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BE ADDED</a:t>
            </a:r>
          </a:p>
        </p:txBody>
      </p:sp>
    </p:spTree>
    <p:extLst>
      <p:ext uri="{BB962C8B-B14F-4D97-AF65-F5344CB8AC3E}">
        <p14:creationId xmlns:p14="http://schemas.microsoft.com/office/powerpoint/2010/main" val="55490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71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Distributed Switch Models</a:t>
            </a:r>
            <a:endParaRPr/>
          </a:p>
        </p:txBody>
      </p:sp>
      <p:sp>
        <p:nvSpPr>
          <p:cNvPr id="1998" name="Google Shape;1998;p7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72"/>
          <p:cNvSpPr/>
          <p:nvPr/>
        </p:nvSpPr>
        <p:spPr>
          <a:xfrm>
            <a:off x="9010813" y="1669365"/>
            <a:ext cx="1725611" cy="43423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Host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72"/>
          <p:cNvSpPr/>
          <p:nvPr/>
        </p:nvSpPr>
        <p:spPr>
          <a:xfrm>
            <a:off x="8871627" y="1101147"/>
            <a:ext cx="2538919" cy="500782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and Workload Separation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Switch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72"/>
          <p:cNvSpPr/>
          <p:nvPr/>
        </p:nvSpPr>
        <p:spPr>
          <a:xfrm>
            <a:off x="6054290" y="1101147"/>
            <a:ext cx="2538919" cy="500782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Separation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Switch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72"/>
          <p:cNvSpPr/>
          <p:nvPr/>
        </p:nvSpPr>
        <p:spPr>
          <a:xfrm>
            <a:off x="6193476" y="1669365"/>
            <a:ext cx="1725611" cy="43423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Host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72"/>
          <p:cNvSpPr/>
          <p:nvPr/>
        </p:nvSpPr>
        <p:spPr>
          <a:xfrm>
            <a:off x="3197600" y="1101146"/>
            <a:ext cx="2538919" cy="500782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Separation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Switch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72"/>
          <p:cNvSpPr/>
          <p:nvPr/>
        </p:nvSpPr>
        <p:spPr>
          <a:xfrm>
            <a:off x="3336786" y="1669365"/>
            <a:ext cx="1725611" cy="43423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Host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72"/>
          <p:cNvSpPr/>
          <p:nvPr/>
        </p:nvSpPr>
        <p:spPr>
          <a:xfrm>
            <a:off x="340910" y="1101146"/>
            <a:ext cx="2538919" cy="500782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Switch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72"/>
          <p:cNvSpPr/>
          <p:nvPr/>
        </p:nvSpPr>
        <p:spPr>
          <a:xfrm>
            <a:off x="480096" y="1669364"/>
            <a:ext cx="1725611" cy="43423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Host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7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Distributed Switch Models v1.1</a:t>
            </a:r>
            <a:endParaRPr sz="2400" dirty="0"/>
          </a:p>
        </p:txBody>
      </p:sp>
      <p:sp>
        <p:nvSpPr>
          <p:cNvPr id="2004" name="Google Shape;2004;p72"/>
          <p:cNvSpPr/>
          <p:nvPr/>
        </p:nvSpPr>
        <p:spPr>
          <a:xfrm>
            <a:off x="612557" y="2074076"/>
            <a:ext cx="985149" cy="29387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72"/>
          <p:cNvSpPr/>
          <p:nvPr/>
        </p:nvSpPr>
        <p:spPr>
          <a:xfrm>
            <a:off x="1597707" y="2252240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p72"/>
          <p:cNvSpPr/>
          <p:nvPr/>
        </p:nvSpPr>
        <p:spPr>
          <a:xfrm>
            <a:off x="726393" y="2252240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72"/>
          <p:cNvSpPr/>
          <p:nvPr/>
        </p:nvSpPr>
        <p:spPr>
          <a:xfrm>
            <a:off x="726393" y="2794562"/>
            <a:ext cx="726007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72"/>
          <p:cNvSpPr/>
          <p:nvPr/>
        </p:nvSpPr>
        <p:spPr>
          <a:xfrm>
            <a:off x="726394" y="3336884"/>
            <a:ext cx="726006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vMotion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72"/>
          <p:cNvSpPr/>
          <p:nvPr/>
        </p:nvSpPr>
        <p:spPr>
          <a:xfrm>
            <a:off x="726394" y="3875996"/>
            <a:ext cx="726006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0" name="Google Shape;2010;p72"/>
          <p:cNvSpPr/>
          <p:nvPr/>
        </p:nvSpPr>
        <p:spPr>
          <a:xfrm>
            <a:off x="726394" y="4421070"/>
            <a:ext cx="726006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Networking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72"/>
          <p:cNvSpPr/>
          <p:nvPr/>
        </p:nvSpPr>
        <p:spPr>
          <a:xfrm>
            <a:off x="3469247" y="2074076"/>
            <a:ext cx="985149" cy="23469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p72"/>
          <p:cNvSpPr/>
          <p:nvPr/>
        </p:nvSpPr>
        <p:spPr>
          <a:xfrm>
            <a:off x="4454397" y="2252240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p72"/>
          <p:cNvSpPr/>
          <p:nvPr/>
        </p:nvSpPr>
        <p:spPr>
          <a:xfrm>
            <a:off x="3598816" y="2794562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p72"/>
          <p:cNvSpPr/>
          <p:nvPr/>
        </p:nvSpPr>
        <p:spPr>
          <a:xfrm>
            <a:off x="3598816" y="3336884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vMotion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72"/>
          <p:cNvSpPr/>
          <p:nvPr/>
        </p:nvSpPr>
        <p:spPr>
          <a:xfrm>
            <a:off x="3598816" y="3875996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Networking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72"/>
          <p:cNvSpPr/>
          <p:nvPr/>
        </p:nvSpPr>
        <p:spPr>
          <a:xfrm>
            <a:off x="3469246" y="4548469"/>
            <a:ext cx="985149" cy="9398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p72"/>
          <p:cNvSpPr/>
          <p:nvPr/>
        </p:nvSpPr>
        <p:spPr>
          <a:xfrm>
            <a:off x="3598816" y="4807410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72"/>
          <p:cNvSpPr/>
          <p:nvPr/>
        </p:nvSpPr>
        <p:spPr>
          <a:xfrm>
            <a:off x="4454396" y="4636974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72"/>
          <p:cNvSpPr/>
          <p:nvPr/>
        </p:nvSpPr>
        <p:spPr>
          <a:xfrm>
            <a:off x="6325937" y="2074076"/>
            <a:ext cx="985149" cy="23469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72"/>
          <p:cNvSpPr/>
          <p:nvPr/>
        </p:nvSpPr>
        <p:spPr>
          <a:xfrm>
            <a:off x="7311087" y="2252240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72"/>
          <p:cNvSpPr/>
          <p:nvPr/>
        </p:nvSpPr>
        <p:spPr>
          <a:xfrm>
            <a:off x="6325936" y="4548469"/>
            <a:ext cx="985149" cy="9398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72"/>
          <p:cNvSpPr/>
          <p:nvPr/>
        </p:nvSpPr>
        <p:spPr>
          <a:xfrm>
            <a:off x="6445870" y="4807410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Networking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72"/>
          <p:cNvSpPr/>
          <p:nvPr/>
        </p:nvSpPr>
        <p:spPr>
          <a:xfrm>
            <a:off x="7311086" y="4636974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72"/>
          <p:cNvSpPr/>
          <p:nvPr/>
        </p:nvSpPr>
        <p:spPr>
          <a:xfrm>
            <a:off x="9143274" y="2074076"/>
            <a:ext cx="985149" cy="180192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72"/>
          <p:cNvSpPr/>
          <p:nvPr/>
        </p:nvSpPr>
        <p:spPr>
          <a:xfrm>
            <a:off x="10128424" y="2252240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72"/>
          <p:cNvSpPr/>
          <p:nvPr/>
        </p:nvSpPr>
        <p:spPr>
          <a:xfrm>
            <a:off x="9143274" y="3965662"/>
            <a:ext cx="985149" cy="9398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72"/>
          <p:cNvSpPr/>
          <p:nvPr/>
        </p:nvSpPr>
        <p:spPr>
          <a:xfrm>
            <a:off x="9276261" y="4224603"/>
            <a:ext cx="726007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72"/>
          <p:cNvSpPr/>
          <p:nvPr/>
        </p:nvSpPr>
        <p:spPr>
          <a:xfrm>
            <a:off x="10128424" y="4054167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Google Shape;2039;p72"/>
          <p:cNvSpPr/>
          <p:nvPr/>
        </p:nvSpPr>
        <p:spPr>
          <a:xfrm>
            <a:off x="9143274" y="4994019"/>
            <a:ext cx="985149" cy="9398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72"/>
          <p:cNvSpPr/>
          <p:nvPr/>
        </p:nvSpPr>
        <p:spPr>
          <a:xfrm>
            <a:off x="9279002" y="5254482"/>
            <a:ext cx="723266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Networking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72"/>
          <p:cNvSpPr/>
          <p:nvPr/>
        </p:nvSpPr>
        <p:spPr>
          <a:xfrm>
            <a:off x="10128424" y="5082524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0" name="Google Shape;2040;p72"/>
          <p:cNvGrpSpPr/>
          <p:nvPr/>
        </p:nvGrpSpPr>
        <p:grpSpPr>
          <a:xfrm>
            <a:off x="2101675" y="2194570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041" name="Google Shape;2041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42" name="Google Shape;2042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43" name="Google Shape;2043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44" name="Google Shape;2044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45" name="Google Shape;2045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46" name="Google Shape;2046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47" name="Google Shape;2047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48" name="Google Shape;2048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049" name="Google Shape;2049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50" name="Google Shape;2050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51" name="Google Shape;2051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52" name="Google Shape;2052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53" name="Google Shape;2053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54" name="Google Shape;2054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055" name="Google Shape;2055;p72"/>
          <p:cNvGrpSpPr/>
          <p:nvPr/>
        </p:nvGrpSpPr>
        <p:grpSpPr>
          <a:xfrm>
            <a:off x="4958364" y="2207852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056" name="Google Shape;2056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57" name="Google Shape;2057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58" name="Google Shape;2058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59" name="Google Shape;2059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60" name="Google Shape;2060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61" name="Google Shape;2061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62" name="Google Shape;2062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63" name="Google Shape;2063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064" name="Google Shape;2064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65" name="Google Shape;2065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66" name="Google Shape;2066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67" name="Google Shape;2067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68" name="Google Shape;2068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69" name="Google Shape;2069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070" name="Google Shape;2070;p72"/>
          <p:cNvGrpSpPr/>
          <p:nvPr/>
        </p:nvGrpSpPr>
        <p:grpSpPr>
          <a:xfrm>
            <a:off x="7819270" y="2207853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071" name="Google Shape;2071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72" name="Google Shape;2072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73" name="Google Shape;2073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74" name="Google Shape;2074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75" name="Google Shape;2075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76" name="Google Shape;2076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77" name="Google Shape;2077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78" name="Google Shape;2078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079" name="Google Shape;2079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80" name="Google Shape;2080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81" name="Google Shape;2081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82" name="Google Shape;2082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83" name="Google Shape;2083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84" name="Google Shape;2084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085" name="Google Shape;2085;p72"/>
          <p:cNvGrpSpPr/>
          <p:nvPr/>
        </p:nvGrpSpPr>
        <p:grpSpPr>
          <a:xfrm>
            <a:off x="10632392" y="2212005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086" name="Google Shape;2086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87" name="Google Shape;2087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88" name="Google Shape;2088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89" name="Google Shape;2089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90" name="Google Shape;2090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91" name="Google Shape;2091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92" name="Google Shape;2092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93" name="Google Shape;2093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094" name="Google Shape;2094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95" name="Google Shape;2095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96" name="Google Shape;2096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97" name="Google Shape;2097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98" name="Google Shape;2098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99" name="Google Shape;2099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100" name="Google Shape;2100;p72"/>
          <p:cNvGrpSpPr/>
          <p:nvPr/>
        </p:nvGrpSpPr>
        <p:grpSpPr>
          <a:xfrm>
            <a:off x="4962579" y="4596739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101" name="Google Shape;2101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02" name="Google Shape;2102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103" name="Google Shape;2103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04" name="Google Shape;2104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05" name="Google Shape;2105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06" name="Google Shape;2106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07" name="Google Shape;2107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08" name="Google Shape;2108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109" name="Google Shape;2109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10" name="Google Shape;2110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11" name="Google Shape;2111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12" name="Google Shape;2112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13" name="Google Shape;2113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14" name="Google Shape;2114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115" name="Google Shape;2115;p72"/>
          <p:cNvGrpSpPr/>
          <p:nvPr/>
        </p:nvGrpSpPr>
        <p:grpSpPr>
          <a:xfrm>
            <a:off x="7815053" y="4596739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116" name="Google Shape;2116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17" name="Google Shape;2117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118" name="Google Shape;2118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19" name="Google Shape;2119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20" name="Google Shape;2120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21" name="Google Shape;2121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22" name="Google Shape;2122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23" name="Google Shape;2123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124" name="Google Shape;2124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25" name="Google Shape;2125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26" name="Google Shape;2126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27" name="Google Shape;2127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28" name="Google Shape;2128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29" name="Google Shape;2129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130" name="Google Shape;2130;p72"/>
          <p:cNvGrpSpPr/>
          <p:nvPr/>
        </p:nvGrpSpPr>
        <p:grpSpPr>
          <a:xfrm>
            <a:off x="10636606" y="3978264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131" name="Google Shape;2131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32" name="Google Shape;2132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133" name="Google Shape;2133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34" name="Google Shape;2134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35" name="Google Shape;2135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36" name="Google Shape;2136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37" name="Google Shape;2137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38" name="Google Shape;2138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139" name="Google Shape;2139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40" name="Google Shape;2140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41" name="Google Shape;2141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42" name="Google Shape;2142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43" name="Google Shape;2143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44" name="Google Shape;2144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145" name="Google Shape;2145;p72"/>
          <p:cNvGrpSpPr/>
          <p:nvPr/>
        </p:nvGrpSpPr>
        <p:grpSpPr>
          <a:xfrm>
            <a:off x="10636606" y="5022040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146" name="Google Shape;2146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47" name="Google Shape;2147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148" name="Google Shape;2148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49" name="Google Shape;2149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50" name="Google Shape;2150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51" name="Google Shape;2151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52" name="Google Shape;2152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53" name="Google Shape;2153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154" name="Google Shape;2154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55" name="Google Shape;2155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56" name="Google Shape;2156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57" name="Google Shape;2157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58" name="Google Shape;2158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59" name="Google Shape;2159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sp>
        <p:nvSpPr>
          <p:cNvPr id="2160" name="Google Shape;2160;p72"/>
          <p:cNvSpPr/>
          <p:nvPr/>
        </p:nvSpPr>
        <p:spPr>
          <a:xfrm>
            <a:off x="3598816" y="2249488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1" name="Google Shape;2161;p72"/>
          <p:cNvSpPr/>
          <p:nvPr/>
        </p:nvSpPr>
        <p:spPr>
          <a:xfrm>
            <a:off x="6445870" y="2794562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72"/>
          <p:cNvSpPr/>
          <p:nvPr/>
        </p:nvSpPr>
        <p:spPr>
          <a:xfrm>
            <a:off x="6445870" y="3336884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vMotion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72"/>
          <p:cNvSpPr/>
          <p:nvPr/>
        </p:nvSpPr>
        <p:spPr>
          <a:xfrm>
            <a:off x="6445870" y="3875996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72"/>
          <p:cNvSpPr/>
          <p:nvPr/>
        </p:nvSpPr>
        <p:spPr>
          <a:xfrm>
            <a:off x="6445870" y="2249488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5" name="Google Shape;2165;p72"/>
          <p:cNvSpPr/>
          <p:nvPr/>
        </p:nvSpPr>
        <p:spPr>
          <a:xfrm>
            <a:off x="9276261" y="2794562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6" name="Google Shape;2166;p72"/>
          <p:cNvSpPr/>
          <p:nvPr/>
        </p:nvSpPr>
        <p:spPr>
          <a:xfrm>
            <a:off x="9276261" y="3336884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vMotion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72"/>
          <p:cNvSpPr/>
          <p:nvPr/>
        </p:nvSpPr>
        <p:spPr>
          <a:xfrm>
            <a:off x="9276261" y="2249488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97B9A305-9F46-C3E4-AABB-B6FA2C926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422AC95-26D2-1D1B-D02D-C4DE9BCCA2C0}"/>
              </a:ext>
            </a:extLst>
          </p:cNvPr>
          <p:cNvSpPr/>
          <p:nvPr/>
        </p:nvSpPr>
        <p:spPr>
          <a:xfrm>
            <a:off x="2743948" y="1347815"/>
            <a:ext cx="6466902" cy="3111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88F2BBFA-1313-AAA8-5198-049560BB3509}"/>
              </a:ext>
            </a:extLst>
          </p:cNvPr>
          <p:cNvSpPr/>
          <p:nvPr/>
        </p:nvSpPr>
        <p:spPr>
          <a:xfrm>
            <a:off x="2844142" y="2291619"/>
            <a:ext cx="6266516" cy="1992705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latin typeface="Metropolis" pitchFamily="2" charset="77"/>
              </a:rPr>
              <a:t>ESX Host</a:t>
            </a:r>
            <a:endParaRPr sz="1050" dirty="0">
              <a:latin typeface="Metropolis" pitchFamily="2" charset="77"/>
            </a:endParaRPr>
          </a:p>
        </p:txBody>
      </p:sp>
      <p:sp>
        <p:nvSpPr>
          <p:cNvPr id="9" name="Google Shape;1376;p4">
            <a:extLst>
              <a:ext uri="{FF2B5EF4-FFF2-40B4-BE49-F238E27FC236}">
                <a16:creationId xmlns:a16="http://schemas.microsoft.com/office/drawing/2014/main" id="{4B0485A5-0345-CC36-DF1C-180D1FEAC545}"/>
              </a:ext>
            </a:extLst>
          </p:cNvPr>
          <p:cNvSpPr/>
          <p:nvPr/>
        </p:nvSpPr>
        <p:spPr>
          <a:xfrm>
            <a:off x="5181747" y="2506920"/>
            <a:ext cx="1599941" cy="4572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vDS</a:t>
            </a: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 Uplinks</a:t>
            </a:r>
            <a:endParaRPr dirty="0">
              <a:latin typeface="Metropolis" pitchFamily="2" charset="77"/>
            </a:endParaRPr>
          </a:p>
        </p:txBody>
      </p:sp>
      <p:sp>
        <p:nvSpPr>
          <p:cNvPr id="2399" name="Google Shape;2399;p20">
            <a:extLst>
              <a:ext uri="{FF2B5EF4-FFF2-40B4-BE49-F238E27FC236}">
                <a16:creationId xmlns:a16="http://schemas.microsoft.com/office/drawing/2014/main" id="{EC2ED891-565E-9E68-FEB8-BAAF0BF5C870}"/>
              </a:ext>
            </a:extLst>
          </p:cNvPr>
          <p:cNvSpPr/>
          <p:nvPr/>
        </p:nvSpPr>
        <p:spPr>
          <a:xfrm>
            <a:off x="3070189" y="2964120"/>
            <a:ext cx="5823059" cy="10325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vDS01</a:t>
            </a:r>
            <a:endParaRPr sz="1000" dirty="0">
              <a:solidFill>
                <a:schemeClr val="tx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02" name="Google Shape;2402;p20">
            <a:extLst>
              <a:ext uri="{FF2B5EF4-FFF2-40B4-BE49-F238E27FC236}">
                <a16:creationId xmlns:a16="http://schemas.microsoft.com/office/drawing/2014/main" id="{BC57F439-54D1-FED0-F9E8-C0F33B93BB35}"/>
              </a:ext>
            </a:extLst>
          </p:cNvPr>
          <p:cNvSpPr/>
          <p:nvPr/>
        </p:nvSpPr>
        <p:spPr>
          <a:xfrm>
            <a:off x="3259606" y="336962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221E20"/>
                </a:solidFill>
                <a:latin typeface="Metropolis" pitchFamily="2" charset="77"/>
              </a:rPr>
              <a:t>VM Management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403" name="Google Shape;2403;p20">
            <a:extLst>
              <a:ext uri="{FF2B5EF4-FFF2-40B4-BE49-F238E27FC236}">
                <a16:creationId xmlns:a16="http://schemas.microsoft.com/office/drawing/2014/main" id="{23B8C4FC-CC58-E45C-AB36-2BE7A6A1D3E2}"/>
              </a:ext>
            </a:extLst>
          </p:cNvPr>
          <p:cNvSpPr/>
          <p:nvPr/>
        </p:nvSpPr>
        <p:spPr>
          <a:xfrm>
            <a:off x="4396756" y="336962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221E20"/>
                </a:solidFill>
                <a:latin typeface="Metropolis" pitchFamily="2" charset="77"/>
              </a:rPr>
              <a:t>ESX Management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405" name="Google Shape;2405;p20">
            <a:extLst>
              <a:ext uri="{FF2B5EF4-FFF2-40B4-BE49-F238E27FC236}">
                <a16:creationId xmlns:a16="http://schemas.microsoft.com/office/drawing/2014/main" id="{A92E4B6A-1ECD-2247-2D8E-CD5468754D43}"/>
              </a:ext>
            </a:extLst>
          </p:cNvPr>
          <p:cNvSpPr/>
          <p:nvPr/>
        </p:nvSpPr>
        <p:spPr>
          <a:xfrm>
            <a:off x="5533906" y="336962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 err="1">
                <a:latin typeface="Metropolis" pitchFamily="2" charset="77"/>
              </a:rPr>
              <a:t>vMotion</a:t>
            </a:r>
            <a:endParaRPr lang="en-GB" sz="900" dirty="0">
              <a:latin typeface="Metropolis" pitchFamily="2" charset="77"/>
            </a:endParaRPr>
          </a:p>
        </p:txBody>
      </p:sp>
      <p:sp>
        <p:nvSpPr>
          <p:cNvPr id="4" name="Google Shape;1379;p4">
            <a:extLst>
              <a:ext uri="{FF2B5EF4-FFF2-40B4-BE49-F238E27FC236}">
                <a16:creationId xmlns:a16="http://schemas.microsoft.com/office/drawing/2014/main" id="{036D5E0A-596D-0680-3CFC-919FFDF163B9}"/>
              </a:ext>
            </a:extLst>
          </p:cNvPr>
          <p:cNvSpPr/>
          <p:nvPr/>
        </p:nvSpPr>
        <p:spPr>
          <a:xfrm>
            <a:off x="6680460" y="3367030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Metropolis" pitchFamily="2" charset="77"/>
              </a:rPr>
              <a:t>Storage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18" name="Google Shape;1373;p4">
            <a:extLst>
              <a:ext uri="{FF2B5EF4-FFF2-40B4-BE49-F238E27FC236}">
                <a16:creationId xmlns:a16="http://schemas.microsoft.com/office/drawing/2014/main" id="{2E0D1E97-7828-6DDE-B8D4-D2F98E7FD57F}"/>
              </a:ext>
            </a:extLst>
          </p:cNvPr>
          <p:cNvSpPr/>
          <p:nvPr/>
        </p:nvSpPr>
        <p:spPr>
          <a:xfrm>
            <a:off x="7817610" y="3368234"/>
            <a:ext cx="898957" cy="404261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Metropolis" pitchFamily="2" charset="77"/>
              </a:rPr>
              <a:t>Virtual Networking</a:t>
            </a:r>
            <a:endParaRPr lang="en-US" sz="900" dirty="0">
              <a:latin typeface="Metropolis" pitchFamily="2" charset="77"/>
            </a:endParaRPr>
          </a:p>
        </p:txBody>
      </p:sp>
      <p:cxnSp>
        <p:nvCxnSpPr>
          <p:cNvPr id="34" name="Google Shape;1421;p5">
            <a:extLst>
              <a:ext uri="{FF2B5EF4-FFF2-40B4-BE49-F238E27FC236}">
                <a16:creationId xmlns:a16="http://schemas.microsoft.com/office/drawing/2014/main" id="{D9C42A7B-BBDC-D509-978C-2D151A557041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5634264" y="1939925"/>
            <a:ext cx="1" cy="56699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36" name="Google Shape;1421;p5">
            <a:extLst>
              <a:ext uri="{FF2B5EF4-FFF2-40B4-BE49-F238E27FC236}">
                <a16:creationId xmlns:a16="http://schemas.microsoft.com/office/drawing/2014/main" id="{50AE4189-9F6C-BE03-0404-9845E2B925E6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6355588" y="1936521"/>
            <a:ext cx="0" cy="57039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3" name="Title 12">
            <a:extLst>
              <a:ext uri="{FF2B5EF4-FFF2-40B4-BE49-F238E27FC236}">
                <a16:creationId xmlns:a16="http://schemas.microsoft.com/office/drawing/2014/main" id="{2ABF5CEC-3184-1FE2-8620-EAEB7D0C8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Single Distributed Switch Model v1.1</a:t>
            </a:r>
            <a:endParaRPr lang="en-US" sz="24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41A977B-EA7F-4D02-12A3-DC9EFD2A2C27}"/>
              </a:ext>
            </a:extLst>
          </p:cNvPr>
          <p:cNvGrpSpPr/>
          <p:nvPr/>
        </p:nvGrpSpPr>
        <p:grpSpPr>
          <a:xfrm>
            <a:off x="6103588" y="1396521"/>
            <a:ext cx="503999" cy="540000"/>
            <a:chOff x="9321542" y="1289797"/>
            <a:chExt cx="348692" cy="350167"/>
          </a:xfrm>
        </p:grpSpPr>
        <p:sp>
          <p:nvSpPr>
            <p:cNvPr id="32" name="Google Shape;2074;p72">
              <a:extLst>
                <a:ext uri="{FF2B5EF4-FFF2-40B4-BE49-F238E27FC236}">
                  <a16:creationId xmlns:a16="http://schemas.microsoft.com/office/drawing/2014/main" id="{B9BA62A2-963B-ABBB-B970-C143E0049B67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" name="Google Shape;2075;p72">
              <a:extLst>
                <a:ext uri="{FF2B5EF4-FFF2-40B4-BE49-F238E27FC236}">
                  <a16:creationId xmlns:a16="http://schemas.microsoft.com/office/drawing/2014/main" id="{E165E928-7385-375A-B8A7-DACB108D9D1C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5" name="Google Shape;2076;p72">
              <a:extLst>
                <a:ext uri="{FF2B5EF4-FFF2-40B4-BE49-F238E27FC236}">
                  <a16:creationId xmlns:a16="http://schemas.microsoft.com/office/drawing/2014/main" id="{40098115-CCD3-5F9D-79D1-8041B8B70F7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" name="Google Shape;2077;p72">
              <a:extLst>
                <a:ext uri="{FF2B5EF4-FFF2-40B4-BE49-F238E27FC236}">
                  <a16:creationId xmlns:a16="http://schemas.microsoft.com/office/drawing/2014/main" id="{BD8D408F-3FD4-61BD-887B-1591C2139F45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8" name="Google Shape;2078;p72">
              <a:extLst>
                <a:ext uri="{FF2B5EF4-FFF2-40B4-BE49-F238E27FC236}">
                  <a16:creationId xmlns:a16="http://schemas.microsoft.com/office/drawing/2014/main" id="{0F953127-8B50-8B1B-FB89-2950239C8B2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24177E3-3B31-1C69-09D0-0606541CFB4D}"/>
              </a:ext>
            </a:extLst>
          </p:cNvPr>
          <p:cNvGrpSpPr/>
          <p:nvPr/>
        </p:nvGrpSpPr>
        <p:grpSpPr>
          <a:xfrm>
            <a:off x="5382265" y="1399925"/>
            <a:ext cx="503999" cy="540000"/>
            <a:chOff x="9321542" y="1289797"/>
            <a:chExt cx="348692" cy="350167"/>
          </a:xfrm>
        </p:grpSpPr>
        <p:sp>
          <p:nvSpPr>
            <p:cNvPr id="45" name="Google Shape;2074;p72">
              <a:extLst>
                <a:ext uri="{FF2B5EF4-FFF2-40B4-BE49-F238E27FC236}">
                  <a16:creationId xmlns:a16="http://schemas.microsoft.com/office/drawing/2014/main" id="{5D0E8CE9-662A-2F82-ECA4-3B7D32B10A10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" name="Google Shape;2075;p72">
              <a:extLst>
                <a:ext uri="{FF2B5EF4-FFF2-40B4-BE49-F238E27FC236}">
                  <a16:creationId xmlns:a16="http://schemas.microsoft.com/office/drawing/2014/main" id="{581148F1-A3BF-97D1-8F4B-6713F087B340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7" name="Google Shape;2076;p72">
              <a:extLst>
                <a:ext uri="{FF2B5EF4-FFF2-40B4-BE49-F238E27FC236}">
                  <a16:creationId xmlns:a16="http://schemas.microsoft.com/office/drawing/2014/main" id="{AEA43936-5A5F-342B-BC69-C89A390BE50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8" name="Google Shape;2077;p72">
              <a:extLst>
                <a:ext uri="{FF2B5EF4-FFF2-40B4-BE49-F238E27FC236}">
                  <a16:creationId xmlns:a16="http://schemas.microsoft.com/office/drawing/2014/main" id="{F2349B49-9EFA-D035-A4D3-651D78B81217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9" name="Google Shape;2078;p72">
              <a:extLst>
                <a:ext uri="{FF2B5EF4-FFF2-40B4-BE49-F238E27FC236}">
                  <a16:creationId xmlns:a16="http://schemas.microsoft.com/office/drawing/2014/main" id="{AE4370C2-53A0-30B9-F5F2-D095EEC7B45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06705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10F8258B-AEE6-0018-21D9-ACC936028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C717732-0876-C628-C930-3B533F07AD2C}"/>
              </a:ext>
            </a:extLst>
          </p:cNvPr>
          <p:cNvSpPr/>
          <p:nvPr/>
        </p:nvSpPr>
        <p:spPr>
          <a:xfrm>
            <a:off x="1133856" y="1597152"/>
            <a:ext cx="10351008" cy="4096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tropolis" pitchFamily="2" charset="77"/>
            </a:endParaRPr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01D1B29E-EE4E-8DF1-3159-A8A84636E7E5}"/>
              </a:ext>
            </a:extLst>
          </p:cNvPr>
          <p:cNvSpPr/>
          <p:nvPr/>
        </p:nvSpPr>
        <p:spPr>
          <a:xfrm>
            <a:off x="1302808" y="3163390"/>
            <a:ext cx="10038806" cy="2416687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Metropolis" pitchFamily="2" charset="77"/>
            </a:endParaRPr>
          </a:p>
        </p:txBody>
      </p:sp>
      <p:sp>
        <p:nvSpPr>
          <p:cNvPr id="2399" name="Google Shape;2399;p20">
            <a:extLst>
              <a:ext uri="{FF2B5EF4-FFF2-40B4-BE49-F238E27FC236}">
                <a16:creationId xmlns:a16="http://schemas.microsoft.com/office/drawing/2014/main" id="{00908897-359A-1F88-44FB-BD63A0D5AFFE}"/>
              </a:ext>
            </a:extLst>
          </p:cNvPr>
          <p:cNvSpPr/>
          <p:nvPr/>
        </p:nvSpPr>
        <p:spPr>
          <a:xfrm>
            <a:off x="1474688" y="3863921"/>
            <a:ext cx="4786277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vDS01 with NSX</a:t>
            </a:r>
            <a:endParaRPr sz="1000" dirty="0">
              <a:solidFill>
                <a:schemeClr val="tx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02" name="Google Shape;2402;p20">
            <a:extLst>
              <a:ext uri="{FF2B5EF4-FFF2-40B4-BE49-F238E27FC236}">
                <a16:creationId xmlns:a16="http://schemas.microsoft.com/office/drawing/2014/main" id="{A9D62097-D7D5-10E7-62B2-3F11965092FB}"/>
              </a:ext>
            </a:extLst>
          </p:cNvPr>
          <p:cNvSpPr/>
          <p:nvPr/>
        </p:nvSpPr>
        <p:spPr>
          <a:xfrm>
            <a:off x="2179930" y="4426518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VM Management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403" name="Google Shape;2403;p20">
            <a:extLst>
              <a:ext uri="{FF2B5EF4-FFF2-40B4-BE49-F238E27FC236}">
                <a16:creationId xmlns:a16="http://schemas.microsoft.com/office/drawing/2014/main" id="{867A5ECF-B3B0-84D4-E1AC-281C120A449F}"/>
              </a:ext>
            </a:extLst>
          </p:cNvPr>
          <p:cNvSpPr/>
          <p:nvPr/>
        </p:nvSpPr>
        <p:spPr>
          <a:xfrm>
            <a:off x="3384757" y="4426518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ESX Management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405" name="Google Shape;2405;p20">
            <a:extLst>
              <a:ext uri="{FF2B5EF4-FFF2-40B4-BE49-F238E27FC236}">
                <a16:creationId xmlns:a16="http://schemas.microsoft.com/office/drawing/2014/main" id="{D8AC46DE-5354-A0C6-CB1F-FA2E6EB1326E}"/>
              </a:ext>
            </a:extLst>
          </p:cNvPr>
          <p:cNvSpPr/>
          <p:nvPr/>
        </p:nvSpPr>
        <p:spPr>
          <a:xfrm>
            <a:off x="4558211" y="4429037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vMotion</a:t>
            </a:r>
            <a:endParaRPr lang="en-GB" sz="1000" dirty="0">
              <a:latin typeface="Metropolis" pitchFamily="2" charset="7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dPG</a:t>
            </a:r>
            <a:endParaRPr lang="en-GB" sz="1000" dirty="0">
              <a:latin typeface="Metropolis" pitchFamily="2" charset="77"/>
            </a:endParaRPr>
          </a:p>
        </p:txBody>
      </p:sp>
      <p:sp>
        <p:nvSpPr>
          <p:cNvPr id="25" name="Google Shape;2293;p15">
            <a:extLst>
              <a:ext uri="{FF2B5EF4-FFF2-40B4-BE49-F238E27FC236}">
                <a16:creationId xmlns:a16="http://schemas.microsoft.com/office/drawing/2014/main" id="{D33BF971-5A54-5816-F370-FF810A82FE41}"/>
              </a:ext>
            </a:extLst>
          </p:cNvPr>
          <p:cNvSpPr txBox="1"/>
          <p:nvPr/>
        </p:nvSpPr>
        <p:spPr>
          <a:xfrm>
            <a:off x="1468590" y="3321578"/>
            <a:ext cx="567427" cy="153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ESX Host</a:t>
            </a:r>
            <a:endParaRPr sz="1000" dirty="0">
              <a:solidFill>
                <a:schemeClr val="dk2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34" name="Google Shape;1421;p5">
            <a:extLst>
              <a:ext uri="{FF2B5EF4-FFF2-40B4-BE49-F238E27FC236}">
                <a16:creationId xmlns:a16="http://schemas.microsoft.com/office/drawing/2014/main" id="{365CB597-24A2-C9F9-F777-B323A0BAC0DA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3219091" y="2245031"/>
            <a:ext cx="2392705" cy="73423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6" name="Google Shape;1421;p5">
            <a:extLst>
              <a:ext uri="{FF2B5EF4-FFF2-40B4-BE49-F238E27FC236}">
                <a16:creationId xmlns:a16="http://schemas.microsoft.com/office/drawing/2014/main" id="{510EABC9-FAB6-34EA-1058-063967F692BC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4589550" y="2201202"/>
            <a:ext cx="2416131" cy="77279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9" name="Google Shape;1376;p4">
            <a:extLst>
              <a:ext uri="{FF2B5EF4-FFF2-40B4-BE49-F238E27FC236}">
                <a16:creationId xmlns:a16="http://schemas.microsoft.com/office/drawing/2014/main" id="{78A8806D-8638-D4E2-0F90-BC7815341640}"/>
              </a:ext>
            </a:extLst>
          </p:cNvPr>
          <p:cNvSpPr/>
          <p:nvPr/>
        </p:nvSpPr>
        <p:spPr>
          <a:xfrm>
            <a:off x="2764914" y="3704894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" name="Google Shape;1376;p4">
            <a:extLst>
              <a:ext uri="{FF2B5EF4-FFF2-40B4-BE49-F238E27FC236}">
                <a16:creationId xmlns:a16="http://schemas.microsoft.com/office/drawing/2014/main" id="{AFC5D6AF-79F3-A403-9547-6CAB12A5CDE4}"/>
              </a:ext>
            </a:extLst>
          </p:cNvPr>
          <p:cNvSpPr/>
          <p:nvPr/>
        </p:nvSpPr>
        <p:spPr>
          <a:xfrm>
            <a:off x="2946452" y="2979270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pNIC1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47" name="Google Shape;1376;p4">
            <a:extLst>
              <a:ext uri="{FF2B5EF4-FFF2-40B4-BE49-F238E27FC236}">
                <a16:creationId xmlns:a16="http://schemas.microsoft.com/office/drawing/2014/main" id="{33462ADE-8099-B278-8B09-0D82D095CC26}"/>
              </a:ext>
            </a:extLst>
          </p:cNvPr>
          <p:cNvSpPr/>
          <p:nvPr/>
        </p:nvSpPr>
        <p:spPr>
          <a:xfrm>
            <a:off x="4316911" y="2973996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pNIC2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57" name="Google Shape;1413;p5">
            <a:extLst>
              <a:ext uri="{FF2B5EF4-FFF2-40B4-BE49-F238E27FC236}">
                <a16:creationId xmlns:a16="http://schemas.microsoft.com/office/drawing/2014/main" id="{47306CA5-60B4-642D-EBDD-5F6C595314D2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3214393" y="3368900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" name="Google Shape;1413;p5">
            <a:extLst>
              <a:ext uri="{FF2B5EF4-FFF2-40B4-BE49-F238E27FC236}">
                <a16:creationId xmlns:a16="http://schemas.microsoft.com/office/drawing/2014/main" id="{E8AB3792-DAEC-F71F-F1A2-50160C55EF2A}"/>
              </a:ext>
            </a:extLst>
          </p:cNvPr>
          <p:cNvCxnSpPr>
            <a:cxnSpLocks/>
            <a:stCxn id="47" idx="2"/>
            <a:endCxn id="2375" idx="0"/>
          </p:cNvCxnSpPr>
          <p:nvPr/>
        </p:nvCxnSpPr>
        <p:spPr>
          <a:xfrm>
            <a:off x="4589550" y="3363626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5" name="Google Shape;1376;p4">
            <a:extLst>
              <a:ext uri="{FF2B5EF4-FFF2-40B4-BE49-F238E27FC236}">
                <a16:creationId xmlns:a16="http://schemas.microsoft.com/office/drawing/2014/main" id="{50E02723-1C55-6AAD-A356-379DC36FC33A}"/>
              </a:ext>
            </a:extLst>
          </p:cNvPr>
          <p:cNvSpPr/>
          <p:nvPr/>
        </p:nvSpPr>
        <p:spPr>
          <a:xfrm>
            <a:off x="4142659" y="3704721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380" name="TextBox 2379">
            <a:extLst>
              <a:ext uri="{FF2B5EF4-FFF2-40B4-BE49-F238E27FC236}">
                <a16:creationId xmlns:a16="http://schemas.microsoft.com/office/drawing/2014/main" id="{AEFE65B5-610F-DF5B-57AC-B3A9E5BCACC6}"/>
              </a:ext>
            </a:extLst>
          </p:cNvPr>
          <p:cNvSpPr txBox="1"/>
          <p:nvPr/>
        </p:nvSpPr>
        <p:spPr>
          <a:xfrm>
            <a:off x="4589549" y="1863381"/>
            <a:ext cx="739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Switch-A</a:t>
            </a:r>
          </a:p>
        </p:txBody>
      </p:sp>
      <p:sp>
        <p:nvSpPr>
          <p:cNvPr id="2381" name="TextBox 2380">
            <a:extLst>
              <a:ext uri="{FF2B5EF4-FFF2-40B4-BE49-F238E27FC236}">
                <a16:creationId xmlns:a16="http://schemas.microsoft.com/office/drawing/2014/main" id="{9BB1D72B-091C-64CA-634F-3E3167F9CA1A}"/>
              </a:ext>
            </a:extLst>
          </p:cNvPr>
          <p:cNvSpPr txBox="1"/>
          <p:nvPr/>
        </p:nvSpPr>
        <p:spPr>
          <a:xfrm>
            <a:off x="7136936" y="1859934"/>
            <a:ext cx="771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Switch-B</a:t>
            </a:r>
          </a:p>
        </p:txBody>
      </p:sp>
      <p:cxnSp>
        <p:nvCxnSpPr>
          <p:cNvPr id="2395" name="Google Shape;1421;p5">
            <a:extLst>
              <a:ext uri="{FF2B5EF4-FFF2-40B4-BE49-F238E27FC236}">
                <a16:creationId xmlns:a16="http://schemas.microsoft.com/office/drawing/2014/main" id="{6913C603-DD6B-2432-2857-2F002E8A6730}"/>
              </a:ext>
            </a:extLst>
          </p:cNvPr>
          <p:cNvCxnSpPr>
            <a:cxnSpLocks/>
            <a:stCxn id="9" idx="2"/>
            <a:endCxn id="2402" idx="0"/>
          </p:cNvCxnSpPr>
          <p:nvPr/>
        </p:nvCxnSpPr>
        <p:spPr>
          <a:xfrm flipH="1">
            <a:off x="2683930" y="4081892"/>
            <a:ext cx="530463" cy="344626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08" name="Google Shape;1421;p5">
            <a:extLst>
              <a:ext uri="{FF2B5EF4-FFF2-40B4-BE49-F238E27FC236}">
                <a16:creationId xmlns:a16="http://schemas.microsoft.com/office/drawing/2014/main" id="{D5B14A1E-B0CB-32A2-3767-6729D6AFEA8B}"/>
              </a:ext>
            </a:extLst>
          </p:cNvPr>
          <p:cNvCxnSpPr>
            <a:cxnSpLocks/>
            <a:stCxn id="9" idx="2"/>
            <a:endCxn id="2403" idx="0"/>
          </p:cNvCxnSpPr>
          <p:nvPr/>
        </p:nvCxnSpPr>
        <p:spPr>
          <a:xfrm>
            <a:off x="3214393" y="4081892"/>
            <a:ext cx="674364" cy="344626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3" name="Google Shape;1421;p5">
            <a:extLst>
              <a:ext uri="{FF2B5EF4-FFF2-40B4-BE49-F238E27FC236}">
                <a16:creationId xmlns:a16="http://schemas.microsoft.com/office/drawing/2014/main" id="{46EFA021-9926-915D-2F6F-9631A4B3F8C5}"/>
              </a:ext>
            </a:extLst>
          </p:cNvPr>
          <p:cNvCxnSpPr>
            <a:cxnSpLocks/>
            <a:stCxn id="2405" idx="0"/>
            <a:endCxn id="9" idx="2"/>
          </p:cNvCxnSpPr>
          <p:nvPr/>
        </p:nvCxnSpPr>
        <p:spPr>
          <a:xfrm flipH="1" flipV="1">
            <a:off x="3214393" y="4081892"/>
            <a:ext cx="1847818" cy="34714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6" name="Google Shape;1421;p5">
            <a:extLst>
              <a:ext uri="{FF2B5EF4-FFF2-40B4-BE49-F238E27FC236}">
                <a16:creationId xmlns:a16="http://schemas.microsoft.com/office/drawing/2014/main" id="{0A3B36CF-3AD4-960F-9A9F-1E42BA66396F}"/>
              </a:ext>
            </a:extLst>
          </p:cNvPr>
          <p:cNvCxnSpPr>
            <a:cxnSpLocks/>
            <a:stCxn id="2405" idx="0"/>
            <a:endCxn id="2375" idx="2"/>
          </p:cNvCxnSpPr>
          <p:nvPr/>
        </p:nvCxnSpPr>
        <p:spPr>
          <a:xfrm flipH="1" flipV="1">
            <a:off x="4592138" y="4094350"/>
            <a:ext cx="470073" cy="334687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493" name="Rounded Rectangle 2492">
            <a:extLst>
              <a:ext uri="{FF2B5EF4-FFF2-40B4-BE49-F238E27FC236}">
                <a16:creationId xmlns:a16="http://schemas.microsoft.com/office/drawing/2014/main" id="{99971E15-9536-561E-E700-96307765D903}"/>
              </a:ext>
            </a:extLst>
          </p:cNvPr>
          <p:cNvSpPr/>
          <p:nvPr/>
        </p:nvSpPr>
        <p:spPr>
          <a:xfrm>
            <a:off x="1715415" y="3854944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TEP1</a:t>
            </a:r>
            <a:endParaRPr lang="en-US" sz="1000" dirty="0">
              <a:latin typeface="Metropolis" pitchFamily="2" charset="77"/>
            </a:endParaRPr>
          </a:p>
        </p:txBody>
      </p:sp>
      <p:sp>
        <p:nvSpPr>
          <p:cNvPr id="2502" name="Rounded Rectangle 2501">
            <a:extLst>
              <a:ext uri="{FF2B5EF4-FFF2-40B4-BE49-F238E27FC236}">
                <a16:creationId xmlns:a16="http://schemas.microsoft.com/office/drawing/2014/main" id="{3125D46E-17C8-BF46-300A-682DA4FC821B}"/>
              </a:ext>
            </a:extLst>
          </p:cNvPr>
          <p:cNvSpPr/>
          <p:nvPr/>
        </p:nvSpPr>
        <p:spPr>
          <a:xfrm>
            <a:off x="5176657" y="3863921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TEP2</a:t>
            </a:r>
            <a:endParaRPr lang="en-US" sz="1000" dirty="0">
              <a:latin typeface="Metropolis" pitchFamily="2" charset="77"/>
            </a:endParaRPr>
          </a:p>
        </p:txBody>
      </p:sp>
      <p:cxnSp>
        <p:nvCxnSpPr>
          <p:cNvPr id="2503" name="Google Shape;1413;p5">
            <a:extLst>
              <a:ext uri="{FF2B5EF4-FFF2-40B4-BE49-F238E27FC236}">
                <a16:creationId xmlns:a16="http://schemas.microsoft.com/office/drawing/2014/main" id="{9FE83F5B-39A5-11A0-A22D-54BF96140F79}"/>
              </a:ext>
            </a:extLst>
          </p:cNvPr>
          <p:cNvCxnSpPr>
            <a:cxnSpLocks/>
            <a:endCxn id="2493" idx="0"/>
          </p:cNvCxnSpPr>
          <p:nvPr/>
        </p:nvCxnSpPr>
        <p:spPr>
          <a:xfrm flipH="1">
            <a:off x="2164894" y="3363626"/>
            <a:ext cx="1051848" cy="491318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05" name="Google Shape;1413;p5">
            <a:extLst>
              <a:ext uri="{FF2B5EF4-FFF2-40B4-BE49-F238E27FC236}">
                <a16:creationId xmlns:a16="http://schemas.microsoft.com/office/drawing/2014/main" id="{B8E8ACE9-CCAE-7B5C-FB7F-18F7C3532A6E}"/>
              </a:ext>
            </a:extLst>
          </p:cNvPr>
          <p:cNvCxnSpPr>
            <a:cxnSpLocks/>
            <a:stCxn id="47" idx="2"/>
            <a:endCxn id="2502" idx="0"/>
          </p:cNvCxnSpPr>
          <p:nvPr/>
        </p:nvCxnSpPr>
        <p:spPr>
          <a:xfrm>
            <a:off x="4589550" y="3363626"/>
            <a:ext cx="1036586" cy="500295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2399;p20">
            <a:extLst>
              <a:ext uri="{FF2B5EF4-FFF2-40B4-BE49-F238E27FC236}">
                <a16:creationId xmlns:a16="http://schemas.microsoft.com/office/drawing/2014/main" id="{E1331C3A-3A88-A2BA-49B0-AD3B46525BFA}"/>
              </a:ext>
            </a:extLst>
          </p:cNvPr>
          <p:cNvSpPr/>
          <p:nvPr/>
        </p:nvSpPr>
        <p:spPr>
          <a:xfrm>
            <a:off x="6613563" y="3873707"/>
            <a:ext cx="4351161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</a:rPr>
              <a:t>vDS02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1376;p4">
            <a:extLst>
              <a:ext uri="{FF2B5EF4-FFF2-40B4-BE49-F238E27FC236}">
                <a16:creationId xmlns:a16="http://schemas.microsoft.com/office/drawing/2014/main" id="{7EF9A3A2-640D-EB36-32D0-9E7A0C17461D}"/>
              </a:ext>
            </a:extLst>
          </p:cNvPr>
          <p:cNvSpPr/>
          <p:nvPr/>
        </p:nvSpPr>
        <p:spPr>
          <a:xfrm>
            <a:off x="7568958" y="3682217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7" name="Google Shape;1376;p4">
            <a:extLst>
              <a:ext uri="{FF2B5EF4-FFF2-40B4-BE49-F238E27FC236}">
                <a16:creationId xmlns:a16="http://schemas.microsoft.com/office/drawing/2014/main" id="{9B181EDC-F87F-C3A3-2241-F42DE0F062B5}"/>
              </a:ext>
            </a:extLst>
          </p:cNvPr>
          <p:cNvSpPr/>
          <p:nvPr/>
        </p:nvSpPr>
        <p:spPr>
          <a:xfrm>
            <a:off x="7750496" y="2956593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pNIC3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8" name="Google Shape;1376;p4">
            <a:extLst>
              <a:ext uri="{FF2B5EF4-FFF2-40B4-BE49-F238E27FC236}">
                <a16:creationId xmlns:a16="http://schemas.microsoft.com/office/drawing/2014/main" id="{7323366B-1EC2-98EE-928A-ADC3CA1BCBD1}"/>
              </a:ext>
            </a:extLst>
          </p:cNvPr>
          <p:cNvSpPr/>
          <p:nvPr/>
        </p:nvSpPr>
        <p:spPr>
          <a:xfrm>
            <a:off x="9120955" y="2951319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pNIC4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9" name="Google Shape;1413;p5">
            <a:extLst>
              <a:ext uri="{FF2B5EF4-FFF2-40B4-BE49-F238E27FC236}">
                <a16:creationId xmlns:a16="http://schemas.microsoft.com/office/drawing/2014/main" id="{6254A7E1-BA8F-9EAB-EA64-7768E96544F8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 flipH="1">
            <a:off x="8018437" y="3346223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" name="Google Shape;1413;p5">
            <a:extLst>
              <a:ext uri="{FF2B5EF4-FFF2-40B4-BE49-F238E27FC236}">
                <a16:creationId xmlns:a16="http://schemas.microsoft.com/office/drawing/2014/main" id="{27313C3F-1F63-EDCA-24EA-9503DBBE2F6F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9393594" y="3340949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1376;p4">
            <a:extLst>
              <a:ext uri="{FF2B5EF4-FFF2-40B4-BE49-F238E27FC236}">
                <a16:creationId xmlns:a16="http://schemas.microsoft.com/office/drawing/2014/main" id="{8664C8E1-7D6F-D409-465D-0F8797FAE3E2}"/>
              </a:ext>
            </a:extLst>
          </p:cNvPr>
          <p:cNvSpPr/>
          <p:nvPr/>
        </p:nvSpPr>
        <p:spPr>
          <a:xfrm>
            <a:off x="8946703" y="3682044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45" name="Google Shape;1379;p4">
            <a:extLst>
              <a:ext uri="{FF2B5EF4-FFF2-40B4-BE49-F238E27FC236}">
                <a16:creationId xmlns:a16="http://schemas.microsoft.com/office/drawing/2014/main" id="{74E4FA06-FD8F-A857-7292-046CB580A9B2}"/>
              </a:ext>
            </a:extLst>
          </p:cNvPr>
          <p:cNvSpPr/>
          <p:nvPr/>
        </p:nvSpPr>
        <p:spPr>
          <a:xfrm>
            <a:off x="8191513" y="4426518"/>
            <a:ext cx="1007999" cy="59253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Metropolis" pitchFamily="2" charset="77"/>
              </a:rPr>
              <a:t>Storage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cxnSp>
        <p:nvCxnSpPr>
          <p:cNvPr id="48" name="Google Shape;1421;p5">
            <a:extLst>
              <a:ext uri="{FF2B5EF4-FFF2-40B4-BE49-F238E27FC236}">
                <a16:creationId xmlns:a16="http://schemas.microsoft.com/office/drawing/2014/main" id="{AF825F1C-B085-6527-BF6C-252E871D9FED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5387177" y="2195928"/>
            <a:ext cx="2635958" cy="76066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3" name="Google Shape;1421;p5">
            <a:extLst>
              <a:ext uri="{FF2B5EF4-FFF2-40B4-BE49-F238E27FC236}">
                <a16:creationId xmlns:a16="http://schemas.microsoft.com/office/drawing/2014/main" id="{203B12EF-884A-C90D-FF4E-FEEB05B62242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6864906" y="2224794"/>
            <a:ext cx="2528688" cy="72652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5" name="Google Shape;1421;p5">
            <a:extLst>
              <a:ext uri="{FF2B5EF4-FFF2-40B4-BE49-F238E27FC236}">
                <a16:creationId xmlns:a16="http://schemas.microsoft.com/office/drawing/2014/main" id="{451B8A72-DDB2-0EF0-6B6E-53D48BF1739A}"/>
              </a:ext>
            </a:extLst>
          </p:cNvPr>
          <p:cNvCxnSpPr>
            <a:cxnSpLocks/>
            <a:stCxn id="45" idx="0"/>
          </p:cNvCxnSpPr>
          <p:nvPr/>
        </p:nvCxnSpPr>
        <p:spPr>
          <a:xfrm flipH="1" flipV="1">
            <a:off x="7987953" y="4063063"/>
            <a:ext cx="707560" cy="36345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8" name="Google Shape;1421;p5">
            <a:extLst>
              <a:ext uri="{FF2B5EF4-FFF2-40B4-BE49-F238E27FC236}">
                <a16:creationId xmlns:a16="http://schemas.microsoft.com/office/drawing/2014/main" id="{F8549139-787A-807B-2E10-CCA1913C4564}"/>
              </a:ext>
            </a:extLst>
          </p:cNvPr>
          <p:cNvCxnSpPr>
            <a:cxnSpLocks/>
            <a:stCxn id="45" idx="0"/>
            <a:endCxn id="31" idx="2"/>
          </p:cNvCxnSpPr>
          <p:nvPr/>
        </p:nvCxnSpPr>
        <p:spPr>
          <a:xfrm flipV="1">
            <a:off x="8695513" y="4071673"/>
            <a:ext cx="700669" cy="35484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70" name="Google Shape;1421;p5">
            <a:extLst>
              <a:ext uri="{FF2B5EF4-FFF2-40B4-BE49-F238E27FC236}">
                <a16:creationId xmlns:a16="http://schemas.microsoft.com/office/drawing/2014/main" id="{AA983150-2370-5D30-A381-8CA04D2E6295}"/>
              </a:ext>
            </a:extLst>
          </p:cNvPr>
          <p:cNvCxnSpPr>
            <a:cxnSpLocks/>
            <a:stCxn id="2375" idx="2"/>
            <a:endCxn id="2402" idx="0"/>
          </p:cNvCxnSpPr>
          <p:nvPr/>
        </p:nvCxnSpPr>
        <p:spPr>
          <a:xfrm flipH="1">
            <a:off x="2683930" y="4094350"/>
            <a:ext cx="1908208" cy="332168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74" name="Google Shape;1421;p5">
            <a:extLst>
              <a:ext uri="{FF2B5EF4-FFF2-40B4-BE49-F238E27FC236}">
                <a16:creationId xmlns:a16="http://schemas.microsoft.com/office/drawing/2014/main" id="{B76CE126-4386-02B8-3793-677D6DCDE69E}"/>
              </a:ext>
            </a:extLst>
          </p:cNvPr>
          <p:cNvCxnSpPr>
            <a:cxnSpLocks/>
            <a:stCxn id="2375" idx="2"/>
            <a:endCxn id="2403" idx="0"/>
          </p:cNvCxnSpPr>
          <p:nvPr/>
        </p:nvCxnSpPr>
        <p:spPr>
          <a:xfrm flipH="1">
            <a:off x="3888757" y="4094350"/>
            <a:ext cx="703381" cy="332168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513362D3-1EEC-84EC-CB93-EEEE28FC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Storage Separation Distributed Switch Model v1.2</a:t>
            </a:r>
            <a:endParaRPr lang="en-US"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CA4B26-464F-E498-6FDA-A79FFCB99753}"/>
              </a:ext>
            </a:extLst>
          </p:cNvPr>
          <p:cNvGrpSpPr/>
          <p:nvPr/>
        </p:nvGrpSpPr>
        <p:grpSpPr>
          <a:xfrm>
            <a:off x="5347355" y="1714721"/>
            <a:ext cx="503999" cy="540000"/>
            <a:chOff x="9321542" y="1289797"/>
            <a:chExt cx="348692" cy="350167"/>
          </a:xfrm>
        </p:grpSpPr>
        <p:sp>
          <p:nvSpPr>
            <p:cNvPr id="13" name="Google Shape;2074;p72">
              <a:extLst>
                <a:ext uri="{FF2B5EF4-FFF2-40B4-BE49-F238E27FC236}">
                  <a16:creationId xmlns:a16="http://schemas.microsoft.com/office/drawing/2014/main" id="{7E131836-5A24-9B97-DDF0-B49304D61807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" name="Google Shape;2075;p72">
              <a:extLst>
                <a:ext uri="{FF2B5EF4-FFF2-40B4-BE49-F238E27FC236}">
                  <a16:creationId xmlns:a16="http://schemas.microsoft.com/office/drawing/2014/main" id="{B97FB782-ADD2-B1C6-5DD7-D2E2AABF2269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6" name="Google Shape;2076;p72">
              <a:extLst>
                <a:ext uri="{FF2B5EF4-FFF2-40B4-BE49-F238E27FC236}">
                  <a16:creationId xmlns:a16="http://schemas.microsoft.com/office/drawing/2014/main" id="{F942F57F-9768-23C2-AB6B-FCEABC15698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" name="Google Shape;2077;p72">
              <a:extLst>
                <a:ext uri="{FF2B5EF4-FFF2-40B4-BE49-F238E27FC236}">
                  <a16:creationId xmlns:a16="http://schemas.microsoft.com/office/drawing/2014/main" id="{464501B3-0BAE-3469-45A1-1903A68E43F4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" name="Google Shape;2078;p72">
              <a:extLst>
                <a:ext uri="{FF2B5EF4-FFF2-40B4-BE49-F238E27FC236}">
                  <a16:creationId xmlns:a16="http://schemas.microsoft.com/office/drawing/2014/main" id="{F0C16F1F-85C6-4EC9-4FAE-6EF17916E44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5DC813-B790-771B-1C6C-7C9371B9EF18}"/>
              </a:ext>
            </a:extLst>
          </p:cNvPr>
          <p:cNvGrpSpPr/>
          <p:nvPr/>
        </p:nvGrpSpPr>
        <p:grpSpPr>
          <a:xfrm>
            <a:off x="6644989" y="1691375"/>
            <a:ext cx="503999" cy="540000"/>
            <a:chOff x="9321542" y="1289797"/>
            <a:chExt cx="348692" cy="350167"/>
          </a:xfrm>
        </p:grpSpPr>
        <p:sp>
          <p:nvSpPr>
            <p:cNvPr id="20" name="Google Shape;2074;p72">
              <a:extLst>
                <a:ext uri="{FF2B5EF4-FFF2-40B4-BE49-F238E27FC236}">
                  <a16:creationId xmlns:a16="http://schemas.microsoft.com/office/drawing/2014/main" id="{7D156E08-502F-EC6A-A5D4-9D5091CDF915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" name="Google Shape;2075;p72">
              <a:extLst>
                <a:ext uri="{FF2B5EF4-FFF2-40B4-BE49-F238E27FC236}">
                  <a16:creationId xmlns:a16="http://schemas.microsoft.com/office/drawing/2014/main" id="{36C7E41D-16FA-669C-27E2-53A0534DEFFA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" name="Google Shape;2076;p72">
              <a:extLst>
                <a:ext uri="{FF2B5EF4-FFF2-40B4-BE49-F238E27FC236}">
                  <a16:creationId xmlns:a16="http://schemas.microsoft.com/office/drawing/2014/main" id="{54062914-DA63-E214-49A3-0ACEB9FF950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" name="Google Shape;2077;p72">
              <a:extLst>
                <a:ext uri="{FF2B5EF4-FFF2-40B4-BE49-F238E27FC236}">
                  <a16:creationId xmlns:a16="http://schemas.microsoft.com/office/drawing/2014/main" id="{47EA7647-BC09-CF62-8CA1-E047519D27AB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2" name="Google Shape;2078;p72">
              <a:extLst>
                <a:ext uri="{FF2B5EF4-FFF2-40B4-BE49-F238E27FC236}">
                  <a16:creationId xmlns:a16="http://schemas.microsoft.com/office/drawing/2014/main" id="{F291614F-7BC7-46DB-857C-8D1B756CE48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3920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215D39AA-BB7A-BA7E-9578-286CF3E7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631B97B-4B99-A7B2-E708-505A5F0CDE4B}"/>
              </a:ext>
            </a:extLst>
          </p:cNvPr>
          <p:cNvSpPr/>
          <p:nvPr/>
        </p:nvSpPr>
        <p:spPr>
          <a:xfrm>
            <a:off x="777240" y="1691855"/>
            <a:ext cx="10369296" cy="4160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Metropolis" pitchFamily="2" charset="77"/>
            </a:endParaRPr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074DD9B8-BE6E-50CD-0B26-D2F9E99F4040}"/>
              </a:ext>
            </a:extLst>
          </p:cNvPr>
          <p:cNvSpPr/>
          <p:nvPr/>
        </p:nvSpPr>
        <p:spPr>
          <a:xfrm>
            <a:off x="901153" y="3305382"/>
            <a:ext cx="10085252" cy="2416687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Metropolis" pitchFamily="2" charset="77"/>
            </a:endParaRPr>
          </a:p>
        </p:txBody>
      </p:sp>
      <p:sp>
        <p:nvSpPr>
          <p:cNvPr id="2399" name="Google Shape;2399;p20">
            <a:extLst>
              <a:ext uri="{FF2B5EF4-FFF2-40B4-BE49-F238E27FC236}">
                <a16:creationId xmlns:a16="http://schemas.microsoft.com/office/drawing/2014/main" id="{D2D383E2-9CCB-F7A9-E275-D1A5F06451F0}"/>
              </a:ext>
            </a:extLst>
          </p:cNvPr>
          <p:cNvSpPr/>
          <p:nvPr/>
        </p:nvSpPr>
        <p:spPr>
          <a:xfrm>
            <a:off x="1113381" y="3997712"/>
            <a:ext cx="4786277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vDS01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02" name="Google Shape;2402;p20">
            <a:extLst>
              <a:ext uri="{FF2B5EF4-FFF2-40B4-BE49-F238E27FC236}">
                <a16:creationId xmlns:a16="http://schemas.microsoft.com/office/drawing/2014/main" id="{DB60EF16-2DE1-EC97-78FF-FEE677ED72D1}"/>
              </a:ext>
            </a:extLst>
          </p:cNvPr>
          <p:cNvSpPr/>
          <p:nvPr/>
        </p:nvSpPr>
        <p:spPr>
          <a:xfrm>
            <a:off x="1394425" y="4568962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VM Management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403" name="Google Shape;2403;p20">
            <a:extLst>
              <a:ext uri="{FF2B5EF4-FFF2-40B4-BE49-F238E27FC236}">
                <a16:creationId xmlns:a16="http://schemas.microsoft.com/office/drawing/2014/main" id="{1F1D9468-A6A9-C6C9-9D01-9F05BFC79A58}"/>
              </a:ext>
            </a:extLst>
          </p:cNvPr>
          <p:cNvSpPr/>
          <p:nvPr/>
        </p:nvSpPr>
        <p:spPr>
          <a:xfrm>
            <a:off x="2498520" y="4568962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ESX Management </a:t>
            </a: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405" name="Google Shape;2405;p20">
            <a:extLst>
              <a:ext uri="{FF2B5EF4-FFF2-40B4-BE49-F238E27FC236}">
                <a16:creationId xmlns:a16="http://schemas.microsoft.com/office/drawing/2014/main" id="{F505A93C-CD9E-FC84-5808-BFC896647F2D}"/>
              </a:ext>
            </a:extLst>
          </p:cNvPr>
          <p:cNvSpPr/>
          <p:nvPr/>
        </p:nvSpPr>
        <p:spPr>
          <a:xfrm>
            <a:off x="3599688" y="4571500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vMotion</a:t>
            </a:r>
            <a:endParaRPr lang="en-GB" sz="1000" dirty="0">
              <a:latin typeface="Metropolis" pitchFamily="2" charset="7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dPG</a:t>
            </a:r>
            <a:endParaRPr lang="en-GB" sz="1000" dirty="0">
              <a:latin typeface="Metropolis" pitchFamily="2" charset="77"/>
            </a:endParaRPr>
          </a:p>
        </p:txBody>
      </p:sp>
      <p:sp>
        <p:nvSpPr>
          <p:cNvPr id="25" name="Google Shape;2293;p15">
            <a:extLst>
              <a:ext uri="{FF2B5EF4-FFF2-40B4-BE49-F238E27FC236}">
                <a16:creationId xmlns:a16="http://schemas.microsoft.com/office/drawing/2014/main" id="{8A4A5503-94AD-E36F-6799-52CC9D73AA68}"/>
              </a:ext>
            </a:extLst>
          </p:cNvPr>
          <p:cNvSpPr txBox="1"/>
          <p:nvPr/>
        </p:nvSpPr>
        <p:spPr>
          <a:xfrm>
            <a:off x="1113381" y="3463570"/>
            <a:ext cx="567427" cy="153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ESX Host</a:t>
            </a:r>
            <a:endParaRPr sz="1000" dirty="0">
              <a:solidFill>
                <a:schemeClr val="dk2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34" name="Google Shape;1421;p5">
            <a:extLst>
              <a:ext uri="{FF2B5EF4-FFF2-40B4-BE49-F238E27FC236}">
                <a16:creationId xmlns:a16="http://schemas.microsoft.com/office/drawing/2014/main" id="{26976A0A-B2B6-939F-4080-0768FFA25104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2857784" y="2378822"/>
            <a:ext cx="2392705" cy="73423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6" name="Google Shape;1421;p5">
            <a:extLst>
              <a:ext uri="{FF2B5EF4-FFF2-40B4-BE49-F238E27FC236}">
                <a16:creationId xmlns:a16="http://schemas.microsoft.com/office/drawing/2014/main" id="{8D1B90AE-D8B1-8A1E-CBC6-947600C74089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4228243" y="2334993"/>
            <a:ext cx="2416131" cy="77279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9" name="Google Shape;1376;p4">
            <a:extLst>
              <a:ext uri="{FF2B5EF4-FFF2-40B4-BE49-F238E27FC236}">
                <a16:creationId xmlns:a16="http://schemas.microsoft.com/office/drawing/2014/main" id="{173AA727-E1FD-B2C5-54B8-BE674B15FDCD}"/>
              </a:ext>
            </a:extLst>
          </p:cNvPr>
          <p:cNvSpPr/>
          <p:nvPr/>
        </p:nvSpPr>
        <p:spPr>
          <a:xfrm>
            <a:off x="2403607" y="3838685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" name="Google Shape;1376;p4">
            <a:extLst>
              <a:ext uri="{FF2B5EF4-FFF2-40B4-BE49-F238E27FC236}">
                <a16:creationId xmlns:a16="http://schemas.microsoft.com/office/drawing/2014/main" id="{07D4D011-FA15-4E2B-2771-F8B548BD5E95}"/>
              </a:ext>
            </a:extLst>
          </p:cNvPr>
          <p:cNvSpPr/>
          <p:nvPr/>
        </p:nvSpPr>
        <p:spPr>
          <a:xfrm>
            <a:off x="2585145" y="3113061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pNIC1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47" name="Google Shape;1376;p4">
            <a:extLst>
              <a:ext uri="{FF2B5EF4-FFF2-40B4-BE49-F238E27FC236}">
                <a16:creationId xmlns:a16="http://schemas.microsoft.com/office/drawing/2014/main" id="{3DC5C174-41C2-BA65-C732-71D8339C5B23}"/>
              </a:ext>
            </a:extLst>
          </p:cNvPr>
          <p:cNvSpPr/>
          <p:nvPr/>
        </p:nvSpPr>
        <p:spPr>
          <a:xfrm>
            <a:off x="3955604" y="3107787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pNIC2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57" name="Google Shape;1413;p5">
            <a:extLst>
              <a:ext uri="{FF2B5EF4-FFF2-40B4-BE49-F238E27FC236}">
                <a16:creationId xmlns:a16="http://schemas.microsoft.com/office/drawing/2014/main" id="{8BEB151E-B45D-5D93-FF24-60C9BC75E27A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2853086" y="3502691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" name="Google Shape;1413;p5">
            <a:extLst>
              <a:ext uri="{FF2B5EF4-FFF2-40B4-BE49-F238E27FC236}">
                <a16:creationId xmlns:a16="http://schemas.microsoft.com/office/drawing/2014/main" id="{8ED9FAC5-6403-3791-734D-E1730A303FCF}"/>
              </a:ext>
            </a:extLst>
          </p:cNvPr>
          <p:cNvCxnSpPr>
            <a:cxnSpLocks/>
            <a:stCxn id="47" idx="2"/>
            <a:endCxn id="2375" idx="0"/>
          </p:cNvCxnSpPr>
          <p:nvPr/>
        </p:nvCxnSpPr>
        <p:spPr>
          <a:xfrm>
            <a:off x="4228243" y="3497417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5" name="Google Shape;1376;p4">
            <a:extLst>
              <a:ext uri="{FF2B5EF4-FFF2-40B4-BE49-F238E27FC236}">
                <a16:creationId xmlns:a16="http://schemas.microsoft.com/office/drawing/2014/main" id="{E5509490-68C8-2905-7657-825F8E837765}"/>
              </a:ext>
            </a:extLst>
          </p:cNvPr>
          <p:cNvSpPr/>
          <p:nvPr/>
        </p:nvSpPr>
        <p:spPr>
          <a:xfrm>
            <a:off x="3781352" y="3838512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380" name="TextBox 2379">
            <a:extLst>
              <a:ext uri="{FF2B5EF4-FFF2-40B4-BE49-F238E27FC236}">
                <a16:creationId xmlns:a16="http://schemas.microsoft.com/office/drawing/2014/main" id="{7F7F323B-DBD8-6655-AD0B-C5ADBEAE902F}"/>
              </a:ext>
            </a:extLst>
          </p:cNvPr>
          <p:cNvSpPr txBox="1"/>
          <p:nvPr/>
        </p:nvSpPr>
        <p:spPr>
          <a:xfrm>
            <a:off x="4197827" y="1985159"/>
            <a:ext cx="739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Switch-A</a:t>
            </a:r>
          </a:p>
        </p:txBody>
      </p:sp>
      <p:sp>
        <p:nvSpPr>
          <p:cNvPr id="2381" name="TextBox 2380">
            <a:extLst>
              <a:ext uri="{FF2B5EF4-FFF2-40B4-BE49-F238E27FC236}">
                <a16:creationId xmlns:a16="http://schemas.microsoft.com/office/drawing/2014/main" id="{52636958-A33E-A2D5-AC3B-4024EB360E94}"/>
              </a:ext>
            </a:extLst>
          </p:cNvPr>
          <p:cNvSpPr txBox="1"/>
          <p:nvPr/>
        </p:nvSpPr>
        <p:spPr>
          <a:xfrm>
            <a:off x="6814526" y="2000262"/>
            <a:ext cx="771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Switch-B</a:t>
            </a:r>
          </a:p>
        </p:txBody>
      </p:sp>
      <p:cxnSp>
        <p:nvCxnSpPr>
          <p:cNvPr id="2395" name="Google Shape;1421;p5">
            <a:extLst>
              <a:ext uri="{FF2B5EF4-FFF2-40B4-BE49-F238E27FC236}">
                <a16:creationId xmlns:a16="http://schemas.microsoft.com/office/drawing/2014/main" id="{E90E6DC1-1E27-964E-365F-B296851135E5}"/>
              </a:ext>
            </a:extLst>
          </p:cNvPr>
          <p:cNvCxnSpPr>
            <a:cxnSpLocks/>
            <a:stCxn id="9" idx="2"/>
            <a:endCxn id="2402" idx="0"/>
          </p:cNvCxnSpPr>
          <p:nvPr/>
        </p:nvCxnSpPr>
        <p:spPr>
          <a:xfrm flipH="1">
            <a:off x="1898425" y="4215683"/>
            <a:ext cx="954661" cy="35327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08" name="Google Shape;1421;p5">
            <a:extLst>
              <a:ext uri="{FF2B5EF4-FFF2-40B4-BE49-F238E27FC236}">
                <a16:creationId xmlns:a16="http://schemas.microsoft.com/office/drawing/2014/main" id="{AACCF3E0-4229-7FB4-D128-B8DBAADD4907}"/>
              </a:ext>
            </a:extLst>
          </p:cNvPr>
          <p:cNvCxnSpPr>
            <a:cxnSpLocks/>
            <a:stCxn id="9" idx="2"/>
            <a:endCxn id="2403" idx="0"/>
          </p:cNvCxnSpPr>
          <p:nvPr/>
        </p:nvCxnSpPr>
        <p:spPr>
          <a:xfrm>
            <a:off x="2853086" y="4215683"/>
            <a:ext cx="149434" cy="35327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3" name="Google Shape;1421;p5">
            <a:extLst>
              <a:ext uri="{FF2B5EF4-FFF2-40B4-BE49-F238E27FC236}">
                <a16:creationId xmlns:a16="http://schemas.microsoft.com/office/drawing/2014/main" id="{AB4DD5B1-A4C3-4C5C-D0CE-3777DD4C3D93}"/>
              </a:ext>
            </a:extLst>
          </p:cNvPr>
          <p:cNvCxnSpPr>
            <a:cxnSpLocks/>
            <a:stCxn id="2405" idx="0"/>
            <a:endCxn id="9" idx="2"/>
          </p:cNvCxnSpPr>
          <p:nvPr/>
        </p:nvCxnSpPr>
        <p:spPr>
          <a:xfrm flipH="1" flipV="1">
            <a:off x="2853086" y="4215683"/>
            <a:ext cx="1250602" cy="355817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6" name="Google Shape;1421;p5">
            <a:extLst>
              <a:ext uri="{FF2B5EF4-FFF2-40B4-BE49-F238E27FC236}">
                <a16:creationId xmlns:a16="http://schemas.microsoft.com/office/drawing/2014/main" id="{6113396D-A9AE-1B87-A4EF-A79F01664628}"/>
              </a:ext>
            </a:extLst>
          </p:cNvPr>
          <p:cNvCxnSpPr>
            <a:cxnSpLocks/>
            <a:stCxn id="2405" idx="0"/>
            <a:endCxn id="2375" idx="2"/>
          </p:cNvCxnSpPr>
          <p:nvPr/>
        </p:nvCxnSpPr>
        <p:spPr>
          <a:xfrm flipV="1">
            <a:off x="4103688" y="4228141"/>
            <a:ext cx="127143" cy="34335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503" name="Google Shape;1413;p5">
            <a:extLst>
              <a:ext uri="{FF2B5EF4-FFF2-40B4-BE49-F238E27FC236}">
                <a16:creationId xmlns:a16="http://schemas.microsoft.com/office/drawing/2014/main" id="{14EA1421-849E-27CE-DF7E-55216D99FD2F}"/>
              </a:ext>
            </a:extLst>
          </p:cNvPr>
          <p:cNvCxnSpPr>
            <a:cxnSpLocks/>
            <a:stCxn id="27" idx="2"/>
            <a:endCxn id="2493" idx="0"/>
          </p:cNvCxnSpPr>
          <p:nvPr/>
        </p:nvCxnSpPr>
        <p:spPr>
          <a:xfrm flipH="1">
            <a:off x="6689630" y="3480014"/>
            <a:ext cx="972198" cy="524493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05" name="Google Shape;1413;p5">
            <a:extLst>
              <a:ext uri="{FF2B5EF4-FFF2-40B4-BE49-F238E27FC236}">
                <a16:creationId xmlns:a16="http://schemas.microsoft.com/office/drawing/2014/main" id="{FD45966B-EC4C-FAE9-857C-3176C6AB9D6B}"/>
              </a:ext>
            </a:extLst>
          </p:cNvPr>
          <p:cNvCxnSpPr>
            <a:cxnSpLocks/>
            <a:stCxn id="28" idx="2"/>
            <a:endCxn id="4" idx="0"/>
          </p:cNvCxnSpPr>
          <p:nvPr/>
        </p:nvCxnSpPr>
        <p:spPr>
          <a:xfrm>
            <a:off x="9032287" y="3474740"/>
            <a:ext cx="1033811" cy="529766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2399;p20">
            <a:extLst>
              <a:ext uri="{FF2B5EF4-FFF2-40B4-BE49-F238E27FC236}">
                <a16:creationId xmlns:a16="http://schemas.microsoft.com/office/drawing/2014/main" id="{DE391A24-B60B-AC0D-738D-CA3362ABD977}"/>
              </a:ext>
            </a:extLst>
          </p:cNvPr>
          <p:cNvSpPr/>
          <p:nvPr/>
        </p:nvSpPr>
        <p:spPr>
          <a:xfrm>
            <a:off x="6034698" y="4007498"/>
            <a:ext cx="4786277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vDS02 with NSX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1376;p4">
            <a:extLst>
              <a:ext uri="{FF2B5EF4-FFF2-40B4-BE49-F238E27FC236}">
                <a16:creationId xmlns:a16="http://schemas.microsoft.com/office/drawing/2014/main" id="{95E56C45-A9EC-2CF8-4F57-E795775CDBF5}"/>
              </a:ext>
            </a:extLst>
          </p:cNvPr>
          <p:cNvSpPr/>
          <p:nvPr/>
        </p:nvSpPr>
        <p:spPr>
          <a:xfrm>
            <a:off x="7207651" y="3816008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7" name="Google Shape;1376;p4">
            <a:extLst>
              <a:ext uri="{FF2B5EF4-FFF2-40B4-BE49-F238E27FC236}">
                <a16:creationId xmlns:a16="http://schemas.microsoft.com/office/drawing/2014/main" id="{B38965D1-205F-0DE6-2F4B-8D70113020B9}"/>
              </a:ext>
            </a:extLst>
          </p:cNvPr>
          <p:cNvSpPr/>
          <p:nvPr/>
        </p:nvSpPr>
        <p:spPr>
          <a:xfrm>
            <a:off x="7389189" y="3090384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pNIC3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8" name="Google Shape;1376;p4">
            <a:extLst>
              <a:ext uri="{FF2B5EF4-FFF2-40B4-BE49-F238E27FC236}">
                <a16:creationId xmlns:a16="http://schemas.microsoft.com/office/drawing/2014/main" id="{E050FC51-1B6B-19B6-3774-4473BD54C30C}"/>
              </a:ext>
            </a:extLst>
          </p:cNvPr>
          <p:cNvSpPr/>
          <p:nvPr/>
        </p:nvSpPr>
        <p:spPr>
          <a:xfrm>
            <a:off x="8759648" y="3085110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pNIC4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9" name="Google Shape;1413;p5">
            <a:extLst>
              <a:ext uri="{FF2B5EF4-FFF2-40B4-BE49-F238E27FC236}">
                <a16:creationId xmlns:a16="http://schemas.microsoft.com/office/drawing/2014/main" id="{F41EE6FB-B695-756B-672B-2D7FCF12E2DD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 flipH="1">
            <a:off x="7657130" y="3480014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" name="Google Shape;1413;p5">
            <a:extLst>
              <a:ext uri="{FF2B5EF4-FFF2-40B4-BE49-F238E27FC236}">
                <a16:creationId xmlns:a16="http://schemas.microsoft.com/office/drawing/2014/main" id="{94236442-CF09-E749-29EE-FE583FEA5778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9032287" y="3474740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1376;p4">
            <a:extLst>
              <a:ext uri="{FF2B5EF4-FFF2-40B4-BE49-F238E27FC236}">
                <a16:creationId xmlns:a16="http://schemas.microsoft.com/office/drawing/2014/main" id="{1CDECB5D-1CF1-3615-111D-B42966AEE81E}"/>
              </a:ext>
            </a:extLst>
          </p:cNvPr>
          <p:cNvSpPr/>
          <p:nvPr/>
        </p:nvSpPr>
        <p:spPr>
          <a:xfrm>
            <a:off x="8585396" y="3815835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cxnSp>
        <p:nvCxnSpPr>
          <p:cNvPr id="48" name="Google Shape;1421;p5">
            <a:extLst>
              <a:ext uri="{FF2B5EF4-FFF2-40B4-BE49-F238E27FC236}">
                <a16:creationId xmlns:a16="http://schemas.microsoft.com/office/drawing/2014/main" id="{7C4A4EEE-3F60-B988-86BA-B896D923A52E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5025870" y="2329719"/>
            <a:ext cx="2635958" cy="76066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3" name="Google Shape;1421;p5">
            <a:extLst>
              <a:ext uri="{FF2B5EF4-FFF2-40B4-BE49-F238E27FC236}">
                <a16:creationId xmlns:a16="http://schemas.microsoft.com/office/drawing/2014/main" id="{30D2879D-BF96-ABA0-829C-40C9694F5715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6503599" y="2358585"/>
            <a:ext cx="2528688" cy="72652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70" name="Google Shape;1421;p5">
            <a:extLst>
              <a:ext uri="{FF2B5EF4-FFF2-40B4-BE49-F238E27FC236}">
                <a16:creationId xmlns:a16="http://schemas.microsoft.com/office/drawing/2014/main" id="{5044A5A0-CC81-72B8-007A-644F4035E37F}"/>
              </a:ext>
            </a:extLst>
          </p:cNvPr>
          <p:cNvCxnSpPr>
            <a:cxnSpLocks/>
            <a:stCxn id="2375" idx="2"/>
            <a:endCxn id="2402" idx="0"/>
          </p:cNvCxnSpPr>
          <p:nvPr/>
        </p:nvCxnSpPr>
        <p:spPr>
          <a:xfrm flipH="1">
            <a:off x="1898425" y="4228141"/>
            <a:ext cx="2332406" cy="34082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493" name="Rounded Rectangle 2492">
            <a:extLst>
              <a:ext uri="{FF2B5EF4-FFF2-40B4-BE49-F238E27FC236}">
                <a16:creationId xmlns:a16="http://schemas.microsoft.com/office/drawing/2014/main" id="{E4B6E8A2-397E-73CE-A4FA-3ABB768E9F6F}"/>
              </a:ext>
            </a:extLst>
          </p:cNvPr>
          <p:cNvSpPr/>
          <p:nvPr/>
        </p:nvSpPr>
        <p:spPr>
          <a:xfrm>
            <a:off x="6240151" y="4004507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TEP1</a:t>
            </a:r>
            <a:endParaRPr lang="en-US" sz="1000" dirty="0">
              <a:latin typeface="Metropoli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72D87D1-5FDC-0164-0E13-A1B40C70F2A9}"/>
              </a:ext>
            </a:extLst>
          </p:cNvPr>
          <p:cNvSpPr/>
          <p:nvPr/>
        </p:nvSpPr>
        <p:spPr>
          <a:xfrm>
            <a:off x="9616619" y="4004506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TEP2</a:t>
            </a:r>
            <a:endParaRPr lang="en-US" sz="1000" dirty="0">
              <a:latin typeface="Metropolis" pitchFamily="2" charset="77"/>
            </a:endParaRPr>
          </a:p>
        </p:txBody>
      </p:sp>
      <p:sp>
        <p:nvSpPr>
          <p:cNvPr id="13" name="Google Shape;1379;p4">
            <a:extLst>
              <a:ext uri="{FF2B5EF4-FFF2-40B4-BE49-F238E27FC236}">
                <a16:creationId xmlns:a16="http://schemas.microsoft.com/office/drawing/2014/main" id="{70FCAFE9-CF12-099E-45F2-FEB6A370E865}"/>
              </a:ext>
            </a:extLst>
          </p:cNvPr>
          <p:cNvSpPr/>
          <p:nvPr/>
        </p:nvSpPr>
        <p:spPr>
          <a:xfrm>
            <a:off x="4711974" y="4573612"/>
            <a:ext cx="1007999" cy="59253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Storage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cxnSp>
        <p:nvCxnSpPr>
          <p:cNvPr id="33" name="Google Shape;1421;p5">
            <a:extLst>
              <a:ext uri="{FF2B5EF4-FFF2-40B4-BE49-F238E27FC236}">
                <a16:creationId xmlns:a16="http://schemas.microsoft.com/office/drawing/2014/main" id="{1D549684-485A-4B1D-0834-7E4414E92C74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2853086" y="4219649"/>
            <a:ext cx="2362888" cy="353963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8" name="Google Shape;1421;p5">
            <a:extLst>
              <a:ext uri="{FF2B5EF4-FFF2-40B4-BE49-F238E27FC236}">
                <a16:creationId xmlns:a16="http://schemas.microsoft.com/office/drawing/2014/main" id="{6A64B897-DBCB-1D42-2E6B-47D4F20DCA8D}"/>
              </a:ext>
            </a:extLst>
          </p:cNvPr>
          <p:cNvCxnSpPr>
            <a:cxnSpLocks/>
            <a:stCxn id="13" idx="0"/>
            <a:endCxn id="2375" idx="2"/>
          </p:cNvCxnSpPr>
          <p:nvPr/>
        </p:nvCxnSpPr>
        <p:spPr>
          <a:xfrm flipH="1" flipV="1">
            <a:off x="4230831" y="4228141"/>
            <a:ext cx="985143" cy="34547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41" name="Google Shape;1421;p5">
            <a:extLst>
              <a:ext uri="{FF2B5EF4-FFF2-40B4-BE49-F238E27FC236}">
                <a16:creationId xmlns:a16="http://schemas.microsoft.com/office/drawing/2014/main" id="{8D6CEC19-F40B-C28D-4D8F-BC0928596947}"/>
              </a:ext>
            </a:extLst>
          </p:cNvPr>
          <p:cNvCxnSpPr>
            <a:cxnSpLocks/>
            <a:stCxn id="2375" idx="2"/>
          </p:cNvCxnSpPr>
          <p:nvPr/>
        </p:nvCxnSpPr>
        <p:spPr>
          <a:xfrm flipH="1">
            <a:off x="2955576" y="4228141"/>
            <a:ext cx="1275255" cy="332620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84D7EC27-ABDE-52E9-F540-7F0B96071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Workload Separation Distributed Switch v1.2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A3BA8A6-7AE9-77F5-D246-31BCB2C44056}"/>
              </a:ext>
            </a:extLst>
          </p:cNvPr>
          <p:cNvGrpSpPr/>
          <p:nvPr/>
        </p:nvGrpSpPr>
        <p:grpSpPr>
          <a:xfrm>
            <a:off x="4974903" y="1840311"/>
            <a:ext cx="503999" cy="540000"/>
            <a:chOff x="9321542" y="1289797"/>
            <a:chExt cx="348692" cy="350167"/>
          </a:xfrm>
        </p:grpSpPr>
        <p:sp>
          <p:nvSpPr>
            <p:cNvPr id="18" name="Google Shape;2074;p72">
              <a:extLst>
                <a:ext uri="{FF2B5EF4-FFF2-40B4-BE49-F238E27FC236}">
                  <a16:creationId xmlns:a16="http://schemas.microsoft.com/office/drawing/2014/main" id="{396E9545-14F6-B858-6EAC-8E696ABB60CE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" name="Google Shape;2075;p72">
              <a:extLst>
                <a:ext uri="{FF2B5EF4-FFF2-40B4-BE49-F238E27FC236}">
                  <a16:creationId xmlns:a16="http://schemas.microsoft.com/office/drawing/2014/main" id="{C93D0ED5-FAC9-04B5-2044-CE781665068B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" name="Google Shape;2076;p72">
              <a:extLst>
                <a:ext uri="{FF2B5EF4-FFF2-40B4-BE49-F238E27FC236}">
                  <a16:creationId xmlns:a16="http://schemas.microsoft.com/office/drawing/2014/main" id="{9A24AAB3-0E33-CB8E-65FA-B60EAE967B2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" name="Google Shape;2077;p72">
              <a:extLst>
                <a:ext uri="{FF2B5EF4-FFF2-40B4-BE49-F238E27FC236}">
                  <a16:creationId xmlns:a16="http://schemas.microsoft.com/office/drawing/2014/main" id="{BC2B7953-9C26-066C-6CB9-14EB287B276A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" name="Google Shape;2078;p72">
              <a:extLst>
                <a:ext uri="{FF2B5EF4-FFF2-40B4-BE49-F238E27FC236}">
                  <a16:creationId xmlns:a16="http://schemas.microsoft.com/office/drawing/2014/main" id="{CF7C22B3-79BD-FC50-E77F-14E1F36F8D7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D7EC91-3BE7-35C9-BD1A-9735E8C1CCEA}"/>
              </a:ext>
            </a:extLst>
          </p:cNvPr>
          <p:cNvGrpSpPr/>
          <p:nvPr/>
        </p:nvGrpSpPr>
        <p:grpSpPr>
          <a:xfrm>
            <a:off x="6272537" y="1816965"/>
            <a:ext cx="503999" cy="540000"/>
            <a:chOff x="9321542" y="1289797"/>
            <a:chExt cx="348692" cy="350167"/>
          </a:xfrm>
        </p:grpSpPr>
        <p:sp>
          <p:nvSpPr>
            <p:cNvPr id="32" name="Google Shape;2074;p72">
              <a:extLst>
                <a:ext uri="{FF2B5EF4-FFF2-40B4-BE49-F238E27FC236}">
                  <a16:creationId xmlns:a16="http://schemas.microsoft.com/office/drawing/2014/main" id="{64F717EE-36C2-D9C7-35DB-DBD9B26DDCE7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2075;p72">
              <a:extLst>
                <a:ext uri="{FF2B5EF4-FFF2-40B4-BE49-F238E27FC236}">
                  <a16:creationId xmlns:a16="http://schemas.microsoft.com/office/drawing/2014/main" id="{A1F421D4-54E5-531D-B339-609C7F79C503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" name="Google Shape;2076;p72">
              <a:extLst>
                <a:ext uri="{FF2B5EF4-FFF2-40B4-BE49-F238E27FC236}">
                  <a16:creationId xmlns:a16="http://schemas.microsoft.com/office/drawing/2014/main" id="{C0D4D5DC-170A-A859-8ED6-1D5BFF0B085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9" name="Google Shape;2077;p72">
              <a:extLst>
                <a:ext uri="{FF2B5EF4-FFF2-40B4-BE49-F238E27FC236}">
                  <a16:creationId xmlns:a16="http://schemas.microsoft.com/office/drawing/2014/main" id="{75A06943-5767-8F66-FF44-F92E53BA9951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0" name="Google Shape;2078;p72">
              <a:extLst>
                <a:ext uri="{FF2B5EF4-FFF2-40B4-BE49-F238E27FC236}">
                  <a16:creationId xmlns:a16="http://schemas.microsoft.com/office/drawing/2014/main" id="{6386D4C2-1D9B-ED29-F4EB-60B996822FA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75399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3D75DD0E-A3E5-020B-3969-F7FB30AFD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7F4F7C2-9A41-7023-C176-9DAE0548755D}"/>
              </a:ext>
            </a:extLst>
          </p:cNvPr>
          <p:cNvSpPr/>
          <p:nvPr/>
        </p:nvSpPr>
        <p:spPr>
          <a:xfrm>
            <a:off x="886916" y="1057584"/>
            <a:ext cx="10826496" cy="484979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itchFamily="2" charset="77"/>
            </a:endParaRPr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D54F2F2F-6AE4-519E-9D98-000D6D53BE89}"/>
              </a:ext>
            </a:extLst>
          </p:cNvPr>
          <p:cNvSpPr/>
          <p:nvPr/>
        </p:nvSpPr>
        <p:spPr>
          <a:xfrm>
            <a:off x="986410" y="2776585"/>
            <a:ext cx="10551880" cy="2979677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etropolis" pitchFamily="2" charset="77"/>
            </a:endParaRPr>
          </a:p>
        </p:txBody>
      </p:sp>
      <p:sp>
        <p:nvSpPr>
          <p:cNvPr id="2399" name="Google Shape;2399;p20">
            <a:extLst>
              <a:ext uri="{FF2B5EF4-FFF2-40B4-BE49-F238E27FC236}">
                <a16:creationId xmlns:a16="http://schemas.microsoft.com/office/drawing/2014/main" id="{42C78AD7-7175-23A8-7052-A78D71CEB34A}"/>
              </a:ext>
            </a:extLst>
          </p:cNvPr>
          <p:cNvSpPr/>
          <p:nvPr/>
        </p:nvSpPr>
        <p:spPr>
          <a:xfrm>
            <a:off x="1151100" y="3477115"/>
            <a:ext cx="3338479" cy="2030911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vDS01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02" name="Google Shape;2402;p20">
            <a:extLst>
              <a:ext uri="{FF2B5EF4-FFF2-40B4-BE49-F238E27FC236}">
                <a16:creationId xmlns:a16="http://schemas.microsoft.com/office/drawing/2014/main" id="{C30171D6-CC5C-EE31-F5E6-59596E25D69A}"/>
              </a:ext>
            </a:extLst>
          </p:cNvPr>
          <p:cNvSpPr/>
          <p:nvPr/>
        </p:nvSpPr>
        <p:spPr>
          <a:xfrm>
            <a:off x="1258514" y="4302456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VM Management </a:t>
            </a: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dirty="0">
              <a:latin typeface="Metropolis" pitchFamily="2" charset="77"/>
            </a:endParaRPr>
          </a:p>
        </p:txBody>
      </p:sp>
      <p:sp>
        <p:nvSpPr>
          <p:cNvPr id="2403" name="Google Shape;2403;p20">
            <a:extLst>
              <a:ext uri="{FF2B5EF4-FFF2-40B4-BE49-F238E27FC236}">
                <a16:creationId xmlns:a16="http://schemas.microsoft.com/office/drawing/2014/main" id="{3D403609-1CC2-BC6B-C19A-988FB461F4EC}"/>
              </a:ext>
            </a:extLst>
          </p:cNvPr>
          <p:cNvSpPr/>
          <p:nvPr/>
        </p:nvSpPr>
        <p:spPr>
          <a:xfrm>
            <a:off x="2329484" y="4309528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ESX Management </a:t>
            </a: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dirty="0">
              <a:latin typeface="Metropolis" pitchFamily="2" charset="77"/>
            </a:endParaRPr>
          </a:p>
        </p:txBody>
      </p:sp>
      <p:sp>
        <p:nvSpPr>
          <p:cNvPr id="2405" name="Google Shape;2405;p20">
            <a:extLst>
              <a:ext uri="{FF2B5EF4-FFF2-40B4-BE49-F238E27FC236}">
                <a16:creationId xmlns:a16="http://schemas.microsoft.com/office/drawing/2014/main" id="{C7E72728-3504-9682-3AA9-85A9CC8A89AF}"/>
              </a:ext>
            </a:extLst>
          </p:cNvPr>
          <p:cNvSpPr/>
          <p:nvPr/>
        </p:nvSpPr>
        <p:spPr>
          <a:xfrm>
            <a:off x="3401620" y="4309528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vMotion</a:t>
            </a:r>
            <a:endParaRPr lang="en-GB" sz="1000" dirty="0">
              <a:latin typeface="Metropolis" pitchFamily="2" charset="7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dPG</a:t>
            </a:r>
            <a:endParaRPr lang="en-GB" sz="1000" dirty="0">
              <a:latin typeface="Metropolis" pitchFamily="2" charset="77"/>
            </a:endParaRPr>
          </a:p>
        </p:txBody>
      </p:sp>
      <p:sp>
        <p:nvSpPr>
          <p:cNvPr id="25" name="Google Shape;2293;p15">
            <a:extLst>
              <a:ext uri="{FF2B5EF4-FFF2-40B4-BE49-F238E27FC236}">
                <a16:creationId xmlns:a16="http://schemas.microsoft.com/office/drawing/2014/main" id="{3BDFE359-870B-E905-5518-25D535753035}"/>
              </a:ext>
            </a:extLst>
          </p:cNvPr>
          <p:cNvSpPr txBox="1"/>
          <p:nvPr/>
        </p:nvSpPr>
        <p:spPr>
          <a:xfrm>
            <a:off x="1156354" y="2864772"/>
            <a:ext cx="567427" cy="153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ESX Host</a:t>
            </a:r>
            <a:endParaRPr sz="1000" dirty="0">
              <a:solidFill>
                <a:schemeClr val="dk2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34" name="Google Shape;1421;p5">
            <a:extLst>
              <a:ext uri="{FF2B5EF4-FFF2-40B4-BE49-F238E27FC236}">
                <a16:creationId xmlns:a16="http://schemas.microsoft.com/office/drawing/2014/main" id="{18171505-9179-A49F-7524-0D5797C4EA66}"/>
              </a:ext>
            </a:extLst>
          </p:cNvPr>
          <p:cNvCxnSpPr>
            <a:cxnSpLocks/>
            <a:stCxn id="7" idx="2"/>
            <a:endCxn id="2" idx="0"/>
          </p:cNvCxnSpPr>
          <p:nvPr/>
        </p:nvCxnSpPr>
        <p:spPr>
          <a:xfrm flipH="1">
            <a:off x="2169485" y="1736385"/>
            <a:ext cx="3541108" cy="856080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6" name="Google Shape;1421;p5">
            <a:extLst>
              <a:ext uri="{FF2B5EF4-FFF2-40B4-BE49-F238E27FC236}">
                <a16:creationId xmlns:a16="http://schemas.microsoft.com/office/drawing/2014/main" id="{69EA8754-D112-96AE-9006-49B2A7F19561}"/>
              </a:ext>
            </a:extLst>
          </p:cNvPr>
          <p:cNvCxnSpPr>
            <a:cxnSpLocks/>
            <a:stCxn id="17" idx="2"/>
            <a:endCxn id="47" idx="0"/>
          </p:cNvCxnSpPr>
          <p:nvPr/>
        </p:nvCxnSpPr>
        <p:spPr>
          <a:xfrm flipH="1">
            <a:off x="3539944" y="1736385"/>
            <a:ext cx="3370271" cy="850806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9" name="Google Shape;1376;p4">
            <a:extLst>
              <a:ext uri="{FF2B5EF4-FFF2-40B4-BE49-F238E27FC236}">
                <a16:creationId xmlns:a16="http://schemas.microsoft.com/office/drawing/2014/main" id="{29A57248-F583-E679-5BFE-D54A10199045}"/>
              </a:ext>
            </a:extLst>
          </p:cNvPr>
          <p:cNvSpPr/>
          <p:nvPr/>
        </p:nvSpPr>
        <p:spPr>
          <a:xfrm>
            <a:off x="1715308" y="3318089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dirty="0">
              <a:latin typeface="Metropolis" pitchFamily="2" charset="77"/>
            </a:endParaRPr>
          </a:p>
        </p:txBody>
      </p:sp>
      <p:sp>
        <p:nvSpPr>
          <p:cNvPr id="2" name="Google Shape;1376;p4">
            <a:extLst>
              <a:ext uri="{FF2B5EF4-FFF2-40B4-BE49-F238E27FC236}">
                <a16:creationId xmlns:a16="http://schemas.microsoft.com/office/drawing/2014/main" id="{156670DC-8D58-FC3F-78A5-306A41A78D29}"/>
              </a:ext>
            </a:extLst>
          </p:cNvPr>
          <p:cNvSpPr/>
          <p:nvPr/>
        </p:nvSpPr>
        <p:spPr>
          <a:xfrm>
            <a:off x="1896846" y="2592465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pNIC1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47" name="Google Shape;1376;p4">
            <a:extLst>
              <a:ext uri="{FF2B5EF4-FFF2-40B4-BE49-F238E27FC236}">
                <a16:creationId xmlns:a16="http://schemas.microsoft.com/office/drawing/2014/main" id="{1E00FCF7-D36C-036E-01D0-CD3624E9D560}"/>
              </a:ext>
            </a:extLst>
          </p:cNvPr>
          <p:cNvSpPr/>
          <p:nvPr/>
        </p:nvSpPr>
        <p:spPr>
          <a:xfrm>
            <a:off x="3267305" y="2587191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pNIC2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57" name="Google Shape;1413;p5">
            <a:extLst>
              <a:ext uri="{FF2B5EF4-FFF2-40B4-BE49-F238E27FC236}">
                <a16:creationId xmlns:a16="http://schemas.microsoft.com/office/drawing/2014/main" id="{9A6AA41B-B771-FCDF-153C-68BF2733B1B4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2164787" y="2982095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" name="Google Shape;1413;p5">
            <a:extLst>
              <a:ext uri="{FF2B5EF4-FFF2-40B4-BE49-F238E27FC236}">
                <a16:creationId xmlns:a16="http://schemas.microsoft.com/office/drawing/2014/main" id="{AF6DA0FC-2950-49BC-52B9-0F3098309F47}"/>
              </a:ext>
            </a:extLst>
          </p:cNvPr>
          <p:cNvCxnSpPr>
            <a:cxnSpLocks/>
            <a:stCxn id="47" idx="2"/>
            <a:endCxn id="2375" idx="0"/>
          </p:cNvCxnSpPr>
          <p:nvPr/>
        </p:nvCxnSpPr>
        <p:spPr>
          <a:xfrm>
            <a:off x="3539944" y="2976821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5" name="Google Shape;1376;p4">
            <a:extLst>
              <a:ext uri="{FF2B5EF4-FFF2-40B4-BE49-F238E27FC236}">
                <a16:creationId xmlns:a16="http://schemas.microsoft.com/office/drawing/2014/main" id="{0961A169-5CDA-099B-887D-2714A148C7C5}"/>
              </a:ext>
            </a:extLst>
          </p:cNvPr>
          <p:cNvSpPr/>
          <p:nvPr/>
        </p:nvSpPr>
        <p:spPr>
          <a:xfrm>
            <a:off x="3093053" y="3317916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dirty="0">
              <a:latin typeface="Metropolis" pitchFamily="2" charset="77"/>
            </a:endParaRPr>
          </a:p>
        </p:txBody>
      </p:sp>
      <p:sp>
        <p:nvSpPr>
          <p:cNvPr id="2380" name="TextBox 2379">
            <a:extLst>
              <a:ext uri="{FF2B5EF4-FFF2-40B4-BE49-F238E27FC236}">
                <a16:creationId xmlns:a16="http://schemas.microsoft.com/office/drawing/2014/main" id="{0BF8EE96-4B60-3729-D4BA-6F9AA4B0F1C3}"/>
              </a:ext>
            </a:extLst>
          </p:cNvPr>
          <p:cNvSpPr txBox="1"/>
          <p:nvPr/>
        </p:nvSpPr>
        <p:spPr>
          <a:xfrm>
            <a:off x="4693310" y="1389571"/>
            <a:ext cx="739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Switch-A</a:t>
            </a:r>
          </a:p>
        </p:txBody>
      </p:sp>
      <p:sp>
        <p:nvSpPr>
          <p:cNvPr id="2381" name="TextBox 2380">
            <a:extLst>
              <a:ext uri="{FF2B5EF4-FFF2-40B4-BE49-F238E27FC236}">
                <a16:creationId xmlns:a16="http://schemas.microsoft.com/office/drawing/2014/main" id="{CCCB50D7-CA49-EB4C-6EC5-18D52DE49117}"/>
              </a:ext>
            </a:extLst>
          </p:cNvPr>
          <p:cNvSpPr txBox="1"/>
          <p:nvPr/>
        </p:nvSpPr>
        <p:spPr>
          <a:xfrm>
            <a:off x="7152625" y="1373592"/>
            <a:ext cx="72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Switch-B</a:t>
            </a:r>
          </a:p>
        </p:txBody>
      </p:sp>
      <p:cxnSp>
        <p:nvCxnSpPr>
          <p:cNvPr id="2395" name="Google Shape;1421;p5">
            <a:extLst>
              <a:ext uri="{FF2B5EF4-FFF2-40B4-BE49-F238E27FC236}">
                <a16:creationId xmlns:a16="http://schemas.microsoft.com/office/drawing/2014/main" id="{5B519A27-0C71-4B21-6CA4-F8F5CDB1A730}"/>
              </a:ext>
            </a:extLst>
          </p:cNvPr>
          <p:cNvCxnSpPr>
            <a:cxnSpLocks/>
            <a:stCxn id="9" idx="2"/>
            <a:endCxn id="2402" idx="0"/>
          </p:cNvCxnSpPr>
          <p:nvPr/>
        </p:nvCxnSpPr>
        <p:spPr>
          <a:xfrm flipH="1">
            <a:off x="1762514" y="3695087"/>
            <a:ext cx="402273" cy="60736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08" name="Google Shape;1421;p5">
            <a:extLst>
              <a:ext uri="{FF2B5EF4-FFF2-40B4-BE49-F238E27FC236}">
                <a16:creationId xmlns:a16="http://schemas.microsoft.com/office/drawing/2014/main" id="{D13F9A81-BC8D-FD93-0A42-CF46CD8ED5EF}"/>
              </a:ext>
            </a:extLst>
          </p:cNvPr>
          <p:cNvCxnSpPr>
            <a:cxnSpLocks/>
            <a:stCxn id="9" idx="2"/>
            <a:endCxn id="2403" idx="0"/>
          </p:cNvCxnSpPr>
          <p:nvPr/>
        </p:nvCxnSpPr>
        <p:spPr>
          <a:xfrm>
            <a:off x="2164787" y="3695087"/>
            <a:ext cx="668697" cy="61444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3" name="Google Shape;1421;p5">
            <a:extLst>
              <a:ext uri="{FF2B5EF4-FFF2-40B4-BE49-F238E27FC236}">
                <a16:creationId xmlns:a16="http://schemas.microsoft.com/office/drawing/2014/main" id="{CE5A7F31-9A36-AB26-AF0E-E1381625B82B}"/>
              </a:ext>
            </a:extLst>
          </p:cNvPr>
          <p:cNvCxnSpPr>
            <a:cxnSpLocks/>
            <a:stCxn id="2405" idx="0"/>
            <a:endCxn id="9" idx="2"/>
          </p:cNvCxnSpPr>
          <p:nvPr/>
        </p:nvCxnSpPr>
        <p:spPr>
          <a:xfrm flipH="1" flipV="1">
            <a:off x="2164787" y="3695087"/>
            <a:ext cx="1740833" cy="61444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6" name="Google Shape;1421;p5">
            <a:extLst>
              <a:ext uri="{FF2B5EF4-FFF2-40B4-BE49-F238E27FC236}">
                <a16:creationId xmlns:a16="http://schemas.microsoft.com/office/drawing/2014/main" id="{2C6DFC1C-C853-ED71-5FBF-A7F2D9257EF7}"/>
              </a:ext>
            </a:extLst>
          </p:cNvPr>
          <p:cNvCxnSpPr>
            <a:cxnSpLocks/>
            <a:stCxn id="2405" idx="0"/>
            <a:endCxn id="2375" idx="2"/>
          </p:cNvCxnSpPr>
          <p:nvPr/>
        </p:nvCxnSpPr>
        <p:spPr>
          <a:xfrm flipH="1" flipV="1">
            <a:off x="3542532" y="3707545"/>
            <a:ext cx="363088" cy="601983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7" name="Google Shape;1376;p4">
            <a:extLst>
              <a:ext uri="{FF2B5EF4-FFF2-40B4-BE49-F238E27FC236}">
                <a16:creationId xmlns:a16="http://schemas.microsoft.com/office/drawing/2014/main" id="{CB73980F-74F6-022A-A2AD-B92BE558B13D}"/>
              </a:ext>
            </a:extLst>
          </p:cNvPr>
          <p:cNvSpPr/>
          <p:nvPr/>
        </p:nvSpPr>
        <p:spPr>
          <a:xfrm>
            <a:off x="5432396" y="2569853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pNIC3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8" name="Google Shape;1376;p4">
            <a:extLst>
              <a:ext uri="{FF2B5EF4-FFF2-40B4-BE49-F238E27FC236}">
                <a16:creationId xmlns:a16="http://schemas.microsoft.com/office/drawing/2014/main" id="{C200EB0E-383F-6087-E1A7-418C68EBCD69}"/>
              </a:ext>
            </a:extLst>
          </p:cNvPr>
          <p:cNvSpPr/>
          <p:nvPr/>
        </p:nvSpPr>
        <p:spPr>
          <a:xfrm>
            <a:off x="6638053" y="2569042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pNIC4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9" name="Google Shape;1413;p5">
            <a:extLst>
              <a:ext uri="{FF2B5EF4-FFF2-40B4-BE49-F238E27FC236}">
                <a16:creationId xmlns:a16="http://schemas.microsoft.com/office/drawing/2014/main" id="{A711D407-5984-0532-03D6-FAFDF6221E05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 flipH="1">
            <a:off x="5703566" y="2959483"/>
            <a:ext cx="1469" cy="34661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" name="Google Shape;1413;p5">
            <a:extLst>
              <a:ext uri="{FF2B5EF4-FFF2-40B4-BE49-F238E27FC236}">
                <a16:creationId xmlns:a16="http://schemas.microsoft.com/office/drawing/2014/main" id="{AD0BCB86-625E-05BB-9AEE-67058D3BE49E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6910692" y="2958672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" name="Google Shape;2404;p20">
            <a:extLst>
              <a:ext uri="{FF2B5EF4-FFF2-40B4-BE49-F238E27FC236}">
                <a16:creationId xmlns:a16="http://schemas.microsoft.com/office/drawing/2014/main" id="{05863CA0-FB88-9A49-CF21-C5A850227822}"/>
              </a:ext>
            </a:extLst>
          </p:cNvPr>
          <p:cNvSpPr txBox="1"/>
          <p:nvPr/>
        </p:nvSpPr>
        <p:spPr>
          <a:xfrm>
            <a:off x="5687656" y="4729341"/>
            <a:ext cx="1237170" cy="15388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2"/>
                </a:solidFill>
                <a:latin typeface="Metropolis" pitchFamily="2" charset="77"/>
              </a:rPr>
              <a:t>vDS02 with NSX</a:t>
            </a:r>
            <a:endParaRPr dirty="0">
              <a:latin typeface="Metropolis" pitchFamily="2" charset="77"/>
            </a:endParaRPr>
          </a:p>
        </p:txBody>
      </p:sp>
      <p:cxnSp>
        <p:nvCxnSpPr>
          <p:cNvPr id="48" name="Google Shape;1421;p5">
            <a:extLst>
              <a:ext uri="{FF2B5EF4-FFF2-40B4-BE49-F238E27FC236}">
                <a16:creationId xmlns:a16="http://schemas.microsoft.com/office/drawing/2014/main" id="{836802C1-E93A-D727-AA8A-111ACE25A178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 flipH="1">
            <a:off x="5705035" y="1736385"/>
            <a:ext cx="5558" cy="833468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3" name="Google Shape;1421;p5">
            <a:extLst>
              <a:ext uri="{FF2B5EF4-FFF2-40B4-BE49-F238E27FC236}">
                <a16:creationId xmlns:a16="http://schemas.microsoft.com/office/drawing/2014/main" id="{FD2B16C5-53D4-3640-A7CC-4AEDD6BDB90D}"/>
              </a:ext>
            </a:extLst>
          </p:cNvPr>
          <p:cNvCxnSpPr>
            <a:cxnSpLocks/>
            <a:stCxn id="17" idx="2"/>
            <a:endCxn id="28" idx="0"/>
          </p:cNvCxnSpPr>
          <p:nvPr/>
        </p:nvCxnSpPr>
        <p:spPr>
          <a:xfrm>
            <a:off x="6910215" y="1736385"/>
            <a:ext cx="477" cy="832657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70" name="Google Shape;1421;p5">
            <a:extLst>
              <a:ext uri="{FF2B5EF4-FFF2-40B4-BE49-F238E27FC236}">
                <a16:creationId xmlns:a16="http://schemas.microsoft.com/office/drawing/2014/main" id="{7E5C5ACB-AFC3-F517-EAAE-C645965AA2B6}"/>
              </a:ext>
            </a:extLst>
          </p:cNvPr>
          <p:cNvCxnSpPr>
            <a:cxnSpLocks/>
            <a:stCxn id="2375" idx="2"/>
            <a:endCxn id="2402" idx="0"/>
          </p:cNvCxnSpPr>
          <p:nvPr/>
        </p:nvCxnSpPr>
        <p:spPr>
          <a:xfrm flipH="1">
            <a:off x="1762514" y="3707545"/>
            <a:ext cx="1780018" cy="59491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41" name="Google Shape;1421;p5">
            <a:extLst>
              <a:ext uri="{FF2B5EF4-FFF2-40B4-BE49-F238E27FC236}">
                <a16:creationId xmlns:a16="http://schemas.microsoft.com/office/drawing/2014/main" id="{89F63D84-5A03-355B-1032-FCCA4A28A99D}"/>
              </a:ext>
            </a:extLst>
          </p:cNvPr>
          <p:cNvCxnSpPr>
            <a:cxnSpLocks/>
            <a:stCxn id="2375" idx="2"/>
            <a:endCxn id="2403" idx="0"/>
          </p:cNvCxnSpPr>
          <p:nvPr/>
        </p:nvCxnSpPr>
        <p:spPr>
          <a:xfrm flipH="1">
            <a:off x="2833484" y="3707545"/>
            <a:ext cx="709048" cy="601983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18" name="Google Shape;2399;p20">
            <a:extLst>
              <a:ext uri="{FF2B5EF4-FFF2-40B4-BE49-F238E27FC236}">
                <a16:creationId xmlns:a16="http://schemas.microsoft.com/office/drawing/2014/main" id="{DB4B57EE-D05E-7D94-D645-389AC2402706}"/>
              </a:ext>
            </a:extLst>
          </p:cNvPr>
          <p:cNvSpPr/>
          <p:nvPr/>
        </p:nvSpPr>
        <p:spPr>
          <a:xfrm>
            <a:off x="4615520" y="3488438"/>
            <a:ext cx="3369288" cy="201958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vDS02 with NSX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1376;p4">
            <a:extLst>
              <a:ext uri="{FF2B5EF4-FFF2-40B4-BE49-F238E27FC236}">
                <a16:creationId xmlns:a16="http://schemas.microsoft.com/office/drawing/2014/main" id="{3FD5B894-BD7B-6CD9-9FCE-34DAA75D2655}"/>
              </a:ext>
            </a:extLst>
          </p:cNvPr>
          <p:cNvSpPr/>
          <p:nvPr/>
        </p:nvSpPr>
        <p:spPr>
          <a:xfrm>
            <a:off x="5254087" y="3306098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dirty="0">
              <a:latin typeface="Metropolis" pitchFamily="2" charset="77"/>
            </a:endParaRPr>
          </a:p>
        </p:txBody>
      </p:sp>
      <p:sp>
        <p:nvSpPr>
          <p:cNvPr id="31" name="Google Shape;1376;p4">
            <a:extLst>
              <a:ext uri="{FF2B5EF4-FFF2-40B4-BE49-F238E27FC236}">
                <a16:creationId xmlns:a16="http://schemas.microsoft.com/office/drawing/2014/main" id="{DD44C1DF-5929-9165-FF2D-600C5E5D3153}"/>
              </a:ext>
            </a:extLst>
          </p:cNvPr>
          <p:cNvSpPr/>
          <p:nvPr/>
        </p:nvSpPr>
        <p:spPr>
          <a:xfrm>
            <a:off x="6463801" y="3299767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dirty="0">
              <a:latin typeface="Metropoli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048DFC-1B17-B790-F9CB-C73AC759DB11}"/>
              </a:ext>
            </a:extLst>
          </p:cNvPr>
          <p:cNvSpPr/>
          <p:nvPr/>
        </p:nvSpPr>
        <p:spPr>
          <a:xfrm>
            <a:off x="7425737" y="3494581"/>
            <a:ext cx="532310" cy="37699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NSX</a:t>
            </a:r>
          </a:p>
          <a:p>
            <a:pPr algn="ctr"/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Host TEP2</a:t>
            </a:r>
            <a:endParaRPr lang="en-US" sz="800" dirty="0">
              <a:latin typeface="Metropolis" pitchFamily="2" charset="77"/>
            </a:endParaRPr>
          </a:p>
        </p:txBody>
      </p:sp>
      <p:sp>
        <p:nvSpPr>
          <p:cNvPr id="19" name="Google Shape;2399;p20">
            <a:extLst>
              <a:ext uri="{FF2B5EF4-FFF2-40B4-BE49-F238E27FC236}">
                <a16:creationId xmlns:a16="http://schemas.microsoft.com/office/drawing/2014/main" id="{11EB78C5-9149-F913-486C-1AB823DED7C0}"/>
              </a:ext>
            </a:extLst>
          </p:cNvPr>
          <p:cNvSpPr/>
          <p:nvPr/>
        </p:nvSpPr>
        <p:spPr>
          <a:xfrm>
            <a:off x="8093489" y="3496313"/>
            <a:ext cx="3338479" cy="201171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vDS03 with Storage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" name="Google Shape;1379;p4">
            <a:extLst>
              <a:ext uri="{FF2B5EF4-FFF2-40B4-BE49-F238E27FC236}">
                <a16:creationId xmlns:a16="http://schemas.microsoft.com/office/drawing/2014/main" id="{3768D482-3955-2A22-8FFE-98C8FC126258}"/>
              </a:ext>
            </a:extLst>
          </p:cNvPr>
          <p:cNvSpPr/>
          <p:nvPr/>
        </p:nvSpPr>
        <p:spPr>
          <a:xfrm>
            <a:off x="9258728" y="4309529"/>
            <a:ext cx="1007999" cy="59253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Storage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dPG</a:t>
            </a:r>
            <a:endParaRPr dirty="0">
              <a:latin typeface="Metropolis" pitchFamily="2" charset="77"/>
            </a:endParaRPr>
          </a:p>
        </p:txBody>
      </p:sp>
      <p:cxnSp>
        <p:nvCxnSpPr>
          <p:cNvPr id="56" name="Google Shape;1413;p5">
            <a:extLst>
              <a:ext uri="{FF2B5EF4-FFF2-40B4-BE49-F238E27FC236}">
                <a16:creationId xmlns:a16="http://schemas.microsoft.com/office/drawing/2014/main" id="{786B9F31-FDC6-97C7-F29A-47112C6D6BD3}"/>
              </a:ext>
            </a:extLst>
          </p:cNvPr>
          <p:cNvCxnSpPr>
            <a:cxnSpLocks/>
            <a:stCxn id="2371" idx="2"/>
            <a:endCxn id="13" idx="0"/>
          </p:cNvCxnSpPr>
          <p:nvPr/>
        </p:nvCxnSpPr>
        <p:spPr>
          <a:xfrm>
            <a:off x="9118628" y="3665941"/>
            <a:ext cx="644100" cy="643588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" name="Google Shape;1413;p5">
            <a:extLst>
              <a:ext uri="{FF2B5EF4-FFF2-40B4-BE49-F238E27FC236}">
                <a16:creationId xmlns:a16="http://schemas.microsoft.com/office/drawing/2014/main" id="{697E26A7-FC3E-7FDE-054C-64FE65D52BCC}"/>
              </a:ext>
            </a:extLst>
          </p:cNvPr>
          <p:cNvCxnSpPr>
            <a:cxnSpLocks/>
            <a:stCxn id="2372" idx="2"/>
            <a:endCxn id="13" idx="0"/>
          </p:cNvCxnSpPr>
          <p:nvPr/>
        </p:nvCxnSpPr>
        <p:spPr>
          <a:xfrm flipH="1">
            <a:off x="9762728" y="3678399"/>
            <a:ext cx="733645" cy="63113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9" name="Google Shape;1376;p4">
            <a:extLst>
              <a:ext uri="{FF2B5EF4-FFF2-40B4-BE49-F238E27FC236}">
                <a16:creationId xmlns:a16="http://schemas.microsoft.com/office/drawing/2014/main" id="{1036BC67-B62B-3296-64CD-74D138017A6B}"/>
              </a:ext>
            </a:extLst>
          </p:cNvPr>
          <p:cNvSpPr/>
          <p:nvPr/>
        </p:nvSpPr>
        <p:spPr>
          <a:xfrm>
            <a:off x="8850687" y="2563319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pNIC5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60" name="Google Shape;1376;p4">
            <a:extLst>
              <a:ext uri="{FF2B5EF4-FFF2-40B4-BE49-F238E27FC236}">
                <a16:creationId xmlns:a16="http://schemas.microsoft.com/office/drawing/2014/main" id="{7AF8EB50-65B1-D649-1666-F490755ADD51}"/>
              </a:ext>
            </a:extLst>
          </p:cNvPr>
          <p:cNvSpPr/>
          <p:nvPr/>
        </p:nvSpPr>
        <p:spPr>
          <a:xfrm>
            <a:off x="10221146" y="2558045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pNIC6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62" name="Google Shape;1413;p5">
            <a:extLst>
              <a:ext uri="{FF2B5EF4-FFF2-40B4-BE49-F238E27FC236}">
                <a16:creationId xmlns:a16="http://schemas.microsoft.com/office/drawing/2014/main" id="{707443D6-9DE5-D0A6-3E42-68A7142FD9AD}"/>
              </a:ext>
            </a:extLst>
          </p:cNvPr>
          <p:cNvCxnSpPr>
            <a:cxnSpLocks/>
            <a:stCxn id="59" idx="2"/>
            <a:endCxn id="2371" idx="0"/>
          </p:cNvCxnSpPr>
          <p:nvPr/>
        </p:nvCxnSpPr>
        <p:spPr>
          <a:xfrm flipH="1">
            <a:off x="9118628" y="2952949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" name="Google Shape;1413;p5">
            <a:extLst>
              <a:ext uri="{FF2B5EF4-FFF2-40B4-BE49-F238E27FC236}">
                <a16:creationId xmlns:a16="http://schemas.microsoft.com/office/drawing/2014/main" id="{60BD2F1E-4F34-A28D-A5A7-AE9E6C2C48EE}"/>
              </a:ext>
            </a:extLst>
          </p:cNvPr>
          <p:cNvCxnSpPr>
            <a:cxnSpLocks/>
            <a:stCxn id="60" idx="2"/>
            <a:endCxn id="2372" idx="0"/>
          </p:cNvCxnSpPr>
          <p:nvPr/>
        </p:nvCxnSpPr>
        <p:spPr>
          <a:xfrm>
            <a:off x="10493785" y="2947675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68" name="Google Shape;1421;p5">
            <a:extLst>
              <a:ext uri="{FF2B5EF4-FFF2-40B4-BE49-F238E27FC236}">
                <a16:creationId xmlns:a16="http://schemas.microsoft.com/office/drawing/2014/main" id="{87E14EAF-F3FE-AB0F-A0F8-8AE297F75AF1}"/>
              </a:ext>
            </a:extLst>
          </p:cNvPr>
          <p:cNvCxnSpPr>
            <a:cxnSpLocks/>
            <a:stCxn id="7" idx="2"/>
            <a:endCxn id="59" idx="0"/>
          </p:cNvCxnSpPr>
          <p:nvPr/>
        </p:nvCxnSpPr>
        <p:spPr>
          <a:xfrm>
            <a:off x="5710593" y="1736385"/>
            <a:ext cx="3412733" cy="82693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69" name="Google Shape;1421;p5">
            <a:extLst>
              <a:ext uri="{FF2B5EF4-FFF2-40B4-BE49-F238E27FC236}">
                <a16:creationId xmlns:a16="http://schemas.microsoft.com/office/drawing/2014/main" id="{F6E41658-9858-5651-2D95-C82E873ABD43}"/>
              </a:ext>
            </a:extLst>
          </p:cNvPr>
          <p:cNvCxnSpPr>
            <a:cxnSpLocks/>
            <a:stCxn id="17" idx="2"/>
            <a:endCxn id="60" idx="0"/>
          </p:cNvCxnSpPr>
          <p:nvPr/>
        </p:nvCxnSpPr>
        <p:spPr>
          <a:xfrm>
            <a:off x="6910215" y="1736385"/>
            <a:ext cx="3583570" cy="821660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371" name="Google Shape;1376;p4">
            <a:extLst>
              <a:ext uri="{FF2B5EF4-FFF2-40B4-BE49-F238E27FC236}">
                <a16:creationId xmlns:a16="http://schemas.microsoft.com/office/drawing/2014/main" id="{D94401C6-88DD-6D9F-062A-472D00CF7C3D}"/>
              </a:ext>
            </a:extLst>
          </p:cNvPr>
          <p:cNvSpPr/>
          <p:nvPr/>
        </p:nvSpPr>
        <p:spPr>
          <a:xfrm>
            <a:off x="8669149" y="3288943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dirty="0">
              <a:latin typeface="Metropolis" pitchFamily="2" charset="77"/>
            </a:endParaRPr>
          </a:p>
        </p:txBody>
      </p:sp>
      <p:sp>
        <p:nvSpPr>
          <p:cNvPr id="2372" name="Google Shape;1376;p4">
            <a:extLst>
              <a:ext uri="{FF2B5EF4-FFF2-40B4-BE49-F238E27FC236}">
                <a16:creationId xmlns:a16="http://schemas.microsoft.com/office/drawing/2014/main" id="{D3C351F4-19A5-0056-E964-B95C9D540768}"/>
              </a:ext>
            </a:extLst>
          </p:cNvPr>
          <p:cNvSpPr/>
          <p:nvPr/>
        </p:nvSpPr>
        <p:spPr>
          <a:xfrm>
            <a:off x="10046894" y="3288770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dirty="0">
              <a:latin typeface="Metropolis" pitchFamily="2" charset="77"/>
            </a:endParaRPr>
          </a:p>
        </p:txBody>
      </p:sp>
      <p:sp>
        <p:nvSpPr>
          <p:cNvPr id="2417" name="Rounded Rectangle 2416">
            <a:extLst>
              <a:ext uri="{FF2B5EF4-FFF2-40B4-BE49-F238E27FC236}">
                <a16:creationId xmlns:a16="http://schemas.microsoft.com/office/drawing/2014/main" id="{6D202275-B25D-D698-98B8-1458012A0695}"/>
              </a:ext>
            </a:extLst>
          </p:cNvPr>
          <p:cNvSpPr/>
          <p:nvPr/>
        </p:nvSpPr>
        <p:spPr>
          <a:xfrm>
            <a:off x="4655299" y="3483584"/>
            <a:ext cx="532310" cy="37699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NSX</a:t>
            </a:r>
          </a:p>
          <a:p>
            <a:pPr algn="ctr"/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Host TEP1</a:t>
            </a:r>
            <a:endParaRPr lang="en-US" sz="800" dirty="0">
              <a:latin typeface="Metropolis" pitchFamily="2" charset="77"/>
            </a:endParaRPr>
          </a:p>
        </p:txBody>
      </p:sp>
      <p:cxnSp>
        <p:nvCxnSpPr>
          <p:cNvPr id="2428" name="Google Shape;1413;p5">
            <a:extLst>
              <a:ext uri="{FF2B5EF4-FFF2-40B4-BE49-F238E27FC236}">
                <a16:creationId xmlns:a16="http://schemas.microsoft.com/office/drawing/2014/main" id="{3898E63A-B79E-DEBC-48A1-CC5A1DCAE5A8}"/>
              </a:ext>
            </a:extLst>
          </p:cNvPr>
          <p:cNvCxnSpPr>
            <a:cxnSpLocks/>
            <a:stCxn id="27" idx="2"/>
            <a:endCxn id="2417" idx="0"/>
          </p:cNvCxnSpPr>
          <p:nvPr/>
        </p:nvCxnSpPr>
        <p:spPr>
          <a:xfrm flipH="1">
            <a:off x="4921454" y="2959483"/>
            <a:ext cx="783581" cy="524101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31" name="Google Shape;1413;p5">
            <a:extLst>
              <a:ext uri="{FF2B5EF4-FFF2-40B4-BE49-F238E27FC236}">
                <a16:creationId xmlns:a16="http://schemas.microsoft.com/office/drawing/2014/main" id="{A41891F3-F4A4-2F85-0F90-3501DEC2CD4C}"/>
              </a:ext>
            </a:extLst>
          </p:cNvPr>
          <p:cNvCxnSpPr>
            <a:cxnSpLocks/>
            <a:stCxn id="28" idx="2"/>
            <a:endCxn id="4" idx="0"/>
          </p:cNvCxnSpPr>
          <p:nvPr/>
        </p:nvCxnSpPr>
        <p:spPr>
          <a:xfrm>
            <a:off x="6910692" y="2958672"/>
            <a:ext cx="781200" cy="535909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A747867D-8D7E-3F32-9599-C45EFF70CD06}"/>
              </a:ext>
            </a:extLst>
          </p:cNvPr>
          <p:cNvGrpSpPr/>
          <p:nvPr/>
        </p:nvGrpSpPr>
        <p:grpSpPr>
          <a:xfrm>
            <a:off x="5458593" y="1196385"/>
            <a:ext cx="503999" cy="540000"/>
            <a:chOff x="9321542" y="1289797"/>
            <a:chExt cx="348692" cy="350167"/>
          </a:xfrm>
        </p:grpSpPr>
        <p:sp>
          <p:nvSpPr>
            <p:cNvPr id="7" name="Google Shape;2074;p72">
              <a:extLst>
                <a:ext uri="{FF2B5EF4-FFF2-40B4-BE49-F238E27FC236}">
                  <a16:creationId xmlns:a16="http://schemas.microsoft.com/office/drawing/2014/main" id="{2B64C943-AA41-0A26-E8E4-947A48504FBC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" name="Google Shape;2075;p72">
              <a:extLst>
                <a:ext uri="{FF2B5EF4-FFF2-40B4-BE49-F238E27FC236}">
                  <a16:creationId xmlns:a16="http://schemas.microsoft.com/office/drawing/2014/main" id="{2B66C33F-D1CA-CE4F-6823-CB1F4ED1A259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1" name="Google Shape;2076;p72">
              <a:extLst>
                <a:ext uri="{FF2B5EF4-FFF2-40B4-BE49-F238E27FC236}">
                  <a16:creationId xmlns:a16="http://schemas.microsoft.com/office/drawing/2014/main" id="{3F323455-B358-BC7E-D070-E3C0CA70EDD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2" name="Google Shape;2077;p72">
              <a:extLst>
                <a:ext uri="{FF2B5EF4-FFF2-40B4-BE49-F238E27FC236}">
                  <a16:creationId xmlns:a16="http://schemas.microsoft.com/office/drawing/2014/main" id="{4AFBCD90-4405-F4F0-6888-EC103DE5983F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4" name="Google Shape;2078;p72">
              <a:extLst>
                <a:ext uri="{FF2B5EF4-FFF2-40B4-BE49-F238E27FC236}">
                  <a16:creationId xmlns:a16="http://schemas.microsoft.com/office/drawing/2014/main" id="{E290CF58-031C-DAD5-93AE-3F4477A6EDD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DF543F-4DF8-0B8F-0310-EE5B2AF08C47}"/>
              </a:ext>
            </a:extLst>
          </p:cNvPr>
          <p:cNvGrpSpPr/>
          <p:nvPr/>
        </p:nvGrpSpPr>
        <p:grpSpPr>
          <a:xfrm>
            <a:off x="6658215" y="1196385"/>
            <a:ext cx="503999" cy="540000"/>
            <a:chOff x="9321542" y="1289797"/>
            <a:chExt cx="348692" cy="350167"/>
          </a:xfrm>
        </p:grpSpPr>
        <p:sp>
          <p:nvSpPr>
            <p:cNvPr id="17" name="Google Shape;2074;p72">
              <a:extLst>
                <a:ext uri="{FF2B5EF4-FFF2-40B4-BE49-F238E27FC236}">
                  <a16:creationId xmlns:a16="http://schemas.microsoft.com/office/drawing/2014/main" id="{236203C7-02EE-9652-F486-BE4212D24825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" name="Google Shape;2075;p72">
              <a:extLst>
                <a:ext uri="{FF2B5EF4-FFF2-40B4-BE49-F238E27FC236}">
                  <a16:creationId xmlns:a16="http://schemas.microsoft.com/office/drawing/2014/main" id="{443A5186-EDD9-3CB9-6754-BEBA05627C52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" name="Google Shape;2076;p72">
              <a:extLst>
                <a:ext uri="{FF2B5EF4-FFF2-40B4-BE49-F238E27FC236}">
                  <a16:creationId xmlns:a16="http://schemas.microsoft.com/office/drawing/2014/main" id="{941DAFD8-4533-24B2-F516-3F83DA61CDC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" name="Google Shape;2077;p72">
              <a:extLst>
                <a:ext uri="{FF2B5EF4-FFF2-40B4-BE49-F238E27FC236}">
                  <a16:creationId xmlns:a16="http://schemas.microsoft.com/office/drawing/2014/main" id="{8C35052D-655B-DFDA-76BB-719FEA592D27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" name="Google Shape;2078;p72">
              <a:extLst>
                <a:ext uri="{FF2B5EF4-FFF2-40B4-BE49-F238E27FC236}">
                  <a16:creationId xmlns:a16="http://schemas.microsoft.com/office/drawing/2014/main" id="{ED6A1925-D510-2498-1264-81E47B572F3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54" name="Title 53">
            <a:extLst>
              <a:ext uri="{FF2B5EF4-FFF2-40B4-BE49-F238E27FC236}">
                <a16:creationId xmlns:a16="http://schemas.microsoft.com/office/drawing/2014/main" id="{3D15842B-3323-6844-6B82-21EAEB68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Storage and Workload Separation Distributed Switch v1.2</a:t>
            </a:r>
          </a:p>
        </p:txBody>
      </p:sp>
    </p:spTree>
    <p:extLst>
      <p:ext uri="{BB962C8B-B14F-4D97-AF65-F5344CB8AC3E}">
        <p14:creationId xmlns:p14="http://schemas.microsoft.com/office/powerpoint/2010/main" val="68896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6D1A9C1E-E0BC-C8E8-4ED7-92232EBE0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07FF197-2C68-9D85-6862-9F58A060DC54}"/>
              </a:ext>
            </a:extLst>
          </p:cNvPr>
          <p:cNvSpPr/>
          <p:nvPr/>
        </p:nvSpPr>
        <p:spPr>
          <a:xfrm>
            <a:off x="1195308" y="990756"/>
            <a:ext cx="10271106" cy="51111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Metropolis" pitchFamily="2" charset="77"/>
            </a:endParaRPr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4F937E60-B90E-5165-F99D-B8C4C975902A}"/>
              </a:ext>
            </a:extLst>
          </p:cNvPr>
          <p:cNvSpPr/>
          <p:nvPr/>
        </p:nvSpPr>
        <p:spPr>
          <a:xfrm>
            <a:off x="1336439" y="2602172"/>
            <a:ext cx="10028711" cy="337021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 dirty="0">
                <a:latin typeface="Metropolis" pitchFamily="2" charset="77"/>
              </a:rPr>
              <a:t>ESX Host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399" name="Google Shape;2399;p20">
            <a:extLst>
              <a:ext uri="{FF2B5EF4-FFF2-40B4-BE49-F238E27FC236}">
                <a16:creationId xmlns:a16="http://schemas.microsoft.com/office/drawing/2014/main" id="{3CA2B0BB-86C7-7C18-D895-B7A2A82FB051}"/>
              </a:ext>
            </a:extLst>
          </p:cNvPr>
          <p:cNvSpPr/>
          <p:nvPr/>
        </p:nvSpPr>
        <p:spPr>
          <a:xfrm>
            <a:off x="1498225" y="3321161"/>
            <a:ext cx="4786277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vDS01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34" name="Google Shape;1421;p5">
            <a:extLst>
              <a:ext uri="{FF2B5EF4-FFF2-40B4-BE49-F238E27FC236}">
                <a16:creationId xmlns:a16="http://schemas.microsoft.com/office/drawing/2014/main" id="{4B510E5C-5C29-33BB-D2D0-8961E7CC70F7}"/>
              </a:ext>
            </a:extLst>
          </p:cNvPr>
          <p:cNvCxnSpPr>
            <a:cxnSpLocks/>
            <a:stCxn id="11" idx="2"/>
            <a:endCxn id="2" idx="0"/>
          </p:cNvCxnSpPr>
          <p:nvPr/>
        </p:nvCxnSpPr>
        <p:spPr>
          <a:xfrm flipH="1">
            <a:off x="3242628" y="1709744"/>
            <a:ext cx="2379809" cy="726766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6" name="Google Shape;1421;p5">
            <a:extLst>
              <a:ext uri="{FF2B5EF4-FFF2-40B4-BE49-F238E27FC236}">
                <a16:creationId xmlns:a16="http://schemas.microsoft.com/office/drawing/2014/main" id="{880B63FB-3DAD-B612-8C1C-6CEA89E0E071}"/>
              </a:ext>
            </a:extLst>
          </p:cNvPr>
          <p:cNvCxnSpPr>
            <a:cxnSpLocks/>
            <a:stCxn id="18" idx="2"/>
            <a:endCxn id="47" idx="0"/>
          </p:cNvCxnSpPr>
          <p:nvPr/>
        </p:nvCxnSpPr>
        <p:spPr>
          <a:xfrm flipH="1">
            <a:off x="4613087" y="1711950"/>
            <a:ext cx="2317272" cy="719286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9" name="Google Shape;1376;p4">
            <a:extLst>
              <a:ext uri="{FF2B5EF4-FFF2-40B4-BE49-F238E27FC236}">
                <a16:creationId xmlns:a16="http://schemas.microsoft.com/office/drawing/2014/main" id="{DA5083F1-9BB3-9A8A-48B2-452C65407631}"/>
              </a:ext>
            </a:extLst>
          </p:cNvPr>
          <p:cNvSpPr/>
          <p:nvPr/>
        </p:nvSpPr>
        <p:spPr>
          <a:xfrm>
            <a:off x="2788451" y="3162134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" name="Google Shape;1376;p4">
            <a:extLst>
              <a:ext uri="{FF2B5EF4-FFF2-40B4-BE49-F238E27FC236}">
                <a16:creationId xmlns:a16="http://schemas.microsoft.com/office/drawing/2014/main" id="{3C99B4E0-4FE9-9162-8A34-26F6E3B634E5}"/>
              </a:ext>
            </a:extLst>
          </p:cNvPr>
          <p:cNvSpPr/>
          <p:nvPr/>
        </p:nvSpPr>
        <p:spPr>
          <a:xfrm>
            <a:off x="2969989" y="2436510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pNIC1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47" name="Google Shape;1376;p4">
            <a:extLst>
              <a:ext uri="{FF2B5EF4-FFF2-40B4-BE49-F238E27FC236}">
                <a16:creationId xmlns:a16="http://schemas.microsoft.com/office/drawing/2014/main" id="{727D588F-FF1E-97F3-1807-08A0FE61C411}"/>
              </a:ext>
            </a:extLst>
          </p:cNvPr>
          <p:cNvSpPr/>
          <p:nvPr/>
        </p:nvSpPr>
        <p:spPr>
          <a:xfrm>
            <a:off x="4340448" y="2431236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pNIC2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57" name="Google Shape;1413;p5">
            <a:extLst>
              <a:ext uri="{FF2B5EF4-FFF2-40B4-BE49-F238E27FC236}">
                <a16:creationId xmlns:a16="http://schemas.microsoft.com/office/drawing/2014/main" id="{9E154C65-878B-1E3F-A483-539B945DE1D3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3237930" y="2826140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" name="Google Shape;1413;p5">
            <a:extLst>
              <a:ext uri="{FF2B5EF4-FFF2-40B4-BE49-F238E27FC236}">
                <a16:creationId xmlns:a16="http://schemas.microsoft.com/office/drawing/2014/main" id="{B1769F70-E2FC-0AF3-FB8E-15447448EF3B}"/>
              </a:ext>
            </a:extLst>
          </p:cNvPr>
          <p:cNvCxnSpPr>
            <a:cxnSpLocks/>
            <a:stCxn id="47" idx="2"/>
            <a:endCxn id="2375" idx="0"/>
          </p:cNvCxnSpPr>
          <p:nvPr/>
        </p:nvCxnSpPr>
        <p:spPr>
          <a:xfrm>
            <a:off x="4613087" y="2820866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5" name="Google Shape;1376;p4">
            <a:extLst>
              <a:ext uri="{FF2B5EF4-FFF2-40B4-BE49-F238E27FC236}">
                <a16:creationId xmlns:a16="http://schemas.microsoft.com/office/drawing/2014/main" id="{23273A66-0CCB-A5D3-E396-696409C36961}"/>
              </a:ext>
            </a:extLst>
          </p:cNvPr>
          <p:cNvSpPr/>
          <p:nvPr/>
        </p:nvSpPr>
        <p:spPr>
          <a:xfrm>
            <a:off x="4166196" y="3161961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380" name="TextBox 2379">
            <a:extLst>
              <a:ext uri="{FF2B5EF4-FFF2-40B4-BE49-F238E27FC236}">
                <a16:creationId xmlns:a16="http://schemas.microsoft.com/office/drawing/2014/main" id="{445105E7-0843-7251-C39E-761E3C16CC0D}"/>
              </a:ext>
            </a:extLst>
          </p:cNvPr>
          <p:cNvSpPr txBox="1"/>
          <p:nvPr/>
        </p:nvSpPr>
        <p:spPr>
          <a:xfrm>
            <a:off x="4622219" y="1318839"/>
            <a:ext cx="739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Switch-A</a:t>
            </a:r>
          </a:p>
        </p:txBody>
      </p:sp>
      <p:sp>
        <p:nvSpPr>
          <p:cNvPr id="2381" name="TextBox 2380">
            <a:extLst>
              <a:ext uri="{FF2B5EF4-FFF2-40B4-BE49-F238E27FC236}">
                <a16:creationId xmlns:a16="http://schemas.microsoft.com/office/drawing/2014/main" id="{4694FF55-2639-D829-AAE6-83A35343C19E}"/>
              </a:ext>
            </a:extLst>
          </p:cNvPr>
          <p:cNvSpPr txBox="1"/>
          <p:nvPr/>
        </p:nvSpPr>
        <p:spPr>
          <a:xfrm>
            <a:off x="7159158" y="1315504"/>
            <a:ext cx="7315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Switch-B</a:t>
            </a:r>
          </a:p>
        </p:txBody>
      </p:sp>
      <p:cxnSp>
        <p:nvCxnSpPr>
          <p:cNvPr id="2395" name="Google Shape;1421;p5">
            <a:extLst>
              <a:ext uri="{FF2B5EF4-FFF2-40B4-BE49-F238E27FC236}">
                <a16:creationId xmlns:a16="http://schemas.microsoft.com/office/drawing/2014/main" id="{336CE9F2-2EEE-9FF3-4214-31F3BA34B344}"/>
              </a:ext>
            </a:extLst>
          </p:cNvPr>
          <p:cNvCxnSpPr>
            <a:cxnSpLocks/>
            <a:stCxn id="9" idx="2"/>
            <a:endCxn id="2409" idx="0"/>
          </p:cNvCxnSpPr>
          <p:nvPr/>
        </p:nvCxnSpPr>
        <p:spPr>
          <a:xfrm>
            <a:off x="3237930" y="3539132"/>
            <a:ext cx="72423" cy="366822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3" name="Google Shape;1421;p5">
            <a:extLst>
              <a:ext uri="{FF2B5EF4-FFF2-40B4-BE49-F238E27FC236}">
                <a16:creationId xmlns:a16="http://schemas.microsoft.com/office/drawing/2014/main" id="{12F01298-7059-0765-1194-FC7B742B920C}"/>
              </a:ext>
            </a:extLst>
          </p:cNvPr>
          <p:cNvCxnSpPr>
            <a:cxnSpLocks/>
            <a:stCxn id="2400" idx="0"/>
            <a:endCxn id="9" idx="2"/>
          </p:cNvCxnSpPr>
          <p:nvPr/>
        </p:nvCxnSpPr>
        <p:spPr>
          <a:xfrm flipH="1" flipV="1">
            <a:off x="3237930" y="3539132"/>
            <a:ext cx="2333287" cy="366822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dash"/>
            <a:miter lim="800000"/>
            <a:headEnd type="none" w="med" len="med"/>
            <a:tailEnd type="none" w="sm" len="sm"/>
          </a:ln>
        </p:spPr>
      </p:cxnSp>
      <p:cxnSp>
        <p:nvCxnSpPr>
          <p:cNvPr id="2416" name="Google Shape;1421;p5">
            <a:extLst>
              <a:ext uri="{FF2B5EF4-FFF2-40B4-BE49-F238E27FC236}">
                <a16:creationId xmlns:a16="http://schemas.microsoft.com/office/drawing/2014/main" id="{8F3575C3-29B7-D00C-FDD0-D69CE7788728}"/>
              </a:ext>
            </a:extLst>
          </p:cNvPr>
          <p:cNvCxnSpPr>
            <a:cxnSpLocks/>
            <a:stCxn id="2400" idx="0"/>
            <a:endCxn id="2375" idx="2"/>
          </p:cNvCxnSpPr>
          <p:nvPr/>
        </p:nvCxnSpPr>
        <p:spPr>
          <a:xfrm flipH="1" flipV="1">
            <a:off x="4615675" y="3551590"/>
            <a:ext cx="955542" cy="35436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503" name="Google Shape;1413;p5">
            <a:extLst>
              <a:ext uri="{FF2B5EF4-FFF2-40B4-BE49-F238E27FC236}">
                <a16:creationId xmlns:a16="http://schemas.microsoft.com/office/drawing/2014/main" id="{2DE1C285-094B-2FA5-A6C9-895EC90B5527}"/>
              </a:ext>
            </a:extLst>
          </p:cNvPr>
          <p:cNvCxnSpPr>
            <a:cxnSpLocks/>
            <a:stCxn id="27" idx="2"/>
            <a:endCxn id="2493" idx="0"/>
          </p:cNvCxnSpPr>
          <p:nvPr/>
        </p:nvCxnSpPr>
        <p:spPr>
          <a:xfrm flipH="1">
            <a:off x="7003173" y="2803463"/>
            <a:ext cx="1043499" cy="522251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05" name="Google Shape;1413;p5">
            <a:extLst>
              <a:ext uri="{FF2B5EF4-FFF2-40B4-BE49-F238E27FC236}">
                <a16:creationId xmlns:a16="http://schemas.microsoft.com/office/drawing/2014/main" id="{8DCF482E-2643-51AF-BD0F-0ED9BD047FB3}"/>
              </a:ext>
            </a:extLst>
          </p:cNvPr>
          <p:cNvCxnSpPr>
            <a:cxnSpLocks/>
            <a:stCxn id="28" idx="2"/>
            <a:endCxn id="2502" idx="0"/>
          </p:cNvCxnSpPr>
          <p:nvPr/>
        </p:nvCxnSpPr>
        <p:spPr>
          <a:xfrm>
            <a:off x="9417131" y="2798189"/>
            <a:ext cx="1126907" cy="529767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2399;p20">
            <a:extLst>
              <a:ext uri="{FF2B5EF4-FFF2-40B4-BE49-F238E27FC236}">
                <a16:creationId xmlns:a16="http://schemas.microsoft.com/office/drawing/2014/main" id="{DB7A411E-429D-8CFD-AF2D-1B40C166159A}"/>
              </a:ext>
            </a:extLst>
          </p:cNvPr>
          <p:cNvSpPr/>
          <p:nvPr/>
        </p:nvSpPr>
        <p:spPr>
          <a:xfrm>
            <a:off x="6436141" y="3332620"/>
            <a:ext cx="4708749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</a:rPr>
              <a:t>vDS</a:t>
            </a: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02 with NSX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1376;p4">
            <a:extLst>
              <a:ext uri="{FF2B5EF4-FFF2-40B4-BE49-F238E27FC236}">
                <a16:creationId xmlns:a16="http://schemas.microsoft.com/office/drawing/2014/main" id="{C3D9E91F-E5BE-8097-66E4-62B0EC0E0809}"/>
              </a:ext>
            </a:extLst>
          </p:cNvPr>
          <p:cNvSpPr/>
          <p:nvPr/>
        </p:nvSpPr>
        <p:spPr>
          <a:xfrm>
            <a:off x="7592495" y="3139457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7" name="Google Shape;1376;p4">
            <a:extLst>
              <a:ext uri="{FF2B5EF4-FFF2-40B4-BE49-F238E27FC236}">
                <a16:creationId xmlns:a16="http://schemas.microsoft.com/office/drawing/2014/main" id="{E64ADF74-12A1-CDFC-20A3-E337EDD77410}"/>
              </a:ext>
            </a:extLst>
          </p:cNvPr>
          <p:cNvSpPr/>
          <p:nvPr/>
        </p:nvSpPr>
        <p:spPr>
          <a:xfrm>
            <a:off x="7774033" y="2413833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pNIC3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8" name="Google Shape;1376;p4">
            <a:extLst>
              <a:ext uri="{FF2B5EF4-FFF2-40B4-BE49-F238E27FC236}">
                <a16:creationId xmlns:a16="http://schemas.microsoft.com/office/drawing/2014/main" id="{45901511-0A58-C345-CB29-E9A6409F7B09}"/>
              </a:ext>
            </a:extLst>
          </p:cNvPr>
          <p:cNvSpPr/>
          <p:nvPr/>
        </p:nvSpPr>
        <p:spPr>
          <a:xfrm>
            <a:off x="9144492" y="2408559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pNIC4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9" name="Google Shape;1413;p5">
            <a:extLst>
              <a:ext uri="{FF2B5EF4-FFF2-40B4-BE49-F238E27FC236}">
                <a16:creationId xmlns:a16="http://schemas.microsoft.com/office/drawing/2014/main" id="{3F7F7D44-B2F0-09A6-0FBF-0B1EAE776AE0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 flipH="1">
            <a:off x="8041974" y="2803463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" name="Google Shape;1413;p5">
            <a:extLst>
              <a:ext uri="{FF2B5EF4-FFF2-40B4-BE49-F238E27FC236}">
                <a16:creationId xmlns:a16="http://schemas.microsoft.com/office/drawing/2014/main" id="{E11E1442-3176-CAD4-850B-66D14DB96BFC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9417131" y="2798189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1376;p4">
            <a:extLst>
              <a:ext uri="{FF2B5EF4-FFF2-40B4-BE49-F238E27FC236}">
                <a16:creationId xmlns:a16="http://schemas.microsoft.com/office/drawing/2014/main" id="{31B25E23-FAEA-E767-D2A5-F719B5E3CDCD}"/>
              </a:ext>
            </a:extLst>
          </p:cNvPr>
          <p:cNvSpPr/>
          <p:nvPr/>
        </p:nvSpPr>
        <p:spPr>
          <a:xfrm>
            <a:off x="8970240" y="3139284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cxnSp>
        <p:nvCxnSpPr>
          <p:cNvPr id="48" name="Google Shape;1421;p5">
            <a:extLst>
              <a:ext uri="{FF2B5EF4-FFF2-40B4-BE49-F238E27FC236}">
                <a16:creationId xmlns:a16="http://schemas.microsoft.com/office/drawing/2014/main" id="{3537C96A-41B3-4D47-75F6-F5621A953CB1}"/>
              </a:ext>
            </a:extLst>
          </p:cNvPr>
          <p:cNvCxnSpPr>
            <a:cxnSpLocks/>
            <a:stCxn id="11" idx="2"/>
            <a:endCxn id="27" idx="0"/>
          </p:cNvCxnSpPr>
          <p:nvPr/>
        </p:nvCxnSpPr>
        <p:spPr>
          <a:xfrm>
            <a:off x="5622437" y="1709744"/>
            <a:ext cx="2424235" cy="70408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3" name="Google Shape;1421;p5">
            <a:extLst>
              <a:ext uri="{FF2B5EF4-FFF2-40B4-BE49-F238E27FC236}">
                <a16:creationId xmlns:a16="http://schemas.microsoft.com/office/drawing/2014/main" id="{994C5E9D-871E-4B1D-EE64-3CD7BFF6A203}"/>
              </a:ext>
            </a:extLst>
          </p:cNvPr>
          <p:cNvCxnSpPr>
            <a:cxnSpLocks/>
            <a:stCxn id="18" idx="2"/>
            <a:endCxn id="28" idx="0"/>
          </p:cNvCxnSpPr>
          <p:nvPr/>
        </p:nvCxnSpPr>
        <p:spPr>
          <a:xfrm>
            <a:off x="6930359" y="1711950"/>
            <a:ext cx="2486772" cy="69660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70" name="Google Shape;1421;p5">
            <a:extLst>
              <a:ext uri="{FF2B5EF4-FFF2-40B4-BE49-F238E27FC236}">
                <a16:creationId xmlns:a16="http://schemas.microsoft.com/office/drawing/2014/main" id="{7F1C4D61-96DC-8D55-171F-8DEB1464CD04}"/>
              </a:ext>
            </a:extLst>
          </p:cNvPr>
          <p:cNvCxnSpPr>
            <a:cxnSpLocks/>
            <a:stCxn id="2375" idx="2"/>
            <a:endCxn id="2409" idx="0"/>
          </p:cNvCxnSpPr>
          <p:nvPr/>
        </p:nvCxnSpPr>
        <p:spPr>
          <a:xfrm flipH="1">
            <a:off x="3310353" y="3551590"/>
            <a:ext cx="1305322" cy="35436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1" name="Google Shape;2403;p20">
            <a:extLst>
              <a:ext uri="{FF2B5EF4-FFF2-40B4-BE49-F238E27FC236}">
                <a16:creationId xmlns:a16="http://schemas.microsoft.com/office/drawing/2014/main" id="{B79CF12A-0387-CE5A-A07E-5B7DF7CC4585}"/>
              </a:ext>
            </a:extLst>
          </p:cNvPr>
          <p:cNvSpPr/>
          <p:nvPr/>
        </p:nvSpPr>
        <p:spPr>
          <a:xfrm>
            <a:off x="8265285" y="3902919"/>
            <a:ext cx="1044000" cy="594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Edge 02 Trunk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 A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2" name="Google Shape;2403;p20">
            <a:extLst>
              <a:ext uri="{FF2B5EF4-FFF2-40B4-BE49-F238E27FC236}">
                <a16:creationId xmlns:a16="http://schemas.microsoft.com/office/drawing/2014/main" id="{5A012E54-B25F-5194-DFA4-B509FE728B70}"/>
              </a:ext>
            </a:extLst>
          </p:cNvPr>
          <p:cNvSpPr/>
          <p:nvPr/>
        </p:nvSpPr>
        <p:spPr>
          <a:xfrm>
            <a:off x="9429705" y="3898958"/>
            <a:ext cx="1044000" cy="594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US" sz="800" dirty="0">
              <a:solidFill>
                <a:srgbClr val="221E20"/>
              </a:solidFill>
              <a:latin typeface="Metropolis" pitchFamily="2" charset="77"/>
            </a:endParaRPr>
          </a:p>
          <a:p>
            <a:pPr algn="ctr"/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Edge 02 Trunk</a:t>
            </a:r>
          </a:p>
          <a:p>
            <a:pPr algn="ctr"/>
            <a:r>
              <a:rPr lang="en-US" sz="8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 B</a:t>
            </a:r>
            <a:endParaRPr lang="en-US" sz="800" dirty="0">
              <a:latin typeface="Metropolis" pitchFamily="2" charset="7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E" sz="800" dirty="0">
              <a:latin typeface="Metropolis" pitchFamily="2" charset="77"/>
            </a:endParaRPr>
          </a:p>
        </p:txBody>
      </p:sp>
      <p:cxnSp>
        <p:nvCxnSpPr>
          <p:cNvPr id="32" name="Google Shape;1421;p5">
            <a:extLst>
              <a:ext uri="{FF2B5EF4-FFF2-40B4-BE49-F238E27FC236}">
                <a16:creationId xmlns:a16="http://schemas.microsoft.com/office/drawing/2014/main" id="{28A41D05-C7D9-DB7E-802D-E2E6A867508C}"/>
              </a:ext>
            </a:extLst>
          </p:cNvPr>
          <p:cNvCxnSpPr>
            <a:cxnSpLocks/>
            <a:stCxn id="21" idx="2"/>
            <a:endCxn id="2403" idx="0"/>
          </p:cNvCxnSpPr>
          <p:nvPr/>
        </p:nvCxnSpPr>
        <p:spPr>
          <a:xfrm flipH="1">
            <a:off x="8784843" y="4496919"/>
            <a:ext cx="2442" cy="6115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3" name="Google Shape;1421;p5">
            <a:extLst>
              <a:ext uri="{FF2B5EF4-FFF2-40B4-BE49-F238E27FC236}">
                <a16:creationId xmlns:a16="http://schemas.microsoft.com/office/drawing/2014/main" id="{0FFB70DD-E2EC-2CBB-FEC2-1B86E944C5C6}"/>
              </a:ext>
            </a:extLst>
          </p:cNvPr>
          <p:cNvCxnSpPr>
            <a:cxnSpLocks/>
            <a:stCxn id="22" idx="2"/>
            <a:endCxn id="2403" idx="0"/>
          </p:cNvCxnSpPr>
          <p:nvPr/>
        </p:nvCxnSpPr>
        <p:spPr>
          <a:xfrm flipH="1">
            <a:off x="8784843" y="4492958"/>
            <a:ext cx="1166862" cy="615486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377" name="Google Shape;2402;p20">
            <a:extLst>
              <a:ext uri="{FF2B5EF4-FFF2-40B4-BE49-F238E27FC236}">
                <a16:creationId xmlns:a16="http://schemas.microsoft.com/office/drawing/2014/main" id="{8BED69D2-1BC9-2514-F808-B359FF206F59}"/>
              </a:ext>
            </a:extLst>
          </p:cNvPr>
          <p:cNvSpPr/>
          <p:nvPr/>
        </p:nvSpPr>
        <p:spPr>
          <a:xfrm>
            <a:off x="7100780" y="3902094"/>
            <a:ext cx="1044000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Edge VM Management </a:t>
            </a:r>
            <a:r>
              <a:rPr lang="en-US" sz="8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392" name="Google Shape;1421;p5">
            <a:extLst>
              <a:ext uri="{FF2B5EF4-FFF2-40B4-BE49-F238E27FC236}">
                <a16:creationId xmlns:a16="http://schemas.microsoft.com/office/drawing/2014/main" id="{014EEE5C-B9D5-52E5-1DAF-E45D843733AD}"/>
              </a:ext>
            </a:extLst>
          </p:cNvPr>
          <p:cNvCxnSpPr>
            <a:cxnSpLocks/>
            <a:stCxn id="2377" idx="2"/>
            <a:endCxn id="2403" idx="0"/>
          </p:cNvCxnSpPr>
          <p:nvPr/>
        </p:nvCxnSpPr>
        <p:spPr>
          <a:xfrm>
            <a:off x="7622780" y="4496094"/>
            <a:ext cx="1162063" cy="6123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398" name="Google Shape;2403;p20">
            <a:extLst>
              <a:ext uri="{FF2B5EF4-FFF2-40B4-BE49-F238E27FC236}">
                <a16:creationId xmlns:a16="http://schemas.microsoft.com/office/drawing/2014/main" id="{5DAF10EB-BDF8-6B8A-B3E1-FE2058C0C6C1}"/>
              </a:ext>
            </a:extLst>
          </p:cNvPr>
          <p:cNvSpPr/>
          <p:nvPr/>
        </p:nvSpPr>
        <p:spPr>
          <a:xfrm>
            <a:off x="3930349" y="3905954"/>
            <a:ext cx="1044000" cy="594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Edge 01 Trunk </a:t>
            </a:r>
            <a:r>
              <a:rPr lang="en-US" sz="8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 A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400" name="Google Shape;2403;p20">
            <a:extLst>
              <a:ext uri="{FF2B5EF4-FFF2-40B4-BE49-F238E27FC236}">
                <a16:creationId xmlns:a16="http://schemas.microsoft.com/office/drawing/2014/main" id="{C87158EF-B0DC-08C0-4A0F-9F698AECD528}"/>
              </a:ext>
            </a:extLst>
          </p:cNvPr>
          <p:cNvSpPr/>
          <p:nvPr/>
        </p:nvSpPr>
        <p:spPr>
          <a:xfrm>
            <a:off x="5049217" y="3905954"/>
            <a:ext cx="1044000" cy="594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US" sz="800" dirty="0">
              <a:solidFill>
                <a:srgbClr val="221E20"/>
              </a:solidFill>
              <a:latin typeface="Metropolis" pitchFamily="2" charset="77"/>
            </a:endParaRPr>
          </a:p>
          <a:p>
            <a:pPr algn="ctr"/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Edge 01Trunk </a:t>
            </a:r>
            <a:r>
              <a:rPr lang="en-US" sz="8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 B</a:t>
            </a:r>
            <a:endParaRPr lang="en-US" sz="800" dirty="0">
              <a:latin typeface="Metropolis" pitchFamily="2" charset="7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E" sz="800" dirty="0">
              <a:latin typeface="Metropolis" pitchFamily="2" charset="77"/>
            </a:endParaRPr>
          </a:p>
        </p:txBody>
      </p:sp>
      <p:cxnSp>
        <p:nvCxnSpPr>
          <p:cNvPr id="2406" name="Google Shape;1421;p5">
            <a:extLst>
              <a:ext uri="{FF2B5EF4-FFF2-40B4-BE49-F238E27FC236}">
                <a16:creationId xmlns:a16="http://schemas.microsoft.com/office/drawing/2014/main" id="{A449CEF3-AFF7-BB4D-E258-834C68CE4BBC}"/>
              </a:ext>
            </a:extLst>
          </p:cNvPr>
          <p:cNvCxnSpPr>
            <a:cxnSpLocks/>
            <a:stCxn id="2398" idx="2"/>
            <a:endCxn id="2390" idx="0"/>
          </p:cNvCxnSpPr>
          <p:nvPr/>
        </p:nvCxnSpPr>
        <p:spPr>
          <a:xfrm flipH="1">
            <a:off x="4451640" y="4499954"/>
            <a:ext cx="709" cy="61159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07" name="Google Shape;1421;p5">
            <a:extLst>
              <a:ext uri="{FF2B5EF4-FFF2-40B4-BE49-F238E27FC236}">
                <a16:creationId xmlns:a16="http://schemas.microsoft.com/office/drawing/2014/main" id="{5EA65B76-21F5-30FC-7C36-C942E1154448}"/>
              </a:ext>
            </a:extLst>
          </p:cNvPr>
          <p:cNvCxnSpPr>
            <a:cxnSpLocks/>
            <a:stCxn id="2400" idx="2"/>
            <a:endCxn id="2390" idx="0"/>
          </p:cNvCxnSpPr>
          <p:nvPr/>
        </p:nvCxnSpPr>
        <p:spPr>
          <a:xfrm flipH="1">
            <a:off x="4451640" y="4499954"/>
            <a:ext cx="1119577" cy="61159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409" name="Google Shape;2402;p20">
            <a:extLst>
              <a:ext uri="{FF2B5EF4-FFF2-40B4-BE49-F238E27FC236}">
                <a16:creationId xmlns:a16="http://schemas.microsoft.com/office/drawing/2014/main" id="{26118DC3-D883-A654-FC5E-B4EFD31C5BE4}"/>
              </a:ext>
            </a:extLst>
          </p:cNvPr>
          <p:cNvSpPr/>
          <p:nvPr/>
        </p:nvSpPr>
        <p:spPr>
          <a:xfrm>
            <a:off x="2788353" y="3905954"/>
            <a:ext cx="1044000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Edge VM Management </a:t>
            </a:r>
            <a:r>
              <a:rPr lang="en-US" sz="8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410" name="Google Shape;1421;p5">
            <a:extLst>
              <a:ext uri="{FF2B5EF4-FFF2-40B4-BE49-F238E27FC236}">
                <a16:creationId xmlns:a16="http://schemas.microsoft.com/office/drawing/2014/main" id="{D7EFCC2D-FA0A-3AC1-F4DA-B331A090F4F4}"/>
              </a:ext>
            </a:extLst>
          </p:cNvPr>
          <p:cNvCxnSpPr>
            <a:cxnSpLocks/>
            <a:stCxn id="2409" idx="2"/>
            <a:endCxn id="2390" idx="0"/>
          </p:cNvCxnSpPr>
          <p:nvPr/>
        </p:nvCxnSpPr>
        <p:spPr>
          <a:xfrm>
            <a:off x="3310353" y="4499954"/>
            <a:ext cx="1141287" cy="61159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4" name="Google Shape;1421;p5">
            <a:extLst>
              <a:ext uri="{FF2B5EF4-FFF2-40B4-BE49-F238E27FC236}">
                <a16:creationId xmlns:a16="http://schemas.microsoft.com/office/drawing/2014/main" id="{093C3BE3-CBDB-DF05-BDD1-1DD498AE8DE9}"/>
              </a:ext>
            </a:extLst>
          </p:cNvPr>
          <p:cNvCxnSpPr>
            <a:cxnSpLocks/>
            <a:stCxn id="26" idx="2"/>
            <a:endCxn id="2377" idx="0"/>
          </p:cNvCxnSpPr>
          <p:nvPr/>
        </p:nvCxnSpPr>
        <p:spPr>
          <a:xfrm flipH="1">
            <a:off x="7622780" y="3516455"/>
            <a:ext cx="419194" cy="38563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7" name="Google Shape;1421;p5">
            <a:extLst>
              <a:ext uri="{FF2B5EF4-FFF2-40B4-BE49-F238E27FC236}">
                <a16:creationId xmlns:a16="http://schemas.microsoft.com/office/drawing/2014/main" id="{99E3B6E9-4DD5-2135-9B5A-D04623B247AE}"/>
              </a:ext>
            </a:extLst>
          </p:cNvPr>
          <p:cNvCxnSpPr>
            <a:cxnSpLocks/>
            <a:stCxn id="2377" idx="0"/>
            <a:endCxn id="31" idx="2"/>
          </p:cNvCxnSpPr>
          <p:nvPr/>
        </p:nvCxnSpPr>
        <p:spPr>
          <a:xfrm flipV="1">
            <a:off x="7622780" y="3528913"/>
            <a:ext cx="1796939" cy="37318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20" name="Google Shape;1421;p5">
            <a:extLst>
              <a:ext uri="{FF2B5EF4-FFF2-40B4-BE49-F238E27FC236}">
                <a16:creationId xmlns:a16="http://schemas.microsoft.com/office/drawing/2014/main" id="{0E3A8333-6A38-4E64-9208-852F213BBB8D}"/>
              </a:ext>
            </a:extLst>
          </p:cNvPr>
          <p:cNvCxnSpPr>
            <a:cxnSpLocks/>
            <a:stCxn id="22" idx="0"/>
            <a:endCxn id="26" idx="2"/>
          </p:cNvCxnSpPr>
          <p:nvPr/>
        </p:nvCxnSpPr>
        <p:spPr>
          <a:xfrm flipH="1" flipV="1">
            <a:off x="8041974" y="3516455"/>
            <a:ext cx="1909731" cy="382503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dash"/>
            <a:miter lim="800000"/>
            <a:headEnd type="none" w="med" len="med"/>
            <a:tailEnd type="none" w="sm" len="sm"/>
          </a:ln>
        </p:spPr>
      </p:cxnSp>
      <p:cxnSp>
        <p:nvCxnSpPr>
          <p:cNvPr id="2421" name="Google Shape;1421;p5">
            <a:extLst>
              <a:ext uri="{FF2B5EF4-FFF2-40B4-BE49-F238E27FC236}">
                <a16:creationId xmlns:a16="http://schemas.microsoft.com/office/drawing/2014/main" id="{5A4E356A-E400-949F-516C-6E17E9834EE8}"/>
              </a:ext>
            </a:extLst>
          </p:cNvPr>
          <p:cNvCxnSpPr>
            <a:cxnSpLocks/>
            <a:stCxn id="31" idx="2"/>
            <a:endCxn id="22" idx="0"/>
          </p:cNvCxnSpPr>
          <p:nvPr/>
        </p:nvCxnSpPr>
        <p:spPr>
          <a:xfrm>
            <a:off x="9419719" y="3528913"/>
            <a:ext cx="531986" cy="37004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25" name="Google Shape;1421;p5">
            <a:extLst>
              <a:ext uri="{FF2B5EF4-FFF2-40B4-BE49-F238E27FC236}">
                <a16:creationId xmlns:a16="http://schemas.microsoft.com/office/drawing/2014/main" id="{4433B45C-418F-639C-D6FD-E0780B356C5C}"/>
              </a:ext>
            </a:extLst>
          </p:cNvPr>
          <p:cNvCxnSpPr>
            <a:cxnSpLocks/>
            <a:stCxn id="9" idx="2"/>
            <a:endCxn id="2398" idx="0"/>
          </p:cNvCxnSpPr>
          <p:nvPr/>
        </p:nvCxnSpPr>
        <p:spPr>
          <a:xfrm>
            <a:off x="3237930" y="3539132"/>
            <a:ext cx="1214419" cy="366822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28" name="Google Shape;1421;p5">
            <a:extLst>
              <a:ext uri="{FF2B5EF4-FFF2-40B4-BE49-F238E27FC236}">
                <a16:creationId xmlns:a16="http://schemas.microsoft.com/office/drawing/2014/main" id="{AF2436E9-D304-6831-3CDA-8C9C0A3AB435}"/>
              </a:ext>
            </a:extLst>
          </p:cNvPr>
          <p:cNvCxnSpPr>
            <a:cxnSpLocks/>
            <a:stCxn id="2375" idx="2"/>
            <a:endCxn id="2398" idx="0"/>
          </p:cNvCxnSpPr>
          <p:nvPr/>
        </p:nvCxnSpPr>
        <p:spPr>
          <a:xfrm flipH="1">
            <a:off x="4452349" y="3551590"/>
            <a:ext cx="163326" cy="35436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dash"/>
            <a:miter lim="800000"/>
            <a:headEnd type="none" w="med" len="med"/>
            <a:tailEnd type="none" w="sm" len="sm"/>
          </a:ln>
        </p:spPr>
      </p:cxnSp>
      <p:cxnSp>
        <p:nvCxnSpPr>
          <p:cNvPr id="2431" name="Google Shape;1421;p5">
            <a:extLst>
              <a:ext uri="{FF2B5EF4-FFF2-40B4-BE49-F238E27FC236}">
                <a16:creationId xmlns:a16="http://schemas.microsoft.com/office/drawing/2014/main" id="{405469B7-8E54-3565-1CDA-2A0ACB186060}"/>
              </a:ext>
            </a:extLst>
          </p:cNvPr>
          <p:cNvCxnSpPr>
            <a:cxnSpLocks/>
            <a:stCxn id="26" idx="2"/>
            <a:endCxn id="21" idx="0"/>
          </p:cNvCxnSpPr>
          <p:nvPr/>
        </p:nvCxnSpPr>
        <p:spPr>
          <a:xfrm>
            <a:off x="8041974" y="3516455"/>
            <a:ext cx="745311" cy="38646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32" name="Google Shape;1421;p5">
            <a:extLst>
              <a:ext uri="{FF2B5EF4-FFF2-40B4-BE49-F238E27FC236}">
                <a16:creationId xmlns:a16="http://schemas.microsoft.com/office/drawing/2014/main" id="{60CE279A-2CB4-A9BD-BB34-CCC5FEB81D96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 flipH="1">
            <a:off x="8787285" y="3528913"/>
            <a:ext cx="632434" cy="374006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dash"/>
            <a:miter lim="800000"/>
            <a:headEnd type="none" w="med" len="med"/>
            <a:tailEnd type="none" w="sm" len="sm"/>
          </a:ln>
        </p:spPr>
      </p:cxnSp>
      <p:sp>
        <p:nvSpPr>
          <p:cNvPr id="2442" name="Google Shape;2293;p15">
            <a:extLst>
              <a:ext uri="{FF2B5EF4-FFF2-40B4-BE49-F238E27FC236}">
                <a16:creationId xmlns:a16="http://schemas.microsoft.com/office/drawing/2014/main" id="{462BAAD0-B7C4-C0B0-CB3B-8BA36FB5002F}"/>
              </a:ext>
            </a:extLst>
          </p:cNvPr>
          <p:cNvSpPr txBox="1"/>
          <p:nvPr/>
        </p:nvSpPr>
        <p:spPr>
          <a:xfrm>
            <a:off x="3138152" y="5347393"/>
            <a:ext cx="861175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Edge Node 01</a:t>
            </a:r>
            <a:endParaRPr sz="1000" dirty="0">
              <a:solidFill>
                <a:schemeClr val="dk2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44" name="Google Shape;2293;p15">
            <a:extLst>
              <a:ext uri="{FF2B5EF4-FFF2-40B4-BE49-F238E27FC236}">
                <a16:creationId xmlns:a16="http://schemas.microsoft.com/office/drawing/2014/main" id="{0F48A59C-B861-F3B7-1B5D-E52D91ED7742}"/>
              </a:ext>
            </a:extLst>
          </p:cNvPr>
          <p:cNvSpPr txBox="1"/>
          <p:nvPr/>
        </p:nvSpPr>
        <p:spPr>
          <a:xfrm>
            <a:off x="9134567" y="5350197"/>
            <a:ext cx="978626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Edge Node 02</a:t>
            </a:r>
            <a:endParaRPr sz="1000" dirty="0">
              <a:solidFill>
                <a:schemeClr val="dk2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93" name="Rounded Rectangle 2492">
            <a:extLst>
              <a:ext uri="{FF2B5EF4-FFF2-40B4-BE49-F238E27FC236}">
                <a16:creationId xmlns:a16="http://schemas.microsoft.com/office/drawing/2014/main" id="{7088CC92-6C5F-0251-672D-5D782876847A}"/>
              </a:ext>
            </a:extLst>
          </p:cNvPr>
          <p:cNvSpPr/>
          <p:nvPr/>
        </p:nvSpPr>
        <p:spPr>
          <a:xfrm>
            <a:off x="6553694" y="3325714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TEP1</a:t>
            </a:r>
            <a:endParaRPr lang="en-US" sz="1000" dirty="0">
              <a:latin typeface="Metropolis" pitchFamily="2" charset="77"/>
            </a:endParaRPr>
          </a:p>
        </p:txBody>
      </p:sp>
      <p:sp>
        <p:nvSpPr>
          <p:cNvPr id="2502" name="Rounded Rectangle 2501">
            <a:extLst>
              <a:ext uri="{FF2B5EF4-FFF2-40B4-BE49-F238E27FC236}">
                <a16:creationId xmlns:a16="http://schemas.microsoft.com/office/drawing/2014/main" id="{08F6FFB5-C3B9-51B3-8558-EB4077144E6A}"/>
              </a:ext>
            </a:extLst>
          </p:cNvPr>
          <p:cNvSpPr/>
          <p:nvPr/>
        </p:nvSpPr>
        <p:spPr>
          <a:xfrm>
            <a:off x="10094559" y="3327956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TEP2</a:t>
            </a:r>
            <a:endParaRPr lang="en-US" sz="1000" dirty="0">
              <a:latin typeface="Metropolis" pitchFamily="2" charset="77"/>
            </a:endParaRPr>
          </a:p>
        </p:txBody>
      </p:sp>
      <p:cxnSp>
        <p:nvCxnSpPr>
          <p:cNvPr id="19" name="Google Shape;1421;p5">
            <a:extLst>
              <a:ext uri="{FF2B5EF4-FFF2-40B4-BE49-F238E27FC236}">
                <a16:creationId xmlns:a16="http://schemas.microsoft.com/office/drawing/2014/main" id="{E12B90BA-C323-AD47-2F1B-3E30CE8B78FA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206157" y="3539132"/>
            <a:ext cx="1031773" cy="366822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5" name="Google Shape;1421;p5">
            <a:extLst>
              <a:ext uri="{FF2B5EF4-FFF2-40B4-BE49-F238E27FC236}">
                <a16:creationId xmlns:a16="http://schemas.microsoft.com/office/drawing/2014/main" id="{7A1F9920-F6F2-F79B-E88F-7E78D2A34767}"/>
              </a:ext>
            </a:extLst>
          </p:cNvPr>
          <p:cNvCxnSpPr>
            <a:cxnSpLocks/>
            <a:stCxn id="2375" idx="2"/>
          </p:cNvCxnSpPr>
          <p:nvPr/>
        </p:nvCxnSpPr>
        <p:spPr>
          <a:xfrm flipH="1">
            <a:off x="2206157" y="3551590"/>
            <a:ext cx="2409518" cy="35436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1D21EA7-183E-3974-CD2C-CA07E0AEBDB8}"/>
              </a:ext>
            </a:extLst>
          </p:cNvPr>
          <p:cNvSpPr/>
          <p:nvPr/>
        </p:nvSpPr>
        <p:spPr>
          <a:xfrm>
            <a:off x="1664000" y="3905954"/>
            <a:ext cx="1044000" cy="59400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/>
          <a:lstStyle/>
          <a:p>
            <a:pPr algn="ctr"/>
            <a:endParaRPr lang="en-GB" sz="800" dirty="0">
              <a:solidFill>
                <a:schemeClr val="tx1"/>
              </a:solidFill>
              <a:latin typeface="Metropolis" pitchFamily="2" charset="77"/>
            </a:endParaRPr>
          </a:p>
          <a:p>
            <a:pPr algn="ctr"/>
            <a:r>
              <a:rPr lang="en-GB" sz="800" dirty="0">
                <a:solidFill>
                  <a:schemeClr val="tx1"/>
                </a:solidFill>
                <a:latin typeface="Metropolis" pitchFamily="2" charset="77"/>
              </a:rPr>
              <a:t>ESX Management</a:t>
            </a:r>
          </a:p>
          <a:p>
            <a:pPr algn="ctr"/>
            <a:r>
              <a:rPr lang="en-GB" sz="800" dirty="0" err="1">
                <a:solidFill>
                  <a:schemeClr val="tx1"/>
                </a:solidFill>
                <a:latin typeface="Metropolis" pitchFamily="2" charset="77"/>
              </a:rPr>
              <a:t>vMotion</a:t>
            </a:r>
            <a:endParaRPr lang="en-GB" sz="800" dirty="0">
              <a:solidFill>
                <a:schemeClr val="tx1"/>
              </a:solidFill>
              <a:latin typeface="Metropolis" pitchFamily="2" charset="77"/>
            </a:endParaRPr>
          </a:p>
          <a:p>
            <a:pPr algn="ctr"/>
            <a:r>
              <a:rPr lang="en-GB" sz="800" dirty="0">
                <a:solidFill>
                  <a:schemeClr val="tx1"/>
                </a:solidFill>
                <a:latin typeface="Metropolis" pitchFamily="2" charset="77"/>
              </a:rPr>
              <a:t>Storage</a:t>
            </a:r>
          </a:p>
          <a:p>
            <a:pPr algn="ctr"/>
            <a:endParaRPr lang="en-US" sz="800" dirty="0">
              <a:latin typeface="Metropolis" pitchFamily="2" charset="77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22F19BB-A229-EFDB-892E-FE4B045AB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Dedicated vSphere Cluster for NSX Edge Node Distributed Switch Model v1.2</a:t>
            </a:r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176997-3A7E-A4F0-E295-F59FF63785A0}"/>
              </a:ext>
            </a:extLst>
          </p:cNvPr>
          <p:cNvGrpSpPr/>
          <p:nvPr/>
        </p:nvGrpSpPr>
        <p:grpSpPr>
          <a:xfrm>
            <a:off x="5370437" y="1169744"/>
            <a:ext cx="503999" cy="540000"/>
            <a:chOff x="9321542" y="1289797"/>
            <a:chExt cx="348692" cy="350167"/>
          </a:xfrm>
        </p:grpSpPr>
        <p:sp>
          <p:nvSpPr>
            <p:cNvPr id="11" name="Google Shape;2074;p72">
              <a:extLst>
                <a:ext uri="{FF2B5EF4-FFF2-40B4-BE49-F238E27FC236}">
                  <a16:creationId xmlns:a16="http://schemas.microsoft.com/office/drawing/2014/main" id="{7A7B2E09-2930-708E-9981-2993573350F0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" name="Google Shape;2075;p72">
              <a:extLst>
                <a:ext uri="{FF2B5EF4-FFF2-40B4-BE49-F238E27FC236}">
                  <a16:creationId xmlns:a16="http://schemas.microsoft.com/office/drawing/2014/main" id="{B2B6AD0D-FE21-4206-CAAD-08D428AD531B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3" name="Google Shape;2076;p72">
              <a:extLst>
                <a:ext uri="{FF2B5EF4-FFF2-40B4-BE49-F238E27FC236}">
                  <a16:creationId xmlns:a16="http://schemas.microsoft.com/office/drawing/2014/main" id="{03934709-A54D-5604-858F-548BB6B7751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4" name="Google Shape;2077;p72">
              <a:extLst>
                <a:ext uri="{FF2B5EF4-FFF2-40B4-BE49-F238E27FC236}">
                  <a16:creationId xmlns:a16="http://schemas.microsoft.com/office/drawing/2014/main" id="{E88435A6-4CB9-6C14-8A75-5E715530BCAC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6" name="Google Shape;2078;p72">
              <a:extLst>
                <a:ext uri="{FF2B5EF4-FFF2-40B4-BE49-F238E27FC236}">
                  <a16:creationId xmlns:a16="http://schemas.microsoft.com/office/drawing/2014/main" id="{D14205A4-51B0-EF29-199F-B34B1778447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F1AB3B-9E4A-45D4-FC21-F477DEEE3CAE}"/>
              </a:ext>
            </a:extLst>
          </p:cNvPr>
          <p:cNvGrpSpPr/>
          <p:nvPr/>
        </p:nvGrpSpPr>
        <p:grpSpPr>
          <a:xfrm>
            <a:off x="6678359" y="1171950"/>
            <a:ext cx="503999" cy="540000"/>
            <a:chOff x="9321542" y="1289797"/>
            <a:chExt cx="348692" cy="350167"/>
          </a:xfrm>
        </p:grpSpPr>
        <p:sp>
          <p:nvSpPr>
            <p:cNvPr id="18" name="Google Shape;2074;p72">
              <a:extLst>
                <a:ext uri="{FF2B5EF4-FFF2-40B4-BE49-F238E27FC236}">
                  <a16:creationId xmlns:a16="http://schemas.microsoft.com/office/drawing/2014/main" id="{8CFE7D6A-97D7-3F65-C4D1-8D9EE65C5AA9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" name="Google Shape;2075;p72">
              <a:extLst>
                <a:ext uri="{FF2B5EF4-FFF2-40B4-BE49-F238E27FC236}">
                  <a16:creationId xmlns:a16="http://schemas.microsoft.com/office/drawing/2014/main" id="{EE15A260-60CA-5686-44D8-3644ED310507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5" name="Google Shape;2076;p72">
              <a:extLst>
                <a:ext uri="{FF2B5EF4-FFF2-40B4-BE49-F238E27FC236}">
                  <a16:creationId xmlns:a16="http://schemas.microsoft.com/office/drawing/2014/main" id="{D9BEEFD9-437A-63C8-A294-CA4F2056747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" name="Google Shape;2077;p72">
              <a:extLst>
                <a:ext uri="{FF2B5EF4-FFF2-40B4-BE49-F238E27FC236}">
                  <a16:creationId xmlns:a16="http://schemas.microsoft.com/office/drawing/2014/main" id="{B349700F-BC3C-09F1-47A8-1483AAF9C460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8" name="Google Shape;2078;p72">
              <a:extLst>
                <a:ext uri="{FF2B5EF4-FFF2-40B4-BE49-F238E27FC236}">
                  <a16:creationId xmlns:a16="http://schemas.microsoft.com/office/drawing/2014/main" id="{7CAE84A7-BAAC-356B-E7D9-05506FEDF15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387" name="Group 2386">
            <a:extLst>
              <a:ext uri="{FF2B5EF4-FFF2-40B4-BE49-F238E27FC236}">
                <a16:creationId xmlns:a16="http://schemas.microsoft.com/office/drawing/2014/main" id="{CAD38269-69DE-4B2C-0F0B-081322EFDA84}"/>
              </a:ext>
            </a:extLst>
          </p:cNvPr>
          <p:cNvGrpSpPr/>
          <p:nvPr/>
        </p:nvGrpSpPr>
        <p:grpSpPr>
          <a:xfrm>
            <a:off x="3941397" y="5111553"/>
            <a:ext cx="919542" cy="703361"/>
            <a:chOff x="6420115" y="6093568"/>
            <a:chExt cx="919542" cy="703361"/>
          </a:xfrm>
        </p:grpSpPr>
        <p:grpSp>
          <p:nvGrpSpPr>
            <p:cNvPr id="2388" name="Group 2387">
              <a:extLst>
                <a:ext uri="{FF2B5EF4-FFF2-40B4-BE49-F238E27FC236}">
                  <a16:creationId xmlns:a16="http://schemas.microsoft.com/office/drawing/2014/main" id="{18617D99-BC45-E746-54FC-6658B9AF4F9B}"/>
                </a:ext>
              </a:extLst>
            </p:cNvPr>
            <p:cNvGrpSpPr/>
            <p:nvPr/>
          </p:nvGrpSpPr>
          <p:grpSpPr>
            <a:xfrm>
              <a:off x="6568964" y="6093568"/>
              <a:ext cx="722787" cy="703361"/>
              <a:chOff x="6393604" y="5146050"/>
              <a:chExt cx="722787" cy="703361"/>
            </a:xfrm>
          </p:grpSpPr>
          <p:sp>
            <p:nvSpPr>
              <p:cNvPr id="2390" name="Rectangle 2389">
                <a:extLst>
                  <a:ext uri="{FF2B5EF4-FFF2-40B4-BE49-F238E27FC236}">
                    <a16:creationId xmlns:a16="http://schemas.microsoft.com/office/drawing/2014/main" id="{44AB4A3C-B4D4-DFF0-FF79-9330E4B05CA5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91" name="Google Shape;2078;p72">
                <a:extLst>
                  <a:ext uri="{FF2B5EF4-FFF2-40B4-BE49-F238E27FC236}">
                    <a16:creationId xmlns:a16="http://schemas.microsoft.com/office/drawing/2014/main" id="{177EE6E1-1755-43FC-2772-04C1C2E212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94512" y="5239836"/>
                <a:ext cx="509302" cy="504966"/>
              </a:xfrm>
              <a:prstGeom prst="straightConnector1">
                <a:avLst/>
              </a:prstGeom>
              <a:solidFill>
                <a:schemeClr val="lt1"/>
              </a:solidFill>
              <a:ln w="31750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393" name="TextBox 2392">
                <a:extLst>
                  <a:ext uri="{FF2B5EF4-FFF2-40B4-BE49-F238E27FC236}">
                    <a16:creationId xmlns:a16="http://schemas.microsoft.com/office/drawing/2014/main" id="{59ECBB67-50C7-18D3-C71D-95C565C85456}"/>
                  </a:ext>
                </a:extLst>
              </p:cNvPr>
              <p:cNvSpPr txBox="1"/>
              <p:nvPr/>
            </p:nvSpPr>
            <p:spPr>
              <a:xfrm flipH="1">
                <a:off x="6434817" y="5369208"/>
                <a:ext cx="1420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P</a:t>
                </a:r>
              </a:p>
            </p:txBody>
          </p:sp>
          <p:sp>
            <p:nvSpPr>
              <p:cNvPr id="2394" name="TextBox 2393">
                <a:extLst>
                  <a:ext uri="{FF2B5EF4-FFF2-40B4-BE49-F238E27FC236}">
                    <a16:creationId xmlns:a16="http://schemas.microsoft.com/office/drawing/2014/main" id="{E40B7A23-FA9A-6433-0F83-67A1099FFD52}"/>
                  </a:ext>
                </a:extLst>
              </p:cNvPr>
              <p:cNvSpPr txBox="1"/>
              <p:nvPr/>
            </p:nvSpPr>
            <p:spPr>
              <a:xfrm flipH="1">
                <a:off x="6841112" y="5359128"/>
                <a:ext cx="1420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V</a:t>
                </a:r>
              </a:p>
            </p:txBody>
          </p:sp>
        </p:grpSp>
        <p:sp>
          <p:nvSpPr>
            <p:cNvPr id="2389" name="TextBox 2388">
              <a:extLst>
                <a:ext uri="{FF2B5EF4-FFF2-40B4-BE49-F238E27FC236}">
                  <a16:creationId xmlns:a16="http://schemas.microsoft.com/office/drawing/2014/main" id="{98471486-1D35-31E9-0B78-8B37DE41EC22}"/>
                </a:ext>
              </a:extLst>
            </p:cNvPr>
            <p:cNvSpPr txBox="1"/>
            <p:nvPr/>
          </p:nvSpPr>
          <p:spPr>
            <a:xfrm rot="18942339">
              <a:off x="6420115" y="6268222"/>
              <a:ext cx="919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_ _ _   _ _ _</a:t>
              </a:r>
            </a:p>
          </p:txBody>
        </p:sp>
      </p:grpSp>
      <p:grpSp>
        <p:nvGrpSpPr>
          <p:cNvPr id="2396" name="Group 2395">
            <a:extLst>
              <a:ext uri="{FF2B5EF4-FFF2-40B4-BE49-F238E27FC236}">
                <a16:creationId xmlns:a16="http://schemas.microsoft.com/office/drawing/2014/main" id="{00F9ED4F-82D6-03D4-E156-7267B41951E5}"/>
              </a:ext>
            </a:extLst>
          </p:cNvPr>
          <p:cNvGrpSpPr/>
          <p:nvPr/>
        </p:nvGrpSpPr>
        <p:grpSpPr>
          <a:xfrm>
            <a:off x="8274600" y="5108444"/>
            <a:ext cx="919542" cy="703361"/>
            <a:chOff x="6420115" y="6093568"/>
            <a:chExt cx="919542" cy="703361"/>
          </a:xfrm>
        </p:grpSpPr>
        <p:grpSp>
          <p:nvGrpSpPr>
            <p:cNvPr id="2397" name="Group 2396">
              <a:extLst>
                <a:ext uri="{FF2B5EF4-FFF2-40B4-BE49-F238E27FC236}">
                  <a16:creationId xmlns:a16="http://schemas.microsoft.com/office/drawing/2014/main" id="{4EC872CD-42CB-5A76-9FCB-D242A1B6FB12}"/>
                </a:ext>
              </a:extLst>
            </p:cNvPr>
            <p:cNvGrpSpPr/>
            <p:nvPr/>
          </p:nvGrpSpPr>
          <p:grpSpPr>
            <a:xfrm>
              <a:off x="6568964" y="6093568"/>
              <a:ext cx="722787" cy="703361"/>
              <a:chOff x="6393604" y="5146050"/>
              <a:chExt cx="722787" cy="703361"/>
            </a:xfrm>
          </p:grpSpPr>
          <p:sp>
            <p:nvSpPr>
              <p:cNvPr id="2403" name="Rectangle 2402">
                <a:extLst>
                  <a:ext uri="{FF2B5EF4-FFF2-40B4-BE49-F238E27FC236}">
                    <a16:creationId xmlns:a16="http://schemas.microsoft.com/office/drawing/2014/main" id="{8101AC21-A155-CDC2-5DC1-060B2D3EA48A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05" name="Google Shape;2078;p72">
                <a:extLst>
                  <a:ext uri="{FF2B5EF4-FFF2-40B4-BE49-F238E27FC236}">
                    <a16:creationId xmlns:a16="http://schemas.microsoft.com/office/drawing/2014/main" id="{6B45D2E6-069E-8554-6844-4BCC44B841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94512" y="5239836"/>
                <a:ext cx="509302" cy="504966"/>
              </a:xfrm>
              <a:prstGeom prst="straightConnector1">
                <a:avLst/>
              </a:prstGeom>
              <a:solidFill>
                <a:schemeClr val="lt1"/>
              </a:solidFill>
              <a:ln w="31750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408" name="TextBox 2407">
                <a:extLst>
                  <a:ext uri="{FF2B5EF4-FFF2-40B4-BE49-F238E27FC236}">
                    <a16:creationId xmlns:a16="http://schemas.microsoft.com/office/drawing/2014/main" id="{314D4B0F-DEA5-FC9F-D439-5794898CEA9F}"/>
                  </a:ext>
                </a:extLst>
              </p:cNvPr>
              <p:cNvSpPr txBox="1"/>
              <p:nvPr/>
            </p:nvSpPr>
            <p:spPr>
              <a:xfrm flipH="1">
                <a:off x="6434817" y="5369208"/>
                <a:ext cx="1420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P</a:t>
                </a:r>
              </a:p>
            </p:txBody>
          </p:sp>
          <p:sp>
            <p:nvSpPr>
              <p:cNvPr id="2411" name="TextBox 2410">
                <a:extLst>
                  <a:ext uri="{FF2B5EF4-FFF2-40B4-BE49-F238E27FC236}">
                    <a16:creationId xmlns:a16="http://schemas.microsoft.com/office/drawing/2014/main" id="{9A88B816-0FAE-95C3-FAEF-3692B2C188B1}"/>
                  </a:ext>
                </a:extLst>
              </p:cNvPr>
              <p:cNvSpPr txBox="1"/>
              <p:nvPr/>
            </p:nvSpPr>
            <p:spPr>
              <a:xfrm flipH="1">
                <a:off x="6841112" y="5359128"/>
                <a:ext cx="1420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V</a:t>
                </a:r>
              </a:p>
            </p:txBody>
          </p:sp>
        </p:grpSp>
        <p:sp>
          <p:nvSpPr>
            <p:cNvPr id="2402" name="TextBox 2401">
              <a:extLst>
                <a:ext uri="{FF2B5EF4-FFF2-40B4-BE49-F238E27FC236}">
                  <a16:creationId xmlns:a16="http://schemas.microsoft.com/office/drawing/2014/main" id="{7F153A81-6FC1-275C-2E23-4C9BD07F3035}"/>
                </a:ext>
              </a:extLst>
            </p:cNvPr>
            <p:cNvSpPr txBox="1"/>
            <p:nvPr/>
          </p:nvSpPr>
          <p:spPr>
            <a:xfrm rot="18942339">
              <a:off x="6420115" y="6268222"/>
              <a:ext cx="919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_ _ _   _ _ _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861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00F0F819-2F34-AF5D-E217-9A27B0C9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EE4FA3-B224-CA23-8E08-BDF4B748D7E5}"/>
              </a:ext>
            </a:extLst>
          </p:cNvPr>
          <p:cNvSpPr/>
          <p:nvPr/>
        </p:nvSpPr>
        <p:spPr>
          <a:xfrm>
            <a:off x="987508" y="1958009"/>
            <a:ext cx="9525000" cy="372386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Metropolis" pitchFamily="2" charset="77"/>
            </a:endParaRPr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87F4EEB9-70B9-B707-6540-25FD49663745}"/>
              </a:ext>
            </a:extLst>
          </p:cNvPr>
          <p:cNvSpPr/>
          <p:nvPr/>
        </p:nvSpPr>
        <p:spPr>
          <a:xfrm>
            <a:off x="1139915" y="3140530"/>
            <a:ext cx="9238980" cy="2416687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 dirty="0">
                <a:latin typeface="Metropolis" pitchFamily="2" charset="77"/>
              </a:rPr>
              <a:t>ESX Host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399" name="Google Shape;2399;p20">
            <a:extLst>
              <a:ext uri="{FF2B5EF4-FFF2-40B4-BE49-F238E27FC236}">
                <a16:creationId xmlns:a16="http://schemas.microsoft.com/office/drawing/2014/main" id="{BB7036BB-B5E6-12D6-1998-ECA44C30F642}"/>
              </a:ext>
            </a:extLst>
          </p:cNvPr>
          <p:cNvSpPr/>
          <p:nvPr/>
        </p:nvSpPr>
        <p:spPr>
          <a:xfrm>
            <a:off x="1287912" y="3841061"/>
            <a:ext cx="4786277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vDS01 with NSX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02" name="Google Shape;2402;p20">
            <a:extLst>
              <a:ext uri="{FF2B5EF4-FFF2-40B4-BE49-F238E27FC236}">
                <a16:creationId xmlns:a16="http://schemas.microsoft.com/office/drawing/2014/main" id="{BFCB43DA-AD94-8177-0CCA-CFC6EA9950B4}"/>
              </a:ext>
            </a:extLst>
          </p:cNvPr>
          <p:cNvSpPr/>
          <p:nvPr/>
        </p:nvSpPr>
        <p:spPr>
          <a:xfrm>
            <a:off x="1488745" y="4394849"/>
            <a:ext cx="1007999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VM Management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403" name="Google Shape;2403;p20">
            <a:extLst>
              <a:ext uri="{FF2B5EF4-FFF2-40B4-BE49-F238E27FC236}">
                <a16:creationId xmlns:a16="http://schemas.microsoft.com/office/drawing/2014/main" id="{55A00BAE-FAD7-24D6-266C-5E763DE77A14}"/>
              </a:ext>
            </a:extLst>
          </p:cNvPr>
          <p:cNvSpPr/>
          <p:nvPr/>
        </p:nvSpPr>
        <p:spPr>
          <a:xfrm>
            <a:off x="2614701" y="4395842"/>
            <a:ext cx="1007999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ESX Management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405" name="Google Shape;2405;p20">
            <a:extLst>
              <a:ext uri="{FF2B5EF4-FFF2-40B4-BE49-F238E27FC236}">
                <a16:creationId xmlns:a16="http://schemas.microsoft.com/office/drawing/2014/main" id="{D0A78962-9638-FB8E-BE35-BF4A9B825751}"/>
              </a:ext>
            </a:extLst>
          </p:cNvPr>
          <p:cNvSpPr/>
          <p:nvPr/>
        </p:nvSpPr>
        <p:spPr>
          <a:xfrm>
            <a:off x="3740657" y="4405411"/>
            <a:ext cx="1007999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vMotion</a:t>
            </a:r>
            <a:endParaRPr lang="en-GB" sz="1000" dirty="0">
              <a:latin typeface="Metropolis" pitchFamily="2" charset="7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dPG</a:t>
            </a:r>
            <a:endParaRPr lang="en-GB" sz="1000" dirty="0">
              <a:latin typeface="Metropolis" pitchFamily="2" charset="77"/>
            </a:endParaRPr>
          </a:p>
        </p:txBody>
      </p:sp>
      <p:cxnSp>
        <p:nvCxnSpPr>
          <p:cNvPr id="34" name="Google Shape;1421;p5">
            <a:extLst>
              <a:ext uri="{FF2B5EF4-FFF2-40B4-BE49-F238E27FC236}">
                <a16:creationId xmlns:a16="http://schemas.microsoft.com/office/drawing/2014/main" id="{A8FF8F76-F291-B510-F421-047B89854FE5}"/>
              </a:ext>
            </a:extLst>
          </p:cNvPr>
          <p:cNvCxnSpPr>
            <a:cxnSpLocks/>
          </p:cNvCxnSpPr>
          <p:nvPr/>
        </p:nvCxnSpPr>
        <p:spPr>
          <a:xfrm>
            <a:off x="3025184" y="2607843"/>
            <a:ext cx="0" cy="348567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9" name="Google Shape;1376;p4">
            <a:extLst>
              <a:ext uri="{FF2B5EF4-FFF2-40B4-BE49-F238E27FC236}">
                <a16:creationId xmlns:a16="http://schemas.microsoft.com/office/drawing/2014/main" id="{95457032-60AA-4633-AFF4-B8FF89A11599}"/>
              </a:ext>
            </a:extLst>
          </p:cNvPr>
          <p:cNvSpPr/>
          <p:nvPr/>
        </p:nvSpPr>
        <p:spPr>
          <a:xfrm>
            <a:off x="2578138" y="3682034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" name="Google Shape;1376;p4">
            <a:extLst>
              <a:ext uri="{FF2B5EF4-FFF2-40B4-BE49-F238E27FC236}">
                <a16:creationId xmlns:a16="http://schemas.microsoft.com/office/drawing/2014/main" id="{D213B14A-E1C9-B1FB-302E-CAD72D829161}"/>
              </a:ext>
            </a:extLst>
          </p:cNvPr>
          <p:cNvSpPr/>
          <p:nvPr/>
        </p:nvSpPr>
        <p:spPr>
          <a:xfrm>
            <a:off x="2759676" y="2956410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pNIC1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47" name="Google Shape;1376;p4">
            <a:extLst>
              <a:ext uri="{FF2B5EF4-FFF2-40B4-BE49-F238E27FC236}">
                <a16:creationId xmlns:a16="http://schemas.microsoft.com/office/drawing/2014/main" id="{EB96308A-2735-79FD-785D-4F0F984D3C45}"/>
              </a:ext>
            </a:extLst>
          </p:cNvPr>
          <p:cNvSpPr/>
          <p:nvPr/>
        </p:nvSpPr>
        <p:spPr>
          <a:xfrm>
            <a:off x="4130135" y="2951136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pNIC2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57" name="Google Shape;1413;p5">
            <a:extLst>
              <a:ext uri="{FF2B5EF4-FFF2-40B4-BE49-F238E27FC236}">
                <a16:creationId xmlns:a16="http://schemas.microsoft.com/office/drawing/2014/main" id="{585A624C-D136-99DF-7187-975032A38810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3027617" y="3346040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" name="Google Shape;1413;p5">
            <a:extLst>
              <a:ext uri="{FF2B5EF4-FFF2-40B4-BE49-F238E27FC236}">
                <a16:creationId xmlns:a16="http://schemas.microsoft.com/office/drawing/2014/main" id="{6E4F9D54-1150-BEF1-B11B-3765BED7D79C}"/>
              </a:ext>
            </a:extLst>
          </p:cNvPr>
          <p:cNvCxnSpPr>
            <a:cxnSpLocks/>
            <a:stCxn id="47" idx="2"/>
            <a:endCxn id="2375" idx="0"/>
          </p:cNvCxnSpPr>
          <p:nvPr/>
        </p:nvCxnSpPr>
        <p:spPr>
          <a:xfrm>
            <a:off x="4402774" y="3340766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5" name="Google Shape;1376;p4">
            <a:extLst>
              <a:ext uri="{FF2B5EF4-FFF2-40B4-BE49-F238E27FC236}">
                <a16:creationId xmlns:a16="http://schemas.microsoft.com/office/drawing/2014/main" id="{475A8018-0F00-1F60-6DC2-4B7643542114}"/>
              </a:ext>
            </a:extLst>
          </p:cNvPr>
          <p:cNvSpPr/>
          <p:nvPr/>
        </p:nvSpPr>
        <p:spPr>
          <a:xfrm>
            <a:off x="3955883" y="3681861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380" name="TextBox 2379">
            <a:extLst>
              <a:ext uri="{FF2B5EF4-FFF2-40B4-BE49-F238E27FC236}">
                <a16:creationId xmlns:a16="http://schemas.microsoft.com/office/drawing/2014/main" id="{EA3BB746-3AC1-60E4-FC6A-3B739D7C95DB}"/>
              </a:ext>
            </a:extLst>
          </p:cNvPr>
          <p:cNvSpPr txBox="1"/>
          <p:nvPr/>
        </p:nvSpPr>
        <p:spPr>
          <a:xfrm>
            <a:off x="1813823" y="2196118"/>
            <a:ext cx="1142901" cy="400110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sz="1000" dirty="0">
                <a:latin typeface="Metropolis" pitchFamily="2" charset="77"/>
              </a:rPr>
              <a:t>Fabric</a:t>
            </a:r>
          </a:p>
          <a:p>
            <a:pPr algn="ctr"/>
            <a:r>
              <a:rPr lang="en-US" sz="1000" dirty="0">
                <a:latin typeface="Metropolis" pitchFamily="2" charset="77"/>
              </a:rPr>
              <a:t>Switch-A</a:t>
            </a:r>
          </a:p>
        </p:txBody>
      </p:sp>
      <p:sp>
        <p:nvSpPr>
          <p:cNvPr id="2381" name="TextBox 2380">
            <a:extLst>
              <a:ext uri="{FF2B5EF4-FFF2-40B4-BE49-F238E27FC236}">
                <a16:creationId xmlns:a16="http://schemas.microsoft.com/office/drawing/2014/main" id="{F0E3F71B-FD61-FB17-9443-DA4637E995C4}"/>
              </a:ext>
            </a:extLst>
          </p:cNvPr>
          <p:cNvSpPr txBox="1"/>
          <p:nvPr/>
        </p:nvSpPr>
        <p:spPr>
          <a:xfrm>
            <a:off x="4442207" y="2189981"/>
            <a:ext cx="1127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Metropolis" pitchFamily="2" charset="77"/>
              </a:rPr>
              <a:t>Fabric</a:t>
            </a:r>
          </a:p>
          <a:p>
            <a:pPr algn="ctr"/>
            <a:r>
              <a:rPr lang="en-US" sz="1000" dirty="0">
                <a:latin typeface="Metropolis" pitchFamily="2" charset="77"/>
              </a:rPr>
              <a:t>Switch-B</a:t>
            </a:r>
          </a:p>
        </p:txBody>
      </p:sp>
      <p:cxnSp>
        <p:nvCxnSpPr>
          <p:cNvPr id="2395" name="Google Shape;1421;p5">
            <a:extLst>
              <a:ext uri="{FF2B5EF4-FFF2-40B4-BE49-F238E27FC236}">
                <a16:creationId xmlns:a16="http://schemas.microsoft.com/office/drawing/2014/main" id="{5A863363-968C-F1A0-5503-52FA1BD5BDFC}"/>
              </a:ext>
            </a:extLst>
          </p:cNvPr>
          <p:cNvCxnSpPr>
            <a:cxnSpLocks/>
            <a:stCxn id="9" idx="2"/>
            <a:endCxn id="2402" idx="0"/>
          </p:cNvCxnSpPr>
          <p:nvPr/>
        </p:nvCxnSpPr>
        <p:spPr>
          <a:xfrm flipH="1">
            <a:off x="1992745" y="4059032"/>
            <a:ext cx="1034872" cy="335817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08" name="Google Shape;1421;p5">
            <a:extLst>
              <a:ext uri="{FF2B5EF4-FFF2-40B4-BE49-F238E27FC236}">
                <a16:creationId xmlns:a16="http://schemas.microsoft.com/office/drawing/2014/main" id="{B44D3E2D-E611-C2E7-6B28-FC14D7E4AC5D}"/>
              </a:ext>
            </a:extLst>
          </p:cNvPr>
          <p:cNvCxnSpPr>
            <a:cxnSpLocks/>
            <a:stCxn id="9" idx="2"/>
            <a:endCxn id="2403" idx="0"/>
          </p:cNvCxnSpPr>
          <p:nvPr/>
        </p:nvCxnSpPr>
        <p:spPr>
          <a:xfrm>
            <a:off x="3027617" y="4059032"/>
            <a:ext cx="91084" cy="336810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3" name="Google Shape;1421;p5">
            <a:extLst>
              <a:ext uri="{FF2B5EF4-FFF2-40B4-BE49-F238E27FC236}">
                <a16:creationId xmlns:a16="http://schemas.microsoft.com/office/drawing/2014/main" id="{1126176D-1345-2EA6-DCE4-8219B04059CC}"/>
              </a:ext>
            </a:extLst>
          </p:cNvPr>
          <p:cNvCxnSpPr>
            <a:cxnSpLocks/>
            <a:stCxn id="2405" idx="0"/>
            <a:endCxn id="9" idx="2"/>
          </p:cNvCxnSpPr>
          <p:nvPr/>
        </p:nvCxnSpPr>
        <p:spPr>
          <a:xfrm flipH="1" flipV="1">
            <a:off x="3027617" y="4059032"/>
            <a:ext cx="1217040" cy="34637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6" name="Google Shape;1421;p5">
            <a:extLst>
              <a:ext uri="{FF2B5EF4-FFF2-40B4-BE49-F238E27FC236}">
                <a16:creationId xmlns:a16="http://schemas.microsoft.com/office/drawing/2014/main" id="{24936B72-3BCA-0734-26DC-9071B52D3148}"/>
              </a:ext>
            </a:extLst>
          </p:cNvPr>
          <p:cNvCxnSpPr>
            <a:cxnSpLocks/>
            <a:stCxn id="2405" idx="0"/>
            <a:endCxn id="2375" idx="2"/>
          </p:cNvCxnSpPr>
          <p:nvPr/>
        </p:nvCxnSpPr>
        <p:spPr>
          <a:xfrm flipV="1">
            <a:off x="4244657" y="4071490"/>
            <a:ext cx="160705" cy="33392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493" name="Rounded Rectangle 2492">
            <a:extLst>
              <a:ext uri="{FF2B5EF4-FFF2-40B4-BE49-F238E27FC236}">
                <a16:creationId xmlns:a16="http://schemas.microsoft.com/office/drawing/2014/main" id="{3C12C399-EDF7-45E1-B591-774F35BC50A6}"/>
              </a:ext>
            </a:extLst>
          </p:cNvPr>
          <p:cNvSpPr/>
          <p:nvPr/>
        </p:nvSpPr>
        <p:spPr>
          <a:xfrm>
            <a:off x="1528639" y="3832084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TEP1</a:t>
            </a:r>
            <a:endParaRPr lang="en-US" sz="1000" dirty="0">
              <a:latin typeface="Metropolis" pitchFamily="2" charset="77"/>
            </a:endParaRPr>
          </a:p>
        </p:txBody>
      </p:sp>
      <p:sp>
        <p:nvSpPr>
          <p:cNvPr id="2502" name="Rounded Rectangle 2501">
            <a:extLst>
              <a:ext uri="{FF2B5EF4-FFF2-40B4-BE49-F238E27FC236}">
                <a16:creationId xmlns:a16="http://schemas.microsoft.com/office/drawing/2014/main" id="{80080505-0558-98FE-7582-8BE031A4E7FF}"/>
              </a:ext>
            </a:extLst>
          </p:cNvPr>
          <p:cNvSpPr/>
          <p:nvPr/>
        </p:nvSpPr>
        <p:spPr>
          <a:xfrm>
            <a:off x="4989881" y="3841061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TEP2</a:t>
            </a:r>
            <a:endParaRPr lang="en-US" sz="1000" dirty="0">
              <a:latin typeface="Metropolis" pitchFamily="2" charset="77"/>
            </a:endParaRPr>
          </a:p>
        </p:txBody>
      </p:sp>
      <p:cxnSp>
        <p:nvCxnSpPr>
          <p:cNvPr id="2503" name="Google Shape;1413;p5">
            <a:extLst>
              <a:ext uri="{FF2B5EF4-FFF2-40B4-BE49-F238E27FC236}">
                <a16:creationId xmlns:a16="http://schemas.microsoft.com/office/drawing/2014/main" id="{C10B0C35-D279-A473-B68E-A857ECC414AD}"/>
              </a:ext>
            </a:extLst>
          </p:cNvPr>
          <p:cNvCxnSpPr>
            <a:cxnSpLocks/>
            <a:endCxn id="2493" idx="0"/>
          </p:cNvCxnSpPr>
          <p:nvPr/>
        </p:nvCxnSpPr>
        <p:spPr>
          <a:xfrm flipH="1">
            <a:off x="1978118" y="3340766"/>
            <a:ext cx="1051848" cy="491318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05" name="Google Shape;1413;p5">
            <a:extLst>
              <a:ext uri="{FF2B5EF4-FFF2-40B4-BE49-F238E27FC236}">
                <a16:creationId xmlns:a16="http://schemas.microsoft.com/office/drawing/2014/main" id="{AACB5CCB-79C4-C01D-9E77-0E5A3D7CC01A}"/>
              </a:ext>
            </a:extLst>
          </p:cNvPr>
          <p:cNvCxnSpPr>
            <a:cxnSpLocks/>
            <a:stCxn id="47" idx="2"/>
            <a:endCxn id="2502" idx="0"/>
          </p:cNvCxnSpPr>
          <p:nvPr/>
        </p:nvCxnSpPr>
        <p:spPr>
          <a:xfrm>
            <a:off x="4402774" y="3340766"/>
            <a:ext cx="1036586" cy="500295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2399;p20">
            <a:extLst>
              <a:ext uri="{FF2B5EF4-FFF2-40B4-BE49-F238E27FC236}">
                <a16:creationId xmlns:a16="http://schemas.microsoft.com/office/drawing/2014/main" id="{ED5D7F94-7DFC-A3B5-09C1-197E5ED35D75}"/>
              </a:ext>
            </a:extLst>
          </p:cNvPr>
          <p:cNvSpPr/>
          <p:nvPr/>
        </p:nvSpPr>
        <p:spPr>
          <a:xfrm>
            <a:off x="6240101" y="3832084"/>
            <a:ext cx="4023821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vDS02 with vSAN Storage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1376;p4">
            <a:extLst>
              <a:ext uri="{FF2B5EF4-FFF2-40B4-BE49-F238E27FC236}">
                <a16:creationId xmlns:a16="http://schemas.microsoft.com/office/drawing/2014/main" id="{ADE83F84-81E1-9224-99F5-A35A24379E8A}"/>
              </a:ext>
            </a:extLst>
          </p:cNvPr>
          <p:cNvSpPr/>
          <p:nvPr/>
        </p:nvSpPr>
        <p:spPr>
          <a:xfrm>
            <a:off x="7107570" y="3669576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7" name="Google Shape;1376;p4">
            <a:extLst>
              <a:ext uri="{FF2B5EF4-FFF2-40B4-BE49-F238E27FC236}">
                <a16:creationId xmlns:a16="http://schemas.microsoft.com/office/drawing/2014/main" id="{BD87C9C7-6DC7-2025-114B-8E8F050B50FE}"/>
              </a:ext>
            </a:extLst>
          </p:cNvPr>
          <p:cNvSpPr/>
          <p:nvPr/>
        </p:nvSpPr>
        <p:spPr>
          <a:xfrm>
            <a:off x="7289108" y="2943952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pNIC3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8" name="Google Shape;1376;p4">
            <a:extLst>
              <a:ext uri="{FF2B5EF4-FFF2-40B4-BE49-F238E27FC236}">
                <a16:creationId xmlns:a16="http://schemas.microsoft.com/office/drawing/2014/main" id="{C7C3B0CF-2E36-861C-9E26-C2FD411D99C2}"/>
              </a:ext>
            </a:extLst>
          </p:cNvPr>
          <p:cNvSpPr/>
          <p:nvPr/>
        </p:nvSpPr>
        <p:spPr>
          <a:xfrm>
            <a:off x="8659567" y="2938678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pNIC4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9" name="Google Shape;1413;p5">
            <a:extLst>
              <a:ext uri="{FF2B5EF4-FFF2-40B4-BE49-F238E27FC236}">
                <a16:creationId xmlns:a16="http://schemas.microsoft.com/office/drawing/2014/main" id="{2C437E9C-91A8-22DD-A10F-850EA00CD565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 flipH="1">
            <a:off x="7557049" y="3333582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" name="Google Shape;1413;p5">
            <a:extLst>
              <a:ext uri="{FF2B5EF4-FFF2-40B4-BE49-F238E27FC236}">
                <a16:creationId xmlns:a16="http://schemas.microsoft.com/office/drawing/2014/main" id="{506EB93B-2448-CEC3-BBE6-5F760BCAF45C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8932206" y="3328308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1376;p4">
            <a:extLst>
              <a:ext uri="{FF2B5EF4-FFF2-40B4-BE49-F238E27FC236}">
                <a16:creationId xmlns:a16="http://schemas.microsoft.com/office/drawing/2014/main" id="{310A1EA7-2709-13AD-0141-7BE927A5094D}"/>
              </a:ext>
            </a:extLst>
          </p:cNvPr>
          <p:cNvSpPr/>
          <p:nvPr/>
        </p:nvSpPr>
        <p:spPr>
          <a:xfrm>
            <a:off x="8485315" y="3669403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45" name="Google Shape;1379;p4">
            <a:extLst>
              <a:ext uri="{FF2B5EF4-FFF2-40B4-BE49-F238E27FC236}">
                <a16:creationId xmlns:a16="http://schemas.microsoft.com/office/drawing/2014/main" id="{2B3A72F3-C008-06A1-9F2B-7ACC7828FF9B}"/>
              </a:ext>
            </a:extLst>
          </p:cNvPr>
          <p:cNvSpPr/>
          <p:nvPr/>
        </p:nvSpPr>
        <p:spPr>
          <a:xfrm>
            <a:off x="7748011" y="4391505"/>
            <a:ext cx="1007999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vSAN Storage 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cxnSp>
        <p:nvCxnSpPr>
          <p:cNvPr id="48" name="Google Shape;1421;p5">
            <a:extLst>
              <a:ext uri="{FF2B5EF4-FFF2-40B4-BE49-F238E27FC236}">
                <a16:creationId xmlns:a16="http://schemas.microsoft.com/office/drawing/2014/main" id="{1C88FFE5-43BA-A7D8-2103-0247164C3B8A}"/>
              </a:ext>
            </a:extLst>
          </p:cNvPr>
          <p:cNvCxnSpPr>
            <a:cxnSpLocks/>
          </p:cNvCxnSpPr>
          <p:nvPr/>
        </p:nvCxnSpPr>
        <p:spPr>
          <a:xfrm>
            <a:off x="7561442" y="2582480"/>
            <a:ext cx="0" cy="36364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3" name="Google Shape;1421;p5">
            <a:extLst>
              <a:ext uri="{FF2B5EF4-FFF2-40B4-BE49-F238E27FC236}">
                <a16:creationId xmlns:a16="http://schemas.microsoft.com/office/drawing/2014/main" id="{63BFF652-A633-E01F-7D1C-CFCEC42EFA6D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932206" y="2582480"/>
            <a:ext cx="0" cy="356198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5" name="Google Shape;1421;p5">
            <a:extLst>
              <a:ext uri="{FF2B5EF4-FFF2-40B4-BE49-F238E27FC236}">
                <a16:creationId xmlns:a16="http://schemas.microsoft.com/office/drawing/2014/main" id="{0D04A4B5-BE1A-7D30-1A41-23E4A4938723}"/>
              </a:ext>
            </a:extLst>
          </p:cNvPr>
          <p:cNvCxnSpPr>
            <a:cxnSpLocks/>
            <a:stCxn id="45" idx="0"/>
            <a:endCxn id="26" idx="2"/>
          </p:cNvCxnSpPr>
          <p:nvPr/>
        </p:nvCxnSpPr>
        <p:spPr>
          <a:xfrm flipH="1" flipV="1">
            <a:off x="7557049" y="4046574"/>
            <a:ext cx="694962" cy="34493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8" name="Google Shape;1421;p5">
            <a:extLst>
              <a:ext uri="{FF2B5EF4-FFF2-40B4-BE49-F238E27FC236}">
                <a16:creationId xmlns:a16="http://schemas.microsoft.com/office/drawing/2014/main" id="{C7A089E1-4BF7-F7A5-78DC-947C6D2C46EE}"/>
              </a:ext>
            </a:extLst>
          </p:cNvPr>
          <p:cNvCxnSpPr>
            <a:cxnSpLocks/>
            <a:stCxn id="45" idx="0"/>
            <a:endCxn id="31" idx="2"/>
          </p:cNvCxnSpPr>
          <p:nvPr/>
        </p:nvCxnSpPr>
        <p:spPr>
          <a:xfrm flipV="1">
            <a:off x="8252011" y="4059032"/>
            <a:ext cx="682783" cy="332473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dash"/>
            <a:miter lim="800000"/>
            <a:headEnd type="none" w="med" len="med"/>
            <a:tailEnd type="none" w="sm" len="sm"/>
          </a:ln>
        </p:spPr>
      </p:cxnSp>
      <p:cxnSp>
        <p:nvCxnSpPr>
          <p:cNvPr id="2370" name="Google Shape;1421;p5">
            <a:extLst>
              <a:ext uri="{FF2B5EF4-FFF2-40B4-BE49-F238E27FC236}">
                <a16:creationId xmlns:a16="http://schemas.microsoft.com/office/drawing/2014/main" id="{56170CFA-D1BB-1D1F-12BF-85436D712E7D}"/>
              </a:ext>
            </a:extLst>
          </p:cNvPr>
          <p:cNvCxnSpPr>
            <a:cxnSpLocks/>
            <a:stCxn id="2375" idx="2"/>
            <a:endCxn id="2402" idx="0"/>
          </p:cNvCxnSpPr>
          <p:nvPr/>
        </p:nvCxnSpPr>
        <p:spPr>
          <a:xfrm flipH="1">
            <a:off x="1992745" y="4071490"/>
            <a:ext cx="2412617" cy="32335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74" name="Google Shape;1421;p5">
            <a:extLst>
              <a:ext uri="{FF2B5EF4-FFF2-40B4-BE49-F238E27FC236}">
                <a16:creationId xmlns:a16="http://schemas.microsoft.com/office/drawing/2014/main" id="{A8852EFF-DD8D-0B32-F3A4-AA5B3270BD24}"/>
              </a:ext>
            </a:extLst>
          </p:cNvPr>
          <p:cNvCxnSpPr>
            <a:cxnSpLocks/>
            <a:stCxn id="2375" idx="2"/>
            <a:endCxn id="2403" idx="0"/>
          </p:cNvCxnSpPr>
          <p:nvPr/>
        </p:nvCxnSpPr>
        <p:spPr>
          <a:xfrm flipH="1">
            <a:off x="3118701" y="4071490"/>
            <a:ext cx="1286661" cy="324352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12" name="Google Shape;1421;p5">
            <a:extLst>
              <a:ext uri="{FF2B5EF4-FFF2-40B4-BE49-F238E27FC236}">
                <a16:creationId xmlns:a16="http://schemas.microsoft.com/office/drawing/2014/main" id="{F1D46420-6AAE-E788-91C3-8A38B123471E}"/>
              </a:ext>
            </a:extLst>
          </p:cNvPr>
          <p:cNvCxnSpPr>
            <a:cxnSpLocks/>
          </p:cNvCxnSpPr>
          <p:nvPr/>
        </p:nvCxnSpPr>
        <p:spPr>
          <a:xfrm>
            <a:off x="4402087" y="2610362"/>
            <a:ext cx="0" cy="34077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CB99CA-93D7-3F3D-3D98-90B294EDF0A3}"/>
              </a:ext>
            </a:extLst>
          </p:cNvPr>
          <p:cNvSpPr txBox="1"/>
          <p:nvPr/>
        </p:nvSpPr>
        <p:spPr>
          <a:xfrm>
            <a:off x="6292237" y="2219867"/>
            <a:ext cx="10574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Metropolis" pitchFamily="2" charset="77"/>
              </a:rPr>
              <a:t>Storage Fabric</a:t>
            </a:r>
          </a:p>
          <a:p>
            <a:pPr algn="ctr"/>
            <a:r>
              <a:rPr lang="en-US" sz="1000" dirty="0">
                <a:latin typeface="Metropolis" pitchFamily="2" charset="77"/>
              </a:rPr>
              <a:t>Switch-A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2C43A4-75FF-54BB-4D3B-B8EFB78AC428}"/>
              </a:ext>
            </a:extLst>
          </p:cNvPr>
          <p:cNvSpPr txBox="1"/>
          <p:nvPr/>
        </p:nvSpPr>
        <p:spPr>
          <a:xfrm>
            <a:off x="9154365" y="2198494"/>
            <a:ext cx="10511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Metropolis" pitchFamily="2" charset="77"/>
              </a:rPr>
              <a:t>Storage Fabric Switch-B</a:t>
            </a:r>
          </a:p>
        </p:txBody>
      </p:sp>
      <p:sp>
        <p:nvSpPr>
          <p:cNvPr id="32" name="Google Shape;1379;p4">
            <a:extLst>
              <a:ext uri="{FF2B5EF4-FFF2-40B4-BE49-F238E27FC236}">
                <a16:creationId xmlns:a16="http://schemas.microsoft.com/office/drawing/2014/main" id="{328D5A6A-EC6F-0ED4-E33C-CFADA13C47FF}"/>
              </a:ext>
            </a:extLst>
          </p:cNvPr>
          <p:cNvSpPr/>
          <p:nvPr/>
        </p:nvSpPr>
        <p:spPr>
          <a:xfrm>
            <a:off x="4881121" y="4399040"/>
            <a:ext cx="1007999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vSAN</a:t>
            </a: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 Client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cxnSp>
        <p:nvCxnSpPr>
          <p:cNvPr id="33" name="Google Shape;1421;p5">
            <a:extLst>
              <a:ext uri="{FF2B5EF4-FFF2-40B4-BE49-F238E27FC236}">
                <a16:creationId xmlns:a16="http://schemas.microsoft.com/office/drawing/2014/main" id="{FC681A93-006A-514C-96CC-C2785DB7441A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2972112" y="4084385"/>
            <a:ext cx="2413009" cy="31465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0" name="Google Shape;1421;p5">
            <a:extLst>
              <a:ext uri="{FF2B5EF4-FFF2-40B4-BE49-F238E27FC236}">
                <a16:creationId xmlns:a16="http://schemas.microsoft.com/office/drawing/2014/main" id="{094D7A47-BAD4-2D16-FFB7-C789642FAA60}"/>
              </a:ext>
            </a:extLst>
          </p:cNvPr>
          <p:cNvCxnSpPr>
            <a:cxnSpLocks/>
            <a:stCxn id="32" idx="0"/>
            <a:endCxn id="2375" idx="2"/>
          </p:cNvCxnSpPr>
          <p:nvPr/>
        </p:nvCxnSpPr>
        <p:spPr>
          <a:xfrm flipH="1" flipV="1">
            <a:off x="4405362" y="4071490"/>
            <a:ext cx="979759" cy="327550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BF475B7F-9B1F-247D-844A-AEED7A6C0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</p:spPr>
        <p:txBody>
          <a:bodyPr/>
          <a:lstStyle/>
          <a:p>
            <a:r>
              <a:rPr lang="en-GB" sz="2400" dirty="0"/>
              <a:t>vSAN Storage Cluster Separation Distributed Switch Model v1.2</a:t>
            </a:r>
            <a:endParaRPr lang="en-US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746E22-F45D-6238-B824-B71E9A9F2C59}"/>
              </a:ext>
            </a:extLst>
          </p:cNvPr>
          <p:cNvGrpSpPr/>
          <p:nvPr/>
        </p:nvGrpSpPr>
        <p:grpSpPr>
          <a:xfrm>
            <a:off x="2773184" y="2071512"/>
            <a:ext cx="503999" cy="540000"/>
            <a:chOff x="9321542" y="1289797"/>
            <a:chExt cx="348692" cy="350167"/>
          </a:xfrm>
        </p:grpSpPr>
        <p:sp>
          <p:nvSpPr>
            <p:cNvPr id="13" name="Google Shape;2074;p72">
              <a:extLst>
                <a:ext uri="{FF2B5EF4-FFF2-40B4-BE49-F238E27FC236}">
                  <a16:creationId xmlns:a16="http://schemas.microsoft.com/office/drawing/2014/main" id="{594ECB5B-4C6D-638E-A149-CE8536A58DEB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" name="Google Shape;2075;p72">
              <a:extLst>
                <a:ext uri="{FF2B5EF4-FFF2-40B4-BE49-F238E27FC236}">
                  <a16:creationId xmlns:a16="http://schemas.microsoft.com/office/drawing/2014/main" id="{9D559AC5-17C1-E967-54F5-A90085EEB4F2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" name="Google Shape;2076;p72">
              <a:extLst>
                <a:ext uri="{FF2B5EF4-FFF2-40B4-BE49-F238E27FC236}">
                  <a16:creationId xmlns:a16="http://schemas.microsoft.com/office/drawing/2014/main" id="{2200C1DD-A464-12C0-DCA1-A75E2D0EF2B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" name="Google Shape;2077;p72">
              <a:extLst>
                <a:ext uri="{FF2B5EF4-FFF2-40B4-BE49-F238E27FC236}">
                  <a16:creationId xmlns:a16="http://schemas.microsoft.com/office/drawing/2014/main" id="{CFA83AE7-4D10-F282-364C-7BB7E6647F5F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" name="Google Shape;2078;p72">
              <a:extLst>
                <a:ext uri="{FF2B5EF4-FFF2-40B4-BE49-F238E27FC236}">
                  <a16:creationId xmlns:a16="http://schemas.microsoft.com/office/drawing/2014/main" id="{2A948B2D-97F5-69F7-66E7-0447D01C369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F8D14C-714E-4F0B-8AC7-1D7C116A3A09}"/>
              </a:ext>
            </a:extLst>
          </p:cNvPr>
          <p:cNvGrpSpPr/>
          <p:nvPr/>
        </p:nvGrpSpPr>
        <p:grpSpPr>
          <a:xfrm>
            <a:off x="4139055" y="2071512"/>
            <a:ext cx="503999" cy="540000"/>
            <a:chOff x="9321542" y="1289797"/>
            <a:chExt cx="348692" cy="350167"/>
          </a:xfrm>
        </p:grpSpPr>
        <p:sp>
          <p:nvSpPr>
            <p:cNvPr id="35" name="Google Shape;2074;p72">
              <a:extLst>
                <a:ext uri="{FF2B5EF4-FFF2-40B4-BE49-F238E27FC236}">
                  <a16:creationId xmlns:a16="http://schemas.microsoft.com/office/drawing/2014/main" id="{3D70E5B7-4B65-3352-A600-80866123E072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" name="Google Shape;2075;p72">
              <a:extLst>
                <a:ext uri="{FF2B5EF4-FFF2-40B4-BE49-F238E27FC236}">
                  <a16:creationId xmlns:a16="http://schemas.microsoft.com/office/drawing/2014/main" id="{C32BD3FF-6A42-BE86-855A-6D19D6FDFC86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" name="Google Shape;2076;p72">
              <a:extLst>
                <a:ext uri="{FF2B5EF4-FFF2-40B4-BE49-F238E27FC236}">
                  <a16:creationId xmlns:a16="http://schemas.microsoft.com/office/drawing/2014/main" id="{8AF83F3F-D0F5-83E6-CF6D-2ACDF79A47B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8" name="Google Shape;2077;p72">
              <a:extLst>
                <a:ext uri="{FF2B5EF4-FFF2-40B4-BE49-F238E27FC236}">
                  <a16:creationId xmlns:a16="http://schemas.microsoft.com/office/drawing/2014/main" id="{3CE12715-794E-16B7-0304-91DBF08A7536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9" name="Google Shape;2078;p72">
              <a:extLst>
                <a:ext uri="{FF2B5EF4-FFF2-40B4-BE49-F238E27FC236}">
                  <a16:creationId xmlns:a16="http://schemas.microsoft.com/office/drawing/2014/main" id="{DAC9DF8B-9900-F5DA-87A6-CDF77CA99D0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17A9026-8260-D1EF-32EA-9D3371F41A4B}"/>
              </a:ext>
            </a:extLst>
          </p:cNvPr>
          <p:cNvGrpSpPr/>
          <p:nvPr/>
        </p:nvGrpSpPr>
        <p:grpSpPr>
          <a:xfrm>
            <a:off x="7305049" y="2071512"/>
            <a:ext cx="503999" cy="540000"/>
            <a:chOff x="9321542" y="1289797"/>
            <a:chExt cx="348692" cy="350167"/>
          </a:xfrm>
        </p:grpSpPr>
        <p:sp>
          <p:nvSpPr>
            <p:cNvPr id="41" name="Google Shape;2074;p72">
              <a:extLst>
                <a:ext uri="{FF2B5EF4-FFF2-40B4-BE49-F238E27FC236}">
                  <a16:creationId xmlns:a16="http://schemas.microsoft.com/office/drawing/2014/main" id="{2D58EF26-F1AC-B563-3B9C-E5262F414CE5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" name="Google Shape;2075;p72">
              <a:extLst>
                <a:ext uri="{FF2B5EF4-FFF2-40B4-BE49-F238E27FC236}">
                  <a16:creationId xmlns:a16="http://schemas.microsoft.com/office/drawing/2014/main" id="{296DBC42-AA0E-EE34-E7D3-D89D564A56BA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" name="Google Shape;2076;p72">
              <a:extLst>
                <a:ext uri="{FF2B5EF4-FFF2-40B4-BE49-F238E27FC236}">
                  <a16:creationId xmlns:a16="http://schemas.microsoft.com/office/drawing/2014/main" id="{12FA1285-E803-31DD-AD8E-D7F6125A5BB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4" name="Google Shape;2077;p72">
              <a:extLst>
                <a:ext uri="{FF2B5EF4-FFF2-40B4-BE49-F238E27FC236}">
                  <a16:creationId xmlns:a16="http://schemas.microsoft.com/office/drawing/2014/main" id="{0DF7068C-E46E-1BB3-2424-5FA3160083CB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9" name="Google Shape;2078;p72">
              <a:extLst>
                <a:ext uri="{FF2B5EF4-FFF2-40B4-BE49-F238E27FC236}">
                  <a16:creationId xmlns:a16="http://schemas.microsoft.com/office/drawing/2014/main" id="{B722A150-9D40-27ED-90BD-7260FF8D269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B4CE715-DCFF-B262-AAA8-42ABFC3E781B}"/>
              </a:ext>
            </a:extLst>
          </p:cNvPr>
          <p:cNvGrpSpPr/>
          <p:nvPr/>
        </p:nvGrpSpPr>
        <p:grpSpPr>
          <a:xfrm>
            <a:off x="8659567" y="2066094"/>
            <a:ext cx="503999" cy="540000"/>
            <a:chOff x="9321542" y="1289797"/>
            <a:chExt cx="348692" cy="350167"/>
          </a:xfrm>
        </p:grpSpPr>
        <p:sp>
          <p:nvSpPr>
            <p:cNvPr id="51" name="Google Shape;2074;p72">
              <a:extLst>
                <a:ext uri="{FF2B5EF4-FFF2-40B4-BE49-F238E27FC236}">
                  <a16:creationId xmlns:a16="http://schemas.microsoft.com/office/drawing/2014/main" id="{FD07AA35-426D-D455-E6E6-80F18C557FBE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" name="Google Shape;2075;p72">
              <a:extLst>
                <a:ext uri="{FF2B5EF4-FFF2-40B4-BE49-F238E27FC236}">
                  <a16:creationId xmlns:a16="http://schemas.microsoft.com/office/drawing/2014/main" id="{F5075589-8D2F-1B47-E2E4-CAB1A4D0C8CA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" name="Google Shape;2076;p72">
              <a:extLst>
                <a:ext uri="{FF2B5EF4-FFF2-40B4-BE49-F238E27FC236}">
                  <a16:creationId xmlns:a16="http://schemas.microsoft.com/office/drawing/2014/main" id="{401A422D-02FB-F53C-46BB-C08CDD35B1F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6" name="Google Shape;2077;p72">
              <a:extLst>
                <a:ext uri="{FF2B5EF4-FFF2-40B4-BE49-F238E27FC236}">
                  <a16:creationId xmlns:a16="http://schemas.microsoft.com/office/drawing/2014/main" id="{526FAD49-E1A5-894D-9F7B-A5AFD31FC51E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9" name="Google Shape;2078;p72">
              <a:extLst>
                <a:ext uri="{FF2B5EF4-FFF2-40B4-BE49-F238E27FC236}">
                  <a16:creationId xmlns:a16="http://schemas.microsoft.com/office/drawing/2014/main" id="{F11F3F58-BB6A-C7DC-F76A-32AFACF0D3E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2599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2F6CF2-D6E8-13C3-618A-4E6135EB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Fleet Level Components Networking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3F52E42-BC76-5465-5323-B35201CF1C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0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DAD510D9-42E0-2C92-CA49-7CF42D57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0A13F1C-5E00-438B-D36A-828BBE014AB9}"/>
              </a:ext>
            </a:extLst>
          </p:cNvPr>
          <p:cNvSpPr/>
          <p:nvPr/>
        </p:nvSpPr>
        <p:spPr>
          <a:xfrm>
            <a:off x="1585314" y="1472183"/>
            <a:ext cx="9277758" cy="3182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59" name="Group 2458">
            <a:extLst>
              <a:ext uri="{FF2B5EF4-FFF2-40B4-BE49-F238E27FC236}">
                <a16:creationId xmlns:a16="http://schemas.microsoft.com/office/drawing/2014/main" id="{ED523E54-2346-9291-1A01-D166766439AE}"/>
              </a:ext>
            </a:extLst>
          </p:cNvPr>
          <p:cNvGrpSpPr/>
          <p:nvPr/>
        </p:nvGrpSpPr>
        <p:grpSpPr>
          <a:xfrm>
            <a:off x="1722474" y="1557303"/>
            <a:ext cx="9011092" cy="3015099"/>
            <a:chOff x="2035905" y="1747954"/>
            <a:chExt cx="9011092" cy="3015099"/>
          </a:xfrm>
          <a:solidFill>
            <a:schemeClr val="bg1"/>
          </a:solidFill>
        </p:grpSpPr>
        <p:grpSp>
          <p:nvGrpSpPr>
            <p:cNvPr id="2460" name="Group 2459">
              <a:extLst>
                <a:ext uri="{FF2B5EF4-FFF2-40B4-BE49-F238E27FC236}">
                  <a16:creationId xmlns:a16="http://schemas.microsoft.com/office/drawing/2014/main" id="{58F7E9FC-FB8E-3BE9-834D-C05643F6ADA9}"/>
                </a:ext>
              </a:extLst>
            </p:cNvPr>
            <p:cNvGrpSpPr/>
            <p:nvPr/>
          </p:nvGrpSpPr>
          <p:grpSpPr>
            <a:xfrm>
              <a:off x="2035905" y="1747954"/>
              <a:ext cx="9011092" cy="3015099"/>
              <a:chOff x="2041904" y="1700593"/>
              <a:chExt cx="9011092" cy="3015099"/>
            </a:xfrm>
            <a:grpFill/>
          </p:grpSpPr>
          <p:sp>
            <p:nvSpPr>
              <p:cNvPr id="2464" name="Google Shape;1641;p6">
                <a:extLst>
                  <a:ext uri="{FF2B5EF4-FFF2-40B4-BE49-F238E27FC236}">
                    <a16:creationId xmlns:a16="http://schemas.microsoft.com/office/drawing/2014/main" id="{8304CF23-97B7-4B93-63DB-8F3F4F060674}"/>
                  </a:ext>
                </a:extLst>
              </p:cNvPr>
              <p:cNvSpPr/>
              <p:nvPr/>
            </p:nvSpPr>
            <p:spPr>
              <a:xfrm>
                <a:off x="2041904" y="2258870"/>
                <a:ext cx="9011092" cy="2456822"/>
              </a:xfrm>
              <a:prstGeom prst="rect">
                <a:avLst/>
              </a:prstGeom>
              <a:grpFill/>
              <a:ln w="12700" cap="rnd" cmpd="sng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dirty="0">
                    <a:latin typeface="Metropolis" pitchFamily="2" charset="77"/>
                  </a:rPr>
                  <a:t>Management Domain</a:t>
                </a:r>
                <a:endParaRPr sz="800" dirty="0">
                  <a:latin typeface="Metropolis" pitchFamily="2" charset="77"/>
                </a:endParaRPr>
              </a:p>
            </p:txBody>
          </p:sp>
          <p:cxnSp>
            <p:nvCxnSpPr>
              <p:cNvPr id="2465" name="Straight Connector 2464">
                <a:extLst>
                  <a:ext uri="{FF2B5EF4-FFF2-40B4-BE49-F238E27FC236}">
                    <a16:creationId xmlns:a16="http://schemas.microsoft.com/office/drawing/2014/main" id="{8EB6125F-4DC1-5041-235F-A31BC53A96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1632" y="2717076"/>
                <a:ext cx="4157926" cy="0"/>
              </a:xfrm>
              <a:prstGeom prst="line">
                <a:avLst/>
              </a:prstGeom>
              <a:grpFill/>
              <a:ln w="2540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6" name="Google Shape;1641;p6">
                <a:extLst>
                  <a:ext uri="{FF2B5EF4-FFF2-40B4-BE49-F238E27FC236}">
                    <a16:creationId xmlns:a16="http://schemas.microsoft.com/office/drawing/2014/main" id="{0820278A-054C-DF60-5B67-4DDA64F79227}"/>
                  </a:ext>
                </a:extLst>
              </p:cNvPr>
              <p:cNvSpPr/>
              <p:nvPr/>
            </p:nvSpPr>
            <p:spPr>
              <a:xfrm>
                <a:off x="2174826" y="3037125"/>
                <a:ext cx="4294733" cy="1221366"/>
              </a:xfrm>
              <a:prstGeom prst="rect">
                <a:avLst/>
              </a:prstGeom>
              <a:grpFill/>
              <a:ln w="25400" cap="rnd" cmpd="sng">
                <a:solidFill>
                  <a:schemeClr val="accent2"/>
                </a:solidFill>
                <a:prstDash val="sysDot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dirty="0">
                    <a:latin typeface="Metropolis" pitchFamily="2" charset="77"/>
                  </a:rPr>
                  <a:t>Management VMs</a:t>
                </a:r>
                <a:endParaRPr sz="800" dirty="0">
                  <a:latin typeface="Metropolis" pitchFamily="2" charset="77"/>
                </a:endParaRPr>
              </a:p>
            </p:txBody>
          </p:sp>
          <p:sp>
            <p:nvSpPr>
              <p:cNvPr id="2467" name="Google Shape;2402;p20">
                <a:extLst>
                  <a:ext uri="{FF2B5EF4-FFF2-40B4-BE49-F238E27FC236}">
                    <a16:creationId xmlns:a16="http://schemas.microsoft.com/office/drawing/2014/main" id="{362DED68-145D-28EF-A25A-7CF567B02707}"/>
                  </a:ext>
                </a:extLst>
              </p:cNvPr>
              <p:cNvSpPr/>
              <p:nvPr/>
            </p:nvSpPr>
            <p:spPr>
              <a:xfrm>
                <a:off x="4359698" y="3306727"/>
                <a:ext cx="898958" cy="592534"/>
              </a:xfrm>
              <a:prstGeom prst="rect">
                <a:avLst/>
              </a:prstGeom>
              <a:grp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solidFill>
                      <a:srgbClr val="221E20"/>
                    </a:solidFill>
                    <a:latin typeface="Metropolis" pitchFamily="2" charset="77"/>
                  </a:rPr>
                  <a:t>NSX Manager(s)</a:t>
                </a:r>
                <a:endParaRPr lang="en-US" sz="800" dirty="0">
                  <a:latin typeface="Metropolis" pitchFamily="2" charset="77"/>
                </a:endParaRPr>
              </a:p>
            </p:txBody>
          </p:sp>
          <p:sp>
            <p:nvSpPr>
              <p:cNvPr id="2468" name="Google Shape;2402;p20">
                <a:extLst>
                  <a:ext uri="{FF2B5EF4-FFF2-40B4-BE49-F238E27FC236}">
                    <a16:creationId xmlns:a16="http://schemas.microsoft.com/office/drawing/2014/main" id="{1FE9CC76-5178-053E-14A4-5A802E56AC2F}"/>
                  </a:ext>
                </a:extLst>
              </p:cNvPr>
              <p:cNvSpPr/>
              <p:nvPr/>
            </p:nvSpPr>
            <p:spPr>
              <a:xfrm>
                <a:off x="3291894" y="3306727"/>
                <a:ext cx="898958" cy="592534"/>
              </a:xfrm>
              <a:prstGeom prst="rect">
                <a:avLst/>
              </a:prstGeom>
              <a:grp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latin typeface="Metropolis" pitchFamily="2" charset="77"/>
                  </a:rPr>
                  <a:t>vCenter(s)</a:t>
                </a:r>
              </a:p>
            </p:txBody>
          </p:sp>
          <p:sp>
            <p:nvSpPr>
              <p:cNvPr id="2469" name="Google Shape;2402;p20">
                <a:extLst>
                  <a:ext uri="{FF2B5EF4-FFF2-40B4-BE49-F238E27FC236}">
                    <a16:creationId xmlns:a16="http://schemas.microsoft.com/office/drawing/2014/main" id="{E81EE1D3-99C5-54E2-F432-C56607304E08}"/>
                  </a:ext>
                </a:extLst>
              </p:cNvPr>
              <p:cNvSpPr/>
              <p:nvPr/>
            </p:nvSpPr>
            <p:spPr>
              <a:xfrm>
                <a:off x="5419474" y="3306727"/>
                <a:ext cx="898958" cy="592534"/>
              </a:xfrm>
              <a:prstGeom prst="rect">
                <a:avLst/>
              </a:prstGeom>
              <a:grp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latin typeface="Metropolis" pitchFamily="2" charset="77"/>
                  </a:rPr>
                  <a:t>SDDC Manager</a:t>
                </a:r>
              </a:p>
            </p:txBody>
          </p:sp>
          <p:sp>
            <p:nvSpPr>
              <p:cNvPr id="2470" name="Google Shape;2403;p20">
                <a:extLst>
                  <a:ext uri="{FF2B5EF4-FFF2-40B4-BE49-F238E27FC236}">
                    <a16:creationId xmlns:a16="http://schemas.microsoft.com/office/drawing/2014/main" id="{9ED70D5D-AD97-D817-BB1A-8B28E19F4006}"/>
                  </a:ext>
                </a:extLst>
              </p:cNvPr>
              <p:cNvSpPr/>
              <p:nvPr/>
            </p:nvSpPr>
            <p:spPr>
              <a:xfrm>
                <a:off x="6112641" y="1700593"/>
                <a:ext cx="898958" cy="383370"/>
              </a:xfrm>
              <a:prstGeom prst="rect">
                <a:avLst/>
              </a:prstGeom>
              <a:grp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E" sz="800" dirty="0">
                    <a:solidFill>
                      <a:schemeClr val="tx1"/>
                    </a:solidFill>
                    <a:latin typeface="Metropolis" pitchFamily="2" charset="77"/>
                  </a:rPr>
                  <a:t>External Connectivity</a:t>
                </a:r>
              </a:p>
            </p:txBody>
          </p:sp>
          <p:cxnSp>
            <p:nvCxnSpPr>
              <p:cNvPr id="2471" name="Straight Connector 2470">
                <a:extLst>
                  <a:ext uri="{FF2B5EF4-FFF2-40B4-BE49-F238E27FC236}">
                    <a16:creationId xmlns:a16="http://schemas.microsoft.com/office/drawing/2014/main" id="{D3C1D66A-8F6A-7825-C203-BD432477F0F7}"/>
                  </a:ext>
                </a:extLst>
              </p:cNvPr>
              <p:cNvCxnSpPr>
                <a:cxnSpLocks/>
                <a:stCxn id="2467" idx="0"/>
              </p:cNvCxnSpPr>
              <p:nvPr/>
            </p:nvCxnSpPr>
            <p:spPr>
              <a:xfrm flipV="1">
                <a:off x="4809177" y="2704011"/>
                <a:ext cx="0" cy="602716"/>
              </a:xfrm>
              <a:prstGeom prst="line">
                <a:avLst/>
              </a:prstGeom>
              <a:grpFill/>
              <a:ln w="2540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2" name="Google Shape;1641;p6">
                <a:extLst>
                  <a:ext uri="{FF2B5EF4-FFF2-40B4-BE49-F238E27FC236}">
                    <a16:creationId xmlns:a16="http://schemas.microsoft.com/office/drawing/2014/main" id="{76518548-0CD2-A0EA-B42C-56B08FB9E0E3}"/>
                  </a:ext>
                </a:extLst>
              </p:cNvPr>
              <p:cNvSpPr/>
              <p:nvPr/>
            </p:nvSpPr>
            <p:spPr>
              <a:xfrm>
                <a:off x="6630375" y="3037125"/>
                <a:ext cx="4292566" cy="1221366"/>
              </a:xfrm>
              <a:prstGeom prst="rect">
                <a:avLst/>
              </a:prstGeom>
              <a:grpFill/>
              <a:ln w="25400" cap="rnd" cmpd="sng">
                <a:solidFill>
                  <a:schemeClr val="accent2"/>
                </a:solidFill>
                <a:prstDash val="sysDot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dirty="0">
                    <a:latin typeface="Metropolis" pitchFamily="2" charset="77"/>
                  </a:rPr>
                  <a:t>Fleet Level VMs</a:t>
                </a:r>
                <a:endParaRPr sz="800" dirty="0">
                  <a:latin typeface="Metropolis" pitchFamily="2" charset="77"/>
                </a:endParaRPr>
              </a:p>
            </p:txBody>
          </p:sp>
          <p:sp>
            <p:nvSpPr>
              <p:cNvPr id="2473" name="Google Shape;2403;p20">
                <a:extLst>
                  <a:ext uri="{FF2B5EF4-FFF2-40B4-BE49-F238E27FC236}">
                    <a16:creationId xmlns:a16="http://schemas.microsoft.com/office/drawing/2014/main" id="{C34A3678-3D99-C384-D0BB-FB97E53EDDAB}"/>
                  </a:ext>
                </a:extLst>
              </p:cNvPr>
              <p:cNvSpPr/>
              <p:nvPr/>
            </p:nvSpPr>
            <p:spPr>
              <a:xfrm>
                <a:off x="7833348" y="3306727"/>
                <a:ext cx="898958" cy="592534"/>
              </a:xfrm>
              <a:prstGeom prst="rect">
                <a:avLst/>
              </a:prstGeom>
              <a:grp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dirty="0">
                    <a:latin typeface="Metropolis" pitchFamily="2" charset="77"/>
                  </a:rPr>
                  <a:t>VCF Ops</a:t>
                </a:r>
                <a:endParaRPr sz="800" dirty="0">
                  <a:latin typeface="Metropolis" pitchFamily="2" charset="77"/>
                </a:endParaRPr>
              </a:p>
            </p:txBody>
          </p:sp>
          <p:sp>
            <p:nvSpPr>
              <p:cNvPr id="2474" name="Google Shape;2403;p20">
                <a:extLst>
                  <a:ext uri="{FF2B5EF4-FFF2-40B4-BE49-F238E27FC236}">
                    <a16:creationId xmlns:a16="http://schemas.microsoft.com/office/drawing/2014/main" id="{5BFA120F-902A-E017-C297-83D86E8F64E7}"/>
                  </a:ext>
                </a:extLst>
              </p:cNvPr>
              <p:cNvSpPr/>
              <p:nvPr/>
            </p:nvSpPr>
            <p:spPr>
              <a:xfrm>
                <a:off x="6782383" y="3306727"/>
                <a:ext cx="898958" cy="592534"/>
              </a:xfrm>
              <a:prstGeom prst="rect">
                <a:avLst/>
              </a:prstGeom>
              <a:grp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E" sz="800" dirty="0">
                    <a:latin typeface="Metropolis" pitchFamily="2" charset="77"/>
                  </a:rPr>
                  <a:t>VCF Automation</a:t>
                </a:r>
              </a:p>
            </p:txBody>
          </p:sp>
          <p:sp>
            <p:nvSpPr>
              <p:cNvPr id="2475" name="Google Shape;2403;p20">
                <a:extLst>
                  <a:ext uri="{FF2B5EF4-FFF2-40B4-BE49-F238E27FC236}">
                    <a16:creationId xmlns:a16="http://schemas.microsoft.com/office/drawing/2014/main" id="{F1DD7EAF-0D8D-BD02-BA6B-98F048814F09}"/>
                  </a:ext>
                </a:extLst>
              </p:cNvPr>
              <p:cNvSpPr/>
              <p:nvPr/>
            </p:nvSpPr>
            <p:spPr>
              <a:xfrm>
                <a:off x="8873910" y="3306727"/>
                <a:ext cx="898958" cy="592534"/>
              </a:xfrm>
              <a:prstGeom prst="rect">
                <a:avLst/>
              </a:prstGeom>
              <a:grp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dirty="0">
                    <a:latin typeface="Metropolis" pitchFamily="2" charset="77"/>
                  </a:rPr>
                  <a:t>VCF Ops for Logs</a:t>
                </a:r>
              </a:p>
            </p:txBody>
          </p:sp>
          <p:sp>
            <p:nvSpPr>
              <p:cNvPr id="2477" name="TextBox 2476">
                <a:extLst>
                  <a:ext uri="{FF2B5EF4-FFF2-40B4-BE49-F238E27FC236}">
                    <a16:creationId xmlns:a16="http://schemas.microsoft.com/office/drawing/2014/main" id="{2B756C84-526A-E18F-DF9F-03A542BAF5A5}"/>
                  </a:ext>
                </a:extLst>
              </p:cNvPr>
              <p:cNvSpPr txBox="1"/>
              <p:nvPr/>
            </p:nvSpPr>
            <p:spPr>
              <a:xfrm>
                <a:off x="3127298" y="2371989"/>
                <a:ext cx="988713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VM Management </a:t>
                </a:r>
              </a:p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Port Group</a:t>
                </a:r>
              </a:p>
            </p:txBody>
          </p:sp>
          <p:sp>
            <p:nvSpPr>
              <p:cNvPr id="2478" name="Rectangle 2477">
                <a:extLst>
                  <a:ext uri="{FF2B5EF4-FFF2-40B4-BE49-F238E27FC236}">
                    <a16:creationId xmlns:a16="http://schemas.microsoft.com/office/drawing/2014/main" id="{65EF458B-BA17-DE00-1D4F-7D337DFFD719}"/>
                  </a:ext>
                </a:extLst>
              </p:cNvPr>
              <p:cNvSpPr/>
              <p:nvPr/>
            </p:nvSpPr>
            <p:spPr>
              <a:xfrm>
                <a:off x="5167822" y="1700593"/>
                <a:ext cx="720080" cy="383369"/>
              </a:xfrm>
              <a:prstGeom prst="rect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lvl="1" algn="ctr"/>
                <a:r>
                  <a:rPr lang="en-US" sz="800" dirty="0">
                    <a:solidFill>
                      <a:schemeClr val="tx2"/>
                    </a:solidFill>
                    <a:latin typeface="Metropolis" pitchFamily="2" charset="77"/>
                  </a:rPr>
                  <a:t>VM Management</a:t>
                </a:r>
              </a:p>
              <a:p>
                <a:pPr lvl="1" algn="ctr"/>
                <a:r>
                  <a:rPr lang="en-US" sz="800" dirty="0">
                    <a:solidFill>
                      <a:schemeClr val="tx2"/>
                    </a:solidFill>
                    <a:latin typeface="Metropolis" pitchFamily="2" charset="77"/>
                  </a:rPr>
                  <a:t>VLAN</a:t>
                </a:r>
              </a:p>
            </p:txBody>
          </p:sp>
        </p:grpSp>
        <p:cxnSp>
          <p:nvCxnSpPr>
            <p:cNvPr id="2463" name="Straight Arrow Connector 2462">
              <a:extLst>
                <a:ext uri="{FF2B5EF4-FFF2-40B4-BE49-F238E27FC236}">
                  <a16:creationId xmlns:a16="http://schemas.microsoft.com/office/drawing/2014/main" id="{275B7E7D-B961-BCD4-0B93-53A167842C63}"/>
                </a:ext>
              </a:extLst>
            </p:cNvPr>
            <p:cNvCxnSpPr>
              <a:cxnSpLocks/>
            </p:cNvCxnSpPr>
            <p:nvPr/>
          </p:nvCxnSpPr>
          <p:spPr>
            <a:xfrm>
              <a:off x="5521863" y="2444614"/>
              <a:ext cx="674218" cy="0"/>
            </a:xfrm>
            <a:prstGeom prst="straightConnector1">
              <a:avLst/>
            </a:prstGeom>
            <a:grpFill/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42EB6FC6-9DD8-2C3C-1BEC-E861726375B6}"/>
              </a:ext>
            </a:extLst>
          </p:cNvPr>
          <p:cNvSpPr/>
          <p:nvPr/>
        </p:nvSpPr>
        <p:spPr>
          <a:xfrm>
            <a:off x="1688876" y="2115580"/>
            <a:ext cx="9061549" cy="2456822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Management Domain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A444B6-B5BD-ECF2-2444-3181617E14AE}"/>
              </a:ext>
            </a:extLst>
          </p:cNvPr>
          <p:cNvCxnSpPr>
            <a:cxnSpLocks/>
          </p:cNvCxnSpPr>
          <p:nvPr/>
        </p:nvCxnSpPr>
        <p:spPr>
          <a:xfrm flipV="1">
            <a:off x="2180581" y="2560721"/>
            <a:ext cx="8099157" cy="6531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1641;p6">
            <a:extLst>
              <a:ext uri="{FF2B5EF4-FFF2-40B4-BE49-F238E27FC236}">
                <a16:creationId xmlns:a16="http://schemas.microsoft.com/office/drawing/2014/main" id="{125FD9C5-8703-433C-B38B-FF9167B46F60}"/>
              </a:ext>
            </a:extLst>
          </p:cNvPr>
          <p:cNvSpPr/>
          <p:nvPr/>
        </p:nvSpPr>
        <p:spPr>
          <a:xfrm>
            <a:off x="1802583" y="2893835"/>
            <a:ext cx="4403660" cy="122136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Management VMs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409" name="Google Shape;2402;p20">
            <a:extLst>
              <a:ext uri="{FF2B5EF4-FFF2-40B4-BE49-F238E27FC236}">
                <a16:creationId xmlns:a16="http://schemas.microsoft.com/office/drawing/2014/main" id="{045FA793-40E2-F275-EEDB-E0C1B4DF07FA}"/>
              </a:ext>
            </a:extLst>
          </p:cNvPr>
          <p:cNvSpPr/>
          <p:nvPr/>
        </p:nvSpPr>
        <p:spPr>
          <a:xfrm>
            <a:off x="4040268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NSX Manager(s)</a:t>
            </a:r>
            <a:endParaRPr lang="en-US" sz="800" dirty="0">
              <a:latin typeface="Metropolis" pitchFamily="2" charset="77"/>
            </a:endParaRPr>
          </a:p>
        </p:txBody>
      </p:sp>
      <p:sp>
        <p:nvSpPr>
          <p:cNvPr id="11" name="Google Shape;2402;p20">
            <a:extLst>
              <a:ext uri="{FF2B5EF4-FFF2-40B4-BE49-F238E27FC236}">
                <a16:creationId xmlns:a16="http://schemas.microsoft.com/office/drawing/2014/main" id="{2130D07B-C859-8FDD-C3CE-5477FC513A5E}"/>
              </a:ext>
            </a:extLst>
          </p:cNvPr>
          <p:cNvSpPr/>
          <p:nvPr/>
        </p:nvSpPr>
        <p:spPr>
          <a:xfrm>
            <a:off x="2972464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vCenter(s)</a:t>
            </a:r>
          </a:p>
        </p:txBody>
      </p:sp>
      <p:sp>
        <p:nvSpPr>
          <p:cNvPr id="12" name="Google Shape;2402;p20">
            <a:extLst>
              <a:ext uri="{FF2B5EF4-FFF2-40B4-BE49-F238E27FC236}">
                <a16:creationId xmlns:a16="http://schemas.microsoft.com/office/drawing/2014/main" id="{54FF8BBB-645C-C895-4B62-1E07EE6804ED}"/>
              </a:ext>
            </a:extLst>
          </p:cNvPr>
          <p:cNvSpPr/>
          <p:nvPr/>
        </p:nvSpPr>
        <p:spPr>
          <a:xfrm>
            <a:off x="5100044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SDDC Manager</a:t>
            </a:r>
          </a:p>
        </p:txBody>
      </p:sp>
      <p:sp>
        <p:nvSpPr>
          <p:cNvPr id="18" name="Google Shape;2403;p20">
            <a:extLst>
              <a:ext uri="{FF2B5EF4-FFF2-40B4-BE49-F238E27FC236}">
                <a16:creationId xmlns:a16="http://schemas.microsoft.com/office/drawing/2014/main" id="{756B5D7F-8361-3E58-3523-F253362C8F04}"/>
              </a:ext>
            </a:extLst>
          </p:cNvPr>
          <p:cNvSpPr/>
          <p:nvPr/>
        </p:nvSpPr>
        <p:spPr>
          <a:xfrm>
            <a:off x="5793211" y="1557303"/>
            <a:ext cx="913998" cy="38337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800" dirty="0">
                <a:solidFill>
                  <a:schemeClr val="tx1"/>
                </a:solidFill>
                <a:latin typeface="Metropolis" pitchFamily="2" charset="77"/>
              </a:rPr>
              <a:t>External Connectivity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E30467-D8FA-C954-40F2-CA25BF9EB7F9}"/>
              </a:ext>
            </a:extLst>
          </p:cNvPr>
          <p:cNvCxnSpPr>
            <a:cxnSpLocks/>
            <a:stCxn id="2409" idx="0"/>
          </p:cNvCxnSpPr>
          <p:nvPr/>
        </p:nvCxnSpPr>
        <p:spPr>
          <a:xfrm flipH="1" flipV="1">
            <a:off x="4489747" y="2560721"/>
            <a:ext cx="752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1641;p6">
            <a:extLst>
              <a:ext uri="{FF2B5EF4-FFF2-40B4-BE49-F238E27FC236}">
                <a16:creationId xmlns:a16="http://schemas.microsoft.com/office/drawing/2014/main" id="{BCCEA5A0-B7E6-621C-4675-87B8EC3219C8}"/>
              </a:ext>
            </a:extLst>
          </p:cNvPr>
          <p:cNvSpPr/>
          <p:nvPr/>
        </p:nvSpPr>
        <p:spPr>
          <a:xfrm>
            <a:off x="6310945" y="2893835"/>
            <a:ext cx="4346791" cy="122136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Fleet Level VMs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398" name="Google Shape;2403;p20">
            <a:extLst>
              <a:ext uri="{FF2B5EF4-FFF2-40B4-BE49-F238E27FC236}">
                <a16:creationId xmlns:a16="http://schemas.microsoft.com/office/drawing/2014/main" id="{1A2C9533-6AC2-D6CD-6AC1-E3AD9B147365}"/>
              </a:ext>
            </a:extLst>
          </p:cNvPr>
          <p:cNvSpPr/>
          <p:nvPr/>
        </p:nvSpPr>
        <p:spPr>
          <a:xfrm>
            <a:off x="7513918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400" name="Google Shape;2403;p20">
            <a:extLst>
              <a:ext uri="{FF2B5EF4-FFF2-40B4-BE49-F238E27FC236}">
                <a16:creationId xmlns:a16="http://schemas.microsoft.com/office/drawing/2014/main" id="{C2A8F127-CE46-C2F6-1261-DB4B252693C5}"/>
              </a:ext>
            </a:extLst>
          </p:cNvPr>
          <p:cNvSpPr/>
          <p:nvPr/>
        </p:nvSpPr>
        <p:spPr>
          <a:xfrm>
            <a:off x="6462953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800" dirty="0">
                <a:latin typeface="Metropolis" pitchFamily="2" charset="77"/>
              </a:rPr>
              <a:t>VCF Automation</a:t>
            </a:r>
          </a:p>
        </p:txBody>
      </p:sp>
      <p:sp>
        <p:nvSpPr>
          <p:cNvPr id="13" name="Google Shape;2403;p20">
            <a:extLst>
              <a:ext uri="{FF2B5EF4-FFF2-40B4-BE49-F238E27FC236}">
                <a16:creationId xmlns:a16="http://schemas.microsoft.com/office/drawing/2014/main" id="{8512070C-F0C8-CCEF-8B3B-8F50C6C10BC8}"/>
              </a:ext>
            </a:extLst>
          </p:cNvPr>
          <p:cNvSpPr/>
          <p:nvPr/>
        </p:nvSpPr>
        <p:spPr>
          <a:xfrm>
            <a:off x="8554480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 Logs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006FF5A-D08D-F5FE-1606-1C9B9A250574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6242690" y="1940673"/>
            <a:ext cx="7520" cy="626580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49D4507-DCBC-4455-6058-DDBE0D719104}"/>
              </a:ext>
            </a:extLst>
          </p:cNvPr>
          <p:cNvSpPr txBox="1"/>
          <p:nvPr/>
        </p:nvSpPr>
        <p:spPr>
          <a:xfrm>
            <a:off x="2221398" y="2222166"/>
            <a:ext cx="117318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VM Management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Port Group</a:t>
            </a:r>
          </a:p>
        </p:txBody>
      </p:sp>
      <p:cxnSp>
        <p:nvCxnSpPr>
          <p:cNvPr id="2376" name="Straight Connector 2375">
            <a:extLst>
              <a:ext uri="{FF2B5EF4-FFF2-40B4-BE49-F238E27FC236}">
                <a16:creationId xmlns:a16="http://schemas.microsoft.com/office/drawing/2014/main" id="{28D0C91F-C990-08DD-849C-7A38F670FFC1}"/>
              </a:ext>
            </a:extLst>
          </p:cNvPr>
          <p:cNvCxnSpPr>
            <a:cxnSpLocks/>
          </p:cNvCxnSpPr>
          <p:nvPr/>
        </p:nvCxnSpPr>
        <p:spPr>
          <a:xfrm>
            <a:off x="5208432" y="1940786"/>
            <a:ext cx="0" cy="313177"/>
          </a:xfrm>
          <a:prstGeom prst="line">
            <a:avLst/>
          </a:prstGeom>
          <a:solidFill>
            <a:schemeClr val="bg1"/>
          </a:solidFill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4" name="Straight Arrow Connector 2383">
            <a:extLst>
              <a:ext uri="{FF2B5EF4-FFF2-40B4-BE49-F238E27FC236}">
                <a16:creationId xmlns:a16="http://schemas.microsoft.com/office/drawing/2014/main" id="{4A68C848-3787-4F66-5EB9-2D9AF6946208}"/>
              </a:ext>
            </a:extLst>
          </p:cNvPr>
          <p:cNvCxnSpPr>
            <a:cxnSpLocks/>
          </p:cNvCxnSpPr>
          <p:nvPr/>
        </p:nvCxnSpPr>
        <p:spPr>
          <a:xfrm>
            <a:off x="5208432" y="2253963"/>
            <a:ext cx="1034258" cy="0"/>
          </a:xfrm>
          <a:prstGeom prst="straightConnector1">
            <a:avLst/>
          </a:prstGeom>
          <a:solidFill>
            <a:schemeClr val="bg1"/>
          </a:solidFill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D35546-97B3-33E9-0733-0E746B6B5421}"/>
              </a:ext>
            </a:extLst>
          </p:cNvPr>
          <p:cNvCxnSpPr>
            <a:cxnSpLocks/>
          </p:cNvCxnSpPr>
          <p:nvPr/>
        </p:nvCxnSpPr>
        <p:spPr>
          <a:xfrm flipV="1">
            <a:off x="3429509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29119B-DAD0-C3FF-8585-69277995D6C0}"/>
              </a:ext>
            </a:extLst>
          </p:cNvPr>
          <p:cNvCxnSpPr>
            <a:cxnSpLocks/>
          </p:cNvCxnSpPr>
          <p:nvPr/>
        </p:nvCxnSpPr>
        <p:spPr>
          <a:xfrm flipV="1">
            <a:off x="5549523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52524F-0265-0912-F56C-543D4503C1EC}"/>
              </a:ext>
            </a:extLst>
          </p:cNvPr>
          <p:cNvCxnSpPr>
            <a:cxnSpLocks/>
          </p:cNvCxnSpPr>
          <p:nvPr/>
        </p:nvCxnSpPr>
        <p:spPr>
          <a:xfrm flipV="1">
            <a:off x="6912432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FEC8B2-3877-4EF0-2703-73E048AAA521}"/>
              </a:ext>
            </a:extLst>
          </p:cNvPr>
          <p:cNvCxnSpPr>
            <a:cxnSpLocks/>
          </p:cNvCxnSpPr>
          <p:nvPr/>
        </p:nvCxnSpPr>
        <p:spPr>
          <a:xfrm flipV="1">
            <a:off x="7970488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8731C4-AC48-C2BF-EAC6-51236DB337D9}"/>
              </a:ext>
            </a:extLst>
          </p:cNvPr>
          <p:cNvCxnSpPr>
            <a:cxnSpLocks/>
          </p:cNvCxnSpPr>
          <p:nvPr/>
        </p:nvCxnSpPr>
        <p:spPr>
          <a:xfrm flipV="1">
            <a:off x="9003959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7" name="Google Shape;2403;p20">
            <a:extLst>
              <a:ext uri="{FF2B5EF4-FFF2-40B4-BE49-F238E27FC236}">
                <a16:creationId xmlns:a16="http://schemas.microsoft.com/office/drawing/2014/main" id="{2C157B97-DDD7-A151-56C2-1473314DC95A}"/>
              </a:ext>
            </a:extLst>
          </p:cNvPr>
          <p:cNvSpPr/>
          <p:nvPr/>
        </p:nvSpPr>
        <p:spPr>
          <a:xfrm>
            <a:off x="9603500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 Networks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378" name="Straight Connector 2377">
            <a:extLst>
              <a:ext uri="{FF2B5EF4-FFF2-40B4-BE49-F238E27FC236}">
                <a16:creationId xmlns:a16="http://schemas.microsoft.com/office/drawing/2014/main" id="{E0C1D895-081C-9E04-9403-745D50F50FD3}"/>
              </a:ext>
            </a:extLst>
          </p:cNvPr>
          <p:cNvCxnSpPr>
            <a:cxnSpLocks/>
          </p:cNvCxnSpPr>
          <p:nvPr/>
        </p:nvCxnSpPr>
        <p:spPr>
          <a:xfrm flipV="1">
            <a:off x="10070759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9" name="Google Shape;2403;p20">
            <a:extLst>
              <a:ext uri="{FF2B5EF4-FFF2-40B4-BE49-F238E27FC236}">
                <a16:creationId xmlns:a16="http://schemas.microsoft.com/office/drawing/2014/main" id="{CAD0C0A0-86C9-6916-EF3A-D4F1E112FF8B}"/>
              </a:ext>
            </a:extLst>
          </p:cNvPr>
          <p:cNvSpPr/>
          <p:nvPr/>
        </p:nvSpPr>
        <p:spPr>
          <a:xfrm>
            <a:off x="1938994" y="3163437"/>
            <a:ext cx="89895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Collector(s)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380" name="Straight Connector 2379">
            <a:extLst>
              <a:ext uri="{FF2B5EF4-FFF2-40B4-BE49-F238E27FC236}">
                <a16:creationId xmlns:a16="http://schemas.microsoft.com/office/drawing/2014/main" id="{FA9285D2-27C4-6F08-3119-4486A41D0413}"/>
              </a:ext>
            </a:extLst>
          </p:cNvPr>
          <p:cNvCxnSpPr>
            <a:cxnSpLocks/>
          </p:cNvCxnSpPr>
          <p:nvPr/>
        </p:nvCxnSpPr>
        <p:spPr>
          <a:xfrm flipV="1">
            <a:off x="2391063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A301C75-443C-C166-90F5-BE24BA37AAEE}"/>
              </a:ext>
            </a:extLst>
          </p:cNvPr>
          <p:cNvSpPr/>
          <p:nvPr/>
        </p:nvSpPr>
        <p:spPr>
          <a:xfrm>
            <a:off x="4784232" y="1557303"/>
            <a:ext cx="871358" cy="383369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VM Management</a:t>
            </a:r>
          </a:p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VLAN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2DB740-514E-68E1-6798-E783F57A3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Fleet Level Management on Shared Management Network Model v1.1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5735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5DBF9920-0385-3BB4-BC2C-1E658EB3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03E584B-A714-FC07-863E-294C703F50ED}"/>
              </a:ext>
            </a:extLst>
          </p:cNvPr>
          <p:cNvSpPr/>
          <p:nvPr/>
        </p:nvSpPr>
        <p:spPr>
          <a:xfrm>
            <a:off x="1572768" y="1472184"/>
            <a:ext cx="9217152" cy="3246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415EF2C-2C1E-5553-A399-EE90924270DB}"/>
              </a:ext>
            </a:extLst>
          </p:cNvPr>
          <p:cNvGrpSpPr/>
          <p:nvPr/>
        </p:nvGrpSpPr>
        <p:grpSpPr>
          <a:xfrm>
            <a:off x="1653362" y="1567935"/>
            <a:ext cx="9011092" cy="3015099"/>
            <a:chOff x="2041904" y="1700593"/>
            <a:chExt cx="9011092" cy="3015099"/>
          </a:xfrm>
        </p:grpSpPr>
        <p:sp>
          <p:nvSpPr>
            <p:cNvPr id="24" name="Google Shape;1641;p6">
              <a:extLst>
                <a:ext uri="{FF2B5EF4-FFF2-40B4-BE49-F238E27FC236}">
                  <a16:creationId xmlns:a16="http://schemas.microsoft.com/office/drawing/2014/main" id="{FB00CCD9-98A9-84F1-B7CC-749B2F4C1424}"/>
                </a:ext>
              </a:extLst>
            </p:cNvPr>
            <p:cNvSpPr/>
            <p:nvPr/>
          </p:nvSpPr>
          <p:spPr>
            <a:xfrm>
              <a:off x="2041904" y="2258870"/>
              <a:ext cx="9011092" cy="2456822"/>
            </a:xfrm>
            <a:prstGeom prst="rect">
              <a:avLst/>
            </a:prstGeom>
            <a:solidFill>
              <a:schemeClr val="bg1"/>
            </a:solidFill>
            <a:ln w="12700" cap="rnd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dirty="0">
                  <a:latin typeface="Metropolis" pitchFamily="2" charset="77"/>
                </a:rPr>
                <a:t>Management Domain</a:t>
              </a:r>
              <a:endParaRPr sz="900" dirty="0">
                <a:latin typeface="Metropolis" pitchFamily="2" charset="77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F1F396D-906E-C195-D6EE-05F1823383FA}"/>
                </a:ext>
              </a:extLst>
            </p:cNvPr>
            <p:cNvCxnSpPr>
              <a:cxnSpLocks/>
            </p:cNvCxnSpPr>
            <p:nvPr/>
          </p:nvCxnSpPr>
          <p:spPr>
            <a:xfrm>
              <a:off x="2311632" y="2717076"/>
              <a:ext cx="4157926" cy="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oogle Shape;1641;p6">
              <a:extLst>
                <a:ext uri="{FF2B5EF4-FFF2-40B4-BE49-F238E27FC236}">
                  <a16:creationId xmlns:a16="http://schemas.microsoft.com/office/drawing/2014/main" id="{62382EBF-E3B4-4327-C779-11622F1D9162}"/>
                </a:ext>
              </a:extLst>
            </p:cNvPr>
            <p:cNvSpPr/>
            <p:nvPr/>
          </p:nvSpPr>
          <p:spPr>
            <a:xfrm>
              <a:off x="2174826" y="3037125"/>
              <a:ext cx="4294733" cy="1221366"/>
            </a:xfrm>
            <a:prstGeom prst="rect">
              <a:avLst/>
            </a:prstGeom>
            <a:solidFill>
              <a:schemeClr val="bg1"/>
            </a:solidFill>
            <a:ln w="12700" cap="rnd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dirty="0">
                  <a:latin typeface="Metropolis" pitchFamily="2" charset="77"/>
                </a:rPr>
                <a:t>Management VMs</a:t>
              </a:r>
              <a:endParaRPr sz="900" dirty="0">
                <a:latin typeface="Metropolis" pitchFamily="2" charset="77"/>
              </a:endParaRPr>
            </a:p>
          </p:txBody>
        </p:sp>
        <p:sp>
          <p:nvSpPr>
            <p:cNvPr id="2409" name="Google Shape;2402;p20">
              <a:extLst>
                <a:ext uri="{FF2B5EF4-FFF2-40B4-BE49-F238E27FC236}">
                  <a16:creationId xmlns:a16="http://schemas.microsoft.com/office/drawing/2014/main" id="{114BC674-198D-3694-AC86-5AF0E0C151AA}"/>
                </a:ext>
              </a:extLst>
            </p:cNvPr>
            <p:cNvSpPr/>
            <p:nvPr/>
          </p:nvSpPr>
          <p:spPr>
            <a:xfrm>
              <a:off x="4359698" y="3306727"/>
              <a:ext cx="898958" cy="59253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</a:rPr>
                <a:t>NSX Manager(s)</a:t>
              </a:r>
              <a:endParaRPr lang="en-US" sz="800" dirty="0">
                <a:latin typeface="Metropolis" pitchFamily="2" charset="77"/>
              </a:endParaRPr>
            </a:p>
          </p:txBody>
        </p:sp>
        <p:sp>
          <p:nvSpPr>
            <p:cNvPr id="11" name="Google Shape;2402;p20">
              <a:extLst>
                <a:ext uri="{FF2B5EF4-FFF2-40B4-BE49-F238E27FC236}">
                  <a16:creationId xmlns:a16="http://schemas.microsoft.com/office/drawing/2014/main" id="{64F7C29E-D94F-16F9-2CC0-9203AE8E5F76}"/>
                </a:ext>
              </a:extLst>
            </p:cNvPr>
            <p:cNvSpPr/>
            <p:nvPr/>
          </p:nvSpPr>
          <p:spPr>
            <a:xfrm>
              <a:off x="3291894" y="3306727"/>
              <a:ext cx="898958" cy="59253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latin typeface="Metropolis" pitchFamily="2" charset="77"/>
                </a:rPr>
                <a:t>vCenter(s)</a:t>
              </a:r>
            </a:p>
          </p:txBody>
        </p:sp>
        <p:sp>
          <p:nvSpPr>
            <p:cNvPr id="12" name="Google Shape;2402;p20">
              <a:extLst>
                <a:ext uri="{FF2B5EF4-FFF2-40B4-BE49-F238E27FC236}">
                  <a16:creationId xmlns:a16="http://schemas.microsoft.com/office/drawing/2014/main" id="{92BD2804-219D-4D92-7C51-CA4B68890ECC}"/>
                </a:ext>
              </a:extLst>
            </p:cNvPr>
            <p:cNvSpPr/>
            <p:nvPr/>
          </p:nvSpPr>
          <p:spPr>
            <a:xfrm>
              <a:off x="5419474" y="3306727"/>
              <a:ext cx="898958" cy="59253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latin typeface="Metropolis" pitchFamily="2" charset="77"/>
                </a:rPr>
                <a:t>SDDC Manager</a:t>
              </a:r>
            </a:p>
          </p:txBody>
        </p:sp>
        <p:sp>
          <p:nvSpPr>
            <p:cNvPr id="18" name="Google Shape;2403;p20">
              <a:extLst>
                <a:ext uri="{FF2B5EF4-FFF2-40B4-BE49-F238E27FC236}">
                  <a16:creationId xmlns:a16="http://schemas.microsoft.com/office/drawing/2014/main" id="{926EEA11-B393-22A6-9E58-753C276AB7B9}"/>
                </a:ext>
              </a:extLst>
            </p:cNvPr>
            <p:cNvSpPr/>
            <p:nvPr/>
          </p:nvSpPr>
          <p:spPr>
            <a:xfrm>
              <a:off x="6112641" y="1700593"/>
              <a:ext cx="898958" cy="38337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E" sz="900" dirty="0">
                  <a:solidFill>
                    <a:schemeClr val="tx1"/>
                  </a:solidFill>
                  <a:latin typeface="Metropolis" pitchFamily="2" charset="77"/>
                </a:rPr>
                <a:t>External Connectivity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E23553E-DE19-D615-18CC-123FF47EDFAE}"/>
                </a:ext>
              </a:extLst>
            </p:cNvPr>
            <p:cNvCxnSpPr>
              <a:cxnSpLocks/>
              <a:stCxn id="2409" idx="0"/>
            </p:cNvCxnSpPr>
            <p:nvPr/>
          </p:nvCxnSpPr>
          <p:spPr>
            <a:xfrm flipV="1">
              <a:off x="4809177" y="2717076"/>
              <a:ext cx="0" cy="589651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Google Shape;1641;p6">
              <a:extLst>
                <a:ext uri="{FF2B5EF4-FFF2-40B4-BE49-F238E27FC236}">
                  <a16:creationId xmlns:a16="http://schemas.microsoft.com/office/drawing/2014/main" id="{6E6024E3-FA15-E36C-4638-1321A273B0F5}"/>
                </a:ext>
              </a:extLst>
            </p:cNvPr>
            <p:cNvSpPr/>
            <p:nvPr/>
          </p:nvSpPr>
          <p:spPr>
            <a:xfrm>
              <a:off x="6630375" y="3037125"/>
              <a:ext cx="4292566" cy="1221366"/>
            </a:xfrm>
            <a:prstGeom prst="rect">
              <a:avLst/>
            </a:prstGeom>
            <a:solidFill>
              <a:schemeClr val="bg1"/>
            </a:solidFill>
            <a:ln w="12700" cap="rnd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dirty="0">
                  <a:latin typeface="Metropolis" pitchFamily="2" charset="77"/>
                </a:rPr>
                <a:t>Fleet Level VMs</a:t>
              </a:r>
              <a:endParaRPr sz="900" dirty="0">
                <a:latin typeface="Metropolis" pitchFamily="2" charset="77"/>
              </a:endParaRPr>
            </a:p>
          </p:txBody>
        </p:sp>
        <p:sp>
          <p:nvSpPr>
            <p:cNvPr id="2398" name="Google Shape;2403;p20">
              <a:extLst>
                <a:ext uri="{FF2B5EF4-FFF2-40B4-BE49-F238E27FC236}">
                  <a16:creationId xmlns:a16="http://schemas.microsoft.com/office/drawing/2014/main" id="{BC4A8AC8-7ECA-2015-2475-F8F8A6638ED0}"/>
                </a:ext>
              </a:extLst>
            </p:cNvPr>
            <p:cNvSpPr/>
            <p:nvPr/>
          </p:nvSpPr>
          <p:spPr>
            <a:xfrm>
              <a:off x="7833348" y="3306727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latin typeface="Metropolis" pitchFamily="2" charset="77"/>
                </a:rPr>
                <a:t>VCF Operations</a:t>
              </a:r>
              <a:endParaRPr sz="800" dirty="0">
                <a:latin typeface="Metropolis" pitchFamily="2" charset="77"/>
              </a:endParaRPr>
            </a:p>
          </p:txBody>
        </p:sp>
        <p:sp>
          <p:nvSpPr>
            <p:cNvPr id="2400" name="Google Shape;2403;p20">
              <a:extLst>
                <a:ext uri="{FF2B5EF4-FFF2-40B4-BE49-F238E27FC236}">
                  <a16:creationId xmlns:a16="http://schemas.microsoft.com/office/drawing/2014/main" id="{23FF5D98-BEEB-87AF-D39F-82CEA5E02BC7}"/>
                </a:ext>
              </a:extLst>
            </p:cNvPr>
            <p:cNvSpPr/>
            <p:nvPr/>
          </p:nvSpPr>
          <p:spPr>
            <a:xfrm>
              <a:off x="6782383" y="3306727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E" sz="800" dirty="0">
                  <a:latin typeface="Metropolis" pitchFamily="2" charset="77"/>
                </a:rPr>
                <a:t>VCF Automation</a:t>
              </a:r>
            </a:p>
          </p:txBody>
        </p:sp>
        <p:sp>
          <p:nvSpPr>
            <p:cNvPr id="13" name="Google Shape;2403;p20">
              <a:extLst>
                <a:ext uri="{FF2B5EF4-FFF2-40B4-BE49-F238E27FC236}">
                  <a16:creationId xmlns:a16="http://schemas.microsoft.com/office/drawing/2014/main" id="{1DFEA897-6747-D877-D881-09ED16EDAAFF}"/>
                </a:ext>
              </a:extLst>
            </p:cNvPr>
            <p:cNvSpPr/>
            <p:nvPr/>
          </p:nvSpPr>
          <p:spPr>
            <a:xfrm>
              <a:off x="8873910" y="3306727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latin typeface="Metropolis" pitchFamily="2" charset="77"/>
                </a:rPr>
                <a:t>VCF Operations for Logs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423DE96-8CD7-F825-F205-23C91CADB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3052" y="2083962"/>
              <a:ext cx="0" cy="635646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EC8DD3B-C2A2-CB02-C93A-2017B9536A21}"/>
                </a:ext>
              </a:extLst>
            </p:cNvPr>
            <p:cNvSpPr txBox="1"/>
            <p:nvPr/>
          </p:nvSpPr>
          <p:spPr>
            <a:xfrm>
              <a:off x="2312043" y="2392673"/>
              <a:ext cx="10768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Metropolis" pitchFamily="2" charset="77"/>
                </a:rPr>
                <a:t>VM Management </a:t>
              </a:r>
            </a:p>
            <a:p>
              <a:pPr algn="ctr"/>
              <a:r>
                <a:rPr lang="en-US" sz="800" dirty="0">
                  <a:solidFill>
                    <a:schemeClr val="tx1"/>
                  </a:solidFill>
                  <a:latin typeface="Metropolis" pitchFamily="2" charset="77"/>
                </a:rPr>
                <a:t>Port Group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00CC3C5-9361-184A-92B6-001E7F245423}"/>
                </a:ext>
              </a:extLst>
            </p:cNvPr>
            <p:cNvSpPr/>
            <p:nvPr/>
          </p:nvSpPr>
          <p:spPr>
            <a:xfrm>
              <a:off x="5155448" y="1713195"/>
              <a:ext cx="784070" cy="383369"/>
            </a:xfrm>
            <a:prstGeom prst="rect">
              <a:avLst/>
            </a:prstGeom>
            <a:solidFill>
              <a:schemeClr val="accent3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lvl="1" algn="ctr"/>
              <a:r>
                <a:rPr lang="en-US" sz="700" dirty="0">
                  <a:solidFill>
                    <a:schemeClr val="tx2"/>
                  </a:solidFill>
                  <a:latin typeface="Metropolis" pitchFamily="2" charset="77"/>
                </a:rPr>
                <a:t>VM Management</a:t>
              </a:r>
            </a:p>
            <a:p>
              <a:pPr lvl="1" algn="ctr"/>
              <a:r>
                <a:rPr lang="en-US" sz="700" dirty="0">
                  <a:solidFill>
                    <a:schemeClr val="tx2"/>
                  </a:solidFill>
                  <a:latin typeface="Metropolis" pitchFamily="2" charset="77"/>
                </a:rPr>
                <a:t>VLAN</a:t>
              </a:r>
            </a:p>
          </p:txBody>
        </p:sp>
      </p:grpSp>
      <p:cxnSp>
        <p:nvCxnSpPr>
          <p:cNvPr id="2376" name="Straight Connector 2375">
            <a:extLst>
              <a:ext uri="{FF2B5EF4-FFF2-40B4-BE49-F238E27FC236}">
                <a16:creationId xmlns:a16="http://schemas.microsoft.com/office/drawing/2014/main" id="{1EDC68F0-1C7F-D785-8DAB-9660F60F9198}"/>
              </a:ext>
            </a:extLst>
          </p:cNvPr>
          <p:cNvCxnSpPr>
            <a:cxnSpLocks/>
          </p:cNvCxnSpPr>
          <p:nvPr/>
        </p:nvCxnSpPr>
        <p:spPr>
          <a:xfrm>
            <a:off x="5139320" y="1963906"/>
            <a:ext cx="0" cy="3038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4" name="Straight Arrow Connector 2383">
            <a:extLst>
              <a:ext uri="{FF2B5EF4-FFF2-40B4-BE49-F238E27FC236}">
                <a16:creationId xmlns:a16="http://schemas.microsoft.com/office/drawing/2014/main" id="{CC1F50EA-22FF-56FB-1350-DC781966A6A3}"/>
              </a:ext>
            </a:extLst>
          </p:cNvPr>
          <p:cNvCxnSpPr>
            <a:cxnSpLocks/>
          </p:cNvCxnSpPr>
          <p:nvPr/>
        </p:nvCxnSpPr>
        <p:spPr>
          <a:xfrm>
            <a:off x="5139320" y="2264595"/>
            <a:ext cx="67421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5E9369-4A23-C15F-F1A8-33F5AD53BC85}"/>
              </a:ext>
            </a:extLst>
          </p:cNvPr>
          <p:cNvCxnSpPr>
            <a:cxnSpLocks/>
          </p:cNvCxnSpPr>
          <p:nvPr/>
        </p:nvCxnSpPr>
        <p:spPr>
          <a:xfrm flipV="1">
            <a:off x="3360397" y="2584418"/>
            <a:ext cx="0" cy="589651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A4A84B-F8A1-E172-D077-CA0B9B0416DA}"/>
              </a:ext>
            </a:extLst>
          </p:cNvPr>
          <p:cNvCxnSpPr>
            <a:cxnSpLocks/>
          </p:cNvCxnSpPr>
          <p:nvPr/>
        </p:nvCxnSpPr>
        <p:spPr>
          <a:xfrm flipV="1">
            <a:off x="5480411" y="2584418"/>
            <a:ext cx="0" cy="589651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3947A6-516B-34FE-1921-99457B8582EC}"/>
              </a:ext>
            </a:extLst>
          </p:cNvPr>
          <p:cNvCxnSpPr>
            <a:cxnSpLocks/>
          </p:cNvCxnSpPr>
          <p:nvPr/>
        </p:nvCxnSpPr>
        <p:spPr>
          <a:xfrm flipV="1">
            <a:off x="6843320" y="2584418"/>
            <a:ext cx="0" cy="58965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55540A0-0BEA-1AE9-6D99-B5AACC33EB84}"/>
              </a:ext>
            </a:extLst>
          </p:cNvPr>
          <p:cNvCxnSpPr>
            <a:cxnSpLocks/>
          </p:cNvCxnSpPr>
          <p:nvPr/>
        </p:nvCxnSpPr>
        <p:spPr>
          <a:xfrm flipV="1">
            <a:off x="7901376" y="2584418"/>
            <a:ext cx="0" cy="58965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E80623-B89F-2FC3-29C9-89F222C3B0F1}"/>
              </a:ext>
            </a:extLst>
          </p:cNvPr>
          <p:cNvCxnSpPr>
            <a:cxnSpLocks/>
          </p:cNvCxnSpPr>
          <p:nvPr/>
        </p:nvCxnSpPr>
        <p:spPr>
          <a:xfrm flipV="1">
            <a:off x="8934847" y="2584418"/>
            <a:ext cx="0" cy="58965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442BBAC-32DF-1A9F-2875-4D100DBEA007}"/>
              </a:ext>
            </a:extLst>
          </p:cNvPr>
          <p:cNvCxnSpPr>
            <a:cxnSpLocks/>
          </p:cNvCxnSpPr>
          <p:nvPr/>
        </p:nvCxnSpPr>
        <p:spPr>
          <a:xfrm>
            <a:off x="6296297" y="2584418"/>
            <a:ext cx="3969438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409E0FD-C51D-4C3B-3F0C-523EE3C2A8CB}"/>
              </a:ext>
            </a:extLst>
          </p:cNvPr>
          <p:cNvCxnSpPr>
            <a:cxnSpLocks/>
          </p:cNvCxnSpPr>
          <p:nvPr/>
        </p:nvCxnSpPr>
        <p:spPr>
          <a:xfrm flipH="1" flipV="1">
            <a:off x="6488614" y="1942107"/>
            <a:ext cx="5549" cy="64231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AFC2574-E65F-6F34-3383-9F9CCA9F4F90}"/>
              </a:ext>
            </a:extLst>
          </p:cNvPr>
          <p:cNvSpPr txBox="1"/>
          <p:nvPr/>
        </p:nvSpPr>
        <p:spPr>
          <a:xfrm>
            <a:off x="8916619" y="2206683"/>
            <a:ext cx="1453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Fleet Level Management 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Port Group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86AB37-B684-E120-F456-A480EA455AD9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157013" y="1951241"/>
            <a:ext cx="0" cy="329042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4A40E3-B312-D539-CFF4-DE072CEC7D0A}"/>
              </a:ext>
            </a:extLst>
          </p:cNvPr>
          <p:cNvCxnSpPr>
            <a:cxnSpLocks/>
          </p:cNvCxnSpPr>
          <p:nvPr/>
        </p:nvCxnSpPr>
        <p:spPr>
          <a:xfrm flipH="1">
            <a:off x="6491388" y="2273660"/>
            <a:ext cx="662851" cy="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2F3007-AAFF-5308-27B0-A00F687A6DC3}"/>
              </a:ext>
            </a:extLst>
          </p:cNvPr>
          <p:cNvSpPr/>
          <p:nvPr/>
        </p:nvSpPr>
        <p:spPr>
          <a:xfrm>
            <a:off x="6751732" y="1567872"/>
            <a:ext cx="810561" cy="38336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Fleet Level Management</a:t>
            </a:r>
          </a:p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VLAN</a:t>
            </a:r>
          </a:p>
        </p:txBody>
      </p:sp>
      <p:sp>
        <p:nvSpPr>
          <p:cNvPr id="19" name="Google Shape;2403;p20">
            <a:extLst>
              <a:ext uri="{FF2B5EF4-FFF2-40B4-BE49-F238E27FC236}">
                <a16:creationId xmlns:a16="http://schemas.microsoft.com/office/drawing/2014/main" id="{4F3BACAF-EBCD-48E8-72FC-E2AA9205F555}"/>
              </a:ext>
            </a:extLst>
          </p:cNvPr>
          <p:cNvSpPr/>
          <p:nvPr/>
        </p:nvSpPr>
        <p:spPr>
          <a:xfrm>
            <a:off x="1877448" y="3174069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Collector(s)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0" name="Google Shape;2403;p20">
            <a:extLst>
              <a:ext uri="{FF2B5EF4-FFF2-40B4-BE49-F238E27FC236}">
                <a16:creationId xmlns:a16="http://schemas.microsoft.com/office/drawing/2014/main" id="{AFE2C2AD-FF5F-57D3-7359-0387396678D9}"/>
              </a:ext>
            </a:extLst>
          </p:cNvPr>
          <p:cNvSpPr/>
          <p:nvPr/>
        </p:nvSpPr>
        <p:spPr>
          <a:xfrm>
            <a:off x="9518838" y="3174069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 Networks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A68196-9AC1-AD24-8AF3-87C495E66299}"/>
              </a:ext>
            </a:extLst>
          </p:cNvPr>
          <p:cNvCxnSpPr>
            <a:cxnSpLocks/>
          </p:cNvCxnSpPr>
          <p:nvPr/>
        </p:nvCxnSpPr>
        <p:spPr>
          <a:xfrm flipV="1">
            <a:off x="9959117" y="2584418"/>
            <a:ext cx="0" cy="58965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D688C7-5E66-E84B-8F73-86B36140942A}"/>
              </a:ext>
            </a:extLst>
          </p:cNvPr>
          <p:cNvCxnSpPr>
            <a:cxnSpLocks/>
          </p:cNvCxnSpPr>
          <p:nvPr/>
        </p:nvCxnSpPr>
        <p:spPr>
          <a:xfrm flipV="1">
            <a:off x="2311318" y="2584418"/>
            <a:ext cx="0" cy="589651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20">
            <a:extLst>
              <a:ext uri="{FF2B5EF4-FFF2-40B4-BE49-F238E27FC236}">
                <a16:creationId xmlns:a16="http://schemas.microsoft.com/office/drawing/2014/main" id="{30F908E9-59D4-A9BB-22E0-0D6A56E93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Fleet Level Components on Dedicated Management Network Model v1.1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680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3DBEF00D-74AE-B237-D8E2-D793C1549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B5EA31F8-979D-0C57-281C-0F509CEA63AB}"/>
              </a:ext>
            </a:extLst>
          </p:cNvPr>
          <p:cNvSpPr>
            <a:spLocks noChangeAspect="1"/>
          </p:cNvSpPr>
          <p:nvPr/>
        </p:nvSpPr>
        <p:spPr>
          <a:xfrm>
            <a:off x="1197864" y="1362456"/>
            <a:ext cx="9163372" cy="371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99576A37-AB80-39BD-B57F-5C45178268B9}"/>
              </a:ext>
            </a:extLst>
          </p:cNvPr>
          <p:cNvSpPr/>
          <p:nvPr/>
        </p:nvSpPr>
        <p:spPr>
          <a:xfrm>
            <a:off x="1282755" y="2056298"/>
            <a:ext cx="9013340" cy="2896975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etropolis" pitchFamily="2" charset="77"/>
              </a:rPr>
              <a:t>Management Domain</a:t>
            </a:r>
            <a:endParaRPr sz="900" dirty="0">
              <a:latin typeface="Metropolis" pitchFamily="2" charset="77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44F634-6032-1830-E3FF-A02D3602F046}"/>
              </a:ext>
            </a:extLst>
          </p:cNvPr>
          <p:cNvCxnSpPr>
            <a:cxnSpLocks/>
          </p:cNvCxnSpPr>
          <p:nvPr/>
        </p:nvCxnSpPr>
        <p:spPr>
          <a:xfrm>
            <a:off x="1523427" y="3207028"/>
            <a:ext cx="406993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1641;p6">
            <a:extLst>
              <a:ext uri="{FF2B5EF4-FFF2-40B4-BE49-F238E27FC236}">
                <a16:creationId xmlns:a16="http://schemas.microsoft.com/office/drawing/2014/main" id="{00AB7039-C46D-998E-C612-43B5BC291B7D}"/>
              </a:ext>
            </a:extLst>
          </p:cNvPr>
          <p:cNvSpPr/>
          <p:nvPr/>
        </p:nvSpPr>
        <p:spPr>
          <a:xfrm>
            <a:off x="1410344" y="3357140"/>
            <a:ext cx="4326641" cy="122136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etropolis" pitchFamily="2" charset="77"/>
              </a:rPr>
              <a:t>Management VMs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409" name="Google Shape;2402;p20">
            <a:extLst>
              <a:ext uri="{FF2B5EF4-FFF2-40B4-BE49-F238E27FC236}">
                <a16:creationId xmlns:a16="http://schemas.microsoft.com/office/drawing/2014/main" id="{42CB7A4C-0C3E-5283-1FA4-BD9027996B87}"/>
              </a:ext>
            </a:extLst>
          </p:cNvPr>
          <p:cNvSpPr/>
          <p:nvPr/>
        </p:nvSpPr>
        <p:spPr>
          <a:xfrm>
            <a:off x="3634629" y="3626742"/>
            <a:ext cx="89895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NSX Manager(s)</a:t>
            </a:r>
            <a:endParaRPr lang="en-US" sz="800" dirty="0">
              <a:latin typeface="Metropolis" pitchFamily="2" charset="77"/>
            </a:endParaRPr>
          </a:p>
        </p:txBody>
      </p:sp>
      <p:sp>
        <p:nvSpPr>
          <p:cNvPr id="11" name="Google Shape;2402;p20">
            <a:extLst>
              <a:ext uri="{FF2B5EF4-FFF2-40B4-BE49-F238E27FC236}">
                <a16:creationId xmlns:a16="http://schemas.microsoft.com/office/drawing/2014/main" id="{067BCE00-207C-52EB-BFF0-2633074E8C16}"/>
              </a:ext>
            </a:extLst>
          </p:cNvPr>
          <p:cNvSpPr/>
          <p:nvPr/>
        </p:nvSpPr>
        <p:spPr>
          <a:xfrm>
            <a:off x="2566825" y="3626742"/>
            <a:ext cx="89895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vCenter(s)</a:t>
            </a:r>
          </a:p>
        </p:txBody>
      </p:sp>
      <p:sp>
        <p:nvSpPr>
          <p:cNvPr id="12" name="Google Shape;2402;p20">
            <a:extLst>
              <a:ext uri="{FF2B5EF4-FFF2-40B4-BE49-F238E27FC236}">
                <a16:creationId xmlns:a16="http://schemas.microsoft.com/office/drawing/2014/main" id="{2C297505-5B19-EABC-27DB-500E745CFECD}"/>
              </a:ext>
            </a:extLst>
          </p:cNvPr>
          <p:cNvSpPr/>
          <p:nvPr/>
        </p:nvSpPr>
        <p:spPr>
          <a:xfrm>
            <a:off x="4694405" y="3626742"/>
            <a:ext cx="89895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SDDC Manager</a:t>
            </a:r>
          </a:p>
        </p:txBody>
      </p:sp>
      <p:sp>
        <p:nvSpPr>
          <p:cNvPr id="18" name="Google Shape;2403;p20">
            <a:extLst>
              <a:ext uri="{FF2B5EF4-FFF2-40B4-BE49-F238E27FC236}">
                <a16:creationId xmlns:a16="http://schemas.microsoft.com/office/drawing/2014/main" id="{07165664-FAFB-836D-C9E5-2667D1077F5A}"/>
              </a:ext>
            </a:extLst>
          </p:cNvPr>
          <p:cNvSpPr/>
          <p:nvPr/>
        </p:nvSpPr>
        <p:spPr>
          <a:xfrm>
            <a:off x="5361118" y="1502775"/>
            <a:ext cx="898958" cy="3833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900" dirty="0">
                <a:solidFill>
                  <a:schemeClr val="tx1"/>
                </a:solidFill>
                <a:latin typeface="Metropolis" pitchFamily="2" charset="77"/>
              </a:rPr>
              <a:t>External Connectivity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00FB084-E5EE-B773-96A2-273D85253188}"/>
              </a:ext>
            </a:extLst>
          </p:cNvPr>
          <p:cNvCxnSpPr>
            <a:cxnSpLocks/>
            <a:stCxn id="2409" idx="0"/>
          </p:cNvCxnSpPr>
          <p:nvPr/>
        </p:nvCxnSpPr>
        <p:spPr>
          <a:xfrm flipV="1">
            <a:off x="4084108" y="3200495"/>
            <a:ext cx="0" cy="42624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1641;p6">
            <a:extLst>
              <a:ext uri="{FF2B5EF4-FFF2-40B4-BE49-F238E27FC236}">
                <a16:creationId xmlns:a16="http://schemas.microsoft.com/office/drawing/2014/main" id="{6CBCF7A9-2743-60EF-4E60-E8CFB3C13287}"/>
              </a:ext>
            </a:extLst>
          </p:cNvPr>
          <p:cNvSpPr/>
          <p:nvPr/>
        </p:nvSpPr>
        <p:spPr>
          <a:xfrm>
            <a:off x="5897801" y="3357140"/>
            <a:ext cx="4282551" cy="122136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etropolis" pitchFamily="2" charset="77"/>
              </a:rPr>
              <a:t>Fleet Level VMs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398" name="Google Shape;2403;p20">
            <a:extLst>
              <a:ext uri="{FF2B5EF4-FFF2-40B4-BE49-F238E27FC236}">
                <a16:creationId xmlns:a16="http://schemas.microsoft.com/office/drawing/2014/main" id="{33101F20-C79C-9595-F70F-87726A9BC71C}"/>
              </a:ext>
            </a:extLst>
          </p:cNvPr>
          <p:cNvSpPr/>
          <p:nvPr/>
        </p:nvSpPr>
        <p:spPr>
          <a:xfrm>
            <a:off x="7108279" y="3626742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400" name="Google Shape;2403;p20">
            <a:extLst>
              <a:ext uri="{FF2B5EF4-FFF2-40B4-BE49-F238E27FC236}">
                <a16:creationId xmlns:a16="http://schemas.microsoft.com/office/drawing/2014/main" id="{B0266F31-B6FB-CBB1-A81E-BC7FCAE11A4E}"/>
              </a:ext>
            </a:extLst>
          </p:cNvPr>
          <p:cNvSpPr/>
          <p:nvPr/>
        </p:nvSpPr>
        <p:spPr>
          <a:xfrm>
            <a:off x="6057314" y="3626742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800" dirty="0">
                <a:latin typeface="Metropolis" pitchFamily="2" charset="77"/>
              </a:rPr>
              <a:t>VCF Automation</a:t>
            </a:r>
          </a:p>
        </p:txBody>
      </p:sp>
      <p:sp>
        <p:nvSpPr>
          <p:cNvPr id="13" name="Google Shape;2403;p20">
            <a:extLst>
              <a:ext uri="{FF2B5EF4-FFF2-40B4-BE49-F238E27FC236}">
                <a16:creationId xmlns:a16="http://schemas.microsoft.com/office/drawing/2014/main" id="{28D3018E-7BE5-54C0-E84F-79847F44A344}"/>
              </a:ext>
            </a:extLst>
          </p:cNvPr>
          <p:cNvSpPr/>
          <p:nvPr/>
        </p:nvSpPr>
        <p:spPr>
          <a:xfrm>
            <a:off x="8148841" y="3626742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 Logs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26F3710-45CC-B164-F7D4-87F32C7AE9D3}"/>
              </a:ext>
            </a:extLst>
          </p:cNvPr>
          <p:cNvCxnSpPr>
            <a:cxnSpLocks/>
          </p:cNvCxnSpPr>
          <p:nvPr/>
        </p:nvCxnSpPr>
        <p:spPr>
          <a:xfrm flipV="1">
            <a:off x="5497983" y="1886144"/>
            <a:ext cx="0" cy="132088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5BA5C68-5DA0-09D3-D284-60FE7D0CD281}"/>
              </a:ext>
            </a:extLst>
          </p:cNvPr>
          <p:cNvSpPr txBox="1"/>
          <p:nvPr/>
        </p:nvSpPr>
        <p:spPr>
          <a:xfrm>
            <a:off x="1523427" y="2810783"/>
            <a:ext cx="1113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VM Management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Port Group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952AC80-BFF1-08D7-701D-B58095FC8444}"/>
              </a:ext>
            </a:extLst>
          </p:cNvPr>
          <p:cNvSpPr/>
          <p:nvPr/>
        </p:nvSpPr>
        <p:spPr>
          <a:xfrm>
            <a:off x="4363791" y="1502775"/>
            <a:ext cx="784070" cy="383369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VM Management</a:t>
            </a:r>
          </a:p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VLAN</a:t>
            </a:r>
          </a:p>
        </p:txBody>
      </p:sp>
      <p:cxnSp>
        <p:nvCxnSpPr>
          <p:cNvPr id="2376" name="Straight Connector 2375">
            <a:extLst>
              <a:ext uri="{FF2B5EF4-FFF2-40B4-BE49-F238E27FC236}">
                <a16:creationId xmlns:a16="http://schemas.microsoft.com/office/drawing/2014/main" id="{7B113CA8-9032-4D9C-ECCA-A8CE90FB0B98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4755826" y="1886144"/>
            <a:ext cx="0" cy="27581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4" name="Straight Arrow Connector 2383">
            <a:extLst>
              <a:ext uri="{FF2B5EF4-FFF2-40B4-BE49-F238E27FC236}">
                <a16:creationId xmlns:a16="http://schemas.microsoft.com/office/drawing/2014/main" id="{4E5D7A55-B1D3-76A7-C0B0-BA9D5DAC35ED}"/>
              </a:ext>
            </a:extLst>
          </p:cNvPr>
          <p:cNvCxnSpPr>
            <a:cxnSpLocks/>
          </p:cNvCxnSpPr>
          <p:nvPr/>
        </p:nvCxnSpPr>
        <p:spPr>
          <a:xfrm>
            <a:off x="4755826" y="2161957"/>
            <a:ext cx="74215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A0E3A9-F677-D22D-F089-9FB98418444D}"/>
              </a:ext>
            </a:extLst>
          </p:cNvPr>
          <p:cNvCxnSpPr>
            <a:cxnSpLocks/>
          </p:cNvCxnSpPr>
          <p:nvPr/>
        </p:nvCxnSpPr>
        <p:spPr>
          <a:xfrm flipV="1">
            <a:off x="3023870" y="3200495"/>
            <a:ext cx="0" cy="42624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FB1599-C2D0-A2DE-41E1-6171233227CC}"/>
              </a:ext>
            </a:extLst>
          </p:cNvPr>
          <p:cNvCxnSpPr>
            <a:cxnSpLocks/>
          </p:cNvCxnSpPr>
          <p:nvPr/>
        </p:nvCxnSpPr>
        <p:spPr>
          <a:xfrm flipH="1" flipV="1">
            <a:off x="5140913" y="3200495"/>
            <a:ext cx="2971" cy="42624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6EBB2C-4731-0A7F-5CF4-24CD54FB5CA7}"/>
              </a:ext>
            </a:extLst>
          </p:cNvPr>
          <p:cNvCxnSpPr>
            <a:cxnSpLocks/>
          </p:cNvCxnSpPr>
          <p:nvPr/>
        </p:nvCxnSpPr>
        <p:spPr>
          <a:xfrm flipV="1">
            <a:off x="6506793" y="3200495"/>
            <a:ext cx="0" cy="42624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7D1D90-370C-8187-0601-98945C351504}"/>
              </a:ext>
            </a:extLst>
          </p:cNvPr>
          <p:cNvCxnSpPr>
            <a:cxnSpLocks/>
            <a:stCxn id="2398" idx="0"/>
          </p:cNvCxnSpPr>
          <p:nvPr/>
        </p:nvCxnSpPr>
        <p:spPr>
          <a:xfrm flipV="1">
            <a:off x="7557758" y="3206368"/>
            <a:ext cx="0" cy="420374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DF3D99-1C7B-7D09-B64B-9C97DC1E8EC4}"/>
              </a:ext>
            </a:extLst>
          </p:cNvPr>
          <p:cNvCxnSpPr>
            <a:cxnSpLocks/>
          </p:cNvCxnSpPr>
          <p:nvPr/>
        </p:nvCxnSpPr>
        <p:spPr>
          <a:xfrm flipV="1">
            <a:off x="8598320" y="3200495"/>
            <a:ext cx="0" cy="42624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57F2B08-187A-C64B-C061-3AE8D5AABD29}"/>
              </a:ext>
            </a:extLst>
          </p:cNvPr>
          <p:cNvCxnSpPr>
            <a:cxnSpLocks/>
          </p:cNvCxnSpPr>
          <p:nvPr/>
        </p:nvCxnSpPr>
        <p:spPr>
          <a:xfrm>
            <a:off x="5936865" y="3205441"/>
            <a:ext cx="4202469" cy="3173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952391-4AEE-7A54-B07A-BB21EB5467AF}"/>
              </a:ext>
            </a:extLst>
          </p:cNvPr>
          <p:cNvSpPr txBox="1"/>
          <p:nvPr/>
        </p:nvSpPr>
        <p:spPr>
          <a:xfrm>
            <a:off x="8712962" y="2828633"/>
            <a:ext cx="1474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Fleet Level Management NSX Overlay Segment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4DE4F7-8AF0-CF45-AE55-E0B0097BEA1C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6791258" y="1874825"/>
            <a:ext cx="0" cy="271199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860DBD-DE41-1A74-7338-EB6D354BB084}"/>
              </a:ext>
            </a:extLst>
          </p:cNvPr>
          <p:cNvCxnSpPr>
            <a:cxnSpLocks/>
          </p:cNvCxnSpPr>
          <p:nvPr/>
        </p:nvCxnSpPr>
        <p:spPr>
          <a:xfrm flipH="1">
            <a:off x="6131108" y="2146024"/>
            <a:ext cx="660150" cy="1711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59CCA73-2B70-26E0-A4E3-997EAD66668F}"/>
              </a:ext>
            </a:extLst>
          </p:cNvPr>
          <p:cNvSpPr/>
          <p:nvPr/>
        </p:nvSpPr>
        <p:spPr>
          <a:xfrm>
            <a:off x="6431218" y="1491456"/>
            <a:ext cx="720080" cy="38336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Edge Uplinks/TEP VLANs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897650-528C-972A-7769-50808691B1A6}"/>
              </a:ext>
            </a:extLst>
          </p:cNvPr>
          <p:cNvCxnSpPr>
            <a:cxnSpLocks/>
          </p:cNvCxnSpPr>
          <p:nvPr/>
        </p:nvCxnSpPr>
        <p:spPr>
          <a:xfrm flipH="1" flipV="1">
            <a:off x="6129499" y="1887859"/>
            <a:ext cx="1532" cy="488625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139;p82">
            <a:extLst>
              <a:ext uri="{FF2B5EF4-FFF2-40B4-BE49-F238E27FC236}">
                <a16:creationId xmlns:a16="http://schemas.microsoft.com/office/drawing/2014/main" id="{9875A3E6-1853-56E1-AC17-5E8C6F21CD78}"/>
              </a:ext>
            </a:extLst>
          </p:cNvPr>
          <p:cNvSpPr/>
          <p:nvPr/>
        </p:nvSpPr>
        <p:spPr>
          <a:xfrm>
            <a:off x="5878588" y="2383318"/>
            <a:ext cx="473400" cy="445762"/>
          </a:xfrm>
          <a:custGeom>
            <a:avLst/>
            <a:gdLst/>
            <a:ahLst/>
            <a:cxnLst/>
            <a:rect l="l" t="t" r="r" b="b"/>
            <a:pathLst>
              <a:path w="600837" h="602089" extrusionOk="0">
                <a:moveTo>
                  <a:pt x="300419" y="15844"/>
                </a:moveTo>
                <a:cubicBezTo>
                  <a:pt x="457603" y="15844"/>
                  <a:pt x="585026" y="143533"/>
                  <a:pt x="585026" y="301045"/>
                </a:cubicBezTo>
                <a:cubicBezTo>
                  <a:pt x="585026" y="458556"/>
                  <a:pt x="457603" y="586245"/>
                  <a:pt x="300419" y="586245"/>
                </a:cubicBezTo>
                <a:cubicBezTo>
                  <a:pt x="143234" y="586245"/>
                  <a:pt x="15812" y="458556"/>
                  <a:pt x="15812" y="301045"/>
                </a:cubicBezTo>
                <a:cubicBezTo>
                  <a:pt x="15986" y="143605"/>
                  <a:pt x="143307" y="16019"/>
                  <a:pt x="300419" y="15844"/>
                </a:cubicBezTo>
                <a:moveTo>
                  <a:pt x="300419" y="0"/>
                </a:moveTo>
                <a:cubicBezTo>
                  <a:pt x="134502" y="0"/>
                  <a:pt x="0" y="134782"/>
                  <a:pt x="0" y="301045"/>
                </a:cubicBezTo>
                <a:cubicBezTo>
                  <a:pt x="0" y="467307"/>
                  <a:pt x="134502" y="602089"/>
                  <a:pt x="300419" y="602089"/>
                </a:cubicBezTo>
                <a:cubicBezTo>
                  <a:pt x="466335" y="602089"/>
                  <a:pt x="600837" y="467307"/>
                  <a:pt x="600837" y="301045"/>
                </a:cubicBezTo>
                <a:cubicBezTo>
                  <a:pt x="600837" y="134782"/>
                  <a:pt x="466335" y="0"/>
                  <a:pt x="3004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17074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5" name="Google Shape;1140;p82">
            <a:extLst>
              <a:ext uri="{FF2B5EF4-FFF2-40B4-BE49-F238E27FC236}">
                <a16:creationId xmlns:a16="http://schemas.microsoft.com/office/drawing/2014/main" id="{549A82EA-FD90-89D1-6947-078FC8D98A36}"/>
              </a:ext>
            </a:extLst>
          </p:cNvPr>
          <p:cNvSpPr/>
          <p:nvPr/>
        </p:nvSpPr>
        <p:spPr>
          <a:xfrm>
            <a:off x="5954822" y="2431477"/>
            <a:ext cx="337409" cy="327002"/>
          </a:xfrm>
          <a:custGeom>
            <a:avLst/>
            <a:gdLst/>
            <a:ahLst/>
            <a:cxnLst/>
            <a:rect l="l" t="t" r="r" b="b"/>
            <a:pathLst>
              <a:path w="428238" h="441680" extrusionOk="0">
                <a:moveTo>
                  <a:pt x="190623" y="266631"/>
                </a:moveTo>
                <a:lnTo>
                  <a:pt x="190876" y="298319"/>
                </a:lnTo>
                <a:lnTo>
                  <a:pt x="354620" y="296925"/>
                </a:lnTo>
                <a:lnTo>
                  <a:pt x="354810" y="323797"/>
                </a:lnTo>
                <a:lnTo>
                  <a:pt x="428239" y="280510"/>
                </a:lnTo>
                <a:lnTo>
                  <a:pt x="354114" y="238427"/>
                </a:lnTo>
                <a:lnTo>
                  <a:pt x="354367" y="265236"/>
                </a:lnTo>
                <a:lnTo>
                  <a:pt x="293651" y="265743"/>
                </a:lnTo>
                <a:lnTo>
                  <a:pt x="293651" y="73899"/>
                </a:lnTo>
                <a:lnTo>
                  <a:pt x="320404" y="73899"/>
                </a:lnTo>
                <a:lnTo>
                  <a:pt x="277840" y="0"/>
                </a:lnTo>
                <a:lnTo>
                  <a:pt x="235212" y="73899"/>
                </a:lnTo>
                <a:lnTo>
                  <a:pt x="262028" y="73899"/>
                </a:lnTo>
                <a:lnTo>
                  <a:pt x="262028" y="145325"/>
                </a:lnTo>
                <a:lnTo>
                  <a:pt x="73745" y="145325"/>
                </a:lnTo>
                <a:lnTo>
                  <a:pt x="73745" y="118517"/>
                </a:lnTo>
                <a:lnTo>
                  <a:pt x="0" y="161170"/>
                </a:lnTo>
                <a:lnTo>
                  <a:pt x="73745" y="203823"/>
                </a:lnTo>
                <a:lnTo>
                  <a:pt x="73745" y="177014"/>
                </a:lnTo>
                <a:lnTo>
                  <a:pt x="134588" y="177014"/>
                </a:lnTo>
                <a:lnTo>
                  <a:pt x="134588" y="367782"/>
                </a:lnTo>
                <a:lnTo>
                  <a:pt x="107834" y="367782"/>
                </a:lnTo>
                <a:lnTo>
                  <a:pt x="150399" y="441680"/>
                </a:lnTo>
                <a:lnTo>
                  <a:pt x="192964" y="367782"/>
                </a:lnTo>
                <a:lnTo>
                  <a:pt x="166211" y="367782"/>
                </a:lnTo>
                <a:lnTo>
                  <a:pt x="166211" y="177014"/>
                </a:lnTo>
                <a:lnTo>
                  <a:pt x="262028" y="177014"/>
                </a:lnTo>
                <a:lnTo>
                  <a:pt x="262028" y="265997"/>
                </a:lnTo>
                <a:lnTo>
                  <a:pt x="190623" y="2666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17074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26" name="Google Shape;1259;p82" descr="Router&#10;">
            <a:extLst>
              <a:ext uri="{FF2B5EF4-FFF2-40B4-BE49-F238E27FC236}">
                <a16:creationId xmlns:a16="http://schemas.microsoft.com/office/drawing/2014/main" id="{401271DE-0194-995D-F03C-1F8D4A43271E}"/>
              </a:ext>
            </a:extLst>
          </p:cNvPr>
          <p:cNvGrpSpPr/>
          <p:nvPr/>
        </p:nvGrpSpPr>
        <p:grpSpPr>
          <a:xfrm>
            <a:off x="7766090" y="2393389"/>
            <a:ext cx="467283" cy="423274"/>
            <a:chOff x="545671" y="1948025"/>
            <a:chExt cx="578167" cy="600837"/>
          </a:xfrm>
        </p:grpSpPr>
        <p:sp>
          <p:nvSpPr>
            <p:cNvPr id="27" name="Google Shape;1260;p82">
              <a:extLst>
                <a:ext uri="{FF2B5EF4-FFF2-40B4-BE49-F238E27FC236}">
                  <a16:creationId xmlns:a16="http://schemas.microsoft.com/office/drawing/2014/main" id="{122A2C1D-218A-5FCB-1EAE-2A4302478943}"/>
                </a:ext>
              </a:extLst>
            </p:cNvPr>
            <p:cNvSpPr/>
            <p:nvPr/>
          </p:nvSpPr>
          <p:spPr>
            <a:xfrm>
              <a:off x="545671" y="1948025"/>
              <a:ext cx="578167" cy="600837"/>
            </a:xfrm>
            <a:custGeom>
              <a:avLst/>
              <a:gdLst/>
              <a:ahLst/>
              <a:cxnLst/>
              <a:rect l="l" t="t" r="r" b="b"/>
              <a:pathLst>
                <a:path w="600837" h="600837" extrusionOk="0">
                  <a:moveTo>
                    <a:pt x="300419" y="15812"/>
                  </a:moveTo>
                  <a:cubicBezTo>
                    <a:pt x="457603" y="15812"/>
                    <a:pt x="585026" y="143234"/>
                    <a:pt x="585026" y="300419"/>
                  </a:cubicBezTo>
                  <a:cubicBezTo>
                    <a:pt x="585026" y="457603"/>
                    <a:pt x="457603" y="585026"/>
                    <a:pt x="300419" y="585026"/>
                  </a:cubicBezTo>
                  <a:cubicBezTo>
                    <a:pt x="143234" y="585026"/>
                    <a:pt x="15812" y="457603"/>
                    <a:pt x="15812" y="300419"/>
                  </a:cubicBezTo>
                  <a:cubicBezTo>
                    <a:pt x="15986" y="143307"/>
                    <a:pt x="143307" y="15986"/>
                    <a:pt x="300419" y="15812"/>
                  </a:cubicBezTo>
                  <a:moveTo>
                    <a:pt x="300419" y="0"/>
                  </a:moveTo>
                  <a:cubicBezTo>
                    <a:pt x="134502" y="0"/>
                    <a:pt x="0" y="134502"/>
                    <a:pt x="0" y="300419"/>
                  </a:cubicBezTo>
                  <a:cubicBezTo>
                    <a:pt x="0" y="466335"/>
                    <a:pt x="134502" y="600837"/>
                    <a:pt x="300419" y="600837"/>
                  </a:cubicBezTo>
                  <a:cubicBezTo>
                    <a:pt x="466335" y="600837"/>
                    <a:pt x="600837" y="466335"/>
                    <a:pt x="600837" y="300419"/>
                  </a:cubicBezTo>
                  <a:cubicBezTo>
                    <a:pt x="600837" y="134502"/>
                    <a:pt x="466335" y="0"/>
                    <a:pt x="300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8" name="Google Shape;1261;p82">
              <a:extLst>
                <a:ext uri="{FF2B5EF4-FFF2-40B4-BE49-F238E27FC236}">
                  <a16:creationId xmlns:a16="http://schemas.microsoft.com/office/drawing/2014/main" id="{496377E0-61EF-7292-E443-7089D24CDA5C}"/>
                </a:ext>
              </a:extLst>
            </p:cNvPr>
            <p:cNvSpPr/>
            <p:nvPr/>
          </p:nvSpPr>
          <p:spPr>
            <a:xfrm>
              <a:off x="591561" y="2201436"/>
              <a:ext cx="189738" cy="85192"/>
            </a:xfrm>
            <a:custGeom>
              <a:avLst/>
              <a:gdLst/>
              <a:ahLst/>
              <a:cxnLst/>
              <a:rect l="l" t="t" r="r" b="b"/>
              <a:pathLst>
                <a:path w="189738" h="85192" extrusionOk="0">
                  <a:moveTo>
                    <a:pt x="115993" y="26753"/>
                  </a:moveTo>
                  <a:lnTo>
                    <a:pt x="0" y="26753"/>
                  </a:lnTo>
                  <a:lnTo>
                    <a:pt x="0" y="58376"/>
                  </a:lnTo>
                  <a:lnTo>
                    <a:pt x="115993" y="58376"/>
                  </a:lnTo>
                  <a:lnTo>
                    <a:pt x="115993" y="85192"/>
                  </a:lnTo>
                  <a:lnTo>
                    <a:pt x="189738" y="42565"/>
                  </a:lnTo>
                  <a:lnTo>
                    <a:pt x="115993" y="0"/>
                  </a:lnTo>
                  <a:lnTo>
                    <a:pt x="115993" y="267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" name="Google Shape;1262;p82">
              <a:extLst>
                <a:ext uri="{FF2B5EF4-FFF2-40B4-BE49-F238E27FC236}">
                  <a16:creationId xmlns:a16="http://schemas.microsoft.com/office/drawing/2014/main" id="{CE065041-03D6-8DD5-D73E-C295B767AB26}"/>
                </a:ext>
              </a:extLst>
            </p:cNvPr>
            <p:cNvSpPr/>
            <p:nvPr/>
          </p:nvSpPr>
          <p:spPr>
            <a:xfrm>
              <a:off x="879457" y="2201436"/>
              <a:ext cx="189738" cy="85192"/>
            </a:xfrm>
            <a:custGeom>
              <a:avLst/>
              <a:gdLst/>
              <a:ahLst/>
              <a:cxnLst/>
              <a:rect l="l" t="t" r="r" b="b"/>
              <a:pathLst>
                <a:path w="189738" h="85192" extrusionOk="0">
                  <a:moveTo>
                    <a:pt x="189738" y="26753"/>
                  </a:moveTo>
                  <a:lnTo>
                    <a:pt x="73745" y="26753"/>
                  </a:lnTo>
                  <a:lnTo>
                    <a:pt x="73745" y="0"/>
                  </a:lnTo>
                  <a:lnTo>
                    <a:pt x="0" y="42565"/>
                  </a:lnTo>
                  <a:lnTo>
                    <a:pt x="73745" y="85192"/>
                  </a:lnTo>
                  <a:lnTo>
                    <a:pt x="73745" y="58376"/>
                  </a:lnTo>
                  <a:lnTo>
                    <a:pt x="189738" y="58376"/>
                  </a:lnTo>
                  <a:lnTo>
                    <a:pt x="189738" y="267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30" name="Google Shape;1263;p82">
              <a:extLst>
                <a:ext uri="{FF2B5EF4-FFF2-40B4-BE49-F238E27FC236}">
                  <a16:creationId xmlns:a16="http://schemas.microsoft.com/office/drawing/2014/main" id="{5FECE27A-0B10-610A-2017-31F02A22D205}"/>
                </a:ext>
              </a:extLst>
            </p:cNvPr>
            <p:cNvSpPr/>
            <p:nvPr/>
          </p:nvSpPr>
          <p:spPr>
            <a:xfrm>
              <a:off x="787813" y="2010243"/>
              <a:ext cx="85129" cy="189738"/>
            </a:xfrm>
            <a:custGeom>
              <a:avLst/>
              <a:gdLst/>
              <a:ahLst/>
              <a:cxnLst/>
              <a:rect l="l" t="t" r="r" b="b"/>
              <a:pathLst>
                <a:path w="85129" h="189738" extrusionOk="0">
                  <a:moveTo>
                    <a:pt x="0" y="73745"/>
                  </a:moveTo>
                  <a:lnTo>
                    <a:pt x="26753" y="73745"/>
                  </a:lnTo>
                  <a:lnTo>
                    <a:pt x="26753" y="189738"/>
                  </a:lnTo>
                  <a:lnTo>
                    <a:pt x="58376" y="189738"/>
                  </a:lnTo>
                  <a:lnTo>
                    <a:pt x="58376" y="73745"/>
                  </a:lnTo>
                  <a:lnTo>
                    <a:pt x="85129" y="73745"/>
                  </a:lnTo>
                  <a:lnTo>
                    <a:pt x="42565" y="0"/>
                  </a:lnTo>
                  <a:lnTo>
                    <a:pt x="0" y="737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31" name="Google Shape;1264;p82">
              <a:extLst>
                <a:ext uri="{FF2B5EF4-FFF2-40B4-BE49-F238E27FC236}">
                  <a16:creationId xmlns:a16="http://schemas.microsoft.com/office/drawing/2014/main" id="{B06E4754-68D4-37F4-05B7-24B4739ADCC1}"/>
                </a:ext>
              </a:extLst>
            </p:cNvPr>
            <p:cNvSpPr/>
            <p:nvPr/>
          </p:nvSpPr>
          <p:spPr>
            <a:xfrm>
              <a:off x="787813" y="2288083"/>
              <a:ext cx="85129" cy="189738"/>
            </a:xfrm>
            <a:custGeom>
              <a:avLst/>
              <a:gdLst/>
              <a:ahLst/>
              <a:cxnLst/>
              <a:rect l="l" t="t" r="r" b="b"/>
              <a:pathLst>
                <a:path w="85129" h="189738" extrusionOk="0">
                  <a:moveTo>
                    <a:pt x="58376" y="0"/>
                  </a:moveTo>
                  <a:lnTo>
                    <a:pt x="26753" y="0"/>
                  </a:lnTo>
                  <a:lnTo>
                    <a:pt x="26753" y="115993"/>
                  </a:lnTo>
                  <a:lnTo>
                    <a:pt x="0" y="115993"/>
                  </a:lnTo>
                  <a:lnTo>
                    <a:pt x="42565" y="189738"/>
                  </a:lnTo>
                  <a:lnTo>
                    <a:pt x="85129" y="115993"/>
                  </a:lnTo>
                  <a:lnTo>
                    <a:pt x="58376" y="115993"/>
                  </a:lnTo>
                  <a:lnTo>
                    <a:pt x="583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137E7E-FF60-E5AE-4552-7A097DEF1CE8}"/>
              </a:ext>
            </a:extLst>
          </p:cNvPr>
          <p:cNvCxnSpPr>
            <a:cxnSpLocks/>
          </p:cNvCxnSpPr>
          <p:nvPr/>
        </p:nvCxnSpPr>
        <p:spPr>
          <a:xfrm flipV="1">
            <a:off x="6359493" y="2594978"/>
            <a:ext cx="1414102" cy="416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1141;p82">
            <a:extLst>
              <a:ext uri="{FF2B5EF4-FFF2-40B4-BE49-F238E27FC236}">
                <a16:creationId xmlns:a16="http://schemas.microsoft.com/office/drawing/2014/main" id="{612F9120-0E19-A7DC-1A88-DA42FFA05852}"/>
              </a:ext>
            </a:extLst>
          </p:cNvPr>
          <p:cNvSpPr/>
          <p:nvPr/>
        </p:nvSpPr>
        <p:spPr>
          <a:xfrm>
            <a:off x="8072131" y="2491167"/>
            <a:ext cx="798442" cy="243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Tier-1 Gateway</a:t>
            </a:r>
            <a:endParaRPr sz="8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F6D19A-EF95-DE1E-73B3-B18D0235D012}"/>
              </a:ext>
            </a:extLst>
          </p:cNvPr>
          <p:cNvSpPr/>
          <p:nvPr/>
        </p:nvSpPr>
        <p:spPr>
          <a:xfrm>
            <a:off x="5456242" y="2091856"/>
            <a:ext cx="755430" cy="23169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BGP/Static Routing</a:t>
            </a:r>
          </a:p>
        </p:txBody>
      </p:sp>
      <p:sp>
        <p:nvSpPr>
          <p:cNvPr id="2368" name="Google Shape;1141;p82">
            <a:extLst>
              <a:ext uri="{FF2B5EF4-FFF2-40B4-BE49-F238E27FC236}">
                <a16:creationId xmlns:a16="http://schemas.microsoft.com/office/drawing/2014/main" id="{6FA00E45-0A6C-463A-7864-1925E000CCE2}"/>
              </a:ext>
            </a:extLst>
          </p:cNvPr>
          <p:cNvSpPr/>
          <p:nvPr/>
        </p:nvSpPr>
        <p:spPr>
          <a:xfrm>
            <a:off x="5820927" y="2858274"/>
            <a:ext cx="636712" cy="243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Tier-0 Gateway</a:t>
            </a:r>
            <a:endParaRPr sz="8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91" name="Straight Connector 2390">
            <a:extLst>
              <a:ext uri="{FF2B5EF4-FFF2-40B4-BE49-F238E27FC236}">
                <a16:creationId xmlns:a16="http://schemas.microsoft.com/office/drawing/2014/main" id="{9B1748DD-D959-E4F2-1E1B-C2CDA13B95A5}"/>
              </a:ext>
            </a:extLst>
          </p:cNvPr>
          <p:cNvCxnSpPr>
            <a:cxnSpLocks/>
          </p:cNvCxnSpPr>
          <p:nvPr/>
        </p:nvCxnSpPr>
        <p:spPr>
          <a:xfrm flipV="1">
            <a:off x="8010195" y="2816663"/>
            <a:ext cx="0" cy="390364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2403;p20">
            <a:extLst>
              <a:ext uri="{FF2B5EF4-FFF2-40B4-BE49-F238E27FC236}">
                <a16:creationId xmlns:a16="http://schemas.microsoft.com/office/drawing/2014/main" id="{C7CEB6F1-FB8B-24C9-E703-A846CBC0C008}"/>
              </a:ext>
            </a:extLst>
          </p:cNvPr>
          <p:cNvSpPr/>
          <p:nvPr/>
        </p:nvSpPr>
        <p:spPr>
          <a:xfrm>
            <a:off x="1523427" y="3626742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Collector(s)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E1F8A9-33B2-1EB2-AEBB-A78BCA98F38E}"/>
              </a:ext>
            </a:extLst>
          </p:cNvPr>
          <p:cNvCxnSpPr>
            <a:cxnSpLocks/>
          </p:cNvCxnSpPr>
          <p:nvPr/>
        </p:nvCxnSpPr>
        <p:spPr>
          <a:xfrm flipV="1">
            <a:off x="1945779" y="3207028"/>
            <a:ext cx="0" cy="42624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2403;p20">
            <a:extLst>
              <a:ext uri="{FF2B5EF4-FFF2-40B4-BE49-F238E27FC236}">
                <a16:creationId xmlns:a16="http://schemas.microsoft.com/office/drawing/2014/main" id="{4D42C4E9-8E96-8DA1-1987-561B1E46614D}"/>
              </a:ext>
            </a:extLst>
          </p:cNvPr>
          <p:cNvSpPr/>
          <p:nvPr/>
        </p:nvSpPr>
        <p:spPr>
          <a:xfrm>
            <a:off x="9177515" y="3626742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 Networks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FADD54D-69A5-655A-EE43-CE015D30F745}"/>
              </a:ext>
            </a:extLst>
          </p:cNvPr>
          <p:cNvCxnSpPr>
            <a:cxnSpLocks/>
          </p:cNvCxnSpPr>
          <p:nvPr/>
        </p:nvCxnSpPr>
        <p:spPr>
          <a:xfrm flipV="1">
            <a:off x="9634499" y="3200495"/>
            <a:ext cx="0" cy="43432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8">
            <a:extLst>
              <a:ext uri="{FF2B5EF4-FFF2-40B4-BE49-F238E27FC236}">
                <a16:creationId xmlns:a16="http://schemas.microsoft.com/office/drawing/2014/main" id="{C65ADB4F-A35F-F894-FB42-CB447A86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Fleet Level Components on NSX Overlay Segment Model v1.1</a:t>
            </a:r>
            <a:endParaRPr lang="en-US" sz="24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334BD74-D439-3B5F-C6B6-333BCE63FA58}"/>
              </a:ext>
            </a:extLst>
          </p:cNvPr>
          <p:cNvGrpSpPr/>
          <p:nvPr/>
        </p:nvGrpSpPr>
        <p:grpSpPr>
          <a:xfrm>
            <a:off x="6523394" y="2234585"/>
            <a:ext cx="310983" cy="309399"/>
            <a:chOff x="7492196" y="1447066"/>
            <a:chExt cx="365388" cy="353789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961B964-876D-E419-3EA3-24F54E97C7B4}"/>
                </a:ext>
              </a:extLst>
            </p:cNvPr>
            <p:cNvGrpSpPr/>
            <p:nvPr/>
          </p:nvGrpSpPr>
          <p:grpSpPr>
            <a:xfrm>
              <a:off x="7492196" y="1447066"/>
              <a:ext cx="363561" cy="353789"/>
              <a:chOff x="6393604" y="5146050"/>
              <a:chExt cx="722787" cy="703361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729E064-8425-82AF-C416-406A5D5C9094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Google Shape;2078;p72">
                <a:extLst>
                  <a:ext uri="{FF2B5EF4-FFF2-40B4-BE49-F238E27FC236}">
                    <a16:creationId xmlns:a16="http://schemas.microsoft.com/office/drawing/2014/main" id="{FABF529D-1730-A18A-9BF3-9C28D65830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2342" y="5225603"/>
                <a:ext cx="565309" cy="528967"/>
              </a:xfrm>
              <a:prstGeom prst="straightConnector1">
                <a:avLst/>
              </a:prstGeom>
              <a:solidFill>
                <a:schemeClr val="lt1"/>
              </a:solidFill>
              <a:ln w="15875" cap="flat" cmpd="sng">
                <a:solidFill>
                  <a:schemeClr val="dk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95A8D2-1A75-12E1-50E0-24C1A00791A8}"/>
                  </a:ext>
                </a:extLst>
              </p:cNvPr>
              <p:cNvSpPr txBox="1"/>
              <p:nvPr/>
            </p:nvSpPr>
            <p:spPr>
              <a:xfrm flipH="1">
                <a:off x="6456880" y="5338341"/>
                <a:ext cx="137877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P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20D2C46-F976-C66B-71AB-E737C0C2F341}"/>
                  </a:ext>
                </a:extLst>
              </p:cNvPr>
              <p:cNvSpPr txBox="1"/>
              <p:nvPr/>
            </p:nvSpPr>
            <p:spPr>
              <a:xfrm flipH="1">
                <a:off x="6843490" y="5339051"/>
                <a:ext cx="142032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V</a:t>
                </a:r>
                <a:endParaRPr lang="en-US" sz="600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CD97597-1451-D1D1-ECCD-4594978ABCC3}"/>
                </a:ext>
              </a:extLst>
            </p:cNvPr>
            <p:cNvGrpSpPr/>
            <p:nvPr/>
          </p:nvGrpSpPr>
          <p:grpSpPr>
            <a:xfrm rot="19052667">
              <a:off x="7497331" y="1708659"/>
              <a:ext cx="182989" cy="103"/>
              <a:chOff x="7905819" y="1100217"/>
              <a:chExt cx="182989" cy="103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2497DC3-80FB-6216-CA68-B11B652F14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E11CFE1-9BA8-3605-23D5-FF1C3E2358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9B5C3F9-76A1-7130-F350-E3753106F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0A12D58-5B49-0D6E-AF50-DDD2C747BE1D}"/>
                </a:ext>
              </a:extLst>
            </p:cNvPr>
            <p:cNvGrpSpPr/>
            <p:nvPr/>
          </p:nvGrpSpPr>
          <p:grpSpPr>
            <a:xfrm rot="19052667">
              <a:off x="7674595" y="1547803"/>
              <a:ext cx="182989" cy="103"/>
              <a:chOff x="7905819" y="1100217"/>
              <a:chExt cx="182989" cy="103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F81B188-8DE9-0FB9-3AE9-5D00001612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ECF23595-BEEB-6667-24C4-36AC999AE0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3DDFDF26-DEBC-7526-E32E-9B6FE34DDA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6C2C515-9FF6-3235-D741-0A4F2BCB4242}"/>
              </a:ext>
            </a:extLst>
          </p:cNvPr>
          <p:cNvGrpSpPr/>
          <p:nvPr/>
        </p:nvGrpSpPr>
        <p:grpSpPr>
          <a:xfrm>
            <a:off x="6883279" y="2234585"/>
            <a:ext cx="310983" cy="309399"/>
            <a:chOff x="7492196" y="1447066"/>
            <a:chExt cx="365388" cy="353789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60F505E-38B7-3EF8-FC24-01CFAF003CE8}"/>
                </a:ext>
              </a:extLst>
            </p:cNvPr>
            <p:cNvGrpSpPr/>
            <p:nvPr/>
          </p:nvGrpSpPr>
          <p:grpSpPr>
            <a:xfrm>
              <a:off x="7492196" y="1447066"/>
              <a:ext cx="363561" cy="353789"/>
              <a:chOff x="6393604" y="5146050"/>
              <a:chExt cx="722787" cy="703361"/>
            </a:xfrm>
          </p:grpSpPr>
          <p:sp>
            <p:nvSpPr>
              <p:cNvPr id="2375" name="Rectangle 2374">
                <a:extLst>
                  <a:ext uri="{FF2B5EF4-FFF2-40B4-BE49-F238E27FC236}">
                    <a16:creationId xmlns:a16="http://schemas.microsoft.com/office/drawing/2014/main" id="{0719900E-30B8-4232-C747-426089273997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77" name="Google Shape;2078;p72">
                <a:extLst>
                  <a:ext uri="{FF2B5EF4-FFF2-40B4-BE49-F238E27FC236}">
                    <a16:creationId xmlns:a16="http://schemas.microsoft.com/office/drawing/2014/main" id="{E9F360C4-3F88-95CB-E958-DF3EFC8950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2342" y="5225603"/>
                <a:ext cx="565309" cy="528967"/>
              </a:xfrm>
              <a:prstGeom prst="straightConnector1">
                <a:avLst/>
              </a:prstGeom>
              <a:solidFill>
                <a:schemeClr val="lt1"/>
              </a:solidFill>
              <a:ln w="15875" cap="flat" cmpd="sng">
                <a:solidFill>
                  <a:schemeClr val="dk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sp>
            <p:nvSpPr>
              <p:cNvPr id="2378" name="TextBox 2377">
                <a:extLst>
                  <a:ext uri="{FF2B5EF4-FFF2-40B4-BE49-F238E27FC236}">
                    <a16:creationId xmlns:a16="http://schemas.microsoft.com/office/drawing/2014/main" id="{B045C59C-AAC1-689A-9312-B708F4C9700D}"/>
                  </a:ext>
                </a:extLst>
              </p:cNvPr>
              <p:cNvSpPr txBox="1"/>
              <p:nvPr/>
            </p:nvSpPr>
            <p:spPr>
              <a:xfrm flipH="1">
                <a:off x="6456880" y="5338341"/>
                <a:ext cx="137877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P</a:t>
                </a:r>
              </a:p>
            </p:txBody>
          </p:sp>
          <p:sp>
            <p:nvSpPr>
              <p:cNvPr id="2379" name="TextBox 2378">
                <a:extLst>
                  <a:ext uri="{FF2B5EF4-FFF2-40B4-BE49-F238E27FC236}">
                    <a16:creationId xmlns:a16="http://schemas.microsoft.com/office/drawing/2014/main" id="{45305987-1E73-7940-F481-2A7053E7EAAD}"/>
                  </a:ext>
                </a:extLst>
              </p:cNvPr>
              <p:cNvSpPr txBox="1"/>
              <p:nvPr/>
            </p:nvSpPr>
            <p:spPr>
              <a:xfrm flipH="1">
                <a:off x="6843490" y="5339051"/>
                <a:ext cx="142032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V</a:t>
                </a:r>
                <a:endParaRPr lang="en-US" sz="600" dirty="0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1A474E4-5C02-A527-67CC-8C910A19425F}"/>
                </a:ext>
              </a:extLst>
            </p:cNvPr>
            <p:cNvGrpSpPr/>
            <p:nvPr/>
          </p:nvGrpSpPr>
          <p:grpSpPr>
            <a:xfrm rot="19052667">
              <a:off x="7497331" y="1708659"/>
              <a:ext cx="182989" cy="103"/>
              <a:chOff x="7905819" y="1100217"/>
              <a:chExt cx="182989" cy="103"/>
            </a:xfrm>
          </p:grpSpPr>
          <p:cxnSp>
            <p:nvCxnSpPr>
              <p:cNvPr id="2372" name="Straight Connector 2371">
                <a:extLst>
                  <a:ext uri="{FF2B5EF4-FFF2-40B4-BE49-F238E27FC236}">
                    <a16:creationId xmlns:a16="http://schemas.microsoft.com/office/drawing/2014/main" id="{20A2A872-F6CC-DE08-ED1B-411E533C4E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3" name="Straight Connector 2372">
                <a:extLst>
                  <a:ext uri="{FF2B5EF4-FFF2-40B4-BE49-F238E27FC236}">
                    <a16:creationId xmlns:a16="http://schemas.microsoft.com/office/drawing/2014/main" id="{6E3215CB-9BE7-1A2A-78A0-2B20236BD2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4" name="Straight Connector 2373">
                <a:extLst>
                  <a:ext uri="{FF2B5EF4-FFF2-40B4-BE49-F238E27FC236}">
                    <a16:creationId xmlns:a16="http://schemas.microsoft.com/office/drawing/2014/main" id="{DAB5F962-49C2-FE71-1965-B4BB0B4DE2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0E832E7-8349-B936-2047-B532290A9A2D}"/>
                </a:ext>
              </a:extLst>
            </p:cNvPr>
            <p:cNvGrpSpPr/>
            <p:nvPr/>
          </p:nvGrpSpPr>
          <p:grpSpPr>
            <a:xfrm rot="19052667">
              <a:off x="7674595" y="1547803"/>
              <a:ext cx="182989" cy="103"/>
              <a:chOff x="7905819" y="1100217"/>
              <a:chExt cx="182989" cy="103"/>
            </a:xfrm>
          </p:grpSpPr>
          <p:cxnSp>
            <p:nvCxnSpPr>
              <p:cNvPr id="2369" name="Straight Connector 2368">
                <a:extLst>
                  <a:ext uri="{FF2B5EF4-FFF2-40B4-BE49-F238E27FC236}">
                    <a16:creationId xmlns:a16="http://schemas.microsoft.com/office/drawing/2014/main" id="{7FD12858-7906-F48A-0840-013604A6E7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0" name="Straight Connector 2369">
                <a:extLst>
                  <a:ext uri="{FF2B5EF4-FFF2-40B4-BE49-F238E27FC236}">
                    <a16:creationId xmlns:a16="http://schemas.microsoft.com/office/drawing/2014/main" id="{5292DC6E-23A1-865E-3DAD-044A3AE0D3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1" name="Straight Connector 2370">
                <a:extLst>
                  <a:ext uri="{FF2B5EF4-FFF2-40B4-BE49-F238E27FC236}">
                    <a16:creationId xmlns:a16="http://schemas.microsoft.com/office/drawing/2014/main" id="{D1799554-ED5B-C8FE-3764-1809BE16B5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6350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50143307-E151-91F1-A914-B656E4340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2474B1B-1F26-615F-850F-D38E34C309F7}"/>
              </a:ext>
            </a:extLst>
          </p:cNvPr>
          <p:cNvSpPr/>
          <p:nvPr/>
        </p:nvSpPr>
        <p:spPr>
          <a:xfrm>
            <a:off x="1581912" y="1490472"/>
            <a:ext cx="9162288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0BF4098-B3E6-EBF2-08A4-D9A2E61F5B99}"/>
              </a:ext>
            </a:extLst>
          </p:cNvPr>
          <p:cNvGrpSpPr/>
          <p:nvPr/>
        </p:nvGrpSpPr>
        <p:grpSpPr>
          <a:xfrm>
            <a:off x="1653362" y="1567935"/>
            <a:ext cx="9011092" cy="3015099"/>
            <a:chOff x="2041904" y="1700593"/>
            <a:chExt cx="9011092" cy="3015099"/>
          </a:xfrm>
        </p:grpSpPr>
        <p:sp>
          <p:nvSpPr>
            <p:cNvPr id="24" name="Google Shape;1641;p6">
              <a:extLst>
                <a:ext uri="{FF2B5EF4-FFF2-40B4-BE49-F238E27FC236}">
                  <a16:creationId xmlns:a16="http://schemas.microsoft.com/office/drawing/2014/main" id="{F6E401A3-58F5-ACF2-946E-56A99F6AE5A7}"/>
                </a:ext>
              </a:extLst>
            </p:cNvPr>
            <p:cNvSpPr/>
            <p:nvPr/>
          </p:nvSpPr>
          <p:spPr>
            <a:xfrm>
              <a:off x="2041904" y="2258870"/>
              <a:ext cx="9011092" cy="2456822"/>
            </a:xfrm>
            <a:prstGeom prst="rect">
              <a:avLst/>
            </a:prstGeom>
            <a:solidFill>
              <a:schemeClr val="bg1"/>
            </a:solidFill>
            <a:ln w="12700" cap="rnd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dirty="0">
                  <a:latin typeface="Metropolis" pitchFamily="2" charset="77"/>
                </a:rPr>
                <a:t>Management Domain</a:t>
              </a:r>
              <a:endParaRPr sz="900" dirty="0">
                <a:latin typeface="Metropolis" pitchFamily="2" charset="77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7922A4C-9489-F0E9-478A-F90B9587B581}"/>
                </a:ext>
              </a:extLst>
            </p:cNvPr>
            <p:cNvCxnSpPr>
              <a:cxnSpLocks/>
            </p:cNvCxnSpPr>
            <p:nvPr/>
          </p:nvCxnSpPr>
          <p:spPr>
            <a:xfrm>
              <a:off x="2311632" y="2717076"/>
              <a:ext cx="4157926" cy="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oogle Shape;1641;p6">
              <a:extLst>
                <a:ext uri="{FF2B5EF4-FFF2-40B4-BE49-F238E27FC236}">
                  <a16:creationId xmlns:a16="http://schemas.microsoft.com/office/drawing/2014/main" id="{21937F94-873F-4D5A-2F34-B8F39E490434}"/>
                </a:ext>
              </a:extLst>
            </p:cNvPr>
            <p:cNvSpPr/>
            <p:nvPr/>
          </p:nvSpPr>
          <p:spPr>
            <a:xfrm>
              <a:off x="2174826" y="3037125"/>
              <a:ext cx="4294733" cy="1221366"/>
            </a:xfrm>
            <a:prstGeom prst="rect">
              <a:avLst/>
            </a:prstGeom>
            <a:solidFill>
              <a:schemeClr val="bg1"/>
            </a:solidFill>
            <a:ln w="12700" cap="rnd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dirty="0">
                  <a:latin typeface="Metropolis" pitchFamily="2" charset="77"/>
                </a:rPr>
                <a:t>Management VMs</a:t>
              </a:r>
              <a:endParaRPr sz="900" dirty="0">
                <a:latin typeface="Metropolis" pitchFamily="2" charset="77"/>
              </a:endParaRPr>
            </a:p>
          </p:txBody>
        </p:sp>
        <p:sp>
          <p:nvSpPr>
            <p:cNvPr id="2409" name="Google Shape;2402;p20">
              <a:extLst>
                <a:ext uri="{FF2B5EF4-FFF2-40B4-BE49-F238E27FC236}">
                  <a16:creationId xmlns:a16="http://schemas.microsoft.com/office/drawing/2014/main" id="{0D5EE3B5-363E-4D85-23AD-7DB2D7EE6E09}"/>
                </a:ext>
              </a:extLst>
            </p:cNvPr>
            <p:cNvSpPr/>
            <p:nvPr/>
          </p:nvSpPr>
          <p:spPr>
            <a:xfrm>
              <a:off x="4359698" y="3306727"/>
              <a:ext cx="898958" cy="59253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</a:rPr>
                <a:t>NSX Manager(s)</a:t>
              </a:r>
              <a:endParaRPr lang="en-US" sz="800" dirty="0">
                <a:latin typeface="Metropolis" pitchFamily="2" charset="77"/>
              </a:endParaRPr>
            </a:p>
          </p:txBody>
        </p:sp>
        <p:sp>
          <p:nvSpPr>
            <p:cNvPr id="11" name="Google Shape;2402;p20">
              <a:extLst>
                <a:ext uri="{FF2B5EF4-FFF2-40B4-BE49-F238E27FC236}">
                  <a16:creationId xmlns:a16="http://schemas.microsoft.com/office/drawing/2014/main" id="{5E203ECA-3C0E-6E1C-CD37-C8ECEA34E6D6}"/>
                </a:ext>
              </a:extLst>
            </p:cNvPr>
            <p:cNvSpPr/>
            <p:nvPr/>
          </p:nvSpPr>
          <p:spPr>
            <a:xfrm>
              <a:off x="3291894" y="3306727"/>
              <a:ext cx="898958" cy="59253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latin typeface="Metropolis" pitchFamily="2" charset="77"/>
                </a:rPr>
                <a:t>vCenter(s)</a:t>
              </a:r>
            </a:p>
          </p:txBody>
        </p:sp>
        <p:sp>
          <p:nvSpPr>
            <p:cNvPr id="12" name="Google Shape;2402;p20">
              <a:extLst>
                <a:ext uri="{FF2B5EF4-FFF2-40B4-BE49-F238E27FC236}">
                  <a16:creationId xmlns:a16="http://schemas.microsoft.com/office/drawing/2014/main" id="{4EDF388E-51E3-D064-B3B9-4C19AFAD9E0C}"/>
                </a:ext>
              </a:extLst>
            </p:cNvPr>
            <p:cNvSpPr/>
            <p:nvPr/>
          </p:nvSpPr>
          <p:spPr>
            <a:xfrm>
              <a:off x="5419474" y="3306727"/>
              <a:ext cx="898958" cy="59253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latin typeface="Metropolis" pitchFamily="2" charset="77"/>
                </a:rPr>
                <a:t>SDDC Manager</a:t>
              </a:r>
            </a:p>
          </p:txBody>
        </p:sp>
        <p:sp>
          <p:nvSpPr>
            <p:cNvPr id="18" name="Google Shape;2403;p20">
              <a:extLst>
                <a:ext uri="{FF2B5EF4-FFF2-40B4-BE49-F238E27FC236}">
                  <a16:creationId xmlns:a16="http://schemas.microsoft.com/office/drawing/2014/main" id="{37B7DB41-7008-F226-C423-A7E732DB3154}"/>
                </a:ext>
              </a:extLst>
            </p:cNvPr>
            <p:cNvSpPr/>
            <p:nvPr/>
          </p:nvSpPr>
          <p:spPr>
            <a:xfrm>
              <a:off x="6112641" y="1700593"/>
              <a:ext cx="898958" cy="38337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E" sz="900" dirty="0">
                  <a:solidFill>
                    <a:schemeClr val="tx1"/>
                  </a:solidFill>
                  <a:latin typeface="Metropolis" pitchFamily="2" charset="77"/>
                </a:rPr>
                <a:t>External Connectivity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F050FE9-F464-3996-4ED9-A872108569B9}"/>
                </a:ext>
              </a:extLst>
            </p:cNvPr>
            <p:cNvCxnSpPr>
              <a:cxnSpLocks/>
              <a:stCxn id="2409" idx="0"/>
            </p:cNvCxnSpPr>
            <p:nvPr/>
          </p:nvCxnSpPr>
          <p:spPr>
            <a:xfrm flipV="1">
              <a:off x="4809177" y="2714504"/>
              <a:ext cx="0" cy="592223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Google Shape;1641;p6">
              <a:extLst>
                <a:ext uri="{FF2B5EF4-FFF2-40B4-BE49-F238E27FC236}">
                  <a16:creationId xmlns:a16="http://schemas.microsoft.com/office/drawing/2014/main" id="{322604B2-5C4D-0003-651A-7ABFB6C1727D}"/>
                </a:ext>
              </a:extLst>
            </p:cNvPr>
            <p:cNvSpPr/>
            <p:nvPr/>
          </p:nvSpPr>
          <p:spPr>
            <a:xfrm>
              <a:off x="6630375" y="3037125"/>
              <a:ext cx="4292566" cy="1221366"/>
            </a:xfrm>
            <a:prstGeom prst="rect">
              <a:avLst/>
            </a:prstGeom>
            <a:solidFill>
              <a:schemeClr val="bg1"/>
            </a:solidFill>
            <a:ln w="12700" cap="rnd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dirty="0">
                  <a:latin typeface="Metropolis" pitchFamily="2" charset="77"/>
                </a:rPr>
                <a:t>Fleet Level VMs</a:t>
              </a:r>
              <a:endParaRPr sz="900" dirty="0">
                <a:latin typeface="Metropolis" pitchFamily="2" charset="77"/>
              </a:endParaRPr>
            </a:p>
          </p:txBody>
        </p:sp>
        <p:sp>
          <p:nvSpPr>
            <p:cNvPr id="2398" name="Google Shape;2403;p20">
              <a:extLst>
                <a:ext uri="{FF2B5EF4-FFF2-40B4-BE49-F238E27FC236}">
                  <a16:creationId xmlns:a16="http://schemas.microsoft.com/office/drawing/2014/main" id="{3AAA2B1C-835F-75AF-8582-E7CC1AD7E3A3}"/>
                </a:ext>
              </a:extLst>
            </p:cNvPr>
            <p:cNvSpPr/>
            <p:nvPr/>
          </p:nvSpPr>
          <p:spPr>
            <a:xfrm>
              <a:off x="7833348" y="3306727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latin typeface="Metropolis" pitchFamily="2" charset="77"/>
                </a:rPr>
                <a:t>VCF Operations</a:t>
              </a:r>
              <a:endParaRPr sz="800" dirty="0">
                <a:latin typeface="Metropolis" pitchFamily="2" charset="77"/>
              </a:endParaRPr>
            </a:p>
          </p:txBody>
        </p:sp>
        <p:sp>
          <p:nvSpPr>
            <p:cNvPr id="2400" name="Google Shape;2403;p20">
              <a:extLst>
                <a:ext uri="{FF2B5EF4-FFF2-40B4-BE49-F238E27FC236}">
                  <a16:creationId xmlns:a16="http://schemas.microsoft.com/office/drawing/2014/main" id="{866CEDA8-C758-48EA-DCC0-0474FDB977E3}"/>
                </a:ext>
              </a:extLst>
            </p:cNvPr>
            <p:cNvSpPr/>
            <p:nvPr/>
          </p:nvSpPr>
          <p:spPr>
            <a:xfrm>
              <a:off x="6782383" y="3306727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E" sz="800" dirty="0">
                  <a:latin typeface="Metropolis" pitchFamily="2" charset="77"/>
                </a:rPr>
                <a:t>VCF Automation</a:t>
              </a:r>
            </a:p>
          </p:txBody>
        </p:sp>
        <p:sp>
          <p:nvSpPr>
            <p:cNvPr id="13" name="Google Shape;2403;p20">
              <a:extLst>
                <a:ext uri="{FF2B5EF4-FFF2-40B4-BE49-F238E27FC236}">
                  <a16:creationId xmlns:a16="http://schemas.microsoft.com/office/drawing/2014/main" id="{4B1E0397-58E7-D162-6DD7-688B5449705F}"/>
                </a:ext>
              </a:extLst>
            </p:cNvPr>
            <p:cNvSpPr/>
            <p:nvPr/>
          </p:nvSpPr>
          <p:spPr>
            <a:xfrm>
              <a:off x="8873910" y="3306727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latin typeface="Metropolis" pitchFamily="2" charset="77"/>
                </a:rPr>
                <a:t>VCF Operations for Logs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385348F-495B-B84F-79E5-33A378BF5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3052" y="2093028"/>
              <a:ext cx="0" cy="62658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48CE922-855A-74D6-2A6D-1CC881525C97}"/>
                </a:ext>
              </a:extLst>
            </p:cNvPr>
            <p:cNvSpPr txBox="1"/>
            <p:nvPr/>
          </p:nvSpPr>
          <p:spPr>
            <a:xfrm>
              <a:off x="2243491" y="2375950"/>
              <a:ext cx="10630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Metropolis" pitchFamily="2" charset="77"/>
                </a:rPr>
                <a:t>VM Management </a:t>
              </a:r>
            </a:p>
            <a:p>
              <a:pPr algn="ctr"/>
              <a:r>
                <a:rPr lang="en-US" sz="800" dirty="0">
                  <a:solidFill>
                    <a:schemeClr val="tx1"/>
                  </a:solidFill>
                  <a:latin typeface="Metropolis" pitchFamily="2" charset="77"/>
                </a:rPr>
                <a:t>Port Group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39A459B-955A-A1E7-9FD0-2E397ACE62D9}"/>
                </a:ext>
              </a:extLst>
            </p:cNvPr>
            <p:cNvSpPr/>
            <p:nvPr/>
          </p:nvSpPr>
          <p:spPr>
            <a:xfrm>
              <a:off x="5110794" y="1700593"/>
              <a:ext cx="777108" cy="383369"/>
            </a:xfrm>
            <a:prstGeom prst="rect">
              <a:avLst/>
            </a:prstGeom>
            <a:solidFill>
              <a:schemeClr val="accent3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lvl="1" algn="ctr"/>
              <a:r>
                <a:rPr lang="en-US" sz="700" dirty="0">
                  <a:solidFill>
                    <a:schemeClr val="tx2"/>
                  </a:solidFill>
                  <a:latin typeface="Metropolis" pitchFamily="2" charset="77"/>
                </a:rPr>
                <a:t>VM Management</a:t>
              </a:r>
            </a:p>
            <a:p>
              <a:pPr lvl="1" algn="ctr"/>
              <a:r>
                <a:rPr lang="en-US" sz="700" dirty="0">
                  <a:solidFill>
                    <a:schemeClr val="tx2"/>
                  </a:solidFill>
                  <a:latin typeface="Metropolis" pitchFamily="2" charset="77"/>
                </a:rPr>
                <a:t>VLAN</a:t>
              </a:r>
            </a:p>
          </p:txBody>
        </p:sp>
      </p:grpSp>
      <p:cxnSp>
        <p:nvCxnSpPr>
          <p:cNvPr id="2376" name="Straight Connector 2375">
            <a:extLst>
              <a:ext uri="{FF2B5EF4-FFF2-40B4-BE49-F238E27FC236}">
                <a16:creationId xmlns:a16="http://schemas.microsoft.com/office/drawing/2014/main" id="{21E2C49D-6564-04C1-DC9E-D543CE72CDF3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5110806" y="1951304"/>
            <a:ext cx="0" cy="32235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4" name="Straight Arrow Connector 2383">
            <a:extLst>
              <a:ext uri="{FF2B5EF4-FFF2-40B4-BE49-F238E27FC236}">
                <a16:creationId xmlns:a16="http://schemas.microsoft.com/office/drawing/2014/main" id="{F44E552F-FF72-61D0-3E61-90F038F045FB}"/>
              </a:ext>
            </a:extLst>
          </p:cNvPr>
          <p:cNvCxnSpPr>
            <a:cxnSpLocks/>
          </p:cNvCxnSpPr>
          <p:nvPr/>
        </p:nvCxnSpPr>
        <p:spPr>
          <a:xfrm flipV="1">
            <a:off x="5110805" y="2264596"/>
            <a:ext cx="722886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33E5E5-5A57-613A-00DC-55E0F648F7D1}"/>
              </a:ext>
            </a:extLst>
          </p:cNvPr>
          <p:cNvCxnSpPr>
            <a:cxnSpLocks/>
          </p:cNvCxnSpPr>
          <p:nvPr/>
        </p:nvCxnSpPr>
        <p:spPr>
          <a:xfrm flipV="1">
            <a:off x="3360397" y="2581846"/>
            <a:ext cx="0" cy="592223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5F5A07-FA48-1D0A-FAFD-C7E8CEA91918}"/>
              </a:ext>
            </a:extLst>
          </p:cNvPr>
          <p:cNvCxnSpPr>
            <a:cxnSpLocks/>
          </p:cNvCxnSpPr>
          <p:nvPr/>
        </p:nvCxnSpPr>
        <p:spPr>
          <a:xfrm flipV="1">
            <a:off x="5480411" y="2581846"/>
            <a:ext cx="0" cy="592223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D797BB-0B35-B621-4E59-5EEC7F42A11D}"/>
              </a:ext>
            </a:extLst>
          </p:cNvPr>
          <p:cNvCxnSpPr>
            <a:cxnSpLocks/>
          </p:cNvCxnSpPr>
          <p:nvPr/>
        </p:nvCxnSpPr>
        <p:spPr>
          <a:xfrm flipV="1">
            <a:off x="6843320" y="2581846"/>
            <a:ext cx="0" cy="592223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ABAEA4-734E-CBB9-18DA-54A7B55875E5}"/>
              </a:ext>
            </a:extLst>
          </p:cNvPr>
          <p:cNvCxnSpPr>
            <a:cxnSpLocks/>
          </p:cNvCxnSpPr>
          <p:nvPr/>
        </p:nvCxnSpPr>
        <p:spPr>
          <a:xfrm flipV="1">
            <a:off x="7901376" y="2581846"/>
            <a:ext cx="0" cy="592223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6041BD-9AA3-3165-EC81-FF5B51DD103D}"/>
              </a:ext>
            </a:extLst>
          </p:cNvPr>
          <p:cNvCxnSpPr>
            <a:cxnSpLocks/>
          </p:cNvCxnSpPr>
          <p:nvPr/>
        </p:nvCxnSpPr>
        <p:spPr>
          <a:xfrm flipV="1">
            <a:off x="8934847" y="2581846"/>
            <a:ext cx="0" cy="592223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BF2A28-389F-2E33-6728-663275174290}"/>
              </a:ext>
            </a:extLst>
          </p:cNvPr>
          <p:cNvCxnSpPr>
            <a:cxnSpLocks/>
          </p:cNvCxnSpPr>
          <p:nvPr/>
        </p:nvCxnSpPr>
        <p:spPr>
          <a:xfrm>
            <a:off x="6296297" y="2584418"/>
            <a:ext cx="3969438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FBB0582-CA29-D760-97E0-9F314107EE9E}"/>
              </a:ext>
            </a:extLst>
          </p:cNvPr>
          <p:cNvCxnSpPr>
            <a:cxnSpLocks/>
          </p:cNvCxnSpPr>
          <p:nvPr/>
        </p:nvCxnSpPr>
        <p:spPr>
          <a:xfrm flipH="1" flipV="1">
            <a:off x="6488614" y="1942107"/>
            <a:ext cx="5549" cy="64231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F916E84-0EE2-F5E0-0EE9-8FB570264B42}"/>
              </a:ext>
            </a:extLst>
          </p:cNvPr>
          <p:cNvSpPr txBox="1"/>
          <p:nvPr/>
        </p:nvSpPr>
        <p:spPr>
          <a:xfrm>
            <a:off x="8869683" y="2212123"/>
            <a:ext cx="1415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Fleet Level Management NSX VLAN Segment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DD621E-9AA6-E918-D743-11EACCEC8B2D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182753" y="1939985"/>
            <a:ext cx="0" cy="333675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4A3CBA-0A8C-E2EE-92AF-8CFBB957B452}"/>
              </a:ext>
            </a:extLst>
          </p:cNvPr>
          <p:cNvCxnSpPr>
            <a:cxnSpLocks/>
          </p:cNvCxnSpPr>
          <p:nvPr/>
        </p:nvCxnSpPr>
        <p:spPr>
          <a:xfrm flipH="1">
            <a:off x="6491388" y="2273660"/>
            <a:ext cx="691365" cy="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809980D-2A3A-8D38-492E-4EF98E091C0B}"/>
              </a:ext>
            </a:extLst>
          </p:cNvPr>
          <p:cNvSpPr/>
          <p:nvPr/>
        </p:nvSpPr>
        <p:spPr>
          <a:xfrm>
            <a:off x="6794199" y="1556616"/>
            <a:ext cx="777108" cy="38336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Fleet Level Management</a:t>
            </a:r>
          </a:p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VLAN</a:t>
            </a:r>
          </a:p>
        </p:txBody>
      </p:sp>
      <p:sp>
        <p:nvSpPr>
          <p:cNvPr id="19" name="Google Shape;2403;p20">
            <a:extLst>
              <a:ext uri="{FF2B5EF4-FFF2-40B4-BE49-F238E27FC236}">
                <a16:creationId xmlns:a16="http://schemas.microsoft.com/office/drawing/2014/main" id="{0224FCEF-BB6E-71A4-165C-90FA657F4FB2}"/>
              </a:ext>
            </a:extLst>
          </p:cNvPr>
          <p:cNvSpPr/>
          <p:nvPr/>
        </p:nvSpPr>
        <p:spPr>
          <a:xfrm>
            <a:off x="1877448" y="3174069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Collector(s)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0" name="Google Shape;2403;p20">
            <a:extLst>
              <a:ext uri="{FF2B5EF4-FFF2-40B4-BE49-F238E27FC236}">
                <a16:creationId xmlns:a16="http://schemas.microsoft.com/office/drawing/2014/main" id="{C8FE5C91-325F-3FC3-5CA2-61491D49F04A}"/>
              </a:ext>
            </a:extLst>
          </p:cNvPr>
          <p:cNvSpPr/>
          <p:nvPr/>
        </p:nvSpPr>
        <p:spPr>
          <a:xfrm>
            <a:off x="9518838" y="3174069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 Networks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20626A-7CA7-C5B1-74BE-1ADFF0E9928A}"/>
              </a:ext>
            </a:extLst>
          </p:cNvPr>
          <p:cNvCxnSpPr>
            <a:cxnSpLocks/>
          </p:cNvCxnSpPr>
          <p:nvPr/>
        </p:nvCxnSpPr>
        <p:spPr>
          <a:xfrm flipV="1">
            <a:off x="9959117" y="2581846"/>
            <a:ext cx="0" cy="592223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4CF15A-9CB3-372B-5896-59E31A83452C}"/>
              </a:ext>
            </a:extLst>
          </p:cNvPr>
          <p:cNvCxnSpPr>
            <a:cxnSpLocks/>
          </p:cNvCxnSpPr>
          <p:nvPr/>
        </p:nvCxnSpPr>
        <p:spPr>
          <a:xfrm flipV="1">
            <a:off x="2311318" y="2581846"/>
            <a:ext cx="0" cy="592223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20">
            <a:extLst>
              <a:ext uri="{FF2B5EF4-FFF2-40B4-BE49-F238E27FC236}">
                <a16:creationId xmlns:a16="http://schemas.microsoft.com/office/drawing/2014/main" id="{467BA1C7-FF18-522A-B593-D40A3DF3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Fleet Level Components on NSX VLAN Segment Model v1.1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4073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EA1C4F48-01F8-6E45-E87B-E8BA2B35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" name="Rectangle 2478">
            <a:extLst>
              <a:ext uri="{FF2B5EF4-FFF2-40B4-BE49-F238E27FC236}">
                <a16:creationId xmlns:a16="http://schemas.microsoft.com/office/drawing/2014/main" id="{ACD44836-27C6-ED87-CCE4-37795438A028}"/>
              </a:ext>
            </a:extLst>
          </p:cNvPr>
          <p:cNvSpPr/>
          <p:nvPr/>
        </p:nvSpPr>
        <p:spPr>
          <a:xfrm>
            <a:off x="114697" y="910267"/>
            <a:ext cx="11947203" cy="58562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itchFamily="2" charset="77"/>
            </a:endParaRPr>
          </a:p>
        </p:txBody>
      </p:sp>
      <p:sp>
        <p:nvSpPr>
          <p:cNvPr id="2369" name="Rectangle 2368">
            <a:extLst>
              <a:ext uri="{FF2B5EF4-FFF2-40B4-BE49-F238E27FC236}">
                <a16:creationId xmlns:a16="http://schemas.microsoft.com/office/drawing/2014/main" id="{A5DCE6AA-FA9A-B541-0BCE-627906AF5D18}"/>
              </a:ext>
            </a:extLst>
          </p:cNvPr>
          <p:cNvSpPr/>
          <p:nvPr/>
        </p:nvSpPr>
        <p:spPr>
          <a:xfrm>
            <a:off x="1752748" y="1858255"/>
            <a:ext cx="7843660" cy="34291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tropolis" pitchFamily="2" charset="77"/>
            </a:endParaRPr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7A5BCBCC-19D3-8FC5-DFCD-CDA3A063196F}"/>
              </a:ext>
            </a:extLst>
          </p:cNvPr>
          <p:cNvSpPr/>
          <p:nvPr/>
        </p:nvSpPr>
        <p:spPr>
          <a:xfrm>
            <a:off x="6248427" y="1020364"/>
            <a:ext cx="5813413" cy="567885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/>
            <a:r>
              <a:rPr lang="en-GB" sz="900" dirty="0">
                <a:latin typeface="Metropolis" pitchFamily="2" charset="77"/>
              </a:rPr>
              <a:t>VCF Instance 2 – Region B</a:t>
            </a:r>
          </a:p>
        </p:txBody>
      </p:sp>
      <p:sp>
        <p:nvSpPr>
          <p:cNvPr id="2393" name="Rectangle 2392">
            <a:extLst>
              <a:ext uri="{FF2B5EF4-FFF2-40B4-BE49-F238E27FC236}">
                <a16:creationId xmlns:a16="http://schemas.microsoft.com/office/drawing/2014/main" id="{5659223F-E355-AA9F-DD69-676176D6420E}"/>
              </a:ext>
            </a:extLst>
          </p:cNvPr>
          <p:cNvSpPr/>
          <p:nvPr/>
        </p:nvSpPr>
        <p:spPr>
          <a:xfrm>
            <a:off x="1918603" y="1235926"/>
            <a:ext cx="7608125" cy="40515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tropolis" pitchFamily="2" charset="77"/>
            </a:endParaRPr>
          </a:p>
        </p:txBody>
      </p:sp>
      <p:sp>
        <p:nvSpPr>
          <p:cNvPr id="57" name="Google Shape;2403;p20">
            <a:extLst>
              <a:ext uri="{FF2B5EF4-FFF2-40B4-BE49-F238E27FC236}">
                <a16:creationId xmlns:a16="http://schemas.microsoft.com/office/drawing/2014/main" id="{CA045D89-E41A-974B-9C29-B9FA9D4BCE3C}"/>
              </a:ext>
            </a:extLst>
          </p:cNvPr>
          <p:cNvSpPr/>
          <p:nvPr/>
        </p:nvSpPr>
        <p:spPr>
          <a:xfrm>
            <a:off x="7251763" y="1436838"/>
            <a:ext cx="885165" cy="3894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900" dirty="0">
                <a:solidFill>
                  <a:schemeClr val="tx1"/>
                </a:solidFill>
                <a:latin typeface="Metropolis" pitchFamily="2" charset="77"/>
              </a:rPr>
              <a:t>External Connectivity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7A9C006-1C96-F9DC-7C3D-329ED25B5148}"/>
              </a:ext>
            </a:extLst>
          </p:cNvPr>
          <p:cNvCxnSpPr>
            <a:cxnSpLocks/>
          </p:cNvCxnSpPr>
          <p:nvPr/>
        </p:nvCxnSpPr>
        <p:spPr>
          <a:xfrm flipV="1">
            <a:off x="8035560" y="1832777"/>
            <a:ext cx="0" cy="1345019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43EDA3F-9001-EA16-51F7-3F8C489BE335}"/>
              </a:ext>
            </a:extLst>
          </p:cNvPr>
          <p:cNvSpPr txBox="1"/>
          <p:nvPr/>
        </p:nvSpPr>
        <p:spPr>
          <a:xfrm>
            <a:off x="10834607" y="2701169"/>
            <a:ext cx="1017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VM Management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Port Group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D3DD001-9AA6-7076-6981-D191FE7E514E}"/>
              </a:ext>
            </a:extLst>
          </p:cNvPr>
          <p:cNvSpPr/>
          <p:nvPr/>
        </p:nvSpPr>
        <p:spPr>
          <a:xfrm>
            <a:off x="8302781" y="1436838"/>
            <a:ext cx="758906" cy="389482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VM Management</a:t>
            </a:r>
          </a:p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VLAN</a:t>
            </a:r>
          </a:p>
        </p:txBody>
      </p:sp>
      <p:cxnSp>
        <p:nvCxnSpPr>
          <p:cNvPr id="2370" name="Straight Connector 2369">
            <a:extLst>
              <a:ext uri="{FF2B5EF4-FFF2-40B4-BE49-F238E27FC236}">
                <a16:creationId xmlns:a16="http://schemas.microsoft.com/office/drawing/2014/main" id="{14FD0C05-4472-3FDE-96B0-00F1ADA28DE5}"/>
              </a:ext>
            </a:extLst>
          </p:cNvPr>
          <p:cNvCxnSpPr>
            <a:cxnSpLocks/>
          </p:cNvCxnSpPr>
          <p:nvPr/>
        </p:nvCxnSpPr>
        <p:spPr>
          <a:xfrm>
            <a:off x="8657296" y="1825102"/>
            <a:ext cx="0" cy="21206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1" name="Straight Arrow Connector 2370">
            <a:extLst>
              <a:ext uri="{FF2B5EF4-FFF2-40B4-BE49-F238E27FC236}">
                <a16:creationId xmlns:a16="http://schemas.microsoft.com/office/drawing/2014/main" id="{C479D64D-2283-B858-B57D-2B09D9279B8E}"/>
              </a:ext>
            </a:extLst>
          </p:cNvPr>
          <p:cNvCxnSpPr>
            <a:cxnSpLocks/>
          </p:cNvCxnSpPr>
          <p:nvPr/>
        </p:nvCxnSpPr>
        <p:spPr>
          <a:xfrm flipH="1">
            <a:off x="8041047" y="2037169"/>
            <a:ext cx="61625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4" name="Straight Connector 2373">
            <a:extLst>
              <a:ext uri="{FF2B5EF4-FFF2-40B4-BE49-F238E27FC236}">
                <a16:creationId xmlns:a16="http://schemas.microsoft.com/office/drawing/2014/main" id="{0FDB9F18-3CCD-C72C-CA84-505D6CF5BE1E}"/>
              </a:ext>
            </a:extLst>
          </p:cNvPr>
          <p:cNvCxnSpPr>
            <a:cxnSpLocks/>
            <a:stCxn id="2377" idx="2"/>
          </p:cNvCxnSpPr>
          <p:nvPr/>
        </p:nvCxnSpPr>
        <p:spPr>
          <a:xfrm>
            <a:off x="6731392" y="1813861"/>
            <a:ext cx="0" cy="204285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5" name="Straight Arrow Connector 2374">
            <a:extLst>
              <a:ext uri="{FF2B5EF4-FFF2-40B4-BE49-F238E27FC236}">
                <a16:creationId xmlns:a16="http://schemas.microsoft.com/office/drawing/2014/main" id="{E2F97529-E574-A8D8-D33C-8D12CC8A828E}"/>
              </a:ext>
            </a:extLst>
          </p:cNvPr>
          <p:cNvCxnSpPr>
            <a:cxnSpLocks/>
          </p:cNvCxnSpPr>
          <p:nvPr/>
        </p:nvCxnSpPr>
        <p:spPr>
          <a:xfrm>
            <a:off x="6731392" y="2018146"/>
            <a:ext cx="650429" cy="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7" name="Rectangle 2376">
            <a:extLst>
              <a:ext uri="{FF2B5EF4-FFF2-40B4-BE49-F238E27FC236}">
                <a16:creationId xmlns:a16="http://schemas.microsoft.com/office/drawing/2014/main" id="{6AC54D3D-F890-CA42-0592-84BC224D8857}"/>
              </a:ext>
            </a:extLst>
          </p:cNvPr>
          <p:cNvSpPr/>
          <p:nvPr/>
        </p:nvSpPr>
        <p:spPr>
          <a:xfrm>
            <a:off x="6376877" y="1424379"/>
            <a:ext cx="709031" cy="38948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Edge Uplinks/TEP VLANs</a:t>
            </a:r>
          </a:p>
        </p:txBody>
      </p:sp>
      <p:cxnSp>
        <p:nvCxnSpPr>
          <p:cNvPr id="2378" name="Straight Connector 2377">
            <a:extLst>
              <a:ext uri="{FF2B5EF4-FFF2-40B4-BE49-F238E27FC236}">
                <a16:creationId xmlns:a16="http://schemas.microsoft.com/office/drawing/2014/main" id="{0EFB39DE-CACD-746D-0976-E92431C8B379}"/>
              </a:ext>
            </a:extLst>
          </p:cNvPr>
          <p:cNvCxnSpPr>
            <a:cxnSpLocks/>
          </p:cNvCxnSpPr>
          <p:nvPr/>
        </p:nvCxnSpPr>
        <p:spPr>
          <a:xfrm flipV="1">
            <a:off x="7381821" y="1831239"/>
            <a:ext cx="0" cy="72584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2" name="Rectangle 2391">
            <a:extLst>
              <a:ext uri="{FF2B5EF4-FFF2-40B4-BE49-F238E27FC236}">
                <a16:creationId xmlns:a16="http://schemas.microsoft.com/office/drawing/2014/main" id="{071BF230-8E18-AAB5-EAD5-A79DCF427504}"/>
              </a:ext>
            </a:extLst>
          </p:cNvPr>
          <p:cNvSpPr/>
          <p:nvPr/>
        </p:nvSpPr>
        <p:spPr>
          <a:xfrm>
            <a:off x="7227798" y="1946984"/>
            <a:ext cx="743839" cy="23539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BGP Routing</a:t>
            </a:r>
          </a:p>
        </p:txBody>
      </p:sp>
      <p:cxnSp>
        <p:nvCxnSpPr>
          <p:cNvPr id="2445" name="Straight Connector 2444">
            <a:extLst>
              <a:ext uri="{FF2B5EF4-FFF2-40B4-BE49-F238E27FC236}">
                <a16:creationId xmlns:a16="http://schemas.microsoft.com/office/drawing/2014/main" id="{65165B93-3C5D-34DC-303A-688DEB87ACFA}"/>
              </a:ext>
            </a:extLst>
          </p:cNvPr>
          <p:cNvCxnSpPr>
            <a:cxnSpLocks/>
          </p:cNvCxnSpPr>
          <p:nvPr/>
        </p:nvCxnSpPr>
        <p:spPr>
          <a:xfrm>
            <a:off x="7900867" y="3177691"/>
            <a:ext cx="394050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6" name="Google Shape;1641;p6">
            <a:extLst>
              <a:ext uri="{FF2B5EF4-FFF2-40B4-BE49-F238E27FC236}">
                <a16:creationId xmlns:a16="http://schemas.microsoft.com/office/drawing/2014/main" id="{9D47E145-227E-E134-4E40-C0F80E85A63D}"/>
              </a:ext>
            </a:extLst>
          </p:cNvPr>
          <p:cNvSpPr/>
          <p:nvPr/>
        </p:nvSpPr>
        <p:spPr>
          <a:xfrm>
            <a:off x="7681714" y="3341862"/>
            <a:ext cx="4273801" cy="1147020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etropolis" pitchFamily="2" charset="77"/>
              </a:rPr>
              <a:t>Management VMs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447" name="Google Shape;2402;p20">
            <a:extLst>
              <a:ext uri="{FF2B5EF4-FFF2-40B4-BE49-F238E27FC236}">
                <a16:creationId xmlns:a16="http://schemas.microsoft.com/office/drawing/2014/main" id="{A3F3D827-83DC-377B-8532-75C743BA1F47}"/>
              </a:ext>
            </a:extLst>
          </p:cNvPr>
          <p:cNvSpPr/>
          <p:nvPr/>
        </p:nvSpPr>
        <p:spPr>
          <a:xfrm>
            <a:off x="9912694" y="3604097"/>
            <a:ext cx="885165" cy="60198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vCenter(s)</a:t>
            </a:r>
          </a:p>
        </p:txBody>
      </p:sp>
      <p:sp>
        <p:nvSpPr>
          <p:cNvPr id="2448" name="Google Shape;2402;p20">
            <a:extLst>
              <a:ext uri="{FF2B5EF4-FFF2-40B4-BE49-F238E27FC236}">
                <a16:creationId xmlns:a16="http://schemas.microsoft.com/office/drawing/2014/main" id="{3DD750A4-61AA-D20E-B92A-B119B7C2FB72}"/>
              </a:ext>
            </a:extLst>
          </p:cNvPr>
          <p:cNvSpPr/>
          <p:nvPr/>
        </p:nvSpPr>
        <p:spPr>
          <a:xfrm>
            <a:off x="8861273" y="3604097"/>
            <a:ext cx="885165" cy="60198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NSX Local/Global Manager(s)</a:t>
            </a:r>
            <a:endParaRPr lang="en-US" sz="800" dirty="0">
              <a:latin typeface="Metropolis" pitchFamily="2" charset="77"/>
            </a:endParaRPr>
          </a:p>
        </p:txBody>
      </p:sp>
      <p:sp>
        <p:nvSpPr>
          <p:cNvPr id="2449" name="Google Shape;2402;p20">
            <a:extLst>
              <a:ext uri="{FF2B5EF4-FFF2-40B4-BE49-F238E27FC236}">
                <a16:creationId xmlns:a16="http://schemas.microsoft.com/office/drawing/2014/main" id="{7599612B-E196-01F3-2F6A-D2EBDC0D450E}"/>
              </a:ext>
            </a:extLst>
          </p:cNvPr>
          <p:cNvSpPr/>
          <p:nvPr/>
        </p:nvSpPr>
        <p:spPr>
          <a:xfrm>
            <a:off x="10956208" y="3604097"/>
            <a:ext cx="885165" cy="60198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Collector(s)</a:t>
            </a:r>
          </a:p>
        </p:txBody>
      </p:sp>
      <p:cxnSp>
        <p:nvCxnSpPr>
          <p:cNvPr id="2450" name="Straight Connector 2449">
            <a:extLst>
              <a:ext uri="{FF2B5EF4-FFF2-40B4-BE49-F238E27FC236}">
                <a16:creationId xmlns:a16="http://schemas.microsoft.com/office/drawing/2014/main" id="{13BE6BCC-32F8-1CB5-85EF-F87B1379C793}"/>
              </a:ext>
            </a:extLst>
          </p:cNvPr>
          <p:cNvCxnSpPr>
            <a:cxnSpLocks/>
            <a:stCxn id="2447" idx="0"/>
          </p:cNvCxnSpPr>
          <p:nvPr/>
        </p:nvCxnSpPr>
        <p:spPr>
          <a:xfrm flipV="1">
            <a:off x="10355276" y="3171053"/>
            <a:ext cx="0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1" name="Straight Connector 2450">
            <a:extLst>
              <a:ext uri="{FF2B5EF4-FFF2-40B4-BE49-F238E27FC236}">
                <a16:creationId xmlns:a16="http://schemas.microsoft.com/office/drawing/2014/main" id="{5474BE40-A8E4-894F-6CC7-DD837653358D}"/>
              </a:ext>
            </a:extLst>
          </p:cNvPr>
          <p:cNvCxnSpPr>
            <a:cxnSpLocks/>
          </p:cNvCxnSpPr>
          <p:nvPr/>
        </p:nvCxnSpPr>
        <p:spPr>
          <a:xfrm flipV="1">
            <a:off x="9311305" y="3171053"/>
            <a:ext cx="0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2" name="Straight Connector 2451">
            <a:extLst>
              <a:ext uri="{FF2B5EF4-FFF2-40B4-BE49-F238E27FC236}">
                <a16:creationId xmlns:a16="http://schemas.microsoft.com/office/drawing/2014/main" id="{D7B1C738-AA33-6FB8-8F29-769A7E481D84}"/>
              </a:ext>
            </a:extLst>
          </p:cNvPr>
          <p:cNvCxnSpPr>
            <a:cxnSpLocks/>
          </p:cNvCxnSpPr>
          <p:nvPr/>
        </p:nvCxnSpPr>
        <p:spPr>
          <a:xfrm flipH="1" flipV="1">
            <a:off x="11395866" y="3171053"/>
            <a:ext cx="2926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3" name="Google Shape;2403;p20">
            <a:extLst>
              <a:ext uri="{FF2B5EF4-FFF2-40B4-BE49-F238E27FC236}">
                <a16:creationId xmlns:a16="http://schemas.microsoft.com/office/drawing/2014/main" id="{D455BCA7-FC76-1A21-416A-95BCFF8B9F2A}"/>
              </a:ext>
            </a:extLst>
          </p:cNvPr>
          <p:cNvSpPr/>
          <p:nvPr/>
        </p:nvSpPr>
        <p:spPr>
          <a:xfrm>
            <a:off x="7833885" y="3604097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SDDC Manager</a:t>
            </a:r>
          </a:p>
        </p:txBody>
      </p:sp>
      <p:cxnSp>
        <p:nvCxnSpPr>
          <p:cNvPr id="2454" name="Straight Connector 2453">
            <a:extLst>
              <a:ext uri="{FF2B5EF4-FFF2-40B4-BE49-F238E27FC236}">
                <a16:creationId xmlns:a16="http://schemas.microsoft.com/office/drawing/2014/main" id="{A956D808-7627-60EC-AB51-2A9080F2AF77}"/>
              </a:ext>
            </a:extLst>
          </p:cNvPr>
          <p:cNvCxnSpPr>
            <a:cxnSpLocks/>
          </p:cNvCxnSpPr>
          <p:nvPr/>
        </p:nvCxnSpPr>
        <p:spPr>
          <a:xfrm flipV="1">
            <a:off x="8249756" y="3177691"/>
            <a:ext cx="0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9" name="Straight Connector 2468">
            <a:extLst>
              <a:ext uri="{FF2B5EF4-FFF2-40B4-BE49-F238E27FC236}">
                <a16:creationId xmlns:a16="http://schemas.microsoft.com/office/drawing/2014/main" id="{3CED9F40-4B4A-E50C-ADBF-7B2D0DD6365B}"/>
              </a:ext>
            </a:extLst>
          </p:cNvPr>
          <p:cNvCxnSpPr>
            <a:cxnSpLocks/>
          </p:cNvCxnSpPr>
          <p:nvPr/>
        </p:nvCxnSpPr>
        <p:spPr>
          <a:xfrm>
            <a:off x="7691888" y="1235926"/>
            <a:ext cx="0" cy="2009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3" name="TextBox 2472">
            <a:extLst>
              <a:ext uri="{FF2B5EF4-FFF2-40B4-BE49-F238E27FC236}">
                <a16:creationId xmlns:a16="http://schemas.microsoft.com/office/drawing/2014/main" id="{DD079F39-B78F-38C7-5B8F-4F3F2F473CD9}"/>
              </a:ext>
            </a:extLst>
          </p:cNvPr>
          <p:cNvSpPr txBox="1"/>
          <p:nvPr/>
        </p:nvSpPr>
        <p:spPr>
          <a:xfrm>
            <a:off x="10247237" y="6422549"/>
            <a:ext cx="1826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*</a:t>
            </a:r>
            <a:r>
              <a:rPr lang="en-US" sz="800" dirty="0">
                <a:latin typeface="Metropolis" pitchFamily="2" charset="77"/>
                <a:cs typeface="Arial" panose="020B0604020202020204" pitchFamily="34" charset="0"/>
              </a:rPr>
              <a:t>Requires VMware Live Recovery </a:t>
            </a:r>
          </a:p>
        </p:txBody>
      </p:sp>
      <p:sp>
        <p:nvSpPr>
          <p:cNvPr id="2482" name="Google Shape;1641;p6">
            <a:extLst>
              <a:ext uri="{FF2B5EF4-FFF2-40B4-BE49-F238E27FC236}">
                <a16:creationId xmlns:a16="http://schemas.microsoft.com/office/drawing/2014/main" id="{41BF3735-5FA7-2151-FEED-CFFECC8D1D3B}"/>
              </a:ext>
            </a:extLst>
          </p:cNvPr>
          <p:cNvSpPr/>
          <p:nvPr/>
        </p:nvSpPr>
        <p:spPr>
          <a:xfrm>
            <a:off x="179957" y="1020364"/>
            <a:ext cx="5966057" cy="567885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/>
            <a:r>
              <a:rPr lang="en-GB" sz="900" dirty="0">
                <a:latin typeface="Metropolis" pitchFamily="2" charset="77"/>
              </a:rPr>
              <a:t>VCF Instance 1 – Region 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C7DE7B-B645-7BE9-84E9-716FC7E08A9E}"/>
              </a:ext>
            </a:extLst>
          </p:cNvPr>
          <p:cNvCxnSpPr>
            <a:cxnSpLocks/>
          </p:cNvCxnSpPr>
          <p:nvPr/>
        </p:nvCxnSpPr>
        <p:spPr>
          <a:xfrm>
            <a:off x="328813" y="3149083"/>
            <a:ext cx="40664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1641;p6">
            <a:extLst>
              <a:ext uri="{FF2B5EF4-FFF2-40B4-BE49-F238E27FC236}">
                <a16:creationId xmlns:a16="http://schemas.microsoft.com/office/drawing/2014/main" id="{6C60364A-0A48-CB6A-0F34-51B4C126C17B}"/>
              </a:ext>
            </a:extLst>
          </p:cNvPr>
          <p:cNvSpPr/>
          <p:nvPr/>
        </p:nvSpPr>
        <p:spPr>
          <a:xfrm>
            <a:off x="290132" y="3313255"/>
            <a:ext cx="4260255" cy="1147020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etropolis" pitchFamily="2" charset="77"/>
              </a:rPr>
              <a:t>Management VMs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409" name="Google Shape;2402;p20">
            <a:extLst>
              <a:ext uri="{FF2B5EF4-FFF2-40B4-BE49-F238E27FC236}">
                <a16:creationId xmlns:a16="http://schemas.microsoft.com/office/drawing/2014/main" id="{22F41511-B4B6-8EC2-24FF-BCD4FC6CF920}"/>
              </a:ext>
            </a:extLst>
          </p:cNvPr>
          <p:cNvSpPr/>
          <p:nvPr/>
        </p:nvSpPr>
        <p:spPr>
          <a:xfrm>
            <a:off x="2466574" y="3575490"/>
            <a:ext cx="885165" cy="60198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NSX Local/Global Manager(s)</a:t>
            </a:r>
            <a:endParaRPr lang="en-US" sz="800" dirty="0">
              <a:latin typeface="Metropolis" pitchFamily="2" charset="77"/>
            </a:endParaRPr>
          </a:p>
        </p:txBody>
      </p:sp>
      <p:sp>
        <p:nvSpPr>
          <p:cNvPr id="11" name="Google Shape;2402;p20">
            <a:extLst>
              <a:ext uri="{FF2B5EF4-FFF2-40B4-BE49-F238E27FC236}">
                <a16:creationId xmlns:a16="http://schemas.microsoft.com/office/drawing/2014/main" id="{5F315736-9717-8117-95CA-A68E0C7A0060}"/>
              </a:ext>
            </a:extLst>
          </p:cNvPr>
          <p:cNvSpPr/>
          <p:nvPr/>
        </p:nvSpPr>
        <p:spPr>
          <a:xfrm>
            <a:off x="1415154" y="3575490"/>
            <a:ext cx="885165" cy="60198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vCenter(s)</a:t>
            </a:r>
          </a:p>
        </p:txBody>
      </p:sp>
      <p:sp>
        <p:nvSpPr>
          <p:cNvPr id="12" name="Google Shape;2402;p20">
            <a:extLst>
              <a:ext uri="{FF2B5EF4-FFF2-40B4-BE49-F238E27FC236}">
                <a16:creationId xmlns:a16="http://schemas.microsoft.com/office/drawing/2014/main" id="{84014146-5619-EDD0-FD5D-AE762C477A58}"/>
              </a:ext>
            </a:extLst>
          </p:cNvPr>
          <p:cNvSpPr/>
          <p:nvPr/>
        </p:nvSpPr>
        <p:spPr>
          <a:xfrm>
            <a:off x="3510090" y="3575490"/>
            <a:ext cx="885165" cy="60198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SDDC Manager</a:t>
            </a:r>
          </a:p>
        </p:txBody>
      </p:sp>
      <p:sp>
        <p:nvSpPr>
          <p:cNvPr id="18" name="Google Shape;2403;p20">
            <a:extLst>
              <a:ext uri="{FF2B5EF4-FFF2-40B4-BE49-F238E27FC236}">
                <a16:creationId xmlns:a16="http://schemas.microsoft.com/office/drawing/2014/main" id="{7E31F3A3-D221-25FB-1EE9-9C2DEA03344C}"/>
              </a:ext>
            </a:extLst>
          </p:cNvPr>
          <p:cNvSpPr/>
          <p:nvPr/>
        </p:nvSpPr>
        <p:spPr>
          <a:xfrm>
            <a:off x="4173963" y="1417654"/>
            <a:ext cx="885165" cy="3894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900" dirty="0">
                <a:solidFill>
                  <a:schemeClr val="tx1"/>
                </a:solidFill>
                <a:latin typeface="Metropolis" pitchFamily="2" charset="77"/>
              </a:rPr>
              <a:t>External Connectivity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34CD8F0-647F-25EF-C1D1-D2C4D669C3E2}"/>
              </a:ext>
            </a:extLst>
          </p:cNvPr>
          <p:cNvCxnSpPr>
            <a:cxnSpLocks/>
            <a:stCxn id="2409" idx="0"/>
          </p:cNvCxnSpPr>
          <p:nvPr/>
        </p:nvCxnSpPr>
        <p:spPr>
          <a:xfrm flipV="1">
            <a:off x="2909156" y="3142446"/>
            <a:ext cx="0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500D3AC-6810-82AA-C8FA-7919316558C7}"/>
              </a:ext>
            </a:extLst>
          </p:cNvPr>
          <p:cNvCxnSpPr>
            <a:cxnSpLocks/>
          </p:cNvCxnSpPr>
          <p:nvPr/>
        </p:nvCxnSpPr>
        <p:spPr>
          <a:xfrm flipV="1">
            <a:off x="4301338" y="1807137"/>
            <a:ext cx="0" cy="1341946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A6B0A3D-6333-A5F0-5391-447A8850F595}"/>
              </a:ext>
            </a:extLst>
          </p:cNvPr>
          <p:cNvSpPr txBox="1"/>
          <p:nvPr/>
        </p:nvSpPr>
        <p:spPr>
          <a:xfrm>
            <a:off x="387306" y="2698573"/>
            <a:ext cx="1044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VM Management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Port Group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63A1676-1467-F4C0-1F24-6F871B114FFC}"/>
              </a:ext>
            </a:extLst>
          </p:cNvPr>
          <p:cNvSpPr/>
          <p:nvPr/>
        </p:nvSpPr>
        <p:spPr>
          <a:xfrm>
            <a:off x="3255248" y="1407511"/>
            <a:ext cx="747848" cy="389482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VM Management</a:t>
            </a:r>
          </a:p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VLAN</a:t>
            </a:r>
          </a:p>
        </p:txBody>
      </p:sp>
      <p:cxnSp>
        <p:nvCxnSpPr>
          <p:cNvPr id="2376" name="Straight Connector 2375">
            <a:extLst>
              <a:ext uri="{FF2B5EF4-FFF2-40B4-BE49-F238E27FC236}">
                <a16:creationId xmlns:a16="http://schemas.microsoft.com/office/drawing/2014/main" id="{1B78F90F-CA34-04D0-608F-49E3BE07C2A5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3629172" y="1796993"/>
            <a:ext cx="0" cy="21701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4" name="Straight Arrow Connector 2383">
            <a:extLst>
              <a:ext uri="{FF2B5EF4-FFF2-40B4-BE49-F238E27FC236}">
                <a16:creationId xmlns:a16="http://schemas.microsoft.com/office/drawing/2014/main" id="{7CC0EF1D-0BAD-9D00-B8A0-0F0A015253BE}"/>
              </a:ext>
            </a:extLst>
          </p:cNvPr>
          <p:cNvCxnSpPr>
            <a:cxnSpLocks/>
          </p:cNvCxnSpPr>
          <p:nvPr/>
        </p:nvCxnSpPr>
        <p:spPr>
          <a:xfrm>
            <a:off x="3631167" y="2018146"/>
            <a:ext cx="67017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806C34-4F24-7F6B-B647-92C3C0335DE1}"/>
              </a:ext>
            </a:extLst>
          </p:cNvPr>
          <p:cNvCxnSpPr>
            <a:cxnSpLocks/>
          </p:cNvCxnSpPr>
          <p:nvPr/>
        </p:nvCxnSpPr>
        <p:spPr>
          <a:xfrm flipV="1">
            <a:off x="1865186" y="3142446"/>
            <a:ext cx="0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8BC6B9-1E6D-11A0-E375-0702A26B0921}"/>
              </a:ext>
            </a:extLst>
          </p:cNvPr>
          <p:cNvCxnSpPr>
            <a:cxnSpLocks/>
          </p:cNvCxnSpPr>
          <p:nvPr/>
        </p:nvCxnSpPr>
        <p:spPr>
          <a:xfrm flipH="1" flipV="1">
            <a:off x="3949746" y="3142446"/>
            <a:ext cx="2926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CD1C96-98D8-AC04-DC2F-71F6BA9ECF4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582160" y="1795637"/>
            <a:ext cx="0" cy="215719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802F5E-FA2D-EFEA-33B2-6D7DA1FC6B9C}"/>
              </a:ext>
            </a:extLst>
          </p:cNvPr>
          <p:cNvCxnSpPr>
            <a:cxnSpLocks/>
          </p:cNvCxnSpPr>
          <p:nvPr/>
        </p:nvCxnSpPr>
        <p:spPr>
          <a:xfrm flipH="1">
            <a:off x="4923165" y="2011356"/>
            <a:ext cx="665598" cy="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7254A75-7E64-CD0B-BF11-9D7305BA2C96}"/>
              </a:ext>
            </a:extLst>
          </p:cNvPr>
          <p:cNvSpPr/>
          <p:nvPr/>
        </p:nvSpPr>
        <p:spPr>
          <a:xfrm>
            <a:off x="5227643" y="1406155"/>
            <a:ext cx="709031" cy="38948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Edge Uplinks/TEP VLANs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6AF745-2E4D-9C15-7F92-93D644AC38BE}"/>
              </a:ext>
            </a:extLst>
          </p:cNvPr>
          <p:cNvCxnSpPr>
            <a:cxnSpLocks/>
          </p:cNvCxnSpPr>
          <p:nvPr/>
        </p:nvCxnSpPr>
        <p:spPr>
          <a:xfrm flipH="1" flipV="1">
            <a:off x="4923165" y="1808879"/>
            <a:ext cx="3770" cy="801378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DA80936-8702-609D-4422-32BC4CE42C63}"/>
              </a:ext>
            </a:extLst>
          </p:cNvPr>
          <p:cNvSpPr/>
          <p:nvPr/>
        </p:nvSpPr>
        <p:spPr>
          <a:xfrm>
            <a:off x="4353963" y="1990509"/>
            <a:ext cx="743839" cy="23539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BGP</a:t>
            </a:r>
          </a:p>
          <a:p>
            <a:pPr lvl="1"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Routing</a:t>
            </a:r>
          </a:p>
        </p:txBody>
      </p:sp>
      <p:cxnSp>
        <p:nvCxnSpPr>
          <p:cNvPr id="2391" name="Straight Connector 2390">
            <a:extLst>
              <a:ext uri="{FF2B5EF4-FFF2-40B4-BE49-F238E27FC236}">
                <a16:creationId xmlns:a16="http://schemas.microsoft.com/office/drawing/2014/main" id="{F746C4CB-A58F-F204-DB5B-78500C407E60}"/>
              </a:ext>
            </a:extLst>
          </p:cNvPr>
          <p:cNvCxnSpPr>
            <a:cxnSpLocks/>
          </p:cNvCxnSpPr>
          <p:nvPr/>
        </p:nvCxnSpPr>
        <p:spPr>
          <a:xfrm flipV="1">
            <a:off x="4939144" y="4100000"/>
            <a:ext cx="0" cy="969934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2403;p20">
            <a:extLst>
              <a:ext uri="{FF2B5EF4-FFF2-40B4-BE49-F238E27FC236}">
                <a16:creationId xmlns:a16="http://schemas.microsoft.com/office/drawing/2014/main" id="{1FFB6339-3DF4-E6B8-18C2-6BCFD8C69D58}"/>
              </a:ext>
            </a:extLst>
          </p:cNvPr>
          <p:cNvSpPr/>
          <p:nvPr/>
        </p:nvSpPr>
        <p:spPr>
          <a:xfrm>
            <a:off x="387765" y="3575490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Collector(s)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C06D52-25CE-FD35-9BF8-C761BBB966AC}"/>
              </a:ext>
            </a:extLst>
          </p:cNvPr>
          <p:cNvCxnSpPr>
            <a:cxnSpLocks/>
          </p:cNvCxnSpPr>
          <p:nvPr/>
        </p:nvCxnSpPr>
        <p:spPr>
          <a:xfrm flipV="1">
            <a:off x="803637" y="3149083"/>
            <a:ext cx="0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CF3EF3B-81D0-6647-C2D3-5571919FD1F8}"/>
              </a:ext>
            </a:extLst>
          </p:cNvPr>
          <p:cNvCxnSpPr>
            <a:cxnSpLocks/>
          </p:cNvCxnSpPr>
          <p:nvPr/>
        </p:nvCxnSpPr>
        <p:spPr>
          <a:xfrm flipV="1">
            <a:off x="4939144" y="3043511"/>
            <a:ext cx="0" cy="478918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4" name="Straight Connector 2463">
            <a:extLst>
              <a:ext uri="{FF2B5EF4-FFF2-40B4-BE49-F238E27FC236}">
                <a16:creationId xmlns:a16="http://schemas.microsoft.com/office/drawing/2014/main" id="{CD3E4D6A-B1F7-E2CF-A51C-8AF5D4D0142E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4616545" y="1234985"/>
            <a:ext cx="0" cy="1826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4" name="Rectangle 2413">
            <a:extLst>
              <a:ext uri="{FF2B5EF4-FFF2-40B4-BE49-F238E27FC236}">
                <a16:creationId xmlns:a16="http://schemas.microsoft.com/office/drawing/2014/main" id="{8F3DEFF6-ED30-B10B-A97A-A193E2E6F5D4}"/>
              </a:ext>
            </a:extLst>
          </p:cNvPr>
          <p:cNvSpPr/>
          <p:nvPr/>
        </p:nvSpPr>
        <p:spPr>
          <a:xfrm>
            <a:off x="4788910" y="2561234"/>
            <a:ext cx="2704000" cy="568661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tropolis" pitchFamily="2" charset="77"/>
            </a:endParaRPr>
          </a:p>
        </p:txBody>
      </p:sp>
      <p:sp>
        <p:nvSpPr>
          <p:cNvPr id="2368" name="Google Shape;1141;p82">
            <a:extLst>
              <a:ext uri="{FF2B5EF4-FFF2-40B4-BE49-F238E27FC236}">
                <a16:creationId xmlns:a16="http://schemas.microsoft.com/office/drawing/2014/main" id="{6AE7931F-65BF-9F52-D7E8-CAFFB2B30723}"/>
              </a:ext>
            </a:extLst>
          </p:cNvPr>
          <p:cNvSpPr/>
          <p:nvPr/>
        </p:nvSpPr>
        <p:spPr>
          <a:xfrm>
            <a:off x="4855447" y="2712048"/>
            <a:ext cx="1025842" cy="24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Stretched </a:t>
            </a: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Tier-0 Gateway</a:t>
            </a:r>
            <a:endParaRPr sz="8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3" name="Google Shape;1139;p82">
            <a:extLst>
              <a:ext uri="{FF2B5EF4-FFF2-40B4-BE49-F238E27FC236}">
                <a16:creationId xmlns:a16="http://schemas.microsoft.com/office/drawing/2014/main" id="{20D4BF87-FD7F-138B-E69F-5026CDF1CF9A}"/>
              </a:ext>
            </a:extLst>
          </p:cNvPr>
          <p:cNvSpPr/>
          <p:nvPr/>
        </p:nvSpPr>
        <p:spPr>
          <a:xfrm>
            <a:off x="5918207" y="2618281"/>
            <a:ext cx="466136" cy="452870"/>
          </a:xfrm>
          <a:custGeom>
            <a:avLst/>
            <a:gdLst/>
            <a:ahLst/>
            <a:cxnLst/>
            <a:rect l="l" t="t" r="r" b="b"/>
            <a:pathLst>
              <a:path w="600837" h="602089" extrusionOk="0">
                <a:moveTo>
                  <a:pt x="300419" y="15844"/>
                </a:moveTo>
                <a:cubicBezTo>
                  <a:pt x="457603" y="15844"/>
                  <a:pt x="585026" y="143533"/>
                  <a:pt x="585026" y="301045"/>
                </a:cubicBezTo>
                <a:cubicBezTo>
                  <a:pt x="585026" y="458556"/>
                  <a:pt x="457603" y="586245"/>
                  <a:pt x="300419" y="586245"/>
                </a:cubicBezTo>
                <a:cubicBezTo>
                  <a:pt x="143234" y="586245"/>
                  <a:pt x="15812" y="458556"/>
                  <a:pt x="15812" y="301045"/>
                </a:cubicBezTo>
                <a:cubicBezTo>
                  <a:pt x="15986" y="143605"/>
                  <a:pt x="143307" y="16019"/>
                  <a:pt x="300419" y="15844"/>
                </a:cubicBezTo>
                <a:moveTo>
                  <a:pt x="300419" y="0"/>
                </a:moveTo>
                <a:cubicBezTo>
                  <a:pt x="134502" y="0"/>
                  <a:pt x="0" y="134782"/>
                  <a:pt x="0" y="301045"/>
                </a:cubicBezTo>
                <a:cubicBezTo>
                  <a:pt x="0" y="467307"/>
                  <a:pt x="134502" y="602089"/>
                  <a:pt x="300419" y="602089"/>
                </a:cubicBezTo>
                <a:cubicBezTo>
                  <a:pt x="466335" y="602089"/>
                  <a:pt x="600837" y="467307"/>
                  <a:pt x="600837" y="301045"/>
                </a:cubicBezTo>
                <a:cubicBezTo>
                  <a:pt x="600837" y="134782"/>
                  <a:pt x="466335" y="0"/>
                  <a:pt x="3004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17074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5" name="Google Shape;1140;p82">
            <a:extLst>
              <a:ext uri="{FF2B5EF4-FFF2-40B4-BE49-F238E27FC236}">
                <a16:creationId xmlns:a16="http://schemas.microsoft.com/office/drawing/2014/main" id="{9ECB904B-7F69-1EDC-65F4-04805BBB2627}"/>
              </a:ext>
            </a:extLst>
          </p:cNvPr>
          <p:cNvSpPr/>
          <p:nvPr/>
        </p:nvSpPr>
        <p:spPr>
          <a:xfrm>
            <a:off x="5974757" y="2657222"/>
            <a:ext cx="332231" cy="332216"/>
          </a:xfrm>
          <a:custGeom>
            <a:avLst/>
            <a:gdLst/>
            <a:ahLst/>
            <a:cxnLst/>
            <a:rect l="l" t="t" r="r" b="b"/>
            <a:pathLst>
              <a:path w="428238" h="441680" extrusionOk="0">
                <a:moveTo>
                  <a:pt x="190623" y="266631"/>
                </a:moveTo>
                <a:lnTo>
                  <a:pt x="190876" y="298319"/>
                </a:lnTo>
                <a:lnTo>
                  <a:pt x="354620" y="296925"/>
                </a:lnTo>
                <a:lnTo>
                  <a:pt x="354810" y="323797"/>
                </a:lnTo>
                <a:lnTo>
                  <a:pt x="428239" y="280510"/>
                </a:lnTo>
                <a:lnTo>
                  <a:pt x="354114" y="238427"/>
                </a:lnTo>
                <a:lnTo>
                  <a:pt x="354367" y="265236"/>
                </a:lnTo>
                <a:lnTo>
                  <a:pt x="293651" y="265743"/>
                </a:lnTo>
                <a:lnTo>
                  <a:pt x="293651" y="73899"/>
                </a:lnTo>
                <a:lnTo>
                  <a:pt x="320404" y="73899"/>
                </a:lnTo>
                <a:lnTo>
                  <a:pt x="277840" y="0"/>
                </a:lnTo>
                <a:lnTo>
                  <a:pt x="235212" y="73899"/>
                </a:lnTo>
                <a:lnTo>
                  <a:pt x="262028" y="73899"/>
                </a:lnTo>
                <a:lnTo>
                  <a:pt x="262028" y="145325"/>
                </a:lnTo>
                <a:lnTo>
                  <a:pt x="73745" y="145325"/>
                </a:lnTo>
                <a:lnTo>
                  <a:pt x="73745" y="118517"/>
                </a:lnTo>
                <a:lnTo>
                  <a:pt x="0" y="161170"/>
                </a:lnTo>
                <a:lnTo>
                  <a:pt x="73745" y="203823"/>
                </a:lnTo>
                <a:lnTo>
                  <a:pt x="73745" y="177014"/>
                </a:lnTo>
                <a:lnTo>
                  <a:pt x="134588" y="177014"/>
                </a:lnTo>
                <a:lnTo>
                  <a:pt x="134588" y="367782"/>
                </a:lnTo>
                <a:lnTo>
                  <a:pt x="107834" y="367782"/>
                </a:lnTo>
                <a:lnTo>
                  <a:pt x="150399" y="441680"/>
                </a:lnTo>
                <a:lnTo>
                  <a:pt x="192964" y="367782"/>
                </a:lnTo>
                <a:lnTo>
                  <a:pt x="166211" y="367782"/>
                </a:lnTo>
                <a:lnTo>
                  <a:pt x="166211" y="177014"/>
                </a:lnTo>
                <a:lnTo>
                  <a:pt x="262028" y="177014"/>
                </a:lnTo>
                <a:lnTo>
                  <a:pt x="262028" y="265997"/>
                </a:lnTo>
                <a:lnTo>
                  <a:pt x="190623" y="2666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17074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59" name="Google Shape;1141;p82">
            <a:extLst>
              <a:ext uri="{FF2B5EF4-FFF2-40B4-BE49-F238E27FC236}">
                <a16:creationId xmlns:a16="http://schemas.microsoft.com/office/drawing/2014/main" id="{3B81F9EA-3AE6-1840-16C5-1081A704BDE7}"/>
              </a:ext>
            </a:extLst>
          </p:cNvPr>
          <p:cNvSpPr/>
          <p:nvPr/>
        </p:nvSpPr>
        <p:spPr>
          <a:xfrm>
            <a:off x="6418559" y="2715345"/>
            <a:ext cx="1007368" cy="24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Active/Active Primary/Primary</a:t>
            </a:r>
            <a:endParaRPr sz="8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466" name="Straight Connector 2465">
            <a:extLst>
              <a:ext uri="{FF2B5EF4-FFF2-40B4-BE49-F238E27FC236}">
                <a16:creationId xmlns:a16="http://schemas.microsoft.com/office/drawing/2014/main" id="{AC38B53C-5893-A074-44C7-520BA0FE502C}"/>
              </a:ext>
            </a:extLst>
          </p:cNvPr>
          <p:cNvCxnSpPr>
            <a:cxnSpLocks/>
          </p:cNvCxnSpPr>
          <p:nvPr/>
        </p:nvCxnSpPr>
        <p:spPr>
          <a:xfrm>
            <a:off x="4616545" y="1235926"/>
            <a:ext cx="30753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5" name="Rectangle 2454">
            <a:extLst>
              <a:ext uri="{FF2B5EF4-FFF2-40B4-BE49-F238E27FC236}">
                <a16:creationId xmlns:a16="http://schemas.microsoft.com/office/drawing/2014/main" id="{87B3733C-3A39-564A-CEC0-AEE157BDD950}"/>
              </a:ext>
            </a:extLst>
          </p:cNvPr>
          <p:cNvSpPr/>
          <p:nvPr/>
        </p:nvSpPr>
        <p:spPr>
          <a:xfrm>
            <a:off x="4783854" y="3519359"/>
            <a:ext cx="2711303" cy="568661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itchFamily="2" charset="77"/>
            </a:endParaRPr>
          </a:p>
        </p:txBody>
      </p:sp>
      <p:sp>
        <p:nvSpPr>
          <p:cNvPr id="2460" name="Google Shape;1141;p82">
            <a:extLst>
              <a:ext uri="{FF2B5EF4-FFF2-40B4-BE49-F238E27FC236}">
                <a16:creationId xmlns:a16="http://schemas.microsoft.com/office/drawing/2014/main" id="{21C3E2EB-920A-4579-1510-7561227AB75A}"/>
              </a:ext>
            </a:extLst>
          </p:cNvPr>
          <p:cNvSpPr/>
          <p:nvPr/>
        </p:nvSpPr>
        <p:spPr>
          <a:xfrm>
            <a:off x="6428670" y="3685968"/>
            <a:ext cx="1134417" cy="24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Active/Standby Primary/Secondary</a:t>
            </a:r>
            <a:endParaRPr sz="8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7" name="Google Shape;1260;p82">
            <a:extLst>
              <a:ext uri="{FF2B5EF4-FFF2-40B4-BE49-F238E27FC236}">
                <a16:creationId xmlns:a16="http://schemas.microsoft.com/office/drawing/2014/main" id="{4E594D1D-9D87-AD18-4A01-C8228E046E85}"/>
              </a:ext>
            </a:extLst>
          </p:cNvPr>
          <p:cNvSpPr/>
          <p:nvPr/>
        </p:nvSpPr>
        <p:spPr>
          <a:xfrm>
            <a:off x="5989957" y="3604097"/>
            <a:ext cx="460113" cy="430023"/>
          </a:xfrm>
          <a:custGeom>
            <a:avLst/>
            <a:gdLst/>
            <a:ahLst/>
            <a:cxnLst/>
            <a:rect l="l" t="t" r="r" b="b"/>
            <a:pathLst>
              <a:path w="600837" h="600837" extrusionOk="0">
                <a:moveTo>
                  <a:pt x="300419" y="15812"/>
                </a:moveTo>
                <a:cubicBezTo>
                  <a:pt x="457603" y="15812"/>
                  <a:pt x="585026" y="143234"/>
                  <a:pt x="585026" y="300419"/>
                </a:cubicBezTo>
                <a:cubicBezTo>
                  <a:pt x="585026" y="457603"/>
                  <a:pt x="457603" y="585026"/>
                  <a:pt x="300419" y="585026"/>
                </a:cubicBezTo>
                <a:cubicBezTo>
                  <a:pt x="143234" y="585026"/>
                  <a:pt x="15812" y="457603"/>
                  <a:pt x="15812" y="300419"/>
                </a:cubicBezTo>
                <a:cubicBezTo>
                  <a:pt x="15986" y="143307"/>
                  <a:pt x="143307" y="15986"/>
                  <a:pt x="300419" y="15812"/>
                </a:cubicBezTo>
                <a:moveTo>
                  <a:pt x="300419" y="0"/>
                </a:moveTo>
                <a:cubicBezTo>
                  <a:pt x="134502" y="0"/>
                  <a:pt x="0" y="134502"/>
                  <a:pt x="0" y="300419"/>
                </a:cubicBezTo>
                <a:cubicBezTo>
                  <a:pt x="0" y="466335"/>
                  <a:pt x="134502" y="600837"/>
                  <a:pt x="300419" y="600837"/>
                </a:cubicBezTo>
                <a:cubicBezTo>
                  <a:pt x="466335" y="600837"/>
                  <a:pt x="600837" y="466335"/>
                  <a:pt x="600837" y="300419"/>
                </a:cubicBezTo>
                <a:cubicBezTo>
                  <a:pt x="600837" y="134502"/>
                  <a:pt x="466335" y="0"/>
                  <a:pt x="3004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6" name="Google Shape;1141;p82">
            <a:extLst>
              <a:ext uri="{FF2B5EF4-FFF2-40B4-BE49-F238E27FC236}">
                <a16:creationId xmlns:a16="http://schemas.microsoft.com/office/drawing/2014/main" id="{918CDAB1-31C0-664B-06F1-2995291B0C67}"/>
              </a:ext>
            </a:extLst>
          </p:cNvPr>
          <p:cNvSpPr/>
          <p:nvPr/>
        </p:nvSpPr>
        <p:spPr>
          <a:xfrm>
            <a:off x="5042411" y="3708094"/>
            <a:ext cx="945984" cy="24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Stretched Tier-1 Gateway</a:t>
            </a:r>
            <a:endParaRPr sz="8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9" name="Google Shape;1262;p82">
            <a:extLst>
              <a:ext uri="{FF2B5EF4-FFF2-40B4-BE49-F238E27FC236}">
                <a16:creationId xmlns:a16="http://schemas.microsoft.com/office/drawing/2014/main" id="{CD9F7333-8AFF-BD20-53F0-6C5C1084B631}"/>
              </a:ext>
            </a:extLst>
          </p:cNvPr>
          <p:cNvSpPr/>
          <p:nvPr/>
        </p:nvSpPr>
        <p:spPr>
          <a:xfrm>
            <a:off x="6255589" y="3785465"/>
            <a:ext cx="150996" cy="60973"/>
          </a:xfrm>
          <a:custGeom>
            <a:avLst/>
            <a:gdLst/>
            <a:ahLst/>
            <a:cxnLst/>
            <a:rect l="l" t="t" r="r" b="b"/>
            <a:pathLst>
              <a:path w="189738" h="85192" extrusionOk="0">
                <a:moveTo>
                  <a:pt x="189738" y="26753"/>
                </a:moveTo>
                <a:lnTo>
                  <a:pt x="73745" y="26753"/>
                </a:lnTo>
                <a:lnTo>
                  <a:pt x="73745" y="0"/>
                </a:lnTo>
                <a:lnTo>
                  <a:pt x="0" y="42565"/>
                </a:lnTo>
                <a:lnTo>
                  <a:pt x="73745" y="85192"/>
                </a:lnTo>
                <a:lnTo>
                  <a:pt x="73745" y="58376"/>
                </a:lnTo>
                <a:lnTo>
                  <a:pt x="189738" y="58376"/>
                </a:lnTo>
                <a:lnTo>
                  <a:pt x="189738" y="2675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8" name="Google Shape;1261;p82">
            <a:extLst>
              <a:ext uri="{FF2B5EF4-FFF2-40B4-BE49-F238E27FC236}">
                <a16:creationId xmlns:a16="http://schemas.microsoft.com/office/drawing/2014/main" id="{32AA49A0-F9BC-AB48-B7D6-4481337CDD56}"/>
              </a:ext>
            </a:extLst>
          </p:cNvPr>
          <p:cNvSpPr/>
          <p:nvPr/>
        </p:nvSpPr>
        <p:spPr>
          <a:xfrm>
            <a:off x="6026477" y="3785465"/>
            <a:ext cx="150996" cy="60973"/>
          </a:xfrm>
          <a:custGeom>
            <a:avLst/>
            <a:gdLst/>
            <a:ahLst/>
            <a:cxnLst/>
            <a:rect l="l" t="t" r="r" b="b"/>
            <a:pathLst>
              <a:path w="189738" h="85192" extrusionOk="0">
                <a:moveTo>
                  <a:pt x="115993" y="26753"/>
                </a:moveTo>
                <a:lnTo>
                  <a:pt x="0" y="26753"/>
                </a:lnTo>
                <a:lnTo>
                  <a:pt x="0" y="58376"/>
                </a:lnTo>
                <a:lnTo>
                  <a:pt x="115993" y="58376"/>
                </a:lnTo>
                <a:lnTo>
                  <a:pt x="115993" y="85192"/>
                </a:lnTo>
                <a:lnTo>
                  <a:pt x="189738" y="42565"/>
                </a:lnTo>
                <a:lnTo>
                  <a:pt x="115993" y="0"/>
                </a:lnTo>
                <a:lnTo>
                  <a:pt x="115993" y="2675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0" name="Google Shape;1263;p82">
            <a:extLst>
              <a:ext uri="{FF2B5EF4-FFF2-40B4-BE49-F238E27FC236}">
                <a16:creationId xmlns:a16="http://schemas.microsoft.com/office/drawing/2014/main" id="{8C52D78F-4F67-6997-AC54-AFA88ACDA930}"/>
              </a:ext>
            </a:extLst>
          </p:cNvPr>
          <p:cNvSpPr/>
          <p:nvPr/>
        </p:nvSpPr>
        <p:spPr>
          <a:xfrm>
            <a:off x="6182658" y="3648627"/>
            <a:ext cx="67747" cy="135797"/>
          </a:xfrm>
          <a:custGeom>
            <a:avLst/>
            <a:gdLst/>
            <a:ahLst/>
            <a:cxnLst/>
            <a:rect l="l" t="t" r="r" b="b"/>
            <a:pathLst>
              <a:path w="85129" h="189738" extrusionOk="0">
                <a:moveTo>
                  <a:pt x="0" y="73745"/>
                </a:moveTo>
                <a:lnTo>
                  <a:pt x="26753" y="73745"/>
                </a:lnTo>
                <a:lnTo>
                  <a:pt x="26753" y="189738"/>
                </a:lnTo>
                <a:lnTo>
                  <a:pt x="58376" y="189738"/>
                </a:lnTo>
                <a:lnTo>
                  <a:pt x="58376" y="73745"/>
                </a:lnTo>
                <a:lnTo>
                  <a:pt x="85129" y="73745"/>
                </a:lnTo>
                <a:lnTo>
                  <a:pt x="42565" y="0"/>
                </a:lnTo>
                <a:lnTo>
                  <a:pt x="0" y="7374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1" name="Google Shape;1264;p82">
            <a:extLst>
              <a:ext uri="{FF2B5EF4-FFF2-40B4-BE49-F238E27FC236}">
                <a16:creationId xmlns:a16="http://schemas.microsoft.com/office/drawing/2014/main" id="{4B414873-7437-ADBF-C380-BC6A8493F0EF}"/>
              </a:ext>
            </a:extLst>
          </p:cNvPr>
          <p:cNvSpPr/>
          <p:nvPr/>
        </p:nvSpPr>
        <p:spPr>
          <a:xfrm>
            <a:off x="6182658" y="3847479"/>
            <a:ext cx="67747" cy="135797"/>
          </a:xfrm>
          <a:custGeom>
            <a:avLst/>
            <a:gdLst/>
            <a:ahLst/>
            <a:cxnLst/>
            <a:rect l="l" t="t" r="r" b="b"/>
            <a:pathLst>
              <a:path w="85129" h="189738" extrusionOk="0">
                <a:moveTo>
                  <a:pt x="58376" y="0"/>
                </a:moveTo>
                <a:lnTo>
                  <a:pt x="26753" y="0"/>
                </a:lnTo>
                <a:lnTo>
                  <a:pt x="26753" y="115993"/>
                </a:lnTo>
                <a:lnTo>
                  <a:pt x="0" y="115993"/>
                </a:lnTo>
                <a:lnTo>
                  <a:pt x="42565" y="189738"/>
                </a:lnTo>
                <a:lnTo>
                  <a:pt x="85129" y="115993"/>
                </a:lnTo>
                <a:lnTo>
                  <a:pt x="58376" y="115993"/>
                </a:lnTo>
                <a:lnTo>
                  <a:pt x="5837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7ABEF72-DCED-1E30-52B6-4098D1B84EE4}"/>
              </a:ext>
            </a:extLst>
          </p:cNvPr>
          <p:cNvCxnSpPr>
            <a:cxnSpLocks/>
          </p:cNvCxnSpPr>
          <p:nvPr/>
        </p:nvCxnSpPr>
        <p:spPr>
          <a:xfrm>
            <a:off x="321207" y="5074959"/>
            <a:ext cx="11533299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1641;p6">
            <a:extLst>
              <a:ext uri="{FF2B5EF4-FFF2-40B4-BE49-F238E27FC236}">
                <a16:creationId xmlns:a16="http://schemas.microsoft.com/office/drawing/2014/main" id="{F8D835FF-100D-DFE6-3541-567BF08A4A5C}"/>
              </a:ext>
            </a:extLst>
          </p:cNvPr>
          <p:cNvSpPr/>
          <p:nvPr/>
        </p:nvSpPr>
        <p:spPr>
          <a:xfrm>
            <a:off x="286283" y="5261967"/>
            <a:ext cx="11669232" cy="1052434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etropolis" pitchFamily="2" charset="77"/>
              </a:rPr>
              <a:t>Fleet Level Management VMs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398" name="Google Shape;2403;p20">
            <a:extLst>
              <a:ext uri="{FF2B5EF4-FFF2-40B4-BE49-F238E27FC236}">
                <a16:creationId xmlns:a16="http://schemas.microsoft.com/office/drawing/2014/main" id="{38E0FB65-29C7-E527-ECEB-1458DADB7C14}"/>
              </a:ext>
            </a:extLst>
          </p:cNvPr>
          <p:cNvSpPr/>
          <p:nvPr/>
        </p:nvSpPr>
        <p:spPr>
          <a:xfrm>
            <a:off x="1474647" y="5502978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400" name="Google Shape;2403;p20">
            <a:extLst>
              <a:ext uri="{FF2B5EF4-FFF2-40B4-BE49-F238E27FC236}">
                <a16:creationId xmlns:a16="http://schemas.microsoft.com/office/drawing/2014/main" id="{311F5465-D689-E54C-87F3-FAFAF4540740}"/>
              </a:ext>
            </a:extLst>
          </p:cNvPr>
          <p:cNvSpPr/>
          <p:nvPr/>
        </p:nvSpPr>
        <p:spPr>
          <a:xfrm>
            <a:off x="439807" y="5502978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800" dirty="0">
                <a:latin typeface="Metropolis" pitchFamily="2" charset="77"/>
              </a:rPr>
              <a:t>VCF Automation</a:t>
            </a:r>
          </a:p>
        </p:txBody>
      </p:sp>
      <p:sp>
        <p:nvSpPr>
          <p:cNvPr id="13" name="Google Shape;2403;p20">
            <a:extLst>
              <a:ext uri="{FF2B5EF4-FFF2-40B4-BE49-F238E27FC236}">
                <a16:creationId xmlns:a16="http://schemas.microsoft.com/office/drawing/2014/main" id="{0B7F2972-42BF-3CE1-C1C1-FD8B1C1BF003}"/>
              </a:ext>
            </a:extLst>
          </p:cNvPr>
          <p:cNvSpPr/>
          <p:nvPr/>
        </p:nvSpPr>
        <p:spPr>
          <a:xfrm>
            <a:off x="2499243" y="5502978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 Logs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FD5312-C1BA-9937-E20D-9E4CFAC88A51}"/>
              </a:ext>
            </a:extLst>
          </p:cNvPr>
          <p:cNvCxnSpPr>
            <a:cxnSpLocks/>
          </p:cNvCxnSpPr>
          <p:nvPr/>
        </p:nvCxnSpPr>
        <p:spPr>
          <a:xfrm flipV="1">
            <a:off x="882390" y="5069934"/>
            <a:ext cx="0" cy="433044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C61D1A-2BCF-4D07-30B5-53869C2DF61F}"/>
              </a:ext>
            </a:extLst>
          </p:cNvPr>
          <p:cNvCxnSpPr>
            <a:cxnSpLocks/>
            <a:stCxn id="2398" idx="0"/>
          </p:cNvCxnSpPr>
          <p:nvPr/>
        </p:nvCxnSpPr>
        <p:spPr>
          <a:xfrm flipV="1">
            <a:off x="1917229" y="5075900"/>
            <a:ext cx="0" cy="42707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A3934F-1F98-CFB2-963A-7B86CDE9F617}"/>
              </a:ext>
            </a:extLst>
          </p:cNvPr>
          <p:cNvCxnSpPr>
            <a:cxnSpLocks/>
          </p:cNvCxnSpPr>
          <p:nvPr/>
        </p:nvCxnSpPr>
        <p:spPr>
          <a:xfrm flipV="1">
            <a:off x="2941826" y="5069934"/>
            <a:ext cx="0" cy="433044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2403;p20">
            <a:extLst>
              <a:ext uri="{FF2B5EF4-FFF2-40B4-BE49-F238E27FC236}">
                <a16:creationId xmlns:a16="http://schemas.microsoft.com/office/drawing/2014/main" id="{282B8634-9826-EA44-CA4C-377E6DBDB1AA}"/>
              </a:ext>
            </a:extLst>
          </p:cNvPr>
          <p:cNvSpPr/>
          <p:nvPr/>
        </p:nvSpPr>
        <p:spPr>
          <a:xfrm>
            <a:off x="3519523" y="5502978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 Networks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4D64B72-F67D-690E-00F1-2981DF44C28C}"/>
              </a:ext>
            </a:extLst>
          </p:cNvPr>
          <p:cNvCxnSpPr>
            <a:cxnSpLocks/>
          </p:cNvCxnSpPr>
          <p:nvPr/>
        </p:nvCxnSpPr>
        <p:spPr>
          <a:xfrm flipV="1">
            <a:off x="3962106" y="5069934"/>
            <a:ext cx="0" cy="441246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0" name="Straight Connector 2429">
            <a:extLst>
              <a:ext uri="{FF2B5EF4-FFF2-40B4-BE49-F238E27FC236}">
                <a16:creationId xmlns:a16="http://schemas.microsoft.com/office/drawing/2014/main" id="{8060BC74-9BBA-94B4-E70C-BD0366BEC7C6}"/>
              </a:ext>
            </a:extLst>
          </p:cNvPr>
          <p:cNvCxnSpPr>
            <a:cxnSpLocks/>
          </p:cNvCxnSpPr>
          <p:nvPr/>
        </p:nvCxnSpPr>
        <p:spPr>
          <a:xfrm flipV="1">
            <a:off x="9994840" y="5069934"/>
            <a:ext cx="0" cy="441246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1" name="Google Shape;2403;p20">
            <a:extLst>
              <a:ext uri="{FF2B5EF4-FFF2-40B4-BE49-F238E27FC236}">
                <a16:creationId xmlns:a16="http://schemas.microsoft.com/office/drawing/2014/main" id="{F6644542-9313-6960-1A49-293BE9C4F190}"/>
              </a:ext>
            </a:extLst>
          </p:cNvPr>
          <p:cNvSpPr/>
          <p:nvPr/>
        </p:nvSpPr>
        <p:spPr>
          <a:xfrm>
            <a:off x="9553805" y="5519145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*Optional Failover of Fleet Level VMs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F9958B-EB01-0E95-615B-923D0D933A75}"/>
              </a:ext>
            </a:extLst>
          </p:cNvPr>
          <p:cNvSpPr txBox="1"/>
          <p:nvPr/>
        </p:nvSpPr>
        <p:spPr>
          <a:xfrm>
            <a:off x="5379211" y="4730946"/>
            <a:ext cx="1630156" cy="3385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Fleet Level Management NSX Stretched Overlay Segment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ADAC64F4-FE46-B0CB-D732-BBB24F2B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Fleet Level Components on NSX Overlay Stretched Segment Model v1.1</a:t>
            </a:r>
            <a:endParaRPr lang="en-US" sz="2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E132017-96E2-C6BA-57A2-A691F4755E3E}"/>
              </a:ext>
            </a:extLst>
          </p:cNvPr>
          <p:cNvGrpSpPr/>
          <p:nvPr/>
        </p:nvGrpSpPr>
        <p:grpSpPr>
          <a:xfrm>
            <a:off x="5302505" y="2172240"/>
            <a:ext cx="310983" cy="309399"/>
            <a:chOff x="7492196" y="1447066"/>
            <a:chExt cx="365388" cy="35378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2381DAE-A881-702F-BC3B-19377FF13247}"/>
                </a:ext>
              </a:extLst>
            </p:cNvPr>
            <p:cNvGrpSpPr/>
            <p:nvPr/>
          </p:nvGrpSpPr>
          <p:grpSpPr>
            <a:xfrm>
              <a:off x="7492196" y="1447066"/>
              <a:ext cx="363561" cy="353789"/>
              <a:chOff x="6393604" y="5146050"/>
              <a:chExt cx="722787" cy="703361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A6D49C4F-7ABF-0835-A9F4-F80F58E59774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Google Shape;2078;p72">
                <a:extLst>
                  <a:ext uri="{FF2B5EF4-FFF2-40B4-BE49-F238E27FC236}">
                    <a16:creationId xmlns:a16="http://schemas.microsoft.com/office/drawing/2014/main" id="{6CD51DA0-AE53-7F27-EC58-77640B0A1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2344" y="5225602"/>
                <a:ext cx="565309" cy="528966"/>
              </a:xfrm>
              <a:prstGeom prst="straightConnector1">
                <a:avLst/>
              </a:prstGeom>
              <a:solidFill>
                <a:schemeClr val="lt1"/>
              </a:solidFill>
              <a:ln w="15875" cap="flat" cmpd="sng">
                <a:solidFill>
                  <a:schemeClr val="dk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0B166C5-163C-E7BA-EE46-7B4A5F4D8943}"/>
                  </a:ext>
                </a:extLst>
              </p:cNvPr>
              <p:cNvSpPr txBox="1"/>
              <p:nvPr/>
            </p:nvSpPr>
            <p:spPr>
              <a:xfrm flipH="1">
                <a:off x="6456880" y="5338341"/>
                <a:ext cx="137877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P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424A608-9082-290E-9B4D-8E2885A2AB9D}"/>
                  </a:ext>
                </a:extLst>
              </p:cNvPr>
              <p:cNvSpPr txBox="1"/>
              <p:nvPr/>
            </p:nvSpPr>
            <p:spPr>
              <a:xfrm flipH="1">
                <a:off x="6843490" y="5339051"/>
                <a:ext cx="142032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V</a:t>
                </a:r>
                <a:endParaRPr lang="en-US" sz="600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81201D0-99F5-261E-19CB-B94492518958}"/>
                </a:ext>
              </a:extLst>
            </p:cNvPr>
            <p:cNvGrpSpPr/>
            <p:nvPr/>
          </p:nvGrpSpPr>
          <p:grpSpPr>
            <a:xfrm rot="19052667">
              <a:off x="7497331" y="1708659"/>
              <a:ext cx="182989" cy="103"/>
              <a:chOff x="7905819" y="1100217"/>
              <a:chExt cx="182989" cy="103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9F75D8C-68EC-B357-CD53-53B43F1F94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A90ED63-A15A-CE2D-53D2-186B6EB31D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D158770-7EA3-D586-6ED5-BB6309126F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13A265A-DE20-8E7B-9401-0FC2E848B45D}"/>
                </a:ext>
              </a:extLst>
            </p:cNvPr>
            <p:cNvGrpSpPr/>
            <p:nvPr/>
          </p:nvGrpSpPr>
          <p:grpSpPr>
            <a:xfrm rot="19052667">
              <a:off x="7674595" y="1547803"/>
              <a:ext cx="182989" cy="103"/>
              <a:chOff x="7905819" y="1100217"/>
              <a:chExt cx="182989" cy="103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1A24453-205F-C9E8-02FD-330D786D0F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63BC1F0-CC9F-F14F-775C-D657E5A9BC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4013E6C-F511-3DE1-6010-23B4529471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7445E90-E9C3-3953-4C0F-576AB63E5858}"/>
              </a:ext>
            </a:extLst>
          </p:cNvPr>
          <p:cNvGrpSpPr/>
          <p:nvPr/>
        </p:nvGrpSpPr>
        <p:grpSpPr>
          <a:xfrm>
            <a:off x="5679460" y="2174494"/>
            <a:ext cx="310983" cy="309399"/>
            <a:chOff x="7492196" y="1447066"/>
            <a:chExt cx="365388" cy="353789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06AA239-88E0-0905-404F-0F4FF59D874B}"/>
                </a:ext>
              </a:extLst>
            </p:cNvPr>
            <p:cNvGrpSpPr/>
            <p:nvPr/>
          </p:nvGrpSpPr>
          <p:grpSpPr>
            <a:xfrm>
              <a:off x="7492196" y="1447066"/>
              <a:ext cx="363561" cy="353789"/>
              <a:chOff x="6393604" y="5146050"/>
              <a:chExt cx="722787" cy="703361"/>
            </a:xfrm>
          </p:grpSpPr>
          <p:sp>
            <p:nvSpPr>
              <p:cNvPr id="2385" name="Rectangle 2384">
                <a:extLst>
                  <a:ext uri="{FF2B5EF4-FFF2-40B4-BE49-F238E27FC236}">
                    <a16:creationId xmlns:a16="http://schemas.microsoft.com/office/drawing/2014/main" id="{DB96920C-952A-C8A2-F308-5329E2D07954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86" name="Google Shape;2078;p72">
                <a:extLst>
                  <a:ext uri="{FF2B5EF4-FFF2-40B4-BE49-F238E27FC236}">
                    <a16:creationId xmlns:a16="http://schemas.microsoft.com/office/drawing/2014/main" id="{6E34EA04-E0E7-94F1-2346-7D275C5755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2342" y="5225603"/>
                <a:ext cx="565309" cy="528967"/>
              </a:xfrm>
              <a:prstGeom prst="straightConnector1">
                <a:avLst/>
              </a:prstGeom>
              <a:solidFill>
                <a:schemeClr val="lt1"/>
              </a:solidFill>
              <a:ln w="15875" cap="flat" cmpd="sng">
                <a:solidFill>
                  <a:schemeClr val="dk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sp>
            <p:nvSpPr>
              <p:cNvPr id="2387" name="TextBox 2386">
                <a:extLst>
                  <a:ext uri="{FF2B5EF4-FFF2-40B4-BE49-F238E27FC236}">
                    <a16:creationId xmlns:a16="http://schemas.microsoft.com/office/drawing/2014/main" id="{7692A4CD-AA8D-6D41-FDB5-32F5E8E54FE7}"/>
                  </a:ext>
                </a:extLst>
              </p:cNvPr>
              <p:cNvSpPr txBox="1"/>
              <p:nvPr/>
            </p:nvSpPr>
            <p:spPr>
              <a:xfrm flipH="1">
                <a:off x="6456880" y="5338341"/>
                <a:ext cx="137877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P</a:t>
                </a:r>
              </a:p>
            </p:txBody>
          </p:sp>
          <p:sp>
            <p:nvSpPr>
              <p:cNvPr id="2388" name="TextBox 2387">
                <a:extLst>
                  <a:ext uri="{FF2B5EF4-FFF2-40B4-BE49-F238E27FC236}">
                    <a16:creationId xmlns:a16="http://schemas.microsoft.com/office/drawing/2014/main" id="{3786FA2B-0F91-DFA3-F05C-FEBDAB7C8735}"/>
                  </a:ext>
                </a:extLst>
              </p:cNvPr>
              <p:cNvSpPr txBox="1"/>
              <p:nvPr/>
            </p:nvSpPr>
            <p:spPr>
              <a:xfrm flipH="1">
                <a:off x="6843490" y="5339051"/>
                <a:ext cx="142032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V</a:t>
                </a:r>
                <a:endParaRPr lang="en-US" sz="600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C421002-93BB-94CD-A3AF-D74EEE4CF194}"/>
                </a:ext>
              </a:extLst>
            </p:cNvPr>
            <p:cNvGrpSpPr/>
            <p:nvPr/>
          </p:nvGrpSpPr>
          <p:grpSpPr>
            <a:xfrm rot="19052667">
              <a:off x="7497331" y="1708659"/>
              <a:ext cx="182989" cy="103"/>
              <a:chOff x="7905819" y="1100217"/>
              <a:chExt cx="182989" cy="103"/>
            </a:xfrm>
          </p:grpSpPr>
          <p:cxnSp>
            <p:nvCxnSpPr>
              <p:cNvPr id="2381" name="Straight Connector 2380">
                <a:extLst>
                  <a:ext uri="{FF2B5EF4-FFF2-40B4-BE49-F238E27FC236}">
                    <a16:creationId xmlns:a16="http://schemas.microsoft.com/office/drawing/2014/main" id="{55C4D270-95D4-E087-4C00-B9D8BE957A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2" name="Straight Connector 2381">
                <a:extLst>
                  <a:ext uri="{FF2B5EF4-FFF2-40B4-BE49-F238E27FC236}">
                    <a16:creationId xmlns:a16="http://schemas.microsoft.com/office/drawing/2014/main" id="{68070BC3-1F84-DC06-AB15-8F175A93AE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3" name="Straight Connector 2382">
                <a:extLst>
                  <a:ext uri="{FF2B5EF4-FFF2-40B4-BE49-F238E27FC236}">
                    <a16:creationId xmlns:a16="http://schemas.microsoft.com/office/drawing/2014/main" id="{678A37ED-36A3-7D56-0853-F917E9D834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72" name="Group 2371">
              <a:extLst>
                <a:ext uri="{FF2B5EF4-FFF2-40B4-BE49-F238E27FC236}">
                  <a16:creationId xmlns:a16="http://schemas.microsoft.com/office/drawing/2014/main" id="{8F7B2E04-94CC-7E8E-2549-E6A2A5A26F68}"/>
                </a:ext>
              </a:extLst>
            </p:cNvPr>
            <p:cNvGrpSpPr/>
            <p:nvPr/>
          </p:nvGrpSpPr>
          <p:grpSpPr>
            <a:xfrm rot="19052667">
              <a:off x="7674595" y="1547803"/>
              <a:ext cx="182989" cy="103"/>
              <a:chOff x="7905819" y="1100217"/>
              <a:chExt cx="182989" cy="103"/>
            </a:xfrm>
          </p:grpSpPr>
          <p:cxnSp>
            <p:nvCxnSpPr>
              <p:cNvPr id="2373" name="Straight Connector 2372">
                <a:extLst>
                  <a:ext uri="{FF2B5EF4-FFF2-40B4-BE49-F238E27FC236}">
                    <a16:creationId xmlns:a16="http://schemas.microsoft.com/office/drawing/2014/main" id="{A470C4B9-B78E-B1B0-B32C-8A84BF21AB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9" name="Straight Connector 2378">
                <a:extLst>
                  <a:ext uri="{FF2B5EF4-FFF2-40B4-BE49-F238E27FC236}">
                    <a16:creationId xmlns:a16="http://schemas.microsoft.com/office/drawing/2014/main" id="{FAA33327-7114-3AFF-FD9F-948BDFEB76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0" name="Straight Connector 2379">
                <a:extLst>
                  <a:ext uri="{FF2B5EF4-FFF2-40B4-BE49-F238E27FC236}">
                    <a16:creationId xmlns:a16="http://schemas.microsoft.com/office/drawing/2014/main" id="{C94A5ECA-0A09-5DC7-C400-6F4744EDF2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89" name="Group 2388">
            <a:extLst>
              <a:ext uri="{FF2B5EF4-FFF2-40B4-BE49-F238E27FC236}">
                <a16:creationId xmlns:a16="http://schemas.microsoft.com/office/drawing/2014/main" id="{7A260B6D-C5EC-3DDB-C111-CBEA30BEE969}"/>
              </a:ext>
            </a:extLst>
          </p:cNvPr>
          <p:cNvGrpSpPr/>
          <p:nvPr/>
        </p:nvGrpSpPr>
        <p:grpSpPr>
          <a:xfrm>
            <a:off x="6388901" y="2168530"/>
            <a:ext cx="310983" cy="309399"/>
            <a:chOff x="7492196" y="1447066"/>
            <a:chExt cx="365388" cy="353789"/>
          </a:xfrm>
        </p:grpSpPr>
        <p:grpSp>
          <p:nvGrpSpPr>
            <p:cNvPr id="2390" name="Group 2389">
              <a:extLst>
                <a:ext uri="{FF2B5EF4-FFF2-40B4-BE49-F238E27FC236}">
                  <a16:creationId xmlns:a16="http://schemas.microsoft.com/office/drawing/2014/main" id="{A5730FCE-1730-1B83-C9F5-1FDFCAFB5492}"/>
                </a:ext>
              </a:extLst>
            </p:cNvPr>
            <p:cNvGrpSpPr/>
            <p:nvPr/>
          </p:nvGrpSpPr>
          <p:grpSpPr>
            <a:xfrm>
              <a:off x="7492196" y="1447066"/>
              <a:ext cx="363561" cy="353789"/>
              <a:chOff x="6393604" y="5146050"/>
              <a:chExt cx="722787" cy="703361"/>
            </a:xfrm>
          </p:grpSpPr>
          <p:sp>
            <p:nvSpPr>
              <p:cNvPr id="2406" name="Rectangle 2405">
                <a:extLst>
                  <a:ext uri="{FF2B5EF4-FFF2-40B4-BE49-F238E27FC236}">
                    <a16:creationId xmlns:a16="http://schemas.microsoft.com/office/drawing/2014/main" id="{FFEA53AC-031D-B3C7-EB3D-551D6CB0DB29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07" name="Google Shape;2078;p72">
                <a:extLst>
                  <a:ext uri="{FF2B5EF4-FFF2-40B4-BE49-F238E27FC236}">
                    <a16:creationId xmlns:a16="http://schemas.microsoft.com/office/drawing/2014/main" id="{A6809C1C-FA3E-7EDD-60D6-591787CA55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2342" y="5225603"/>
                <a:ext cx="565309" cy="528967"/>
              </a:xfrm>
              <a:prstGeom prst="straightConnector1">
                <a:avLst/>
              </a:prstGeom>
              <a:solidFill>
                <a:schemeClr val="lt1"/>
              </a:solidFill>
              <a:ln w="15875" cap="flat" cmpd="sng">
                <a:solidFill>
                  <a:schemeClr val="dk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sp>
            <p:nvSpPr>
              <p:cNvPr id="2408" name="TextBox 2407">
                <a:extLst>
                  <a:ext uri="{FF2B5EF4-FFF2-40B4-BE49-F238E27FC236}">
                    <a16:creationId xmlns:a16="http://schemas.microsoft.com/office/drawing/2014/main" id="{9876A235-70A4-2FA4-A4AA-A9BA4A2EBB87}"/>
                  </a:ext>
                </a:extLst>
              </p:cNvPr>
              <p:cNvSpPr txBox="1"/>
              <p:nvPr/>
            </p:nvSpPr>
            <p:spPr>
              <a:xfrm flipH="1">
                <a:off x="6456880" y="5338341"/>
                <a:ext cx="137877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P</a:t>
                </a:r>
              </a:p>
            </p:txBody>
          </p:sp>
          <p:sp>
            <p:nvSpPr>
              <p:cNvPr id="2410" name="TextBox 2409">
                <a:extLst>
                  <a:ext uri="{FF2B5EF4-FFF2-40B4-BE49-F238E27FC236}">
                    <a16:creationId xmlns:a16="http://schemas.microsoft.com/office/drawing/2014/main" id="{F7EF00CD-1A86-BB81-F4FA-8D2C69686322}"/>
                  </a:ext>
                </a:extLst>
              </p:cNvPr>
              <p:cNvSpPr txBox="1"/>
              <p:nvPr/>
            </p:nvSpPr>
            <p:spPr>
              <a:xfrm flipH="1">
                <a:off x="6843490" y="5339051"/>
                <a:ext cx="142032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V</a:t>
                </a:r>
                <a:endParaRPr lang="en-US" sz="600" dirty="0"/>
              </a:p>
            </p:txBody>
          </p:sp>
        </p:grpSp>
        <p:grpSp>
          <p:nvGrpSpPr>
            <p:cNvPr id="2394" name="Group 2393">
              <a:extLst>
                <a:ext uri="{FF2B5EF4-FFF2-40B4-BE49-F238E27FC236}">
                  <a16:creationId xmlns:a16="http://schemas.microsoft.com/office/drawing/2014/main" id="{44C053EB-B73B-147D-7914-6B06D0C86D22}"/>
                </a:ext>
              </a:extLst>
            </p:cNvPr>
            <p:cNvGrpSpPr/>
            <p:nvPr/>
          </p:nvGrpSpPr>
          <p:grpSpPr>
            <a:xfrm rot="19052667">
              <a:off x="7497331" y="1708659"/>
              <a:ext cx="182989" cy="103"/>
              <a:chOff x="7905819" y="1100217"/>
              <a:chExt cx="182989" cy="103"/>
            </a:xfrm>
          </p:grpSpPr>
          <p:cxnSp>
            <p:nvCxnSpPr>
              <p:cNvPr id="2401" name="Straight Connector 2400">
                <a:extLst>
                  <a:ext uri="{FF2B5EF4-FFF2-40B4-BE49-F238E27FC236}">
                    <a16:creationId xmlns:a16="http://schemas.microsoft.com/office/drawing/2014/main" id="{3B4E1AD1-76A0-7C7F-A117-2C7E179B8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2" name="Straight Connector 2401">
                <a:extLst>
                  <a:ext uri="{FF2B5EF4-FFF2-40B4-BE49-F238E27FC236}">
                    <a16:creationId xmlns:a16="http://schemas.microsoft.com/office/drawing/2014/main" id="{F2286BDB-4BCA-4A12-F4AE-4E80738CDD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3" name="Straight Connector 2402">
                <a:extLst>
                  <a:ext uri="{FF2B5EF4-FFF2-40B4-BE49-F238E27FC236}">
                    <a16:creationId xmlns:a16="http://schemas.microsoft.com/office/drawing/2014/main" id="{1C60F82E-B47F-3127-CA96-967907CD60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95" name="Group 2394">
              <a:extLst>
                <a:ext uri="{FF2B5EF4-FFF2-40B4-BE49-F238E27FC236}">
                  <a16:creationId xmlns:a16="http://schemas.microsoft.com/office/drawing/2014/main" id="{1D3E0CFD-318A-2A69-A38A-BFBE1EC34C1D}"/>
                </a:ext>
              </a:extLst>
            </p:cNvPr>
            <p:cNvGrpSpPr/>
            <p:nvPr/>
          </p:nvGrpSpPr>
          <p:grpSpPr>
            <a:xfrm rot="19052667">
              <a:off x="7674595" y="1547803"/>
              <a:ext cx="182989" cy="103"/>
              <a:chOff x="7905819" y="1100217"/>
              <a:chExt cx="182989" cy="103"/>
            </a:xfrm>
          </p:grpSpPr>
          <p:cxnSp>
            <p:nvCxnSpPr>
              <p:cNvPr id="2396" name="Straight Connector 2395">
                <a:extLst>
                  <a:ext uri="{FF2B5EF4-FFF2-40B4-BE49-F238E27FC236}">
                    <a16:creationId xmlns:a16="http://schemas.microsoft.com/office/drawing/2014/main" id="{9FCF8FFC-AD16-E2C8-A2F2-1429625D7F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7" name="Straight Connector 2396">
                <a:extLst>
                  <a:ext uri="{FF2B5EF4-FFF2-40B4-BE49-F238E27FC236}">
                    <a16:creationId xmlns:a16="http://schemas.microsoft.com/office/drawing/2014/main" id="{4D40429C-055C-D8EC-D525-88905DE53E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9" name="Straight Connector 2398">
                <a:extLst>
                  <a:ext uri="{FF2B5EF4-FFF2-40B4-BE49-F238E27FC236}">
                    <a16:creationId xmlns:a16="http://schemas.microsoft.com/office/drawing/2014/main" id="{AA74D6EA-8EC8-90B8-CBA3-4C331AE887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11" name="Group 2410">
            <a:extLst>
              <a:ext uri="{FF2B5EF4-FFF2-40B4-BE49-F238E27FC236}">
                <a16:creationId xmlns:a16="http://schemas.microsoft.com/office/drawing/2014/main" id="{88D3C906-74BE-8AE4-9370-434188598068}"/>
              </a:ext>
            </a:extLst>
          </p:cNvPr>
          <p:cNvGrpSpPr/>
          <p:nvPr/>
        </p:nvGrpSpPr>
        <p:grpSpPr>
          <a:xfrm>
            <a:off x="6756988" y="2167942"/>
            <a:ext cx="310983" cy="309399"/>
            <a:chOff x="7492196" y="1447066"/>
            <a:chExt cx="365388" cy="353789"/>
          </a:xfrm>
        </p:grpSpPr>
        <p:grpSp>
          <p:nvGrpSpPr>
            <p:cNvPr id="2412" name="Group 2411">
              <a:extLst>
                <a:ext uri="{FF2B5EF4-FFF2-40B4-BE49-F238E27FC236}">
                  <a16:creationId xmlns:a16="http://schemas.microsoft.com/office/drawing/2014/main" id="{9B37F4DD-DB42-0BD5-FE3C-96B0518EA32D}"/>
                </a:ext>
              </a:extLst>
            </p:cNvPr>
            <p:cNvGrpSpPr/>
            <p:nvPr/>
          </p:nvGrpSpPr>
          <p:grpSpPr>
            <a:xfrm>
              <a:off x="7492196" y="1447066"/>
              <a:ext cx="363561" cy="353789"/>
              <a:chOff x="6393604" y="5146050"/>
              <a:chExt cx="722787" cy="703361"/>
            </a:xfrm>
          </p:grpSpPr>
          <p:sp>
            <p:nvSpPr>
              <p:cNvPr id="2422" name="Rectangle 2421">
                <a:extLst>
                  <a:ext uri="{FF2B5EF4-FFF2-40B4-BE49-F238E27FC236}">
                    <a16:creationId xmlns:a16="http://schemas.microsoft.com/office/drawing/2014/main" id="{60A8A28A-4E8F-7AA9-2133-C60DDD3E0CD0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23" name="Google Shape;2078;p72">
                <a:extLst>
                  <a:ext uri="{FF2B5EF4-FFF2-40B4-BE49-F238E27FC236}">
                    <a16:creationId xmlns:a16="http://schemas.microsoft.com/office/drawing/2014/main" id="{08D0B5A5-75B6-651E-0608-7BE272AC42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2342" y="5225603"/>
                <a:ext cx="565309" cy="528967"/>
              </a:xfrm>
              <a:prstGeom prst="straightConnector1">
                <a:avLst/>
              </a:prstGeom>
              <a:solidFill>
                <a:schemeClr val="lt1"/>
              </a:solidFill>
              <a:ln w="15875" cap="flat" cmpd="sng">
                <a:solidFill>
                  <a:schemeClr val="dk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sp>
            <p:nvSpPr>
              <p:cNvPr id="2424" name="TextBox 2423">
                <a:extLst>
                  <a:ext uri="{FF2B5EF4-FFF2-40B4-BE49-F238E27FC236}">
                    <a16:creationId xmlns:a16="http://schemas.microsoft.com/office/drawing/2014/main" id="{03E812DA-2775-30F6-F9C4-F1921847D62C}"/>
                  </a:ext>
                </a:extLst>
              </p:cNvPr>
              <p:cNvSpPr txBox="1"/>
              <p:nvPr/>
            </p:nvSpPr>
            <p:spPr>
              <a:xfrm flipH="1">
                <a:off x="6456880" y="5338341"/>
                <a:ext cx="137877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P</a:t>
                </a:r>
              </a:p>
            </p:txBody>
          </p:sp>
          <p:sp>
            <p:nvSpPr>
              <p:cNvPr id="2425" name="TextBox 2424">
                <a:extLst>
                  <a:ext uri="{FF2B5EF4-FFF2-40B4-BE49-F238E27FC236}">
                    <a16:creationId xmlns:a16="http://schemas.microsoft.com/office/drawing/2014/main" id="{1C81AF64-8A6A-B1CD-E718-A12288ED23A9}"/>
                  </a:ext>
                </a:extLst>
              </p:cNvPr>
              <p:cNvSpPr txBox="1"/>
              <p:nvPr/>
            </p:nvSpPr>
            <p:spPr>
              <a:xfrm flipH="1">
                <a:off x="6843490" y="5339051"/>
                <a:ext cx="142032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V</a:t>
                </a:r>
                <a:endParaRPr lang="en-US" sz="600" dirty="0"/>
              </a:p>
            </p:txBody>
          </p:sp>
        </p:grpSp>
        <p:grpSp>
          <p:nvGrpSpPr>
            <p:cNvPr id="2413" name="Group 2412">
              <a:extLst>
                <a:ext uri="{FF2B5EF4-FFF2-40B4-BE49-F238E27FC236}">
                  <a16:creationId xmlns:a16="http://schemas.microsoft.com/office/drawing/2014/main" id="{49493030-B2A9-8585-4138-102B1FCC5943}"/>
                </a:ext>
              </a:extLst>
            </p:cNvPr>
            <p:cNvGrpSpPr/>
            <p:nvPr/>
          </p:nvGrpSpPr>
          <p:grpSpPr>
            <a:xfrm rot="19052667">
              <a:off x="7497331" y="1708659"/>
              <a:ext cx="182989" cy="103"/>
              <a:chOff x="7905819" y="1100217"/>
              <a:chExt cx="182989" cy="103"/>
            </a:xfrm>
          </p:grpSpPr>
          <p:cxnSp>
            <p:nvCxnSpPr>
              <p:cNvPr id="2419" name="Straight Connector 2418">
                <a:extLst>
                  <a:ext uri="{FF2B5EF4-FFF2-40B4-BE49-F238E27FC236}">
                    <a16:creationId xmlns:a16="http://schemas.microsoft.com/office/drawing/2014/main" id="{C79E2A14-9663-46C7-21AC-29E0FCA207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0" name="Straight Connector 2419">
                <a:extLst>
                  <a:ext uri="{FF2B5EF4-FFF2-40B4-BE49-F238E27FC236}">
                    <a16:creationId xmlns:a16="http://schemas.microsoft.com/office/drawing/2014/main" id="{012B5FA6-1CF1-2DF0-38D7-89F1E748EB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1" name="Straight Connector 2420">
                <a:extLst>
                  <a:ext uri="{FF2B5EF4-FFF2-40B4-BE49-F238E27FC236}">
                    <a16:creationId xmlns:a16="http://schemas.microsoft.com/office/drawing/2014/main" id="{834346FB-7BF7-7179-AE3F-BEF098B9F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15" name="Group 2414">
              <a:extLst>
                <a:ext uri="{FF2B5EF4-FFF2-40B4-BE49-F238E27FC236}">
                  <a16:creationId xmlns:a16="http://schemas.microsoft.com/office/drawing/2014/main" id="{345AF768-C54B-9463-A2F1-0B28066539DA}"/>
                </a:ext>
              </a:extLst>
            </p:cNvPr>
            <p:cNvGrpSpPr/>
            <p:nvPr/>
          </p:nvGrpSpPr>
          <p:grpSpPr>
            <a:xfrm rot="19052667">
              <a:off x="7674595" y="1547803"/>
              <a:ext cx="182989" cy="103"/>
              <a:chOff x="7905819" y="1100217"/>
              <a:chExt cx="182989" cy="103"/>
            </a:xfrm>
          </p:grpSpPr>
          <p:cxnSp>
            <p:nvCxnSpPr>
              <p:cNvPr id="2416" name="Straight Connector 2415">
                <a:extLst>
                  <a:ext uri="{FF2B5EF4-FFF2-40B4-BE49-F238E27FC236}">
                    <a16:creationId xmlns:a16="http://schemas.microsoft.com/office/drawing/2014/main" id="{27CF2A04-32B5-D35D-4F38-4BFD2DCDF8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7" name="Straight Connector 2416">
                <a:extLst>
                  <a:ext uri="{FF2B5EF4-FFF2-40B4-BE49-F238E27FC236}">
                    <a16:creationId xmlns:a16="http://schemas.microsoft.com/office/drawing/2014/main" id="{AA18F9D5-D5CF-6332-9047-CCEFA19601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8" name="Straight Connector 2417">
                <a:extLst>
                  <a:ext uri="{FF2B5EF4-FFF2-40B4-BE49-F238E27FC236}">
                    <a16:creationId xmlns:a16="http://schemas.microsoft.com/office/drawing/2014/main" id="{464D3E7E-7B0B-EB12-2BC6-71BCC6FAC2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1762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93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vSAN Diagrams</a:t>
            </a:r>
            <a:endParaRPr/>
          </a:p>
        </p:txBody>
      </p:sp>
      <p:sp>
        <p:nvSpPr>
          <p:cNvPr id="2227" name="Google Shape;2227;p9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D89F-FC60-8A35-EF2F-61ED561A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5C8A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Standard vSAN Cluster v1.1</a:t>
            </a:r>
            <a:endParaRPr lang="en-US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0923E6-634B-893C-7A3D-3B905120E5B9}"/>
              </a:ext>
            </a:extLst>
          </p:cNvPr>
          <p:cNvGrpSpPr/>
          <p:nvPr/>
        </p:nvGrpSpPr>
        <p:grpSpPr>
          <a:xfrm>
            <a:off x="5107116" y="2093315"/>
            <a:ext cx="2045410" cy="3335773"/>
            <a:chOff x="5107116" y="2093315"/>
            <a:chExt cx="2045410" cy="333577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3B54822-271A-524F-F29B-15773F9F5631}"/>
                </a:ext>
              </a:extLst>
            </p:cNvPr>
            <p:cNvGrpSpPr/>
            <p:nvPr/>
          </p:nvGrpSpPr>
          <p:grpSpPr>
            <a:xfrm>
              <a:off x="5107116" y="2093315"/>
              <a:ext cx="2045410" cy="3335773"/>
              <a:chOff x="5076698" y="1409700"/>
              <a:chExt cx="2045943" cy="3336642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65A5113A-8A1E-BCE1-D8B5-448A274F7717}"/>
                  </a:ext>
                </a:extLst>
              </p:cNvPr>
              <p:cNvGrpSpPr/>
              <p:nvPr/>
            </p:nvGrpSpPr>
            <p:grpSpPr>
              <a:xfrm>
                <a:off x="5076698" y="1409700"/>
                <a:ext cx="2045943" cy="3336642"/>
                <a:chOff x="4152899" y="1409700"/>
                <a:chExt cx="2045943" cy="3336642"/>
              </a:xfrm>
            </p:grpSpPr>
            <p:sp>
              <p:nvSpPr>
                <p:cNvPr id="42" name="Google Shape;1342;p4">
                  <a:extLst>
                    <a:ext uri="{FF2B5EF4-FFF2-40B4-BE49-F238E27FC236}">
                      <a16:creationId xmlns:a16="http://schemas.microsoft.com/office/drawing/2014/main" id="{739A6EB8-614F-C17C-0CE7-D80C23AD3A1C}"/>
                    </a:ext>
                  </a:extLst>
                </p:cNvPr>
                <p:cNvSpPr/>
                <p:nvPr/>
              </p:nvSpPr>
              <p:spPr>
                <a:xfrm>
                  <a:off x="4152899" y="1409700"/>
                  <a:ext cx="2045943" cy="3336642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1" tIns="45688" rIns="91401" bIns="45688" anchor="t" anchorCtr="0">
                  <a:noAutofit/>
                </a:bodyPr>
                <a:lstStyle/>
                <a:p>
                  <a:pPr marL="0" marR="0" lvl="0" indent="0" algn="ctr" defTabSz="91412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VCF Instance</a:t>
                  </a:r>
                  <a:endParaRPr kumimoji="0" sz="1799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3" name="Google Shape;1344;p4">
                  <a:extLst>
                    <a:ext uri="{FF2B5EF4-FFF2-40B4-BE49-F238E27FC236}">
                      <a16:creationId xmlns:a16="http://schemas.microsoft.com/office/drawing/2014/main" id="{B11EBA53-A3D0-66FF-576D-ED34FCD5139D}"/>
                    </a:ext>
                  </a:extLst>
                </p:cNvPr>
                <p:cNvSpPr/>
                <p:nvPr/>
              </p:nvSpPr>
              <p:spPr>
                <a:xfrm>
                  <a:off x="4508500" y="2432049"/>
                  <a:ext cx="1327402" cy="1859609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1" tIns="45688" rIns="91401" bIns="45688" anchor="t" anchorCtr="0">
                  <a:noAutofit/>
                </a:bodyPr>
                <a:lstStyle/>
                <a:p>
                  <a:pPr marL="0" marR="0" lvl="0" indent="0" algn="ctr" defTabSz="91412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Rack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endParaRPr>
                </a:p>
              </p:txBody>
            </p:sp>
            <p:sp>
              <p:nvSpPr>
                <p:cNvPr id="44" name="Google Shape;1343;p4">
                  <a:extLst>
                    <a:ext uri="{FF2B5EF4-FFF2-40B4-BE49-F238E27FC236}">
                      <a16:creationId xmlns:a16="http://schemas.microsoft.com/office/drawing/2014/main" id="{539850E8-E2D1-6574-485E-9F49C21D78C3}"/>
                    </a:ext>
                  </a:extLst>
                </p:cNvPr>
                <p:cNvSpPr/>
                <p:nvPr/>
              </p:nvSpPr>
              <p:spPr>
                <a:xfrm>
                  <a:off x="4425950" y="2051050"/>
                  <a:ext cx="1496343" cy="2455134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000000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01" tIns="45688" rIns="91401" bIns="45688" anchor="t" anchorCtr="0">
                  <a:noAutofit/>
                </a:bodyPr>
                <a:lstStyle/>
                <a:p>
                  <a:pPr marL="0" marR="0" lvl="0" indent="0" algn="ctr" defTabSz="91412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2841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Availability Zone </a:t>
                  </a:r>
                  <a:endParaRPr kumimoji="0" sz="1799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5" name="Google Shape;1343;p4">
                  <a:extLst>
                    <a:ext uri="{FF2B5EF4-FFF2-40B4-BE49-F238E27FC236}">
                      <a16:creationId xmlns:a16="http://schemas.microsoft.com/office/drawing/2014/main" id="{0A9C6264-A4B2-DE64-3F6B-E875C9BEE1AF}"/>
                    </a:ext>
                  </a:extLst>
                </p:cNvPr>
                <p:cNvSpPr/>
                <p:nvPr/>
              </p:nvSpPr>
              <p:spPr>
                <a:xfrm>
                  <a:off x="4273550" y="1733550"/>
                  <a:ext cx="1806308" cy="2940306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000000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01" tIns="45688" rIns="91401" bIns="45688" anchor="t" anchorCtr="0">
                  <a:noAutofit/>
                </a:bodyPr>
                <a:lstStyle/>
                <a:p>
                  <a:pPr marL="0" marR="0" lvl="0" indent="0" algn="ctr" defTabSz="91412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2841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Workload Domain</a:t>
                  </a:r>
                  <a:endParaRPr kumimoji="0" lang="en-US" sz="1799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F0A5A8D5-F518-95C8-7415-F9F28528F4BC}"/>
                    </a:ext>
                  </a:extLst>
                </p:cNvPr>
                <p:cNvGrpSpPr/>
                <p:nvPr/>
              </p:nvGrpSpPr>
              <p:grpSpPr>
                <a:xfrm>
                  <a:off x="4590030" y="2926055"/>
                  <a:ext cx="1166174" cy="875016"/>
                  <a:chOff x="5280401" y="2395536"/>
                  <a:chExt cx="1383458" cy="1185736"/>
                </a:xfrm>
              </p:grpSpPr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F6F80232-0F21-4905-EA32-35A268659CD8}"/>
                      </a:ext>
                    </a:extLst>
                  </p:cNvPr>
                  <p:cNvSpPr/>
                  <p:nvPr/>
                </p:nvSpPr>
                <p:spPr>
                  <a:xfrm>
                    <a:off x="5280401" y="2659389"/>
                    <a:ext cx="1383458" cy="921883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99999B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2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9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2A6AE1CD-3C73-139E-5E59-6499918D22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72419" y="2395536"/>
                    <a:ext cx="586" cy="263475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rgbClr val="99999B"/>
                    </a:solidFill>
                    <a:prstDash val="solid"/>
                    <a:miter lim="800000"/>
                  </a:ln>
                  <a:effectLst/>
                </p:spPr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A2DA14B2-FC47-8252-72AB-5FB1AF7B21DC}"/>
                    </a:ext>
                  </a:extLst>
                </p:cNvPr>
                <p:cNvGrpSpPr/>
                <p:nvPr/>
              </p:nvGrpSpPr>
              <p:grpSpPr>
                <a:xfrm>
                  <a:off x="4641850" y="3149603"/>
                  <a:ext cx="1075963" cy="1046912"/>
                  <a:chOff x="5002003" y="2630008"/>
                  <a:chExt cx="1730045" cy="1291434"/>
                </a:xfrm>
              </p:grpSpPr>
              <p:pic>
                <p:nvPicPr>
                  <p:cNvPr id="48" name="Graphic 47">
                    <a:extLst>
                      <a:ext uri="{FF2B5EF4-FFF2-40B4-BE49-F238E27FC236}">
                        <a16:creationId xmlns:a16="http://schemas.microsoft.com/office/drawing/2014/main" id="{FEB98A57-FC08-AF57-1210-3198FF224B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10697" y="3170392"/>
                    <a:ext cx="829811" cy="216217"/>
                  </a:xfrm>
                  <a:prstGeom prst="rect">
                    <a:avLst/>
                  </a:prstGeom>
                </p:spPr>
              </p:pic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BCB8F58A-B2AB-1EEC-EB28-9FAB2CFEA455}"/>
                      </a:ext>
                    </a:extLst>
                  </p:cNvPr>
                  <p:cNvGrpSpPr/>
                  <p:nvPr/>
                </p:nvGrpSpPr>
                <p:grpSpPr>
                  <a:xfrm>
                    <a:off x="5007433" y="2630008"/>
                    <a:ext cx="1718644" cy="1291434"/>
                    <a:chOff x="7979477" y="2226254"/>
                    <a:chExt cx="1718644" cy="1291434"/>
                  </a:xfrm>
                  <a:solidFill>
                    <a:srgbClr val="000000"/>
                  </a:solidFill>
                </p:grpSpPr>
                <p:pic>
                  <p:nvPicPr>
                    <p:cNvPr id="53" name="Graphic 52">
                      <a:extLst>
                        <a:ext uri="{FF2B5EF4-FFF2-40B4-BE49-F238E27FC236}">
                          <a16:creationId xmlns:a16="http://schemas.microsoft.com/office/drawing/2014/main" id="{47E9FC29-B205-3253-DA3E-1DD26473501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985042" y="2226254"/>
                      <a:ext cx="829812" cy="216217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5049895C-BAC3-0336-8A24-3CDC37FD94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79477" y="3119033"/>
                      <a:ext cx="1718644" cy="398655"/>
                      <a:chOff x="1144312" y="5070600"/>
                      <a:chExt cx="1905360" cy="322073"/>
                    </a:xfrm>
                    <a:grpFill/>
                  </p:grpSpPr>
                  <p:cxnSp>
                    <p:nvCxnSpPr>
                      <p:cNvPr id="56" name="Straight Connector 55">
                        <a:extLst>
                          <a:ext uri="{FF2B5EF4-FFF2-40B4-BE49-F238E27FC236}">
                            <a16:creationId xmlns:a16="http://schemas.microsoft.com/office/drawing/2014/main" id="{3D8B6A41-5B27-F90D-46EE-C903B833E9C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 bwMode="gray">
                      <a:xfrm>
                        <a:off x="1144312" y="5103053"/>
                        <a:ext cx="0" cy="124130"/>
                      </a:xfrm>
                      <a:prstGeom prst="line">
                        <a:avLst/>
                      </a:prstGeom>
                      <a:grpFill/>
                      <a:ln w="12700" cap="flat" cmpd="sng" algn="ctr">
                        <a:solidFill>
                          <a:srgbClr val="0098C7"/>
                        </a:solidFill>
                        <a:prstDash val="solid"/>
                        <a:miter lim="800000"/>
                        <a:tailEnd type="none"/>
                      </a:ln>
                      <a:effectLst/>
                    </p:spPr>
                  </p:cxnSp>
                  <p:cxnSp>
                    <p:nvCxnSpPr>
                      <p:cNvPr id="57" name="Straight Connector 56">
                        <a:extLst>
                          <a:ext uri="{FF2B5EF4-FFF2-40B4-BE49-F238E27FC236}">
                            <a16:creationId xmlns:a16="http://schemas.microsoft.com/office/drawing/2014/main" id="{06A61CA6-8A63-9BAE-7537-056F2B194E4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 bwMode="gray">
                      <a:xfrm>
                        <a:off x="2718411" y="5234336"/>
                        <a:ext cx="331261" cy="0"/>
                      </a:xfrm>
                      <a:prstGeom prst="line">
                        <a:avLst/>
                      </a:prstGeom>
                      <a:grpFill/>
                      <a:ln w="12700" cap="flat" cmpd="sng" algn="ctr">
                        <a:solidFill>
                          <a:srgbClr val="0098C7"/>
                        </a:solidFill>
                        <a:prstDash val="solid"/>
                        <a:miter lim="800000"/>
                        <a:tailEnd type="none"/>
                      </a:ln>
                      <a:effectLst/>
                    </p:spPr>
                  </p:cxnSp>
                  <p:cxnSp>
                    <p:nvCxnSpPr>
                      <p:cNvPr id="58" name="Straight Connector 57">
                        <a:extLst>
                          <a:ext uri="{FF2B5EF4-FFF2-40B4-BE49-F238E27FC236}">
                            <a16:creationId xmlns:a16="http://schemas.microsoft.com/office/drawing/2014/main" id="{0C281F62-24CC-385C-5C69-2A29B281CCC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 bwMode="gray">
                      <a:xfrm>
                        <a:off x="3049671" y="5070600"/>
                        <a:ext cx="0" cy="159181"/>
                      </a:xfrm>
                      <a:prstGeom prst="line">
                        <a:avLst/>
                      </a:prstGeom>
                      <a:grpFill/>
                      <a:ln w="12700" cap="flat" cmpd="sng" algn="ctr">
                        <a:solidFill>
                          <a:srgbClr val="0098C7"/>
                        </a:solidFill>
                        <a:prstDash val="solid"/>
                        <a:miter lim="800000"/>
                        <a:tailEnd type="none"/>
                      </a:ln>
                      <a:effectLst/>
                    </p:spPr>
                  </p:cxnSp>
                  <p:cxnSp>
                    <p:nvCxnSpPr>
                      <p:cNvPr id="59" name="Straight Connector 58">
                        <a:extLst>
                          <a:ext uri="{FF2B5EF4-FFF2-40B4-BE49-F238E27FC236}">
                            <a16:creationId xmlns:a16="http://schemas.microsoft.com/office/drawing/2014/main" id="{72B15DFE-87E4-A9D5-1A1A-586843F506E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 bwMode="gray">
                      <a:xfrm>
                        <a:off x="1147931" y="5227183"/>
                        <a:ext cx="278276" cy="0"/>
                      </a:xfrm>
                      <a:prstGeom prst="line">
                        <a:avLst/>
                      </a:prstGeom>
                      <a:grpFill/>
                      <a:ln w="12700" cap="flat" cmpd="sng" algn="ctr">
                        <a:solidFill>
                          <a:srgbClr val="0098C7"/>
                        </a:solidFill>
                        <a:prstDash val="solid"/>
                        <a:miter lim="800000"/>
                        <a:tailEnd type="none"/>
                      </a:ln>
                      <a:effectLst/>
                    </p:spPr>
                  </p:cxnSp>
                  <p:sp>
                    <p:nvSpPr>
                      <p:cNvPr id="60" name="TextBox 59">
                        <a:extLst>
                          <a:ext uri="{FF2B5EF4-FFF2-40B4-BE49-F238E27FC236}">
                            <a16:creationId xmlns:a16="http://schemas.microsoft.com/office/drawing/2014/main" id="{93BF2C8C-5439-277E-2798-22D6DF8C6AA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31459" y="5254646"/>
                        <a:ext cx="1588813" cy="13802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pPr marL="0" marR="0" lvl="0" indent="0" algn="ctr" defTabSz="914126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6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98C7"/>
                            </a:solidFill>
                            <a:effectLst/>
                            <a:uLnTx/>
                            <a:uFillTx/>
                            <a:latin typeface="Metropolis" pitchFamily="2" charset="77"/>
                            <a:ea typeface="+mn-ea"/>
                            <a:cs typeface="Arial"/>
                            <a:sym typeface="Arial"/>
                          </a:rPr>
                          <a:t>vSAN Cluster</a:t>
                        </a:r>
                      </a:p>
                    </p:txBody>
                  </p:sp>
                </p:grpSp>
                <p:pic>
                  <p:nvPicPr>
                    <p:cNvPr id="55" name="Graphic 54">
                      <a:extLst>
                        <a:ext uri="{FF2B5EF4-FFF2-40B4-BE49-F238E27FC236}">
                          <a16:creationId xmlns:a16="http://schemas.microsoft.com/office/drawing/2014/main" id="{00020430-BEA6-03DD-5B95-EFDAD96E1B8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850480" y="2226254"/>
                      <a:ext cx="829812" cy="21621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50" name="Graphic 49">
                    <a:extLst>
                      <a:ext uri="{FF2B5EF4-FFF2-40B4-BE49-F238E27FC236}">
                        <a16:creationId xmlns:a16="http://schemas.microsoft.com/office/drawing/2014/main" id="{3F672761-CDA6-1C7E-8693-F6CBF455FD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02003" y="2881013"/>
                    <a:ext cx="829812" cy="216217"/>
                  </a:xfrm>
                  <a:prstGeom prst="rect">
                    <a:avLst/>
                  </a:prstGeom>
                </p:spPr>
              </p:pic>
              <p:pic>
                <p:nvPicPr>
                  <p:cNvPr id="51" name="Graphic 50">
                    <a:extLst>
                      <a:ext uri="{FF2B5EF4-FFF2-40B4-BE49-F238E27FC236}">
                        <a16:creationId xmlns:a16="http://schemas.microsoft.com/office/drawing/2014/main" id="{6345E276-154C-835A-E26B-FE5ADFAA4A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892800" y="2893180"/>
                    <a:ext cx="829812" cy="216217"/>
                  </a:xfrm>
                  <a:prstGeom prst="rect">
                    <a:avLst/>
                  </a:prstGeom>
                </p:spPr>
              </p:pic>
              <p:pic>
                <p:nvPicPr>
                  <p:cNvPr id="52" name="Graphic 51">
                    <a:extLst>
                      <a:ext uri="{FF2B5EF4-FFF2-40B4-BE49-F238E27FC236}">
                        <a16:creationId xmlns:a16="http://schemas.microsoft.com/office/drawing/2014/main" id="{4A708DF4-3D6B-B645-5137-0ACAD9C3B1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02237" y="3172716"/>
                    <a:ext cx="829811" cy="216217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9" name="Google Shape;1347;p4">
                <a:extLst>
                  <a:ext uri="{FF2B5EF4-FFF2-40B4-BE49-F238E27FC236}">
                    <a16:creationId xmlns:a16="http://schemas.microsoft.com/office/drawing/2014/main" id="{8771295B-198E-E1F2-5151-61488F695F16}"/>
                  </a:ext>
                </a:extLst>
              </p:cNvPr>
              <p:cNvSpPr/>
              <p:nvPr/>
            </p:nvSpPr>
            <p:spPr>
              <a:xfrm>
                <a:off x="5459683" y="3033661"/>
                <a:ext cx="1272634" cy="1190799"/>
              </a:xfrm>
              <a:prstGeom prst="rect">
                <a:avLst/>
              </a:prstGeom>
              <a:noFill/>
              <a:ln w="12700" cap="flat" cmpd="sng">
                <a:solidFill>
                  <a:srgbClr val="0098C7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45688" rIns="91401" bIns="45688" anchor="t" anchorCtr="0">
                <a:noAutofit/>
              </a:bodyPr>
              <a:lstStyle/>
              <a:p>
                <a:pPr marL="0" marR="0" lvl="0" indent="0" algn="ctr" defTabSz="91412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0098C7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</p:grp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9CE1270-E759-3DB9-4350-E3EC123D1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84912" y="3436051"/>
              <a:ext cx="197738" cy="183344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85150015-B738-3817-AB44-BD29208B4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08913" y="3442187"/>
              <a:ext cx="197738" cy="183344"/>
            </a:xfrm>
            <a:prstGeom prst="rect">
              <a:avLst/>
            </a:prstGeom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6C8BA8E-2551-E447-56E2-062BB12CFAE3}"/>
                </a:ext>
              </a:extLst>
            </p:cNvPr>
            <p:cNvCxnSpPr>
              <a:cxnSpLocks/>
            </p:cNvCxnSpPr>
            <p:nvPr/>
          </p:nvCxnSpPr>
          <p:spPr>
            <a:xfrm>
              <a:off x="6416078" y="3609275"/>
              <a:ext cx="494" cy="194381"/>
            </a:xfrm>
            <a:prstGeom prst="line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59060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945A6-B7A7-87B3-FC06-F8FAA6800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076DD-E8FD-3FFA-BD77-E17ED7AB8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</p:spPr>
        <p:txBody>
          <a:bodyPr>
            <a:normAutofit fontScale="90000"/>
          </a:bodyPr>
          <a:lstStyle/>
          <a:p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5C8A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Standard vSAN Cluster – ready for export 24% 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A7E3A94-BEF0-8DAE-957F-127ECAE6D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4848" y="2144564"/>
            <a:ext cx="1709928" cy="277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618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31EB-FEEB-7FB3-3943-61788A1A0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Standard vSAN ESA Cluster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A5D236F-83E3-95F0-DA31-34EABF1D72E9}"/>
              </a:ext>
            </a:extLst>
          </p:cNvPr>
          <p:cNvGrpSpPr/>
          <p:nvPr/>
        </p:nvGrpSpPr>
        <p:grpSpPr>
          <a:xfrm>
            <a:off x="4997583" y="1412984"/>
            <a:ext cx="2044800" cy="4302016"/>
            <a:chOff x="4997583" y="1412984"/>
            <a:chExt cx="2044800" cy="4302016"/>
          </a:xfrm>
        </p:grpSpPr>
        <p:sp>
          <p:nvSpPr>
            <p:cNvPr id="58" name="Google Shape;1342;p4">
              <a:extLst>
                <a:ext uri="{FF2B5EF4-FFF2-40B4-BE49-F238E27FC236}">
                  <a16:creationId xmlns:a16="http://schemas.microsoft.com/office/drawing/2014/main" id="{822F2BB9-95BB-02BA-A24A-ABF9A084DFD8}"/>
                </a:ext>
              </a:extLst>
            </p:cNvPr>
            <p:cNvSpPr/>
            <p:nvPr/>
          </p:nvSpPr>
          <p:spPr>
            <a:xfrm>
              <a:off x="4997583" y="1412984"/>
              <a:ext cx="2044800" cy="4302016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VCF Instance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9" name="Google Shape;1344;p4">
              <a:extLst>
                <a:ext uri="{FF2B5EF4-FFF2-40B4-BE49-F238E27FC236}">
                  <a16:creationId xmlns:a16="http://schemas.microsoft.com/office/drawing/2014/main" id="{25EEEAAB-A8CB-A725-19C2-22C8B1E91F51}"/>
                </a:ext>
              </a:extLst>
            </p:cNvPr>
            <p:cNvSpPr/>
            <p:nvPr/>
          </p:nvSpPr>
          <p:spPr>
            <a:xfrm>
              <a:off x="5355783" y="2400300"/>
              <a:ext cx="1328400" cy="2843246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60" name="Google Shape;1347;p4">
              <a:extLst>
                <a:ext uri="{FF2B5EF4-FFF2-40B4-BE49-F238E27FC236}">
                  <a16:creationId xmlns:a16="http://schemas.microsoft.com/office/drawing/2014/main" id="{91F797DA-3C82-3CAC-DBE9-F9550E9CA92D}"/>
                </a:ext>
              </a:extLst>
            </p:cNvPr>
            <p:cNvSpPr/>
            <p:nvPr/>
          </p:nvSpPr>
          <p:spPr>
            <a:xfrm>
              <a:off x="5464176" y="3032953"/>
              <a:ext cx="1129344" cy="2057493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98C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98C7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C5E754B-F4CF-5E41-CD4B-524170C0BA3B}"/>
                </a:ext>
              </a:extLst>
            </p:cNvPr>
            <p:cNvGrpSpPr/>
            <p:nvPr/>
          </p:nvGrpSpPr>
          <p:grpSpPr>
            <a:xfrm>
              <a:off x="5464175" y="3115597"/>
              <a:ext cx="1080000" cy="1814952"/>
              <a:chOff x="8796632" y="2420714"/>
              <a:chExt cx="1856694" cy="1921843"/>
            </a:xfrm>
          </p:grpSpPr>
          <p:pic>
            <p:nvPicPr>
              <p:cNvPr id="70" name="Graphic 69">
                <a:extLst>
                  <a:ext uri="{FF2B5EF4-FFF2-40B4-BE49-F238E27FC236}">
                    <a16:creationId xmlns:a16="http://schemas.microsoft.com/office/drawing/2014/main" id="{1A3D86C1-4100-EFA3-9E12-8EF4A400DA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885673" y="3228119"/>
                <a:ext cx="829812" cy="216217"/>
              </a:xfrm>
              <a:prstGeom prst="rect">
                <a:avLst/>
              </a:prstGeom>
            </p:spPr>
          </p:pic>
          <p:pic>
            <p:nvPicPr>
              <p:cNvPr id="71" name="Graphic 70">
                <a:extLst>
                  <a:ext uri="{FF2B5EF4-FFF2-40B4-BE49-F238E27FC236}">
                    <a16:creationId xmlns:a16="http://schemas.microsoft.com/office/drawing/2014/main" id="{4751BF4C-06E9-FF1E-163F-975F611A8A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785694" y="3228119"/>
                <a:ext cx="829812" cy="216217"/>
              </a:xfrm>
              <a:prstGeom prst="rect">
                <a:avLst/>
              </a:prstGeom>
            </p:spPr>
          </p:pic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570F4D22-F853-EFF4-05D6-C0F656B469D9}"/>
                  </a:ext>
                </a:extLst>
              </p:cNvPr>
              <p:cNvGrpSpPr/>
              <p:nvPr/>
            </p:nvGrpSpPr>
            <p:grpSpPr>
              <a:xfrm>
                <a:off x="8880930" y="2420714"/>
                <a:ext cx="1740513" cy="1921843"/>
                <a:chOff x="7985042" y="2226254"/>
                <a:chExt cx="1740513" cy="1921843"/>
              </a:xfrm>
              <a:solidFill>
                <a:srgbClr val="000000"/>
              </a:solidFill>
            </p:grpSpPr>
            <p:pic>
              <p:nvPicPr>
                <p:cNvPr id="101" name="Graphic 100">
                  <a:extLst>
                    <a:ext uri="{FF2B5EF4-FFF2-40B4-BE49-F238E27FC236}">
                      <a16:creationId xmlns:a16="http://schemas.microsoft.com/office/drawing/2014/main" id="{FD7487B2-ECC5-6DF5-AD9D-9544C31676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85042" y="2226254"/>
                  <a:ext cx="829812" cy="216217"/>
                </a:xfrm>
                <a:prstGeom prst="rect">
                  <a:avLst/>
                </a:prstGeom>
              </p:spPr>
            </p:pic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737C5F13-58D8-7508-4B14-34867F0ACE51}"/>
                    </a:ext>
                  </a:extLst>
                </p:cNvPr>
                <p:cNvGrpSpPr/>
                <p:nvPr/>
              </p:nvGrpSpPr>
              <p:grpSpPr>
                <a:xfrm>
                  <a:off x="7995389" y="3732144"/>
                  <a:ext cx="1724230" cy="415953"/>
                  <a:chOff x="1161952" y="5565948"/>
                  <a:chExt cx="1911552" cy="336049"/>
                </a:xfrm>
                <a:grpFill/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A424A3F6-2C20-E974-FFA2-06849B4A2A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1168145" y="5598400"/>
                    <a:ext cx="0" cy="12413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98C7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58DF2970-5785-01BF-2C09-A68F27BE27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2742243" y="5729681"/>
                    <a:ext cx="331261" cy="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98C7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90FBE6B4-1FF7-7366-0393-991AC222B2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3073503" y="5565948"/>
                    <a:ext cx="0" cy="159181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98C7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739A7FF5-2697-9524-BFDF-7D5F7732AC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1161952" y="5722531"/>
                    <a:ext cx="278275" cy="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98C7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3BE5E15F-EBF8-F823-68C0-CDEB02EA1E8D}"/>
                      </a:ext>
                    </a:extLst>
                  </p:cNvPr>
                  <p:cNvSpPr txBox="1"/>
                  <p:nvPr/>
                </p:nvSpPr>
                <p:spPr>
                  <a:xfrm>
                    <a:off x="1297319" y="5784744"/>
                    <a:ext cx="1588813" cy="11725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98C7"/>
                        </a:solidFill>
                        <a:effectLst/>
                        <a:uLnTx/>
                        <a:uFillTx/>
                        <a:latin typeface="Metropolis" pitchFamily="2" charset="77"/>
                        <a:ea typeface="+mn-ea"/>
                        <a:cs typeface="Arial"/>
                        <a:sym typeface="Arial"/>
                      </a:rPr>
                      <a:t>vSAN ESA Cluster </a:t>
                    </a:r>
                  </a:p>
                </p:txBody>
              </p:sp>
            </p:grpSp>
            <p:pic>
              <p:nvPicPr>
                <p:cNvPr id="103" name="Graphic 102">
                  <a:extLst>
                    <a:ext uri="{FF2B5EF4-FFF2-40B4-BE49-F238E27FC236}">
                      <a16:creationId xmlns:a16="http://schemas.microsoft.com/office/drawing/2014/main" id="{22EEB8CE-1111-2601-E5FE-A498E197A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95743" y="2226254"/>
                  <a:ext cx="829812" cy="216217"/>
                </a:xfrm>
                <a:prstGeom prst="rect">
                  <a:avLst/>
                </a:prstGeom>
              </p:spPr>
            </p:pic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FD90DCC-5747-6D35-4282-06E9C1AA0396}"/>
                  </a:ext>
                </a:extLst>
              </p:cNvPr>
              <p:cNvGrpSpPr/>
              <p:nvPr/>
            </p:nvGrpSpPr>
            <p:grpSpPr>
              <a:xfrm>
                <a:off x="8796632" y="2638736"/>
                <a:ext cx="942584" cy="644856"/>
                <a:chOff x="1268700" y="2434492"/>
                <a:chExt cx="942584" cy="644856"/>
              </a:xfrm>
              <a:solidFill>
                <a:srgbClr val="000000"/>
              </a:solidFill>
            </p:grpSpPr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92AFC2EA-6AEC-F4B9-EB57-55C061034712}"/>
                    </a:ext>
                  </a:extLst>
                </p:cNvPr>
                <p:cNvSpPr txBox="1"/>
                <p:nvPr/>
              </p:nvSpPr>
              <p:spPr>
                <a:xfrm>
                  <a:off x="1268700" y="2756830"/>
                  <a:ext cx="942584" cy="322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98C7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Storage Pool</a:t>
                  </a:r>
                </a:p>
              </p:txBody>
            </p:sp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E3C6384D-90DF-A586-C3F1-6EBD75D5D958}"/>
                    </a:ext>
                  </a:extLst>
                </p:cNvPr>
                <p:cNvGrpSpPr/>
                <p:nvPr/>
              </p:nvGrpSpPr>
              <p:grpSpPr>
                <a:xfrm>
                  <a:off x="1415275" y="2434492"/>
                  <a:ext cx="682704" cy="224661"/>
                  <a:chOff x="1857999" y="2724089"/>
                  <a:chExt cx="682704" cy="224661"/>
                </a:xfrm>
                <a:grpFill/>
              </p:grpSpPr>
              <p:pic>
                <p:nvPicPr>
                  <p:cNvPr id="99" name="Graphic 98">
                    <a:extLst>
                      <a:ext uri="{FF2B5EF4-FFF2-40B4-BE49-F238E27FC236}">
                        <a16:creationId xmlns:a16="http://schemas.microsoft.com/office/drawing/2014/main" id="{0C508280-8EA5-8737-5F3B-E1DB5AA787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1857999" y="2724089"/>
                    <a:ext cx="255889" cy="218051"/>
                  </a:xfrm>
                  <a:prstGeom prst="rect">
                    <a:avLst/>
                  </a:prstGeom>
                </p:spPr>
              </p:pic>
              <p:pic>
                <p:nvPicPr>
                  <p:cNvPr id="100" name="Graphic 99">
                    <a:extLst>
                      <a:ext uri="{FF2B5EF4-FFF2-40B4-BE49-F238E27FC236}">
                        <a16:creationId xmlns:a16="http://schemas.microsoft.com/office/drawing/2014/main" id="{1A3F14BE-F293-C9C8-B2D4-5A507DC248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2284814" y="2730699"/>
                    <a:ext cx="255889" cy="21805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7" name="Graphic 96">
                  <a:extLst>
                    <a:ext uri="{FF2B5EF4-FFF2-40B4-BE49-F238E27FC236}">
                      <a16:creationId xmlns:a16="http://schemas.microsoft.com/office/drawing/2014/main" id="{4D75282C-3B8D-F615-3556-6C976CB8FD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424740" y="2610427"/>
                  <a:ext cx="255889" cy="218051"/>
                </a:xfrm>
                <a:prstGeom prst="rect">
                  <a:avLst/>
                </a:prstGeom>
              </p:spPr>
            </p:pic>
            <p:pic>
              <p:nvPicPr>
                <p:cNvPr id="98" name="Graphic 97">
                  <a:extLst>
                    <a:ext uri="{FF2B5EF4-FFF2-40B4-BE49-F238E27FC236}">
                      <a16:creationId xmlns:a16="http://schemas.microsoft.com/office/drawing/2014/main" id="{248B67F1-DD3E-8A0E-D6EB-66CE5B67A7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842090" y="2605784"/>
                  <a:ext cx="255889" cy="218051"/>
                </a:xfrm>
                <a:prstGeom prst="rect">
                  <a:avLst/>
                </a:prstGeom>
              </p:spPr>
            </p:pic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BEEAD5EC-DE16-AC4C-DF9F-39E9DED134D7}"/>
                  </a:ext>
                </a:extLst>
              </p:cNvPr>
              <p:cNvGrpSpPr/>
              <p:nvPr/>
            </p:nvGrpSpPr>
            <p:grpSpPr>
              <a:xfrm>
                <a:off x="9678859" y="3445347"/>
                <a:ext cx="942584" cy="685756"/>
                <a:chOff x="1259420" y="2434492"/>
                <a:chExt cx="942584" cy="685756"/>
              </a:xfrm>
              <a:solidFill>
                <a:srgbClr val="000000"/>
              </a:solidFill>
            </p:grpSpPr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567CF36-B702-5982-00C1-FAC7A3C7A5FD}"/>
                    </a:ext>
                  </a:extLst>
                </p:cNvPr>
                <p:cNvSpPr txBox="1"/>
                <p:nvPr/>
              </p:nvSpPr>
              <p:spPr>
                <a:xfrm>
                  <a:off x="1259420" y="2797730"/>
                  <a:ext cx="942584" cy="322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98C7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Storage Pool</a:t>
                  </a:r>
                </a:p>
              </p:txBody>
            </p:sp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E614036D-3122-F71A-5E79-D1753CF1EDC2}"/>
                    </a:ext>
                  </a:extLst>
                </p:cNvPr>
                <p:cNvGrpSpPr/>
                <p:nvPr/>
              </p:nvGrpSpPr>
              <p:grpSpPr>
                <a:xfrm>
                  <a:off x="1415275" y="2434492"/>
                  <a:ext cx="682704" cy="224661"/>
                  <a:chOff x="1857999" y="2724089"/>
                  <a:chExt cx="682704" cy="224661"/>
                </a:xfrm>
                <a:grpFill/>
              </p:grpSpPr>
              <p:pic>
                <p:nvPicPr>
                  <p:cNvPr id="93" name="Graphic 92">
                    <a:extLst>
                      <a:ext uri="{FF2B5EF4-FFF2-40B4-BE49-F238E27FC236}">
                        <a16:creationId xmlns:a16="http://schemas.microsoft.com/office/drawing/2014/main" id="{C25BF414-E190-C1EA-186C-DBD8FD4E03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1857999" y="2724089"/>
                    <a:ext cx="255889" cy="218051"/>
                  </a:xfrm>
                  <a:prstGeom prst="rect">
                    <a:avLst/>
                  </a:prstGeom>
                </p:spPr>
              </p:pic>
              <p:pic>
                <p:nvPicPr>
                  <p:cNvPr id="94" name="Graphic 93">
                    <a:extLst>
                      <a:ext uri="{FF2B5EF4-FFF2-40B4-BE49-F238E27FC236}">
                        <a16:creationId xmlns:a16="http://schemas.microsoft.com/office/drawing/2014/main" id="{C104C2E8-82F6-D9F4-143E-A98E060903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2284814" y="2730699"/>
                    <a:ext cx="255889" cy="21805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1" name="Graphic 90">
                  <a:extLst>
                    <a:ext uri="{FF2B5EF4-FFF2-40B4-BE49-F238E27FC236}">
                      <a16:creationId xmlns:a16="http://schemas.microsoft.com/office/drawing/2014/main" id="{5E8A8B59-1F47-7C6C-04D0-967BC8094F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424740" y="2610427"/>
                  <a:ext cx="255889" cy="218051"/>
                </a:xfrm>
                <a:prstGeom prst="rect">
                  <a:avLst/>
                </a:prstGeom>
              </p:spPr>
            </p:pic>
            <p:pic>
              <p:nvPicPr>
                <p:cNvPr id="92" name="Graphic 91">
                  <a:extLst>
                    <a:ext uri="{FF2B5EF4-FFF2-40B4-BE49-F238E27FC236}">
                      <a16:creationId xmlns:a16="http://schemas.microsoft.com/office/drawing/2014/main" id="{A0133056-0027-A5F4-ACF3-40AB2AA36D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842090" y="2605784"/>
                  <a:ext cx="255889" cy="218051"/>
                </a:xfrm>
                <a:prstGeom prst="rect">
                  <a:avLst/>
                </a:prstGeom>
              </p:spPr>
            </p:pic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19D5545A-CF24-9047-81DC-29EBAB2EA598}"/>
                  </a:ext>
                </a:extLst>
              </p:cNvPr>
              <p:cNvGrpSpPr/>
              <p:nvPr/>
            </p:nvGrpSpPr>
            <p:grpSpPr>
              <a:xfrm>
                <a:off x="9710742" y="2640615"/>
                <a:ext cx="942584" cy="637289"/>
                <a:chOff x="1291303" y="2434492"/>
                <a:chExt cx="942584" cy="637289"/>
              </a:xfrm>
              <a:solidFill>
                <a:srgbClr val="000000"/>
              </a:solidFill>
            </p:grpSpPr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163B9F96-0991-337D-B45D-3554CD220D6C}"/>
                    </a:ext>
                  </a:extLst>
                </p:cNvPr>
                <p:cNvSpPr txBox="1"/>
                <p:nvPr/>
              </p:nvSpPr>
              <p:spPr>
                <a:xfrm>
                  <a:off x="1291303" y="2749263"/>
                  <a:ext cx="942584" cy="322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98C7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Storage Pool</a:t>
                  </a:r>
                </a:p>
              </p:txBody>
            </p:sp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30907147-914B-DFE5-58BF-DE246665FCE2}"/>
                    </a:ext>
                  </a:extLst>
                </p:cNvPr>
                <p:cNvGrpSpPr/>
                <p:nvPr/>
              </p:nvGrpSpPr>
              <p:grpSpPr>
                <a:xfrm>
                  <a:off x="1415275" y="2434492"/>
                  <a:ext cx="682704" cy="224661"/>
                  <a:chOff x="1857999" y="2724089"/>
                  <a:chExt cx="682704" cy="224661"/>
                </a:xfrm>
                <a:grpFill/>
              </p:grpSpPr>
              <p:pic>
                <p:nvPicPr>
                  <p:cNvPr id="87" name="Graphic 86">
                    <a:extLst>
                      <a:ext uri="{FF2B5EF4-FFF2-40B4-BE49-F238E27FC236}">
                        <a16:creationId xmlns:a16="http://schemas.microsoft.com/office/drawing/2014/main" id="{737BD91F-6248-49D9-8EE6-6D03B099F00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1857999" y="2724089"/>
                    <a:ext cx="255889" cy="218051"/>
                  </a:xfrm>
                  <a:prstGeom prst="rect">
                    <a:avLst/>
                  </a:prstGeom>
                </p:spPr>
              </p:pic>
              <p:pic>
                <p:nvPicPr>
                  <p:cNvPr id="88" name="Graphic 87">
                    <a:extLst>
                      <a:ext uri="{FF2B5EF4-FFF2-40B4-BE49-F238E27FC236}">
                        <a16:creationId xmlns:a16="http://schemas.microsoft.com/office/drawing/2014/main" id="{B7669A86-5D85-CD35-3D11-69267E3752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2284814" y="2730699"/>
                    <a:ext cx="255889" cy="21805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85" name="Graphic 84">
                  <a:extLst>
                    <a:ext uri="{FF2B5EF4-FFF2-40B4-BE49-F238E27FC236}">
                      <a16:creationId xmlns:a16="http://schemas.microsoft.com/office/drawing/2014/main" id="{53A02254-4AA7-D14A-04FA-EB4A5F389F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424740" y="2610427"/>
                  <a:ext cx="255889" cy="218051"/>
                </a:xfrm>
                <a:prstGeom prst="rect">
                  <a:avLst/>
                </a:prstGeom>
              </p:spPr>
            </p:pic>
            <p:pic>
              <p:nvPicPr>
                <p:cNvPr id="86" name="Graphic 85">
                  <a:extLst>
                    <a:ext uri="{FF2B5EF4-FFF2-40B4-BE49-F238E27FC236}">
                      <a16:creationId xmlns:a16="http://schemas.microsoft.com/office/drawing/2014/main" id="{7C0F968F-43C7-3BC9-922B-747EEDE0D0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842090" y="2605784"/>
                  <a:ext cx="255889" cy="218051"/>
                </a:xfrm>
                <a:prstGeom prst="rect">
                  <a:avLst/>
                </a:prstGeom>
              </p:spPr>
            </p:pic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63DE2021-6B62-C944-061D-3F9E89F306C3}"/>
                  </a:ext>
                </a:extLst>
              </p:cNvPr>
              <p:cNvGrpSpPr/>
              <p:nvPr/>
            </p:nvGrpSpPr>
            <p:grpSpPr>
              <a:xfrm>
                <a:off x="8850989" y="3431205"/>
                <a:ext cx="942584" cy="694279"/>
                <a:chOff x="1285865" y="2434492"/>
                <a:chExt cx="942584" cy="694279"/>
              </a:xfrm>
              <a:solidFill>
                <a:srgbClr val="000000"/>
              </a:solidFill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6F6E152-C6EC-1DD9-5FF1-7838B6FE6179}"/>
                    </a:ext>
                  </a:extLst>
                </p:cNvPr>
                <p:cNvSpPr txBox="1"/>
                <p:nvPr/>
              </p:nvSpPr>
              <p:spPr>
                <a:xfrm>
                  <a:off x="1285865" y="2806253"/>
                  <a:ext cx="942584" cy="322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98C7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Storage Pool</a:t>
                  </a:r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1913C93C-FE90-8F84-7B05-B4F058D9857D}"/>
                    </a:ext>
                  </a:extLst>
                </p:cNvPr>
                <p:cNvGrpSpPr/>
                <p:nvPr/>
              </p:nvGrpSpPr>
              <p:grpSpPr>
                <a:xfrm>
                  <a:off x="1415275" y="2434492"/>
                  <a:ext cx="682704" cy="224661"/>
                  <a:chOff x="1857999" y="2724089"/>
                  <a:chExt cx="682704" cy="224661"/>
                </a:xfrm>
                <a:grpFill/>
              </p:grpSpPr>
              <p:pic>
                <p:nvPicPr>
                  <p:cNvPr id="81" name="Graphic 80">
                    <a:extLst>
                      <a:ext uri="{FF2B5EF4-FFF2-40B4-BE49-F238E27FC236}">
                        <a16:creationId xmlns:a16="http://schemas.microsoft.com/office/drawing/2014/main" id="{C3D268AE-1490-E7DC-18F7-B1B803DDE7D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1857999" y="2724089"/>
                    <a:ext cx="255889" cy="218051"/>
                  </a:xfrm>
                  <a:prstGeom prst="rect">
                    <a:avLst/>
                  </a:prstGeom>
                </p:spPr>
              </p:pic>
              <p:pic>
                <p:nvPicPr>
                  <p:cNvPr id="82" name="Graphic 81">
                    <a:extLst>
                      <a:ext uri="{FF2B5EF4-FFF2-40B4-BE49-F238E27FC236}">
                        <a16:creationId xmlns:a16="http://schemas.microsoft.com/office/drawing/2014/main" id="{74727327-9F31-4594-5E38-CA347FF7BD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2284814" y="2730699"/>
                    <a:ext cx="255889" cy="21805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9" name="Graphic 78">
                  <a:extLst>
                    <a:ext uri="{FF2B5EF4-FFF2-40B4-BE49-F238E27FC236}">
                      <a16:creationId xmlns:a16="http://schemas.microsoft.com/office/drawing/2014/main" id="{6C350198-DA3C-B182-7BBD-704F35E10B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424740" y="2610427"/>
                  <a:ext cx="255889" cy="218051"/>
                </a:xfrm>
                <a:prstGeom prst="rect">
                  <a:avLst/>
                </a:prstGeom>
              </p:spPr>
            </p:pic>
            <p:pic>
              <p:nvPicPr>
                <p:cNvPr id="80" name="Graphic 79">
                  <a:extLst>
                    <a:ext uri="{FF2B5EF4-FFF2-40B4-BE49-F238E27FC236}">
                      <a16:creationId xmlns:a16="http://schemas.microsoft.com/office/drawing/2014/main" id="{65366572-AAE4-10B5-B434-D2711C6F20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842090" y="2605784"/>
                  <a:ext cx="255889" cy="218051"/>
                </a:xfrm>
                <a:prstGeom prst="rect">
                  <a:avLst/>
                </a:prstGeom>
              </p:spPr>
            </p:pic>
          </p:grpSp>
        </p:grpSp>
        <p:sp>
          <p:nvSpPr>
            <p:cNvPr id="62" name="Google Shape;1343;p4">
              <a:extLst>
                <a:ext uri="{FF2B5EF4-FFF2-40B4-BE49-F238E27FC236}">
                  <a16:creationId xmlns:a16="http://schemas.microsoft.com/office/drawing/2014/main" id="{5C3E40DA-99B4-5716-BCDA-96C66C9BA938}"/>
                </a:ext>
              </a:extLst>
            </p:cNvPr>
            <p:cNvSpPr/>
            <p:nvPr/>
          </p:nvSpPr>
          <p:spPr>
            <a:xfrm>
              <a:off x="5290692" y="2095500"/>
              <a:ext cx="1497600" cy="3274456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 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63" name="Google Shape;1343;p4">
              <a:extLst>
                <a:ext uri="{FF2B5EF4-FFF2-40B4-BE49-F238E27FC236}">
                  <a16:creationId xmlns:a16="http://schemas.microsoft.com/office/drawing/2014/main" id="{D532D7C8-CF15-5853-74BB-CA1383564BBC}"/>
                </a:ext>
              </a:extLst>
            </p:cNvPr>
            <p:cNvSpPr/>
            <p:nvPr/>
          </p:nvSpPr>
          <p:spPr>
            <a:xfrm>
              <a:off x="5135892" y="1738773"/>
              <a:ext cx="1807199" cy="3792077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Workload Domain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F31E2B54-B31D-271C-427C-C27C33915B00}"/>
                </a:ext>
              </a:extLst>
            </p:cNvPr>
            <p:cNvGrpSpPr/>
            <p:nvPr/>
          </p:nvGrpSpPr>
          <p:grpSpPr>
            <a:xfrm>
              <a:off x="5495792" y="2864728"/>
              <a:ext cx="1048382" cy="1605060"/>
              <a:chOff x="5214075" y="2437996"/>
              <a:chExt cx="1797556" cy="174976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5DC33AA-AE6E-B149-5458-3CF49457A910}"/>
                  </a:ext>
                </a:extLst>
              </p:cNvPr>
              <p:cNvSpPr/>
              <p:nvPr/>
            </p:nvSpPr>
            <p:spPr>
              <a:xfrm>
                <a:off x="5214075" y="2659388"/>
                <a:ext cx="1797556" cy="1528368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B44CF21-9B56-1B58-5DD2-618A1C2D99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0364" y="2451225"/>
                <a:ext cx="0" cy="207784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BAA83914-D2C5-CE63-808C-1006C0BF8F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38857" y="2437996"/>
                <a:ext cx="0" cy="22101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C4B16EDE-18E0-C6BD-709C-537FD3835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85005" y="2711743"/>
              <a:ext cx="197789" cy="183392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297E7642-CB04-192F-0D39-AAC93E239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17956" y="2705089"/>
              <a:ext cx="197789" cy="1833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66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DA78-422E-E337-4726-26F49D5D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4558D-E4E0-F424-44B3-73BA3E4F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Standard vSAN ESA Cluster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dirty="0">
              <a:latin typeface="Metropolis" pitchFamily="2" charset="77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157E78-B5BF-14EF-75B6-7E40BD709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0911" y="1822222"/>
            <a:ext cx="1706880" cy="357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6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983A5-D47C-B524-D6D0-5E3687245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Standard vSAN OSA Cluster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6CB137-8543-DE23-78CD-3915948685AD}"/>
              </a:ext>
            </a:extLst>
          </p:cNvPr>
          <p:cNvGrpSpPr/>
          <p:nvPr/>
        </p:nvGrpSpPr>
        <p:grpSpPr>
          <a:xfrm>
            <a:off x="5158253" y="1277992"/>
            <a:ext cx="2044800" cy="4373508"/>
            <a:chOff x="5158253" y="1277992"/>
            <a:chExt cx="2044800" cy="4373508"/>
          </a:xfrm>
        </p:grpSpPr>
        <p:sp>
          <p:nvSpPr>
            <p:cNvPr id="49" name="Google Shape;1342;p4">
              <a:extLst>
                <a:ext uri="{FF2B5EF4-FFF2-40B4-BE49-F238E27FC236}">
                  <a16:creationId xmlns:a16="http://schemas.microsoft.com/office/drawing/2014/main" id="{0CBC065D-89FB-74C6-BCC2-10D983B28111}"/>
                </a:ext>
              </a:extLst>
            </p:cNvPr>
            <p:cNvSpPr/>
            <p:nvPr/>
          </p:nvSpPr>
          <p:spPr>
            <a:xfrm>
              <a:off x="5158253" y="1277992"/>
              <a:ext cx="2044800" cy="4373508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VCF Instance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0" name="Google Shape;1347;p4">
              <a:extLst>
                <a:ext uri="{FF2B5EF4-FFF2-40B4-BE49-F238E27FC236}">
                  <a16:creationId xmlns:a16="http://schemas.microsoft.com/office/drawing/2014/main" id="{F70440B9-60A0-073E-6C50-1CFBC78C1330}"/>
                </a:ext>
              </a:extLst>
            </p:cNvPr>
            <p:cNvSpPr/>
            <p:nvPr/>
          </p:nvSpPr>
          <p:spPr>
            <a:xfrm>
              <a:off x="5560030" y="2889883"/>
              <a:ext cx="1205768" cy="2283639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98C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98C7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1" name="Google Shape;1343;p4">
              <a:extLst>
                <a:ext uri="{FF2B5EF4-FFF2-40B4-BE49-F238E27FC236}">
                  <a16:creationId xmlns:a16="http://schemas.microsoft.com/office/drawing/2014/main" id="{CB73D5F2-089C-5172-DA88-DA41CAE4E563}"/>
                </a:ext>
              </a:extLst>
            </p:cNvPr>
            <p:cNvSpPr/>
            <p:nvPr/>
          </p:nvSpPr>
          <p:spPr>
            <a:xfrm>
              <a:off x="5431854" y="1973208"/>
              <a:ext cx="1497600" cy="3417942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 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2" name="Google Shape;1343;p4">
              <a:extLst>
                <a:ext uri="{FF2B5EF4-FFF2-40B4-BE49-F238E27FC236}">
                  <a16:creationId xmlns:a16="http://schemas.microsoft.com/office/drawing/2014/main" id="{CA9EBC81-E530-946D-DD30-91CE12FC75A3}"/>
                </a:ext>
              </a:extLst>
            </p:cNvPr>
            <p:cNvSpPr/>
            <p:nvPr/>
          </p:nvSpPr>
          <p:spPr>
            <a:xfrm>
              <a:off x="5277054" y="1608420"/>
              <a:ext cx="1807199" cy="3890680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Workload Domain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81422AD-EB14-1AD4-E886-63F496EE473F}"/>
                </a:ext>
              </a:extLst>
            </p:cNvPr>
            <p:cNvGrpSpPr/>
            <p:nvPr/>
          </p:nvGrpSpPr>
          <p:grpSpPr>
            <a:xfrm>
              <a:off x="5615017" y="2748588"/>
              <a:ext cx="1105073" cy="1778988"/>
              <a:chOff x="5288159" y="2427068"/>
              <a:chExt cx="1894758" cy="164001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E62300EE-90AB-4754-AE94-2B6D6501840C}"/>
                  </a:ext>
                </a:extLst>
              </p:cNvPr>
              <p:cNvSpPr/>
              <p:nvPr/>
            </p:nvSpPr>
            <p:spPr>
              <a:xfrm>
                <a:off x="5288159" y="2622250"/>
                <a:ext cx="1894758" cy="1444833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286D36CF-6759-7747-324F-EA704DC586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2790" y="2451225"/>
                <a:ext cx="0" cy="171025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7F5B2534-D86A-BE9A-809D-315372F73E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2929" y="2427068"/>
                <a:ext cx="0" cy="195182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DDB1525-12AE-8A66-632C-C9332E06BA87}"/>
                </a:ext>
              </a:extLst>
            </p:cNvPr>
            <p:cNvGrpSpPr/>
            <p:nvPr/>
          </p:nvGrpSpPr>
          <p:grpSpPr>
            <a:xfrm>
              <a:off x="5521055" y="2988329"/>
              <a:ext cx="1283718" cy="2152549"/>
              <a:chOff x="2441280" y="2472417"/>
              <a:chExt cx="1337322" cy="2144879"/>
            </a:xfrm>
          </p:grpSpPr>
          <p:pic>
            <p:nvPicPr>
              <p:cNvPr id="74" name="Graphic 73">
                <a:extLst>
                  <a:ext uri="{FF2B5EF4-FFF2-40B4-BE49-F238E27FC236}">
                    <a16:creationId xmlns:a16="http://schemas.microsoft.com/office/drawing/2014/main" id="{01F2F0E1-2F36-3C7A-6F29-A2EAEAA526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570424" y="3339070"/>
                <a:ext cx="504047" cy="232084"/>
              </a:xfrm>
              <a:prstGeom prst="rect">
                <a:avLst/>
              </a:prstGeom>
            </p:spPr>
          </p:pic>
          <p:pic>
            <p:nvPicPr>
              <p:cNvPr id="75" name="Graphic 74">
                <a:extLst>
                  <a:ext uri="{FF2B5EF4-FFF2-40B4-BE49-F238E27FC236}">
                    <a16:creationId xmlns:a16="http://schemas.microsoft.com/office/drawing/2014/main" id="{3BAAF972-1F3E-01FF-D195-A6F9F4925B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122425" y="3344552"/>
                <a:ext cx="504047" cy="232084"/>
              </a:xfrm>
              <a:prstGeom prst="rect">
                <a:avLst/>
              </a:prstGeom>
            </p:spPr>
          </p:pic>
          <p:pic>
            <p:nvPicPr>
              <p:cNvPr id="76" name="Graphic 75">
                <a:extLst>
                  <a:ext uri="{FF2B5EF4-FFF2-40B4-BE49-F238E27FC236}">
                    <a16:creationId xmlns:a16="http://schemas.microsoft.com/office/drawing/2014/main" id="{0F84685A-18AA-223A-6F42-2BA67F1991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569842" y="2472417"/>
                <a:ext cx="504046" cy="232084"/>
              </a:xfrm>
              <a:prstGeom prst="rect">
                <a:avLst/>
              </a:prstGeom>
            </p:spPr>
          </p:pic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1E9AFA1E-773E-011D-455B-A1C1D66E2015}"/>
                  </a:ext>
                </a:extLst>
              </p:cNvPr>
              <p:cNvGrpSpPr/>
              <p:nvPr/>
            </p:nvGrpSpPr>
            <p:grpSpPr>
              <a:xfrm>
                <a:off x="2561886" y="4122827"/>
                <a:ext cx="1122321" cy="164927"/>
                <a:chOff x="1742938" y="3890419"/>
                <a:chExt cx="1859404" cy="153651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DE653D62-E30B-BCEC-1378-017D429FDDD8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748523" y="3890419"/>
                  <a:ext cx="0" cy="153645"/>
                </a:xfrm>
                <a:prstGeom prst="line">
                  <a:avLst/>
                </a:prstGeom>
                <a:solidFill>
                  <a:srgbClr val="0F9ED5"/>
                </a:solidFill>
                <a:ln w="12700" cap="flat" cmpd="sng" algn="ctr">
                  <a:solidFill>
                    <a:srgbClr val="0098C7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C8D0702-7C4B-3930-9169-9724B7AD5B44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303540" y="4044064"/>
                  <a:ext cx="298800" cy="0"/>
                </a:xfrm>
                <a:prstGeom prst="line">
                  <a:avLst/>
                </a:prstGeom>
                <a:solidFill>
                  <a:srgbClr val="0F9ED5"/>
                </a:solidFill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EFCBF18D-22A1-92E8-0558-EC8AA9D25C7C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602342" y="3890419"/>
                  <a:ext cx="0" cy="153645"/>
                </a:xfrm>
                <a:prstGeom prst="line">
                  <a:avLst/>
                </a:prstGeom>
                <a:solidFill>
                  <a:srgbClr val="0F9ED5"/>
                </a:solidFill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061411DE-1008-C1BE-46DC-CBAB3BED0DBD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742938" y="4044070"/>
                  <a:ext cx="251004" cy="0"/>
                </a:xfrm>
                <a:prstGeom prst="line">
                  <a:avLst/>
                </a:prstGeom>
                <a:solidFill>
                  <a:srgbClr val="0F9ED5"/>
                </a:solidFill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0528A9C-B9E7-1508-8668-F7CDEE4DC80C}"/>
                  </a:ext>
                </a:extLst>
              </p:cNvPr>
              <p:cNvSpPr txBox="1"/>
              <p:nvPr/>
            </p:nvSpPr>
            <p:spPr>
              <a:xfrm>
                <a:off x="2684018" y="4341284"/>
                <a:ext cx="929934" cy="2760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vSAN OSA Cluster</a:t>
                </a:r>
              </a:p>
            </p:txBody>
          </p:sp>
          <p:pic>
            <p:nvPicPr>
              <p:cNvPr id="79" name="Graphic 78">
                <a:extLst>
                  <a:ext uri="{FF2B5EF4-FFF2-40B4-BE49-F238E27FC236}">
                    <a16:creationId xmlns:a16="http://schemas.microsoft.com/office/drawing/2014/main" id="{15F30FFA-78D9-F018-DE26-FE28507FCC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137046" y="2472861"/>
                <a:ext cx="504046" cy="232084"/>
              </a:xfrm>
              <a:prstGeom prst="rect">
                <a:avLst/>
              </a:prstGeom>
            </p:spPr>
          </p:pic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B98CEF5-D58F-4BFA-DE33-F53F79A6B6EF}"/>
                  </a:ext>
                </a:extLst>
              </p:cNvPr>
              <p:cNvSpPr txBox="1"/>
              <p:nvPr/>
            </p:nvSpPr>
            <p:spPr>
              <a:xfrm>
                <a:off x="3037138" y="3046778"/>
                <a:ext cx="7221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Disk </a:t>
                </a:r>
                <a:b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</a:b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Groups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C4C6774-97D7-E70E-0878-2DEE12765B9E}"/>
                  </a:ext>
                </a:extLst>
              </p:cNvPr>
              <p:cNvSpPr txBox="1"/>
              <p:nvPr/>
            </p:nvSpPr>
            <p:spPr>
              <a:xfrm>
                <a:off x="2446738" y="3057502"/>
                <a:ext cx="7221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Disk </a:t>
                </a:r>
                <a:b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</a:b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Groups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1C25DC9-B8D5-7829-4D21-B25C0CEE094F}"/>
                  </a:ext>
                </a:extLst>
              </p:cNvPr>
              <p:cNvSpPr txBox="1"/>
              <p:nvPr/>
            </p:nvSpPr>
            <p:spPr>
              <a:xfrm>
                <a:off x="3056425" y="3993409"/>
                <a:ext cx="7221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Disk </a:t>
                </a:r>
                <a:b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</a:b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Groups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8B8198D-0A7B-8248-0C17-B7B4AC492757}"/>
                  </a:ext>
                </a:extLst>
              </p:cNvPr>
              <p:cNvSpPr txBox="1"/>
              <p:nvPr/>
            </p:nvSpPr>
            <p:spPr>
              <a:xfrm>
                <a:off x="2441280" y="3979970"/>
                <a:ext cx="7221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Disk </a:t>
                </a:r>
                <a:b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</a:b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Groups</a:t>
                </a:r>
              </a:p>
            </p:txBody>
          </p:sp>
        </p:grp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D0E0BC93-6B9B-B38C-C341-70EDAD7D9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05314" y="2618676"/>
              <a:ext cx="197789" cy="183392"/>
            </a:xfrm>
            <a:prstGeom prst="rect">
              <a:avLst/>
            </a:prstGeom>
          </p:spPr>
        </p:pic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CB6EE5D2-12E2-262A-77D2-780620FC3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12503" y="2617598"/>
              <a:ext cx="197789" cy="183392"/>
            </a:xfrm>
            <a:prstGeom prst="rect">
              <a:avLst/>
            </a:prstGeom>
          </p:spPr>
        </p:pic>
        <p:sp>
          <p:nvSpPr>
            <p:cNvPr id="57" name="Google Shape;1344;p4">
              <a:extLst>
                <a:ext uri="{FF2B5EF4-FFF2-40B4-BE49-F238E27FC236}">
                  <a16:creationId xmlns:a16="http://schemas.microsoft.com/office/drawing/2014/main" id="{3378B591-1A7A-23E7-8C42-85178EE54ECE}"/>
                </a:ext>
              </a:extLst>
            </p:cNvPr>
            <p:cNvSpPr/>
            <p:nvPr/>
          </p:nvSpPr>
          <p:spPr>
            <a:xfrm>
              <a:off x="5480050" y="2352262"/>
              <a:ext cx="1352550" cy="2949987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57E57668-4B67-507F-947F-1F33BF003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5666989" y="3214177"/>
              <a:ext cx="148845" cy="205924"/>
            </a:xfrm>
            <a:prstGeom prst="rect">
              <a:avLst/>
            </a:prstGeom>
          </p:spPr>
        </p:pic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DA6084B5-2260-D0FA-3B04-6161F2BB0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5903499" y="3220468"/>
              <a:ext cx="148845" cy="205924"/>
            </a:xfrm>
            <a:prstGeom prst="rect">
              <a:avLst/>
            </a:prstGeom>
          </p:spPr>
        </p:pic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B9E0A7E7-C1FC-D964-9BC3-71A5AA6CB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6206523" y="3220468"/>
              <a:ext cx="148845" cy="205924"/>
            </a:xfrm>
            <a:prstGeom prst="rect">
              <a:avLst/>
            </a:prstGeom>
          </p:spPr>
        </p:pic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38524218-4AB9-FD4B-4F99-7CCEFA690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6478767" y="3226694"/>
              <a:ext cx="148845" cy="205924"/>
            </a:xfrm>
            <a:prstGeom prst="rect">
              <a:avLst/>
            </a:prstGeom>
          </p:spPr>
        </p:pic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EE29D9FE-34C2-60B2-96F9-D5CE10C3A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5690354" y="4097064"/>
              <a:ext cx="148845" cy="205924"/>
            </a:xfrm>
            <a:prstGeom prst="rect">
              <a:avLst/>
            </a:prstGeom>
          </p:spPr>
        </p:pic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03A3DD4F-5A51-A19D-790F-CBDD28EF6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5919576" y="4103121"/>
              <a:ext cx="148845" cy="205924"/>
            </a:xfrm>
            <a:prstGeom prst="rect">
              <a:avLst/>
            </a:prstGeom>
          </p:spPr>
        </p:pic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6078F467-D947-D5C9-7F72-7892D9967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6191701" y="4109080"/>
              <a:ext cx="148845" cy="205924"/>
            </a:xfrm>
            <a:prstGeom prst="rect">
              <a:avLst/>
            </a:prstGeom>
          </p:spPr>
        </p:pic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C8D21C4B-B95F-E5BF-E30B-624151CC0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6446941" y="4109953"/>
              <a:ext cx="148845" cy="205924"/>
            </a:xfrm>
            <a:prstGeom prst="rect">
              <a:avLst/>
            </a:prstGeom>
          </p:spPr>
        </p:pic>
        <p:sp>
          <p:nvSpPr>
            <p:cNvPr id="66" name="Graphic 27">
              <a:extLst>
                <a:ext uri="{FF2B5EF4-FFF2-40B4-BE49-F238E27FC236}">
                  <a16:creationId xmlns:a16="http://schemas.microsoft.com/office/drawing/2014/main" id="{737A7479-88EF-4E97-0010-875BF42EE260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5676310" y="3450804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67" name="Graphic 27">
              <a:extLst>
                <a:ext uri="{FF2B5EF4-FFF2-40B4-BE49-F238E27FC236}">
                  <a16:creationId xmlns:a16="http://schemas.microsoft.com/office/drawing/2014/main" id="{B2F5D2C1-D2BE-5F04-717E-433D853C25AA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5909038" y="3446733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68" name="Graphic 27">
              <a:extLst>
                <a:ext uri="{FF2B5EF4-FFF2-40B4-BE49-F238E27FC236}">
                  <a16:creationId xmlns:a16="http://schemas.microsoft.com/office/drawing/2014/main" id="{C0BB211D-5E61-30E8-84F1-688F533F6483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6208436" y="3449423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69" name="Graphic 27">
              <a:extLst>
                <a:ext uri="{FF2B5EF4-FFF2-40B4-BE49-F238E27FC236}">
                  <a16:creationId xmlns:a16="http://schemas.microsoft.com/office/drawing/2014/main" id="{F0B16710-E2FB-8A80-FFDA-AA6BE68B0157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6472799" y="3443999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70" name="Graphic 27">
              <a:extLst>
                <a:ext uri="{FF2B5EF4-FFF2-40B4-BE49-F238E27FC236}">
                  <a16:creationId xmlns:a16="http://schemas.microsoft.com/office/drawing/2014/main" id="{A8B7753A-472A-1795-39F4-D234C363B16D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5690354" y="4326092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71" name="Graphic 27">
              <a:extLst>
                <a:ext uri="{FF2B5EF4-FFF2-40B4-BE49-F238E27FC236}">
                  <a16:creationId xmlns:a16="http://schemas.microsoft.com/office/drawing/2014/main" id="{0CA4E159-5D08-4A3B-684E-6C55BB9FF321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5906063" y="4326092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72" name="Graphic 27">
              <a:extLst>
                <a:ext uri="{FF2B5EF4-FFF2-40B4-BE49-F238E27FC236}">
                  <a16:creationId xmlns:a16="http://schemas.microsoft.com/office/drawing/2014/main" id="{549BB952-26C3-6C02-D155-6A12DCFC11A9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6178477" y="4326349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73" name="Graphic 27">
              <a:extLst>
                <a:ext uri="{FF2B5EF4-FFF2-40B4-BE49-F238E27FC236}">
                  <a16:creationId xmlns:a16="http://schemas.microsoft.com/office/drawing/2014/main" id="{F39E1547-55D1-EE1D-BF7F-510F35B993EE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6439919" y="4319614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434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DEBF0-CFB9-8566-938A-3C30184D3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897A-FA23-6BF0-D383-3A575C201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Standard vSAN OSA Cluster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dirty="0">
              <a:latin typeface="Metropolis" pitchFamily="2" charset="77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A1D596-7ADD-11DF-1112-FC0A8AC1B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131" y="1447252"/>
            <a:ext cx="1706880" cy="362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9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B7B8F-94B8-43CD-9482-DD038CACF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vSAN Compute Cluster original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98E151-9827-4F8A-1552-1C4CBD1BFA67}"/>
              </a:ext>
            </a:extLst>
          </p:cNvPr>
          <p:cNvGrpSpPr/>
          <p:nvPr/>
        </p:nvGrpSpPr>
        <p:grpSpPr>
          <a:xfrm>
            <a:off x="5313885" y="1720761"/>
            <a:ext cx="1835150" cy="3689350"/>
            <a:chOff x="4552950" y="1733550"/>
            <a:chExt cx="1835150" cy="3689350"/>
          </a:xfrm>
        </p:grpSpPr>
        <p:grpSp>
          <p:nvGrpSpPr>
            <p:cNvPr id="29" name="Google Shape;1341;p4">
              <a:extLst>
                <a:ext uri="{FF2B5EF4-FFF2-40B4-BE49-F238E27FC236}">
                  <a16:creationId xmlns:a16="http://schemas.microsoft.com/office/drawing/2014/main" id="{A6B87F63-B529-9239-0C98-6D3A0040F3EE}"/>
                </a:ext>
              </a:extLst>
            </p:cNvPr>
            <p:cNvGrpSpPr/>
            <p:nvPr/>
          </p:nvGrpSpPr>
          <p:grpSpPr>
            <a:xfrm>
              <a:off x="4552950" y="1733550"/>
              <a:ext cx="1835150" cy="3689350"/>
              <a:chOff x="1844561" y="1475917"/>
              <a:chExt cx="1358063" cy="1672713"/>
            </a:xfrm>
          </p:grpSpPr>
          <p:sp>
            <p:nvSpPr>
              <p:cNvPr id="46" name="Google Shape;1342;p4">
                <a:extLst>
                  <a:ext uri="{FF2B5EF4-FFF2-40B4-BE49-F238E27FC236}">
                    <a16:creationId xmlns:a16="http://schemas.microsoft.com/office/drawing/2014/main" id="{A181789B-0CDF-B776-4FBA-165731C60018}"/>
                  </a:ext>
                </a:extLst>
              </p:cNvPr>
              <p:cNvSpPr/>
              <p:nvPr/>
            </p:nvSpPr>
            <p:spPr>
              <a:xfrm>
                <a:off x="1844561" y="1475917"/>
                <a:ext cx="1358063" cy="1672713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VCF Instance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7" name="Google Shape;1343;p4">
                <a:extLst>
                  <a:ext uri="{FF2B5EF4-FFF2-40B4-BE49-F238E27FC236}">
                    <a16:creationId xmlns:a16="http://schemas.microsoft.com/office/drawing/2014/main" id="{5EA79E2F-7FFE-B5F3-D36E-B1F0DC54A7F8}"/>
                  </a:ext>
                </a:extLst>
              </p:cNvPr>
              <p:cNvSpPr/>
              <p:nvPr/>
            </p:nvSpPr>
            <p:spPr>
              <a:xfrm>
                <a:off x="2041926" y="1758062"/>
                <a:ext cx="924096" cy="1183279"/>
              </a:xfrm>
              <a:prstGeom prst="rect">
                <a:avLst/>
              </a:prstGeom>
              <a:solidFill>
                <a:sysClr val="window" lastClr="FFFFFF"/>
              </a:solidFill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Availability Zone 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8" name="Google Shape;1344;p4">
                <a:extLst>
                  <a:ext uri="{FF2B5EF4-FFF2-40B4-BE49-F238E27FC236}">
                    <a16:creationId xmlns:a16="http://schemas.microsoft.com/office/drawing/2014/main" id="{CA83A71C-F58C-E8FF-5BBA-BDA1DB8A1F50}"/>
                  </a:ext>
                </a:extLst>
              </p:cNvPr>
              <p:cNvSpPr/>
              <p:nvPr/>
            </p:nvSpPr>
            <p:spPr>
              <a:xfrm>
                <a:off x="2142705" y="1893375"/>
                <a:ext cx="750538" cy="93856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Rack</a:t>
                </a: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49" name="Google Shape;1345;p4">
                <a:extLst>
                  <a:ext uri="{FF2B5EF4-FFF2-40B4-BE49-F238E27FC236}">
                    <a16:creationId xmlns:a16="http://schemas.microsoft.com/office/drawing/2014/main" id="{876956C4-B887-0E8A-84AF-E7A136692B37}"/>
                  </a:ext>
                </a:extLst>
              </p:cNvPr>
              <p:cNvSpPr/>
              <p:nvPr/>
            </p:nvSpPr>
            <p:spPr>
              <a:xfrm>
                <a:off x="1947944" y="1608352"/>
                <a:ext cx="1109054" cy="1433754"/>
              </a:xfrm>
              <a:prstGeom prst="rect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Workload Domain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0" name="Google Shape;1347;p4">
                <a:extLst>
                  <a:ext uri="{FF2B5EF4-FFF2-40B4-BE49-F238E27FC236}">
                    <a16:creationId xmlns:a16="http://schemas.microsoft.com/office/drawing/2014/main" id="{D00F8C93-6232-28B9-2B5E-7D5D7E6116C3}"/>
                  </a:ext>
                </a:extLst>
              </p:cNvPr>
              <p:cNvSpPr/>
              <p:nvPr/>
            </p:nvSpPr>
            <p:spPr>
              <a:xfrm>
                <a:off x="2200036" y="2244616"/>
                <a:ext cx="602040" cy="505508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98C7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779F06F-1D8E-0CC3-77E4-1A7C960A6094}"/>
                </a:ext>
              </a:extLst>
            </p:cNvPr>
            <p:cNvGrpSpPr/>
            <p:nvPr/>
          </p:nvGrpSpPr>
          <p:grpSpPr>
            <a:xfrm>
              <a:off x="5004641" y="3569714"/>
              <a:ext cx="842197" cy="975491"/>
              <a:chOff x="1648730" y="2790018"/>
              <a:chExt cx="842197" cy="975491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CD764FF-F791-B693-C5E5-05FE482BC7D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772553" y="3404091"/>
                <a:ext cx="2635" cy="66872"/>
              </a:xfrm>
              <a:prstGeom prst="line">
                <a:avLst/>
              </a:prstGeom>
              <a:solidFill>
                <a:srgbClr val="92D050"/>
              </a:solidFill>
              <a:ln w="12700" cap="flat" cmpd="sng" algn="ctr">
                <a:solidFill>
                  <a:srgbClr val="007DA3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466ED81-D576-0EFC-82B6-222F6130DB3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2230807" y="3473468"/>
                <a:ext cx="140959" cy="0"/>
              </a:xfrm>
              <a:prstGeom prst="line">
                <a:avLst/>
              </a:prstGeom>
              <a:solidFill>
                <a:srgbClr val="92D050"/>
              </a:solidFill>
              <a:ln w="12700" cap="flat" cmpd="sng" algn="ctr">
                <a:solidFill>
                  <a:srgbClr val="007DA3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5261F083-7A07-A028-D42E-43903337D10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2371767" y="3409525"/>
                <a:ext cx="0" cy="61436"/>
              </a:xfrm>
              <a:prstGeom prst="line">
                <a:avLst/>
              </a:prstGeom>
              <a:solidFill>
                <a:srgbClr val="92D050"/>
              </a:solidFill>
              <a:ln w="12700" cap="flat" cmpd="sng" algn="ctr">
                <a:solidFill>
                  <a:srgbClr val="007DA3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B9D4B14-0938-10CD-D193-9B81E011964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782231" y="3470961"/>
                <a:ext cx="126008" cy="2"/>
              </a:xfrm>
              <a:prstGeom prst="line">
                <a:avLst/>
              </a:prstGeom>
              <a:solidFill>
                <a:srgbClr val="92D050"/>
              </a:solidFill>
              <a:ln w="12700" cap="flat" cmpd="sng" algn="ctr">
                <a:solidFill>
                  <a:srgbClr val="007DA3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EB8F0CE-4666-59FF-BB1A-C8B5F9B94F0A}"/>
                  </a:ext>
                </a:extLst>
              </p:cNvPr>
              <p:cNvSpPr txBox="1"/>
              <p:nvPr/>
            </p:nvSpPr>
            <p:spPr>
              <a:xfrm>
                <a:off x="1648730" y="3519288"/>
                <a:ext cx="8421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DA3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vSAN Compute Cluster</a:t>
                </a:r>
              </a:p>
            </p:txBody>
          </p:sp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EBF39257-7683-8880-1B01-A65425719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83691" y="3167113"/>
                <a:ext cx="588075" cy="147053"/>
              </a:xfrm>
              <a:prstGeom prst="rect">
                <a:avLst/>
              </a:prstGeom>
            </p:spPr>
          </p:pic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F1F265E0-53AB-D482-F6C9-62D028530E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83691" y="2970372"/>
                <a:ext cx="588075" cy="147053"/>
              </a:xfrm>
              <a:prstGeom prst="rect">
                <a:avLst/>
              </a:prstGeom>
            </p:spPr>
          </p:pic>
          <p:pic>
            <p:nvPicPr>
              <p:cNvPr id="45" name="Graphic 44">
                <a:extLst>
                  <a:ext uri="{FF2B5EF4-FFF2-40B4-BE49-F238E27FC236}">
                    <a16:creationId xmlns:a16="http://schemas.microsoft.com/office/drawing/2014/main" id="{754469AA-B215-D893-DA63-3C396626DB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74651" y="2790018"/>
                <a:ext cx="588075" cy="147053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26D120E-1C59-F7B7-B82D-1474710A5BC8}"/>
                </a:ext>
              </a:extLst>
            </p:cNvPr>
            <p:cNvGrpSpPr/>
            <p:nvPr/>
          </p:nvGrpSpPr>
          <p:grpSpPr>
            <a:xfrm>
              <a:off x="5174943" y="2936681"/>
              <a:ext cx="498734" cy="578437"/>
              <a:chOff x="3391157" y="3797947"/>
              <a:chExt cx="498734" cy="57843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47C3D629-C165-3A94-ACD8-E6AD402B1DE2}"/>
                  </a:ext>
                </a:extLst>
              </p:cNvPr>
              <p:cNvCxnSpPr>
                <a:cxnSpLocks/>
                <a:stCxn id="34" idx="2"/>
              </p:cNvCxnSpPr>
              <p:nvPr/>
            </p:nvCxnSpPr>
            <p:spPr bwMode="gray">
              <a:xfrm>
                <a:off x="3528443" y="3986027"/>
                <a:ext cx="0" cy="390357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34" name="Graphic 33">
                <a:extLst>
                  <a:ext uri="{FF2B5EF4-FFF2-40B4-BE49-F238E27FC236}">
                    <a16:creationId xmlns:a16="http://schemas.microsoft.com/office/drawing/2014/main" id="{33B9CC68-A023-D8D5-ECD6-EF514473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35" name="Graphic 34">
                <a:extLst>
                  <a:ext uri="{FF2B5EF4-FFF2-40B4-BE49-F238E27FC236}">
                    <a16:creationId xmlns:a16="http://schemas.microsoft.com/office/drawing/2014/main" id="{4B6BAEE1-7884-2394-8EA1-3A501A4CD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6008312-165B-343B-F686-1BAC441986DA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9744" y="3986027"/>
                <a:ext cx="5009" cy="390357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F9D5B67-9765-FFC4-D4ED-74A82835BDF3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A6A78EE-2659-1ECD-D2B3-8803963E2CC4}"/>
                </a:ext>
              </a:extLst>
            </p:cNvPr>
            <p:cNvSpPr/>
            <p:nvPr/>
          </p:nvSpPr>
          <p:spPr>
            <a:xfrm>
              <a:off x="5080000" y="3515118"/>
              <a:ext cx="704850" cy="668669"/>
            </a:xfrm>
            <a:prstGeom prst="rect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468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8613-65B5-AECA-5413-1667528BE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77EA-229A-F638-069B-C35F495A1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vSAN Compute Cluster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dirty="0">
              <a:latin typeface="Metropolis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5F3BC29-A9D9-4A6F-37F1-A5BB90002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1950" y="1898904"/>
            <a:ext cx="1530096" cy="3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4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1990-8512-EA39-5D96-58CEFD97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66" y="158737"/>
            <a:ext cx="11001004" cy="381000"/>
          </a:xfrm>
        </p:spPr>
        <p:txBody>
          <a:bodyPr/>
          <a:lstStyle/>
          <a:p>
            <a:r>
              <a:rPr lang="en-US" dirty="0">
                <a:latin typeface="Metropolis" pitchFamily="2" charset="77"/>
              </a:rPr>
              <a:t>Choices original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AFF4FB-C75B-3817-7AFF-68D1FA290AB3}"/>
              </a:ext>
            </a:extLst>
          </p:cNvPr>
          <p:cNvGrpSpPr/>
          <p:nvPr/>
        </p:nvGrpSpPr>
        <p:grpSpPr>
          <a:xfrm>
            <a:off x="3596215" y="797258"/>
            <a:ext cx="4999569" cy="4974726"/>
            <a:chOff x="3596215" y="797258"/>
            <a:chExt cx="4999569" cy="4974726"/>
          </a:xfrm>
          <a:solidFill>
            <a:schemeClr val="bg1"/>
          </a:solidFill>
        </p:grpSpPr>
        <p:cxnSp>
          <p:nvCxnSpPr>
            <p:cNvPr id="5" name="Google Shape;1405;p6">
              <a:extLst>
                <a:ext uri="{FF2B5EF4-FFF2-40B4-BE49-F238E27FC236}">
                  <a16:creationId xmlns:a16="http://schemas.microsoft.com/office/drawing/2014/main" id="{2739FE81-3CE0-FDF6-98A2-F07EBA99AE36}"/>
                </a:ext>
              </a:extLst>
            </p:cNvPr>
            <p:cNvCxnSpPr/>
            <p:nvPr/>
          </p:nvCxnSpPr>
          <p:spPr>
            <a:xfrm rot="10800000">
              <a:off x="6856593" y="2317274"/>
              <a:ext cx="887400" cy="326100"/>
            </a:xfrm>
            <a:prstGeom prst="bentConnector3">
              <a:avLst>
                <a:gd name="adj1" fmla="val 122"/>
              </a:avLst>
            </a:prstGeom>
            <a:grp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6" name="Google Shape;1406;p6">
              <a:extLst>
                <a:ext uri="{FF2B5EF4-FFF2-40B4-BE49-F238E27FC236}">
                  <a16:creationId xmlns:a16="http://schemas.microsoft.com/office/drawing/2014/main" id="{4E361888-1521-34C1-9850-EEC10B9319DC}"/>
                </a:ext>
              </a:extLst>
            </p:cNvPr>
            <p:cNvCxnSpPr/>
            <p:nvPr/>
          </p:nvCxnSpPr>
          <p:spPr>
            <a:xfrm>
              <a:off x="6090445" y="1222739"/>
              <a:ext cx="0" cy="335004"/>
            </a:xfrm>
            <a:prstGeom prst="straightConnector1">
              <a:avLst/>
            </a:prstGeom>
            <a:grpFill/>
            <a:ln w="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" name="Google Shape;1407;p6">
              <a:extLst>
                <a:ext uri="{FF2B5EF4-FFF2-40B4-BE49-F238E27FC236}">
                  <a16:creationId xmlns:a16="http://schemas.microsoft.com/office/drawing/2014/main" id="{629266A5-B5D3-6FEA-0451-6DFB33EBD7BF}"/>
                </a:ext>
              </a:extLst>
            </p:cNvPr>
            <p:cNvSpPr/>
            <p:nvPr/>
          </p:nvSpPr>
          <p:spPr>
            <a:xfrm>
              <a:off x="5275930" y="1492470"/>
              <a:ext cx="1637878" cy="1662539"/>
            </a:xfrm>
            <a:custGeom>
              <a:avLst/>
              <a:gdLst/>
              <a:ahLst/>
              <a:cxnLst/>
              <a:rect l="l" t="t" r="r" b="b"/>
              <a:pathLst>
                <a:path w="534" h="534" extrusionOk="0">
                  <a:moveTo>
                    <a:pt x="267" y="0"/>
                  </a:moveTo>
                  <a:lnTo>
                    <a:pt x="534" y="267"/>
                  </a:lnTo>
                  <a:lnTo>
                    <a:pt x="267" y="534"/>
                  </a:lnTo>
                  <a:lnTo>
                    <a:pt x="0" y="267"/>
                  </a:lnTo>
                  <a:lnTo>
                    <a:pt x="267" y="0"/>
                  </a:lnTo>
                  <a:close/>
                </a:path>
              </a:pathLst>
            </a:cu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Flash NVMe 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devices supported with vSAN ESA?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cxnSp>
          <p:nvCxnSpPr>
            <p:cNvPr id="8" name="Google Shape;1408;p6">
              <a:extLst>
                <a:ext uri="{FF2B5EF4-FFF2-40B4-BE49-F238E27FC236}">
                  <a16:creationId xmlns:a16="http://schemas.microsoft.com/office/drawing/2014/main" id="{B9D0E761-65BA-F98A-C7D6-CA7E835F85B1}"/>
                </a:ext>
              </a:extLst>
            </p:cNvPr>
            <p:cNvCxnSpPr/>
            <p:nvPr/>
          </p:nvCxnSpPr>
          <p:spPr>
            <a:xfrm>
              <a:off x="7738162" y="3637944"/>
              <a:ext cx="5831" cy="361200"/>
            </a:xfrm>
            <a:prstGeom prst="straightConnector1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" name="Google Shape;1409;p6">
              <a:extLst>
                <a:ext uri="{FF2B5EF4-FFF2-40B4-BE49-F238E27FC236}">
                  <a16:creationId xmlns:a16="http://schemas.microsoft.com/office/drawing/2014/main" id="{D0D3F7D5-E176-7971-8085-F36A0356D9AA}"/>
                </a:ext>
              </a:extLst>
            </p:cNvPr>
            <p:cNvCxnSpPr/>
            <p:nvPr/>
          </p:nvCxnSpPr>
          <p:spPr>
            <a:xfrm>
              <a:off x="4453845" y="3612949"/>
              <a:ext cx="0" cy="396000"/>
            </a:xfrm>
            <a:prstGeom prst="straightConnector1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0" name="Google Shape;1410;p6">
              <a:extLst>
                <a:ext uri="{FF2B5EF4-FFF2-40B4-BE49-F238E27FC236}">
                  <a16:creationId xmlns:a16="http://schemas.microsoft.com/office/drawing/2014/main" id="{38C4B9B1-B6AE-EAF4-DF99-2DADFBE52674}"/>
                </a:ext>
              </a:extLst>
            </p:cNvPr>
            <p:cNvSpPr txBox="1"/>
            <p:nvPr/>
          </p:nvSpPr>
          <p:spPr>
            <a:xfrm>
              <a:off x="4716379" y="2128422"/>
              <a:ext cx="260788" cy="20005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Yes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1411;p6">
              <a:extLst>
                <a:ext uri="{FF2B5EF4-FFF2-40B4-BE49-F238E27FC236}">
                  <a16:creationId xmlns:a16="http://schemas.microsoft.com/office/drawing/2014/main" id="{AA5F7CE7-4995-A073-A596-5ACC5A88CEE4}"/>
                </a:ext>
              </a:extLst>
            </p:cNvPr>
            <p:cNvSpPr txBox="1"/>
            <p:nvPr/>
          </p:nvSpPr>
          <p:spPr>
            <a:xfrm>
              <a:off x="7136303" y="2120403"/>
              <a:ext cx="241156" cy="20005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No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cxnSp>
          <p:nvCxnSpPr>
            <p:cNvPr id="12" name="Google Shape;1412;p6">
              <a:extLst>
                <a:ext uri="{FF2B5EF4-FFF2-40B4-BE49-F238E27FC236}">
                  <a16:creationId xmlns:a16="http://schemas.microsoft.com/office/drawing/2014/main" id="{E3D80859-D6EB-17AE-9246-B8571A9B6CE3}"/>
                </a:ext>
              </a:extLst>
            </p:cNvPr>
            <p:cNvCxnSpPr/>
            <p:nvPr/>
          </p:nvCxnSpPr>
          <p:spPr>
            <a:xfrm rot="5400000">
              <a:off x="7203993" y="5026501"/>
              <a:ext cx="576000" cy="504000"/>
            </a:xfrm>
            <a:prstGeom prst="bentConnector2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" name="Google Shape;1413;p6">
              <a:extLst>
                <a:ext uri="{FF2B5EF4-FFF2-40B4-BE49-F238E27FC236}">
                  <a16:creationId xmlns:a16="http://schemas.microsoft.com/office/drawing/2014/main" id="{B57EB8E4-FC80-B909-1DA7-F79E890DB5F5}"/>
                </a:ext>
              </a:extLst>
            </p:cNvPr>
            <p:cNvCxnSpPr/>
            <p:nvPr/>
          </p:nvCxnSpPr>
          <p:spPr>
            <a:xfrm rot="16200000" flipH="1">
              <a:off x="4437948" y="5008501"/>
              <a:ext cx="576000" cy="540000"/>
            </a:xfrm>
            <a:prstGeom prst="bentConnector2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4" name="Google Shape;1414;p6">
              <a:extLst>
                <a:ext uri="{FF2B5EF4-FFF2-40B4-BE49-F238E27FC236}">
                  <a16:creationId xmlns:a16="http://schemas.microsoft.com/office/drawing/2014/main" id="{1C6F37DA-9CC6-0C26-F76E-11BF12FFB2BE}"/>
                </a:ext>
              </a:extLst>
            </p:cNvPr>
            <p:cNvSpPr/>
            <p:nvPr/>
          </p:nvSpPr>
          <p:spPr>
            <a:xfrm>
              <a:off x="3596215" y="4016567"/>
              <a:ext cx="1715259" cy="980477"/>
            </a:xfrm>
            <a:prstGeom prst="rect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Single Tier Storage Architecture.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25Gb Network strongly recommended</a:t>
              </a:r>
            </a:p>
          </p:txBody>
        </p:sp>
        <p:sp>
          <p:nvSpPr>
            <p:cNvPr id="15" name="Google Shape;1415;p6">
              <a:extLst>
                <a:ext uri="{FF2B5EF4-FFF2-40B4-BE49-F238E27FC236}">
                  <a16:creationId xmlns:a16="http://schemas.microsoft.com/office/drawing/2014/main" id="{FD718D6A-E1B9-E763-5EB9-A4F76DB45F4E}"/>
                </a:ext>
              </a:extLst>
            </p:cNvPr>
            <p:cNvSpPr/>
            <p:nvPr/>
          </p:nvSpPr>
          <p:spPr>
            <a:xfrm>
              <a:off x="6880525" y="4016567"/>
              <a:ext cx="1715259" cy="980477"/>
            </a:xfrm>
            <a:prstGeom prst="rect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Tiered Storage Architecture.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Mix of SAS, SATA or NVMe devices supported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 </a:t>
              </a:r>
            </a:p>
          </p:txBody>
        </p:sp>
        <p:sp>
          <p:nvSpPr>
            <p:cNvPr id="16" name="Google Shape;1416;p6">
              <a:extLst>
                <a:ext uri="{FF2B5EF4-FFF2-40B4-BE49-F238E27FC236}">
                  <a16:creationId xmlns:a16="http://schemas.microsoft.com/office/drawing/2014/main" id="{912B0702-1E38-2F97-DF41-4ECEA4E18043}"/>
                </a:ext>
              </a:extLst>
            </p:cNvPr>
            <p:cNvSpPr/>
            <p:nvPr/>
          </p:nvSpPr>
          <p:spPr>
            <a:xfrm>
              <a:off x="3596215" y="2642910"/>
              <a:ext cx="1715259" cy="980477"/>
            </a:xfrm>
            <a:prstGeom prst="rect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Use vSAN (ESA) Express Storage Architecture.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1417;p6">
              <a:extLst>
                <a:ext uri="{FF2B5EF4-FFF2-40B4-BE49-F238E27FC236}">
                  <a16:creationId xmlns:a16="http://schemas.microsoft.com/office/drawing/2014/main" id="{77BDF015-640E-D550-8ECD-9C703EEB2786}"/>
                </a:ext>
              </a:extLst>
            </p:cNvPr>
            <p:cNvSpPr/>
            <p:nvPr/>
          </p:nvSpPr>
          <p:spPr>
            <a:xfrm>
              <a:off x="6880525" y="2654049"/>
              <a:ext cx="1715259" cy="980477"/>
            </a:xfrm>
            <a:prstGeom prst="rect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Use vSA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N (OSA) Original Storage Architecture. 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18" name="Google Shape;1418;p6">
              <a:extLst>
                <a:ext uri="{FF2B5EF4-FFF2-40B4-BE49-F238E27FC236}">
                  <a16:creationId xmlns:a16="http://schemas.microsoft.com/office/drawing/2014/main" id="{B4599C22-B8CD-EA0A-0E1F-1153B7A1980A}"/>
                </a:ext>
              </a:extLst>
            </p:cNvPr>
            <p:cNvSpPr/>
            <p:nvPr/>
          </p:nvSpPr>
          <p:spPr>
            <a:xfrm>
              <a:off x="4977167" y="797258"/>
              <a:ext cx="2239818" cy="425481"/>
            </a:xfrm>
            <a:custGeom>
              <a:avLst/>
              <a:gdLst/>
              <a:ahLst/>
              <a:cxnLst/>
              <a:rect l="l" t="t" r="r" b="b"/>
              <a:pathLst>
                <a:path w="3368" h="422" extrusionOk="0">
                  <a:moveTo>
                    <a:pt x="211" y="422"/>
                  </a:moveTo>
                  <a:lnTo>
                    <a:pt x="3157" y="422"/>
                  </a:lnTo>
                  <a:cubicBezTo>
                    <a:pt x="3274" y="422"/>
                    <a:pt x="3368" y="328"/>
                    <a:pt x="3368" y="211"/>
                  </a:cubicBezTo>
                  <a:lnTo>
                    <a:pt x="3368" y="211"/>
                  </a:lnTo>
                  <a:cubicBezTo>
                    <a:pt x="3368" y="94"/>
                    <a:pt x="3274" y="0"/>
                    <a:pt x="3157" y="0"/>
                  </a:cubicBezTo>
                  <a:lnTo>
                    <a:pt x="211" y="0"/>
                  </a:lnTo>
                  <a:cubicBezTo>
                    <a:pt x="94" y="0"/>
                    <a:pt x="0" y="94"/>
                    <a:pt x="0" y="211"/>
                  </a:cubicBezTo>
                  <a:lnTo>
                    <a:pt x="0" y="211"/>
                  </a:lnTo>
                  <a:cubicBezTo>
                    <a:pt x="0" y="328"/>
                    <a:pt x="94" y="422"/>
                    <a:pt x="211" y="422"/>
                  </a:cubicBezTo>
                  <a:close/>
                </a:path>
              </a:pathLst>
            </a:cu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D0E1A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Start choosing a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D0E1A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n a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D0E1A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rchitectural model for vSAN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19" name="Google Shape;1419;p6">
              <a:extLst>
                <a:ext uri="{FF2B5EF4-FFF2-40B4-BE49-F238E27FC236}">
                  <a16:creationId xmlns:a16="http://schemas.microsoft.com/office/drawing/2014/main" id="{B5B5187A-174F-99B8-6CE0-6395D6618BAE}"/>
                </a:ext>
              </a:extLst>
            </p:cNvPr>
            <p:cNvSpPr/>
            <p:nvPr/>
          </p:nvSpPr>
          <p:spPr>
            <a:xfrm>
              <a:off x="5002541" y="5346503"/>
              <a:ext cx="2239818" cy="425481"/>
            </a:xfrm>
            <a:custGeom>
              <a:avLst/>
              <a:gdLst/>
              <a:ahLst/>
              <a:cxnLst/>
              <a:rect l="l" t="t" r="r" b="b"/>
              <a:pathLst>
                <a:path w="3368" h="422" extrusionOk="0">
                  <a:moveTo>
                    <a:pt x="211" y="422"/>
                  </a:moveTo>
                  <a:lnTo>
                    <a:pt x="3157" y="422"/>
                  </a:lnTo>
                  <a:cubicBezTo>
                    <a:pt x="3274" y="422"/>
                    <a:pt x="3368" y="328"/>
                    <a:pt x="3368" y="211"/>
                  </a:cubicBezTo>
                  <a:lnTo>
                    <a:pt x="3368" y="211"/>
                  </a:lnTo>
                  <a:cubicBezTo>
                    <a:pt x="3368" y="94"/>
                    <a:pt x="3274" y="0"/>
                    <a:pt x="3157" y="0"/>
                  </a:cubicBezTo>
                  <a:lnTo>
                    <a:pt x="211" y="0"/>
                  </a:lnTo>
                  <a:cubicBezTo>
                    <a:pt x="94" y="0"/>
                    <a:pt x="0" y="94"/>
                    <a:pt x="0" y="211"/>
                  </a:cubicBezTo>
                  <a:lnTo>
                    <a:pt x="0" y="211"/>
                  </a:lnTo>
                  <a:cubicBezTo>
                    <a:pt x="0" y="328"/>
                    <a:pt x="94" y="422"/>
                    <a:pt x="211" y="422"/>
                  </a:cubicBezTo>
                  <a:close/>
                </a:path>
              </a:pathLst>
            </a:cu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D0E1A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End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cxnSp>
          <p:nvCxnSpPr>
            <p:cNvPr id="20" name="Google Shape;1420;p6">
              <a:extLst>
                <a:ext uri="{FF2B5EF4-FFF2-40B4-BE49-F238E27FC236}">
                  <a16:creationId xmlns:a16="http://schemas.microsoft.com/office/drawing/2014/main" id="{5A03B50B-F038-345F-3F21-25DA16B4512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rot="5400000" flipH="1" flipV="1">
              <a:off x="4709575" y="2076556"/>
              <a:ext cx="310624" cy="822085"/>
            </a:xfrm>
            <a:prstGeom prst="bentConnector2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95286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0B236-AF15-BE65-4FB4-5B18A257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86F6-945F-37EA-C357-3BCC8EAB2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66" y="158737"/>
            <a:ext cx="11001004" cy="381000"/>
          </a:xfrm>
        </p:spPr>
        <p:txBody>
          <a:bodyPr/>
          <a:lstStyle/>
          <a:p>
            <a:r>
              <a:rPr lang="en-US" dirty="0">
                <a:latin typeface="Metropolis" pitchFamily="2" charset="77"/>
              </a:rPr>
              <a:t>Choices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dirty="0">
              <a:latin typeface="Metropolis" pitchFamily="2" charset="77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76D76D6-D803-787E-5F8E-8B1075EAF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0986" y="1473565"/>
            <a:ext cx="4148328" cy="4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8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D7E82-35CA-5C6A-F5A2-9323AF63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Distributed Switch Model (2-pNiC) v1.1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853186-0E4F-6F1C-5A4C-85B2F756BF74}"/>
              </a:ext>
            </a:extLst>
          </p:cNvPr>
          <p:cNvSpPr/>
          <p:nvPr/>
        </p:nvSpPr>
        <p:spPr>
          <a:xfrm>
            <a:off x="2482820" y="1645841"/>
            <a:ext cx="6466902" cy="3111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1641;p6">
            <a:extLst>
              <a:ext uri="{FF2B5EF4-FFF2-40B4-BE49-F238E27FC236}">
                <a16:creationId xmlns:a16="http://schemas.microsoft.com/office/drawing/2014/main" id="{9384277E-3026-86EE-C68B-F58051225811}"/>
              </a:ext>
            </a:extLst>
          </p:cNvPr>
          <p:cNvSpPr/>
          <p:nvPr/>
        </p:nvSpPr>
        <p:spPr>
          <a:xfrm>
            <a:off x="2583014" y="2589645"/>
            <a:ext cx="6266516" cy="1992705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latin typeface="Metropolis" pitchFamily="2" charset="77"/>
              </a:rPr>
              <a:t>ESX Host</a:t>
            </a:r>
            <a:endParaRPr sz="1050" dirty="0">
              <a:latin typeface="Metropolis" pitchFamily="2" charset="77"/>
            </a:endParaRPr>
          </a:p>
        </p:txBody>
      </p:sp>
      <p:sp>
        <p:nvSpPr>
          <p:cNvPr id="23" name="Google Shape;1376;p4">
            <a:extLst>
              <a:ext uri="{FF2B5EF4-FFF2-40B4-BE49-F238E27FC236}">
                <a16:creationId xmlns:a16="http://schemas.microsoft.com/office/drawing/2014/main" id="{6F4A11EA-56CC-18E3-6779-C699FCEABD4B}"/>
              </a:ext>
            </a:extLst>
          </p:cNvPr>
          <p:cNvSpPr/>
          <p:nvPr/>
        </p:nvSpPr>
        <p:spPr>
          <a:xfrm>
            <a:off x="4920619" y="2804946"/>
            <a:ext cx="1599941" cy="4572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vDS</a:t>
            </a: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 Uplinks</a:t>
            </a:r>
            <a:endParaRPr dirty="0">
              <a:latin typeface="Metropolis" pitchFamily="2" charset="77"/>
            </a:endParaRPr>
          </a:p>
        </p:txBody>
      </p:sp>
      <p:sp>
        <p:nvSpPr>
          <p:cNvPr id="24" name="Google Shape;2399;p20">
            <a:extLst>
              <a:ext uri="{FF2B5EF4-FFF2-40B4-BE49-F238E27FC236}">
                <a16:creationId xmlns:a16="http://schemas.microsoft.com/office/drawing/2014/main" id="{898C0A50-74C8-79D7-CF30-29E1B0A5510E}"/>
              </a:ext>
            </a:extLst>
          </p:cNvPr>
          <p:cNvSpPr/>
          <p:nvPr/>
        </p:nvSpPr>
        <p:spPr>
          <a:xfrm>
            <a:off x="2809061" y="3262146"/>
            <a:ext cx="5823059" cy="10325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vDS01</a:t>
            </a:r>
            <a:endParaRPr sz="1000" dirty="0">
              <a:solidFill>
                <a:schemeClr val="tx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5" name="Google Shape;2402;p20">
            <a:extLst>
              <a:ext uri="{FF2B5EF4-FFF2-40B4-BE49-F238E27FC236}">
                <a16:creationId xmlns:a16="http://schemas.microsoft.com/office/drawing/2014/main" id="{9675F9F4-DAE3-0E93-918E-1F42AB52B3FD}"/>
              </a:ext>
            </a:extLst>
          </p:cNvPr>
          <p:cNvSpPr/>
          <p:nvPr/>
        </p:nvSpPr>
        <p:spPr>
          <a:xfrm>
            <a:off x="2998478" y="3667651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221E20"/>
                </a:solidFill>
                <a:latin typeface="Metropolis" pitchFamily="2" charset="77"/>
              </a:rPr>
              <a:t>VM Management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6" name="Google Shape;2403;p20">
            <a:extLst>
              <a:ext uri="{FF2B5EF4-FFF2-40B4-BE49-F238E27FC236}">
                <a16:creationId xmlns:a16="http://schemas.microsoft.com/office/drawing/2014/main" id="{10B0AF3D-A7DE-6230-C689-7099B772C999}"/>
              </a:ext>
            </a:extLst>
          </p:cNvPr>
          <p:cNvSpPr/>
          <p:nvPr/>
        </p:nvSpPr>
        <p:spPr>
          <a:xfrm>
            <a:off x="4135628" y="3667651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221E20"/>
                </a:solidFill>
                <a:latin typeface="Metropolis" pitchFamily="2" charset="77"/>
              </a:rPr>
              <a:t>ESX Management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7" name="Google Shape;2405;p20">
            <a:extLst>
              <a:ext uri="{FF2B5EF4-FFF2-40B4-BE49-F238E27FC236}">
                <a16:creationId xmlns:a16="http://schemas.microsoft.com/office/drawing/2014/main" id="{EA5FCE1E-CE04-CE40-CC7A-DCCCB401DCE3}"/>
              </a:ext>
            </a:extLst>
          </p:cNvPr>
          <p:cNvSpPr/>
          <p:nvPr/>
        </p:nvSpPr>
        <p:spPr>
          <a:xfrm>
            <a:off x="5272778" y="3667651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 err="1">
                <a:latin typeface="Metropolis" pitchFamily="2" charset="77"/>
              </a:rPr>
              <a:t>vMotion</a:t>
            </a:r>
            <a:endParaRPr lang="en-GB" sz="900" dirty="0">
              <a:latin typeface="Metropolis" pitchFamily="2" charset="77"/>
            </a:endParaRPr>
          </a:p>
        </p:txBody>
      </p:sp>
      <p:sp>
        <p:nvSpPr>
          <p:cNvPr id="28" name="Google Shape;1379;p4">
            <a:extLst>
              <a:ext uri="{FF2B5EF4-FFF2-40B4-BE49-F238E27FC236}">
                <a16:creationId xmlns:a16="http://schemas.microsoft.com/office/drawing/2014/main" id="{07E4AD25-75D7-4825-05B2-5BA1960F5064}"/>
              </a:ext>
            </a:extLst>
          </p:cNvPr>
          <p:cNvSpPr/>
          <p:nvPr/>
        </p:nvSpPr>
        <p:spPr>
          <a:xfrm>
            <a:off x="6419332" y="3665056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098C7"/>
                </a:solidFill>
                <a:latin typeface="Metropolis" pitchFamily="2" charset="77"/>
              </a:rPr>
              <a:t>vSAN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098C7"/>
                </a:solidFill>
                <a:latin typeface="Metropolis" pitchFamily="2" charset="77"/>
              </a:rPr>
              <a:t>Storage</a:t>
            </a:r>
            <a:endParaRPr sz="900" dirty="0">
              <a:solidFill>
                <a:srgbClr val="0098C7"/>
              </a:solidFill>
              <a:latin typeface="Metropolis" pitchFamily="2" charset="77"/>
            </a:endParaRPr>
          </a:p>
        </p:txBody>
      </p:sp>
      <p:sp>
        <p:nvSpPr>
          <p:cNvPr id="29" name="Google Shape;1373;p4">
            <a:extLst>
              <a:ext uri="{FF2B5EF4-FFF2-40B4-BE49-F238E27FC236}">
                <a16:creationId xmlns:a16="http://schemas.microsoft.com/office/drawing/2014/main" id="{814D8B1B-EB4F-2E35-504A-10BD98317AA3}"/>
              </a:ext>
            </a:extLst>
          </p:cNvPr>
          <p:cNvSpPr/>
          <p:nvPr/>
        </p:nvSpPr>
        <p:spPr>
          <a:xfrm>
            <a:off x="7556482" y="3666260"/>
            <a:ext cx="898957" cy="404261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Metropolis" pitchFamily="2" charset="77"/>
              </a:rPr>
              <a:t>Virtual Networking</a:t>
            </a:r>
            <a:endParaRPr lang="en-US" sz="900" dirty="0">
              <a:latin typeface="Metropolis" pitchFamily="2" charset="77"/>
            </a:endParaRPr>
          </a:p>
        </p:txBody>
      </p:sp>
      <p:cxnSp>
        <p:nvCxnSpPr>
          <p:cNvPr id="30" name="Google Shape;1421;p5">
            <a:extLst>
              <a:ext uri="{FF2B5EF4-FFF2-40B4-BE49-F238E27FC236}">
                <a16:creationId xmlns:a16="http://schemas.microsoft.com/office/drawing/2014/main" id="{BE699528-FA5D-1BF5-9037-D48F732F9573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5373136" y="2237951"/>
            <a:ext cx="1" cy="56699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31" name="Google Shape;1421;p5">
            <a:extLst>
              <a:ext uri="{FF2B5EF4-FFF2-40B4-BE49-F238E27FC236}">
                <a16:creationId xmlns:a16="http://schemas.microsoft.com/office/drawing/2014/main" id="{FC853AC0-B276-A38D-897C-58DB4110E270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6094460" y="2234547"/>
            <a:ext cx="0" cy="57039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9F6F5AF-1610-624A-BE46-308DA8B68471}"/>
              </a:ext>
            </a:extLst>
          </p:cNvPr>
          <p:cNvGrpSpPr/>
          <p:nvPr/>
        </p:nvGrpSpPr>
        <p:grpSpPr>
          <a:xfrm>
            <a:off x="5842460" y="1694547"/>
            <a:ext cx="503999" cy="540000"/>
            <a:chOff x="9321542" y="1289797"/>
            <a:chExt cx="348692" cy="350167"/>
          </a:xfrm>
        </p:grpSpPr>
        <p:sp>
          <p:nvSpPr>
            <p:cNvPr id="33" name="Google Shape;2074;p72">
              <a:extLst>
                <a:ext uri="{FF2B5EF4-FFF2-40B4-BE49-F238E27FC236}">
                  <a16:creationId xmlns:a16="http://schemas.microsoft.com/office/drawing/2014/main" id="{FFCCF838-01EF-2CE5-0DB0-8BAB6C2EC076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" name="Google Shape;2075;p72">
              <a:extLst>
                <a:ext uri="{FF2B5EF4-FFF2-40B4-BE49-F238E27FC236}">
                  <a16:creationId xmlns:a16="http://schemas.microsoft.com/office/drawing/2014/main" id="{16389E5E-FFBC-D48B-B93A-9218B6C98A4A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5" name="Google Shape;2076;p72">
              <a:extLst>
                <a:ext uri="{FF2B5EF4-FFF2-40B4-BE49-F238E27FC236}">
                  <a16:creationId xmlns:a16="http://schemas.microsoft.com/office/drawing/2014/main" id="{3EB6FCB0-DD4C-7915-A099-1D18830A126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" name="Google Shape;2077;p72">
              <a:extLst>
                <a:ext uri="{FF2B5EF4-FFF2-40B4-BE49-F238E27FC236}">
                  <a16:creationId xmlns:a16="http://schemas.microsoft.com/office/drawing/2014/main" id="{B7FBDDE9-F5F3-625D-3A15-B6A91C94B68D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" name="Google Shape;2078;p72">
              <a:extLst>
                <a:ext uri="{FF2B5EF4-FFF2-40B4-BE49-F238E27FC236}">
                  <a16:creationId xmlns:a16="http://schemas.microsoft.com/office/drawing/2014/main" id="{EB51F3B1-DDEE-F4A3-1DDF-F8C3778E2D1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656259-2E6F-550F-28F1-1F61A8E9DD51}"/>
              </a:ext>
            </a:extLst>
          </p:cNvPr>
          <p:cNvGrpSpPr/>
          <p:nvPr/>
        </p:nvGrpSpPr>
        <p:grpSpPr>
          <a:xfrm>
            <a:off x="5121137" y="1697951"/>
            <a:ext cx="503999" cy="540000"/>
            <a:chOff x="9321542" y="1289797"/>
            <a:chExt cx="348692" cy="350167"/>
          </a:xfrm>
        </p:grpSpPr>
        <p:sp>
          <p:nvSpPr>
            <p:cNvPr id="39" name="Google Shape;2074;p72">
              <a:extLst>
                <a:ext uri="{FF2B5EF4-FFF2-40B4-BE49-F238E27FC236}">
                  <a16:creationId xmlns:a16="http://schemas.microsoft.com/office/drawing/2014/main" id="{3D4AB4B9-B7B8-FC01-BA44-6E60E6F7F1A9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" name="Google Shape;2075;p72">
              <a:extLst>
                <a:ext uri="{FF2B5EF4-FFF2-40B4-BE49-F238E27FC236}">
                  <a16:creationId xmlns:a16="http://schemas.microsoft.com/office/drawing/2014/main" id="{8E2DA847-C008-2CAF-2CB8-C49E853ABA7C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" name="Google Shape;2076;p72">
              <a:extLst>
                <a:ext uri="{FF2B5EF4-FFF2-40B4-BE49-F238E27FC236}">
                  <a16:creationId xmlns:a16="http://schemas.microsoft.com/office/drawing/2014/main" id="{55406217-0663-70AF-256D-2E2F73CA92B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" name="Google Shape;2077;p72">
              <a:extLst>
                <a:ext uri="{FF2B5EF4-FFF2-40B4-BE49-F238E27FC236}">
                  <a16:creationId xmlns:a16="http://schemas.microsoft.com/office/drawing/2014/main" id="{F204A842-CBE4-0CF2-E127-EDFA962304C2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" name="Google Shape;2078;p72">
              <a:extLst>
                <a:ext uri="{FF2B5EF4-FFF2-40B4-BE49-F238E27FC236}">
                  <a16:creationId xmlns:a16="http://schemas.microsoft.com/office/drawing/2014/main" id="{FE357F4A-A8AB-FFEF-F4DD-B37333ACBBF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85357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E03026-AED5-FCED-637B-4D55259A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Separation Distributed Switch Model (4-pNiC) v1.1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B3124-4A85-F96D-8B6C-4447802CBFC6}"/>
              </a:ext>
            </a:extLst>
          </p:cNvPr>
          <p:cNvSpPr/>
          <p:nvPr/>
        </p:nvSpPr>
        <p:spPr>
          <a:xfrm>
            <a:off x="1299478" y="1995465"/>
            <a:ext cx="7674194" cy="3111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1641;p6">
            <a:extLst>
              <a:ext uri="{FF2B5EF4-FFF2-40B4-BE49-F238E27FC236}">
                <a16:creationId xmlns:a16="http://schemas.microsoft.com/office/drawing/2014/main" id="{F8632E93-E109-2F1A-8918-7F2AD2F58C60}"/>
              </a:ext>
            </a:extLst>
          </p:cNvPr>
          <p:cNvSpPr/>
          <p:nvPr/>
        </p:nvSpPr>
        <p:spPr>
          <a:xfrm>
            <a:off x="1399671" y="2939269"/>
            <a:ext cx="7475388" cy="1992705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latin typeface="Metropolis" pitchFamily="2" charset="77"/>
              </a:rPr>
              <a:t>ESX Host</a:t>
            </a:r>
            <a:endParaRPr sz="1050" dirty="0">
              <a:latin typeface="Metropolis" pitchFamily="2" charset="77"/>
            </a:endParaRPr>
          </a:p>
        </p:txBody>
      </p:sp>
      <p:sp>
        <p:nvSpPr>
          <p:cNvPr id="8" name="Google Shape;1376;p4">
            <a:extLst>
              <a:ext uri="{FF2B5EF4-FFF2-40B4-BE49-F238E27FC236}">
                <a16:creationId xmlns:a16="http://schemas.microsoft.com/office/drawing/2014/main" id="{14984DCF-684C-83CE-7C1C-CB71D063F5D2}"/>
              </a:ext>
            </a:extLst>
          </p:cNvPr>
          <p:cNvSpPr/>
          <p:nvPr/>
        </p:nvSpPr>
        <p:spPr>
          <a:xfrm>
            <a:off x="3737277" y="3154570"/>
            <a:ext cx="1599941" cy="4572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vDS</a:t>
            </a: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 Uplinks</a:t>
            </a:r>
            <a:endParaRPr dirty="0">
              <a:latin typeface="Metropolis" pitchFamily="2" charset="77"/>
            </a:endParaRPr>
          </a:p>
        </p:txBody>
      </p:sp>
      <p:sp>
        <p:nvSpPr>
          <p:cNvPr id="9" name="Google Shape;2399;p20">
            <a:extLst>
              <a:ext uri="{FF2B5EF4-FFF2-40B4-BE49-F238E27FC236}">
                <a16:creationId xmlns:a16="http://schemas.microsoft.com/office/drawing/2014/main" id="{2A95847A-BA8C-1F18-0984-A2E55ADE80B4}"/>
              </a:ext>
            </a:extLst>
          </p:cNvPr>
          <p:cNvSpPr/>
          <p:nvPr/>
        </p:nvSpPr>
        <p:spPr>
          <a:xfrm>
            <a:off x="1625720" y="3611770"/>
            <a:ext cx="4676468" cy="10325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vDS01</a:t>
            </a:r>
            <a:endParaRPr sz="1000" dirty="0">
              <a:solidFill>
                <a:schemeClr val="tx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0" name="Google Shape;2402;p20">
            <a:extLst>
              <a:ext uri="{FF2B5EF4-FFF2-40B4-BE49-F238E27FC236}">
                <a16:creationId xmlns:a16="http://schemas.microsoft.com/office/drawing/2014/main" id="{9AB4DBCF-3ECB-32AC-76DB-464F25705DA2}"/>
              </a:ext>
            </a:extLst>
          </p:cNvPr>
          <p:cNvSpPr/>
          <p:nvPr/>
        </p:nvSpPr>
        <p:spPr>
          <a:xfrm>
            <a:off x="1815136" y="401727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221E20"/>
                </a:solidFill>
                <a:latin typeface="Metropolis" pitchFamily="2" charset="77"/>
              </a:rPr>
              <a:t>VM Management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11" name="Google Shape;2403;p20">
            <a:extLst>
              <a:ext uri="{FF2B5EF4-FFF2-40B4-BE49-F238E27FC236}">
                <a16:creationId xmlns:a16="http://schemas.microsoft.com/office/drawing/2014/main" id="{09DEEBAB-DD73-5D6D-CF93-034BD807DCAF}"/>
              </a:ext>
            </a:extLst>
          </p:cNvPr>
          <p:cNvSpPr/>
          <p:nvPr/>
        </p:nvSpPr>
        <p:spPr>
          <a:xfrm>
            <a:off x="2952286" y="401727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221E20"/>
                </a:solidFill>
                <a:latin typeface="Metropolis" pitchFamily="2" charset="77"/>
              </a:rPr>
              <a:t>ESX Management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12" name="Google Shape;2405;p20">
            <a:extLst>
              <a:ext uri="{FF2B5EF4-FFF2-40B4-BE49-F238E27FC236}">
                <a16:creationId xmlns:a16="http://schemas.microsoft.com/office/drawing/2014/main" id="{EECC838E-13A4-745A-22C7-9102881FFFB1}"/>
              </a:ext>
            </a:extLst>
          </p:cNvPr>
          <p:cNvSpPr/>
          <p:nvPr/>
        </p:nvSpPr>
        <p:spPr>
          <a:xfrm>
            <a:off x="4089436" y="401727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 err="1">
                <a:latin typeface="Metropolis" pitchFamily="2" charset="77"/>
              </a:rPr>
              <a:t>vMotion</a:t>
            </a:r>
            <a:endParaRPr lang="en-GB" sz="900" dirty="0">
              <a:latin typeface="Metropolis" pitchFamily="2" charset="77"/>
            </a:endParaRPr>
          </a:p>
        </p:txBody>
      </p:sp>
      <p:sp>
        <p:nvSpPr>
          <p:cNvPr id="14" name="Google Shape;1373;p4">
            <a:extLst>
              <a:ext uri="{FF2B5EF4-FFF2-40B4-BE49-F238E27FC236}">
                <a16:creationId xmlns:a16="http://schemas.microsoft.com/office/drawing/2014/main" id="{B6789256-D17A-D8BB-9D38-2B741D3373D0}"/>
              </a:ext>
            </a:extLst>
          </p:cNvPr>
          <p:cNvSpPr/>
          <p:nvPr/>
        </p:nvSpPr>
        <p:spPr>
          <a:xfrm>
            <a:off x="5226586" y="4009397"/>
            <a:ext cx="898957" cy="404261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Metropolis" pitchFamily="2" charset="77"/>
              </a:rPr>
              <a:t>Virtual Networking</a:t>
            </a:r>
            <a:endParaRPr lang="en-US" sz="900" dirty="0">
              <a:latin typeface="Metropolis" pitchFamily="2" charset="77"/>
            </a:endParaRPr>
          </a:p>
        </p:txBody>
      </p:sp>
      <p:cxnSp>
        <p:nvCxnSpPr>
          <p:cNvPr id="15" name="Google Shape;1421;p5">
            <a:extLst>
              <a:ext uri="{FF2B5EF4-FFF2-40B4-BE49-F238E27FC236}">
                <a16:creationId xmlns:a16="http://schemas.microsoft.com/office/drawing/2014/main" id="{8D390343-B471-5F2F-83B3-FFA58D26ECC4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4189794" y="2587575"/>
            <a:ext cx="1" cy="56699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6" name="Google Shape;1421;p5">
            <a:extLst>
              <a:ext uri="{FF2B5EF4-FFF2-40B4-BE49-F238E27FC236}">
                <a16:creationId xmlns:a16="http://schemas.microsoft.com/office/drawing/2014/main" id="{6A2ABC70-FFF9-B7AC-6966-908E469996FB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4911118" y="2584171"/>
            <a:ext cx="0" cy="57039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C005B4-E875-C6BA-0049-637A971E4D9B}"/>
              </a:ext>
            </a:extLst>
          </p:cNvPr>
          <p:cNvGrpSpPr/>
          <p:nvPr/>
        </p:nvGrpSpPr>
        <p:grpSpPr>
          <a:xfrm>
            <a:off x="4659118" y="2044171"/>
            <a:ext cx="503999" cy="540000"/>
            <a:chOff x="9321542" y="1289797"/>
            <a:chExt cx="348692" cy="350167"/>
          </a:xfrm>
        </p:grpSpPr>
        <p:sp>
          <p:nvSpPr>
            <p:cNvPr id="18" name="Google Shape;2074;p72">
              <a:extLst>
                <a:ext uri="{FF2B5EF4-FFF2-40B4-BE49-F238E27FC236}">
                  <a16:creationId xmlns:a16="http://schemas.microsoft.com/office/drawing/2014/main" id="{888F873C-F253-7A44-6FEF-824813F4A4E8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" name="Google Shape;2075;p72">
              <a:extLst>
                <a:ext uri="{FF2B5EF4-FFF2-40B4-BE49-F238E27FC236}">
                  <a16:creationId xmlns:a16="http://schemas.microsoft.com/office/drawing/2014/main" id="{1AE69C28-FE15-1631-C2E4-2BEC4AC5A1B2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" name="Google Shape;2076;p72">
              <a:extLst>
                <a:ext uri="{FF2B5EF4-FFF2-40B4-BE49-F238E27FC236}">
                  <a16:creationId xmlns:a16="http://schemas.microsoft.com/office/drawing/2014/main" id="{F09F260B-FE33-249F-FBA0-280E7E1EE4F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" name="Google Shape;2077;p72">
              <a:extLst>
                <a:ext uri="{FF2B5EF4-FFF2-40B4-BE49-F238E27FC236}">
                  <a16:creationId xmlns:a16="http://schemas.microsoft.com/office/drawing/2014/main" id="{ED08809D-094C-D515-139A-708C164986FB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" name="Google Shape;2078;p72">
              <a:extLst>
                <a:ext uri="{FF2B5EF4-FFF2-40B4-BE49-F238E27FC236}">
                  <a16:creationId xmlns:a16="http://schemas.microsoft.com/office/drawing/2014/main" id="{3AA68DCA-4376-2A2E-1BB1-7DC8C3534D3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EAF0DA8-EF52-950D-A986-2FB44917B0B5}"/>
              </a:ext>
            </a:extLst>
          </p:cNvPr>
          <p:cNvGrpSpPr/>
          <p:nvPr/>
        </p:nvGrpSpPr>
        <p:grpSpPr>
          <a:xfrm>
            <a:off x="3937795" y="2047575"/>
            <a:ext cx="503999" cy="540000"/>
            <a:chOff x="9321542" y="1289797"/>
            <a:chExt cx="348692" cy="350167"/>
          </a:xfrm>
        </p:grpSpPr>
        <p:sp>
          <p:nvSpPr>
            <p:cNvPr id="24" name="Google Shape;2074;p72">
              <a:extLst>
                <a:ext uri="{FF2B5EF4-FFF2-40B4-BE49-F238E27FC236}">
                  <a16:creationId xmlns:a16="http://schemas.microsoft.com/office/drawing/2014/main" id="{941446D2-A9C6-1FE4-9B81-E886C546E8DA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" name="Google Shape;2075;p72">
              <a:extLst>
                <a:ext uri="{FF2B5EF4-FFF2-40B4-BE49-F238E27FC236}">
                  <a16:creationId xmlns:a16="http://schemas.microsoft.com/office/drawing/2014/main" id="{DBBB2303-59AF-EFC5-DBC9-DDAF38AEE8AC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" name="Google Shape;2076;p72">
              <a:extLst>
                <a:ext uri="{FF2B5EF4-FFF2-40B4-BE49-F238E27FC236}">
                  <a16:creationId xmlns:a16="http://schemas.microsoft.com/office/drawing/2014/main" id="{71CD1DD0-27E0-A06E-866E-C5EBD595013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" name="Google Shape;2077;p72">
              <a:extLst>
                <a:ext uri="{FF2B5EF4-FFF2-40B4-BE49-F238E27FC236}">
                  <a16:creationId xmlns:a16="http://schemas.microsoft.com/office/drawing/2014/main" id="{15959F85-5FAD-C375-D506-60CDE2E985ED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8" name="Google Shape;2078;p72">
              <a:extLst>
                <a:ext uri="{FF2B5EF4-FFF2-40B4-BE49-F238E27FC236}">
                  <a16:creationId xmlns:a16="http://schemas.microsoft.com/office/drawing/2014/main" id="{00EB752B-7CBD-68BA-7D2E-C78F8D8D9D4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9" name="Google Shape;1376;p4">
            <a:extLst>
              <a:ext uri="{FF2B5EF4-FFF2-40B4-BE49-F238E27FC236}">
                <a16:creationId xmlns:a16="http://schemas.microsoft.com/office/drawing/2014/main" id="{2253DB63-8A1C-2D1A-6E77-9EEAABDB2BEE}"/>
              </a:ext>
            </a:extLst>
          </p:cNvPr>
          <p:cNvSpPr/>
          <p:nvPr/>
        </p:nvSpPr>
        <p:spPr>
          <a:xfrm>
            <a:off x="6709809" y="3154570"/>
            <a:ext cx="1599941" cy="4572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vDS</a:t>
            </a: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 Uplinks</a:t>
            </a:r>
            <a:endParaRPr dirty="0">
              <a:latin typeface="Metropolis" pitchFamily="2" charset="77"/>
            </a:endParaRPr>
          </a:p>
        </p:txBody>
      </p:sp>
      <p:cxnSp>
        <p:nvCxnSpPr>
          <p:cNvPr id="30" name="Google Shape;1421;p5">
            <a:extLst>
              <a:ext uri="{FF2B5EF4-FFF2-40B4-BE49-F238E27FC236}">
                <a16:creationId xmlns:a16="http://schemas.microsoft.com/office/drawing/2014/main" id="{D5DDF555-E00B-8BFB-3B39-57514DD898E6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7162326" y="2587575"/>
            <a:ext cx="1" cy="56699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31" name="Google Shape;1421;p5">
            <a:extLst>
              <a:ext uri="{FF2B5EF4-FFF2-40B4-BE49-F238E27FC236}">
                <a16:creationId xmlns:a16="http://schemas.microsoft.com/office/drawing/2014/main" id="{0A70D61E-71E3-7EF5-F097-10FBAB1B93DF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7883650" y="2584171"/>
            <a:ext cx="0" cy="57039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11FD8B-F498-95D2-733F-8D2157733881}"/>
              </a:ext>
            </a:extLst>
          </p:cNvPr>
          <p:cNvGrpSpPr/>
          <p:nvPr/>
        </p:nvGrpSpPr>
        <p:grpSpPr>
          <a:xfrm>
            <a:off x="7631650" y="2044171"/>
            <a:ext cx="503999" cy="540000"/>
            <a:chOff x="9321542" y="1289797"/>
            <a:chExt cx="348692" cy="350167"/>
          </a:xfrm>
        </p:grpSpPr>
        <p:sp>
          <p:nvSpPr>
            <p:cNvPr id="33" name="Google Shape;2074;p72">
              <a:extLst>
                <a:ext uri="{FF2B5EF4-FFF2-40B4-BE49-F238E27FC236}">
                  <a16:creationId xmlns:a16="http://schemas.microsoft.com/office/drawing/2014/main" id="{A4B85998-5CF6-2733-88FB-E9514604C3B9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" name="Google Shape;2075;p72">
              <a:extLst>
                <a:ext uri="{FF2B5EF4-FFF2-40B4-BE49-F238E27FC236}">
                  <a16:creationId xmlns:a16="http://schemas.microsoft.com/office/drawing/2014/main" id="{DDAA0479-A672-1289-149C-A374C4BB2F1C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5" name="Google Shape;2076;p72">
              <a:extLst>
                <a:ext uri="{FF2B5EF4-FFF2-40B4-BE49-F238E27FC236}">
                  <a16:creationId xmlns:a16="http://schemas.microsoft.com/office/drawing/2014/main" id="{FD8D2D9C-BF98-906F-9A82-9687B2CE75B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" name="Google Shape;2077;p72">
              <a:extLst>
                <a:ext uri="{FF2B5EF4-FFF2-40B4-BE49-F238E27FC236}">
                  <a16:creationId xmlns:a16="http://schemas.microsoft.com/office/drawing/2014/main" id="{0BC69E78-A86C-BDCA-D545-5B133B846846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" name="Google Shape;2078;p72">
              <a:extLst>
                <a:ext uri="{FF2B5EF4-FFF2-40B4-BE49-F238E27FC236}">
                  <a16:creationId xmlns:a16="http://schemas.microsoft.com/office/drawing/2014/main" id="{FB8AB769-5A8B-C9E9-6EAF-BEB32767539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FBBA0B-DB53-E1F5-2D23-4CA87A075A08}"/>
              </a:ext>
            </a:extLst>
          </p:cNvPr>
          <p:cNvGrpSpPr/>
          <p:nvPr/>
        </p:nvGrpSpPr>
        <p:grpSpPr>
          <a:xfrm>
            <a:off x="6910327" y="2047575"/>
            <a:ext cx="503999" cy="540000"/>
            <a:chOff x="9321542" y="1289797"/>
            <a:chExt cx="348692" cy="350167"/>
          </a:xfrm>
        </p:grpSpPr>
        <p:sp>
          <p:nvSpPr>
            <p:cNvPr id="39" name="Google Shape;2074;p72">
              <a:extLst>
                <a:ext uri="{FF2B5EF4-FFF2-40B4-BE49-F238E27FC236}">
                  <a16:creationId xmlns:a16="http://schemas.microsoft.com/office/drawing/2014/main" id="{608AF240-5B40-2281-C3C9-461F5E702DBC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" name="Google Shape;2075;p72">
              <a:extLst>
                <a:ext uri="{FF2B5EF4-FFF2-40B4-BE49-F238E27FC236}">
                  <a16:creationId xmlns:a16="http://schemas.microsoft.com/office/drawing/2014/main" id="{BE10A4DC-E159-4474-3773-9E1F990B39B8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" name="Google Shape;2076;p72">
              <a:extLst>
                <a:ext uri="{FF2B5EF4-FFF2-40B4-BE49-F238E27FC236}">
                  <a16:creationId xmlns:a16="http://schemas.microsoft.com/office/drawing/2014/main" id="{21BC9427-FA24-BB70-ADB6-B06439C9780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" name="Google Shape;2077;p72">
              <a:extLst>
                <a:ext uri="{FF2B5EF4-FFF2-40B4-BE49-F238E27FC236}">
                  <a16:creationId xmlns:a16="http://schemas.microsoft.com/office/drawing/2014/main" id="{98A22839-1069-8038-A888-8C6513CC9BBE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" name="Google Shape;2078;p72">
              <a:extLst>
                <a:ext uri="{FF2B5EF4-FFF2-40B4-BE49-F238E27FC236}">
                  <a16:creationId xmlns:a16="http://schemas.microsoft.com/office/drawing/2014/main" id="{ED897B9D-0281-2554-9211-63B7E59A739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44" name="Google Shape;2399;p20">
            <a:extLst>
              <a:ext uri="{FF2B5EF4-FFF2-40B4-BE49-F238E27FC236}">
                <a16:creationId xmlns:a16="http://schemas.microsoft.com/office/drawing/2014/main" id="{D713995C-05EB-37E7-C28A-84DA5BE8C96C}"/>
              </a:ext>
            </a:extLst>
          </p:cNvPr>
          <p:cNvSpPr/>
          <p:nvPr/>
        </p:nvSpPr>
        <p:spPr>
          <a:xfrm>
            <a:off x="6373140" y="3611769"/>
            <a:ext cx="2273106" cy="10325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vDS02</a:t>
            </a:r>
            <a:endParaRPr sz="1000" dirty="0">
              <a:solidFill>
                <a:schemeClr val="tx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" name="Google Shape;1379;p4">
            <a:extLst>
              <a:ext uri="{FF2B5EF4-FFF2-40B4-BE49-F238E27FC236}">
                <a16:creationId xmlns:a16="http://schemas.microsoft.com/office/drawing/2014/main" id="{24DF94B4-6FE7-313E-1611-E1C86EFC3125}"/>
              </a:ext>
            </a:extLst>
          </p:cNvPr>
          <p:cNvSpPr/>
          <p:nvPr/>
        </p:nvSpPr>
        <p:spPr>
          <a:xfrm>
            <a:off x="7060214" y="401727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098C7"/>
                </a:solidFill>
                <a:latin typeface="Metropolis" pitchFamily="2" charset="77"/>
              </a:rPr>
              <a:t>vSAN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098C7"/>
                </a:solidFill>
                <a:latin typeface="Metropolis" pitchFamily="2" charset="77"/>
              </a:rPr>
              <a:t>Storage</a:t>
            </a:r>
            <a:endParaRPr sz="900" dirty="0">
              <a:solidFill>
                <a:srgbClr val="0098C7"/>
              </a:solidFill>
              <a:latin typeface="Metropoli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423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F948-E64E-5F20-DA35-23833792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0" y="434663"/>
            <a:ext cx="1668735" cy="1237006"/>
          </a:xfrm>
        </p:spPr>
        <p:txBody>
          <a:bodyPr/>
          <a:lstStyle/>
          <a:p>
            <a:r>
              <a:rPr lang="en-US" dirty="0">
                <a:latin typeface="Metropolis" pitchFamily="2" charset="77"/>
              </a:rPr>
              <a:t>vSAN  Stretched Cluster original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10D9BD4-2E60-F4F3-CEEC-1F56005176B9}"/>
              </a:ext>
            </a:extLst>
          </p:cNvPr>
          <p:cNvGrpSpPr/>
          <p:nvPr/>
        </p:nvGrpSpPr>
        <p:grpSpPr>
          <a:xfrm>
            <a:off x="2033586" y="324392"/>
            <a:ext cx="8121651" cy="6068538"/>
            <a:chOff x="2165349" y="733251"/>
            <a:chExt cx="8121651" cy="6068538"/>
          </a:xfrm>
        </p:grpSpPr>
        <p:sp>
          <p:nvSpPr>
            <p:cNvPr id="52" name="Google Shape;1357;p4">
              <a:extLst>
                <a:ext uri="{FF2B5EF4-FFF2-40B4-BE49-F238E27FC236}">
                  <a16:creationId xmlns:a16="http://schemas.microsoft.com/office/drawing/2014/main" id="{5A538016-CDAB-CC08-101C-7C2FC0BE6BC5}"/>
                </a:ext>
              </a:extLst>
            </p:cNvPr>
            <p:cNvSpPr/>
            <p:nvPr/>
          </p:nvSpPr>
          <p:spPr>
            <a:xfrm>
              <a:off x="2165349" y="733251"/>
              <a:ext cx="8121651" cy="6068538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VCF Instance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3" name="Google Shape;1358;p4">
              <a:extLst>
                <a:ext uri="{FF2B5EF4-FFF2-40B4-BE49-F238E27FC236}">
                  <a16:creationId xmlns:a16="http://schemas.microsoft.com/office/drawing/2014/main" id="{28B1D4A1-EAC9-E7BD-837B-EDAEF88C4798}"/>
                </a:ext>
              </a:extLst>
            </p:cNvPr>
            <p:cNvSpPr/>
            <p:nvPr/>
          </p:nvSpPr>
          <p:spPr>
            <a:xfrm>
              <a:off x="2571751" y="2928105"/>
              <a:ext cx="2216266" cy="3716918"/>
            </a:xfrm>
            <a:prstGeom prst="rect">
              <a:avLst/>
            </a:prstGeom>
            <a:solidFill>
              <a:sysClr val="window" lastClr="FFFFFF"/>
            </a:solidFill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 1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4" name="Google Shape;1359;p4">
              <a:extLst>
                <a:ext uri="{FF2B5EF4-FFF2-40B4-BE49-F238E27FC236}">
                  <a16:creationId xmlns:a16="http://schemas.microsoft.com/office/drawing/2014/main" id="{A6D9B2A4-E989-D848-BA96-E34E73EE35FE}"/>
                </a:ext>
              </a:extLst>
            </p:cNvPr>
            <p:cNvSpPr/>
            <p:nvPr/>
          </p:nvSpPr>
          <p:spPr>
            <a:xfrm>
              <a:off x="7559548" y="2925193"/>
              <a:ext cx="2178525" cy="3719830"/>
            </a:xfrm>
            <a:prstGeom prst="rect">
              <a:avLst/>
            </a:prstGeom>
            <a:solidFill>
              <a:sysClr val="window" lastClr="FFFFFF"/>
            </a:solidFill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 2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5" name="Google Shape;1360;p4">
              <a:extLst>
                <a:ext uri="{FF2B5EF4-FFF2-40B4-BE49-F238E27FC236}">
                  <a16:creationId xmlns:a16="http://schemas.microsoft.com/office/drawing/2014/main" id="{63879D06-2A58-6FD2-79A6-064C54DCAA91}"/>
                </a:ext>
              </a:extLst>
            </p:cNvPr>
            <p:cNvSpPr/>
            <p:nvPr/>
          </p:nvSpPr>
          <p:spPr>
            <a:xfrm>
              <a:off x="7822026" y="3149600"/>
              <a:ext cx="1681200" cy="3314700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6" name="Google Shape;1361;p4">
              <a:extLst>
                <a:ext uri="{FF2B5EF4-FFF2-40B4-BE49-F238E27FC236}">
                  <a16:creationId xmlns:a16="http://schemas.microsoft.com/office/drawing/2014/main" id="{19D53B54-0870-52A3-8421-EDAE63AE9D1D}"/>
                </a:ext>
              </a:extLst>
            </p:cNvPr>
            <p:cNvSpPr/>
            <p:nvPr/>
          </p:nvSpPr>
          <p:spPr>
            <a:xfrm>
              <a:off x="2825751" y="3149600"/>
              <a:ext cx="1682750" cy="3314700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57" name="Google Shape;1362;p4">
              <a:extLst>
                <a:ext uri="{FF2B5EF4-FFF2-40B4-BE49-F238E27FC236}">
                  <a16:creationId xmlns:a16="http://schemas.microsoft.com/office/drawing/2014/main" id="{95855788-BE26-BCB3-B1BA-CC0F8506BE02}"/>
                </a:ext>
              </a:extLst>
            </p:cNvPr>
            <p:cNvSpPr/>
            <p:nvPr/>
          </p:nvSpPr>
          <p:spPr>
            <a:xfrm>
              <a:off x="2370710" y="1016000"/>
              <a:ext cx="7592440" cy="5708649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 Workload Domain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8" name="Google Shape;1363;p4">
              <a:extLst>
                <a:ext uri="{FF2B5EF4-FFF2-40B4-BE49-F238E27FC236}">
                  <a16:creationId xmlns:a16="http://schemas.microsoft.com/office/drawing/2014/main" id="{EE103ED5-F3CB-C434-EFD4-2B59DF8E84CF}"/>
                </a:ext>
              </a:extLst>
            </p:cNvPr>
            <p:cNvSpPr/>
            <p:nvPr/>
          </p:nvSpPr>
          <p:spPr>
            <a:xfrm>
              <a:off x="3067050" y="4389347"/>
              <a:ext cx="6051549" cy="1279166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F9ED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665B321-8F01-A2F9-E3F2-53A3B9E35FD0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889891" y="3859436"/>
              <a:ext cx="4417590" cy="5273"/>
            </a:xfrm>
            <a:prstGeom prst="line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1A128BB-6E62-4644-BE20-BAF0C7AA792C}"/>
                </a:ext>
              </a:extLst>
            </p:cNvPr>
            <p:cNvSpPr txBox="1"/>
            <p:nvPr/>
          </p:nvSpPr>
          <p:spPr>
            <a:xfrm>
              <a:off x="5240937" y="5492364"/>
              <a:ext cx="1755542" cy="169277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98C7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rPr>
                <a:t>vSAN Stretched Cluster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44E3CF1-6DB3-B6BF-7929-6FDFE4EB86C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996480" y="5567697"/>
              <a:ext cx="1537734" cy="0"/>
            </a:xfrm>
            <a:prstGeom prst="line">
              <a:avLst/>
            </a:prstGeom>
            <a:solidFill>
              <a:srgbClr val="156082"/>
            </a:solidFill>
            <a:ln w="12700" cap="flat" cmpd="sng" algn="ctr">
              <a:solidFill>
                <a:srgbClr val="0098C7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291863B-FB7B-FDB4-7F98-C31CE3AD09A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4214" y="5393013"/>
              <a:ext cx="0" cy="174684"/>
            </a:xfrm>
            <a:prstGeom prst="line">
              <a:avLst/>
            </a:prstGeom>
            <a:solidFill>
              <a:srgbClr val="156082"/>
            </a:solidFill>
            <a:ln w="12700" cap="flat" cmpd="sng" algn="ctr">
              <a:solidFill>
                <a:srgbClr val="0098C7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4DDC6D2-77D5-9FDD-7299-094B3C1C62D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686524" y="5556310"/>
              <a:ext cx="1537199" cy="16820"/>
            </a:xfrm>
            <a:prstGeom prst="line">
              <a:avLst/>
            </a:prstGeom>
            <a:solidFill>
              <a:srgbClr val="156082"/>
            </a:solidFill>
            <a:ln w="12700" cap="flat" cmpd="sng" algn="ctr">
              <a:solidFill>
                <a:srgbClr val="0098C7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A2FAC73-5072-AAA6-CD11-EC5E57F610F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189764" y="2312664"/>
              <a:ext cx="13110" cy="1546771"/>
            </a:xfrm>
            <a:prstGeom prst="line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  <a:tailEnd type="none"/>
            </a:ln>
            <a:effectLst/>
          </p:spPr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4CE95163-E4C0-1DD1-BD87-C72B95D19985}"/>
                </a:ext>
              </a:extLst>
            </p:cNvPr>
            <p:cNvGrpSpPr/>
            <p:nvPr/>
          </p:nvGrpSpPr>
          <p:grpSpPr>
            <a:xfrm>
              <a:off x="5364215" y="1354965"/>
              <a:ext cx="1651097" cy="1359076"/>
              <a:chOff x="5191547" y="869917"/>
              <a:chExt cx="1651097" cy="1359076"/>
            </a:xfrm>
          </p:grpSpPr>
          <p:sp>
            <p:nvSpPr>
              <p:cNvPr id="96" name="Google Shape;1358;p4">
                <a:extLst>
                  <a:ext uri="{FF2B5EF4-FFF2-40B4-BE49-F238E27FC236}">
                    <a16:creationId xmlns:a16="http://schemas.microsoft.com/office/drawing/2014/main" id="{BF637CBC-5ABB-B3D1-C148-306FCA91A22A}"/>
                  </a:ext>
                </a:extLst>
              </p:cNvPr>
              <p:cNvSpPr/>
              <p:nvPr/>
            </p:nvSpPr>
            <p:spPr>
              <a:xfrm>
                <a:off x="5191547" y="869917"/>
                <a:ext cx="1651097" cy="1359076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Availability Zone 3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pic>
            <p:nvPicPr>
              <p:cNvPr id="97" name="Graphic 96">
                <a:extLst>
                  <a:ext uri="{FF2B5EF4-FFF2-40B4-BE49-F238E27FC236}">
                    <a16:creationId xmlns:a16="http://schemas.microsoft.com/office/drawing/2014/main" id="{A288C468-34B4-24A1-EB7E-8CA3449FFD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5694926" y="1051309"/>
                <a:ext cx="644341" cy="644341"/>
              </a:xfrm>
              <a:prstGeom prst="rect">
                <a:avLst/>
              </a:prstGeom>
            </p:spPr>
          </p:pic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CDF72-B98B-C3F7-CE67-EE0F096BF196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V="1">
                <a:off x="6017097" y="1640241"/>
                <a:ext cx="0" cy="94663"/>
              </a:xfrm>
              <a:prstGeom prst="line">
                <a:avLst/>
              </a:prstGeom>
              <a:noFill/>
              <a:ln w="1905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D745064-C75B-7FE1-0D28-869D8059A7E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688054" y="5393013"/>
              <a:ext cx="0" cy="171522"/>
            </a:xfrm>
            <a:prstGeom prst="line">
              <a:avLst/>
            </a:prstGeom>
            <a:solidFill>
              <a:srgbClr val="156082"/>
            </a:solidFill>
            <a:ln w="12700" cap="flat" cmpd="sng" algn="ctr">
              <a:solidFill>
                <a:srgbClr val="0098C7"/>
              </a:solidFill>
              <a:prstDash val="solid"/>
              <a:miter lim="800000"/>
              <a:tailEnd type="none"/>
            </a:ln>
            <a:effectLst/>
          </p:spPr>
        </p:cxn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DDACDD8-AA86-686B-57A2-0D0D3417876C}"/>
                </a:ext>
              </a:extLst>
            </p:cNvPr>
            <p:cNvGrpSpPr/>
            <p:nvPr/>
          </p:nvGrpSpPr>
          <p:grpSpPr>
            <a:xfrm>
              <a:off x="3285965" y="4461468"/>
              <a:ext cx="750831" cy="907581"/>
              <a:chOff x="3285965" y="4461468"/>
              <a:chExt cx="750831" cy="907581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98F967D8-4EC2-5BDC-3036-043BFEF1274D}"/>
                  </a:ext>
                </a:extLst>
              </p:cNvPr>
              <p:cNvGrpSpPr/>
              <p:nvPr/>
            </p:nvGrpSpPr>
            <p:grpSpPr>
              <a:xfrm>
                <a:off x="3330010" y="4496647"/>
                <a:ext cx="662740" cy="852892"/>
                <a:chOff x="3324412" y="3998405"/>
                <a:chExt cx="662740" cy="852892"/>
              </a:xfrm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E73BC4AD-EADC-AAD6-396B-D6564546170F}"/>
                    </a:ext>
                  </a:extLst>
                </p:cNvPr>
                <p:cNvGrpSpPr/>
                <p:nvPr/>
              </p:nvGrpSpPr>
              <p:grpSpPr>
                <a:xfrm>
                  <a:off x="3334446" y="4211443"/>
                  <a:ext cx="652706" cy="639854"/>
                  <a:chOff x="1013078" y="4936803"/>
                  <a:chExt cx="652706" cy="639854"/>
                </a:xfrm>
              </p:grpSpPr>
              <p:pic>
                <p:nvPicPr>
                  <p:cNvPr id="93" name="Graphic 92">
                    <a:extLst>
                      <a:ext uri="{FF2B5EF4-FFF2-40B4-BE49-F238E27FC236}">
                        <a16:creationId xmlns:a16="http://schemas.microsoft.com/office/drawing/2014/main" id="{45A46434-BBE3-EC5A-69CC-DDE7DA2F2D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3078" y="5402955"/>
                    <a:ext cx="652706" cy="173702"/>
                  </a:xfrm>
                  <a:prstGeom prst="rect">
                    <a:avLst/>
                  </a:prstGeom>
                </p:spPr>
              </p:pic>
              <p:pic>
                <p:nvPicPr>
                  <p:cNvPr id="94" name="Graphic 93">
                    <a:extLst>
                      <a:ext uri="{FF2B5EF4-FFF2-40B4-BE49-F238E27FC236}">
                        <a16:creationId xmlns:a16="http://schemas.microsoft.com/office/drawing/2014/main" id="{5008FA1D-FE1D-60E0-EDAD-17C0CB03C7A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3078" y="5169197"/>
                    <a:ext cx="652706" cy="173702"/>
                  </a:xfrm>
                  <a:prstGeom prst="rect">
                    <a:avLst/>
                  </a:prstGeom>
                </p:spPr>
              </p:pic>
              <p:pic>
                <p:nvPicPr>
                  <p:cNvPr id="95" name="Graphic 94">
                    <a:extLst>
                      <a:ext uri="{FF2B5EF4-FFF2-40B4-BE49-F238E27FC236}">
                        <a16:creationId xmlns:a16="http://schemas.microsoft.com/office/drawing/2014/main" id="{89D44164-BB80-D7E0-7B92-7F2706513E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3078" y="4936803"/>
                    <a:ext cx="652706" cy="17370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2" name="Graphic 91">
                  <a:extLst>
                    <a:ext uri="{FF2B5EF4-FFF2-40B4-BE49-F238E27FC236}">
                      <a16:creationId xmlns:a16="http://schemas.microsoft.com/office/drawing/2014/main" id="{D791E8F2-6F09-EADA-29E6-8E247CCAB9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24412" y="3998405"/>
                  <a:ext cx="652706" cy="173702"/>
                </a:xfrm>
                <a:prstGeom prst="rect">
                  <a:avLst/>
                </a:prstGeom>
              </p:spPr>
            </p:pic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B022FFFA-87B0-D691-C895-13AFEAFBAD26}"/>
                  </a:ext>
                </a:extLst>
              </p:cNvPr>
              <p:cNvSpPr/>
              <p:nvPr/>
            </p:nvSpPr>
            <p:spPr>
              <a:xfrm>
                <a:off x="3285965" y="4461468"/>
                <a:ext cx="750831" cy="907581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E3ED998-EF09-BB34-9AA3-A4E6FA205D98}"/>
                </a:ext>
              </a:extLst>
            </p:cNvPr>
            <p:cNvGrpSpPr/>
            <p:nvPr/>
          </p:nvGrpSpPr>
          <p:grpSpPr>
            <a:xfrm>
              <a:off x="8154944" y="4461468"/>
              <a:ext cx="750831" cy="907581"/>
              <a:chOff x="3285965" y="4461468"/>
              <a:chExt cx="750831" cy="907581"/>
            </a:xfrm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E36C3562-7BAF-B4EA-FCFE-A318218B5771}"/>
                  </a:ext>
                </a:extLst>
              </p:cNvPr>
              <p:cNvGrpSpPr/>
              <p:nvPr/>
            </p:nvGrpSpPr>
            <p:grpSpPr>
              <a:xfrm>
                <a:off x="3330010" y="4496647"/>
                <a:ext cx="662740" cy="852892"/>
                <a:chOff x="3324412" y="3998405"/>
                <a:chExt cx="662740" cy="852892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6DF0896F-EAC1-755F-81C7-81EB39ABB268}"/>
                    </a:ext>
                  </a:extLst>
                </p:cNvPr>
                <p:cNvGrpSpPr/>
                <p:nvPr/>
              </p:nvGrpSpPr>
              <p:grpSpPr>
                <a:xfrm>
                  <a:off x="3334446" y="4211443"/>
                  <a:ext cx="652706" cy="639854"/>
                  <a:chOff x="1013078" y="4936803"/>
                  <a:chExt cx="652706" cy="639854"/>
                </a:xfrm>
              </p:grpSpPr>
              <p:pic>
                <p:nvPicPr>
                  <p:cNvPr id="86" name="Graphic 85">
                    <a:extLst>
                      <a:ext uri="{FF2B5EF4-FFF2-40B4-BE49-F238E27FC236}">
                        <a16:creationId xmlns:a16="http://schemas.microsoft.com/office/drawing/2014/main" id="{7C0549B8-E2D5-4359-63A9-AB28BB8239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3078" y="5402955"/>
                    <a:ext cx="652706" cy="173702"/>
                  </a:xfrm>
                  <a:prstGeom prst="rect">
                    <a:avLst/>
                  </a:prstGeom>
                </p:spPr>
              </p:pic>
              <p:pic>
                <p:nvPicPr>
                  <p:cNvPr id="87" name="Graphic 86">
                    <a:extLst>
                      <a:ext uri="{FF2B5EF4-FFF2-40B4-BE49-F238E27FC236}">
                        <a16:creationId xmlns:a16="http://schemas.microsoft.com/office/drawing/2014/main" id="{71E94894-83C7-E759-DFD9-2B8BACD41B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3078" y="5169197"/>
                    <a:ext cx="652706" cy="173702"/>
                  </a:xfrm>
                  <a:prstGeom prst="rect">
                    <a:avLst/>
                  </a:prstGeom>
                </p:spPr>
              </p:pic>
              <p:pic>
                <p:nvPicPr>
                  <p:cNvPr id="88" name="Graphic 87">
                    <a:extLst>
                      <a:ext uri="{FF2B5EF4-FFF2-40B4-BE49-F238E27FC236}">
                        <a16:creationId xmlns:a16="http://schemas.microsoft.com/office/drawing/2014/main" id="{BC9B2B46-ECB0-CFB6-B9C4-34244BEF7A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3078" y="4936803"/>
                    <a:ext cx="652706" cy="17370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85" name="Graphic 84">
                  <a:extLst>
                    <a:ext uri="{FF2B5EF4-FFF2-40B4-BE49-F238E27FC236}">
                      <a16:creationId xmlns:a16="http://schemas.microsoft.com/office/drawing/2014/main" id="{048F9623-A614-AD3E-53D5-DFB510F90A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24412" y="3998405"/>
                  <a:ext cx="652706" cy="173702"/>
                </a:xfrm>
                <a:prstGeom prst="rect">
                  <a:avLst/>
                </a:prstGeom>
              </p:spPr>
            </p:pic>
          </p:grp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2B28841D-48CA-69A9-9152-62637CD529D5}"/>
                  </a:ext>
                </a:extLst>
              </p:cNvPr>
              <p:cNvSpPr/>
              <p:nvPr/>
            </p:nvSpPr>
            <p:spPr>
              <a:xfrm>
                <a:off x="3285965" y="4461468"/>
                <a:ext cx="750831" cy="907581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DA51EAD-5E87-FB28-3822-812F9D16330D}"/>
                </a:ext>
              </a:extLst>
            </p:cNvPr>
            <p:cNvGrpSpPr/>
            <p:nvPr/>
          </p:nvGrpSpPr>
          <p:grpSpPr>
            <a:xfrm>
              <a:off x="3391157" y="3797947"/>
              <a:ext cx="498734" cy="659903"/>
              <a:chOff x="3391157" y="3797947"/>
              <a:chExt cx="498734" cy="659903"/>
            </a:xfrm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29BBA64-1904-B5A7-8113-4BF17714A435}"/>
                  </a:ext>
                </a:extLst>
              </p:cNvPr>
              <p:cNvCxnSpPr>
                <a:cxnSpLocks/>
                <a:stCxn id="78" idx="2"/>
              </p:cNvCxnSpPr>
              <p:nvPr/>
            </p:nvCxnSpPr>
            <p:spPr bwMode="gray">
              <a:xfrm flipH="1">
                <a:off x="3528442" y="3986027"/>
                <a:ext cx="1" cy="4718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78" name="Graphic 77">
                <a:extLst>
                  <a:ext uri="{FF2B5EF4-FFF2-40B4-BE49-F238E27FC236}">
                    <a16:creationId xmlns:a16="http://schemas.microsoft.com/office/drawing/2014/main" id="{D90D98C7-2B42-6B95-CF40-42AB971E9B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79" name="Graphic 78">
                <a:extLst>
                  <a:ext uri="{FF2B5EF4-FFF2-40B4-BE49-F238E27FC236}">
                    <a16:creationId xmlns:a16="http://schemas.microsoft.com/office/drawing/2014/main" id="{737D3A66-2B8C-CEBD-07F7-19711411BF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5024F3C-2E3D-43C2-DDA2-6B0BF97D8D7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774753" y="3986027"/>
                <a:ext cx="0" cy="4718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77F06E8-E6C2-4AF4-C501-2B9B403CFD72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0767DAF-79B7-E320-04DC-7EECCF241FCF}"/>
                </a:ext>
              </a:extLst>
            </p:cNvPr>
            <p:cNvGrpSpPr/>
            <p:nvPr/>
          </p:nvGrpSpPr>
          <p:grpSpPr>
            <a:xfrm>
              <a:off x="8307481" y="3787463"/>
              <a:ext cx="498734" cy="659903"/>
              <a:chOff x="3391157" y="3797947"/>
              <a:chExt cx="498734" cy="659903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6D2C701-2E6A-D7EB-8E17-9D61E73A4C4C}"/>
                  </a:ext>
                </a:extLst>
              </p:cNvPr>
              <p:cNvCxnSpPr>
                <a:cxnSpLocks/>
                <a:stCxn id="73" idx="2"/>
              </p:cNvCxnSpPr>
              <p:nvPr/>
            </p:nvCxnSpPr>
            <p:spPr bwMode="gray">
              <a:xfrm flipH="1">
                <a:off x="3528442" y="3986027"/>
                <a:ext cx="1" cy="4718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73" name="Graphic 72">
                <a:extLst>
                  <a:ext uri="{FF2B5EF4-FFF2-40B4-BE49-F238E27FC236}">
                    <a16:creationId xmlns:a16="http://schemas.microsoft.com/office/drawing/2014/main" id="{2FFF85C5-6185-65C4-67A3-D48A8EED6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74" name="Graphic 73">
                <a:extLst>
                  <a:ext uri="{FF2B5EF4-FFF2-40B4-BE49-F238E27FC236}">
                    <a16:creationId xmlns:a16="http://schemas.microsoft.com/office/drawing/2014/main" id="{3BC96C47-4011-D727-B2F5-54E25987AA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5A288DA5-0D4F-7F94-C6BA-A4C3B92D1C5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774753" y="3986027"/>
                <a:ext cx="0" cy="4718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5A12898-72D5-8D31-6E95-E8E5D43BD61C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0BC23420-B662-1290-91AE-10261B5F7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03979" y="2183673"/>
              <a:ext cx="197789" cy="1833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037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67A1-E4D8-EBE1-A053-5E6D9354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3219-CF94-A1D3-13CE-74FC88BE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0" y="434663"/>
            <a:ext cx="3741141" cy="350115"/>
          </a:xfrm>
        </p:spPr>
        <p:txBody>
          <a:bodyPr/>
          <a:lstStyle/>
          <a:p>
            <a:r>
              <a:rPr lang="en-US" sz="1800" dirty="0">
                <a:latin typeface="Metropolis" pitchFamily="2" charset="77"/>
              </a:rPr>
              <a:t>vSAN  Stretched Cluster import </a:t>
            </a:r>
            <a:r>
              <a:rPr lang="en-US" sz="1800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sz="1800" dirty="0">
              <a:latin typeface="Metropolis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0A52AFE-F902-DF3B-8747-67F2B0EE0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91488" y="1053166"/>
            <a:ext cx="672693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2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C9D7-A795-1DDC-728D-69096DA3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72" y="98541"/>
            <a:ext cx="11001004" cy="381000"/>
          </a:xfrm>
        </p:spPr>
        <p:txBody>
          <a:bodyPr/>
          <a:lstStyle/>
          <a:p>
            <a:r>
              <a:rPr lang="en-US" dirty="0">
                <a:latin typeface="Metropolis" pitchFamily="2" charset="77"/>
              </a:rPr>
              <a:t>vSAN Storage + Compute Clusters original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D940DE1-6590-0BB5-5C95-E9639464D055}"/>
              </a:ext>
            </a:extLst>
          </p:cNvPr>
          <p:cNvGrpSpPr/>
          <p:nvPr/>
        </p:nvGrpSpPr>
        <p:grpSpPr>
          <a:xfrm>
            <a:off x="3401937" y="892175"/>
            <a:ext cx="5428220" cy="5073650"/>
            <a:chOff x="3401937" y="892175"/>
            <a:chExt cx="5428220" cy="5073650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51289D48-BF5D-D7CA-C0E9-05CD04655BFD}"/>
                </a:ext>
              </a:extLst>
            </p:cNvPr>
            <p:cNvGrpSpPr/>
            <p:nvPr/>
          </p:nvGrpSpPr>
          <p:grpSpPr>
            <a:xfrm>
              <a:off x="3401937" y="892175"/>
              <a:ext cx="5428220" cy="5073650"/>
              <a:chOff x="3401937" y="892175"/>
              <a:chExt cx="5428220" cy="5073650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45FBE18E-F1BD-294F-A3B5-BCA463D24CE9}"/>
                  </a:ext>
                </a:extLst>
              </p:cNvPr>
              <p:cNvGrpSpPr/>
              <p:nvPr/>
            </p:nvGrpSpPr>
            <p:grpSpPr>
              <a:xfrm>
                <a:off x="3401937" y="892175"/>
                <a:ext cx="5428220" cy="5073650"/>
                <a:chOff x="4065030" y="901701"/>
                <a:chExt cx="5428220" cy="5073650"/>
              </a:xfrm>
            </p:grpSpPr>
            <p:sp>
              <p:nvSpPr>
                <p:cNvPr id="130" name="Google Shape;1342;p4">
                  <a:extLst>
                    <a:ext uri="{FF2B5EF4-FFF2-40B4-BE49-F238E27FC236}">
                      <a16:creationId xmlns:a16="http://schemas.microsoft.com/office/drawing/2014/main" id="{A6C21623-D838-5C19-51D5-FD9DAE31A925}"/>
                    </a:ext>
                  </a:extLst>
                </p:cNvPr>
                <p:cNvSpPr/>
                <p:nvPr/>
              </p:nvSpPr>
              <p:spPr>
                <a:xfrm>
                  <a:off x="4065030" y="901701"/>
                  <a:ext cx="5428220" cy="5073650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31" name="Google Shape;1344;p4">
                  <a:extLst>
                    <a:ext uri="{FF2B5EF4-FFF2-40B4-BE49-F238E27FC236}">
                      <a16:creationId xmlns:a16="http://schemas.microsoft.com/office/drawing/2014/main" id="{D8E8DD14-BBDD-E904-1BA9-FF382945C74C}"/>
                    </a:ext>
                  </a:extLst>
                </p:cNvPr>
                <p:cNvSpPr/>
                <p:nvPr/>
              </p:nvSpPr>
              <p:spPr>
                <a:xfrm>
                  <a:off x="4652195" y="1656784"/>
                  <a:ext cx="1932915" cy="3639116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Rack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endParaRPr>
                </a:p>
              </p:txBody>
            </p:sp>
            <p:sp>
              <p:nvSpPr>
                <p:cNvPr id="132" name="Google Shape;1344;p4">
                  <a:extLst>
                    <a:ext uri="{FF2B5EF4-FFF2-40B4-BE49-F238E27FC236}">
                      <a16:creationId xmlns:a16="http://schemas.microsoft.com/office/drawing/2014/main" id="{B3414F09-7FF7-A131-BB00-C2BC1A18BB7A}"/>
                    </a:ext>
                  </a:extLst>
                </p:cNvPr>
                <p:cNvSpPr/>
                <p:nvPr/>
              </p:nvSpPr>
              <p:spPr>
                <a:xfrm>
                  <a:off x="6836754" y="1656784"/>
                  <a:ext cx="1949875" cy="3639116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Rack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endParaRPr>
                </a:p>
              </p:txBody>
            </p:sp>
            <p:sp>
              <p:nvSpPr>
                <p:cNvPr id="133" name="Google Shape;1345;p4">
                  <a:extLst>
                    <a:ext uri="{FF2B5EF4-FFF2-40B4-BE49-F238E27FC236}">
                      <a16:creationId xmlns:a16="http://schemas.microsoft.com/office/drawing/2014/main" id="{CD025CD9-5BF4-C04A-3D5E-3EC645473C8F}"/>
                    </a:ext>
                  </a:extLst>
                </p:cNvPr>
                <p:cNvSpPr/>
                <p:nvPr/>
              </p:nvSpPr>
              <p:spPr>
                <a:xfrm>
                  <a:off x="4216400" y="1175496"/>
                  <a:ext cx="5060950" cy="4590304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grpSp>
              <p:nvGrpSpPr>
                <p:cNvPr id="134" name="Group 133">
                  <a:extLst>
                    <a:ext uri="{FF2B5EF4-FFF2-40B4-BE49-F238E27FC236}">
                      <a16:creationId xmlns:a16="http://schemas.microsoft.com/office/drawing/2014/main" id="{E8CD4B0B-A24C-A02A-0099-84951C264A74}"/>
                    </a:ext>
                  </a:extLst>
                </p:cNvPr>
                <p:cNvGrpSpPr/>
                <p:nvPr/>
              </p:nvGrpSpPr>
              <p:grpSpPr>
                <a:xfrm>
                  <a:off x="7406867" y="2814624"/>
                  <a:ext cx="900001" cy="656013"/>
                  <a:chOff x="9989245" y="1258647"/>
                  <a:chExt cx="900001" cy="702682"/>
                </a:xfrm>
                <a:solidFill>
                  <a:srgbClr val="007DA3"/>
                </a:solidFill>
              </p:grpSpPr>
              <p:grpSp>
                <p:nvGrpSpPr>
                  <p:cNvPr id="213" name="Group 212">
                    <a:extLst>
                      <a:ext uri="{FF2B5EF4-FFF2-40B4-BE49-F238E27FC236}">
                        <a16:creationId xmlns:a16="http://schemas.microsoft.com/office/drawing/2014/main" id="{4D66D93E-A2D1-54B8-1187-34D784883CAD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5" y="1431463"/>
                    <a:ext cx="900001" cy="128417"/>
                    <a:chOff x="5030904" y="4970294"/>
                    <a:chExt cx="1917768" cy="244827"/>
                  </a:xfrm>
                  <a:grpFill/>
                </p:grpSpPr>
                <p:pic>
                  <p:nvPicPr>
                    <p:cNvPr id="223" name="Graphic 222">
                      <a:extLst>
                        <a:ext uri="{FF2B5EF4-FFF2-40B4-BE49-F238E27FC236}">
                          <a16:creationId xmlns:a16="http://schemas.microsoft.com/office/drawing/2014/main" id="{B45DA992-C571-7321-5083-579B434B80C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4" name="Graphic 223">
                      <a:extLst>
                        <a:ext uri="{FF2B5EF4-FFF2-40B4-BE49-F238E27FC236}">
                          <a16:creationId xmlns:a16="http://schemas.microsoft.com/office/drawing/2014/main" id="{E64EB024-3BE9-FA77-12C5-91C014FB6FA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14" name="Group 213">
                    <a:extLst>
                      <a:ext uri="{FF2B5EF4-FFF2-40B4-BE49-F238E27FC236}">
                        <a16:creationId xmlns:a16="http://schemas.microsoft.com/office/drawing/2014/main" id="{37721BC7-73C6-3031-59EF-40B03E4673CB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258647"/>
                    <a:ext cx="900000" cy="128417"/>
                    <a:chOff x="5030904" y="4640821"/>
                    <a:chExt cx="1917765" cy="244827"/>
                  </a:xfrm>
                  <a:grpFill/>
                </p:grpSpPr>
                <p:pic>
                  <p:nvPicPr>
                    <p:cNvPr id="221" name="Graphic 220">
                      <a:extLst>
                        <a:ext uri="{FF2B5EF4-FFF2-40B4-BE49-F238E27FC236}">
                          <a16:creationId xmlns:a16="http://schemas.microsoft.com/office/drawing/2014/main" id="{2C35164C-8903-D3EE-4061-AAC8A92B9B8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2" name="Graphic 221">
                      <a:extLst>
                        <a:ext uri="{FF2B5EF4-FFF2-40B4-BE49-F238E27FC236}">
                          <a16:creationId xmlns:a16="http://schemas.microsoft.com/office/drawing/2014/main" id="{A7CAA4BB-9BD7-45B7-6576-ABDA9A013B1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15" name="Group 214">
                    <a:extLst>
                      <a:ext uri="{FF2B5EF4-FFF2-40B4-BE49-F238E27FC236}">
                        <a16:creationId xmlns:a16="http://schemas.microsoft.com/office/drawing/2014/main" id="{7A7AA57C-A774-8024-9F8F-CEA7C18A6FFD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598642"/>
                    <a:ext cx="900000" cy="362687"/>
                    <a:chOff x="1171761" y="5660610"/>
                    <a:chExt cx="1917765" cy="691453"/>
                  </a:xfrm>
                  <a:grpFill/>
                </p:grpSpPr>
                <p:cxnSp>
                  <p:nvCxnSpPr>
                    <p:cNvPr id="216" name="Straight Connector 215">
                      <a:extLst>
                        <a:ext uri="{FF2B5EF4-FFF2-40B4-BE49-F238E27FC236}">
                          <a16:creationId xmlns:a16="http://schemas.microsoft.com/office/drawing/2014/main" id="{43AEDF5B-0DE2-E032-3AFB-91EA5E811A8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7953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17" name="Straight Connector 216">
                      <a:extLst>
                        <a:ext uri="{FF2B5EF4-FFF2-40B4-BE49-F238E27FC236}">
                          <a16:creationId xmlns:a16="http://schemas.microsoft.com/office/drawing/2014/main" id="{CD093B9D-1C94-7FA2-962F-5A79F274C4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2758265" y="5784739"/>
                      <a:ext cx="331261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18" name="Straight Connector 217">
                      <a:extLst>
                        <a:ext uri="{FF2B5EF4-FFF2-40B4-BE49-F238E27FC236}">
                          <a16:creationId xmlns:a16="http://schemas.microsoft.com/office/drawing/2014/main" id="{DC885F5A-A123-205F-4464-5414969127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3089526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19" name="Straight Connector 218">
                      <a:extLst>
                        <a:ext uri="{FF2B5EF4-FFF2-40B4-BE49-F238E27FC236}">
                          <a16:creationId xmlns:a16="http://schemas.microsoft.com/office/drawing/2014/main" id="{5B45E9DF-F405-8C9D-5069-2B924FC553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1761" y="5784740"/>
                      <a:ext cx="278274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sp>
                  <p:nvSpPr>
                    <p:cNvPr id="220" name="TextBox 219">
                      <a:extLst>
                        <a:ext uri="{FF2B5EF4-FFF2-40B4-BE49-F238E27FC236}">
                          <a16:creationId xmlns:a16="http://schemas.microsoft.com/office/drawing/2014/main" id="{8B59E3FF-9523-D132-9C64-E45AD36075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0270" y="5849255"/>
                      <a:ext cx="1794595" cy="50280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DA3"/>
                          </a:solidFill>
                          <a:effectLst/>
                          <a:uLnTx/>
                          <a:uFillTx/>
                          <a:latin typeface="Metropolis" pitchFamily="2" charset="77"/>
                          <a:ea typeface="+mn-ea"/>
                          <a:cs typeface="Arial"/>
                          <a:sym typeface="Arial"/>
                        </a:rPr>
                        <a:t>vSAN Compute  Cluster</a:t>
                      </a:r>
                    </a:p>
                  </p:txBody>
                </p:sp>
              </p:grpSp>
            </p:grp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2A77D565-5DA9-94BB-8A8E-C0CF1C6C2FA3}"/>
                    </a:ext>
                  </a:extLst>
                </p:cNvPr>
                <p:cNvSpPr txBox="1"/>
                <p:nvPr/>
              </p:nvSpPr>
              <p:spPr>
                <a:xfrm>
                  <a:off x="6041181" y="1192239"/>
                  <a:ext cx="146218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Workload Domain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7C7F87F7-7014-1DA0-0868-DDFBD008ED00}"/>
                    </a:ext>
                  </a:extLst>
                </p:cNvPr>
                <p:cNvSpPr txBox="1"/>
                <p:nvPr/>
              </p:nvSpPr>
              <p:spPr>
                <a:xfrm>
                  <a:off x="7318736" y="2789226"/>
                  <a:ext cx="1039890" cy="336355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cxnSp>
              <p:nvCxnSpPr>
                <p:cNvPr id="137" name="Elbow Connector 136">
                  <a:extLst>
                    <a:ext uri="{FF2B5EF4-FFF2-40B4-BE49-F238E27FC236}">
                      <a16:creationId xmlns:a16="http://schemas.microsoft.com/office/drawing/2014/main" id="{B2CDB6F7-5A7C-ADD6-355C-C6FB2D2B854E}"/>
                    </a:ext>
                  </a:extLst>
                </p:cNvPr>
                <p:cNvCxnSpPr>
                  <a:cxnSpLocks/>
                  <a:stCxn id="124" idx="1"/>
                  <a:endCxn id="139" idx="1"/>
                </p:cNvCxnSpPr>
                <p:nvPr/>
              </p:nvCxnSpPr>
              <p:spPr>
                <a:xfrm rot="10800000" flipV="1">
                  <a:off x="7306436" y="2074266"/>
                  <a:ext cx="266082" cy="2543862"/>
                </a:xfrm>
                <a:prstGeom prst="bentConnector3">
                  <a:avLst>
                    <a:gd name="adj1" fmla="val 185913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38" name="Elbow Connector 137">
                  <a:extLst>
                    <a:ext uri="{FF2B5EF4-FFF2-40B4-BE49-F238E27FC236}">
                      <a16:creationId xmlns:a16="http://schemas.microsoft.com/office/drawing/2014/main" id="{6A1C31CB-9DAA-F25D-393C-BE9B8F499C57}"/>
                    </a:ext>
                  </a:extLst>
                </p:cNvPr>
                <p:cNvCxnSpPr>
                  <a:cxnSpLocks/>
                  <a:stCxn id="124" idx="3"/>
                  <a:endCxn id="139" idx="3"/>
                </p:cNvCxnSpPr>
                <p:nvPr/>
              </p:nvCxnSpPr>
              <p:spPr>
                <a:xfrm>
                  <a:off x="8071252" y="2074266"/>
                  <a:ext cx="235616" cy="2543862"/>
                </a:xfrm>
                <a:prstGeom prst="bentConnector3">
                  <a:avLst>
                    <a:gd name="adj1" fmla="val 197022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4AF50941-D9A8-50AF-CB5A-84AC51C17285}"/>
                    </a:ext>
                  </a:extLst>
                </p:cNvPr>
                <p:cNvSpPr txBox="1"/>
                <p:nvPr/>
              </p:nvSpPr>
              <p:spPr>
                <a:xfrm>
                  <a:off x="7306436" y="4433913"/>
                  <a:ext cx="1000432" cy="368430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cxnSp>
              <p:nvCxnSpPr>
                <p:cNvPr id="140" name="Elbow Connector 139">
                  <a:extLst>
                    <a:ext uri="{FF2B5EF4-FFF2-40B4-BE49-F238E27FC236}">
                      <a16:creationId xmlns:a16="http://schemas.microsoft.com/office/drawing/2014/main" id="{A4076D9E-33C1-A056-3DF1-AE22A2A0E4A6}"/>
                    </a:ext>
                  </a:extLst>
                </p:cNvPr>
                <p:cNvCxnSpPr>
                  <a:cxnSpLocks/>
                  <a:stCxn id="129" idx="3"/>
                  <a:endCxn id="141" idx="3"/>
                </p:cNvCxnSpPr>
                <p:nvPr/>
              </p:nvCxnSpPr>
              <p:spPr>
                <a:xfrm>
                  <a:off x="5818162" y="2067452"/>
                  <a:ext cx="277838" cy="2524199"/>
                </a:xfrm>
                <a:prstGeom prst="bentConnector3">
                  <a:avLst>
                    <a:gd name="adj1" fmla="val 182278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7F0DD8A6-3B89-FD52-06E6-D0CD3BD2FFE3}"/>
                    </a:ext>
                  </a:extLst>
                </p:cNvPr>
                <p:cNvSpPr txBox="1"/>
                <p:nvPr/>
              </p:nvSpPr>
              <p:spPr>
                <a:xfrm>
                  <a:off x="5095568" y="4407436"/>
                  <a:ext cx="1000432" cy="368430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61E7587A-A91E-0E54-B6E0-61666B5092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16231" y="2029779"/>
                  <a:ext cx="1756287" cy="5776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43" name="Elbow Connector 142">
                  <a:extLst>
                    <a:ext uri="{FF2B5EF4-FFF2-40B4-BE49-F238E27FC236}">
                      <a16:creationId xmlns:a16="http://schemas.microsoft.com/office/drawing/2014/main" id="{D9B60D66-5EFA-5765-8788-3E00A40C068A}"/>
                    </a:ext>
                  </a:extLst>
                </p:cNvPr>
                <p:cNvCxnSpPr>
                  <a:cxnSpLocks/>
                  <a:stCxn id="141" idx="1"/>
                  <a:endCxn id="129" idx="1"/>
                </p:cNvCxnSpPr>
                <p:nvPr/>
              </p:nvCxnSpPr>
              <p:spPr>
                <a:xfrm rot="10800000" flipH="1">
                  <a:off x="5095568" y="2067453"/>
                  <a:ext cx="223860" cy="2524199"/>
                </a:xfrm>
                <a:prstGeom prst="bentConnector3">
                  <a:avLst>
                    <a:gd name="adj1" fmla="val -102117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C92AE566-30C4-F4DA-782D-ECC153DBAAD0}"/>
                    </a:ext>
                  </a:extLst>
                </p:cNvPr>
                <p:cNvGrpSpPr/>
                <p:nvPr/>
              </p:nvGrpSpPr>
              <p:grpSpPr>
                <a:xfrm>
                  <a:off x="5156727" y="2806174"/>
                  <a:ext cx="771877" cy="1087895"/>
                  <a:chOff x="1452313" y="2145349"/>
                  <a:chExt cx="771877" cy="1087895"/>
                </a:xfrm>
              </p:grpSpPr>
              <p:grpSp>
                <p:nvGrpSpPr>
                  <p:cNvPr id="177" name="Group 176">
                    <a:extLst>
                      <a:ext uri="{FF2B5EF4-FFF2-40B4-BE49-F238E27FC236}">
                        <a16:creationId xmlns:a16="http://schemas.microsoft.com/office/drawing/2014/main" id="{113C6035-D583-142D-4297-4FB7E77F6B48}"/>
                      </a:ext>
                    </a:extLst>
                  </p:cNvPr>
                  <p:cNvGrpSpPr/>
                  <p:nvPr/>
                </p:nvGrpSpPr>
                <p:grpSpPr>
                  <a:xfrm>
                    <a:off x="1468761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209" name="Freeform 208">
                      <a:extLst>
                        <a:ext uri="{FF2B5EF4-FFF2-40B4-BE49-F238E27FC236}">
                          <a16:creationId xmlns:a16="http://schemas.microsoft.com/office/drawing/2014/main" id="{E7922DAB-1D9C-127F-88DA-023D54D8A3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0" name="Freeform 209">
                      <a:extLst>
                        <a:ext uri="{FF2B5EF4-FFF2-40B4-BE49-F238E27FC236}">
                          <a16:creationId xmlns:a16="http://schemas.microsoft.com/office/drawing/2014/main" id="{DC860DD5-F6DF-2D09-AF04-E561F11F8E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1" name="Freeform 210">
                      <a:extLst>
                        <a:ext uri="{FF2B5EF4-FFF2-40B4-BE49-F238E27FC236}">
                          <a16:creationId xmlns:a16="http://schemas.microsoft.com/office/drawing/2014/main" id="{E1DDA89B-23A5-E52E-1CEB-A48C508A92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2" name="Freeform 211">
                      <a:extLst>
                        <a:ext uri="{FF2B5EF4-FFF2-40B4-BE49-F238E27FC236}">
                          <a16:creationId xmlns:a16="http://schemas.microsoft.com/office/drawing/2014/main" id="{B3DDE84F-FA95-A5F2-A6A7-BCEA40B756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78" name="Group 177">
                    <a:extLst>
                      <a:ext uri="{FF2B5EF4-FFF2-40B4-BE49-F238E27FC236}">
                        <a16:creationId xmlns:a16="http://schemas.microsoft.com/office/drawing/2014/main" id="{E05600F6-EF9F-974B-4DA9-EE3C7B03CB33}"/>
                      </a:ext>
                    </a:extLst>
                  </p:cNvPr>
                  <p:cNvGrpSpPr/>
                  <p:nvPr/>
                </p:nvGrpSpPr>
                <p:grpSpPr>
                  <a:xfrm>
                    <a:off x="1455575" y="2852294"/>
                    <a:ext cx="765353" cy="64044"/>
                    <a:chOff x="5136549" y="3557033"/>
                    <a:chExt cx="892393" cy="71769"/>
                  </a:xfrm>
                  <a:solidFill>
                    <a:srgbClr val="000000"/>
                  </a:solidFill>
                </p:grpSpPr>
                <p:cxnSp>
                  <p:nvCxnSpPr>
                    <p:cNvPr id="205" name="Straight Connector 204">
                      <a:extLst>
                        <a:ext uri="{FF2B5EF4-FFF2-40B4-BE49-F238E27FC236}">
                          <a16:creationId xmlns:a16="http://schemas.microsoft.com/office/drawing/2014/main" id="{9A257D57-5D34-3BC1-98B2-0E45204B62F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5873482" y="3628801"/>
                      <a:ext cx="155460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06" name="Straight Connector 205">
                      <a:extLst>
                        <a:ext uri="{FF2B5EF4-FFF2-40B4-BE49-F238E27FC236}">
                          <a16:creationId xmlns:a16="http://schemas.microsoft.com/office/drawing/2014/main" id="{92F345F3-4300-CDA1-4889-C110D28999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6028942" y="3563692"/>
                      <a:ext cx="0" cy="6511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07" name="Straight Connector 206">
                      <a:extLst>
                        <a:ext uri="{FF2B5EF4-FFF2-40B4-BE49-F238E27FC236}">
                          <a16:creationId xmlns:a16="http://schemas.microsoft.com/office/drawing/2014/main" id="{5905523E-C36A-877C-707B-E1A987FA7AD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5137608" y="3557033"/>
                      <a:ext cx="0" cy="6511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08" name="Straight Connector 207">
                      <a:extLst>
                        <a:ext uri="{FF2B5EF4-FFF2-40B4-BE49-F238E27FC236}">
                          <a16:creationId xmlns:a16="http://schemas.microsoft.com/office/drawing/2014/main" id="{2F394956-0440-8D21-851B-70736F2BE6E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5136549" y="3622143"/>
                      <a:ext cx="130593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</p:grpSp>
              <p:grpSp>
                <p:nvGrpSpPr>
                  <p:cNvPr id="179" name="Group 178">
                    <a:extLst>
                      <a:ext uri="{FF2B5EF4-FFF2-40B4-BE49-F238E27FC236}">
                        <a16:creationId xmlns:a16="http://schemas.microsoft.com/office/drawing/2014/main" id="{9F229F0B-97D6-23C3-C76C-1B2299A5E27F}"/>
                      </a:ext>
                    </a:extLst>
                  </p:cNvPr>
                  <p:cNvGrpSpPr/>
                  <p:nvPr/>
                </p:nvGrpSpPr>
                <p:grpSpPr>
                  <a:xfrm>
                    <a:off x="1652299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201" name="Freeform 200">
                      <a:extLst>
                        <a:ext uri="{FF2B5EF4-FFF2-40B4-BE49-F238E27FC236}">
                          <a16:creationId xmlns:a16="http://schemas.microsoft.com/office/drawing/2014/main" id="{2BFA656B-52F9-B575-2342-3F576799C2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02" name="Freeform 201">
                      <a:extLst>
                        <a:ext uri="{FF2B5EF4-FFF2-40B4-BE49-F238E27FC236}">
                          <a16:creationId xmlns:a16="http://schemas.microsoft.com/office/drawing/2014/main" id="{4761C702-6DEA-46FB-B9D8-DF8933AD8C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03" name="Freeform 202">
                      <a:extLst>
                        <a:ext uri="{FF2B5EF4-FFF2-40B4-BE49-F238E27FC236}">
                          <a16:creationId xmlns:a16="http://schemas.microsoft.com/office/drawing/2014/main" id="{249CB41D-51B7-F6B3-7154-8F195CD38D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04" name="Freeform 203">
                      <a:extLst>
                        <a:ext uri="{FF2B5EF4-FFF2-40B4-BE49-F238E27FC236}">
                          <a16:creationId xmlns:a16="http://schemas.microsoft.com/office/drawing/2014/main" id="{90BA0903-EE20-AAA3-E0F4-8998C8E2D4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80" name="Group 179">
                    <a:extLst>
                      <a:ext uri="{FF2B5EF4-FFF2-40B4-BE49-F238E27FC236}">
                        <a16:creationId xmlns:a16="http://schemas.microsoft.com/office/drawing/2014/main" id="{6C73DA2B-8A5D-A0D8-1CCA-9F9B971AD0CB}"/>
                      </a:ext>
                    </a:extLst>
                  </p:cNvPr>
                  <p:cNvGrpSpPr/>
                  <p:nvPr/>
                </p:nvGrpSpPr>
                <p:grpSpPr>
                  <a:xfrm>
                    <a:off x="1838252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197" name="Freeform 196">
                      <a:extLst>
                        <a:ext uri="{FF2B5EF4-FFF2-40B4-BE49-F238E27FC236}">
                          <a16:creationId xmlns:a16="http://schemas.microsoft.com/office/drawing/2014/main" id="{DA8CE5F2-8B61-EECE-7E0A-5627A2325F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8" name="Freeform 197">
                      <a:extLst>
                        <a:ext uri="{FF2B5EF4-FFF2-40B4-BE49-F238E27FC236}">
                          <a16:creationId xmlns:a16="http://schemas.microsoft.com/office/drawing/2014/main" id="{01C9F072-9E48-A277-B303-44E3FC3B8F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9" name="Freeform 198">
                      <a:extLst>
                        <a:ext uri="{FF2B5EF4-FFF2-40B4-BE49-F238E27FC236}">
                          <a16:creationId xmlns:a16="http://schemas.microsoft.com/office/drawing/2014/main" id="{52437B58-9132-B3D4-1089-5792DF83FB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00" name="Freeform 199">
                      <a:extLst>
                        <a:ext uri="{FF2B5EF4-FFF2-40B4-BE49-F238E27FC236}">
                          <a16:creationId xmlns:a16="http://schemas.microsoft.com/office/drawing/2014/main" id="{BFDE603A-7333-FB20-F9E2-5892BA7D17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81" name="Group 180">
                    <a:extLst>
                      <a:ext uri="{FF2B5EF4-FFF2-40B4-BE49-F238E27FC236}">
                        <a16:creationId xmlns:a16="http://schemas.microsoft.com/office/drawing/2014/main" id="{87FEDA2E-9EA4-A6E4-B393-8C85B4299473}"/>
                      </a:ext>
                    </a:extLst>
                  </p:cNvPr>
                  <p:cNvGrpSpPr/>
                  <p:nvPr/>
                </p:nvGrpSpPr>
                <p:grpSpPr>
                  <a:xfrm>
                    <a:off x="2028645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193" name="Freeform 192">
                      <a:extLst>
                        <a:ext uri="{FF2B5EF4-FFF2-40B4-BE49-F238E27FC236}">
                          <a16:creationId xmlns:a16="http://schemas.microsoft.com/office/drawing/2014/main" id="{1296A5EA-F914-2962-7A23-5FDA1DA605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4" name="Freeform 193">
                      <a:extLst>
                        <a:ext uri="{FF2B5EF4-FFF2-40B4-BE49-F238E27FC236}">
                          <a16:creationId xmlns:a16="http://schemas.microsoft.com/office/drawing/2014/main" id="{A5D457FF-8EE9-C810-6863-2460250334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5" name="Freeform 194">
                      <a:extLst>
                        <a:ext uri="{FF2B5EF4-FFF2-40B4-BE49-F238E27FC236}">
                          <a16:creationId xmlns:a16="http://schemas.microsoft.com/office/drawing/2014/main" id="{9368B3D8-1E10-9DA4-513E-A85DCC23EF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6" name="Freeform 195">
                      <a:extLst>
                        <a:ext uri="{FF2B5EF4-FFF2-40B4-BE49-F238E27FC236}">
                          <a16:creationId xmlns:a16="http://schemas.microsoft.com/office/drawing/2014/main" id="{7C428515-EAA8-2039-EFB5-6EBF64CBF2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9F611610-AA72-280B-3D84-810D05777A26}"/>
                      </a:ext>
                    </a:extLst>
                  </p:cNvPr>
                  <p:cNvSpPr txBox="1"/>
                  <p:nvPr/>
                </p:nvSpPr>
                <p:spPr>
                  <a:xfrm>
                    <a:off x="1512147" y="2863912"/>
                    <a:ext cx="639478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C8A"/>
                        </a:solidFill>
                        <a:effectLst/>
                        <a:uLnTx/>
                        <a:uFillTx/>
                        <a:latin typeface="Metropolis" pitchFamily="2" charset="77"/>
                        <a:ea typeface="+mn-ea"/>
                        <a:cs typeface="Arial"/>
                        <a:sym typeface="Arial"/>
                      </a:rPr>
                      <a:t>vSAN             Storage Cluster</a:t>
                    </a:r>
                  </a:p>
                </p:txBody>
              </p:sp>
              <p:grpSp>
                <p:nvGrpSpPr>
                  <p:cNvPr id="183" name="Group 182">
                    <a:extLst>
                      <a:ext uri="{FF2B5EF4-FFF2-40B4-BE49-F238E27FC236}">
                        <a16:creationId xmlns:a16="http://schemas.microsoft.com/office/drawing/2014/main" id="{BC37B1EE-BBDA-279B-3F69-1DAC0EE6F40F}"/>
                      </a:ext>
                    </a:extLst>
                  </p:cNvPr>
                  <p:cNvGrpSpPr/>
                  <p:nvPr/>
                </p:nvGrpSpPr>
                <p:grpSpPr>
                  <a:xfrm>
                    <a:off x="1452313" y="2145349"/>
                    <a:ext cx="771877" cy="417949"/>
                    <a:chOff x="4987028" y="3247456"/>
                    <a:chExt cx="900000" cy="473040"/>
                  </a:xfrm>
                  <a:solidFill>
                    <a:srgbClr val="0098C7"/>
                  </a:solidFill>
                </p:grpSpPr>
                <p:grpSp>
                  <p:nvGrpSpPr>
                    <p:cNvPr id="184" name="Group 183">
                      <a:extLst>
                        <a:ext uri="{FF2B5EF4-FFF2-40B4-BE49-F238E27FC236}">
                          <a16:creationId xmlns:a16="http://schemas.microsoft.com/office/drawing/2014/main" id="{D8D12C2D-8665-6691-B6BF-03E025270D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87028" y="3592079"/>
                      <a:ext cx="900000" cy="128417"/>
                      <a:chOff x="5030904" y="4970294"/>
                      <a:chExt cx="1917765" cy="244827"/>
                    </a:xfrm>
                    <a:grpFill/>
                  </p:grpSpPr>
                  <p:pic>
                    <p:nvPicPr>
                      <p:cNvPr id="191" name="Graphic 190">
                        <a:extLst>
                          <a:ext uri="{FF2B5EF4-FFF2-40B4-BE49-F238E27FC236}">
                            <a16:creationId xmlns:a16="http://schemas.microsoft.com/office/drawing/2014/main" id="{065E50C2-9530-4843-D7DB-1E11AEAF43D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030904" y="4970294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92" name="Graphic 191">
                        <a:extLst>
                          <a:ext uri="{FF2B5EF4-FFF2-40B4-BE49-F238E27FC236}">
                            <a16:creationId xmlns:a16="http://schemas.microsoft.com/office/drawing/2014/main" id="{50338298-21D9-BC11-755F-E228ABD99F2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28705" y="4970294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85" name="Group 184">
                      <a:extLst>
                        <a:ext uri="{FF2B5EF4-FFF2-40B4-BE49-F238E27FC236}">
                          <a16:creationId xmlns:a16="http://schemas.microsoft.com/office/drawing/2014/main" id="{63F1422D-EF53-4475-BFB2-B812237550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87028" y="3419263"/>
                      <a:ext cx="900000" cy="128417"/>
                      <a:chOff x="5030904" y="4640821"/>
                      <a:chExt cx="1917765" cy="244827"/>
                    </a:xfrm>
                    <a:grpFill/>
                  </p:grpSpPr>
                  <p:pic>
                    <p:nvPicPr>
                      <p:cNvPr id="189" name="Graphic 188">
                        <a:extLst>
                          <a:ext uri="{FF2B5EF4-FFF2-40B4-BE49-F238E27FC236}">
                            <a16:creationId xmlns:a16="http://schemas.microsoft.com/office/drawing/2014/main" id="{661BA58A-A9C0-548D-2233-70A6660E565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030904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90" name="Graphic 189">
                        <a:extLst>
                          <a:ext uri="{FF2B5EF4-FFF2-40B4-BE49-F238E27FC236}">
                            <a16:creationId xmlns:a16="http://schemas.microsoft.com/office/drawing/2014/main" id="{E99F8415-924D-7D83-E27A-B250FE7D1C9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28705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86" name="Group 185">
                      <a:extLst>
                        <a:ext uri="{FF2B5EF4-FFF2-40B4-BE49-F238E27FC236}">
                          <a16:creationId xmlns:a16="http://schemas.microsoft.com/office/drawing/2014/main" id="{6D2CA576-7344-844C-21AF-85D2D85F87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87028" y="3247456"/>
                      <a:ext cx="900000" cy="128417"/>
                      <a:chOff x="5030904" y="4640821"/>
                      <a:chExt cx="1917765" cy="244827"/>
                    </a:xfrm>
                    <a:grpFill/>
                  </p:grpSpPr>
                  <p:pic>
                    <p:nvPicPr>
                      <p:cNvPr id="187" name="Graphic 186">
                        <a:extLst>
                          <a:ext uri="{FF2B5EF4-FFF2-40B4-BE49-F238E27FC236}">
                            <a16:creationId xmlns:a16="http://schemas.microsoft.com/office/drawing/2014/main" id="{19DF4E13-0A27-3F8F-62C4-F6AE694A2AE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030904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88" name="Graphic 187">
                        <a:extLst>
                          <a:ext uri="{FF2B5EF4-FFF2-40B4-BE49-F238E27FC236}">
                            <a16:creationId xmlns:a16="http://schemas.microsoft.com/office/drawing/2014/main" id="{506617B7-A3B0-C3E2-2D48-CFA0A27E36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28705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5CC9CB84-D14E-5006-ED1C-9E1E7A8E52C3}"/>
                    </a:ext>
                  </a:extLst>
                </p:cNvPr>
                <p:cNvSpPr txBox="1"/>
                <p:nvPr/>
              </p:nvSpPr>
              <p:spPr>
                <a:xfrm>
                  <a:off x="4400551" y="929275"/>
                  <a:ext cx="473710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VCF Instance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1B8F059A-BC04-A59E-8B80-E2CBE9325B86}"/>
                    </a:ext>
                  </a:extLst>
                </p:cNvPr>
                <p:cNvGrpSpPr/>
                <p:nvPr/>
              </p:nvGrpSpPr>
              <p:grpSpPr>
                <a:xfrm>
                  <a:off x="5138743" y="4459438"/>
                  <a:ext cx="900001" cy="656013"/>
                  <a:chOff x="9989245" y="1258647"/>
                  <a:chExt cx="900001" cy="702682"/>
                </a:xfrm>
                <a:solidFill>
                  <a:srgbClr val="007DA3"/>
                </a:solidFill>
              </p:grpSpPr>
              <p:grpSp>
                <p:nvGrpSpPr>
                  <p:cNvPr id="165" name="Group 164">
                    <a:extLst>
                      <a:ext uri="{FF2B5EF4-FFF2-40B4-BE49-F238E27FC236}">
                        <a16:creationId xmlns:a16="http://schemas.microsoft.com/office/drawing/2014/main" id="{C534AE5D-59D9-717C-F52F-17B7D2F21D0F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5" y="1431463"/>
                    <a:ext cx="900001" cy="128417"/>
                    <a:chOff x="5030904" y="4970294"/>
                    <a:chExt cx="1917768" cy="244827"/>
                  </a:xfrm>
                  <a:grpFill/>
                </p:grpSpPr>
                <p:pic>
                  <p:nvPicPr>
                    <p:cNvPr id="175" name="Graphic 174">
                      <a:extLst>
                        <a:ext uri="{FF2B5EF4-FFF2-40B4-BE49-F238E27FC236}">
                          <a16:creationId xmlns:a16="http://schemas.microsoft.com/office/drawing/2014/main" id="{DF9D0625-8CB4-6FC1-EABB-326A3F30458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6" name="Graphic 175">
                      <a:extLst>
                        <a:ext uri="{FF2B5EF4-FFF2-40B4-BE49-F238E27FC236}">
                          <a16:creationId xmlns:a16="http://schemas.microsoft.com/office/drawing/2014/main" id="{FD2B9520-F038-7C09-871A-8B689D1549D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66" name="Group 165">
                    <a:extLst>
                      <a:ext uri="{FF2B5EF4-FFF2-40B4-BE49-F238E27FC236}">
                        <a16:creationId xmlns:a16="http://schemas.microsoft.com/office/drawing/2014/main" id="{C1A93DD3-D24D-A61F-9B88-D5A7B7A8795A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258647"/>
                    <a:ext cx="900000" cy="128417"/>
                    <a:chOff x="5030904" y="4640821"/>
                    <a:chExt cx="1917765" cy="244827"/>
                  </a:xfrm>
                  <a:grpFill/>
                </p:grpSpPr>
                <p:pic>
                  <p:nvPicPr>
                    <p:cNvPr id="173" name="Graphic 172">
                      <a:extLst>
                        <a:ext uri="{FF2B5EF4-FFF2-40B4-BE49-F238E27FC236}">
                          <a16:creationId xmlns:a16="http://schemas.microsoft.com/office/drawing/2014/main" id="{9D8612EE-512A-A00E-9C02-B15BD2EE885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4" name="Graphic 173">
                      <a:extLst>
                        <a:ext uri="{FF2B5EF4-FFF2-40B4-BE49-F238E27FC236}">
                          <a16:creationId xmlns:a16="http://schemas.microsoft.com/office/drawing/2014/main" id="{17DD4D41-27B2-5D0B-61A3-6F05EECE5A1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67" name="Group 166">
                    <a:extLst>
                      <a:ext uri="{FF2B5EF4-FFF2-40B4-BE49-F238E27FC236}">
                        <a16:creationId xmlns:a16="http://schemas.microsoft.com/office/drawing/2014/main" id="{E267077D-31EC-3AED-4058-33705F08B064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598642"/>
                    <a:ext cx="900000" cy="362687"/>
                    <a:chOff x="1171761" y="5660610"/>
                    <a:chExt cx="1917765" cy="691453"/>
                  </a:xfrm>
                  <a:grpFill/>
                </p:grpSpPr>
                <p:cxnSp>
                  <p:nvCxnSpPr>
                    <p:cNvPr id="168" name="Straight Connector 167">
                      <a:extLst>
                        <a:ext uri="{FF2B5EF4-FFF2-40B4-BE49-F238E27FC236}">
                          <a16:creationId xmlns:a16="http://schemas.microsoft.com/office/drawing/2014/main" id="{CF8285DA-3146-ECB7-6872-14D8FC3B570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7953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69" name="Straight Connector 168">
                      <a:extLst>
                        <a:ext uri="{FF2B5EF4-FFF2-40B4-BE49-F238E27FC236}">
                          <a16:creationId xmlns:a16="http://schemas.microsoft.com/office/drawing/2014/main" id="{311054A0-15CF-15B0-B18D-2A1298AE0EB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2758265" y="5784739"/>
                      <a:ext cx="331261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6C44BBE0-7D44-40B3-E2A7-23E083DA919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3089526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71" name="Straight Connector 170">
                      <a:extLst>
                        <a:ext uri="{FF2B5EF4-FFF2-40B4-BE49-F238E27FC236}">
                          <a16:creationId xmlns:a16="http://schemas.microsoft.com/office/drawing/2014/main" id="{85D1F119-4956-D586-3977-4876B232A67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1761" y="5784740"/>
                      <a:ext cx="278274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sp>
                  <p:nvSpPr>
                    <p:cNvPr id="172" name="TextBox 171">
                      <a:extLst>
                        <a:ext uri="{FF2B5EF4-FFF2-40B4-BE49-F238E27FC236}">
                          <a16:creationId xmlns:a16="http://schemas.microsoft.com/office/drawing/2014/main" id="{24531B43-012A-D683-C29E-7314B24A62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0270" y="5849255"/>
                      <a:ext cx="1794595" cy="50280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DA3"/>
                          </a:solidFill>
                          <a:effectLst/>
                          <a:uLnTx/>
                          <a:uFillTx/>
                          <a:latin typeface="Metropolis" pitchFamily="2" charset="77"/>
                          <a:ea typeface="+mn-ea"/>
                          <a:cs typeface="Arial"/>
                          <a:sym typeface="Arial"/>
                        </a:rPr>
                        <a:t>vSAN Compute  Cluster</a:t>
                      </a:r>
                    </a:p>
                  </p:txBody>
                </p:sp>
              </p:grpSp>
            </p:grp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EBFCFDF8-AD84-0A8A-F5E9-908CED9BF257}"/>
                    </a:ext>
                  </a:extLst>
                </p:cNvPr>
                <p:cNvGrpSpPr/>
                <p:nvPr/>
              </p:nvGrpSpPr>
              <p:grpSpPr>
                <a:xfrm>
                  <a:off x="7356651" y="4492829"/>
                  <a:ext cx="900001" cy="656013"/>
                  <a:chOff x="9989245" y="1258647"/>
                  <a:chExt cx="900001" cy="702682"/>
                </a:xfrm>
                <a:solidFill>
                  <a:srgbClr val="007DA3"/>
                </a:solidFill>
              </p:grpSpPr>
              <p:grpSp>
                <p:nvGrpSpPr>
                  <p:cNvPr id="153" name="Group 152">
                    <a:extLst>
                      <a:ext uri="{FF2B5EF4-FFF2-40B4-BE49-F238E27FC236}">
                        <a16:creationId xmlns:a16="http://schemas.microsoft.com/office/drawing/2014/main" id="{52EFAB20-6163-3838-B6DD-9A686958DEE5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5" y="1431463"/>
                    <a:ext cx="900001" cy="128417"/>
                    <a:chOff x="5030904" y="4970294"/>
                    <a:chExt cx="1917768" cy="244827"/>
                  </a:xfrm>
                  <a:grpFill/>
                </p:grpSpPr>
                <p:pic>
                  <p:nvPicPr>
                    <p:cNvPr id="163" name="Graphic 162">
                      <a:extLst>
                        <a:ext uri="{FF2B5EF4-FFF2-40B4-BE49-F238E27FC236}">
                          <a16:creationId xmlns:a16="http://schemas.microsoft.com/office/drawing/2014/main" id="{8F0E2726-CC91-4838-C6D4-F3D2819A42A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64" name="Graphic 163">
                      <a:extLst>
                        <a:ext uri="{FF2B5EF4-FFF2-40B4-BE49-F238E27FC236}">
                          <a16:creationId xmlns:a16="http://schemas.microsoft.com/office/drawing/2014/main" id="{B825574A-BBF2-228E-9CC4-89E1F3CF823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54" name="Group 153">
                    <a:extLst>
                      <a:ext uri="{FF2B5EF4-FFF2-40B4-BE49-F238E27FC236}">
                        <a16:creationId xmlns:a16="http://schemas.microsoft.com/office/drawing/2014/main" id="{A5B839FA-E0A0-1F8C-C864-7BBFB76EE7F5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258647"/>
                    <a:ext cx="900000" cy="128417"/>
                    <a:chOff x="5030904" y="4640821"/>
                    <a:chExt cx="1917765" cy="244827"/>
                  </a:xfrm>
                  <a:grpFill/>
                </p:grpSpPr>
                <p:pic>
                  <p:nvPicPr>
                    <p:cNvPr id="161" name="Graphic 160">
                      <a:extLst>
                        <a:ext uri="{FF2B5EF4-FFF2-40B4-BE49-F238E27FC236}">
                          <a16:creationId xmlns:a16="http://schemas.microsoft.com/office/drawing/2014/main" id="{9E69BF69-3D89-5A41-BFC8-566289F5C93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62" name="Graphic 161">
                      <a:extLst>
                        <a:ext uri="{FF2B5EF4-FFF2-40B4-BE49-F238E27FC236}">
                          <a16:creationId xmlns:a16="http://schemas.microsoft.com/office/drawing/2014/main" id="{288022A1-1671-CA29-90F5-E85333F1CCA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55" name="Group 154">
                    <a:extLst>
                      <a:ext uri="{FF2B5EF4-FFF2-40B4-BE49-F238E27FC236}">
                        <a16:creationId xmlns:a16="http://schemas.microsoft.com/office/drawing/2014/main" id="{F4EDCF93-8BDB-253D-A491-5D77FD71E005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598642"/>
                    <a:ext cx="900000" cy="362687"/>
                    <a:chOff x="1171761" y="5660610"/>
                    <a:chExt cx="1917765" cy="691453"/>
                  </a:xfrm>
                  <a:grpFill/>
                </p:grpSpPr>
                <p:cxnSp>
                  <p:nvCxnSpPr>
                    <p:cNvPr id="156" name="Straight Connector 155">
                      <a:extLst>
                        <a:ext uri="{FF2B5EF4-FFF2-40B4-BE49-F238E27FC236}">
                          <a16:creationId xmlns:a16="http://schemas.microsoft.com/office/drawing/2014/main" id="{8B601E30-ED7B-3E58-06C1-0396088E839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7953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57" name="Straight Connector 156">
                      <a:extLst>
                        <a:ext uri="{FF2B5EF4-FFF2-40B4-BE49-F238E27FC236}">
                          <a16:creationId xmlns:a16="http://schemas.microsoft.com/office/drawing/2014/main" id="{56400917-5821-88B8-5590-3CF713494E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2758265" y="5784739"/>
                      <a:ext cx="331261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58" name="Straight Connector 157">
                      <a:extLst>
                        <a:ext uri="{FF2B5EF4-FFF2-40B4-BE49-F238E27FC236}">
                          <a16:creationId xmlns:a16="http://schemas.microsoft.com/office/drawing/2014/main" id="{480D9252-6C90-B546-B1B8-AA95540E69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3089526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59" name="Straight Connector 158">
                      <a:extLst>
                        <a:ext uri="{FF2B5EF4-FFF2-40B4-BE49-F238E27FC236}">
                          <a16:creationId xmlns:a16="http://schemas.microsoft.com/office/drawing/2014/main" id="{9B392F19-B1F2-AF47-219F-2AF4071DA9B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1761" y="5784740"/>
                      <a:ext cx="278274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sp>
                  <p:nvSpPr>
                    <p:cNvPr id="160" name="TextBox 159">
                      <a:extLst>
                        <a:ext uri="{FF2B5EF4-FFF2-40B4-BE49-F238E27FC236}">
                          <a16:creationId xmlns:a16="http://schemas.microsoft.com/office/drawing/2014/main" id="{58D58301-9064-CA0B-8436-6222E2546B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0270" y="5849255"/>
                      <a:ext cx="1794595" cy="50280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DA3"/>
                          </a:solidFill>
                          <a:effectLst/>
                          <a:uLnTx/>
                          <a:uFillTx/>
                          <a:latin typeface="Metropolis" pitchFamily="2" charset="77"/>
                          <a:ea typeface="+mn-ea"/>
                          <a:cs typeface="Arial"/>
                          <a:sym typeface="Arial"/>
                        </a:rPr>
                        <a:t>vSAN Compute  Cluster</a:t>
                      </a:r>
                    </a:p>
                  </p:txBody>
                </p:sp>
              </p:grpSp>
            </p:grpSp>
            <p:sp>
              <p:nvSpPr>
                <p:cNvPr id="148" name="Google Shape;1343;p4">
                  <a:extLst>
                    <a:ext uri="{FF2B5EF4-FFF2-40B4-BE49-F238E27FC236}">
                      <a16:creationId xmlns:a16="http://schemas.microsoft.com/office/drawing/2014/main" id="{4DFFE513-06F9-5634-CCEF-C03FF50FD451}"/>
                    </a:ext>
                  </a:extLst>
                </p:cNvPr>
                <p:cNvSpPr/>
                <p:nvPr/>
              </p:nvSpPr>
              <p:spPr>
                <a:xfrm>
                  <a:off x="4400551" y="1421717"/>
                  <a:ext cx="4737100" cy="4121833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000000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2841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Availability Zone</a:t>
                  </a: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49" name="Google Shape;1363;p4">
                  <a:extLst>
                    <a:ext uri="{FF2B5EF4-FFF2-40B4-BE49-F238E27FC236}">
                      <a16:creationId xmlns:a16="http://schemas.microsoft.com/office/drawing/2014/main" id="{78C82F7E-F50A-A5F0-3D13-E884FC9F1D80}"/>
                    </a:ext>
                  </a:extLst>
                </p:cNvPr>
                <p:cNvSpPr/>
                <p:nvPr/>
              </p:nvSpPr>
              <p:spPr>
                <a:xfrm>
                  <a:off x="4984750" y="2648642"/>
                  <a:ext cx="1111250" cy="1352518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5C8A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50" name="Google Shape;1363;p4">
                  <a:extLst>
                    <a:ext uri="{FF2B5EF4-FFF2-40B4-BE49-F238E27FC236}">
                      <a16:creationId xmlns:a16="http://schemas.microsoft.com/office/drawing/2014/main" id="{ABB75F72-CE65-CC92-806E-F6A4CF2785C0}"/>
                    </a:ext>
                  </a:extLst>
                </p:cNvPr>
                <p:cNvSpPr/>
                <p:nvPr/>
              </p:nvSpPr>
              <p:spPr>
                <a:xfrm>
                  <a:off x="7282977" y="2746792"/>
                  <a:ext cx="1111250" cy="766325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51" name="Google Shape;1363;p4">
                  <a:extLst>
                    <a:ext uri="{FF2B5EF4-FFF2-40B4-BE49-F238E27FC236}">
                      <a16:creationId xmlns:a16="http://schemas.microsoft.com/office/drawing/2014/main" id="{073B76F3-7CA0-9258-907C-6D8BAE4241CA}"/>
                    </a:ext>
                  </a:extLst>
                </p:cNvPr>
                <p:cNvSpPr/>
                <p:nvPr/>
              </p:nvSpPr>
              <p:spPr>
                <a:xfrm>
                  <a:off x="5022289" y="4355430"/>
                  <a:ext cx="1111250" cy="766325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363;p4">
                  <a:extLst>
                    <a:ext uri="{FF2B5EF4-FFF2-40B4-BE49-F238E27FC236}">
                      <a16:creationId xmlns:a16="http://schemas.microsoft.com/office/drawing/2014/main" id="{12397E41-1AD5-9331-6163-9AC1F85442EF}"/>
                    </a:ext>
                  </a:extLst>
                </p:cNvPr>
                <p:cNvSpPr/>
                <p:nvPr/>
              </p:nvSpPr>
              <p:spPr>
                <a:xfrm>
                  <a:off x="7252464" y="4387365"/>
                  <a:ext cx="1111250" cy="766325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020B080A-EA72-B661-9AA5-D4E56A2BE05A}"/>
                  </a:ext>
                </a:extLst>
              </p:cNvPr>
              <p:cNvGrpSpPr/>
              <p:nvPr/>
            </p:nvGrpSpPr>
            <p:grpSpPr>
              <a:xfrm>
                <a:off x="4656335" y="1963886"/>
                <a:ext cx="498734" cy="769269"/>
                <a:chOff x="3391157" y="3797947"/>
                <a:chExt cx="498734" cy="769269"/>
              </a:xfrm>
            </p:grpSpPr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FFF79ECA-5D01-7FA3-D073-A1B973002F81}"/>
                    </a:ext>
                  </a:extLst>
                </p:cNvPr>
                <p:cNvCxnSpPr>
                  <a:cxnSpLocks/>
                  <a:stCxn id="126" idx="2"/>
                </p:cNvCxnSpPr>
                <p:nvPr/>
              </p:nvCxnSpPr>
              <p:spPr bwMode="gray">
                <a:xfrm>
                  <a:off x="3528443" y="3986027"/>
                  <a:ext cx="0" cy="581189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26" name="Graphic 125">
                  <a:extLst>
                    <a:ext uri="{FF2B5EF4-FFF2-40B4-BE49-F238E27FC236}">
                      <a16:creationId xmlns:a16="http://schemas.microsoft.com/office/drawing/2014/main" id="{215A6AB0-9C9E-E7AB-06D3-D1285D9F6C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27" name="Graphic 126">
                  <a:extLst>
                    <a:ext uri="{FF2B5EF4-FFF2-40B4-BE49-F238E27FC236}">
                      <a16:creationId xmlns:a16="http://schemas.microsoft.com/office/drawing/2014/main" id="{4C0298B2-7C32-0BBD-5D41-021709B738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77FA544B-8918-E47D-D146-E2EEB1128E6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3763746" y="3986027"/>
                  <a:ext cx="11007" cy="581189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945B042B-1D51-B06A-080F-85F24A88B117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7ED9EF61-0FE9-3299-791F-55AF6316E4C6}"/>
                  </a:ext>
                </a:extLst>
              </p:cNvPr>
              <p:cNvGrpSpPr/>
              <p:nvPr/>
            </p:nvGrpSpPr>
            <p:grpSpPr>
              <a:xfrm>
                <a:off x="6909425" y="1970700"/>
                <a:ext cx="498734" cy="809000"/>
                <a:chOff x="3391157" y="3797947"/>
                <a:chExt cx="498734" cy="809000"/>
              </a:xfrm>
            </p:grpSpPr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708B7C36-70A2-2FF9-8ED8-09E23A1C329D}"/>
                    </a:ext>
                  </a:extLst>
                </p:cNvPr>
                <p:cNvCxnSpPr>
                  <a:cxnSpLocks/>
                  <a:stCxn id="121" idx="2"/>
                </p:cNvCxnSpPr>
                <p:nvPr/>
              </p:nvCxnSpPr>
              <p:spPr bwMode="gray">
                <a:xfrm>
                  <a:off x="3528443" y="3986027"/>
                  <a:ext cx="0" cy="62092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21" name="Graphic 120">
                  <a:extLst>
                    <a:ext uri="{FF2B5EF4-FFF2-40B4-BE49-F238E27FC236}">
                      <a16:creationId xmlns:a16="http://schemas.microsoft.com/office/drawing/2014/main" id="{5146620F-89F8-069A-B950-04C5434905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22" name="Graphic 121">
                  <a:extLst>
                    <a:ext uri="{FF2B5EF4-FFF2-40B4-BE49-F238E27FC236}">
                      <a16:creationId xmlns:a16="http://schemas.microsoft.com/office/drawing/2014/main" id="{C5E6CE3B-21D2-2834-DCE7-39F0F001B1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F8AD18C5-CCD2-2065-12C9-C9BB902507CE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0" cy="62092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1F41851F-4321-CB67-6BD8-6D01153BA13E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19154A9-069E-5F3E-24E7-BD0A003906BF}"/>
                </a:ext>
              </a:extLst>
            </p:cNvPr>
            <p:cNvSpPr txBox="1"/>
            <p:nvPr/>
          </p:nvSpPr>
          <p:spPr>
            <a:xfrm>
              <a:off x="4378406" y="2743285"/>
              <a:ext cx="989601" cy="503959"/>
            </a:xfrm>
            <a:prstGeom prst="rect">
              <a:avLst/>
            </a:prstGeom>
            <a:noFill/>
            <a:ln w="12700">
              <a:solidFill>
                <a:srgbClr val="99999B"/>
              </a:solidFill>
              <a:prstDash val="solid"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4701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9AB9-ECA1-2EAB-1AF4-14E3A2A7F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6AD8-9C62-5ACF-B514-075C27C2B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72" y="98541"/>
            <a:ext cx="11001004" cy="381000"/>
          </a:xfrm>
        </p:spPr>
        <p:txBody>
          <a:bodyPr/>
          <a:lstStyle/>
          <a:p>
            <a:r>
              <a:rPr lang="en-US" dirty="0">
                <a:latin typeface="Metropolis" pitchFamily="2" charset="77"/>
              </a:rPr>
              <a:t>vSAN Storage + Compute Clusters original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8241B4-0C0A-650D-544B-768251DC3506}"/>
              </a:ext>
            </a:extLst>
          </p:cNvPr>
          <p:cNvGrpSpPr/>
          <p:nvPr/>
        </p:nvGrpSpPr>
        <p:grpSpPr>
          <a:xfrm>
            <a:off x="3989103" y="1647258"/>
            <a:ext cx="1749298" cy="2939142"/>
            <a:chOff x="3989103" y="1647258"/>
            <a:chExt cx="1749298" cy="2939142"/>
          </a:xfrm>
        </p:grpSpPr>
        <p:sp>
          <p:nvSpPr>
            <p:cNvPr id="131" name="Google Shape;1344;p4">
              <a:extLst>
                <a:ext uri="{FF2B5EF4-FFF2-40B4-BE49-F238E27FC236}">
                  <a16:creationId xmlns:a16="http://schemas.microsoft.com/office/drawing/2014/main" id="{3244EF0B-D36E-C68B-AB5F-AB3E1C5CF741}"/>
                </a:ext>
              </a:extLst>
            </p:cNvPr>
            <p:cNvSpPr/>
            <p:nvPr/>
          </p:nvSpPr>
          <p:spPr>
            <a:xfrm>
              <a:off x="3989103" y="1647258"/>
              <a:ext cx="1749298" cy="2939142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DF09BF71-6E04-02E9-9832-782A3ADFFF71}"/>
                </a:ext>
              </a:extLst>
            </p:cNvPr>
            <p:cNvGrpSpPr/>
            <p:nvPr/>
          </p:nvGrpSpPr>
          <p:grpSpPr>
            <a:xfrm>
              <a:off x="4493634" y="2796648"/>
              <a:ext cx="771877" cy="1087895"/>
              <a:chOff x="1452313" y="2145349"/>
              <a:chExt cx="771877" cy="1087895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9829F47F-1617-392E-38F3-E52CB332A51F}"/>
                  </a:ext>
                </a:extLst>
              </p:cNvPr>
              <p:cNvGrpSpPr/>
              <p:nvPr/>
            </p:nvGrpSpPr>
            <p:grpSpPr>
              <a:xfrm>
                <a:off x="1468761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09" name="Freeform 208">
                  <a:extLst>
                    <a:ext uri="{FF2B5EF4-FFF2-40B4-BE49-F238E27FC236}">
                      <a16:creationId xmlns:a16="http://schemas.microsoft.com/office/drawing/2014/main" id="{F829D070-0CB3-BA48-129D-E245786FC64E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10" name="Freeform 209">
                  <a:extLst>
                    <a:ext uri="{FF2B5EF4-FFF2-40B4-BE49-F238E27FC236}">
                      <a16:creationId xmlns:a16="http://schemas.microsoft.com/office/drawing/2014/main" id="{5777DFF2-5973-1989-17EA-AF0C5FCC3021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Freeform 210">
                  <a:extLst>
                    <a:ext uri="{FF2B5EF4-FFF2-40B4-BE49-F238E27FC236}">
                      <a16:creationId xmlns:a16="http://schemas.microsoft.com/office/drawing/2014/main" id="{3E2FB0BB-7B85-EAF9-9A6A-B89C9D234402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12" name="Freeform 211">
                  <a:extLst>
                    <a:ext uri="{FF2B5EF4-FFF2-40B4-BE49-F238E27FC236}">
                      <a16:creationId xmlns:a16="http://schemas.microsoft.com/office/drawing/2014/main" id="{5D992E6C-E18B-0AD2-FCD3-74A731DD96A9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BEF389DB-F647-AA97-87BE-132407281792}"/>
                  </a:ext>
                </a:extLst>
              </p:cNvPr>
              <p:cNvGrpSpPr/>
              <p:nvPr/>
            </p:nvGrpSpPr>
            <p:grpSpPr>
              <a:xfrm>
                <a:off x="1455575" y="2852294"/>
                <a:ext cx="765353" cy="64044"/>
                <a:chOff x="5136549" y="3557033"/>
                <a:chExt cx="892393" cy="71769"/>
              </a:xfrm>
              <a:solidFill>
                <a:srgbClr val="000000"/>
              </a:solidFill>
            </p:grpSpPr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7C115AE0-44D1-B56A-4702-1191E1B35A7D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5873482" y="3628801"/>
                  <a:ext cx="155460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81332FA7-E0D7-5ABC-260D-225C0459C23C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6028942" y="3563692"/>
                  <a:ext cx="0" cy="6511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42528CEF-2F7B-4310-A19B-EE1EFE3346D0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5137608" y="3557033"/>
                  <a:ext cx="0" cy="6511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D34ABEDB-1A41-F1C3-E172-5F12C50B0CED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5136549" y="3622143"/>
                  <a:ext cx="130593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ED494265-DF19-9005-C5C9-7A45C91A0A74}"/>
                  </a:ext>
                </a:extLst>
              </p:cNvPr>
              <p:cNvGrpSpPr/>
              <p:nvPr/>
            </p:nvGrpSpPr>
            <p:grpSpPr>
              <a:xfrm>
                <a:off x="1652299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01" name="Freeform 200">
                  <a:extLst>
                    <a:ext uri="{FF2B5EF4-FFF2-40B4-BE49-F238E27FC236}">
                      <a16:creationId xmlns:a16="http://schemas.microsoft.com/office/drawing/2014/main" id="{E2DB43F9-5377-6907-7C46-65C2E7E9FAB5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Freeform 201">
                  <a:extLst>
                    <a:ext uri="{FF2B5EF4-FFF2-40B4-BE49-F238E27FC236}">
                      <a16:creationId xmlns:a16="http://schemas.microsoft.com/office/drawing/2014/main" id="{010100AE-00D9-E044-500C-BD142FE91949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Freeform 202">
                  <a:extLst>
                    <a:ext uri="{FF2B5EF4-FFF2-40B4-BE49-F238E27FC236}">
                      <a16:creationId xmlns:a16="http://schemas.microsoft.com/office/drawing/2014/main" id="{8FBF0087-0EE0-73B8-9D6E-A838E1F18494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Freeform 203">
                  <a:extLst>
                    <a:ext uri="{FF2B5EF4-FFF2-40B4-BE49-F238E27FC236}">
                      <a16:creationId xmlns:a16="http://schemas.microsoft.com/office/drawing/2014/main" id="{132361BE-D53F-80B2-1446-508E5E6791DE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85BCA6EB-DD83-28B4-5F1C-A31EAB8FB1B6}"/>
                  </a:ext>
                </a:extLst>
              </p:cNvPr>
              <p:cNvGrpSpPr/>
              <p:nvPr/>
            </p:nvGrpSpPr>
            <p:grpSpPr>
              <a:xfrm>
                <a:off x="1838252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88021AFE-7705-5485-C44F-EE199E8781BD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Freeform 197">
                  <a:extLst>
                    <a:ext uri="{FF2B5EF4-FFF2-40B4-BE49-F238E27FC236}">
                      <a16:creationId xmlns:a16="http://schemas.microsoft.com/office/drawing/2014/main" id="{BDA634B4-148C-F2B7-BD53-20FC0356B261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99" name="Freeform 198">
                  <a:extLst>
                    <a:ext uri="{FF2B5EF4-FFF2-40B4-BE49-F238E27FC236}">
                      <a16:creationId xmlns:a16="http://schemas.microsoft.com/office/drawing/2014/main" id="{D16076E6-68D4-5754-C13A-2AA8DCB1537E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Freeform 199">
                  <a:extLst>
                    <a:ext uri="{FF2B5EF4-FFF2-40B4-BE49-F238E27FC236}">
                      <a16:creationId xmlns:a16="http://schemas.microsoft.com/office/drawing/2014/main" id="{317AC5C0-30A4-0F83-D6DE-27957537A4F9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60D98E15-4BBB-EEAC-3E6D-AEB752E4537F}"/>
                  </a:ext>
                </a:extLst>
              </p:cNvPr>
              <p:cNvGrpSpPr/>
              <p:nvPr/>
            </p:nvGrpSpPr>
            <p:grpSpPr>
              <a:xfrm>
                <a:off x="2028645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193" name="Freeform 192">
                  <a:extLst>
                    <a:ext uri="{FF2B5EF4-FFF2-40B4-BE49-F238E27FC236}">
                      <a16:creationId xmlns:a16="http://schemas.microsoft.com/office/drawing/2014/main" id="{B2E62C20-D81E-0897-8107-10AE45C9D6E5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94" name="Freeform 193">
                  <a:extLst>
                    <a:ext uri="{FF2B5EF4-FFF2-40B4-BE49-F238E27FC236}">
                      <a16:creationId xmlns:a16="http://schemas.microsoft.com/office/drawing/2014/main" id="{85A22D76-A9B5-22C4-A056-B57DE2E69B3A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95" name="Freeform 194">
                  <a:extLst>
                    <a:ext uri="{FF2B5EF4-FFF2-40B4-BE49-F238E27FC236}">
                      <a16:creationId xmlns:a16="http://schemas.microsoft.com/office/drawing/2014/main" id="{A2E5BA0D-6A60-493C-8BE6-EDA5AA8CF0E2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Freeform 195">
                  <a:extLst>
                    <a:ext uri="{FF2B5EF4-FFF2-40B4-BE49-F238E27FC236}">
                      <a16:creationId xmlns:a16="http://schemas.microsoft.com/office/drawing/2014/main" id="{7FFE7654-8BB8-5254-D323-89ABF9F7882D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47E82D21-BFE9-82AF-D841-36C5FF997810}"/>
                  </a:ext>
                </a:extLst>
              </p:cNvPr>
              <p:cNvSpPr txBox="1"/>
              <p:nvPr/>
            </p:nvSpPr>
            <p:spPr>
              <a:xfrm>
                <a:off x="1512147" y="2863912"/>
                <a:ext cx="63947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8A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vSAN             Storage Cluster</a:t>
                </a:r>
              </a:p>
            </p:txBody>
          </p: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1002EA75-F048-08C0-F28A-54CDCA495A40}"/>
                  </a:ext>
                </a:extLst>
              </p:cNvPr>
              <p:cNvGrpSpPr/>
              <p:nvPr/>
            </p:nvGrpSpPr>
            <p:grpSpPr>
              <a:xfrm>
                <a:off x="1452313" y="2145349"/>
                <a:ext cx="771877" cy="417949"/>
                <a:chOff x="4987028" y="3247456"/>
                <a:chExt cx="900000" cy="473040"/>
              </a:xfrm>
              <a:solidFill>
                <a:srgbClr val="0098C7"/>
              </a:solidFill>
            </p:grpSpPr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7BCEF2FF-EBB9-0512-1169-2BBE3CED1B36}"/>
                    </a:ext>
                  </a:extLst>
                </p:cNvPr>
                <p:cNvGrpSpPr/>
                <p:nvPr/>
              </p:nvGrpSpPr>
              <p:grpSpPr>
                <a:xfrm>
                  <a:off x="4987028" y="3592079"/>
                  <a:ext cx="900000" cy="128417"/>
                  <a:chOff x="5030904" y="4970294"/>
                  <a:chExt cx="1917765" cy="244827"/>
                </a:xfrm>
                <a:grpFill/>
              </p:grpSpPr>
              <p:pic>
                <p:nvPicPr>
                  <p:cNvPr id="191" name="Graphic 190">
                    <a:extLst>
                      <a:ext uri="{FF2B5EF4-FFF2-40B4-BE49-F238E27FC236}">
                        <a16:creationId xmlns:a16="http://schemas.microsoft.com/office/drawing/2014/main" id="{B64ABA48-7E66-67FC-6479-164E476F6B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970294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192" name="Graphic 191">
                    <a:extLst>
                      <a:ext uri="{FF2B5EF4-FFF2-40B4-BE49-F238E27FC236}">
                        <a16:creationId xmlns:a16="http://schemas.microsoft.com/office/drawing/2014/main" id="{54A56516-B8A6-3DAD-C8E8-E0378F1242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970294"/>
                    <a:ext cx="919964" cy="24482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5" name="Group 184">
                  <a:extLst>
                    <a:ext uri="{FF2B5EF4-FFF2-40B4-BE49-F238E27FC236}">
                      <a16:creationId xmlns:a16="http://schemas.microsoft.com/office/drawing/2014/main" id="{187D4C32-4019-5C6C-97E2-E6C01F9307BF}"/>
                    </a:ext>
                  </a:extLst>
                </p:cNvPr>
                <p:cNvGrpSpPr/>
                <p:nvPr/>
              </p:nvGrpSpPr>
              <p:grpSpPr>
                <a:xfrm>
                  <a:off x="4987028" y="3419263"/>
                  <a:ext cx="900000" cy="128417"/>
                  <a:chOff x="5030904" y="4640821"/>
                  <a:chExt cx="1917765" cy="244827"/>
                </a:xfrm>
                <a:grpFill/>
              </p:grpSpPr>
              <p:pic>
                <p:nvPicPr>
                  <p:cNvPr id="189" name="Graphic 188">
                    <a:extLst>
                      <a:ext uri="{FF2B5EF4-FFF2-40B4-BE49-F238E27FC236}">
                        <a16:creationId xmlns:a16="http://schemas.microsoft.com/office/drawing/2014/main" id="{9579D4BC-FD2C-D4AA-EA4B-AF6472E603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190" name="Graphic 189">
                    <a:extLst>
                      <a:ext uri="{FF2B5EF4-FFF2-40B4-BE49-F238E27FC236}">
                        <a16:creationId xmlns:a16="http://schemas.microsoft.com/office/drawing/2014/main" id="{AAE1B5F4-C025-8C3A-B057-7845618B35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B8036BD0-EAC1-C598-3779-49A727506DD4}"/>
                    </a:ext>
                  </a:extLst>
                </p:cNvPr>
                <p:cNvGrpSpPr/>
                <p:nvPr/>
              </p:nvGrpSpPr>
              <p:grpSpPr>
                <a:xfrm>
                  <a:off x="4987028" y="3247456"/>
                  <a:ext cx="900000" cy="128417"/>
                  <a:chOff x="5030904" y="4640821"/>
                  <a:chExt cx="1917765" cy="244827"/>
                </a:xfrm>
                <a:grpFill/>
              </p:grpSpPr>
              <p:pic>
                <p:nvPicPr>
                  <p:cNvPr id="187" name="Graphic 186">
                    <a:extLst>
                      <a:ext uri="{FF2B5EF4-FFF2-40B4-BE49-F238E27FC236}">
                        <a16:creationId xmlns:a16="http://schemas.microsoft.com/office/drawing/2014/main" id="{CD9041CF-F364-ABE4-9E8B-498F875E31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188" name="Graphic 187">
                    <a:extLst>
                      <a:ext uri="{FF2B5EF4-FFF2-40B4-BE49-F238E27FC236}">
                        <a16:creationId xmlns:a16="http://schemas.microsoft.com/office/drawing/2014/main" id="{4D1D8EE5-CD43-A069-BA23-6697FB5C1D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149" name="Google Shape;1363;p4">
              <a:extLst>
                <a:ext uri="{FF2B5EF4-FFF2-40B4-BE49-F238E27FC236}">
                  <a16:creationId xmlns:a16="http://schemas.microsoft.com/office/drawing/2014/main" id="{62591E70-C0AA-CFE8-1144-D3E6EC88784E}"/>
                </a:ext>
              </a:extLst>
            </p:cNvPr>
            <p:cNvSpPr/>
            <p:nvPr/>
          </p:nvSpPr>
          <p:spPr>
            <a:xfrm>
              <a:off x="4321657" y="2639116"/>
              <a:ext cx="1111250" cy="1352518"/>
            </a:xfrm>
            <a:prstGeom prst="rect">
              <a:avLst/>
            </a:prstGeom>
            <a:noFill/>
            <a:ln w="12700" cap="flat" cmpd="sng">
              <a:solidFill>
                <a:srgbClr val="005C8A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AD651DB-28A8-EEDB-D26E-87F033F39625}"/>
                </a:ext>
              </a:extLst>
            </p:cNvPr>
            <p:cNvGrpSpPr/>
            <p:nvPr/>
          </p:nvGrpSpPr>
          <p:grpSpPr>
            <a:xfrm>
              <a:off x="4656335" y="1963886"/>
              <a:ext cx="498734" cy="769269"/>
              <a:chOff x="3391157" y="3797947"/>
              <a:chExt cx="498734" cy="769269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FA132321-E391-B5AE-32AA-018C39879C1E}"/>
                  </a:ext>
                </a:extLst>
              </p:cNvPr>
              <p:cNvCxnSpPr>
                <a:cxnSpLocks/>
                <a:stCxn id="126" idx="2"/>
              </p:cNvCxnSpPr>
              <p:nvPr/>
            </p:nvCxnSpPr>
            <p:spPr bwMode="gray">
              <a:xfrm>
                <a:off x="3528443" y="3986027"/>
                <a:ext cx="0" cy="58118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126" name="Graphic 125">
                <a:extLst>
                  <a:ext uri="{FF2B5EF4-FFF2-40B4-BE49-F238E27FC236}">
                    <a16:creationId xmlns:a16="http://schemas.microsoft.com/office/drawing/2014/main" id="{2C5181F5-0761-F282-CAD5-67ED45D55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127" name="Graphic 126">
                <a:extLst>
                  <a:ext uri="{FF2B5EF4-FFF2-40B4-BE49-F238E27FC236}">
                    <a16:creationId xmlns:a16="http://schemas.microsoft.com/office/drawing/2014/main" id="{8F8029DE-00E5-A2CF-71E1-E337A210AE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34B06540-0574-BD96-F7D8-D08B7BCC68D6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3746" y="3986027"/>
                <a:ext cx="11007" cy="58118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7B8D230F-DB8E-EB4B-8530-0C14281BB755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0F2DDB3-40D1-EB7D-F304-F3F7A3189B8E}"/>
                </a:ext>
              </a:extLst>
            </p:cNvPr>
            <p:cNvSpPr txBox="1"/>
            <p:nvPr/>
          </p:nvSpPr>
          <p:spPr>
            <a:xfrm>
              <a:off x="4378406" y="2743285"/>
              <a:ext cx="989601" cy="503959"/>
            </a:xfrm>
            <a:prstGeom prst="rect">
              <a:avLst/>
            </a:prstGeom>
            <a:noFill/>
            <a:ln w="12700">
              <a:solidFill>
                <a:srgbClr val="99999B"/>
              </a:solidFill>
              <a:prstDash val="solid"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742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CE990-EE8D-34C2-393A-B03F804A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46E99-712A-1920-5FD3-B2F2E5761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72" y="98541"/>
            <a:ext cx="11001004" cy="381000"/>
          </a:xfrm>
        </p:spPr>
        <p:txBody>
          <a:bodyPr/>
          <a:lstStyle/>
          <a:p>
            <a:r>
              <a:rPr lang="en-US" dirty="0">
                <a:latin typeface="Metropolis" pitchFamily="2" charset="77"/>
              </a:rPr>
              <a:t>vSAN Storage + Compute Clusters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r>
              <a:rPr lang="en-US" dirty="0">
                <a:latin typeface="Metropolis" pitchFamily="2" charset="77"/>
              </a:rPr>
              <a:t>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B802A1-2EA9-DFFC-42A8-A51BD48D9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8754" y="1105174"/>
            <a:ext cx="4495800" cy="420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0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B4851F1-A904-7D75-66D4-788CB7781E5E}"/>
              </a:ext>
            </a:extLst>
          </p:cNvPr>
          <p:cNvGrpSpPr/>
          <p:nvPr/>
        </p:nvGrpSpPr>
        <p:grpSpPr>
          <a:xfrm>
            <a:off x="274959" y="410751"/>
            <a:ext cx="11465170" cy="6284191"/>
            <a:chOff x="127000" y="73527"/>
            <a:chExt cx="11842750" cy="6710945"/>
          </a:xfrm>
        </p:grpSpPr>
        <p:sp>
          <p:nvSpPr>
            <p:cNvPr id="176" name="Google Shape;1357;p4">
              <a:extLst>
                <a:ext uri="{FF2B5EF4-FFF2-40B4-BE49-F238E27FC236}">
                  <a16:creationId xmlns:a16="http://schemas.microsoft.com/office/drawing/2014/main" id="{87591687-42D0-56AD-7163-4472DB4B985E}"/>
                </a:ext>
              </a:extLst>
            </p:cNvPr>
            <p:cNvSpPr/>
            <p:nvPr/>
          </p:nvSpPr>
          <p:spPr>
            <a:xfrm>
              <a:off x="127000" y="73527"/>
              <a:ext cx="11842750" cy="6710945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   VCF Instance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177" name="Google Shape;1358;p4">
              <a:extLst>
                <a:ext uri="{FF2B5EF4-FFF2-40B4-BE49-F238E27FC236}">
                  <a16:creationId xmlns:a16="http://schemas.microsoft.com/office/drawing/2014/main" id="{69DA74EB-703C-848B-7278-076A38743739}"/>
                </a:ext>
              </a:extLst>
            </p:cNvPr>
            <p:cNvSpPr/>
            <p:nvPr/>
          </p:nvSpPr>
          <p:spPr>
            <a:xfrm>
              <a:off x="943853" y="1497553"/>
              <a:ext cx="3916322" cy="4898820"/>
            </a:xfrm>
            <a:prstGeom prst="rect">
              <a:avLst/>
            </a:prstGeom>
            <a:solidFill>
              <a:sysClr val="window" lastClr="FFFFFF"/>
            </a:solidFill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 1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D75E90D7-1999-BCC2-8B13-E6A9EA99B4AB}"/>
                </a:ext>
              </a:extLst>
            </p:cNvPr>
            <p:cNvGrpSpPr/>
            <p:nvPr/>
          </p:nvGrpSpPr>
          <p:grpSpPr>
            <a:xfrm>
              <a:off x="1172931" y="1718756"/>
              <a:ext cx="1588068" cy="2103702"/>
              <a:chOff x="594066" y="1771773"/>
              <a:chExt cx="1588068" cy="2103702"/>
            </a:xfrm>
          </p:grpSpPr>
          <p:sp>
            <p:nvSpPr>
              <p:cNvPr id="336" name="Google Shape;1361;p4">
                <a:extLst>
                  <a:ext uri="{FF2B5EF4-FFF2-40B4-BE49-F238E27FC236}">
                    <a16:creationId xmlns:a16="http://schemas.microsoft.com/office/drawing/2014/main" id="{2415E2EA-523F-EC06-D0C9-2AEF3B74F5C4}"/>
                  </a:ext>
                </a:extLst>
              </p:cNvPr>
              <p:cNvSpPr/>
              <p:nvPr/>
            </p:nvSpPr>
            <p:spPr>
              <a:xfrm>
                <a:off x="594066" y="1771773"/>
                <a:ext cx="1588068" cy="210370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Rack</a:t>
                </a: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CD72CE8A-57AC-9F9E-3B0C-B407B2AC5533}"/>
                  </a:ext>
                </a:extLst>
              </p:cNvPr>
              <p:cNvGrpSpPr/>
              <p:nvPr/>
            </p:nvGrpSpPr>
            <p:grpSpPr>
              <a:xfrm>
                <a:off x="941523" y="2785024"/>
                <a:ext cx="842197" cy="975616"/>
                <a:chOff x="1644879" y="2790018"/>
                <a:chExt cx="842197" cy="975616"/>
              </a:xfrm>
            </p:grpSpPr>
            <p:cxnSp>
              <p:nvCxnSpPr>
                <p:cNvPr id="339" name="Straight Connector 338">
                  <a:extLst>
                    <a:ext uri="{FF2B5EF4-FFF2-40B4-BE49-F238E27FC236}">
                      <a16:creationId xmlns:a16="http://schemas.microsoft.com/office/drawing/2014/main" id="{1A6C4958-5216-0069-465A-993236FC2022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644879" y="3404091"/>
                  <a:ext cx="2635" cy="66872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40" name="Straight Connector 339">
                  <a:extLst>
                    <a:ext uri="{FF2B5EF4-FFF2-40B4-BE49-F238E27FC236}">
                      <a16:creationId xmlns:a16="http://schemas.microsoft.com/office/drawing/2014/main" id="{D4504AF3-7703-2A2E-D255-D8DBCB78E99C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2319971" y="3470961"/>
                  <a:ext cx="140959" cy="0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41" name="Straight Connector 340">
                  <a:extLst>
                    <a:ext uri="{FF2B5EF4-FFF2-40B4-BE49-F238E27FC236}">
                      <a16:creationId xmlns:a16="http://schemas.microsoft.com/office/drawing/2014/main" id="{420F63D0-5478-7601-6F3E-1AFEA6E8EF96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2460929" y="3404091"/>
                  <a:ext cx="1" cy="66872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E2036F93-0A27-0476-FFF6-3427F80FAE4B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644879" y="3470963"/>
                  <a:ext cx="118412" cy="0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343" name="TextBox 342">
                  <a:extLst>
                    <a:ext uri="{FF2B5EF4-FFF2-40B4-BE49-F238E27FC236}">
                      <a16:creationId xmlns:a16="http://schemas.microsoft.com/office/drawing/2014/main" id="{ABB88E0A-40F1-78A8-127A-5903AAE22453}"/>
                    </a:ext>
                  </a:extLst>
                </p:cNvPr>
                <p:cNvSpPr txBox="1"/>
                <p:nvPr/>
              </p:nvSpPr>
              <p:spPr>
                <a:xfrm>
                  <a:off x="1644879" y="3519413"/>
                  <a:ext cx="8421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DA3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vSAN Compute Cluster</a:t>
                  </a:r>
                </a:p>
              </p:txBody>
            </p:sp>
            <p:pic>
              <p:nvPicPr>
                <p:cNvPr id="344" name="Graphic 343">
                  <a:extLst>
                    <a:ext uri="{FF2B5EF4-FFF2-40B4-BE49-F238E27FC236}">
                      <a16:creationId xmlns:a16="http://schemas.microsoft.com/office/drawing/2014/main" id="{9B73806F-E23A-191C-2F88-BF40593FD8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3167113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345" name="Graphic 344">
                  <a:extLst>
                    <a:ext uri="{FF2B5EF4-FFF2-40B4-BE49-F238E27FC236}">
                      <a16:creationId xmlns:a16="http://schemas.microsoft.com/office/drawing/2014/main" id="{E820F7F5-B558-9C80-32A2-EF3A0E9966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2970372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346" name="Graphic 345">
                  <a:extLst>
                    <a:ext uri="{FF2B5EF4-FFF2-40B4-BE49-F238E27FC236}">
                      <a16:creationId xmlns:a16="http://schemas.microsoft.com/office/drawing/2014/main" id="{4FD8C54E-C675-4E0C-9880-6093EE4D28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74651" y="2790018"/>
                  <a:ext cx="588075" cy="147053"/>
                </a:xfrm>
                <a:prstGeom prst="rect">
                  <a:avLst/>
                </a:prstGeom>
              </p:spPr>
            </p:pic>
          </p:grpSp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233D1858-4D8A-A488-5762-1343045924ED}"/>
                  </a:ext>
                </a:extLst>
              </p:cNvPr>
              <p:cNvSpPr txBox="1"/>
              <p:nvPr/>
            </p:nvSpPr>
            <p:spPr>
              <a:xfrm>
                <a:off x="1049334" y="2756788"/>
                <a:ext cx="637375" cy="584489"/>
              </a:xfrm>
              <a:prstGeom prst="rect">
                <a:avLst/>
              </a:prstGeom>
              <a:noFill/>
              <a:ln w="12700">
                <a:solidFill>
                  <a:srgbClr val="99999B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sp>
          <p:nvSpPr>
            <p:cNvPr id="179" name="Google Shape;1360;p4">
              <a:extLst>
                <a:ext uri="{FF2B5EF4-FFF2-40B4-BE49-F238E27FC236}">
                  <a16:creationId xmlns:a16="http://schemas.microsoft.com/office/drawing/2014/main" id="{500AD6D7-3F5E-A5AF-DE54-8702ADE74DF4}"/>
                </a:ext>
              </a:extLst>
            </p:cNvPr>
            <p:cNvSpPr/>
            <p:nvPr/>
          </p:nvSpPr>
          <p:spPr>
            <a:xfrm>
              <a:off x="2960498" y="1724307"/>
              <a:ext cx="1588068" cy="2114775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180" name="Google Shape;1361;p4">
              <a:extLst>
                <a:ext uri="{FF2B5EF4-FFF2-40B4-BE49-F238E27FC236}">
                  <a16:creationId xmlns:a16="http://schemas.microsoft.com/office/drawing/2014/main" id="{06A9EEBD-433F-3DCD-1B29-D762F39B3950}"/>
                </a:ext>
              </a:extLst>
            </p:cNvPr>
            <p:cNvSpPr/>
            <p:nvPr/>
          </p:nvSpPr>
          <p:spPr>
            <a:xfrm>
              <a:off x="2931849" y="4075152"/>
              <a:ext cx="1588068" cy="2103702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A6B33C1C-21E0-58A7-FF5F-8BF5BDDDD626}"/>
                </a:ext>
              </a:extLst>
            </p:cNvPr>
            <p:cNvGrpSpPr/>
            <p:nvPr/>
          </p:nvGrpSpPr>
          <p:grpSpPr>
            <a:xfrm>
              <a:off x="5489026" y="639250"/>
              <a:ext cx="1213948" cy="992247"/>
              <a:chOff x="4668276" y="616538"/>
              <a:chExt cx="5149161" cy="3191702"/>
            </a:xfrm>
          </p:grpSpPr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69FE9F60-E0D6-A759-161C-CB385062A333}"/>
                  </a:ext>
                </a:extLst>
              </p:cNvPr>
              <p:cNvCxnSpPr>
                <a:cxnSpLocks/>
                <a:stCxn id="211" idx="0"/>
              </p:cNvCxnSpPr>
              <p:nvPr/>
            </p:nvCxnSpPr>
            <p:spPr bwMode="gray">
              <a:xfrm flipH="1" flipV="1">
                <a:off x="7191121" y="2318623"/>
                <a:ext cx="14638" cy="526828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334" name="Google Shape;1358;p4">
                <a:extLst>
                  <a:ext uri="{FF2B5EF4-FFF2-40B4-BE49-F238E27FC236}">
                    <a16:creationId xmlns:a16="http://schemas.microsoft.com/office/drawing/2014/main" id="{87F20609-9D9F-A69A-21A0-2EA398F2D242}"/>
                  </a:ext>
                </a:extLst>
              </p:cNvPr>
              <p:cNvSpPr/>
              <p:nvPr/>
            </p:nvSpPr>
            <p:spPr>
              <a:xfrm>
                <a:off x="4668276" y="616538"/>
                <a:ext cx="5149161" cy="3191702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Availability Zone 3</a:t>
                </a:r>
                <a:endPara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pic>
            <p:nvPicPr>
              <p:cNvPr id="335" name="Graphic 334">
                <a:extLst>
                  <a:ext uri="{FF2B5EF4-FFF2-40B4-BE49-F238E27FC236}">
                    <a16:creationId xmlns:a16="http://schemas.microsoft.com/office/drawing/2014/main" id="{7B2D23A8-7653-7EC8-57CA-B5BF4EBF21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 bwMode="invGray">
              <a:xfrm>
                <a:off x="6318301" y="1159153"/>
                <a:ext cx="1849107" cy="1306403"/>
              </a:xfrm>
              <a:prstGeom prst="rect">
                <a:avLst/>
              </a:prstGeom>
            </p:spPr>
          </p:pic>
        </p:grpSp>
        <p:sp>
          <p:nvSpPr>
            <p:cNvPr id="182" name="Google Shape;1358;p4">
              <a:extLst>
                <a:ext uri="{FF2B5EF4-FFF2-40B4-BE49-F238E27FC236}">
                  <a16:creationId xmlns:a16="http://schemas.microsoft.com/office/drawing/2014/main" id="{DAB51DA5-898C-5E7E-765C-D1ECB1D0D6EE}"/>
                </a:ext>
              </a:extLst>
            </p:cNvPr>
            <p:cNvSpPr/>
            <p:nvPr/>
          </p:nvSpPr>
          <p:spPr>
            <a:xfrm>
              <a:off x="7160738" y="1501284"/>
              <a:ext cx="3916322" cy="4898820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 2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2466263D-88C1-791E-E5A5-B1D61B8B2D2B}"/>
                </a:ext>
              </a:extLst>
            </p:cNvPr>
            <p:cNvGrpSpPr/>
            <p:nvPr/>
          </p:nvGrpSpPr>
          <p:grpSpPr>
            <a:xfrm>
              <a:off x="9220647" y="1718756"/>
              <a:ext cx="1588068" cy="2103702"/>
              <a:chOff x="568587" y="1760665"/>
              <a:chExt cx="1588068" cy="2103702"/>
            </a:xfrm>
          </p:grpSpPr>
          <p:sp>
            <p:nvSpPr>
              <p:cNvPr id="322" name="Google Shape;1361;p4">
                <a:extLst>
                  <a:ext uri="{FF2B5EF4-FFF2-40B4-BE49-F238E27FC236}">
                    <a16:creationId xmlns:a16="http://schemas.microsoft.com/office/drawing/2014/main" id="{DD2B6F8D-D7EF-F626-BA20-3177E64EDFB9}"/>
                  </a:ext>
                </a:extLst>
              </p:cNvPr>
              <p:cNvSpPr/>
              <p:nvPr/>
            </p:nvSpPr>
            <p:spPr>
              <a:xfrm>
                <a:off x="568587" y="1760665"/>
                <a:ext cx="1588068" cy="210370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Rack</a:t>
                </a: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grpSp>
            <p:nvGrpSpPr>
              <p:cNvPr id="323" name="Group 322">
                <a:extLst>
                  <a:ext uri="{FF2B5EF4-FFF2-40B4-BE49-F238E27FC236}">
                    <a16:creationId xmlns:a16="http://schemas.microsoft.com/office/drawing/2014/main" id="{249EC671-2761-BAF2-539A-4E868D2128E2}"/>
                  </a:ext>
                </a:extLst>
              </p:cNvPr>
              <p:cNvGrpSpPr/>
              <p:nvPr/>
            </p:nvGrpSpPr>
            <p:grpSpPr>
              <a:xfrm>
                <a:off x="941523" y="2785024"/>
                <a:ext cx="842197" cy="975616"/>
                <a:chOff x="1644879" y="2790018"/>
                <a:chExt cx="842197" cy="975616"/>
              </a:xfrm>
            </p:grpSpPr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74B396C6-0EA3-E520-C2EF-1A52952FC376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644879" y="3404091"/>
                  <a:ext cx="2635" cy="66872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C8E42A6F-7DD0-6F36-6634-4D93E6AA4781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2319971" y="3470961"/>
                  <a:ext cx="140959" cy="0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DC612E92-C4A9-A188-E053-38C10189BCA2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2460929" y="3404091"/>
                  <a:ext cx="1" cy="66872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E307C70B-0A0D-D105-4D55-5ADC14B6654A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644879" y="3470963"/>
                  <a:ext cx="118412" cy="0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CBAD6C00-0CA5-3533-AC2D-6DF36158F3CF}"/>
                    </a:ext>
                  </a:extLst>
                </p:cNvPr>
                <p:cNvSpPr txBox="1"/>
                <p:nvPr/>
              </p:nvSpPr>
              <p:spPr>
                <a:xfrm>
                  <a:off x="1644879" y="3519413"/>
                  <a:ext cx="8421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DA3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vSAN Compute Cluster</a:t>
                  </a:r>
                </a:p>
              </p:txBody>
            </p:sp>
            <p:pic>
              <p:nvPicPr>
                <p:cNvPr id="330" name="Graphic 329">
                  <a:extLst>
                    <a:ext uri="{FF2B5EF4-FFF2-40B4-BE49-F238E27FC236}">
                      <a16:creationId xmlns:a16="http://schemas.microsoft.com/office/drawing/2014/main" id="{ACC2EC12-121D-4B27-296F-2EAF583F79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3167113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331" name="Graphic 330">
                  <a:extLst>
                    <a:ext uri="{FF2B5EF4-FFF2-40B4-BE49-F238E27FC236}">
                      <a16:creationId xmlns:a16="http://schemas.microsoft.com/office/drawing/2014/main" id="{15B156D2-E7E7-4FBA-52BE-3DCC9EAB9A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2970372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332" name="Graphic 331">
                  <a:extLst>
                    <a:ext uri="{FF2B5EF4-FFF2-40B4-BE49-F238E27FC236}">
                      <a16:creationId xmlns:a16="http://schemas.microsoft.com/office/drawing/2014/main" id="{995B1434-426C-B1FC-B6CE-EF7E26E02E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74651" y="2790018"/>
                  <a:ext cx="588075" cy="147053"/>
                </a:xfrm>
                <a:prstGeom prst="rect">
                  <a:avLst/>
                </a:prstGeom>
              </p:spPr>
            </p:pic>
          </p:grpSp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08D3A5D0-7B89-1D9D-F42A-559BA06EE03B}"/>
                  </a:ext>
                </a:extLst>
              </p:cNvPr>
              <p:cNvSpPr txBox="1"/>
              <p:nvPr/>
            </p:nvSpPr>
            <p:spPr>
              <a:xfrm>
                <a:off x="1049334" y="2756788"/>
                <a:ext cx="637375" cy="584489"/>
              </a:xfrm>
              <a:prstGeom prst="rect">
                <a:avLst/>
              </a:prstGeom>
              <a:noFill/>
              <a:ln w="12700">
                <a:solidFill>
                  <a:srgbClr val="99999B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sp>
          <p:nvSpPr>
            <p:cNvPr id="184" name="Google Shape;1361;p4">
              <a:extLst>
                <a:ext uri="{FF2B5EF4-FFF2-40B4-BE49-F238E27FC236}">
                  <a16:creationId xmlns:a16="http://schemas.microsoft.com/office/drawing/2014/main" id="{479D6930-CF37-C4A6-00BB-2E162810271D}"/>
                </a:ext>
              </a:extLst>
            </p:cNvPr>
            <p:cNvSpPr/>
            <p:nvPr/>
          </p:nvSpPr>
          <p:spPr>
            <a:xfrm>
              <a:off x="7374239" y="4077713"/>
              <a:ext cx="1588068" cy="2103702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185" name="Google Shape;1357;p4">
              <a:extLst>
                <a:ext uri="{FF2B5EF4-FFF2-40B4-BE49-F238E27FC236}">
                  <a16:creationId xmlns:a16="http://schemas.microsoft.com/office/drawing/2014/main" id="{5BB69510-2C13-2C71-68EA-4F41AC75062F}"/>
                </a:ext>
              </a:extLst>
            </p:cNvPr>
            <p:cNvSpPr/>
            <p:nvPr/>
          </p:nvSpPr>
          <p:spPr>
            <a:xfrm>
              <a:off x="211808" y="298450"/>
              <a:ext cx="11623674" cy="6439377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Workload Domain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186" name="Google Shape;1363;p4">
              <a:extLst>
                <a:ext uri="{FF2B5EF4-FFF2-40B4-BE49-F238E27FC236}">
                  <a16:creationId xmlns:a16="http://schemas.microsoft.com/office/drawing/2014/main" id="{26FC30D7-FE0E-F1CD-9A79-FA0FEF87BDAF}"/>
                </a:ext>
              </a:extLst>
            </p:cNvPr>
            <p:cNvSpPr/>
            <p:nvPr/>
          </p:nvSpPr>
          <p:spPr>
            <a:xfrm>
              <a:off x="3317812" y="4711159"/>
              <a:ext cx="5217588" cy="1349294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5C8A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C164330A-B895-7B95-A0B1-84BEB9744786}"/>
                </a:ext>
              </a:extLst>
            </p:cNvPr>
            <p:cNvGrpSpPr/>
            <p:nvPr/>
          </p:nvGrpSpPr>
          <p:grpSpPr>
            <a:xfrm>
              <a:off x="3352414" y="5701157"/>
              <a:ext cx="5129984" cy="276739"/>
              <a:chOff x="3431578" y="3153187"/>
              <a:chExt cx="6028500" cy="289150"/>
            </a:xfrm>
            <a:noFill/>
          </p:grpSpPr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65051A27-49A1-AD3B-8B2A-D2ED6D3F27DC}"/>
                  </a:ext>
                </a:extLst>
              </p:cNvPr>
              <p:cNvGrpSpPr/>
              <p:nvPr/>
            </p:nvGrpSpPr>
            <p:grpSpPr>
              <a:xfrm>
                <a:off x="3431578" y="3153187"/>
                <a:ext cx="2002400" cy="161506"/>
                <a:chOff x="4926159" y="3780359"/>
                <a:chExt cx="1451245" cy="108831"/>
              </a:xfrm>
              <a:grpFill/>
            </p:grpSpPr>
            <p:cxnSp>
              <p:nvCxnSpPr>
                <p:cNvPr id="320" name="Straight Connector 319">
                  <a:extLst>
                    <a:ext uri="{FF2B5EF4-FFF2-40B4-BE49-F238E27FC236}">
                      <a16:creationId xmlns:a16="http://schemas.microsoft.com/office/drawing/2014/main" id="{D132B8CF-0975-BE9B-AFF4-D7AD0763793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926159" y="3884312"/>
                  <a:ext cx="1451245" cy="4878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21" name="Straight Connector 320">
                  <a:extLst>
                    <a:ext uri="{FF2B5EF4-FFF2-40B4-BE49-F238E27FC236}">
                      <a16:creationId xmlns:a16="http://schemas.microsoft.com/office/drawing/2014/main" id="{50700DCD-B313-F572-0371-AF0600839734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926159" y="3780359"/>
                  <a:ext cx="0" cy="103953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1C504EEB-5E0A-5623-5A9B-C2ECECA61B82}"/>
                  </a:ext>
                </a:extLst>
              </p:cNvPr>
              <p:cNvSpPr txBox="1"/>
              <p:nvPr/>
            </p:nvSpPr>
            <p:spPr>
              <a:xfrm>
                <a:off x="5540461" y="3172582"/>
                <a:ext cx="1775273" cy="269755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DA3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vSAN Stretched Compute Cluster</a:t>
                </a:r>
              </a:p>
            </p:txBody>
          </p:sp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87F5B326-9335-6BE6-5FD2-4B4DF1146D2D}"/>
                  </a:ext>
                </a:extLst>
              </p:cNvPr>
              <p:cNvGrpSpPr/>
              <p:nvPr/>
            </p:nvGrpSpPr>
            <p:grpSpPr>
              <a:xfrm>
                <a:off x="7328791" y="3172062"/>
                <a:ext cx="2131287" cy="142635"/>
                <a:chOff x="5826458" y="4055392"/>
                <a:chExt cx="1432271" cy="141037"/>
              </a:xfrm>
              <a:grpFill/>
            </p:grpSpPr>
            <p:cxnSp>
              <p:nvCxnSpPr>
                <p:cNvPr id="318" name="Straight Connector 317">
                  <a:extLst>
                    <a:ext uri="{FF2B5EF4-FFF2-40B4-BE49-F238E27FC236}">
                      <a16:creationId xmlns:a16="http://schemas.microsoft.com/office/drawing/2014/main" id="{6DACC81D-D0EA-0A72-ED83-54C30701A14C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5826458" y="4196429"/>
                  <a:ext cx="1432271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19" name="Straight Connector 318">
                  <a:extLst>
                    <a:ext uri="{FF2B5EF4-FFF2-40B4-BE49-F238E27FC236}">
                      <a16:creationId xmlns:a16="http://schemas.microsoft.com/office/drawing/2014/main" id="{4CDEA65A-FB05-EC02-7F9E-B46BDD21471B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V="1">
                  <a:off x="7258729" y="4055392"/>
                  <a:ext cx="0" cy="141037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</p:grpSp>
        <p:cxnSp>
          <p:nvCxnSpPr>
            <p:cNvPr id="188" name="Elbow Connector 187">
              <a:extLst>
                <a:ext uri="{FF2B5EF4-FFF2-40B4-BE49-F238E27FC236}">
                  <a16:creationId xmlns:a16="http://schemas.microsoft.com/office/drawing/2014/main" id="{9120D832-B44E-5D5F-7C27-B46383490700}"/>
                </a:ext>
              </a:extLst>
            </p:cNvPr>
            <p:cNvCxnSpPr>
              <a:cxnSpLocks/>
              <a:endCxn id="211" idx="1"/>
            </p:cNvCxnSpPr>
            <p:nvPr/>
          </p:nvCxnSpPr>
          <p:spPr>
            <a:xfrm flipV="1">
              <a:off x="3974040" y="1423878"/>
              <a:ext cx="2014319" cy="636506"/>
            </a:xfrm>
            <a:prstGeom prst="bentConnector3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81CC7D6F-8A81-555E-8463-8825189DE5A2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86" y="2020936"/>
              <a:ext cx="1284503" cy="0"/>
            </a:xfrm>
            <a:prstGeom prst="line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  <p:cxnSp>
          <p:nvCxnSpPr>
            <p:cNvPr id="190" name="Elbow Connector 189">
              <a:extLst>
                <a:ext uri="{FF2B5EF4-FFF2-40B4-BE49-F238E27FC236}">
                  <a16:creationId xmlns:a16="http://schemas.microsoft.com/office/drawing/2014/main" id="{00FEB725-6B30-AF2A-4B08-79D2124786BB}"/>
                </a:ext>
              </a:extLst>
            </p:cNvPr>
            <p:cNvCxnSpPr>
              <a:cxnSpLocks/>
              <a:stCxn id="226" idx="1"/>
              <a:endCxn id="236" idx="1"/>
            </p:cNvCxnSpPr>
            <p:nvPr/>
          </p:nvCxnSpPr>
          <p:spPr>
            <a:xfrm rot="10800000">
              <a:off x="3463289" y="2064375"/>
              <a:ext cx="12700" cy="2357884"/>
            </a:xfrm>
            <a:prstGeom prst="bentConnector3">
              <a:avLst>
                <a:gd name="adj1" fmla="val 3000000"/>
              </a:avLst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8BA2C0EF-8D27-A288-655C-215D8D833023}"/>
                </a:ext>
              </a:extLst>
            </p:cNvPr>
            <p:cNvGrpSpPr/>
            <p:nvPr/>
          </p:nvGrpSpPr>
          <p:grpSpPr>
            <a:xfrm>
              <a:off x="3409078" y="5088403"/>
              <a:ext cx="597115" cy="524148"/>
              <a:chOff x="1774651" y="2790018"/>
              <a:chExt cx="597115" cy="524148"/>
            </a:xfrm>
          </p:grpSpPr>
          <p:pic>
            <p:nvPicPr>
              <p:cNvPr id="312" name="Graphic 311">
                <a:extLst>
                  <a:ext uri="{FF2B5EF4-FFF2-40B4-BE49-F238E27FC236}">
                    <a16:creationId xmlns:a16="http://schemas.microsoft.com/office/drawing/2014/main" id="{8AFB58F3-3916-F560-844A-EF717DE53E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83691" y="3167113"/>
                <a:ext cx="588075" cy="147053"/>
              </a:xfrm>
              <a:prstGeom prst="rect">
                <a:avLst/>
              </a:prstGeom>
            </p:spPr>
          </p:pic>
          <p:pic>
            <p:nvPicPr>
              <p:cNvPr id="313" name="Graphic 312">
                <a:extLst>
                  <a:ext uri="{FF2B5EF4-FFF2-40B4-BE49-F238E27FC236}">
                    <a16:creationId xmlns:a16="http://schemas.microsoft.com/office/drawing/2014/main" id="{7BFDEC26-B950-FEDE-0FDA-A750433056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83691" y="2970372"/>
                <a:ext cx="588075" cy="147053"/>
              </a:xfrm>
              <a:prstGeom prst="rect">
                <a:avLst/>
              </a:prstGeom>
            </p:spPr>
          </p:pic>
          <p:pic>
            <p:nvPicPr>
              <p:cNvPr id="314" name="Graphic 313">
                <a:extLst>
                  <a:ext uri="{FF2B5EF4-FFF2-40B4-BE49-F238E27FC236}">
                    <a16:creationId xmlns:a16="http://schemas.microsoft.com/office/drawing/2014/main" id="{2C206A00-3685-65FA-2971-6D32C89729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74651" y="2790018"/>
                <a:ext cx="588075" cy="147053"/>
              </a:xfrm>
              <a:prstGeom prst="rect">
                <a:avLst/>
              </a:prstGeom>
            </p:spPr>
          </p:pic>
        </p:grp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7FD2CD30-03B5-E9B8-D284-C1738BA3CD0E}"/>
                </a:ext>
              </a:extLst>
            </p:cNvPr>
            <p:cNvSpPr txBox="1"/>
            <p:nvPr/>
          </p:nvSpPr>
          <p:spPr>
            <a:xfrm>
              <a:off x="3352414" y="5062091"/>
              <a:ext cx="694040" cy="584489"/>
            </a:xfrm>
            <a:prstGeom prst="rect">
              <a:avLst/>
            </a:prstGeom>
            <a:noFill/>
            <a:ln w="12700">
              <a:solidFill>
                <a:srgbClr val="99999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5066E5C6-6B7B-AB63-0280-A6B99AFCBEDC}"/>
                </a:ext>
              </a:extLst>
            </p:cNvPr>
            <p:cNvSpPr txBox="1"/>
            <p:nvPr/>
          </p:nvSpPr>
          <p:spPr>
            <a:xfrm>
              <a:off x="7827063" y="5064471"/>
              <a:ext cx="637375" cy="584489"/>
            </a:xfrm>
            <a:prstGeom prst="rect">
              <a:avLst/>
            </a:prstGeom>
            <a:noFill/>
            <a:ln w="12700">
              <a:solidFill>
                <a:srgbClr val="99999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194" name="Google Shape;1360;p4">
              <a:extLst>
                <a:ext uri="{FF2B5EF4-FFF2-40B4-BE49-F238E27FC236}">
                  <a16:creationId xmlns:a16="http://schemas.microsoft.com/office/drawing/2014/main" id="{07DDB4B1-C2AE-D59D-AA74-9A6D4E7F84D3}"/>
                </a:ext>
              </a:extLst>
            </p:cNvPr>
            <p:cNvSpPr/>
            <p:nvPr/>
          </p:nvSpPr>
          <p:spPr>
            <a:xfrm>
              <a:off x="7364019" y="1726868"/>
              <a:ext cx="1588068" cy="2114775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A5466E43-B4A8-56BB-A924-F821BB3024A8}"/>
                </a:ext>
              </a:extLst>
            </p:cNvPr>
            <p:cNvGrpSpPr/>
            <p:nvPr/>
          </p:nvGrpSpPr>
          <p:grpSpPr>
            <a:xfrm>
              <a:off x="7851468" y="5090964"/>
              <a:ext cx="597115" cy="524148"/>
              <a:chOff x="1774651" y="2790018"/>
              <a:chExt cx="597115" cy="524148"/>
            </a:xfrm>
          </p:grpSpPr>
          <p:pic>
            <p:nvPicPr>
              <p:cNvPr id="309" name="Graphic 308">
                <a:extLst>
                  <a:ext uri="{FF2B5EF4-FFF2-40B4-BE49-F238E27FC236}">
                    <a16:creationId xmlns:a16="http://schemas.microsoft.com/office/drawing/2014/main" id="{6A60AE69-80EA-4AC8-24F2-11BAE3A93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83691" y="3167113"/>
                <a:ext cx="588075" cy="147053"/>
              </a:xfrm>
              <a:prstGeom prst="rect">
                <a:avLst/>
              </a:prstGeom>
            </p:spPr>
          </p:pic>
          <p:pic>
            <p:nvPicPr>
              <p:cNvPr id="310" name="Graphic 309">
                <a:extLst>
                  <a:ext uri="{FF2B5EF4-FFF2-40B4-BE49-F238E27FC236}">
                    <a16:creationId xmlns:a16="http://schemas.microsoft.com/office/drawing/2014/main" id="{84A14085-9BCA-9731-61B1-7D6D196691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83691" y="2970372"/>
                <a:ext cx="588075" cy="147053"/>
              </a:xfrm>
              <a:prstGeom prst="rect">
                <a:avLst/>
              </a:prstGeom>
            </p:spPr>
          </p:pic>
          <p:pic>
            <p:nvPicPr>
              <p:cNvPr id="311" name="Graphic 310">
                <a:extLst>
                  <a:ext uri="{FF2B5EF4-FFF2-40B4-BE49-F238E27FC236}">
                    <a16:creationId xmlns:a16="http://schemas.microsoft.com/office/drawing/2014/main" id="{4A9F0A2B-E9AE-F0BE-7D67-9A78D4A632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74651" y="2790018"/>
                <a:ext cx="588075" cy="147053"/>
              </a:xfrm>
              <a:prstGeom prst="rect">
                <a:avLst/>
              </a:prstGeom>
            </p:spPr>
          </p:pic>
        </p:grpSp>
        <p:cxnSp>
          <p:nvCxnSpPr>
            <p:cNvPr id="196" name="Elbow Connector 195">
              <a:extLst>
                <a:ext uri="{FF2B5EF4-FFF2-40B4-BE49-F238E27FC236}">
                  <a16:creationId xmlns:a16="http://schemas.microsoft.com/office/drawing/2014/main" id="{4FA077E6-FD9F-2CC1-B19D-D45939B4453E}"/>
                </a:ext>
              </a:extLst>
            </p:cNvPr>
            <p:cNvCxnSpPr>
              <a:cxnSpLocks/>
              <a:stCxn id="231" idx="1"/>
              <a:endCxn id="211" idx="3"/>
            </p:cNvCxnSpPr>
            <p:nvPr/>
          </p:nvCxnSpPr>
          <p:spPr>
            <a:xfrm rot="10800000">
              <a:off x="6186148" y="1423878"/>
              <a:ext cx="1700820" cy="648014"/>
            </a:xfrm>
            <a:prstGeom prst="bentConnector3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B4B2786C-B9F1-9E51-B4CC-1166F034CF57}"/>
                </a:ext>
              </a:extLst>
            </p:cNvPr>
            <p:cNvCxnSpPr>
              <a:cxnSpLocks/>
            </p:cNvCxnSpPr>
            <p:nvPr/>
          </p:nvCxnSpPr>
          <p:spPr>
            <a:xfrm>
              <a:off x="8384532" y="2020936"/>
              <a:ext cx="1364373" cy="0"/>
            </a:xfrm>
            <a:prstGeom prst="line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E11228BC-A88C-2325-B5A4-110F02C23529}"/>
                </a:ext>
              </a:extLst>
            </p:cNvPr>
            <p:cNvCxnSpPr>
              <a:cxnSpLocks/>
              <a:stCxn id="221" idx="3"/>
              <a:endCxn id="231" idx="3"/>
            </p:cNvCxnSpPr>
            <p:nvPr/>
          </p:nvCxnSpPr>
          <p:spPr>
            <a:xfrm flipH="1" flipV="1">
              <a:off x="8385702" y="2071892"/>
              <a:ext cx="25204" cy="2356792"/>
            </a:xfrm>
            <a:prstGeom prst="bentConnector3">
              <a:avLst>
                <a:gd name="adj1" fmla="val -1536859"/>
              </a:avLst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  <p:sp>
          <p:nvSpPr>
            <p:cNvPr id="199" name="Google Shape;1363;p4">
              <a:extLst>
                <a:ext uri="{FF2B5EF4-FFF2-40B4-BE49-F238E27FC236}">
                  <a16:creationId xmlns:a16="http://schemas.microsoft.com/office/drawing/2014/main" id="{DE7ADBD5-FE13-0D3D-4A2A-648449F28572}"/>
                </a:ext>
              </a:extLst>
            </p:cNvPr>
            <p:cNvSpPr/>
            <p:nvPr/>
          </p:nvSpPr>
          <p:spPr>
            <a:xfrm>
              <a:off x="3264080" y="2365870"/>
              <a:ext cx="5372452" cy="1349294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5C8A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38E01CA3-A1A4-71F5-A021-EA607732EE08}"/>
                </a:ext>
              </a:extLst>
            </p:cNvPr>
            <p:cNvGrpSpPr/>
            <p:nvPr/>
          </p:nvGrpSpPr>
          <p:grpSpPr>
            <a:xfrm>
              <a:off x="3380458" y="2732007"/>
              <a:ext cx="771877" cy="668851"/>
              <a:chOff x="1452313" y="2145349"/>
              <a:chExt cx="771877" cy="668851"/>
            </a:xfrm>
          </p:grpSpPr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463376B7-2945-1DCE-6338-C6E6A7EAEDB1}"/>
                  </a:ext>
                </a:extLst>
              </p:cNvPr>
              <p:cNvGrpSpPr/>
              <p:nvPr/>
            </p:nvGrpSpPr>
            <p:grpSpPr>
              <a:xfrm>
                <a:off x="1468761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305" name="Freeform 304">
                  <a:extLst>
                    <a:ext uri="{FF2B5EF4-FFF2-40B4-BE49-F238E27FC236}">
                      <a16:creationId xmlns:a16="http://schemas.microsoft.com/office/drawing/2014/main" id="{2374D8C2-BFE9-1EEF-8647-81FCE8C9EBF8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6" name="Freeform 305">
                  <a:extLst>
                    <a:ext uri="{FF2B5EF4-FFF2-40B4-BE49-F238E27FC236}">
                      <a16:creationId xmlns:a16="http://schemas.microsoft.com/office/drawing/2014/main" id="{129B35DF-C894-3F5C-8503-EBB16EBBFC83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7" name="Freeform 306">
                  <a:extLst>
                    <a:ext uri="{FF2B5EF4-FFF2-40B4-BE49-F238E27FC236}">
                      <a16:creationId xmlns:a16="http://schemas.microsoft.com/office/drawing/2014/main" id="{9360D978-03F7-1DD5-8BDF-623F6A3061CC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8" name="Freeform 307">
                  <a:extLst>
                    <a:ext uri="{FF2B5EF4-FFF2-40B4-BE49-F238E27FC236}">
                      <a16:creationId xmlns:a16="http://schemas.microsoft.com/office/drawing/2014/main" id="{66811FBF-A5A5-189E-E324-C24336BC9BFA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0" name="Group 279">
                <a:extLst>
                  <a:ext uri="{FF2B5EF4-FFF2-40B4-BE49-F238E27FC236}">
                    <a16:creationId xmlns:a16="http://schemas.microsoft.com/office/drawing/2014/main" id="{3C55E690-6547-7587-E5E8-9691835E3074}"/>
                  </a:ext>
                </a:extLst>
              </p:cNvPr>
              <p:cNvGrpSpPr/>
              <p:nvPr/>
            </p:nvGrpSpPr>
            <p:grpSpPr>
              <a:xfrm>
                <a:off x="1652299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301" name="Freeform 300">
                  <a:extLst>
                    <a:ext uri="{FF2B5EF4-FFF2-40B4-BE49-F238E27FC236}">
                      <a16:creationId xmlns:a16="http://schemas.microsoft.com/office/drawing/2014/main" id="{0A3E6E95-CC21-62E3-62CF-3BEFED382CF6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2" name="Freeform 301">
                  <a:extLst>
                    <a:ext uri="{FF2B5EF4-FFF2-40B4-BE49-F238E27FC236}">
                      <a16:creationId xmlns:a16="http://schemas.microsoft.com/office/drawing/2014/main" id="{1436DC37-AC1F-2CA9-C9D4-33583A9ED083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3" name="Freeform 302">
                  <a:extLst>
                    <a:ext uri="{FF2B5EF4-FFF2-40B4-BE49-F238E27FC236}">
                      <a16:creationId xmlns:a16="http://schemas.microsoft.com/office/drawing/2014/main" id="{8B0EAB35-16EE-7B8C-5B1C-7750CC203D16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4" name="Freeform 303">
                  <a:extLst>
                    <a:ext uri="{FF2B5EF4-FFF2-40B4-BE49-F238E27FC236}">
                      <a16:creationId xmlns:a16="http://schemas.microsoft.com/office/drawing/2014/main" id="{362035A7-D1A2-F44B-8552-988F4AA60FD1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1" name="Group 280">
                <a:extLst>
                  <a:ext uri="{FF2B5EF4-FFF2-40B4-BE49-F238E27FC236}">
                    <a16:creationId xmlns:a16="http://schemas.microsoft.com/office/drawing/2014/main" id="{63FE3BCF-AEAD-4F1C-9BF2-68E3DD251020}"/>
                  </a:ext>
                </a:extLst>
              </p:cNvPr>
              <p:cNvGrpSpPr/>
              <p:nvPr/>
            </p:nvGrpSpPr>
            <p:grpSpPr>
              <a:xfrm>
                <a:off x="1838252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97" name="Freeform 296">
                  <a:extLst>
                    <a:ext uri="{FF2B5EF4-FFF2-40B4-BE49-F238E27FC236}">
                      <a16:creationId xmlns:a16="http://schemas.microsoft.com/office/drawing/2014/main" id="{E2D47629-DEB6-A8E3-19D1-D821237E8280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98" name="Freeform 297">
                  <a:extLst>
                    <a:ext uri="{FF2B5EF4-FFF2-40B4-BE49-F238E27FC236}">
                      <a16:creationId xmlns:a16="http://schemas.microsoft.com/office/drawing/2014/main" id="{75501898-557F-83F6-7F18-1A5FBC4BD05E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id="{88040190-1567-AE2B-0BFD-24AE4687F4F9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0" name="Freeform 299">
                  <a:extLst>
                    <a:ext uri="{FF2B5EF4-FFF2-40B4-BE49-F238E27FC236}">
                      <a16:creationId xmlns:a16="http://schemas.microsoft.com/office/drawing/2014/main" id="{18212B00-AE6F-27CE-56A5-7BC3B8C64A86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2" name="Group 281">
                <a:extLst>
                  <a:ext uri="{FF2B5EF4-FFF2-40B4-BE49-F238E27FC236}">
                    <a16:creationId xmlns:a16="http://schemas.microsoft.com/office/drawing/2014/main" id="{B4E560A8-06AF-9DF8-75E8-1A6A91C3AC50}"/>
                  </a:ext>
                </a:extLst>
              </p:cNvPr>
              <p:cNvGrpSpPr/>
              <p:nvPr/>
            </p:nvGrpSpPr>
            <p:grpSpPr>
              <a:xfrm>
                <a:off x="2028645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93" name="Freeform 292">
                  <a:extLst>
                    <a:ext uri="{FF2B5EF4-FFF2-40B4-BE49-F238E27FC236}">
                      <a16:creationId xmlns:a16="http://schemas.microsoft.com/office/drawing/2014/main" id="{3D609955-BEFA-8DAD-CF9E-288AEC1A8DDD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94" name="Freeform 293">
                  <a:extLst>
                    <a:ext uri="{FF2B5EF4-FFF2-40B4-BE49-F238E27FC236}">
                      <a16:creationId xmlns:a16="http://schemas.microsoft.com/office/drawing/2014/main" id="{E9DC53E3-8268-71EC-8A41-954497F9842C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95" name="Freeform 294">
                  <a:extLst>
                    <a:ext uri="{FF2B5EF4-FFF2-40B4-BE49-F238E27FC236}">
                      <a16:creationId xmlns:a16="http://schemas.microsoft.com/office/drawing/2014/main" id="{51664D3D-AF4E-5313-CEC4-80D82FDA2091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96" name="Freeform 295">
                  <a:extLst>
                    <a:ext uri="{FF2B5EF4-FFF2-40B4-BE49-F238E27FC236}">
                      <a16:creationId xmlns:a16="http://schemas.microsoft.com/office/drawing/2014/main" id="{15C4AB10-818A-D1B5-8F34-3E4CCF0C361C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67A2AEFA-41B0-8DE8-F242-AE8365A4DA68}"/>
                  </a:ext>
                </a:extLst>
              </p:cNvPr>
              <p:cNvGrpSpPr/>
              <p:nvPr/>
            </p:nvGrpSpPr>
            <p:grpSpPr>
              <a:xfrm>
                <a:off x="1452313" y="2145349"/>
                <a:ext cx="771877" cy="417949"/>
                <a:chOff x="4987028" y="3247456"/>
                <a:chExt cx="900000" cy="473040"/>
              </a:xfrm>
              <a:solidFill>
                <a:srgbClr val="0098C7"/>
              </a:solidFill>
            </p:grpSpPr>
            <p:grpSp>
              <p:nvGrpSpPr>
                <p:cNvPr id="284" name="Group 283">
                  <a:extLst>
                    <a:ext uri="{FF2B5EF4-FFF2-40B4-BE49-F238E27FC236}">
                      <a16:creationId xmlns:a16="http://schemas.microsoft.com/office/drawing/2014/main" id="{346ADD6B-C3FF-D95B-798B-731A02A57ABD}"/>
                    </a:ext>
                  </a:extLst>
                </p:cNvPr>
                <p:cNvGrpSpPr/>
                <p:nvPr/>
              </p:nvGrpSpPr>
              <p:grpSpPr>
                <a:xfrm>
                  <a:off x="4987028" y="3592079"/>
                  <a:ext cx="900000" cy="128417"/>
                  <a:chOff x="5030904" y="4970294"/>
                  <a:chExt cx="1917765" cy="244827"/>
                </a:xfrm>
                <a:grpFill/>
              </p:grpSpPr>
              <p:pic>
                <p:nvPicPr>
                  <p:cNvPr id="291" name="Graphic 290">
                    <a:extLst>
                      <a:ext uri="{FF2B5EF4-FFF2-40B4-BE49-F238E27FC236}">
                        <a16:creationId xmlns:a16="http://schemas.microsoft.com/office/drawing/2014/main" id="{F950D8A0-5DC2-8A75-0BB5-2C52257B08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970294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292" name="Graphic 291">
                    <a:extLst>
                      <a:ext uri="{FF2B5EF4-FFF2-40B4-BE49-F238E27FC236}">
                        <a16:creationId xmlns:a16="http://schemas.microsoft.com/office/drawing/2014/main" id="{D3FAB906-C7F2-F4BB-B5C8-AA4A373125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970294"/>
                    <a:ext cx="919964" cy="24482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85" name="Group 284">
                  <a:extLst>
                    <a:ext uri="{FF2B5EF4-FFF2-40B4-BE49-F238E27FC236}">
                      <a16:creationId xmlns:a16="http://schemas.microsoft.com/office/drawing/2014/main" id="{5542372B-646D-5AD6-4FE1-799A05F6CE0B}"/>
                    </a:ext>
                  </a:extLst>
                </p:cNvPr>
                <p:cNvGrpSpPr/>
                <p:nvPr/>
              </p:nvGrpSpPr>
              <p:grpSpPr>
                <a:xfrm>
                  <a:off x="4987028" y="3419263"/>
                  <a:ext cx="900000" cy="128417"/>
                  <a:chOff x="5030904" y="4640821"/>
                  <a:chExt cx="1917765" cy="244827"/>
                </a:xfrm>
                <a:grpFill/>
              </p:grpSpPr>
              <p:pic>
                <p:nvPicPr>
                  <p:cNvPr id="289" name="Graphic 288">
                    <a:extLst>
                      <a:ext uri="{FF2B5EF4-FFF2-40B4-BE49-F238E27FC236}">
                        <a16:creationId xmlns:a16="http://schemas.microsoft.com/office/drawing/2014/main" id="{2F685EAC-FB9A-DF37-41A6-9B6F1A60EF8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290" name="Graphic 289">
                    <a:extLst>
                      <a:ext uri="{FF2B5EF4-FFF2-40B4-BE49-F238E27FC236}">
                        <a16:creationId xmlns:a16="http://schemas.microsoft.com/office/drawing/2014/main" id="{DD7551E7-51AA-DAB3-00DA-0C35F03813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86" name="Group 285">
                  <a:extLst>
                    <a:ext uri="{FF2B5EF4-FFF2-40B4-BE49-F238E27FC236}">
                      <a16:creationId xmlns:a16="http://schemas.microsoft.com/office/drawing/2014/main" id="{8F1DC74C-8158-A348-7E1C-2529A4CE3598}"/>
                    </a:ext>
                  </a:extLst>
                </p:cNvPr>
                <p:cNvGrpSpPr/>
                <p:nvPr/>
              </p:nvGrpSpPr>
              <p:grpSpPr>
                <a:xfrm>
                  <a:off x="4987028" y="3247456"/>
                  <a:ext cx="900000" cy="128417"/>
                  <a:chOff x="5030904" y="4640821"/>
                  <a:chExt cx="1917765" cy="244827"/>
                </a:xfrm>
                <a:grpFill/>
              </p:grpSpPr>
              <p:pic>
                <p:nvPicPr>
                  <p:cNvPr id="287" name="Graphic 286">
                    <a:extLst>
                      <a:ext uri="{FF2B5EF4-FFF2-40B4-BE49-F238E27FC236}">
                        <a16:creationId xmlns:a16="http://schemas.microsoft.com/office/drawing/2014/main" id="{6E9CB21B-9314-585F-6BF5-4CF479839D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288" name="Graphic 287">
                    <a:extLst>
                      <a:ext uri="{FF2B5EF4-FFF2-40B4-BE49-F238E27FC236}">
                        <a16:creationId xmlns:a16="http://schemas.microsoft.com/office/drawing/2014/main" id="{BFCA5113-483F-421D-8FE2-1352E6726C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074398E2-9D36-B14D-1AD8-58675C167023}"/>
                </a:ext>
              </a:extLst>
            </p:cNvPr>
            <p:cNvGrpSpPr/>
            <p:nvPr/>
          </p:nvGrpSpPr>
          <p:grpSpPr>
            <a:xfrm>
              <a:off x="7783979" y="2734568"/>
              <a:ext cx="771877" cy="668851"/>
              <a:chOff x="1452313" y="2145349"/>
              <a:chExt cx="771877" cy="668851"/>
            </a:xfrm>
          </p:grpSpPr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462CFE40-2FDA-D678-F55A-76C6E6183784}"/>
                  </a:ext>
                </a:extLst>
              </p:cNvPr>
              <p:cNvGrpSpPr/>
              <p:nvPr/>
            </p:nvGrpSpPr>
            <p:grpSpPr>
              <a:xfrm>
                <a:off x="1468761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75" name="Freeform 274">
                  <a:extLst>
                    <a:ext uri="{FF2B5EF4-FFF2-40B4-BE49-F238E27FC236}">
                      <a16:creationId xmlns:a16="http://schemas.microsoft.com/office/drawing/2014/main" id="{EC1F5BFD-E258-651C-F61A-42934126B433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Freeform 275">
                  <a:extLst>
                    <a:ext uri="{FF2B5EF4-FFF2-40B4-BE49-F238E27FC236}">
                      <a16:creationId xmlns:a16="http://schemas.microsoft.com/office/drawing/2014/main" id="{D95B3A1A-BB66-9EB5-FE3B-98CBEC796E10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id="{3499DDF6-D90F-BEF2-6AAA-8C1FEC7CFA11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Freeform 277">
                  <a:extLst>
                    <a:ext uri="{FF2B5EF4-FFF2-40B4-BE49-F238E27FC236}">
                      <a16:creationId xmlns:a16="http://schemas.microsoft.com/office/drawing/2014/main" id="{C3991298-8442-F30B-7D2F-7EFD72722923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id="{08C69FCE-5DF3-CA77-20B6-6D801EEAD767}"/>
                  </a:ext>
                </a:extLst>
              </p:cNvPr>
              <p:cNvGrpSpPr/>
              <p:nvPr/>
            </p:nvGrpSpPr>
            <p:grpSpPr>
              <a:xfrm>
                <a:off x="1652299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71" name="Freeform 270">
                  <a:extLst>
                    <a:ext uri="{FF2B5EF4-FFF2-40B4-BE49-F238E27FC236}">
                      <a16:creationId xmlns:a16="http://schemas.microsoft.com/office/drawing/2014/main" id="{7B1B55E9-E600-0151-A00D-81ED463B8795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Freeform 271">
                  <a:extLst>
                    <a:ext uri="{FF2B5EF4-FFF2-40B4-BE49-F238E27FC236}">
                      <a16:creationId xmlns:a16="http://schemas.microsoft.com/office/drawing/2014/main" id="{FB384EC2-A94F-C9D7-E107-F8A2D5DAA08E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Freeform 272">
                  <a:extLst>
                    <a:ext uri="{FF2B5EF4-FFF2-40B4-BE49-F238E27FC236}">
                      <a16:creationId xmlns:a16="http://schemas.microsoft.com/office/drawing/2014/main" id="{D8BBD4B6-CA1D-3A5D-A330-41FE6D01F78F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Freeform 273">
                  <a:extLst>
                    <a:ext uri="{FF2B5EF4-FFF2-40B4-BE49-F238E27FC236}">
                      <a16:creationId xmlns:a16="http://schemas.microsoft.com/office/drawing/2014/main" id="{365D1A2C-3568-82B4-3490-52CB98DD16AD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27B882ED-57E8-7D41-A98F-FB8682C8F67B}"/>
                  </a:ext>
                </a:extLst>
              </p:cNvPr>
              <p:cNvGrpSpPr/>
              <p:nvPr/>
            </p:nvGrpSpPr>
            <p:grpSpPr>
              <a:xfrm>
                <a:off x="1838252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67" name="Freeform 266">
                  <a:extLst>
                    <a:ext uri="{FF2B5EF4-FFF2-40B4-BE49-F238E27FC236}">
                      <a16:creationId xmlns:a16="http://schemas.microsoft.com/office/drawing/2014/main" id="{38735501-EF6A-CBB4-AA90-039E95B007DC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Freeform 267">
                  <a:extLst>
                    <a:ext uri="{FF2B5EF4-FFF2-40B4-BE49-F238E27FC236}">
                      <a16:creationId xmlns:a16="http://schemas.microsoft.com/office/drawing/2014/main" id="{7C57C584-0762-B40D-F12F-64101D97A94C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Freeform 268">
                  <a:extLst>
                    <a:ext uri="{FF2B5EF4-FFF2-40B4-BE49-F238E27FC236}">
                      <a16:creationId xmlns:a16="http://schemas.microsoft.com/office/drawing/2014/main" id="{0511A754-1965-661A-220E-C2080906072F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Freeform 269">
                  <a:extLst>
                    <a:ext uri="{FF2B5EF4-FFF2-40B4-BE49-F238E27FC236}">
                      <a16:creationId xmlns:a16="http://schemas.microsoft.com/office/drawing/2014/main" id="{95FA0578-01A2-B392-D7CB-3C68F5479753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2" name="Group 251">
                <a:extLst>
                  <a:ext uri="{FF2B5EF4-FFF2-40B4-BE49-F238E27FC236}">
                    <a16:creationId xmlns:a16="http://schemas.microsoft.com/office/drawing/2014/main" id="{F7674087-FC8B-6910-7679-74FBC4E983EF}"/>
                  </a:ext>
                </a:extLst>
              </p:cNvPr>
              <p:cNvGrpSpPr/>
              <p:nvPr/>
            </p:nvGrpSpPr>
            <p:grpSpPr>
              <a:xfrm>
                <a:off x="2028645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63" name="Freeform 262">
                  <a:extLst>
                    <a:ext uri="{FF2B5EF4-FFF2-40B4-BE49-F238E27FC236}">
                      <a16:creationId xmlns:a16="http://schemas.microsoft.com/office/drawing/2014/main" id="{D35089C3-3D4C-60D0-B44C-C9DC498FF125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Freeform 263">
                  <a:extLst>
                    <a:ext uri="{FF2B5EF4-FFF2-40B4-BE49-F238E27FC236}">
                      <a16:creationId xmlns:a16="http://schemas.microsoft.com/office/drawing/2014/main" id="{74E9A261-4D4D-AB6E-DEED-93A187A9CAEA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Freeform 264">
                  <a:extLst>
                    <a:ext uri="{FF2B5EF4-FFF2-40B4-BE49-F238E27FC236}">
                      <a16:creationId xmlns:a16="http://schemas.microsoft.com/office/drawing/2014/main" id="{9CF8F501-6603-332E-FF25-A957467CB6F1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Freeform 265">
                  <a:extLst>
                    <a:ext uri="{FF2B5EF4-FFF2-40B4-BE49-F238E27FC236}">
                      <a16:creationId xmlns:a16="http://schemas.microsoft.com/office/drawing/2014/main" id="{28D99576-555D-3260-1ADF-28051F1464E8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3" name="Group 252">
                <a:extLst>
                  <a:ext uri="{FF2B5EF4-FFF2-40B4-BE49-F238E27FC236}">
                    <a16:creationId xmlns:a16="http://schemas.microsoft.com/office/drawing/2014/main" id="{D49424CF-7B08-05A6-0FF6-2FA40CA53AF8}"/>
                  </a:ext>
                </a:extLst>
              </p:cNvPr>
              <p:cNvGrpSpPr/>
              <p:nvPr/>
            </p:nvGrpSpPr>
            <p:grpSpPr>
              <a:xfrm>
                <a:off x="1452313" y="2145349"/>
                <a:ext cx="771877" cy="417949"/>
                <a:chOff x="4987028" y="3247456"/>
                <a:chExt cx="900000" cy="473040"/>
              </a:xfrm>
              <a:solidFill>
                <a:srgbClr val="0098C7"/>
              </a:solidFill>
            </p:grpSpPr>
            <p:grpSp>
              <p:nvGrpSpPr>
                <p:cNvPr id="254" name="Group 253">
                  <a:extLst>
                    <a:ext uri="{FF2B5EF4-FFF2-40B4-BE49-F238E27FC236}">
                      <a16:creationId xmlns:a16="http://schemas.microsoft.com/office/drawing/2014/main" id="{60A62136-93D0-8D7D-32E1-EF4F8251D132}"/>
                    </a:ext>
                  </a:extLst>
                </p:cNvPr>
                <p:cNvGrpSpPr/>
                <p:nvPr/>
              </p:nvGrpSpPr>
              <p:grpSpPr>
                <a:xfrm>
                  <a:off x="4987028" y="3592079"/>
                  <a:ext cx="900000" cy="128417"/>
                  <a:chOff x="5030904" y="4970294"/>
                  <a:chExt cx="1917765" cy="244827"/>
                </a:xfrm>
                <a:grpFill/>
              </p:grpSpPr>
              <p:pic>
                <p:nvPicPr>
                  <p:cNvPr id="261" name="Graphic 260">
                    <a:extLst>
                      <a:ext uri="{FF2B5EF4-FFF2-40B4-BE49-F238E27FC236}">
                        <a16:creationId xmlns:a16="http://schemas.microsoft.com/office/drawing/2014/main" id="{D6F7AFB6-49D2-9C4D-4F08-8A70065957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970294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262" name="Graphic 261">
                    <a:extLst>
                      <a:ext uri="{FF2B5EF4-FFF2-40B4-BE49-F238E27FC236}">
                        <a16:creationId xmlns:a16="http://schemas.microsoft.com/office/drawing/2014/main" id="{6EFB45C2-2757-5DD8-8F3F-20CAB4DD08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970294"/>
                    <a:ext cx="919964" cy="24482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5" name="Group 254">
                  <a:extLst>
                    <a:ext uri="{FF2B5EF4-FFF2-40B4-BE49-F238E27FC236}">
                      <a16:creationId xmlns:a16="http://schemas.microsoft.com/office/drawing/2014/main" id="{706E60CE-920C-EF40-B0DC-ECF0C13F6C61}"/>
                    </a:ext>
                  </a:extLst>
                </p:cNvPr>
                <p:cNvGrpSpPr/>
                <p:nvPr/>
              </p:nvGrpSpPr>
              <p:grpSpPr>
                <a:xfrm>
                  <a:off x="4987028" y="3419263"/>
                  <a:ext cx="900000" cy="128417"/>
                  <a:chOff x="5030904" y="4640821"/>
                  <a:chExt cx="1917765" cy="244827"/>
                </a:xfrm>
                <a:grpFill/>
              </p:grpSpPr>
              <p:pic>
                <p:nvPicPr>
                  <p:cNvPr id="259" name="Graphic 258">
                    <a:extLst>
                      <a:ext uri="{FF2B5EF4-FFF2-40B4-BE49-F238E27FC236}">
                        <a16:creationId xmlns:a16="http://schemas.microsoft.com/office/drawing/2014/main" id="{E6AC1FB5-99EC-555B-E584-A8BAFE046C8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260" name="Graphic 259">
                    <a:extLst>
                      <a:ext uri="{FF2B5EF4-FFF2-40B4-BE49-F238E27FC236}">
                        <a16:creationId xmlns:a16="http://schemas.microsoft.com/office/drawing/2014/main" id="{A29994FB-09D0-7868-A030-7FA893C90A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6" name="Group 255">
                  <a:extLst>
                    <a:ext uri="{FF2B5EF4-FFF2-40B4-BE49-F238E27FC236}">
                      <a16:creationId xmlns:a16="http://schemas.microsoft.com/office/drawing/2014/main" id="{C2F44540-E47E-557F-2314-4B547CEB4480}"/>
                    </a:ext>
                  </a:extLst>
                </p:cNvPr>
                <p:cNvGrpSpPr/>
                <p:nvPr/>
              </p:nvGrpSpPr>
              <p:grpSpPr>
                <a:xfrm>
                  <a:off x="4987028" y="3247456"/>
                  <a:ext cx="900000" cy="128417"/>
                  <a:chOff x="5030904" y="4640821"/>
                  <a:chExt cx="1917765" cy="244827"/>
                </a:xfrm>
                <a:grpFill/>
              </p:grpSpPr>
              <p:pic>
                <p:nvPicPr>
                  <p:cNvPr id="257" name="Graphic 256">
                    <a:extLst>
                      <a:ext uri="{FF2B5EF4-FFF2-40B4-BE49-F238E27FC236}">
                        <a16:creationId xmlns:a16="http://schemas.microsoft.com/office/drawing/2014/main" id="{5C18459E-F590-52FD-8B1E-9F5EDF2D05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258" name="Graphic 257">
                    <a:extLst>
                      <a:ext uri="{FF2B5EF4-FFF2-40B4-BE49-F238E27FC236}">
                        <a16:creationId xmlns:a16="http://schemas.microsoft.com/office/drawing/2014/main" id="{27AE212F-DD67-4F87-C4CC-5494CB18BB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A0A35896-41D2-15AB-E2D3-531DF3224048}"/>
                </a:ext>
              </a:extLst>
            </p:cNvPr>
            <p:cNvSpPr txBox="1"/>
            <p:nvPr/>
          </p:nvSpPr>
          <p:spPr>
            <a:xfrm>
              <a:off x="3352413" y="2698310"/>
              <a:ext cx="824678" cy="487173"/>
            </a:xfrm>
            <a:prstGeom prst="rect">
              <a:avLst/>
            </a:prstGeom>
            <a:noFill/>
            <a:ln w="12700">
              <a:solidFill>
                <a:srgbClr val="99999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B69AA1ED-6C96-206F-05E1-4FF65FBBE559}"/>
                </a:ext>
              </a:extLst>
            </p:cNvPr>
            <p:cNvSpPr txBox="1"/>
            <p:nvPr/>
          </p:nvSpPr>
          <p:spPr>
            <a:xfrm>
              <a:off x="7743257" y="2693354"/>
              <a:ext cx="824678" cy="487173"/>
            </a:xfrm>
            <a:prstGeom prst="rect">
              <a:avLst/>
            </a:prstGeom>
            <a:noFill/>
            <a:ln w="12700">
              <a:solidFill>
                <a:srgbClr val="99999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67DBE27D-00F3-CEF5-77E6-297E5CB5CF73}"/>
                </a:ext>
              </a:extLst>
            </p:cNvPr>
            <p:cNvGrpSpPr/>
            <p:nvPr/>
          </p:nvGrpSpPr>
          <p:grpSpPr>
            <a:xfrm>
              <a:off x="3319367" y="3314467"/>
              <a:ext cx="5261877" cy="258674"/>
              <a:chOff x="3276585" y="3172062"/>
              <a:chExt cx="6183493" cy="270275"/>
            </a:xfrm>
            <a:solidFill>
              <a:sysClr val="window" lastClr="FFFFFF"/>
            </a:solidFill>
          </p:grpSpPr>
          <p:grpSp>
            <p:nvGrpSpPr>
              <p:cNvPr id="242" name="Group 241">
                <a:extLst>
                  <a:ext uri="{FF2B5EF4-FFF2-40B4-BE49-F238E27FC236}">
                    <a16:creationId xmlns:a16="http://schemas.microsoft.com/office/drawing/2014/main" id="{0DFE1DC2-74CF-A485-370B-AE0D78C96D41}"/>
                  </a:ext>
                </a:extLst>
              </p:cNvPr>
              <p:cNvGrpSpPr/>
              <p:nvPr/>
            </p:nvGrpSpPr>
            <p:grpSpPr>
              <a:xfrm>
                <a:off x="3276585" y="3172062"/>
                <a:ext cx="2157390" cy="142637"/>
                <a:chOff x="4813829" y="3793074"/>
                <a:chExt cx="1563575" cy="96116"/>
              </a:xfrm>
              <a:grpFill/>
            </p:grpSpPr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F830EF00-3F3B-869D-A992-BAA9C1161300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813829" y="3889190"/>
                  <a:ext cx="1563575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D392125D-14A3-B85F-B4A4-B2E5F784AF95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821013" y="3793074"/>
                  <a:ext cx="1680" cy="96116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1492F95C-3DBD-28AA-ABA1-8BCF5FEF5038}"/>
                  </a:ext>
                </a:extLst>
              </p:cNvPr>
              <p:cNvSpPr txBox="1"/>
              <p:nvPr/>
            </p:nvSpPr>
            <p:spPr>
              <a:xfrm>
                <a:off x="5540461" y="3172582"/>
                <a:ext cx="1775273" cy="269755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8A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vSAN Stretched Storage Cluster</a:t>
                </a:r>
              </a:p>
            </p:txBody>
          </p:sp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0B7358AB-4767-A01C-3288-CD54B4BBB0F2}"/>
                  </a:ext>
                </a:extLst>
              </p:cNvPr>
              <p:cNvGrpSpPr/>
              <p:nvPr/>
            </p:nvGrpSpPr>
            <p:grpSpPr>
              <a:xfrm>
                <a:off x="7328791" y="3172062"/>
                <a:ext cx="2131287" cy="142635"/>
                <a:chOff x="5826458" y="4055392"/>
                <a:chExt cx="1432271" cy="141037"/>
              </a:xfrm>
              <a:grpFill/>
            </p:grpSpPr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A81C791C-A607-685F-069C-FDC0AFECF3CA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5826458" y="4196429"/>
                  <a:ext cx="1432271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A32D1C13-8A41-2B2B-F5FE-C114E41FD6E1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V="1">
                  <a:off x="7258729" y="4055392"/>
                  <a:ext cx="0" cy="141037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B894F80A-92E3-5A4E-844E-1EE54A886AC1}"/>
                </a:ext>
              </a:extLst>
            </p:cNvPr>
            <p:cNvGrpSpPr/>
            <p:nvPr/>
          </p:nvGrpSpPr>
          <p:grpSpPr>
            <a:xfrm>
              <a:off x="1686746" y="1980752"/>
              <a:ext cx="498734" cy="723019"/>
              <a:chOff x="3391157" y="3797947"/>
              <a:chExt cx="498734" cy="723019"/>
            </a:xfrm>
          </p:grpSpPr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A10CAA9B-47E1-E7FE-72F6-3A4E48620634}"/>
                  </a:ext>
                </a:extLst>
              </p:cNvPr>
              <p:cNvCxnSpPr>
                <a:cxnSpLocks/>
                <a:stCxn id="238" idx="2"/>
              </p:cNvCxnSpPr>
              <p:nvPr/>
            </p:nvCxnSpPr>
            <p:spPr bwMode="gray">
              <a:xfrm flipH="1">
                <a:off x="3528442" y="3986027"/>
                <a:ext cx="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238" name="Graphic 237">
                <a:extLst>
                  <a:ext uri="{FF2B5EF4-FFF2-40B4-BE49-F238E27FC236}">
                    <a16:creationId xmlns:a16="http://schemas.microsoft.com/office/drawing/2014/main" id="{46894B20-C8AB-36DD-1406-785F5644B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239" name="Graphic 238">
                <a:extLst>
                  <a:ext uri="{FF2B5EF4-FFF2-40B4-BE49-F238E27FC236}">
                    <a16:creationId xmlns:a16="http://schemas.microsoft.com/office/drawing/2014/main" id="{802B2C01-5CB4-F647-383F-81D52C5CE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62534755-3E85-EBA3-7811-6B6E69BD825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4622" y="3986027"/>
                <a:ext cx="1013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96E4849E-2913-3ABB-B625-49A0147368BA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1123C6CF-F7AC-0CD4-CD0B-A105C0D8E074}"/>
                </a:ext>
              </a:extLst>
            </p:cNvPr>
            <p:cNvGrpSpPr/>
            <p:nvPr/>
          </p:nvGrpSpPr>
          <p:grpSpPr>
            <a:xfrm>
              <a:off x="3463289" y="1970335"/>
              <a:ext cx="498734" cy="723019"/>
              <a:chOff x="3391157" y="3797947"/>
              <a:chExt cx="498734" cy="723019"/>
            </a:xfrm>
          </p:grpSpPr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F5A38C4-804D-CD2A-127A-6C7C84DB81D8}"/>
                  </a:ext>
                </a:extLst>
              </p:cNvPr>
              <p:cNvCxnSpPr>
                <a:cxnSpLocks/>
                <a:stCxn id="233" idx="2"/>
              </p:cNvCxnSpPr>
              <p:nvPr/>
            </p:nvCxnSpPr>
            <p:spPr bwMode="gray">
              <a:xfrm flipH="1">
                <a:off x="3528442" y="3986027"/>
                <a:ext cx="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233" name="Graphic 232">
                <a:extLst>
                  <a:ext uri="{FF2B5EF4-FFF2-40B4-BE49-F238E27FC236}">
                    <a16:creationId xmlns:a16="http://schemas.microsoft.com/office/drawing/2014/main" id="{5D5CB4B1-2F49-CA63-791B-5F8C118403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234" name="Graphic 233">
                <a:extLst>
                  <a:ext uri="{FF2B5EF4-FFF2-40B4-BE49-F238E27FC236}">
                    <a16:creationId xmlns:a16="http://schemas.microsoft.com/office/drawing/2014/main" id="{0FE50302-E171-3F1F-D1EA-A43A7AB572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4ECE8423-8D49-D0E5-D42B-F302A272799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4622" y="3986027"/>
                <a:ext cx="1013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DAE91C06-0063-3118-FBF3-AED9E2622DBA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1CBDAEB4-36D0-B895-978B-7073E0096819}"/>
                </a:ext>
              </a:extLst>
            </p:cNvPr>
            <p:cNvGrpSpPr/>
            <p:nvPr/>
          </p:nvGrpSpPr>
          <p:grpSpPr>
            <a:xfrm>
              <a:off x="7886968" y="1977852"/>
              <a:ext cx="498734" cy="723019"/>
              <a:chOff x="3391157" y="3797947"/>
              <a:chExt cx="498734" cy="723019"/>
            </a:xfrm>
          </p:grpSpPr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3CBB40C8-AFE4-1BC8-DAD4-4E48E962E923}"/>
                  </a:ext>
                </a:extLst>
              </p:cNvPr>
              <p:cNvCxnSpPr>
                <a:cxnSpLocks/>
                <a:stCxn id="228" idx="2"/>
              </p:cNvCxnSpPr>
              <p:nvPr/>
            </p:nvCxnSpPr>
            <p:spPr bwMode="gray">
              <a:xfrm flipH="1">
                <a:off x="3528442" y="3986027"/>
                <a:ext cx="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228" name="Graphic 227">
                <a:extLst>
                  <a:ext uri="{FF2B5EF4-FFF2-40B4-BE49-F238E27FC236}">
                    <a16:creationId xmlns:a16="http://schemas.microsoft.com/office/drawing/2014/main" id="{DAB378EC-627B-A476-724F-543F145343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229" name="Graphic 228">
                <a:extLst>
                  <a:ext uri="{FF2B5EF4-FFF2-40B4-BE49-F238E27FC236}">
                    <a16:creationId xmlns:a16="http://schemas.microsoft.com/office/drawing/2014/main" id="{C980A642-10A1-AEB4-1F80-93F5E498B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E0CF8379-CA60-4EDD-C7A2-04A9C01BEB4A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4622" y="3986027"/>
                <a:ext cx="1013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BB0A6281-5402-EDD9-40B9-D48B548AF6E8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9B795C45-AD79-7F82-A3B9-0837243D6214}"/>
                </a:ext>
              </a:extLst>
            </p:cNvPr>
            <p:cNvGrpSpPr/>
            <p:nvPr/>
          </p:nvGrpSpPr>
          <p:grpSpPr>
            <a:xfrm>
              <a:off x="3463289" y="4328219"/>
              <a:ext cx="498734" cy="723019"/>
              <a:chOff x="3391157" y="3797947"/>
              <a:chExt cx="498734" cy="723019"/>
            </a:xfrm>
          </p:grpSpPr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DCC4C873-12A1-9D1A-DBD2-921749CEB7CE}"/>
                  </a:ext>
                </a:extLst>
              </p:cNvPr>
              <p:cNvCxnSpPr>
                <a:cxnSpLocks/>
                <a:stCxn id="223" idx="2"/>
              </p:cNvCxnSpPr>
              <p:nvPr/>
            </p:nvCxnSpPr>
            <p:spPr bwMode="gray">
              <a:xfrm flipH="1">
                <a:off x="3528442" y="3986027"/>
                <a:ext cx="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223" name="Graphic 222">
                <a:extLst>
                  <a:ext uri="{FF2B5EF4-FFF2-40B4-BE49-F238E27FC236}">
                    <a16:creationId xmlns:a16="http://schemas.microsoft.com/office/drawing/2014/main" id="{C71E47D6-F9E1-284A-FC4A-0F9444933B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224" name="Graphic 223">
                <a:extLst>
                  <a:ext uri="{FF2B5EF4-FFF2-40B4-BE49-F238E27FC236}">
                    <a16:creationId xmlns:a16="http://schemas.microsoft.com/office/drawing/2014/main" id="{FB1790B0-2BC1-43D8-819A-807C25FD8D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04A74D7B-5119-720B-5EFA-C3A614BF9CC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4622" y="3986027"/>
                <a:ext cx="1013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7F5CB536-B86D-D98E-1313-E650E9DEDFD1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DF7EF686-DBB8-6931-A487-06B07EB89FB9}"/>
                </a:ext>
              </a:extLst>
            </p:cNvPr>
            <p:cNvGrpSpPr/>
            <p:nvPr/>
          </p:nvGrpSpPr>
          <p:grpSpPr>
            <a:xfrm>
              <a:off x="7912172" y="4334644"/>
              <a:ext cx="498734" cy="723019"/>
              <a:chOff x="3391157" y="3797947"/>
              <a:chExt cx="498734" cy="723019"/>
            </a:xfrm>
          </p:grpSpPr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216A39CD-04D4-1B96-D11A-B9F0C16B4B21}"/>
                  </a:ext>
                </a:extLst>
              </p:cNvPr>
              <p:cNvCxnSpPr>
                <a:cxnSpLocks/>
                <a:stCxn id="218" idx="2"/>
              </p:cNvCxnSpPr>
              <p:nvPr/>
            </p:nvCxnSpPr>
            <p:spPr bwMode="gray">
              <a:xfrm flipH="1">
                <a:off x="3528442" y="3986027"/>
                <a:ext cx="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218" name="Graphic 217">
                <a:extLst>
                  <a:ext uri="{FF2B5EF4-FFF2-40B4-BE49-F238E27FC236}">
                    <a16:creationId xmlns:a16="http://schemas.microsoft.com/office/drawing/2014/main" id="{30BABC73-8D85-C261-2AE0-AAE00EEA14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219" name="Graphic 218">
                <a:extLst>
                  <a:ext uri="{FF2B5EF4-FFF2-40B4-BE49-F238E27FC236}">
                    <a16:creationId xmlns:a16="http://schemas.microsoft.com/office/drawing/2014/main" id="{C62780E1-80C4-1542-52A9-7A4BA21FFF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4CB406CC-B38E-18AB-6344-2C5FF84CD9A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4622" y="3986027"/>
                <a:ext cx="1013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8B26DCA7-5472-FB14-3BD0-4C4F4F721B20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B95B97B7-A858-3187-3427-5D6964566786}"/>
                </a:ext>
              </a:extLst>
            </p:cNvPr>
            <p:cNvGrpSpPr/>
            <p:nvPr/>
          </p:nvGrpSpPr>
          <p:grpSpPr>
            <a:xfrm>
              <a:off x="9748905" y="1991860"/>
              <a:ext cx="498734" cy="723019"/>
              <a:chOff x="3391157" y="3797947"/>
              <a:chExt cx="498734" cy="723019"/>
            </a:xfrm>
          </p:grpSpPr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B2F70BF1-576C-D562-BFC2-2CC1B908B0E8}"/>
                  </a:ext>
                </a:extLst>
              </p:cNvPr>
              <p:cNvCxnSpPr>
                <a:cxnSpLocks/>
                <a:stCxn id="213" idx="2"/>
              </p:cNvCxnSpPr>
              <p:nvPr/>
            </p:nvCxnSpPr>
            <p:spPr bwMode="gray">
              <a:xfrm flipH="1">
                <a:off x="3528442" y="3986027"/>
                <a:ext cx="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213" name="Graphic 212">
                <a:extLst>
                  <a:ext uri="{FF2B5EF4-FFF2-40B4-BE49-F238E27FC236}">
                    <a16:creationId xmlns:a16="http://schemas.microsoft.com/office/drawing/2014/main" id="{838612E9-6F7C-C1D4-C856-6B7F7AA60D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214" name="Graphic 213">
                <a:extLst>
                  <a:ext uri="{FF2B5EF4-FFF2-40B4-BE49-F238E27FC236}">
                    <a16:creationId xmlns:a16="http://schemas.microsoft.com/office/drawing/2014/main" id="{D7274025-18A8-AD02-D663-E722B01CD7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6EB7331B-25B3-4168-434D-88EBECB42F7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4622" y="3986027"/>
                <a:ext cx="1013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E40EDCA8-E00F-1B81-0107-5DE12BC812DE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pic>
          <p:nvPicPr>
            <p:cNvPr id="211" name="Graphic 210">
              <a:extLst>
                <a:ext uri="{FF2B5EF4-FFF2-40B4-BE49-F238E27FC236}">
                  <a16:creationId xmlns:a16="http://schemas.microsoft.com/office/drawing/2014/main" id="{EB4CC750-DE84-59FE-8E82-4C46CB81F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988359" y="1332182"/>
              <a:ext cx="197789" cy="183392"/>
            </a:xfrm>
            <a:prstGeom prst="rect">
              <a:avLst/>
            </a:prstGeom>
          </p:spPr>
        </p:pic>
      </p:grpSp>
      <p:sp>
        <p:nvSpPr>
          <p:cNvPr id="347" name="TextBox 346">
            <a:extLst>
              <a:ext uri="{FF2B5EF4-FFF2-40B4-BE49-F238E27FC236}">
                <a16:creationId xmlns:a16="http://schemas.microsoft.com/office/drawing/2014/main" id="{317F473D-FCFC-5558-CAA3-5A58AEDE90C2}"/>
              </a:ext>
            </a:extLst>
          </p:cNvPr>
          <p:cNvSpPr txBox="1"/>
          <p:nvPr/>
        </p:nvSpPr>
        <p:spPr>
          <a:xfrm>
            <a:off x="-795251" y="66281"/>
            <a:ext cx="5523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vSAN Stretched-Storage and compute original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721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EAEB4-CC19-1CBE-52F3-F504E2821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Box 346">
            <a:extLst>
              <a:ext uri="{FF2B5EF4-FFF2-40B4-BE49-F238E27FC236}">
                <a16:creationId xmlns:a16="http://schemas.microsoft.com/office/drawing/2014/main" id="{A33D9132-794F-ADCF-06BA-88CEDF37492C}"/>
              </a:ext>
            </a:extLst>
          </p:cNvPr>
          <p:cNvSpPr txBox="1"/>
          <p:nvPr/>
        </p:nvSpPr>
        <p:spPr>
          <a:xfrm>
            <a:off x="-545271" y="118908"/>
            <a:ext cx="82288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vSAN Stretched-Storage and compute import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5C8A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 – ready for export 24% 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CCA3EE-7D02-D941-6FB8-58636D652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3248" y="672906"/>
            <a:ext cx="9482328" cy="520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99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CE39-4C04-0ACB-C1C4-99C5C7DF5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vSAN stretched-compute original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B644E19-B809-F177-7C92-213B391B6CED}"/>
              </a:ext>
            </a:extLst>
          </p:cNvPr>
          <p:cNvGrpSpPr/>
          <p:nvPr/>
        </p:nvGrpSpPr>
        <p:grpSpPr>
          <a:xfrm>
            <a:off x="2349500" y="1352550"/>
            <a:ext cx="7581900" cy="4152900"/>
            <a:chOff x="2349500" y="1352550"/>
            <a:chExt cx="7581900" cy="415290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385845B-9CF7-C666-AF21-9C9226FD72E5}"/>
                </a:ext>
              </a:extLst>
            </p:cNvPr>
            <p:cNvSpPr/>
            <p:nvPr/>
          </p:nvSpPr>
          <p:spPr>
            <a:xfrm>
              <a:off x="2349500" y="1352550"/>
              <a:ext cx="7581900" cy="415290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B2741B1-4634-42E2-B5EE-682A87614689}"/>
                </a:ext>
              </a:extLst>
            </p:cNvPr>
            <p:cNvGrpSpPr/>
            <p:nvPr/>
          </p:nvGrpSpPr>
          <p:grpSpPr>
            <a:xfrm>
              <a:off x="2495549" y="1689100"/>
              <a:ext cx="7169151" cy="3740627"/>
              <a:chOff x="2359068" y="2997200"/>
              <a:chExt cx="7169151" cy="3740627"/>
            </a:xfrm>
          </p:grpSpPr>
          <p:sp>
            <p:nvSpPr>
              <p:cNvPr id="87" name="Google Shape;1358;p4">
                <a:extLst>
                  <a:ext uri="{FF2B5EF4-FFF2-40B4-BE49-F238E27FC236}">
                    <a16:creationId xmlns:a16="http://schemas.microsoft.com/office/drawing/2014/main" id="{EC211E5C-B9A7-24C7-2F36-54B70E66484D}"/>
                  </a:ext>
                </a:extLst>
              </p:cNvPr>
              <p:cNvSpPr/>
              <p:nvPr/>
            </p:nvSpPr>
            <p:spPr>
              <a:xfrm>
                <a:off x="2635454" y="3392634"/>
                <a:ext cx="2148410" cy="3007470"/>
              </a:xfrm>
              <a:prstGeom prst="rect">
                <a:avLst/>
              </a:prstGeom>
              <a:solidFill>
                <a:sysClr val="window" lastClr="FFFFFF"/>
              </a:solidFill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Availability Zone 1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88" name="Google Shape;1361;p4">
                <a:extLst>
                  <a:ext uri="{FF2B5EF4-FFF2-40B4-BE49-F238E27FC236}">
                    <a16:creationId xmlns:a16="http://schemas.microsoft.com/office/drawing/2014/main" id="{8E7D57B8-E614-6679-CB1E-D5948D37CB88}"/>
                  </a:ext>
                </a:extLst>
              </p:cNvPr>
              <p:cNvSpPr/>
              <p:nvPr/>
            </p:nvSpPr>
            <p:spPr>
              <a:xfrm>
                <a:off x="2931849" y="4075152"/>
                <a:ext cx="1588068" cy="210370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Rack</a:t>
                </a: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89" name="Google Shape;1358;p4">
                <a:extLst>
                  <a:ext uri="{FF2B5EF4-FFF2-40B4-BE49-F238E27FC236}">
                    <a16:creationId xmlns:a16="http://schemas.microsoft.com/office/drawing/2014/main" id="{BEB385EC-F748-5447-E4EE-0EC92F4DE40F}"/>
                  </a:ext>
                </a:extLst>
              </p:cNvPr>
              <p:cNvSpPr/>
              <p:nvPr/>
            </p:nvSpPr>
            <p:spPr>
              <a:xfrm>
                <a:off x="7084625" y="3392634"/>
                <a:ext cx="2148411" cy="3007470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Availability Zone 2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0" name="Google Shape;1361;p4">
                <a:extLst>
                  <a:ext uri="{FF2B5EF4-FFF2-40B4-BE49-F238E27FC236}">
                    <a16:creationId xmlns:a16="http://schemas.microsoft.com/office/drawing/2014/main" id="{EE922905-E3E6-3B4D-BFC3-CBF5116AF087}"/>
                  </a:ext>
                </a:extLst>
              </p:cNvPr>
              <p:cNvSpPr/>
              <p:nvPr/>
            </p:nvSpPr>
            <p:spPr>
              <a:xfrm>
                <a:off x="7374239" y="4077713"/>
                <a:ext cx="1588068" cy="210370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Rack</a:t>
                </a: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91" name="Google Shape;1357;p4">
                <a:extLst>
                  <a:ext uri="{FF2B5EF4-FFF2-40B4-BE49-F238E27FC236}">
                    <a16:creationId xmlns:a16="http://schemas.microsoft.com/office/drawing/2014/main" id="{80979090-9B3C-D4FD-15CC-B9F64D3B7954}"/>
                  </a:ext>
                </a:extLst>
              </p:cNvPr>
              <p:cNvSpPr/>
              <p:nvPr/>
            </p:nvSpPr>
            <p:spPr>
              <a:xfrm>
                <a:off x="2359068" y="2997200"/>
                <a:ext cx="7169151" cy="3740627"/>
              </a:xfrm>
              <a:prstGeom prst="rect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Workload Domain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2" name="Google Shape;1363;p4">
                <a:extLst>
                  <a:ext uri="{FF2B5EF4-FFF2-40B4-BE49-F238E27FC236}">
                    <a16:creationId xmlns:a16="http://schemas.microsoft.com/office/drawing/2014/main" id="{1D745021-E546-1418-EB2D-FE406112FDB7}"/>
                  </a:ext>
                </a:extLst>
              </p:cNvPr>
              <p:cNvSpPr/>
              <p:nvPr/>
            </p:nvSpPr>
            <p:spPr>
              <a:xfrm>
                <a:off x="3317812" y="4711159"/>
                <a:ext cx="5213457" cy="134929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5C8A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BCABBC88-805A-96F7-A160-EC5C9DF798FD}"/>
                  </a:ext>
                </a:extLst>
              </p:cNvPr>
              <p:cNvGrpSpPr/>
              <p:nvPr/>
            </p:nvGrpSpPr>
            <p:grpSpPr>
              <a:xfrm>
                <a:off x="3352414" y="5701157"/>
                <a:ext cx="5129984" cy="276739"/>
                <a:chOff x="3431578" y="3153187"/>
                <a:chExt cx="6028500" cy="289150"/>
              </a:xfrm>
              <a:noFill/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647340A0-4D63-620B-2460-539ACDBB2159}"/>
                    </a:ext>
                  </a:extLst>
                </p:cNvPr>
                <p:cNvGrpSpPr/>
                <p:nvPr/>
              </p:nvGrpSpPr>
              <p:grpSpPr>
                <a:xfrm>
                  <a:off x="3431578" y="3153187"/>
                  <a:ext cx="2002400" cy="161506"/>
                  <a:chOff x="4926159" y="3780359"/>
                  <a:chExt cx="1451245" cy="108831"/>
                </a:xfrm>
                <a:grpFill/>
              </p:grpSpPr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DA20B6C6-C67E-C742-1E32-62CCE3FBB0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4926159" y="3884312"/>
                    <a:ext cx="1451245" cy="4878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ECE46F5D-CB8A-F08C-82A6-56785B63C4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4926159" y="3780359"/>
                    <a:ext cx="0" cy="103953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</p:grp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2E02D4A4-08EA-A65C-3DA7-E347E88FE699}"/>
                    </a:ext>
                  </a:extLst>
                </p:cNvPr>
                <p:cNvSpPr txBox="1"/>
                <p:nvPr/>
              </p:nvSpPr>
              <p:spPr>
                <a:xfrm>
                  <a:off x="5540461" y="3172582"/>
                  <a:ext cx="1775273" cy="269755"/>
                </a:xfrm>
                <a:prstGeom prst="rect">
                  <a:avLst/>
                </a:prstGeom>
                <a:grp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DA3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vSAN Stretched Compute Cluster</a:t>
                  </a:r>
                </a:p>
              </p:txBody>
            </p: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56BAD5E5-7ED4-2D77-096D-E85F18FF61F5}"/>
                    </a:ext>
                  </a:extLst>
                </p:cNvPr>
                <p:cNvGrpSpPr/>
                <p:nvPr/>
              </p:nvGrpSpPr>
              <p:grpSpPr>
                <a:xfrm>
                  <a:off x="7328791" y="3172062"/>
                  <a:ext cx="2131287" cy="142635"/>
                  <a:chOff x="5826458" y="4055392"/>
                  <a:chExt cx="1432271" cy="141037"/>
                </a:xfrm>
                <a:grpFill/>
              </p:grpSpPr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FE385476-760E-E01F-9220-7D7AFF9604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5826458" y="4196429"/>
                    <a:ext cx="1432271" cy="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E68C9B9A-5656-8472-F96A-3A69760EEF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 flipV="1">
                    <a:off x="7258729" y="4055392"/>
                    <a:ext cx="0" cy="141037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</p:grp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DBBD581E-5686-7EFC-703F-FDFE95418221}"/>
                  </a:ext>
                </a:extLst>
              </p:cNvPr>
              <p:cNvGrpSpPr/>
              <p:nvPr/>
            </p:nvGrpSpPr>
            <p:grpSpPr>
              <a:xfrm>
                <a:off x="3409078" y="5088403"/>
                <a:ext cx="597115" cy="524148"/>
                <a:chOff x="1774651" y="2790018"/>
                <a:chExt cx="597115" cy="524148"/>
              </a:xfrm>
            </p:grpSpPr>
            <p:pic>
              <p:nvPicPr>
                <p:cNvPr id="113" name="Graphic 112">
                  <a:extLst>
                    <a:ext uri="{FF2B5EF4-FFF2-40B4-BE49-F238E27FC236}">
                      <a16:creationId xmlns:a16="http://schemas.microsoft.com/office/drawing/2014/main" id="{8B61BED2-16A3-9FEF-B138-9279EA487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3167113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114" name="Graphic 113">
                  <a:extLst>
                    <a:ext uri="{FF2B5EF4-FFF2-40B4-BE49-F238E27FC236}">
                      <a16:creationId xmlns:a16="http://schemas.microsoft.com/office/drawing/2014/main" id="{BB20E9B4-938E-A285-0A2C-5D52C6FCCB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2970372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115" name="Graphic 114">
                  <a:extLst>
                    <a:ext uri="{FF2B5EF4-FFF2-40B4-BE49-F238E27FC236}">
                      <a16:creationId xmlns:a16="http://schemas.microsoft.com/office/drawing/2014/main" id="{1A048545-0C8B-5DD0-9FD2-6F0CB7BE01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74651" y="2790018"/>
                  <a:ext cx="588075" cy="147053"/>
                </a:xfrm>
                <a:prstGeom prst="rect">
                  <a:avLst/>
                </a:prstGeom>
              </p:spPr>
            </p:pic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65E7D66-384C-21E7-4AFE-65F69ABB400E}"/>
                  </a:ext>
                </a:extLst>
              </p:cNvPr>
              <p:cNvSpPr txBox="1"/>
              <p:nvPr/>
            </p:nvSpPr>
            <p:spPr>
              <a:xfrm>
                <a:off x="3372674" y="5062091"/>
                <a:ext cx="673779" cy="584489"/>
              </a:xfrm>
              <a:prstGeom prst="rect">
                <a:avLst/>
              </a:prstGeom>
              <a:noFill/>
              <a:ln w="12700">
                <a:solidFill>
                  <a:srgbClr val="99999B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0DD5C1C-2A4B-6CF0-6379-B14EF4504C7F}"/>
                  </a:ext>
                </a:extLst>
              </p:cNvPr>
              <p:cNvSpPr txBox="1"/>
              <p:nvPr/>
            </p:nvSpPr>
            <p:spPr>
              <a:xfrm>
                <a:off x="7827063" y="5064471"/>
                <a:ext cx="655334" cy="584489"/>
              </a:xfrm>
              <a:prstGeom prst="rect">
                <a:avLst/>
              </a:prstGeom>
              <a:noFill/>
              <a:ln w="12700">
                <a:solidFill>
                  <a:srgbClr val="99999B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CA20AA0-B25F-6253-AA8F-7387B7A513E8}"/>
                  </a:ext>
                </a:extLst>
              </p:cNvPr>
              <p:cNvGrpSpPr/>
              <p:nvPr/>
            </p:nvGrpSpPr>
            <p:grpSpPr>
              <a:xfrm>
                <a:off x="7851468" y="5090964"/>
                <a:ext cx="597115" cy="524148"/>
                <a:chOff x="1774651" y="2790018"/>
                <a:chExt cx="597115" cy="524148"/>
              </a:xfrm>
            </p:grpSpPr>
            <p:pic>
              <p:nvPicPr>
                <p:cNvPr id="110" name="Graphic 109">
                  <a:extLst>
                    <a:ext uri="{FF2B5EF4-FFF2-40B4-BE49-F238E27FC236}">
                      <a16:creationId xmlns:a16="http://schemas.microsoft.com/office/drawing/2014/main" id="{0E99F2A4-580F-ACCE-AE8E-F5C31ED43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3167113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111" name="Graphic 110">
                  <a:extLst>
                    <a:ext uri="{FF2B5EF4-FFF2-40B4-BE49-F238E27FC236}">
                      <a16:creationId xmlns:a16="http://schemas.microsoft.com/office/drawing/2014/main" id="{EE443007-0E61-1BF8-8732-1C44EB5CEA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2970372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112" name="Graphic 111">
                  <a:extLst>
                    <a:ext uri="{FF2B5EF4-FFF2-40B4-BE49-F238E27FC236}">
                      <a16:creationId xmlns:a16="http://schemas.microsoft.com/office/drawing/2014/main" id="{EDE0D6C6-CAD7-D4DC-FD78-6D779DBD2B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74651" y="2790018"/>
                  <a:ext cx="588075" cy="147053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D68619F9-C338-A4FE-73FD-946CF6D2495B}"/>
                  </a:ext>
                </a:extLst>
              </p:cNvPr>
              <p:cNvGrpSpPr/>
              <p:nvPr/>
            </p:nvGrpSpPr>
            <p:grpSpPr>
              <a:xfrm>
                <a:off x="3463289" y="4328219"/>
                <a:ext cx="498734" cy="723019"/>
                <a:chOff x="3391157" y="3797947"/>
                <a:chExt cx="498734" cy="723019"/>
              </a:xfrm>
            </p:grpSpPr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2E309D11-A59B-7CF5-5F1A-84A31598C593}"/>
                    </a:ext>
                  </a:extLst>
                </p:cNvPr>
                <p:cNvCxnSpPr>
                  <a:cxnSpLocks/>
                  <a:stCxn id="106" idx="2"/>
                </p:cNvCxnSpPr>
                <p:nvPr/>
              </p:nvCxnSpPr>
              <p:spPr bwMode="gray">
                <a:xfrm flipH="1">
                  <a:off x="3528442" y="3986027"/>
                  <a:ext cx="1" cy="534939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06" name="Graphic 105">
                  <a:extLst>
                    <a:ext uri="{FF2B5EF4-FFF2-40B4-BE49-F238E27FC236}">
                      <a16:creationId xmlns:a16="http://schemas.microsoft.com/office/drawing/2014/main" id="{2043BAF8-765E-037C-589E-74A71294B1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07" name="Graphic 106">
                  <a:extLst>
                    <a:ext uri="{FF2B5EF4-FFF2-40B4-BE49-F238E27FC236}">
                      <a16:creationId xmlns:a16="http://schemas.microsoft.com/office/drawing/2014/main" id="{1D686E0B-7834-9D6C-6767-D4AF37D18A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C57D7ADF-1000-1C8A-93C9-F7B0491142B8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3764622" y="3986027"/>
                  <a:ext cx="10131" cy="534939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BD4C558A-1C87-6F87-156D-CB6C37E6F89A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4FA6EF4D-21E3-F9DB-C401-DD5DA07C98DF}"/>
                  </a:ext>
                </a:extLst>
              </p:cNvPr>
              <p:cNvGrpSpPr/>
              <p:nvPr/>
            </p:nvGrpSpPr>
            <p:grpSpPr>
              <a:xfrm>
                <a:off x="7912172" y="4334644"/>
                <a:ext cx="498734" cy="723019"/>
                <a:chOff x="3391157" y="3797947"/>
                <a:chExt cx="498734" cy="723019"/>
              </a:xfrm>
            </p:grpSpPr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4258836E-11D7-E74C-E4BB-30433651E665}"/>
                    </a:ext>
                  </a:extLst>
                </p:cNvPr>
                <p:cNvCxnSpPr>
                  <a:cxnSpLocks/>
                  <a:stCxn id="101" idx="2"/>
                </p:cNvCxnSpPr>
                <p:nvPr/>
              </p:nvCxnSpPr>
              <p:spPr bwMode="gray">
                <a:xfrm flipH="1">
                  <a:off x="3528442" y="3986027"/>
                  <a:ext cx="1" cy="534939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01" name="Graphic 100">
                  <a:extLst>
                    <a:ext uri="{FF2B5EF4-FFF2-40B4-BE49-F238E27FC236}">
                      <a16:creationId xmlns:a16="http://schemas.microsoft.com/office/drawing/2014/main" id="{2DC4BB3A-BFE5-ACBB-E59C-5EA349B81F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02" name="Graphic 101">
                  <a:extLst>
                    <a:ext uri="{FF2B5EF4-FFF2-40B4-BE49-F238E27FC236}">
                      <a16:creationId xmlns:a16="http://schemas.microsoft.com/office/drawing/2014/main" id="{46F21777-65AA-B0A4-5394-DBD1E3DCA3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CDFC3A16-116C-C88C-683F-14E1A5A5E159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3764622" y="3986027"/>
                  <a:ext cx="10131" cy="534939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823B1EE7-AE00-3EE5-2E3C-3BAF9CD16127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3B49BCF-0E0E-30F6-7CC4-0393457DD1F9}"/>
                </a:ext>
              </a:extLst>
            </p:cNvPr>
            <p:cNvSpPr txBox="1"/>
            <p:nvPr/>
          </p:nvSpPr>
          <p:spPr>
            <a:xfrm>
              <a:off x="5219829" y="1397715"/>
              <a:ext cx="17205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rPr>
                <a:t>VCF Instance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928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8C341-EADF-696A-D563-56F86567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85C0-19D7-961F-283F-D9137CC80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vSAN stretched-compute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dirty="0">
              <a:latin typeface="Metropolis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0730C80-5F68-F57E-0757-B7A1F4CFA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8455" y="1619087"/>
            <a:ext cx="6272784" cy="344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1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8777-8545-957A-48D0-3FC53FF9B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Multi-rack / vSAN Fault Domains original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E442D87-2921-BF75-D830-23D4A0B7A480}"/>
              </a:ext>
            </a:extLst>
          </p:cNvPr>
          <p:cNvGrpSpPr/>
          <p:nvPr/>
        </p:nvGrpSpPr>
        <p:grpSpPr>
          <a:xfrm>
            <a:off x="1793875" y="1617828"/>
            <a:ext cx="8604250" cy="4213521"/>
            <a:chOff x="1793875" y="1617828"/>
            <a:chExt cx="8604250" cy="4213521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B26B6783-5C8D-13CE-42A6-999DB1ACF919}"/>
                </a:ext>
              </a:extLst>
            </p:cNvPr>
            <p:cNvGrpSpPr/>
            <p:nvPr/>
          </p:nvGrpSpPr>
          <p:grpSpPr>
            <a:xfrm>
              <a:off x="1793875" y="1617828"/>
              <a:ext cx="8604250" cy="4213521"/>
              <a:chOff x="1793875" y="1617828"/>
              <a:chExt cx="8604250" cy="4213521"/>
            </a:xfrm>
          </p:grpSpPr>
          <p:sp>
            <p:nvSpPr>
              <p:cNvPr id="119" name="Google Shape;1357;p4">
                <a:extLst>
                  <a:ext uri="{FF2B5EF4-FFF2-40B4-BE49-F238E27FC236}">
                    <a16:creationId xmlns:a16="http://schemas.microsoft.com/office/drawing/2014/main" id="{0C893A82-4E93-DE76-3EDC-F414D7AF720C}"/>
                  </a:ext>
                </a:extLst>
              </p:cNvPr>
              <p:cNvSpPr/>
              <p:nvPr/>
            </p:nvSpPr>
            <p:spPr>
              <a:xfrm>
                <a:off x="1793875" y="1617828"/>
                <a:ext cx="8604250" cy="4213521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VCF Instance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0" name="Google Shape;1358;p4">
                <a:extLst>
                  <a:ext uri="{FF2B5EF4-FFF2-40B4-BE49-F238E27FC236}">
                    <a16:creationId xmlns:a16="http://schemas.microsoft.com/office/drawing/2014/main" id="{99EFA486-149C-933C-BA63-7198C765956B}"/>
                  </a:ext>
                </a:extLst>
              </p:cNvPr>
              <p:cNvSpPr/>
              <p:nvPr/>
            </p:nvSpPr>
            <p:spPr>
              <a:xfrm>
                <a:off x="2223950" y="2267000"/>
                <a:ext cx="7744100" cy="3270244"/>
              </a:xfrm>
              <a:prstGeom prst="rect">
                <a:avLst/>
              </a:prstGeom>
              <a:solidFill>
                <a:sysClr val="window" lastClr="FFFFFF"/>
              </a:solidFill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Availability Zone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 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1" name="Google Shape;1360;p4">
                <a:extLst>
                  <a:ext uri="{FF2B5EF4-FFF2-40B4-BE49-F238E27FC236}">
                    <a16:creationId xmlns:a16="http://schemas.microsoft.com/office/drawing/2014/main" id="{A4A03FE8-77DA-63BE-C0F6-9443E9D2FAC7}"/>
                  </a:ext>
                </a:extLst>
              </p:cNvPr>
              <p:cNvSpPr/>
              <p:nvPr/>
            </p:nvSpPr>
            <p:spPr>
              <a:xfrm>
                <a:off x="8046894" y="2768445"/>
                <a:ext cx="1586775" cy="248779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2" name="Google Shape;1361;p4">
                <a:extLst>
                  <a:ext uri="{FF2B5EF4-FFF2-40B4-BE49-F238E27FC236}">
                    <a16:creationId xmlns:a16="http://schemas.microsoft.com/office/drawing/2014/main" id="{9EB30071-1A3B-FC13-0EC1-F2EDC9F316AC}"/>
                  </a:ext>
                </a:extLst>
              </p:cNvPr>
              <p:cNvSpPr/>
              <p:nvPr/>
            </p:nvSpPr>
            <p:spPr>
              <a:xfrm>
                <a:off x="4340694" y="2779596"/>
                <a:ext cx="1620169" cy="2497139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23" name="Google Shape;1361;p4">
                <a:extLst>
                  <a:ext uri="{FF2B5EF4-FFF2-40B4-BE49-F238E27FC236}">
                    <a16:creationId xmlns:a16="http://schemas.microsoft.com/office/drawing/2014/main" id="{8E7AA060-0563-2C3A-DEEE-3427EFDABBA6}"/>
                  </a:ext>
                </a:extLst>
              </p:cNvPr>
              <p:cNvSpPr/>
              <p:nvPr/>
            </p:nvSpPr>
            <p:spPr>
              <a:xfrm>
                <a:off x="2499255" y="2763767"/>
                <a:ext cx="1662918" cy="2497147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24" name="Google Shape;1361;p4">
                <a:extLst>
                  <a:ext uri="{FF2B5EF4-FFF2-40B4-BE49-F238E27FC236}">
                    <a16:creationId xmlns:a16="http://schemas.microsoft.com/office/drawing/2014/main" id="{4A2A70A1-D68F-8416-BAC8-63DFD7443CF9}"/>
                  </a:ext>
                </a:extLst>
              </p:cNvPr>
              <p:cNvSpPr/>
              <p:nvPr/>
            </p:nvSpPr>
            <p:spPr>
              <a:xfrm>
                <a:off x="6191946" y="2779596"/>
                <a:ext cx="1670284" cy="2497138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25" name="Google Shape;1363;p4">
                <a:extLst>
                  <a:ext uri="{FF2B5EF4-FFF2-40B4-BE49-F238E27FC236}">
                    <a16:creationId xmlns:a16="http://schemas.microsoft.com/office/drawing/2014/main" id="{6A754F33-47DD-0601-3216-17541F7E9C23}"/>
                  </a:ext>
                </a:extLst>
              </p:cNvPr>
              <p:cNvSpPr/>
              <p:nvPr/>
            </p:nvSpPr>
            <p:spPr>
              <a:xfrm>
                <a:off x="2693513" y="3474620"/>
                <a:ext cx="6845419" cy="154827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98C7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98C7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FDCF3F97-F082-8A18-5422-185BA4B59C96}"/>
                  </a:ext>
                </a:extLst>
              </p:cNvPr>
              <p:cNvGrpSpPr/>
              <p:nvPr/>
            </p:nvGrpSpPr>
            <p:grpSpPr>
              <a:xfrm>
                <a:off x="6628734" y="3626616"/>
                <a:ext cx="682703" cy="994403"/>
                <a:chOff x="6472979" y="5584503"/>
                <a:chExt cx="431740" cy="645348"/>
              </a:xfrm>
            </p:grpSpPr>
            <p:pic>
              <p:nvPicPr>
                <p:cNvPr id="178" name="Graphic 177">
                  <a:extLst>
                    <a:ext uri="{FF2B5EF4-FFF2-40B4-BE49-F238E27FC236}">
                      <a16:creationId xmlns:a16="http://schemas.microsoft.com/office/drawing/2014/main" id="{C7DAC26C-0B12-D054-AC72-F5E5D61D0A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2" y="6101434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79" name="Graphic 178">
                  <a:extLst>
                    <a:ext uri="{FF2B5EF4-FFF2-40B4-BE49-F238E27FC236}">
                      <a16:creationId xmlns:a16="http://schemas.microsoft.com/office/drawing/2014/main" id="{85DD7686-6BF9-797D-5DE6-23FC72E282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3" y="5928621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80" name="Graphic 179">
                  <a:extLst>
                    <a:ext uri="{FF2B5EF4-FFF2-40B4-BE49-F238E27FC236}">
                      <a16:creationId xmlns:a16="http://schemas.microsoft.com/office/drawing/2014/main" id="{87C2AC57-B6D4-EA38-22E9-A4CEFEC96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756814"/>
                  <a:ext cx="431735" cy="128417"/>
                </a:xfrm>
                <a:prstGeom prst="rect">
                  <a:avLst/>
                </a:prstGeom>
              </p:spPr>
            </p:pic>
            <p:pic>
              <p:nvPicPr>
                <p:cNvPr id="181" name="Graphic 180">
                  <a:extLst>
                    <a:ext uri="{FF2B5EF4-FFF2-40B4-BE49-F238E27FC236}">
                      <a16:creationId xmlns:a16="http://schemas.microsoft.com/office/drawing/2014/main" id="{9C38E435-8F9E-7761-730B-773B6D95D1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584503"/>
                  <a:ext cx="431735" cy="128417"/>
                </a:xfrm>
                <a:prstGeom prst="rect">
                  <a:avLst/>
                </a:prstGeom>
              </p:spPr>
            </p:pic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C7BEA8EB-4420-DF67-0119-E7F6514E8DA5}"/>
                  </a:ext>
                </a:extLst>
              </p:cNvPr>
              <p:cNvGrpSpPr/>
              <p:nvPr/>
            </p:nvGrpSpPr>
            <p:grpSpPr>
              <a:xfrm>
                <a:off x="4842201" y="3636612"/>
                <a:ext cx="682703" cy="994403"/>
                <a:chOff x="6472979" y="5584503"/>
                <a:chExt cx="431740" cy="645348"/>
              </a:xfrm>
              <a:solidFill>
                <a:srgbClr val="0F9ED5"/>
              </a:solidFill>
            </p:grpSpPr>
            <p:pic>
              <p:nvPicPr>
                <p:cNvPr id="174" name="Graphic 173">
                  <a:extLst>
                    <a:ext uri="{FF2B5EF4-FFF2-40B4-BE49-F238E27FC236}">
                      <a16:creationId xmlns:a16="http://schemas.microsoft.com/office/drawing/2014/main" id="{AF97D898-C908-CE03-90B8-B2ADF28AAF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2" y="6101434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75" name="Graphic 174">
                  <a:extLst>
                    <a:ext uri="{FF2B5EF4-FFF2-40B4-BE49-F238E27FC236}">
                      <a16:creationId xmlns:a16="http://schemas.microsoft.com/office/drawing/2014/main" id="{661E87CD-1865-34F5-8377-B7125261B0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3" y="5928621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76" name="Graphic 175">
                  <a:extLst>
                    <a:ext uri="{FF2B5EF4-FFF2-40B4-BE49-F238E27FC236}">
                      <a16:creationId xmlns:a16="http://schemas.microsoft.com/office/drawing/2014/main" id="{2F7E642E-7CC0-B4E6-4F7D-0B6DED32BD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756814"/>
                  <a:ext cx="431735" cy="128417"/>
                </a:xfrm>
                <a:prstGeom prst="rect">
                  <a:avLst/>
                </a:prstGeom>
              </p:spPr>
            </p:pic>
            <p:pic>
              <p:nvPicPr>
                <p:cNvPr id="177" name="Graphic 176">
                  <a:extLst>
                    <a:ext uri="{FF2B5EF4-FFF2-40B4-BE49-F238E27FC236}">
                      <a16:creationId xmlns:a16="http://schemas.microsoft.com/office/drawing/2014/main" id="{22B4EE88-911F-6636-72E3-BBD183ED1C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584503"/>
                  <a:ext cx="431735" cy="128417"/>
                </a:xfrm>
                <a:prstGeom prst="rect">
                  <a:avLst/>
                </a:prstGeom>
              </p:spPr>
            </p:pic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47A5C58-C1E4-F9DB-9A37-B95BDD668E9C}"/>
                  </a:ext>
                </a:extLst>
              </p:cNvPr>
              <p:cNvGrpSpPr/>
              <p:nvPr/>
            </p:nvGrpSpPr>
            <p:grpSpPr>
              <a:xfrm>
                <a:off x="3011848" y="3629521"/>
                <a:ext cx="682703" cy="994403"/>
                <a:chOff x="6472979" y="5584503"/>
                <a:chExt cx="431740" cy="645348"/>
              </a:xfrm>
              <a:solidFill>
                <a:srgbClr val="0098C7"/>
              </a:solidFill>
            </p:grpSpPr>
            <p:pic>
              <p:nvPicPr>
                <p:cNvPr id="170" name="Graphic 169">
                  <a:extLst>
                    <a:ext uri="{FF2B5EF4-FFF2-40B4-BE49-F238E27FC236}">
                      <a16:creationId xmlns:a16="http://schemas.microsoft.com/office/drawing/2014/main" id="{DB43F33D-6D8F-B582-A4A4-8419D8B633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2" y="6101434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71" name="Graphic 170">
                  <a:extLst>
                    <a:ext uri="{FF2B5EF4-FFF2-40B4-BE49-F238E27FC236}">
                      <a16:creationId xmlns:a16="http://schemas.microsoft.com/office/drawing/2014/main" id="{929897E1-6363-8A66-B9B8-849F1082EE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3" y="5928621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72" name="Graphic 171">
                  <a:extLst>
                    <a:ext uri="{FF2B5EF4-FFF2-40B4-BE49-F238E27FC236}">
                      <a16:creationId xmlns:a16="http://schemas.microsoft.com/office/drawing/2014/main" id="{455AF698-A9FA-A056-AA83-6FF1F69E75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756814"/>
                  <a:ext cx="431735" cy="128417"/>
                </a:xfrm>
                <a:prstGeom prst="rect">
                  <a:avLst/>
                </a:prstGeom>
              </p:spPr>
            </p:pic>
            <p:pic>
              <p:nvPicPr>
                <p:cNvPr id="173" name="Graphic 172">
                  <a:extLst>
                    <a:ext uri="{FF2B5EF4-FFF2-40B4-BE49-F238E27FC236}">
                      <a16:creationId xmlns:a16="http://schemas.microsoft.com/office/drawing/2014/main" id="{B3939B8A-1989-DF1B-3090-176F9206A5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584503"/>
                  <a:ext cx="431735" cy="128417"/>
                </a:xfrm>
                <a:prstGeom prst="rect">
                  <a:avLst/>
                </a:prstGeom>
              </p:spPr>
            </p:pic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2188848B-5F44-9092-E417-5A8EE4A2C66A}"/>
                  </a:ext>
                </a:extLst>
              </p:cNvPr>
              <p:cNvGrpSpPr/>
              <p:nvPr/>
            </p:nvGrpSpPr>
            <p:grpSpPr>
              <a:xfrm>
                <a:off x="8507133" y="3625652"/>
                <a:ext cx="682703" cy="994403"/>
                <a:chOff x="6472979" y="5584503"/>
                <a:chExt cx="431740" cy="645348"/>
              </a:xfrm>
            </p:grpSpPr>
            <p:pic>
              <p:nvPicPr>
                <p:cNvPr id="166" name="Graphic 165">
                  <a:extLst>
                    <a:ext uri="{FF2B5EF4-FFF2-40B4-BE49-F238E27FC236}">
                      <a16:creationId xmlns:a16="http://schemas.microsoft.com/office/drawing/2014/main" id="{053E4B6F-C3D5-6E7B-1376-CD3F76476E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2" y="6101434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67" name="Graphic 166">
                  <a:extLst>
                    <a:ext uri="{FF2B5EF4-FFF2-40B4-BE49-F238E27FC236}">
                      <a16:creationId xmlns:a16="http://schemas.microsoft.com/office/drawing/2014/main" id="{734FC6C0-FFB6-7F73-71B0-D0495C3FCD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3" y="5928621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68" name="Graphic 167">
                  <a:extLst>
                    <a:ext uri="{FF2B5EF4-FFF2-40B4-BE49-F238E27FC236}">
                      <a16:creationId xmlns:a16="http://schemas.microsoft.com/office/drawing/2014/main" id="{ACD35D43-B6AD-E9A7-6D46-9B8F0A117F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756814"/>
                  <a:ext cx="431735" cy="128417"/>
                </a:xfrm>
                <a:prstGeom prst="rect">
                  <a:avLst/>
                </a:prstGeom>
              </p:spPr>
            </p:pic>
            <p:pic>
              <p:nvPicPr>
                <p:cNvPr id="169" name="Graphic 168">
                  <a:extLst>
                    <a:ext uri="{FF2B5EF4-FFF2-40B4-BE49-F238E27FC236}">
                      <a16:creationId xmlns:a16="http://schemas.microsoft.com/office/drawing/2014/main" id="{C803BE35-1AF2-8956-E793-288AA2A523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584503"/>
                  <a:ext cx="431735" cy="128417"/>
                </a:xfrm>
                <a:prstGeom prst="rect">
                  <a:avLst/>
                </a:prstGeom>
              </p:spPr>
            </p:pic>
          </p:grp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B11EF95C-4143-7B3D-8BD0-051A14679A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8594" y="3543183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7BA8AE6D-673E-2E81-E6B0-67AC758B59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8594" y="4711583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51B2E8BA-55A9-74A7-5DE1-F340DF2F91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02674" y="3543183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2A8EF796-6440-1BCC-C44D-43140FAFAD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08594" y="3543183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BA83C3A5-9D1A-631B-372C-8696357532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3869" y="3552407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9F2C001C-B135-1897-847B-F9523319B6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3869" y="4720807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B2E10314-F6A9-B791-DF46-F6AD9F9949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47949" y="3552407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661B6F3C-811E-08C5-920B-C8225700FA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53869" y="3552407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839E83C9-C6EA-B2DD-72F3-BCBAC2D0FA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4669" y="3543183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09DD9231-A05B-E422-852A-995CE8091B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4626" y="4702220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E4FF0737-F8FD-3A93-D8A9-511CDB6982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18706" y="3533820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EF11F2DD-6795-03A3-9DE7-DAB0A2AAB3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24626" y="3533820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81475A07-EA3A-51AD-7983-A972F73788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8332" y="3552407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C630264F-D677-04AE-0A6D-724800087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3241" y="4720807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106E3623-3AB4-F56F-E9C4-681C3DEEDB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86965" y="3543183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E172E589-BCBA-8745-0830-B21B8F5843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98332" y="3543183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479D18B4-885F-E803-05F7-F41792052A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6628" y="2589655"/>
                <a:ext cx="5498744" cy="636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E80F17DF-C57A-5ABC-7899-02AAB2A7EB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61709" y="2596017"/>
                <a:ext cx="0" cy="55293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018232F-AF43-260B-F49E-4E1CBB8CE5C7}"/>
                  </a:ext>
                </a:extLst>
              </p:cNvPr>
              <p:cNvSpPr txBox="1"/>
              <p:nvPr/>
            </p:nvSpPr>
            <p:spPr>
              <a:xfrm>
                <a:off x="3297600" y="2603509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B0ADEFF-4A27-418D-80E0-6F2BF51C1877}"/>
                  </a:ext>
                </a:extLst>
              </p:cNvPr>
              <p:cNvSpPr txBox="1"/>
              <p:nvPr/>
            </p:nvSpPr>
            <p:spPr>
              <a:xfrm>
                <a:off x="5157196" y="2609954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9CF01E91-F2AB-7172-789F-EA6D4C26C78A}"/>
                  </a:ext>
                </a:extLst>
              </p:cNvPr>
              <p:cNvSpPr txBox="1"/>
              <p:nvPr/>
            </p:nvSpPr>
            <p:spPr>
              <a:xfrm>
                <a:off x="6898290" y="2611576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2BCDAC1-5B91-C19E-FC71-58E9C5381BC3}"/>
                  </a:ext>
                </a:extLst>
              </p:cNvPr>
              <p:cNvSpPr txBox="1"/>
              <p:nvPr/>
            </p:nvSpPr>
            <p:spPr>
              <a:xfrm>
                <a:off x="8614011" y="2597278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511AF429-ED1F-99A7-73AA-062CCC94FA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46628" y="2594564"/>
                <a:ext cx="3999" cy="564216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8AB7D45F-349A-F9E0-F1E4-EFFDF06A39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08803" y="2591371"/>
                <a:ext cx="0" cy="557576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B9F2F4F5-00B9-9CE3-F90C-F4984C9372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845372" y="2596017"/>
                <a:ext cx="1177" cy="56276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68F56B6C-AB7C-FB9D-7A79-25B3FBA06D4C}"/>
                  </a:ext>
                </a:extLst>
              </p:cNvPr>
              <p:cNvGrpSpPr/>
              <p:nvPr/>
            </p:nvGrpSpPr>
            <p:grpSpPr>
              <a:xfrm>
                <a:off x="2973871" y="4803470"/>
                <a:ext cx="6207760" cy="186442"/>
                <a:chOff x="1177953" y="5660610"/>
                <a:chExt cx="1911573" cy="355446"/>
              </a:xfrm>
              <a:solidFill>
                <a:srgbClr val="0F9ED5"/>
              </a:solidFill>
            </p:grpSpPr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03618E83-AAE9-28D2-D1B5-C369B81F75E1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177953" y="5660610"/>
                  <a:ext cx="0" cy="12413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AB8300D6-82C8-79BD-8DD2-E7AD72D230DB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2466153" y="5784735"/>
                  <a:ext cx="623373" cy="4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E0DF8ACC-B658-D416-E1BC-9DA834A777A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089526" y="5660610"/>
                  <a:ext cx="0" cy="12413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5730F405-D965-263B-0BF6-FF88EC8497A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177953" y="5784735"/>
                  <a:ext cx="647422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E14FFF1F-069B-A685-B177-A6DB108E0C32}"/>
                    </a:ext>
                  </a:extLst>
                </p:cNvPr>
                <p:cNvSpPr txBox="1"/>
                <p:nvPr/>
              </p:nvSpPr>
              <p:spPr>
                <a:xfrm>
                  <a:off x="1336237" y="5722673"/>
                  <a:ext cx="1588813" cy="29338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F9ED5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    vSAN Cluster with Fault Domains</a:t>
                  </a:r>
                </a:p>
              </p:txBody>
            </p:sp>
          </p:grp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8B788CE9-7FA8-7853-E7BF-1E2EA55D8B71}"/>
                  </a:ext>
                </a:extLst>
              </p:cNvPr>
              <p:cNvSpPr txBox="1"/>
              <p:nvPr/>
            </p:nvSpPr>
            <p:spPr>
              <a:xfrm>
                <a:off x="2910829" y="2845741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4E15159E-EC74-83B3-4FA1-4B6474EA4B0E}"/>
                  </a:ext>
                </a:extLst>
              </p:cNvPr>
              <p:cNvSpPr txBox="1"/>
              <p:nvPr/>
            </p:nvSpPr>
            <p:spPr>
              <a:xfrm>
                <a:off x="4753869" y="2837932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E18D037-B56F-070E-8022-E93C75104176}"/>
                  </a:ext>
                </a:extLst>
              </p:cNvPr>
              <p:cNvSpPr txBox="1"/>
              <p:nvPr/>
            </p:nvSpPr>
            <p:spPr>
              <a:xfrm>
                <a:off x="6510509" y="2856884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B1470B03-DD4C-BE37-4D92-440AA6B36ADB}"/>
                  </a:ext>
                </a:extLst>
              </p:cNvPr>
              <p:cNvSpPr txBox="1"/>
              <p:nvPr/>
            </p:nvSpPr>
            <p:spPr>
              <a:xfrm>
                <a:off x="8402395" y="2853377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0" name="Google Shape;1358;p4">
                <a:extLst>
                  <a:ext uri="{FF2B5EF4-FFF2-40B4-BE49-F238E27FC236}">
                    <a16:creationId xmlns:a16="http://schemas.microsoft.com/office/drawing/2014/main" id="{96327809-9BD0-9C2D-891A-980537405B49}"/>
                  </a:ext>
                </a:extLst>
              </p:cNvPr>
              <p:cNvSpPr/>
              <p:nvPr/>
            </p:nvSpPr>
            <p:spPr>
              <a:xfrm>
                <a:off x="2100297" y="1898775"/>
                <a:ext cx="8031849" cy="3783562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Workload Domain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45CD73ED-099D-642C-AFCC-512005700831}"/>
                </a:ext>
              </a:extLst>
            </p:cNvPr>
            <p:cNvGrpSpPr/>
            <p:nvPr/>
          </p:nvGrpSpPr>
          <p:grpSpPr>
            <a:xfrm>
              <a:off x="3097261" y="3172010"/>
              <a:ext cx="498734" cy="378703"/>
              <a:chOff x="3391157" y="3797947"/>
              <a:chExt cx="498734" cy="378703"/>
            </a:xfrm>
          </p:grpSpPr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D0A5C062-575C-2EA9-537A-B417E457CAFF}"/>
                  </a:ext>
                </a:extLst>
              </p:cNvPr>
              <p:cNvCxnSpPr>
                <a:cxnSpLocks/>
                <a:stCxn id="115" idx="2"/>
              </p:cNvCxnSpPr>
              <p:nvPr/>
            </p:nvCxnSpPr>
            <p:spPr bwMode="gray">
              <a:xfrm>
                <a:off x="3528443" y="3986027"/>
                <a:ext cx="5096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115" name="Graphic 114">
                <a:extLst>
                  <a:ext uri="{FF2B5EF4-FFF2-40B4-BE49-F238E27FC236}">
                    <a16:creationId xmlns:a16="http://schemas.microsoft.com/office/drawing/2014/main" id="{FAF35D4C-CC5C-B75A-1AA3-95BF35ECB6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116" name="Graphic 115">
                <a:extLst>
                  <a:ext uri="{FF2B5EF4-FFF2-40B4-BE49-F238E27FC236}">
                    <a16:creationId xmlns:a16="http://schemas.microsoft.com/office/drawing/2014/main" id="{E2C4E63B-4850-2EB4-7C1A-4F4CF5DEE6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D52B0EFA-5FA9-9B19-D5A5-E90DD2A94E99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774753" y="3986027"/>
                <a:ext cx="0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8430A8EE-5AC6-4731-39C1-F870693A73B1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36D19914-7B61-E467-3448-0501AE39EE36}"/>
                </a:ext>
              </a:extLst>
            </p:cNvPr>
            <p:cNvGrpSpPr/>
            <p:nvPr/>
          </p:nvGrpSpPr>
          <p:grpSpPr>
            <a:xfrm>
              <a:off x="4959436" y="3166118"/>
              <a:ext cx="498734" cy="378703"/>
              <a:chOff x="3391157" y="3797947"/>
              <a:chExt cx="498734" cy="378703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4F6AD7CD-3354-69ED-13C7-BA2F7B1221F4}"/>
                  </a:ext>
                </a:extLst>
              </p:cNvPr>
              <p:cNvCxnSpPr>
                <a:cxnSpLocks/>
                <a:stCxn id="110" idx="2"/>
              </p:cNvCxnSpPr>
              <p:nvPr/>
            </p:nvCxnSpPr>
            <p:spPr bwMode="gray">
              <a:xfrm>
                <a:off x="3528443" y="3986027"/>
                <a:ext cx="5096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110" name="Graphic 109">
                <a:extLst>
                  <a:ext uri="{FF2B5EF4-FFF2-40B4-BE49-F238E27FC236}">
                    <a16:creationId xmlns:a16="http://schemas.microsoft.com/office/drawing/2014/main" id="{BE6AC4F8-3745-E269-775D-098348040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111" name="Graphic 110">
                <a:extLst>
                  <a:ext uri="{FF2B5EF4-FFF2-40B4-BE49-F238E27FC236}">
                    <a16:creationId xmlns:a16="http://schemas.microsoft.com/office/drawing/2014/main" id="{FD06DC50-B41B-02AF-F14C-71B78A8233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0AD5B11-D4A9-14E8-A66E-B36915035672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774753" y="3986027"/>
                <a:ext cx="0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38977DCA-ADC1-08C6-2386-FEF781EFE50D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AA633537-B22B-206D-0D2A-467EC438FA9B}"/>
                </a:ext>
              </a:extLst>
            </p:cNvPr>
            <p:cNvGrpSpPr/>
            <p:nvPr/>
          </p:nvGrpSpPr>
          <p:grpSpPr>
            <a:xfrm>
              <a:off x="6705112" y="3166118"/>
              <a:ext cx="498734" cy="378703"/>
              <a:chOff x="3391157" y="3797947"/>
              <a:chExt cx="498734" cy="378703"/>
            </a:xfrm>
          </p:grpSpPr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D48A56D2-42B9-8B16-491F-093B55A0094A}"/>
                  </a:ext>
                </a:extLst>
              </p:cNvPr>
              <p:cNvCxnSpPr>
                <a:cxnSpLocks/>
                <a:stCxn id="105" idx="2"/>
              </p:cNvCxnSpPr>
              <p:nvPr/>
            </p:nvCxnSpPr>
            <p:spPr bwMode="gray">
              <a:xfrm>
                <a:off x="3528443" y="3986027"/>
                <a:ext cx="5096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105" name="Graphic 104">
                <a:extLst>
                  <a:ext uri="{FF2B5EF4-FFF2-40B4-BE49-F238E27FC236}">
                    <a16:creationId xmlns:a16="http://schemas.microsoft.com/office/drawing/2014/main" id="{786C449B-7987-1343-B6D8-1169A930AA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106" name="Graphic 105">
                <a:extLst>
                  <a:ext uri="{FF2B5EF4-FFF2-40B4-BE49-F238E27FC236}">
                    <a16:creationId xmlns:a16="http://schemas.microsoft.com/office/drawing/2014/main" id="{9E1C726D-6867-2815-599E-7031FD477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A28923A1-AA8B-D8D4-18B4-71CA99242CD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774753" y="3986027"/>
                <a:ext cx="0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0603EEB-D565-9C49-A1D2-CDCEBB7C3C57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134FA1BC-4813-43A4-2A8B-EF5F668C7EE5}"/>
                </a:ext>
              </a:extLst>
            </p:cNvPr>
            <p:cNvGrpSpPr/>
            <p:nvPr/>
          </p:nvGrpSpPr>
          <p:grpSpPr>
            <a:xfrm>
              <a:off x="8599113" y="3172010"/>
              <a:ext cx="498734" cy="378703"/>
              <a:chOff x="3391157" y="3797947"/>
              <a:chExt cx="498734" cy="378703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9D307B09-B629-E2B2-0FE8-BC2E3618E649}"/>
                  </a:ext>
                </a:extLst>
              </p:cNvPr>
              <p:cNvCxnSpPr>
                <a:cxnSpLocks/>
                <a:stCxn id="100" idx="2"/>
              </p:cNvCxnSpPr>
              <p:nvPr/>
            </p:nvCxnSpPr>
            <p:spPr bwMode="gray">
              <a:xfrm>
                <a:off x="3528443" y="3986027"/>
                <a:ext cx="5096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100" name="Graphic 99">
                <a:extLst>
                  <a:ext uri="{FF2B5EF4-FFF2-40B4-BE49-F238E27FC236}">
                    <a16:creationId xmlns:a16="http://schemas.microsoft.com/office/drawing/2014/main" id="{793CE0D5-CC55-482D-C80F-405D1F46D8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101" name="Graphic 100">
                <a:extLst>
                  <a:ext uri="{FF2B5EF4-FFF2-40B4-BE49-F238E27FC236}">
                    <a16:creationId xmlns:a16="http://schemas.microsoft.com/office/drawing/2014/main" id="{54B942AE-B3B4-D4D8-6407-79E3AEB925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865CC874-FE16-E166-9156-8A50DCF7DD5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774753" y="3986027"/>
                <a:ext cx="0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C8C7385E-6BC9-2312-0DEF-45A85A395222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701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A82C-9FD3-EC6C-F423-007E594ED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E9BC-8994-2ECA-7ADD-C4A0C650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Multi-rack / vSAN Fault Domains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dirty="0">
              <a:latin typeface="Metropolis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0A88C65-16D7-1A25-5717-9531C9545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9289" y="1519989"/>
            <a:ext cx="7123176" cy="349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2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9E1D9-EC6C-5F6D-60CA-A9757EA78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17" y="221932"/>
            <a:ext cx="11001004" cy="381000"/>
          </a:xfrm>
        </p:spPr>
        <p:txBody>
          <a:bodyPr/>
          <a:lstStyle/>
          <a:p>
            <a:r>
              <a:rPr lang="en-US" dirty="0"/>
              <a:t>vSAN Datastore Sharing </a:t>
            </a:r>
            <a:r>
              <a:rPr lang="en-US" dirty="0">
                <a:latin typeface="Metropolis" pitchFamily="2" charset="77"/>
              </a:rPr>
              <a:t>original</a:t>
            </a:r>
            <a:endParaRPr lang="en-US" dirty="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E9F4A14-AF4D-147D-99AF-285454A39D44}"/>
              </a:ext>
            </a:extLst>
          </p:cNvPr>
          <p:cNvGrpSpPr/>
          <p:nvPr/>
        </p:nvGrpSpPr>
        <p:grpSpPr>
          <a:xfrm>
            <a:off x="3401937" y="892175"/>
            <a:ext cx="5428220" cy="5073650"/>
            <a:chOff x="3401937" y="892175"/>
            <a:chExt cx="5428220" cy="5073650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969460F7-89A3-40B3-09CE-4B16752595AA}"/>
                </a:ext>
              </a:extLst>
            </p:cNvPr>
            <p:cNvGrpSpPr/>
            <p:nvPr/>
          </p:nvGrpSpPr>
          <p:grpSpPr>
            <a:xfrm>
              <a:off x="3401937" y="892175"/>
              <a:ext cx="5428220" cy="5073650"/>
              <a:chOff x="3401937" y="892175"/>
              <a:chExt cx="5428220" cy="5073650"/>
            </a:xfrm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C94E674F-C0FB-B754-EC55-EF23933D8C63}"/>
                  </a:ext>
                </a:extLst>
              </p:cNvPr>
              <p:cNvGrpSpPr/>
              <p:nvPr/>
            </p:nvGrpSpPr>
            <p:grpSpPr>
              <a:xfrm>
                <a:off x="3401937" y="892175"/>
                <a:ext cx="5428220" cy="5073650"/>
                <a:chOff x="4065030" y="901701"/>
                <a:chExt cx="5428220" cy="5073650"/>
              </a:xfrm>
            </p:grpSpPr>
            <p:sp>
              <p:nvSpPr>
                <p:cNvPr id="169" name="Google Shape;1342;p4">
                  <a:extLst>
                    <a:ext uri="{FF2B5EF4-FFF2-40B4-BE49-F238E27FC236}">
                      <a16:creationId xmlns:a16="http://schemas.microsoft.com/office/drawing/2014/main" id="{03B71A9F-1CA6-B0A4-39B9-D49FE121C5C8}"/>
                    </a:ext>
                  </a:extLst>
                </p:cNvPr>
                <p:cNvSpPr/>
                <p:nvPr/>
              </p:nvSpPr>
              <p:spPr>
                <a:xfrm>
                  <a:off x="4065030" y="901701"/>
                  <a:ext cx="5428220" cy="5073650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70" name="Google Shape;1344;p4">
                  <a:extLst>
                    <a:ext uri="{FF2B5EF4-FFF2-40B4-BE49-F238E27FC236}">
                      <a16:creationId xmlns:a16="http://schemas.microsoft.com/office/drawing/2014/main" id="{07D719E3-077E-E786-88E4-5A3C9FB6A622}"/>
                    </a:ext>
                  </a:extLst>
                </p:cNvPr>
                <p:cNvSpPr/>
                <p:nvPr/>
              </p:nvSpPr>
              <p:spPr>
                <a:xfrm>
                  <a:off x="4652195" y="1656784"/>
                  <a:ext cx="1932915" cy="3639116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Rack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endParaRPr>
                </a:p>
              </p:txBody>
            </p:sp>
            <p:sp>
              <p:nvSpPr>
                <p:cNvPr id="171" name="Google Shape;1344;p4">
                  <a:extLst>
                    <a:ext uri="{FF2B5EF4-FFF2-40B4-BE49-F238E27FC236}">
                      <a16:creationId xmlns:a16="http://schemas.microsoft.com/office/drawing/2014/main" id="{BB362CAF-0356-0567-2DE6-2A2F50302BE4}"/>
                    </a:ext>
                  </a:extLst>
                </p:cNvPr>
                <p:cNvSpPr/>
                <p:nvPr/>
              </p:nvSpPr>
              <p:spPr>
                <a:xfrm>
                  <a:off x="6836754" y="1656784"/>
                  <a:ext cx="1949875" cy="3639116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Rack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endParaRPr>
                </a:p>
              </p:txBody>
            </p:sp>
            <p:sp>
              <p:nvSpPr>
                <p:cNvPr id="172" name="Google Shape;1345;p4">
                  <a:extLst>
                    <a:ext uri="{FF2B5EF4-FFF2-40B4-BE49-F238E27FC236}">
                      <a16:creationId xmlns:a16="http://schemas.microsoft.com/office/drawing/2014/main" id="{A80E882A-B7DE-A45E-1E31-28962129D9D0}"/>
                    </a:ext>
                  </a:extLst>
                </p:cNvPr>
                <p:cNvSpPr/>
                <p:nvPr/>
              </p:nvSpPr>
              <p:spPr>
                <a:xfrm>
                  <a:off x="4216400" y="1175496"/>
                  <a:ext cx="5060950" cy="4590304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CFC9DD93-FD70-D567-4440-A8CB06F21EDE}"/>
                    </a:ext>
                  </a:extLst>
                </p:cNvPr>
                <p:cNvSpPr txBox="1"/>
                <p:nvPr/>
              </p:nvSpPr>
              <p:spPr>
                <a:xfrm>
                  <a:off x="6041181" y="1192239"/>
                  <a:ext cx="146218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Workload Domain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cxnSp>
              <p:nvCxnSpPr>
                <p:cNvPr id="174" name="Elbow Connector 173">
                  <a:extLst>
                    <a:ext uri="{FF2B5EF4-FFF2-40B4-BE49-F238E27FC236}">
                      <a16:creationId xmlns:a16="http://schemas.microsoft.com/office/drawing/2014/main" id="{911B4D82-2815-07A7-2275-CD9BE1D9C4AD}"/>
                    </a:ext>
                  </a:extLst>
                </p:cNvPr>
                <p:cNvCxnSpPr>
                  <a:cxnSpLocks/>
                  <a:stCxn id="164" idx="1"/>
                  <a:endCxn id="176" idx="1"/>
                </p:cNvCxnSpPr>
                <p:nvPr/>
              </p:nvCxnSpPr>
              <p:spPr>
                <a:xfrm rot="10800000" flipV="1">
                  <a:off x="7306436" y="2074266"/>
                  <a:ext cx="266082" cy="2543862"/>
                </a:xfrm>
                <a:prstGeom prst="bentConnector3">
                  <a:avLst>
                    <a:gd name="adj1" fmla="val 185913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75" name="Elbow Connector 174">
                  <a:extLst>
                    <a:ext uri="{FF2B5EF4-FFF2-40B4-BE49-F238E27FC236}">
                      <a16:creationId xmlns:a16="http://schemas.microsoft.com/office/drawing/2014/main" id="{EAB20217-0C1C-0288-AAE5-F9CACF8242E2}"/>
                    </a:ext>
                  </a:extLst>
                </p:cNvPr>
                <p:cNvCxnSpPr>
                  <a:cxnSpLocks/>
                  <a:stCxn id="164" idx="3"/>
                  <a:endCxn id="176" idx="3"/>
                </p:cNvCxnSpPr>
                <p:nvPr/>
              </p:nvCxnSpPr>
              <p:spPr>
                <a:xfrm>
                  <a:off x="8071252" y="2074266"/>
                  <a:ext cx="235616" cy="2543862"/>
                </a:xfrm>
                <a:prstGeom prst="bentConnector3">
                  <a:avLst>
                    <a:gd name="adj1" fmla="val 197022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B34D3CD-240B-8C96-353B-9FFCDC7D9684}"/>
                    </a:ext>
                  </a:extLst>
                </p:cNvPr>
                <p:cNvSpPr txBox="1"/>
                <p:nvPr/>
              </p:nvSpPr>
              <p:spPr>
                <a:xfrm>
                  <a:off x="7306436" y="4433913"/>
                  <a:ext cx="1000432" cy="368430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cxnSp>
              <p:nvCxnSpPr>
                <p:cNvPr id="177" name="Elbow Connector 176">
                  <a:extLst>
                    <a:ext uri="{FF2B5EF4-FFF2-40B4-BE49-F238E27FC236}">
                      <a16:creationId xmlns:a16="http://schemas.microsoft.com/office/drawing/2014/main" id="{F896976B-4303-5EA4-B6B8-887D73D01FF6}"/>
                    </a:ext>
                  </a:extLst>
                </p:cNvPr>
                <p:cNvCxnSpPr>
                  <a:cxnSpLocks/>
                  <a:stCxn id="168" idx="3"/>
                </p:cNvCxnSpPr>
                <p:nvPr/>
              </p:nvCxnSpPr>
              <p:spPr>
                <a:xfrm>
                  <a:off x="5818162" y="2067452"/>
                  <a:ext cx="277838" cy="2524199"/>
                </a:xfrm>
                <a:prstGeom prst="bentConnector3">
                  <a:avLst>
                    <a:gd name="adj1" fmla="val 182278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A910A403-32EE-F5EA-8AC7-9D9B85F4C9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16231" y="2029779"/>
                  <a:ext cx="1756287" cy="5776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464460BB-4012-9AAB-E11F-20AA79E0617E}"/>
                    </a:ext>
                  </a:extLst>
                </p:cNvPr>
                <p:cNvSpPr txBox="1"/>
                <p:nvPr/>
              </p:nvSpPr>
              <p:spPr>
                <a:xfrm>
                  <a:off x="5052695" y="2752810"/>
                  <a:ext cx="989601" cy="503959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cxnSp>
              <p:nvCxnSpPr>
                <p:cNvPr id="180" name="Elbow Connector 179">
                  <a:extLst>
                    <a:ext uri="{FF2B5EF4-FFF2-40B4-BE49-F238E27FC236}">
                      <a16:creationId xmlns:a16="http://schemas.microsoft.com/office/drawing/2014/main" id="{465DBFAF-69D7-663E-7192-9B46E94D4480}"/>
                    </a:ext>
                  </a:extLst>
                </p:cNvPr>
                <p:cNvCxnSpPr>
                  <a:cxnSpLocks/>
                  <a:endCxn id="168" idx="1"/>
                </p:cNvCxnSpPr>
                <p:nvPr/>
              </p:nvCxnSpPr>
              <p:spPr>
                <a:xfrm rot="10800000" flipH="1">
                  <a:off x="5095568" y="2067453"/>
                  <a:ext cx="223860" cy="2524199"/>
                </a:xfrm>
                <a:prstGeom prst="bentConnector3">
                  <a:avLst>
                    <a:gd name="adj1" fmla="val -102117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grpSp>
              <p:nvGrpSpPr>
                <p:cNvPr id="181" name="Group 180">
                  <a:extLst>
                    <a:ext uri="{FF2B5EF4-FFF2-40B4-BE49-F238E27FC236}">
                      <a16:creationId xmlns:a16="http://schemas.microsoft.com/office/drawing/2014/main" id="{EE3390E8-FDE7-1177-A79D-1565215ED37C}"/>
                    </a:ext>
                  </a:extLst>
                </p:cNvPr>
                <p:cNvGrpSpPr/>
                <p:nvPr/>
              </p:nvGrpSpPr>
              <p:grpSpPr>
                <a:xfrm>
                  <a:off x="5156727" y="2806174"/>
                  <a:ext cx="771877" cy="1087895"/>
                  <a:chOff x="1452313" y="2145349"/>
                  <a:chExt cx="771877" cy="1087895"/>
                </a:xfrm>
              </p:grpSpPr>
              <p:grpSp>
                <p:nvGrpSpPr>
                  <p:cNvPr id="201" name="Group 200">
                    <a:extLst>
                      <a:ext uri="{FF2B5EF4-FFF2-40B4-BE49-F238E27FC236}">
                        <a16:creationId xmlns:a16="http://schemas.microsoft.com/office/drawing/2014/main" id="{DEA38DF0-21C2-EF6F-6979-65EB06B2BF6E}"/>
                      </a:ext>
                    </a:extLst>
                  </p:cNvPr>
                  <p:cNvGrpSpPr/>
                  <p:nvPr/>
                </p:nvGrpSpPr>
                <p:grpSpPr>
                  <a:xfrm>
                    <a:off x="1468761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233" name="Freeform 232">
                      <a:extLst>
                        <a:ext uri="{FF2B5EF4-FFF2-40B4-BE49-F238E27FC236}">
                          <a16:creationId xmlns:a16="http://schemas.microsoft.com/office/drawing/2014/main" id="{95104BE2-9698-4F02-4237-0C13948E30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4" name="Freeform 233">
                      <a:extLst>
                        <a:ext uri="{FF2B5EF4-FFF2-40B4-BE49-F238E27FC236}">
                          <a16:creationId xmlns:a16="http://schemas.microsoft.com/office/drawing/2014/main" id="{CFAE4F2C-E355-F97F-8F92-02306A33BE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5" name="Freeform 234">
                      <a:extLst>
                        <a:ext uri="{FF2B5EF4-FFF2-40B4-BE49-F238E27FC236}">
                          <a16:creationId xmlns:a16="http://schemas.microsoft.com/office/drawing/2014/main" id="{D86C72FE-664D-FB7A-3D2D-9865E7B852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6" name="Freeform 235">
                      <a:extLst>
                        <a:ext uri="{FF2B5EF4-FFF2-40B4-BE49-F238E27FC236}">
                          <a16:creationId xmlns:a16="http://schemas.microsoft.com/office/drawing/2014/main" id="{D3EB3F53-BA88-CB2C-62E7-D4D919D3BF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02" name="Group 201">
                    <a:extLst>
                      <a:ext uri="{FF2B5EF4-FFF2-40B4-BE49-F238E27FC236}">
                        <a16:creationId xmlns:a16="http://schemas.microsoft.com/office/drawing/2014/main" id="{54873865-5CF2-F255-E615-FEF8126E8773}"/>
                      </a:ext>
                    </a:extLst>
                  </p:cNvPr>
                  <p:cNvGrpSpPr/>
                  <p:nvPr/>
                </p:nvGrpSpPr>
                <p:grpSpPr>
                  <a:xfrm>
                    <a:off x="1455575" y="2852294"/>
                    <a:ext cx="765353" cy="64044"/>
                    <a:chOff x="5136549" y="3557033"/>
                    <a:chExt cx="892393" cy="71769"/>
                  </a:xfrm>
                  <a:solidFill>
                    <a:srgbClr val="000000"/>
                  </a:solidFill>
                </p:grpSpPr>
                <p:cxnSp>
                  <p:nvCxnSpPr>
                    <p:cNvPr id="229" name="Straight Connector 228">
                      <a:extLst>
                        <a:ext uri="{FF2B5EF4-FFF2-40B4-BE49-F238E27FC236}">
                          <a16:creationId xmlns:a16="http://schemas.microsoft.com/office/drawing/2014/main" id="{18371F81-FCF8-59DD-A115-A2F95B8D4C5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5873482" y="3628801"/>
                      <a:ext cx="155460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30" name="Straight Connector 229">
                      <a:extLst>
                        <a:ext uri="{FF2B5EF4-FFF2-40B4-BE49-F238E27FC236}">
                          <a16:creationId xmlns:a16="http://schemas.microsoft.com/office/drawing/2014/main" id="{C5A9D190-83E3-A4CD-83EC-36AF5BDA808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6028942" y="3563692"/>
                      <a:ext cx="0" cy="6511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31" name="Straight Connector 230">
                      <a:extLst>
                        <a:ext uri="{FF2B5EF4-FFF2-40B4-BE49-F238E27FC236}">
                          <a16:creationId xmlns:a16="http://schemas.microsoft.com/office/drawing/2014/main" id="{9B837B9F-273A-5798-61B2-BB8B610303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5137608" y="3557033"/>
                      <a:ext cx="0" cy="6511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32" name="Straight Connector 231">
                      <a:extLst>
                        <a:ext uri="{FF2B5EF4-FFF2-40B4-BE49-F238E27FC236}">
                          <a16:creationId xmlns:a16="http://schemas.microsoft.com/office/drawing/2014/main" id="{4CFEB5D3-CF32-9222-DF0D-6729865017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5136549" y="3622143"/>
                      <a:ext cx="130593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</p:grpSp>
              <p:grpSp>
                <p:nvGrpSpPr>
                  <p:cNvPr id="203" name="Group 202">
                    <a:extLst>
                      <a:ext uri="{FF2B5EF4-FFF2-40B4-BE49-F238E27FC236}">
                        <a16:creationId xmlns:a16="http://schemas.microsoft.com/office/drawing/2014/main" id="{765AA7EE-657D-5584-DDCD-CB366395434A}"/>
                      </a:ext>
                    </a:extLst>
                  </p:cNvPr>
                  <p:cNvGrpSpPr/>
                  <p:nvPr/>
                </p:nvGrpSpPr>
                <p:grpSpPr>
                  <a:xfrm>
                    <a:off x="1652299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225" name="Freeform 224">
                      <a:extLst>
                        <a:ext uri="{FF2B5EF4-FFF2-40B4-BE49-F238E27FC236}">
                          <a16:creationId xmlns:a16="http://schemas.microsoft.com/office/drawing/2014/main" id="{B0FAE5C2-0542-28D6-2779-A8ED08044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6" name="Freeform 225">
                      <a:extLst>
                        <a:ext uri="{FF2B5EF4-FFF2-40B4-BE49-F238E27FC236}">
                          <a16:creationId xmlns:a16="http://schemas.microsoft.com/office/drawing/2014/main" id="{155C06BE-CEE0-61F9-DA14-57EC0971A8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7" name="Freeform 226">
                      <a:extLst>
                        <a:ext uri="{FF2B5EF4-FFF2-40B4-BE49-F238E27FC236}">
                          <a16:creationId xmlns:a16="http://schemas.microsoft.com/office/drawing/2014/main" id="{2F4EE040-91C3-C549-F17B-EEE52F52AE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8" name="Freeform 227">
                      <a:extLst>
                        <a:ext uri="{FF2B5EF4-FFF2-40B4-BE49-F238E27FC236}">
                          <a16:creationId xmlns:a16="http://schemas.microsoft.com/office/drawing/2014/main" id="{528CFC9F-0731-1C3C-3600-39F6425460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04" name="Group 203">
                    <a:extLst>
                      <a:ext uri="{FF2B5EF4-FFF2-40B4-BE49-F238E27FC236}">
                        <a16:creationId xmlns:a16="http://schemas.microsoft.com/office/drawing/2014/main" id="{58068D0E-6F0E-BF94-3D32-768B41820F0A}"/>
                      </a:ext>
                    </a:extLst>
                  </p:cNvPr>
                  <p:cNvGrpSpPr/>
                  <p:nvPr/>
                </p:nvGrpSpPr>
                <p:grpSpPr>
                  <a:xfrm>
                    <a:off x="1838252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221" name="Freeform 220">
                      <a:extLst>
                        <a:ext uri="{FF2B5EF4-FFF2-40B4-BE49-F238E27FC236}">
                          <a16:creationId xmlns:a16="http://schemas.microsoft.com/office/drawing/2014/main" id="{955C8517-43FD-49E8-F744-AD29250BB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2" name="Freeform 221">
                      <a:extLst>
                        <a:ext uri="{FF2B5EF4-FFF2-40B4-BE49-F238E27FC236}">
                          <a16:creationId xmlns:a16="http://schemas.microsoft.com/office/drawing/2014/main" id="{3DF2B777-CFE6-4F38-2A54-CD551C356F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3" name="Freeform 222">
                      <a:extLst>
                        <a:ext uri="{FF2B5EF4-FFF2-40B4-BE49-F238E27FC236}">
                          <a16:creationId xmlns:a16="http://schemas.microsoft.com/office/drawing/2014/main" id="{192887A0-567B-5C06-1122-704CDB2142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4" name="Freeform 223">
                      <a:extLst>
                        <a:ext uri="{FF2B5EF4-FFF2-40B4-BE49-F238E27FC236}">
                          <a16:creationId xmlns:a16="http://schemas.microsoft.com/office/drawing/2014/main" id="{DE268BEF-785C-8EC0-6D06-D79969CCCB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05" name="Group 204">
                    <a:extLst>
                      <a:ext uri="{FF2B5EF4-FFF2-40B4-BE49-F238E27FC236}">
                        <a16:creationId xmlns:a16="http://schemas.microsoft.com/office/drawing/2014/main" id="{4A146C77-4D49-3542-CEB0-8BEE3422635A}"/>
                      </a:ext>
                    </a:extLst>
                  </p:cNvPr>
                  <p:cNvGrpSpPr/>
                  <p:nvPr/>
                </p:nvGrpSpPr>
                <p:grpSpPr>
                  <a:xfrm>
                    <a:off x="2028645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217" name="Freeform 216">
                      <a:extLst>
                        <a:ext uri="{FF2B5EF4-FFF2-40B4-BE49-F238E27FC236}">
                          <a16:creationId xmlns:a16="http://schemas.microsoft.com/office/drawing/2014/main" id="{DAACF053-4BF6-DCE9-4804-4484E4C99E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8" name="Freeform 217">
                      <a:extLst>
                        <a:ext uri="{FF2B5EF4-FFF2-40B4-BE49-F238E27FC236}">
                          <a16:creationId xmlns:a16="http://schemas.microsoft.com/office/drawing/2014/main" id="{FA5FB68B-4C37-C27C-41E0-97DF8C2593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9" name="Freeform 218">
                      <a:extLst>
                        <a:ext uri="{FF2B5EF4-FFF2-40B4-BE49-F238E27FC236}">
                          <a16:creationId xmlns:a16="http://schemas.microsoft.com/office/drawing/2014/main" id="{86D46AB1-CE64-15A6-2985-A4F8AEB8B2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0" name="Freeform 219">
                      <a:extLst>
                        <a:ext uri="{FF2B5EF4-FFF2-40B4-BE49-F238E27FC236}">
                          <a16:creationId xmlns:a16="http://schemas.microsoft.com/office/drawing/2014/main" id="{24CE4A04-8B30-85C1-7D68-D9600AA954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61515A1F-BD9D-378A-F274-F72FB730198B}"/>
                      </a:ext>
                    </a:extLst>
                  </p:cNvPr>
                  <p:cNvSpPr txBox="1"/>
                  <p:nvPr/>
                </p:nvSpPr>
                <p:spPr>
                  <a:xfrm>
                    <a:off x="1512147" y="2863912"/>
                    <a:ext cx="639478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C8A"/>
                        </a:solidFill>
                        <a:effectLst/>
                        <a:uLnTx/>
                        <a:uFillTx/>
                        <a:latin typeface="Metropolis" pitchFamily="2" charset="77"/>
                        <a:ea typeface="+mn-ea"/>
                        <a:cs typeface="Arial"/>
                        <a:sym typeface="Arial"/>
                      </a:rPr>
                      <a:t>vSAN             Storage Cluster</a:t>
                    </a:r>
                  </a:p>
                </p:txBody>
              </p:sp>
              <p:grpSp>
                <p:nvGrpSpPr>
                  <p:cNvPr id="207" name="Group 206">
                    <a:extLst>
                      <a:ext uri="{FF2B5EF4-FFF2-40B4-BE49-F238E27FC236}">
                        <a16:creationId xmlns:a16="http://schemas.microsoft.com/office/drawing/2014/main" id="{E445DA4F-C7B9-6FB3-61AA-CDE672AF80EC}"/>
                      </a:ext>
                    </a:extLst>
                  </p:cNvPr>
                  <p:cNvGrpSpPr/>
                  <p:nvPr/>
                </p:nvGrpSpPr>
                <p:grpSpPr>
                  <a:xfrm>
                    <a:off x="1452313" y="2145349"/>
                    <a:ext cx="771877" cy="417949"/>
                    <a:chOff x="4987028" y="3247456"/>
                    <a:chExt cx="900000" cy="473040"/>
                  </a:xfrm>
                  <a:solidFill>
                    <a:srgbClr val="0098C7"/>
                  </a:solidFill>
                </p:grpSpPr>
                <p:grpSp>
                  <p:nvGrpSpPr>
                    <p:cNvPr id="208" name="Group 207">
                      <a:extLst>
                        <a:ext uri="{FF2B5EF4-FFF2-40B4-BE49-F238E27FC236}">
                          <a16:creationId xmlns:a16="http://schemas.microsoft.com/office/drawing/2014/main" id="{94334A2A-18D2-569D-00C5-6BF9618200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87028" y="3592079"/>
                      <a:ext cx="900000" cy="128417"/>
                      <a:chOff x="5030904" y="4970294"/>
                      <a:chExt cx="1917765" cy="244827"/>
                    </a:xfrm>
                    <a:grpFill/>
                  </p:grpSpPr>
                  <p:pic>
                    <p:nvPicPr>
                      <p:cNvPr id="215" name="Graphic 214">
                        <a:extLst>
                          <a:ext uri="{FF2B5EF4-FFF2-40B4-BE49-F238E27FC236}">
                            <a16:creationId xmlns:a16="http://schemas.microsoft.com/office/drawing/2014/main" id="{D7123695-6B57-36D6-0254-A25A3C3A187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030904" y="4970294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16" name="Graphic 215">
                        <a:extLst>
                          <a:ext uri="{FF2B5EF4-FFF2-40B4-BE49-F238E27FC236}">
                            <a16:creationId xmlns:a16="http://schemas.microsoft.com/office/drawing/2014/main" id="{623ED027-3F31-EEE1-736E-ADA48FDBE4E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28705" y="4970294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209" name="Group 208">
                      <a:extLst>
                        <a:ext uri="{FF2B5EF4-FFF2-40B4-BE49-F238E27FC236}">
                          <a16:creationId xmlns:a16="http://schemas.microsoft.com/office/drawing/2014/main" id="{88C6D770-0EE9-E661-307D-775E44FD10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87028" y="3419263"/>
                      <a:ext cx="900000" cy="128417"/>
                      <a:chOff x="5030904" y="4640821"/>
                      <a:chExt cx="1917765" cy="244827"/>
                    </a:xfrm>
                    <a:grpFill/>
                  </p:grpSpPr>
                  <p:pic>
                    <p:nvPicPr>
                      <p:cNvPr id="213" name="Graphic 212">
                        <a:extLst>
                          <a:ext uri="{FF2B5EF4-FFF2-40B4-BE49-F238E27FC236}">
                            <a16:creationId xmlns:a16="http://schemas.microsoft.com/office/drawing/2014/main" id="{4278E120-D5F7-1F3B-7533-4CA5C013608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030904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14" name="Graphic 213">
                        <a:extLst>
                          <a:ext uri="{FF2B5EF4-FFF2-40B4-BE49-F238E27FC236}">
                            <a16:creationId xmlns:a16="http://schemas.microsoft.com/office/drawing/2014/main" id="{17C9CB77-B700-43E3-6CAD-22A1F8740ED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28705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210" name="Group 209">
                      <a:extLst>
                        <a:ext uri="{FF2B5EF4-FFF2-40B4-BE49-F238E27FC236}">
                          <a16:creationId xmlns:a16="http://schemas.microsoft.com/office/drawing/2014/main" id="{B6D97647-A716-AF56-CE8E-AD6F81D922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87028" y="3247456"/>
                      <a:ext cx="900000" cy="128417"/>
                      <a:chOff x="5030904" y="4640821"/>
                      <a:chExt cx="1917765" cy="244827"/>
                    </a:xfrm>
                    <a:grpFill/>
                  </p:grpSpPr>
                  <p:pic>
                    <p:nvPicPr>
                      <p:cNvPr id="211" name="Graphic 210">
                        <a:extLst>
                          <a:ext uri="{FF2B5EF4-FFF2-40B4-BE49-F238E27FC236}">
                            <a16:creationId xmlns:a16="http://schemas.microsoft.com/office/drawing/2014/main" id="{43EE1D9A-0DF1-4D96-4A15-043905F3D6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030904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12" name="Graphic 211">
                        <a:extLst>
                          <a:ext uri="{FF2B5EF4-FFF2-40B4-BE49-F238E27FC236}">
                            <a16:creationId xmlns:a16="http://schemas.microsoft.com/office/drawing/2014/main" id="{7C7A018A-A06F-12CA-8C35-BD62944ABE9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28705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53A65700-DBE6-7036-105D-BD3DC6A7BDDB}"/>
                    </a:ext>
                  </a:extLst>
                </p:cNvPr>
                <p:cNvSpPr txBox="1"/>
                <p:nvPr/>
              </p:nvSpPr>
              <p:spPr>
                <a:xfrm>
                  <a:off x="4400551" y="929275"/>
                  <a:ext cx="473710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VCF Instance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1CD32F65-09D8-193F-5FC2-41366D58FF6C}"/>
                    </a:ext>
                  </a:extLst>
                </p:cNvPr>
                <p:cNvGrpSpPr/>
                <p:nvPr/>
              </p:nvGrpSpPr>
              <p:grpSpPr>
                <a:xfrm>
                  <a:off x="7356651" y="4492829"/>
                  <a:ext cx="900001" cy="656013"/>
                  <a:chOff x="9989245" y="1258647"/>
                  <a:chExt cx="900001" cy="702682"/>
                </a:xfrm>
                <a:solidFill>
                  <a:srgbClr val="007DA3"/>
                </a:solidFill>
              </p:grpSpPr>
              <p:grpSp>
                <p:nvGrpSpPr>
                  <p:cNvPr id="189" name="Group 188">
                    <a:extLst>
                      <a:ext uri="{FF2B5EF4-FFF2-40B4-BE49-F238E27FC236}">
                        <a16:creationId xmlns:a16="http://schemas.microsoft.com/office/drawing/2014/main" id="{70701B3F-F1C5-2FB2-79A6-A72E01366DBB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5" y="1431463"/>
                    <a:ext cx="900001" cy="128417"/>
                    <a:chOff x="5030904" y="4970294"/>
                    <a:chExt cx="1917768" cy="244827"/>
                  </a:xfrm>
                  <a:grpFill/>
                </p:grpSpPr>
                <p:pic>
                  <p:nvPicPr>
                    <p:cNvPr id="199" name="Graphic 198">
                      <a:extLst>
                        <a:ext uri="{FF2B5EF4-FFF2-40B4-BE49-F238E27FC236}">
                          <a16:creationId xmlns:a16="http://schemas.microsoft.com/office/drawing/2014/main" id="{D28A3158-B756-E6E9-720D-A75EFB2F23B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0" name="Graphic 199">
                      <a:extLst>
                        <a:ext uri="{FF2B5EF4-FFF2-40B4-BE49-F238E27FC236}">
                          <a16:creationId xmlns:a16="http://schemas.microsoft.com/office/drawing/2014/main" id="{160E8115-3AA1-98C3-327F-702D2E2486B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90" name="Group 189">
                    <a:extLst>
                      <a:ext uri="{FF2B5EF4-FFF2-40B4-BE49-F238E27FC236}">
                        <a16:creationId xmlns:a16="http://schemas.microsoft.com/office/drawing/2014/main" id="{D083B896-9581-0825-1473-AA9A1E43B436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258647"/>
                    <a:ext cx="900000" cy="128417"/>
                    <a:chOff x="5030904" y="4640821"/>
                    <a:chExt cx="1917765" cy="244827"/>
                  </a:xfrm>
                  <a:grpFill/>
                </p:grpSpPr>
                <p:pic>
                  <p:nvPicPr>
                    <p:cNvPr id="197" name="Graphic 196">
                      <a:extLst>
                        <a:ext uri="{FF2B5EF4-FFF2-40B4-BE49-F238E27FC236}">
                          <a16:creationId xmlns:a16="http://schemas.microsoft.com/office/drawing/2014/main" id="{AAA36E22-8ED0-790E-9DBD-2028C8FE458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98" name="Graphic 197">
                      <a:extLst>
                        <a:ext uri="{FF2B5EF4-FFF2-40B4-BE49-F238E27FC236}">
                          <a16:creationId xmlns:a16="http://schemas.microsoft.com/office/drawing/2014/main" id="{30787FC1-F515-4507-090E-954ECEA4753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91" name="Group 190">
                    <a:extLst>
                      <a:ext uri="{FF2B5EF4-FFF2-40B4-BE49-F238E27FC236}">
                        <a16:creationId xmlns:a16="http://schemas.microsoft.com/office/drawing/2014/main" id="{088E5759-1C80-497C-40BD-263AFF061D86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598642"/>
                    <a:ext cx="900000" cy="362687"/>
                    <a:chOff x="1171761" y="5660610"/>
                    <a:chExt cx="1917765" cy="691453"/>
                  </a:xfrm>
                  <a:grpFill/>
                </p:grpSpPr>
                <p:cxnSp>
                  <p:nvCxnSpPr>
                    <p:cNvPr id="192" name="Straight Connector 191">
                      <a:extLst>
                        <a:ext uri="{FF2B5EF4-FFF2-40B4-BE49-F238E27FC236}">
                          <a16:creationId xmlns:a16="http://schemas.microsoft.com/office/drawing/2014/main" id="{4AB735AF-CE4C-FA6A-3F78-37F7C8FDF9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7953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93" name="Straight Connector 192">
                      <a:extLst>
                        <a:ext uri="{FF2B5EF4-FFF2-40B4-BE49-F238E27FC236}">
                          <a16:creationId xmlns:a16="http://schemas.microsoft.com/office/drawing/2014/main" id="{89F63A99-E8B1-56A1-8A79-143626B79E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2758265" y="5784739"/>
                      <a:ext cx="331261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94" name="Straight Connector 193">
                      <a:extLst>
                        <a:ext uri="{FF2B5EF4-FFF2-40B4-BE49-F238E27FC236}">
                          <a16:creationId xmlns:a16="http://schemas.microsoft.com/office/drawing/2014/main" id="{C39FEB5C-286B-EE6C-EDF1-D357B42EE0F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3089526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95" name="Straight Connector 194">
                      <a:extLst>
                        <a:ext uri="{FF2B5EF4-FFF2-40B4-BE49-F238E27FC236}">
                          <a16:creationId xmlns:a16="http://schemas.microsoft.com/office/drawing/2014/main" id="{6FC24E61-F782-7D90-E1D3-99A2A7E25B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1761" y="5784740"/>
                      <a:ext cx="278274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sp>
                  <p:nvSpPr>
                    <p:cNvPr id="196" name="TextBox 195">
                      <a:extLst>
                        <a:ext uri="{FF2B5EF4-FFF2-40B4-BE49-F238E27FC236}">
                          <a16:creationId xmlns:a16="http://schemas.microsoft.com/office/drawing/2014/main" id="{DDB7B708-C213-69AE-DABC-0BF6B8F7187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0270" y="5849255"/>
                      <a:ext cx="1794595" cy="50280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DA3"/>
                          </a:solidFill>
                          <a:effectLst/>
                          <a:uLnTx/>
                          <a:uFillTx/>
                          <a:latin typeface="Metropolis" pitchFamily="2" charset="77"/>
                          <a:ea typeface="+mn-ea"/>
                          <a:cs typeface="Arial"/>
                          <a:sym typeface="Arial"/>
                        </a:rPr>
                        <a:t>vSAN Compute  Cluster</a:t>
                      </a:r>
                    </a:p>
                  </p:txBody>
                </p:sp>
              </p:grpSp>
            </p:grpSp>
            <p:sp>
              <p:nvSpPr>
                <p:cNvPr id="184" name="Google Shape;1343;p4">
                  <a:extLst>
                    <a:ext uri="{FF2B5EF4-FFF2-40B4-BE49-F238E27FC236}">
                      <a16:creationId xmlns:a16="http://schemas.microsoft.com/office/drawing/2014/main" id="{F936F9D1-533A-8B23-C290-86B7E1FF4191}"/>
                    </a:ext>
                  </a:extLst>
                </p:cNvPr>
                <p:cNvSpPr/>
                <p:nvPr/>
              </p:nvSpPr>
              <p:spPr>
                <a:xfrm>
                  <a:off x="4400551" y="1421717"/>
                  <a:ext cx="4737100" cy="4121833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000000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2841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Availability Zone</a:t>
                  </a: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85" name="Google Shape;1363;p4">
                  <a:extLst>
                    <a:ext uri="{FF2B5EF4-FFF2-40B4-BE49-F238E27FC236}">
                      <a16:creationId xmlns:a16="http://schemas.microsoft.com/office/drawing/2014/main" id="{1CDF9D3C-A2AA-D109-97E3-A05156A7E68D}"/>
                    </a:ext>
                  </a:extLst>
                </p:cNvPr>
                <p:cNvSpPr/>
                <p:nvPr/>
              </p:nvSpPr>
              <p:spPr>
                <a:xfrm>
                  <a:off x="4984750" y="2648642"/>
                  <a:ext cx="1111250" cy="1352518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5C8A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363;p4">
                  <a:extLst>
                    <a:ext uri="{FF2B5EF4-FFF2-40B4-BE49-F238E27FC236}">
                      <a16:creationId xmlns:a16="http://schemas.microsoft.com/office/drawing/2014/main" id="{68E7C719-328E-783C-9AD3-704752D274AF}"/>
                    </a:ext>
                  </a:extLst>
                </p:cNvPr>
                <p:cNvSpPr/>
                <p:nvPr/>
              </p:nvSpPr>
              <p:spPr>
                <a:xfrm>
                  <a:off x="7282977" y="2746792"/>
                  <a:ext cx="1111250" cy="841694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98C7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87" name="Google Shape;1363;p4">
                  <a:extLst>
                    <a:ext uri="{FF2B5EF4-FFF2-40B4-BE49-F238E27FC236}">
                      <a16:creationId xmlns:a16="http://schemas.microsoft.com/office/drawing/2014/main" id="{34BEC3AD-94E8-A9B1-786A-E9C86F8DE8A9}"/>
                    </a:ext>
                  </a:extLst>
                </p:cNvPr>
                <p:cNvSpPr/>
                <p:nvPr/>
              </p:nvSpPr>
              <p:spPr>
                <a:xfrm>
                  <a:off x="5022289" y="4355430"/>
                  <a:ext cx="1111250" cy="826553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88" name="Google Shape;1363;p4">
                  <a:extLst>
                    <a:ext uri="{FF2B5EF4-FFF2-40B4-BE49-F238E27FC236}">
                      <a16:creationId xmlns:a16="http://schemas.microsoft.com/office/drawing/2014/main" id="{6F27969D-D9F0-0F50-EF95-8D310876A940}"/>
                    </a:ext>
                  </a:extLst>
                </p:cNvPr>
                <p:cNvSpPr/>
                <p:nvPr/>
              </p:nvSpPr>
              <p:spPr>
                <a:xfrm>
                  <a:off x="7252464" y="4387365"/>
                  <a:ext cx="1111250" cy="766325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F9905EE3-2A3B-0FC0-CDCE-BD72B94C3ADC}"/>
                  </a:ext>
                </a:extLst>
              </p:cNvPr>
              <p:cNvGrpSpPr/>
              <p:nvPr/>
            </p:nvGrpSpPr>
            <p:grpSpPr>
              <a:xfrm>
                <a:off x="4656335" y="1963886"/>
                <a:ext cx="498734" cy="778412"/>
                <a:chOff x="3391157" y="3797947"/>
                <a:chExt cx="498734" cy="778412"/>
              </a:xfrm>
            </p:grpSpPr>
            <p:pic>
              <p:nvPicPr>
                <p:cNvPr id="165" name="Graphic 164">
                  <a:extLst>
                    <a:ext uri="{FF2B5EF4-FFF2-40B4-BE49-F238E27FC236}">
                      <a16:creationId xmlns:a16="http://schemas.microsoft.com/office/drawing/2014/main" id="{68E17D19-73CC-4392-3E14-5D24470C78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66" name="Graphic 165">
                  <a:extLst>
                    <a:ext uri="{FF2B5EF4-FFF2-40B4-BE49-F238E27FC236}">
                      <a16:creationId xmlns:a16="http://schemas.microsoft.com/office/drawing/2014/main" id="{3AC61D17-F53D-CAED-C6D4-ECBCC614EA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71974579-D2C0-AD0C-D85A-556FC40EF778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10129" cy="590332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BD3A0542-78A2-A439-52AB-15F886F22BF3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D7B5277A-ABEB-263F-D569-7B2B9CCED6DA}"/>
                  </a:ext>
                </a:extLst>
              </p:cNvPr>
              <p:cNvGrpSpPr/>
              <p:nvPr/>
            </p:nvGrpSpPr>
            <p:grpSpPr>
              <a:xfrm>
                <a:off x="6909425" y="1970700"/>
                <a:ext cx="498734" cy="809000"/>
                <a:chOff x="3391157" y="3797947"/>
                <a:chExt cx="498734" cy="809000"/>
              </a:xfrm>
            </p:grpSpPr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F89880A4-B5F9-6B9F-44AF-00FF1B549887}"/>
                    </a:ext>
                  </a:extLst>
                </p:cNvPr>
                <p:cNvCxnSpPr>
                  <a:cxnSpLocks/>
                  <a:stCxn id="161" idx="2"/>
                </p:cNvCxnSpPr>
                <p:nvPr/>
              </p:nvCxnSpPr>
              <p:spPr bwMode="gray">
                <a:xfrm>
                  <a:off x="3528443" y="3986027"/>
                  <a:ext cx="0" cy="62092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61" name="Graphic 160">
                  <a:extLst>
                    <a:ext uri="{FF2B5EF4-FFF2-40B4-BE49-F238E27FC236}">
                      <a16:creationId xmlns:a16="http://schemas.microsoft.com/office/drawing/2014/main" id="{CAC1ADC4-41F6-84DD-7BC5-9CF3D0748E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62" name="Graphic 161">
                  <a:extLst>
                    <a:ext uri="{FF2B5EF4-FFF2-40B4-BE49-F238E27FC236}">
                      <a16:creationId xmlns:a16="http://schemas.microsoft.com/office/drawing/2014/main" id="{5592E46B-1A13-6B98-0D9E-D2179993A1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64E08351-A37D-EDCF-1392-EF649C5710C5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0" cy="62092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D054FC54-3A9A-6A47-2A90-250CA9D01205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B4560E8-3298-3337-1E10-9E1C84833162}"/>
                </a:ext>
              </a:extLst>
            </p:cNvPr>
            <p:cNvSpPr txBox="1"/>
            <p:nvPr/>
          </p:nvSpPr>
          <p:spPr>
            <a:xfrm>
              <a:off x="6667115" y="2779700"/>
              <a:ext cx="1033499" cy="547286"/>
            </a:xfrm>
            <a:prstGeom prst="rect">
              <a:avLst/>
            </a:prstGeom>
            <a:noFill/>
            <a:ln w="12700">
              <a:solidFill>
                <a:srgbClr val="99999B"/>
              </a:solidFill>
              <a:prstDash val="solid"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7B3AD131-8AF2-EC0B-94DA-8B3489E49BA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792500" y="2156049"/>
              <a:ext cx="10129" cy="590332"/>
            </a:xfrm>
            <a:prstGeom prst="line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  <a:tailEnd type="none"/>
            </a:ln>
            <a:effectLst/>
          </p:spPr>
        </p:cxn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D4E8560B-82AC-D059-A2F4-28BF74BB769B}"/>
                </a:ext>
              </a:extLst>
            </p:cNvPr>
            <p:cNvGrpSpPr/>
            <p:nvPr/>
          </p:nvGrpSpPr>
          <p:grpSpPr>
            <a:xfrm>
              <a:off x="6717331" y="2815235"/>
              <a:ext cx="900001" cy="700016"/>
              <a:chOff x="9989245" y="1086840"/>
              <a:chExt cx="900001" cy="700016"/>
            </a:xfrm>
            <a:solidFill>
              <a:srgbClr val="0F9ED5"/>
            </a:solidFill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77D1B1FA-D4E0-6E17-4B12-9E32D3F99A52}"/>
                  </a:ext>
                </a:extLst>
              </p:cNvPr>
              <p:cNvGrpSpPr/>
              <p:nvPr/>
            </p:nvGrpSpPr>
            <p:grpSpPr>
              <a:xfrm>
                <a:off x="9989245" y="1431463"/>
                <a:ext cx="900001" cy="128417"/>
                <a:chOff x="5030904" y="4970294"/>
                <a:chExt cx="1917768" cy="244827"/>
              </a:xfrm>
              <a:grpFill/>
            </p:grpSpPr>
            <p:pic>
              <p:nvPicPr>
                <p:cNvPr id="155" name="Graphic 154">
                  <a:extLst>
                    <a:ext uri="{FF2B5EF4-FFF2-40B4-BE49-F238E27FC236}">
                      <a16:creationId xmlns:a16="http://schemas.microsoft.com/office/drawing/2014/main" id="{B128C8E4-A317-A0F2-2F85-EEF8FE57FF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0904" y="4970294"/>
                  <a:ext cx="919964" cy="244827"/>
                </a:xfrm>
                <a:prstGeom prst="rect">
                  <a:avLst/>
                </a:prstGeom>
              </p:spPr>
            </p:pic>
            <p:pic>
              <p:nvPicPr>
                <p:cNvPr id="156" name="Graphic 155">
                  <a:extLst>
                    <a:ext uri="{FF2B5EF4-FFF2-40B4-BE49-F238E27FC236}">
                      <a16:creationId xmlns:a16="http://schemas.microsoft.com/office/drawing/2014/main" id="{8B2E71A3-41DC-DF4C-5622-261F0A4C92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8705" y="4970294"/>
                  <a:ext cx="919964" cy="244827"/>
                </a:xfrm>
                <a:prstGeom prst="rect">
                  <a:avLst/>
                </a:prstGeom>
              </p:spPr>
            </p:pic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C2EDB33A-B3B1-EF1D-58EA-AD79CCD046D5}"/>
                  </a:ext>
                </a:extLst>
              </p:cNvPr>
              <p:cNvGrpSpPr/>
              <p:nvPr/>
            </p:nvGrpSpPr>
            <p:grpSpPr>
              <a:xfrm>
                <a:off x="9989246" y="1258647"/>
                <a:ext cx="900000" cy="128417"/>
                <a:chOff x="5030904" y="4640821"/>
                <a:chExt cx="1917765" cy="244827"/>
              </a:xfrm>
              <a:grpFill/>
            </p:grpSpPr>
            <p:pic>
              <p:nvPicPr>
                <p:cNvPr id="153" name="Graphic 152">
                  <a:extLst>
                    <a:ext uri="{FF2B5EF4-FFF2-40B4-BE49-F238E27FC236}">
                      <a16:creationId xmlns:a16="http://schemas.microsoft.com/office/drawing/2014/main" id="{B68B369C-5F52-E11F-2262-2FA451DD2D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</p:spPr>
            </p:pic>
            <p:pic>
              <p:nvPicPr>
                <p:cNvPr id="154" name="Graphic 153">
                  <a:extLst>
                    <a:ext uri="{FF2B5EF4-FFF2-40B4-BE49-F238E27FC236}">
                      <a16:creationId xmlns:a16="http://schemas.microsoft.com/office/drawing/2014/main" id="{73492E4C-1CB3-2812-4AD4-EFDD73F660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</p:spPr>
            </p:pic>
          </p:grp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637037A8-23DE-0AEF-E93C-ABFD75EE41AC}"/>
                  </a:ext>
                </a:extLst>
              </p:cNvPr>
              <p:cNvGrpSpPr/>
              <p:nvPr/>
            </p:nvGrpSpPr>
            <p:grpSpPr>
              <a:xfrm>
                <a:off x="9989246" y="1598638"/>
                <a:ext cx="900000" cy="188218"/>
                <a:chOff x="1171761" y="5660610"/>
                <a:chExt cx="1917765" cy="358833"/>
              </a:xfrm>
              <a:grpFill/>
            </p:grpSpPr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BF70F0D7-EC44-A214-810C-80D47ABCE20C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177953" y="5660610"/>
                  <a:ext cx="0" cy="12413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6713CC2F-7E96-0001-93D9-2DB91E5BE7B1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2758265" y="5784739"/>
                  <a:ext cx="331261" cy="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A4FFB501-5AB1-D4D1-7F2A-1F325E302A03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089526" y="5660610"/>
                  <a:ext cx="0" cy="12413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3A1D36FB-570E-9A5E-092B-2199FBC02454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171761" y="5784740"/>
                  <a:ext cx="278274" cy="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AE4283C7-7BDF-25E3-02D3-F2FA432F9F21}"/>
                    </a:ext>
                  </a:extLst>
                </p:cNvPr>
                <p:cNvSpPr txBox="1"/>
                <p:nvPr/>
              </p:nvSpPr>
              <p:spPr>
                <a:xfrm>
                  <a:off x="1297319" y="5784735"/>
                  <a:ext cx="1588813" cy="2347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F9ED5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vSAN Cluster</a:t>
                  </a:r>
                </a:p>
              </p:txBody>
            </p: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6FC4463E-54BD-0821-F729-49C3DDC502AA}"/>
                  </a:ext>
                </a:extLst>
              </p:cNvPr>
              <p:cNvGrpSpPr/>
              <p:nvPr/>
            </p:nvGrpSpPr>
            <p:grpSpPr>
              <a:xfrm>
                <a:off x="9989245" y="1086840"/>
                <a:ext cx="900001" cy="128417"/>
                <a:chOff x="5030904" y="4640821"/>
                <a:chExt cx="1917768" cy="244827"/>
              </a:xfrm>
              <a:grpFill/>
            </p:grpSpPr>
            <p:pic>
              <p:nvPicPr>
                <p:cNvPr id="146" name="Graphic 145">
                  <a:extLst>
                    <a:ext uri="{FF2B5EF4-FFF2-40B4-BE49-F238E27FC236}">
                      <a16:creationId xmlns:a16="http://schemas.microsoft.com/office/drawing/2014/main" id="{56CE747C-ED2C-BC64-A81B-540073A33E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</p:spPr>
            </p:pic>
            <p:pic>
              <p:nvPicPr>
                <p:cNvPr id="147" name="Graphic 146">
                  <a:extLst>
                    <a:ext uri="{FF2B5EF4-FFF2-40B4-BE49-F238E27FC236}">
                      <a16:creationId xmlns:a16="http://schemas.microsoft.com/office/drawing/2014/main" id="{38092A5B-B0AE-B212-95EC-571975770A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</p:spPr>
            </p:pic>
          </p:grp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7962FC0-2238-AA2C-840C-64C01ABD03DF}"/>
                </a:ext>
              </a:extLst>
            </p:cNvPr>
            <p:cNvSpPr txBox="1"/>
            <p:nvPr/>
          </p:nvSpPr>
          <p:spPr>
            <a:xfrm>
              <a:off x="4425299" y="4411657"/>
              <a:ext cx="1006729" cy="547286"/>
            </a:xfrm>
            <a:prstGeom prst="rect">
              <a:avLst/>
            </a:prstGeom>
            <a:noFill/>
            <a:ln w="12700">
              <a:solidFill>
                <a:srgbClr val="99999B"/>
              </a:solidFill>
              <a:prstDash val="solid"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4632ACA-9712-1E9D-A3F0-625E6C2BF46A}"/>
                </a:ext>
              </a:extLst>
            </p:cNvPr>
            <p:cNvGrpSpPr/>
            <p:nvPr/>
          </p:nvGrpSpPr>
          <p:grpSpPr>
            <a:xfrm>
              <a:off x="4461980" y="4441667"/>
              <a:ext cx="900001" cy="700016"/>
              <a:chOff x="9989245" y="1086840"/>
              <a:chExt cx="900001" cy="700016"/>
            </a:xfrm>
            <a:solidFill>
              <a:srgbClr val="0F9ED5"/>
            </a:solidFill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1345CA1E-09D6-F5CF-A4F9-6456A2AA91F6}"/>
                  </a:ext>
                </a:extLst>
              </p:cNvPr>
              <p:cNvGrpSpPr/>
              <p:nvPr/>
            </p:nvGrpSpPr>
            <p:grpSpPr>
              <a:xfrm>
                <a:off x="9989245" y="1431463"/>
                <a:ext cx="900001" cy="128417"/>
                <a:chOff x="5030904" y="4970294"/>
                <a:chExt cx="1917768" cy="244827"/>
              </a:xfrm>
              <a:grpFill/>
            </p:grpSpPr>
            <p:pic>
              <p:nvPicPr>
                <p:cNvPr id="140" name="Graphic 139">
                  <a:extLst>
                    <a:ext uri="{FF2B5EF4-FFF2-40B4-BE49-F238E27FC236}">
                      <a16:creationId xmlns:a16="http://schemas.microsoft.com/office/drawing/2014/main" id="{AA289673-76AC-8853-4236-8B7337EA7D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0904" y="4970294"/>
                  <a:ext cx="919964" cy="244827"/>
                </a:xfrm>
                <a:prstGeom prst="rect">
                  <a:avLst/>
                </a:prstGeom>
              </p:spPr>
            </p:pic>
            <p:pic>
              <p:nvPicPr>
                <p:cNvPr id="141" name="Graphic 140">
                  <a:extLst>
                    <a:ext uri="{FF2B5EF4-FFF2-40B4-BE49-F238E27FC236}">
                      <a16:creationId xmlns:a16="http://schemas.microsoft.com/office/drawing/2014/main" id="{C88CF529-C2BF-0E84-60BD-23EF88E455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8705" y="4970294"/>
                  <a:ext cx="919964" cy="244827"/>
                </a:xfrm>
                <a:prstGeom prst="rect">
                  <a:avLst/>
                </a:prstGeom>
              </p:spPr>
            </p:pic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C4B0FDA9-60B8-3BCD-1BCE-715A73ABD4E7}"/>
                  </a:ext>
                </a:extLst>
              </p:cNvPr>
              <p:cNvGrpSpPr/>
              <p:nvPr/>
            </p:nvGrpSpPr>
            <p:grpSpPr>
              <a:xfrm>
                <a:off x="9989246" y="1258647"/>
                <a:ext cx="900000" cy="128417"/>
                <a:chOff x="5030904" y="4640821"/>
                <a:chExt cx="1917765" cy="244827"/>
              </a:xfrm>
              <a:grpFill/>
            </p:grpSpPr>
            <p:pic>
              <p:nvPicPr>
                <p:cNvPr id="138" name="Graphic 137">
                  <a:extLst>
                    <a:ext uri="{FF2B5EF4-FFF2-40B4-BE49-F238E27FC236}">
                      <a16:creationId xmlns:a16="http://schemas.microsoft.com/office/drawing/2014/main" id="{5F27BAB7-9C99-34B8-3676-CF0D2FA132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</p:spPr>
            </p:pic>
            <p:pic>
              <p:nvPicPr>
                <p:cNvPr id="139" name="Graphic 138">
                  <a:extLst>
                    <a:ext uri="{FF2B5EF4-FFF2-40B4-BE49-F238E27FC236}">
                      <a16:creationId xmlns:a16="http://schemas.microsoft.com/office/drawing/2014/main" id="{FDCDF877-D060-9284-C9F6-CD93EFCF1F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</p:spPr>
            </p:pic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A44471DE-E0A7-C1EE-4817-AE15184EAA5B}"/>
                  </a:ext>
                </a:extLst>
              </p:cNvPr>
              <p:cNvGrpSpPr/>
              <p:nvPr/>
            </p:nvGrpSpPr>
            <p:grpSpPr>
              <a:xfrm>
                <a:off x="9989246" y="1598638"/>
                <a:ext cx="900000" cy="188218"/>
                <a:chOff x="1171761" y="5660610"/>
                <a:chExt cx="1917765" cy="358833"/>
              </a:xfrm>
              <a:grpFill/>
            </p:grpSpPr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D6A79583-70C1-1546-65E7-554B1FCA653A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177953" y="5660610"/>
                  <a:ext cx="0" cy="12413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2587912E-F3D2-3379-FBF1-D75CABD558B9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2758265" y="5784739"/>
                  <a:ext cx="331261" cy="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D0DB0D3C-F6DB-81E8-0469-0D8350C2EAF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089526" y="5660610"/>
                  <a:ext cx="0" cy="12413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41679267-4372-6DB4-E00A-01851ABD33DB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171761" y="5784740"/>
                  <a:ext cx="278274" cy="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F172FE8B-5420-90E6-FF82-4BA762486F57}"/>
                    </a:ext>
                  </a:extLst>
                </p:cNvPr>
                <p:cNvSpPr txBox="1"/>
                <p:nvPr/>
              </p:nvSpPr>
              <p:spPr>
                <a:xfrm>
                  <a:off x="1297319" y="5784735"/>
                  <a:ext cx="1588813" cy="2347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F9ED5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vSAN Cluster</a:t>
                  </a:r>
                </a:p>
              </p:txBody>
            </p:sp>
          </p:grp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1638412A-42C9-E620-A338-39594ADF9C79}"/>
                  </a:ext>
                </a:extLst>
              </p:cNvPr>
              <p:cNvGrpSpPr/>
              <p:nvPr/>
            </p:nvGrpSpPr>
            <p:grpSpPr>
              <a:xfrm>
                <a:off x="9989245" y="1086840"/>
                <a:ext cx="900001" cy="128417"/>
                <a:chOff x="5030904" y="4640821"/>
                <a:chExt cx="1917768" cy="244827"/>
              </a:xfrm>
              <a:grpFill/>
            </p:grpSpPr>
            <p:pic>
              <p:nvPicPr>
                <p:cNvPr id="131" name="Graphic 130">
                  <a:extLst>
                    <a:ext uri="{FF2B5EF4-FFF2-40B4-BE49-F238E27FC236}">
                      <a16:creationId xmlns:a16="http://schemas.microsoft.com/office/drawing/2014/main" id="{7F368BCA-64D7-9BEF-4A39-78B627AED1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</p:spPr>
            </p:pic>
            <p:pic>
              <p:nvPicPr>
                <p:cNvPr id="132" name="Graphic 131">
                  <a:extLst>
                    <a:ext uri="{FF2B5EF4-FFF2-40B4-BE49-F238E27FC236}">
                      <a16:creationId xmlns:a16="http://schemas.microsoft.com/office/drawing/2014/main" id="{1EC82FDC-8F4C-857C-6183-9218AEC31E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254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C4074-CA75-6109-FBD0-3E08B3EF2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7006-EFE1-EA9A-6D63-CEEFA68CA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17" y="221932"/>
            <a:ext cx="11001004" cy="381000"/>
          </a:xfrm>
        </p:spPr>
        <p:txBody>
          <a:bodyPr/>
          <a:lstStyle/>
          <a:p>
            <a:r>
              <a:rPr lang="en-US" dirty="0"/>
              <a:t>vSAN Datastore Sharing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– ready for export 24% 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41E000-5D07-73F9-9E26-F0D03C890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2176" y="960449"/>
            <a:ext cx="4495800" cy="420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9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6CB2B-9B3A-163D-9634-20C2EBB2E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F943B-7889-E6A2-C069-3881D9EC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27" y="-110598"/>
            <a:ext cx="11001004" cy="381000"/>
          </a:xfrm>
        </p:spPr>
        <p:txBody>
          <a:bodyPr/>
          <a:lstStyle/>
          <a:p>
            <a:r>
              <a:rPr lang="en-US" sz="1800" dirty="0">
                <a:latin typeface="Metropolis" pitchFamily="2" charset="77"/>
              </a:rPr>
              <a:t>Multi-rack / L3 vSAN compute cluster original</a:t>
            </a: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F18C6BC5-115B-915E-ACB7-7FB55ECED920}"/>
              </a:ext>
            </a:extLst>
          </p:cNvPr>
          <p:cNvGrpSpPr/>
          <p:nvPr/>
        </p:nvGrpSpPr>
        <p:grpSpPr>
          <a:xfrm>
            <a:off x="1724316" y="255920"/>
            <a:ext cx="8604250" cy="6346160"/>
            <a:chOff x="1688316" y="446420"/>
            <a:chExt cx="8604250" cy="6346160"/>
          </a:xfrm>
        </p:grpSpPr>
        <p:sp>
          <p:nvSpPr>
            <p:cNvPr id="119" name="Google Shape;1357;p4">
              <a:extLst>
                <a:ext uri="{FF2B5EF4-FFF2-40B4-BE49-F238E27FC236}">
                  <a16:creationId xmlns:a16="http://schemas.microsoft.com/office/drawing/2014/main" id="{A42D73CD-1D7A-FA41-16F7-523FCA3CDC16}"/>
                </a:ext>
              </a:extLst>
            </p:cNvPr>
            <p:cNvSpPr/>
            <p:nvPr/>
          </p:nvSpPr>
          <p:spPr>
            <a:xfrm>
              <a:off x="1688316" y="446420"/>
              <a:ext cx="8604250" cy="6346160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VCF Instance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120" name="Google Shape;1358;p4">
              <a:extLst>
                <a:ext uri="{FF2B5EF4-FFF2-40B4-BE49-F238E27FC236}">
                  <a16:creationId xmlns:a16="http://schemas.microsoft.com/office/drawing/2014/main" id="{6A0C0EBF-84BB-DA2B-B5E1-4529609010D5}"/>
                </a:ext>
              </a:extLst>
            </p:cNvPr>
            <p:cNvSpPr/>
            <p:nvPr/>
          </p:nvSpPr>
          <p:spPr>
            <a:xfrm>
              <a:off x="2086761" y="889070"/>
              <a:ext cx="7744100" cy="5587199"/>
            </a:xfrm>
            <a:prstGeom prst="rect">
              <a:avLst/>
            </a:prstGeom>
            <a:solidFill>
              <a:sysClr val="window" lastClr="FFFFFF"/>
            </a:solidFill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 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160" name="Google Shape;1358;p4">
              <a:extLst>
                <a:ext uri="{FF2B5EF4-FFF2-40B4-BE49-F238E27FC236}">
                  <a16:creationId xmlns:a16="http://schemas.microsoft.com/office/drawing/2014/main" id="{5AA4F5B7-6746-1E81-E3BF-536945581F2E}"/>
                </a:ext>
              </a:extLst>
            </p:cNvPr>
            <p:cNvSpPr/>
            <p:nvPr/>
          </p:nvSpPr>
          <p:spPr>
            <a:xfrm>
              <a:off x="1919405" y="676942"/>
              <a:ext cx="8100003" cy="5954258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Workload Domain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F1331F08-146F-EF9D-72B7-85C424AE8BBD}"/>
                </a:ext>
              </a:extLst>
            </p:cNvPr>
            <p:cNvGrpSpPr/>
            <p:nvPr/>
          </p:nvGrpSpPr>
          <p:grpSpPr>
            <a:xfrm>
              <a:off x="3456863" y="3581347"/>
              <a:ext cx="4936076" cy="2394878"/>
              <a:chOff x="2659463" y="2878006"/>
              <a:chExt cx="4936076" cy="2394878"/>
            </a:xfrm>
          </p:grpSpPr>
          <p:sp>
            <p:nvSpPr>
              <p:cNvPr id="123" name="Google Shape;1361;p4">
                <a:extLst>
                  <a:ext uri="{FF2B5EF4-FFF2-40B4-BE49-F238E27FC236}">
                    <a16:creationId xmlns:a16="http://schemas.microsoft.com/office/drawing/2014/main" id="{1FDC2840-E788-ABD4-3ED9-71502008321C}"/>
                  </a:ext>
                </a:extLst>
              </p:cNvPr>
              <p:cNvSpPr/>
              <p:nvPr/>
            </p:nvSpPr>
            <p:spPr>
              <a:xfrm>
                <a:off x="2659463" y="3233180"/>
                <a:ext cx="1313498" cy="203970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BCB6F8D2-F3F8-F3BE-CFD0-C32EDAE966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4374" y="2883451"/>
                <a:ext cx="3587112" cy="18235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42862CAC-A340-F9C2-C79A-EF42F31772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38790" y="2892568"/>
                <a:ext cx="7230" cy="665617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C816115E-48C4-CBB8-7ABB-9DB77C3D28E3}"/>
                  </a:ext>
                </a:extLst>
              </p:cNvPr>
              <p:cNvSpPr txBox="1"/>
              <p:nvPr/>
            </p:nvSpPr>
            <p:spPr>
              <a:xfrm>
                <a:off x="3281911" y="3012747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87B5536-5E32-0E6A-2EF5-495220587825}"/>
                  </a:ext>
                </a:extLst>
              </p:cNvPr>
              <p:cNvSpPr txBox="1"/>
              <p:nvPr/>
            </p:nvSpPr>
            <p:spPr>
              <a:xfrm>
                <a:off x="5141507" y="3019192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1826626E-AEA6-EAA6-422F-646D49EF9429}"/>
                  </a:ext>
                </a:extLst>
              </p:cNvPr>
              <p:cNvSpPr txBox="1"/>
              <p:nvPr/>
            </p:nvSpPr>
            <p:spPr>
              <a:xfrm>
                <a:off x="6882601" y="3020814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CB638CE6-A519-67C3-7960-C184835280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34938" y="2878006"/>
                <a:ext cx="11402" cy="690012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7ED53CD9-B2EA-D401-24C2-0E6BDBD113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93041" y="2901686"/>
                <a:ext cx="73" cy="65649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634A130F-67B4-F3FE-A848-4509C5C9F43C}"/>
                  </a:ext>
                </a:extLst>
              </p:cNvPr>
              <p:cNvSpPr txBox="1"/>
              <p:nvPr/>
            </p:nvSpPr>
            <p:spPr>
              <a:xfrm>
                <a:off x="2895140" y="3254979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1C007F45-AA25-0F6F-1356-0236815964D6}"/>
                  </a:ext>
                </a:extLst>
              </p:cNvPr>
              <p:cNvSpPr txBox="1"/>
              <p:nvPr/>
            </p:nvSpPr>
            <p:spPr>
              <a:xfrm>
                <a:off x="4738180" y="3247170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5A0119D8-4677-927F-F239-59CA36610719}"/>
                  </a:ext>
                </a:extLst>
              </p:cNvPr>
              <p:cNvSpPr txBox="1"/>
              <p:nvPr/>
            </p:nvSpPr>
            <p:spPr>
              <a:xfrm>
                <a:off x="6494820" y="3266122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" name="Google Shape;1361;p4">
                <a:extLst>
                  <a:ext uri="{FF2B5EF4-FFF2-40B4-BE49-F238E27FC236}">
                    <a16:creationId xmlns:a16="http://schemas.microsoft.com/office/drawing/2014/main" id="{064C0A05-5A6A-522A-78C9-20C9FEFA5D36}"/>
                  </a:ext>
                </a:extLst>
              </p:cNvPr>
              <p:cNvSpPr/>
              <p:nvPr/>
            </p:nvSpPr>
            <p:spPr>
              <a:xfrm>
                <a:off x="4487315" y="3221960"/>
                <a:ext cx="1313498" cy="2039704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7" name="Google Shape;1361;p4">
                <a:extLst>
                  <a:ext uri="{FF2B5EF4-FFF2-40B4-BE49-F238E27FC236}">
                    <a16:creationId xmlns:a16="http://schemas.microsoft.com/office/drawing/2014/main" id="{3EBFFE00-D5CF-872A-C275-AF7990F2BE88}"/>
                  </a:ext>
                </a:extLst>
              </p:cNvPr>
              <p:cNvSpPr/>
              <p:nvPr/>
            </p:nvSpPr>
            <p:spPr>
              <a:xfrm>
                <a:off x="6282041" y="3233180"/>
                <a:ext cx="1313498" cy="2039704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25" name="Google Shape;1363;p4">
                <a:extLst>
                  <a:ext uri="{FF2B5EF4-FFF2-40B4-BE49-F238E27FC236}">
                    <a16:creationId xmlns:a16="http://schemas.microsoft.com/office/drawing/2014/main" id="{C97C8449-7DDA-8DD3-B101-0AF0A2DD5D91}"/>
                  </a:ext>
                </a:extLst>
              </p:cNvPr>
              <p:cNvSpPr/>
              <p:nvPr/>
            </p:nvSpPr>
            <p:spPr>
              <a:xfrm>
                <a:off x="2828314" y="3894694"/>
                <a:ext cx="4623954" cy="1116359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7DA3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98C7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F021B2AB-C673-1865-31BC-FE163C357751}"/>
                  </a:ext>
                </a:extLst>
              </p:cNvPr>
              <p:cNvGrpSpPr/>
              <p:nvPr/>
            </p:nvGrpSpPr>
            <p:grpSpPr>
              <a:xfrm>
                <a:off x="6589498" y="3961756"/>
                <a:ext cx="748992" cy="756155"/>
                <a:chOff x="11069025" y="3821888"/>
                <a:chExt cx="748992" cy="756155"/>
              </a:xfrm>
            </p:grpSpPr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C2E61811-B3A9-A312-FAA9-253FCDFE3375}"/>
                    </a:ext>
                  </a:extLst>
                </p:cNvPr>
                <p:cNvGrpSpPr/>
                <p:nvPr/>
              </p:nvGrpSpPr>
              <p:grpSpPr>
                <a:xfrm>
                  <a:off x="11229796" y="3922898"/>
                  <a:ext cx="431736" cy="557540"/>
                  <a:chOff x="11199069" y="3414676"/>
                  <a:chExt cx="431736" cy="557540"/>
                </a:xfrm>
              </p:grpSpPr>
              <p:pic>
                <p:nvPicPr>
                  <p:cNvPr id="73" name="Graphic 72">
                    <a:extLst>
                      <a:ext uri="{FF2B5EF4-FFF2-40B4-BE49-F238E27FC236}">
                        <a16:creationId xmlns:a16="http://schemas.microsoft.com/office/drawing/2014/main" id="{F41B3A96-3ACE-4252-7D6C-D8F8EC91CA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558024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74" name="Graphic 73">
                    <a:extLst>
                      <a:ext uri="{FF2B5EF4-FFF2-40B4-BE49-F238E27FC236}">
                        <a16:creationId xmlns:a16="http://schemas.microsoft.com/office/drawing/2014/main" id="{6E1F443A-3FBE-6C27-2A7B-C5EE015627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414676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75" name="Graphic 74">
                    <a:extLst>
                      <a:ext uri="{FF2B5EF4-FFF2-40B4-BE49-F238E27FC236}">
                        <a16:creationId xmlns:a16="http://schemas.microsoft.com/office/drawing/2014/main" id="{D13732DF-A6CD-9331-210D-41AAD7D8EA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852328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76" name="Graphic 75">
                    <a:extLst>
                      <a:ext uri="{FF2B5EF4-FFF2-40B4-BE49-F238E27FC236}">
                        <a16:creationId xmlns:a16="http://schemas.microsoft.com/office/drawing/2014/main" id="{195D81DB-8092-74F2-5FBD-8314D998FD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705176"/>
                    <a:ext cx="431736" cy="11988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6B581FF-6190-EFEB-9CC2-3466F0C0279B}"/>
                    </a:ext>
                  </a:extLst>
                </p:cNvPr>
                <p:cNvSpPr/>
                <p:nvPr/>
              </p:nvSpPr>
              <p:spPr>
                <a:xfrm>
                  <a:off x="11069025" y="3821888"/>
                  <a:ext cx="748992" cy="756155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DA995166-58D1-92A6-4B16-B651C3B16EF8}"/>
                  </a:ext>
                </a:extLst>
              </p:cNvPr>
              <p:cNvGrpSpPr/>
              <p:nvPr/>
            </p:nvGrpSpPr>
            <p:grpSpPr>
              <a:xfrm>
                <a:off x="4818618" y="3957745"/>
                <a:ext cx="748992" cy="756155"/>
                <a:chOff x="11069025" y="3821888"/>
                <a:chExt cx="748992" cy="756155"/>
              </a:xfrm>
            </p:grpSpPr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6B3347AD-F5D8-1918-26D7-654679E9B75E}"/>
                    </a:ext>
                  </a:extLst>
                </p:cNvPr>
                <p:cNvGrpSpPr/>
                <p:nvPr/>
              </p:nvGrpSpPr>
              <p:grpSpPr>
                <a:xfrm>
                  <a:off x="11229796" y="3922898"/>
                  <a:ext cx="431736" cy="557540"/>
                  <a:chOff x="11199069" y="3414676"/>
                  <a:chExt cx="431736" cy="557540"/>
                </a:xfrm>
              </p:grpSpPr>
              <p:pic>
                <p:nvPicPr>
                  <p:cNvPr id="80" name="Graphic 79">
                    <a:extLst>
                      <a:ext uri="{FF2B5EF4-FFF2-40B4-BE49-F238E27FC236}">
                        <a16:creationId xmlns:a16="http://schemas.microsoft.com/office/drawing/2014/main" id="{5E8D0E84-CEC6-5BB1-550B-5F6FB87A13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558024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81" name="Graphic 80">
                    <a:extLst>
                      <a:ext uri="{FF2B5EF4-FFF2-40B4-BE49-F238E27FC236}">
                        <a16:creationId xmlns:a16="http://schemas.microsoft.com/office/drawing/2014/main" id="{E903C8A8-E110-4F30-EAB5-6C34C689F3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414676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82" name="Graphic 81">
                    <a:extLst>
                      <a:ext uri="{FF2B5EF4-FFF2-40B4-BE49-F238E27FC236}">
                        <a16:creationId xmlns:a16="http://schemas.microsoft.com/office/drawing/2014/main" id="{416AB3D9-BB0C-0940-3A30-88FE1A6727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852328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83" name="Graphic 82">
                    <a:extLst>
                      <a:ext uri="{FF2B5EF4-FFF2-40B4-BE49-F238E27FC236}">
                        <a16:creationId xmlns:a16="http://schemas.microsoft.com/office/drawing/2014/main" id="{45F02949-7DE1-4277-C337-B9B242D4C85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705176"/>
                    <a:ext cx="431736" cy="11988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44060C53-A28D-0C75-549A-D1D3E0869B82}"/>
                    </a:ext>
                  </a:extLst>
                </p:cNvPr>
                <p:cNvSpPr/>
                <p:nvPr/>
              </p:nvSpPr>
              <p:spPr>
                <a:xfrm>
                  <a:off x="11069025" y="3821888"/>
                  <a:ext cx="748992" cy="756155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C9386BED-AFF7-8D4E-8C72-48A56FD61181}"/>
                  </a:ext>
                </a:extLst>
              </p:cNvPr>
              <p:cNvGrpSpPr/>
              <p:nvPr/>
            </p:nvGrpSpPr>
            <p:grpSpPr>
              <a:xfrm>
                <a:off x="2969625" y="3967648"/>
                <a:ext cx="748992" cy="756155"/>
                <a:chOff x="11069025" y="3821888"/>
                <a:chExt cx="748992" cy="756155"/>
              </a:xfrm>
            </p:grpSpPr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CEC89DCC-72BF-57EF-611C-78FFF6FCD550}"/>
                    </a:ext>
                  </a:extLst>
                </p:cNvPr>
                <p:cNvGrpSpPr/>
                <p:nvPr/>
              </p:nvGrpSpPr>
              <p:grpSpPr>
                <a:xfrm>
                  <a:off x="11229796" y="3922898"/>
                  <a:ext cx="431736" cy="557540"/>
                  <a:chOff x="11199069" y="3414676"/>
                  <a:chExt cx="431736" cy="557540"/>
                </a:xfrm>
              </p:grpSpPr>
              <p:pic>
                <p:nvPicPr>
                  <p:cNvPr id="87" name="Graphic 86">
                    <a:extLst>
                      <a:ext uri="{FF2B5EF4-FFF2-40B4-BE49-F238E27FC236}">
                        <a16:creationId xmlns:a16="http://schemas.microsoft.com/office/drawing/2014/main" id="{8001EFEA-0544-9FCB-3444-E6A1B43CEA5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558024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88" name="Graphic 87">
                    <a:extLst>
                      <a:ext uri="{FF2B5EF4-FFF2-40B4-BE49-F238E27FC236}">
                        <a16:creationId xmlns:a16="http://schemas.microsoft.com/office/drawing/2014/main" id="{0AF6235B-7DE1-DFA6-5FCE-095AAB5A26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414676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89" name="Graphic 88">
                    <a:extLst>
                      <a:ext uri="{FF2B5EF4-FFF2-40B4-BE49-F238E27FC236}">
                        <a16:creationId xmlns:a16="http://schemas.microsoft.com/office/drawing/2014/main" id="{65C80B6F-0B06-5013-6FC0-570215E5BF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852328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90" name="Graphic 89">
                    <a:extLst>
                      <a:ext uri="{FF2B5EF4-FFF2-40B4-BE49-F238E27FC236}">
                        <a16:creationId xmlns:a16="http://schemas.microsoft.com/office/drawing/2014/main" id="{B21899CA-D9C8-2CCE-D0F6-0411AFE010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705176"/>
                    <a:ext cx="431736" cy="11988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3C3CE050-B3AF-A92C-C380-EC4B45BCC957}"/>
                    </a:ext>
                  </a:extLst>
                </p:cNvPr>
                <p:cNvSpPr/>
                <p:nvPr/>
              </p:nvSpPr>
              <p:spPr>
                <a:xfrm>
                  <a:off x="11069025" y="3821888"/>
                  <a:ext cx="748992" cy="756155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01F84AE8-AC93-5C07-D4C0-5AFB1C657D22}"/>
                  </a:ext>
                </a:extLst>
              </p:cNvPr>
              <p:cNvGrpSpPr/>
              <p:nvPr/>
            </p:nvGrpSpPr>
            <p:grpSpPr>
              <a:xfrm>
                <a:off x="3081572" y="3581248"/>
                <a:ext cx="498734" cy="378703"/>
                <a:chOff x="3391157" y="3797947"/>
                <a:chExt cx="498734" cy="378703"/>
              </a:xfrm>
            </p:grpSpPr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8164D921-A8EA-18D8-518D-D9FB6235AB60}"/>
                    </a:ext>
                  </a:extLst>
                </p:cNvPr>
                <p:cNvCxnSpPr>
                  <a:cxnSpLocks/>
                  <a:stCxn id="115" idx="2"/>
                </p:cNvCxnSpPr>
                <p:nvPr/>
              </p:nvCxnSpPr>
              <p:spPr bwMode="gray">
                <a:xfrm>
                  <a:off x="3528443" y="3986027"/>
                  <a:ext cx="5096" cy="1906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15" name="Graphic 114">
                  <a:extLst>
                    <a:ext uri="{FF2B5EF4-FFF2-40B4-BE49-F238E27FC236}">
                      <a16:creationId xmlns:a16="http://schemas.microsoft.com/office/drawing/2014/main" id="{6BAD90DC-0C68-8C4C-E1DA-FAE4458A65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16" name="Graphic 115">
                  <a:extLst>
                    <a:ext uri="{FF2B5EF4-FFF2-40B4-BE49-F238E27FC236}">
                      <a16:creationId xmlns:a16="http://schemas.microsoft.com/office/drawing/2014/main" id="{22A20842-72DD-5F11-3E18-61E07B600F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84C417C9-6203-4250-6FC6-154884229C60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0" cy="1906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19FFE231-4CC9-7ACB-C589-8402A03538F6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427DD685-A8C8-E529-361D-03D4321A1DFC}"/>
                  </a:ext>
                </a:extLst>
              </p:cNvPr>
              <p:cNvGrpSpPr/>
              <p:nvPr/>
            </p:nvGrpSpPr>
            <p:grpSpPr>
              <a:xfrm>
                <a:off x="4943747" y="3575356"/>
                <a:ext cx="498734" cy="378703"/>
                <a:chOff x="3391157" y="3797947"/>
                <a:chExt cx="498734" cy="378703"/>
              </a:xfrm>
            </p:grpSpPr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D355EF9F-50D8-0A4E-CC08-87E4B82A5DFC}"/>
                    </a:ext>
                  </a:extLst>
                </p:cNvPr>
                <p:cNvCxnSpPr>
                  <a:cxnSpLocks/>
                  <a:stCxn id="110" idx="2"/>
                </p:cNvCxnSpPr>
                <p:nvPr/>
              </p:nvCxnSpPr>
              <p:spPr bwMode="gray">
                <a:xfrm>
                  <a:off x="3528443" y="3986027"/>
                  <a:ext cx="5096" cy="1906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10" name="Graphic 109">
                  <a:extLst>
                    <a:ext uri="{FF2B5EF4-FFF2-40B4-BE49-F238E27FC236}">
                      <a16:creationId xmlns:a16="http://schemas.microsoft.com/office/drawing/2014/main" id="{570B3A8E-5ABD-EFBC-DCA9-FA1295139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11" name="Graphic 110">
                  <a:extLst>
                    <a:ext uri="{FF2B5EF4-FFF2-40B4-BE49-F238E27FC236}">
                      <a16:creationId xmlns:a16="http://schemas.microsoft.com/office/drawing/2014/main" id="{2A262D96-5D6B-3CE6-DD20-8C6DE5A77A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DCEDC578-D970-EB81-EFC8-5C2A138AF105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0" cy="1906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1C6EDEDF-8DC0-E00D-BE5C-DA5EE1E65B7D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DAF7438-D5A5-A59F-94FF-7451AB0B78B2}"/>
                  </a:ext>
                </a:extLst>
              </p:cNvPr>
              <p:cNvGrpSpPr/>
              <p:nvPr/>
            </p:nvGrpSpPr>
            <p:grpSpPr>
              <a:xfrm>
                <a:off x="6689423" y="3575356"/>
                <a:ext cx="498734" cy="378703"/>
                <a:chOff x="3391157" y="3797947"/>
                <a:chExt cx="498734" cy="378703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025A29ED-7563-D7B2-AD84-A725DEA20A46}"/>
                    </a:ext>
                  </a:extLst>
                </p:cNvPr>
                <p:cNvCxnSpPr>
                  <a:cxnSpLocks/>
                  <a:stCxn id="105" idx="2"/>
                </p:cNvCxnSpPr>
                <p:nvPr/>
              </p:nvCxnSpPr>
              <p:spPr bwMode="gray">
                <a:xfrm>
                  <a:off x="3528443" y="3986027"/>
                  <a:ext cx="5096" cy="1906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05" name="Graphic 104">
                  <a:extLst>
                    <a:ext uri="{FF2B5EF4-FFF2-40B4-BE49-F238E27FC236}">
                      <a16:creationId xmlns:a16="http://schemas.microsoft.com/office/drawing/2014/main" id="{0B1D9EA0-5DD3-9C69-1B63-D4FD9670A5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06" name="Graphic 105">
                  <a:extLst>
                    <a:ext uri="{FF2B5EF4-FFF2-40B4-BE49-F238E27FC236}">
                      <a16:creationId xmlns:a16="http://schemas.microsoft.com/office/drawing/2014/main" id="{2C799593-6EE3-0598-F2BA-758909D4B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2503F8C4-28E6-B6D4-FA86-7CF94BAFC60E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0" cy="1906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4B8D6D85-C4AF-DA8F-CCF2-E6FC9E2309A3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BB9F680A-6A3D-F55D-38DB-DF1176EB2FA6}"/>
                  </a:ext>
                </a:extLst>
              </p:cNvPr>
              <p:cNvGrpSpPr/>
              <p:nvPr/>
            </p:nvGrpSpPr>
            <p:grpSpPr>
              <a:xfrm>
                <a:off x="2999114" y="4751421"/>
                <a:ext cx="4328243" cy="130068"/>
                <a:chOff x="3104003" y="5991633"/>
                <a:chExt cx="4328243" cy="130068"/>
              </a:xfrm>
            </p:grpSpPr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1EB83960-60AD-8D40-5938-B8C6B67123E2}"/>
                    </a:ext>
                  </a:extLst>
                </p:cNvPr>
                <p:cNvGrpSpPr/>
                <p:nvPr/>
              </p:nvGrpSpPr>
              <p:grpSpPr>
                <a:xfrm>
                  <a:off x="3104003" y="5991633"/>
                  <a:ext cx="4328243" cy="130068"/>
                  <a:chOff x="1257933" y="9026159"/>
                  <a:chExt cx="1332808" cy="247971"/>
                </a:xfrm>
                <a:solidFill>
                  <a:srgbClr val="0F9ED5"/>
                </a:solidFill>
              </p:grpSpPr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BF6D360A-4D82-3054-05FB-D4616865D7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1257933" y="9052668"/>
                    <a:ext cx="0" cy="178446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62" name="Straight Connector 161">
                    <a:extLst>
                      <a:ext uri="{FF2B5EF4-FFF2-40B4-BE49-F238E27FC236}">
                        <a16:creationId xmlns:a16="http://schemas.microsoft.com/office/drawing/2014/main" id="{38F0DD25-885E-5331-D527-CD51963CD5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2182358" y="9274126"/>
                    <a:ext cx="408383" cy="4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E65EEFBB-2B85-9015-CBF9-11B75AFD5F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1257933" y="9236384"/>
                    <a:ext cx="458266" cy="25692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id="{788615B7-AFE9-F461-D646-E0D9E30B4D03}"/>
                      </a:ext>
                    </a:extLst>
                  </p:cNvPr>
                  <p:cNvSpPr txBox="1"/>
                  <p:nvPr/>
                </p:nvSpPr>
                <p:spPr>
                  <a:xfrm>
                    <a:off x="1497686" y="9026159"/>
                    <a:ext cx="859373" cy="23470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DA3"/>
                        </a:solidFill>
                        <a:effectLst/>
                        <a:uLnTx/>
                        <a:uFillTx/>
                        <a:latin typeface="Metropolis" pitchFamily="2" charset="77"/>
                        <a:ea typeface="+mn-ea"/>
                        <a:cs typeface="Arial"/>
                        <a:sym typeface="Arial"/>
                      </a:rPr>
                      <a:t>    vSAN Compute Cluster</a:t>
                    </a:r>
                  </a:p>
                </p:txBody>
              </p:sp>
            </p:grp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EBAEE9F1-CAB8-4BB3-9125-21409959BAA8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7432245" y="6021781"/>
                  <a:ext cx="0" cy="93600"/>
                </a:xfrm>
                <a:prstGeom prst="line">
                  <a:avLst/>
                </a:prstGeom>
                <a:solidFill>
                  <a:srgbClr val="0F9ED5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4A736AF9-31A8-4190-651A-39E3725697FD}"/>
                </a:ext>
              </a:extLst>
            </p:cNvPr>
            <p:cNvGrpSpPr/>
            <p:nvPr/>
          </p:nvGrpSpPr>
          <p:grpSpPr>
            <a:xfrm>
              <a:off x="5358969" y="1285261"/>
              <a:ext cx="1313498" cy="2039704"/>
              <a:chOff x="935949" y="1063419"/>
              <a:chExt cx="1313498" cy="2039704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7B9F91A6-4922-63C7-2D6F-98B2EDF6562B}"/>
                  </a:ext>
                </a:extLst>
              </p:cNvPr>
              <p:cNvGrpSpPr/>
              <p:nvPr/>
            </p:nvGrpSpPr>
            <p:grpSpPr>
              <a:xfrm>
                <a:off x="1168190" y="1854356"/>
                <a:ext cx="771877" cy="1087895"/>
                <a:chOff x="1452313" y="2145349"/>
                <a:chExt cx="771877" cy="1087895"/>
              </a:xfrm>
            </p:grpSpPr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E8375857-FC59-02DA-B6C9-F9F450826272}"/>
                    </a:ext>
                  </a:extLst>
                </p:cNvPr>
                <p:cNvGrpSpPr/>
                <p:nvPr/>
              </p:nvGrpSpPr>
              <p:grpSpPr>
                <a:xfrm>
                  <a:off x="1468761" y="2625070"/>
                  <a:ext cx="147903" cy="189130"/>
                  <a:chOff x="4981901" y="4775634"/>
                  <a:chExt cx="846903" cy="706016"/>
                </a:xfrm>
                <a:solidFill>
                  <a:srgbClr val="000000"/>
                </a:solidFill>
              </p:grpSpPr>
              <p:sp>
                <p:nvSpPr>
                  <p:cNvPr id="225" name="Freeform 224">
                    <a:extLst>
                      <a:ext uri="{FF2B5EF4-FFF2-40B4-BE49-F238E27FC236}">
                        <a16:creationId xmlns:a16="http://schemas.microsoft.com/office/drawing/2014/main" id="{3264697F-F979-301E-55B7-923F848A28ED}"/>
                      </a:ext>
                    </a:extLst>
                  </p:cNvPr>
                  <p:cNvSpPr/>
                  <p:nvPr/>
                </p:nvSpPr>
                <p:spPr>
                  <a:xfrm>
                    <a:off x="4981901" y="5119299"/>
                    <a:ext cx="846903" cy="195097"/>
                  </a:xfrm>
                  <a:custGeom>
                    <a:avLst/>
                    <a:gdLst>
                      <a:gd name="connsiteX0" fmla="*/ 108802 w 217604"/>
                      <a:gd name="connsiteY0" fmla="*/ 28779 h 67212"/>
                      <a:gd name="connsiteX1" fmla="*/ 0 w 217604"/>
                      <a:gd name="connsiteY1" fmla="*/ 0 h 67212"/>
                      <a:gd name="connsiteX2" fmla="*/ 0 w 217604"/>
                      <a:gd name="connsiteY2" fmla="*/ 38434 h 67212"/>
                      <a:gd name="connsiteX3" fmla="*/ 108802 w 217604"/>
                      <a:gd name="connsiteY3" fmla="*/ 67212 h 67212"/>
                      <a:gd name="connsiteX4" fmla="*/ 217605 w 217604"/>
                      <a:gd name="connsiteY4" fmla="*/ 38434 h 67212"/>
                      <a:gd name="connsiteX5" fmla="*/ 217605 w 217604"/>
                      <a:gd name="connsiteY5" fmla="*/ 62 h 67212"/>
                      <a:gd name="connsiteX6" fmla="*/ 108802 w 217604"/>
                      <a:gd name="connsiteY6" fmla="*/ 28841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108802" y="28779"/>
                        </a:moveTo>
                        <a:cubicBezTo>
                          <a:pt x="48707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ubicBezTo>
                          <a:pt x="217605" y="15968"/>
                          <a:pt x="168836" y="28841"/>
                          <a:pt x="108802" y="28841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" name="Freeform 225">
                    <a:extLst>
                      <a:ext uri="{FF2B5EF4-FFF2-40B4-BE49-F238E27FC236}">
                        <a16:creationId xmlns:a16="http://schemas.microsoft.com/office/drawing/2014/main" id="{63A4A19D-3F5E-4AD4-CC0E-8DCF0B3765E3}"/>
                      </a:ext>
                    </a:extLst>
                  </p:cNvPr>
                  <p:cNvSpPr/>
                  <p:nvPr/>
                </p:nvSpPr>
                <p:spPr>
                  <a:xfrm>
                    <a:off x="4981901" y="4952048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0 h 67212"/>
                      <a:gd name="connsiteX1" fmla="*/ 108802 w 217604"/>
                      <a:gd name="connsiteY1" fmla="*/ 28779 h 67212"/>
                      <a:gd name="connsiteX2" fmla="*/ 0 w 217604"/>
                      <a:gd name="connsiteY2" fmla="*/ 0 h 67212"/>
                      <a:gd name="connsiteX3" fmla="*/ 0 w 217604"/>
                      <a:gd name="connsiteY3" fmla="*/ 38434 h 67212"/>
                      <a:gd name="connsiteX4" fmla="*/ 108802 w 217604"/>
                      <a:gd name="connsiteY4" fmla="*/ 67212 h 67212"/>
                      <a:gd name="connsiteX5" fmla="*/ 217605 w 217604"/>
                      <a:gd name="connsiteY5" fmla="*/ 38434 h 67212"/>
                      <a:gd name="connsiteX6" fmla="*/ 217605 w 217604"/>
                      <a:gd name="connsiteY6" fmla="*/ 62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0"/>
                        </a:move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" name="Freeform 226">
                    <a:extLst>
                      <a:ext uri="{FF2B5EF4-FFF2-40B4-BE49-F238E27FC236}">
                        <a16:creationId xmlns:a16="http://schemas.microsoft.com/office/drawing/2014/main" id="{8C902F5B-DFFF-82B6-4143-3BCED71FA9E9}"/>
                      </a:ext>
                    </a:extLst>
                  </p:cNvPr>
                  <p:cNvSpPr/>
                  <p:nvPr/>
                </p:nvSpPr>
                <p:spPr>
                  <a:xfrm>
                    <a:off x="4981901" y="5286553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38372 h 67212"/>
                      <a:gd name="connsiteX1" fmla="*/ 217605 w 217604"/>
                      <a:gd name="connsiteY1" fmla="*/ 0 h 67212"/>
                      <a:gd name="connsiteX2" fmla="*/ 108802 w 217604"/>
                      <a:gd name="connsiteY2" fmla="*/ 28779 h 67212"/>
                      <a:gd name="connsiteX3" fmla="*/ 0 w 217604"/>
                      <a:gd name="connsiteY3" fmla="*/ 0 h 67212"/>
                      <a:gd name="connsiteX4" fmla="*/ 0 w 217604"/>
                      <a:gd name="connsiteY4" fmla="*/ 38434 h 67212"/>
                      <a:gd name="connsiteX5" fmla="*/ 108802 w 217604"/>
                      <a:gd name="connsiteY5" fmla="*/ 67212 h 67212"/>
                      <a:gd name="connsiteX6" fmla="*/ 217605 w 217604"/>
                      <a:gd name="connsiteY6" fmla="*/ 38434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38372"/>
                        </a:moveTo>
                        <a:lnTo>
                          <a:pt x="217605" y="0"/>
                        </a:ln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" name="Freeform 227">
                    <a:extLst>
                      <a:ext uri="{FF2B5EF4-FFF2-40B4-BE49-F238E27FC236}">
                        <a16:creationId xmlns:a16="http://schemas.microsoft.com/office/drawing/2014/main" id="{FB2C63C0-6D1A-9818-9A29-940C1CE74894}"/>
                      </a:ext>
                    </a:extLst>
                  </p:cNvPr>
                  <p:cNvSpPr/>
                  <p:nvPr/>
                </p:nvSpPr>
                <p:spPr>
                  <a:xfrm>
                    <a:off x="4981901" y="4775634"/>
                    <a:ext cx="846903" cy="204257"/>
                  </a:xfrm>
                  <a:custGeom>
                    <a:avLst/>
                    <a:gdLst>
                      <a:gd name="connsiteX0" fmla="*/ 0 w 217604"/>
                      <a:gd name="connsiteY0" fmla="*/ 28779 h 70368"/>
                      <a:gd name="connsiteX1" fmla="*/ 0 w 217604"/>
                      <a:gd name="connsiteY1" fmla="*/ 41590 h 70368"/>
                      <a:gd name="connsiteX2" fmla="*/ 108802 w 217604"/>
                      <a:gd name="connsiteY2" fmla="*/ 70369 h 70368"/>
                      <a:gd name="connsiteX3" fmla="*/ 217605 w 217604"/>
                      <a:gd name="connsiteY3" fmla="*/ 41590 h 70368"/>
                      <a:gd name="connsiteX4" fmla="*/ 217605 w 217604"/>
                      <a:gd name="connsiteY4" fmla="*/ 28841 h 70368"/>
                      <a:gd name="connsiteX5" fmla="*/ 108802 w 217604"/>
                      <a:gd name="connsiteY5" fmla="*/ 0 h 70368"/>
                      <a:gd name="connsiteX6" fmla="*/ 0 w 217604"/>
                      <a:gd name="connsiteY6" fmla="*/ 28779 h 70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70368">
                        <a:moveTo>
                          <a:pt x="0" y="28779"/>
                        </a:moveTo>
                        <a:lnTo>
                          <a:pt x="0" y="41590"/>
                        </a:lnTo>
                        <a:cubicBezTo>
                          <a:pt x="0" y="57496"/>
                          <a:pt x="48707" y="70369"/>
                          <a:pt x="108802" y="70369"/>
                        </a:cubicBezTo>
                        <a:cubicBezTo>
                          <a:pt x="168897" y="70369"/>
                          <a:pt x="217605" y="57496"/>
                          <a:pt x="217605" y="41590"/>
                        </a:cubicBezTo>
                        <a:lnTo>
                          <a:pt x="217605" y="28841"/>
                        </a:lnTo>
                        <a:cubicBezTo>
                          <a:pt x="217605" y="12935"/>
                          <a:pt x="168897" y="0"/>
                          <a:pt x="108802" y="0"/>
                        </a:cubicBezTo>
                        <a:cubicBezTo>
                          <a:pt x="48707" y="0"/>
                          <a:pt x="0" y="12873"/>
                          <a:pt x="0" y="28779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25E862BE-BAAF-0A50-6216-E5094435489C}"/>
                    </a:ext>
                  </a:extLst>
                </p:cNvPr>
                <p:cNvGrpSpPr/>
                <p:nvPr/>
              </p:nvGrpSpPr>
              <p:grpSpPr>
                <a:xfrm>
                  <a:off x="1455575" y="2852294"/>
                  <a:ext cx="765353" cy="64044"/>
                  <a:chOff x="5136549" y="3557033"/>
                  <a:chExt cx="892393" cy="71769"/>
                </a:xfrm>
                <a:solidFill>
                  <a:srgbClr val="000000"/>
                </a:solidFill>
              </p:grpSpPr>
              <p:cxnSp>
                <p:nvCxnSpPr>
                  <p:cNvPr id="221" name="Straight Connector 220">
                    <a:extLst>
                      <a:ext uri="{FF2B5EF4-FFF2-40B4-BE49-F238E27FC236}">
                        <a16:creationId xmlns:a16="http://schemas.microsoft.com/office/drawing/2014/main" id="{B405FEE8-8C3D-9BF0-F8E6-AC2FB5A8F4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5873482" y="3628801"/>
                    <a:ext cx="155460" cy="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5C8A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222" name="Straight Connector 221">
                    <a:extLst>
                      <a:ext uri="{FF2B5EF4-FFF2-40B4-BE49-F238E27FC236}">
                        <a16:creationId xmlns:a16="http://schemas.microsoft.com/office/drawing/2014/main" id="{1928AEAE-DF44-64C6-45CE-E3F126E7F2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6028942" y="3563692"/>
                    <a:ext cx="0" cy="6511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5C8A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223" name="Straight Connector 222">
                    <a:extLst>
                      <a:ext uri="{FF2B5EF4-FFF2-40B4-BE49-F238E27FC236}">
                        <a16:creationId xmlns:a16="http://schemas.microsoft.com/office/drawing/2014/main" id="{6B050310-4059-9484-CDED-EB0F209C1A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5137608" y="3557033"/>
                    <a:ext cx="0" cy="6511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5C8A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224" name="Straight Connector 223">
                    <a:extLst>
                      <a:ext uri="{FF2B5EF4-FFF2-40B4-BE49-F238E27FC236}">
                        <a16:creationId xmlns:a16="http://schemas.microsoft.com/office/drawing/2014/main" id="{3B07F8BD-4791-97B1-BB3B-3BAA208057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5136549" y="3622143"/>
                    <a:ext cx="130593" cy="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5C8A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25CB52A0-EDF0-8246-06AA-7714877A1BA5}"/>
                    </a:ext>
                  </a:extLst>
                </p:cNvPr>
                <p:cNvGrpSpPr/>
                <p:nvPr/>
              </p:nvGrpSpPr>
              <p:grpSpPr>
                <a:xfrm>
                  <a:off x="1652299" y="2625070"/>
                  <a:ext cx="147903" cy="189130"/>
                  <a:chOff x="4981901" y="4775634"/>
                  <a:chExt cx="846903" cy="706016"/>
                </a:xfrm>
                <a:solidFill>
                  <a:srgbClr val="000000"/>
                </a:solidFill>
              </p:grpSpPr>
              <p:sp>
                <p:nvSpPr>
                  <p:cNvPr id="217" name="Freeform 216">
                    <a:extLst>
                      <a:ext uri="{FF2B5EF4-FFF2-40B4-BE49-F238E27FC236}">
                        <a16:creationId xmlns:a16="http://schemas.microsoft.com/office/drawing/2014/main" id="{D48A5AC6-E285-AE08-B552-7EAB9ED4D3F9}"/>
                      </a:ext>
                    </a:extLst>
                  </p:cNvPr>
                  <p:cNvSpPr/>
                  <p:nvPr/>
                </p:nvSpPr>
                <p:spPr>
                  <a:xfrm>
                    <a:off x="4981901" y="5119299"/>
                    <a:ext cx="846903" cy="195097"/>
                  </a:xfrm>
                  <a:custGeom>
                    <a:avLst/>
                    <a:gdLst>
                      <a:gd name="connsiteX0" fmla="*/ 108802 w 217604"/>
                      <a:gd name="connsiteY0" fmla="*/ 28779 h 67212"/>
                      <a:gd name="connsiteX1" fmla="*/ 0 w 217604"/>
                      <a:gd name="connsiteY1" fmla="*/ 0 h 67212"/>
                      <a:gd name="connsiteX2" fmla="*/ 0 w 217604"/>
                      <a:gd name="connsiteY2" fmla="*/ 38434 h 67212"/>
                      <a:gd name="connsiteX3" fmla="*/ 108802 w 217604"/>
                      <a:gd name="connsiteY3" fmla="*/ 67212 h 67212"/>
                      <a:gd name="connsiteX4" fmla="*/ 217605 w 217604"/>
                      <a:gd name="connsiteY4" fmla="*/ 38434 h 67212"/>
                      <a:gd name="connsiteX5" fmla="*/ 217605 w 217604"/>
                      <a:gd name="connsiteY5" fmla="*/ 62 h 67212"/>
                      <a:gd name="connsiteX6" fmla="*/ 108802 w 217604"/>
                      <a:gd name="connsiteY6" fmla="*/ 28841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108802" y="28779"/>
                        </a:moveTo>
                        <a:cubicBezTo>
                          <a:pt x="48707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ubicBezTo>
                          <a:pt x="217605" y="15968"/>
                          <a:pt x="168836" y="28841"/>
                          <a:pt x="108802" y="28841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Freeform 217">
                    <a:extLst>
                      <a:ext uri="{FF2B5EF4-FFF2-40B4-BE49-F238E27FC236}">
                        <a16:creationId xmlns:a16="http://schemas.microsoft.com/office/drawing/2014/main" id="{115833CD-20CD-41B3-EAC5-62ACF8B123CD}"/>
                      </a:ext>
                    </a:extLst>
                  </p:cNvPr>
                  <p:cNvSpPr/>
                  <p:nvPr/>
                </p:nvSpPr>
                <p:spPr>
                  <a:xfrm>
                    <a:off x="4981901" y="4952048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0 h 67212"/>
                      <a:gd name="connsiteX1" fmla="*/ 108802 w 217604"/>
                      <a:gd name="connsiteY1" fmla="*/ 28779 h 67212"/>
                      <a:gd name="connsiteX2" fmla="*/ 0 w 217604"/>
                      <a:gd name="connsiteY2" fmla="*/ 0 h 67212"/>
                      <a:gd name="connsiteX3" fmla="*/ 0 w 217604"/>
                      <a:gd name="connsiteY3" fmla="*/ 38434 h 67212"/>
                      <a:gd name="connsiteX4" fmla="*/ 108802 w 217604"/>
                      <a:gd name="connsiteY4" fmla="*/ 67212 h 67212"/>
                      <a:gd name="connsiteX5" fmla="*/ 217605 w 217604"/>
                      <a:gd name="connsiteY5" fmla="*/ 38434 h 67212"/>
                      <a:gd name="connsiteX6" fmla="*/ 217605 w 217604"/>
                      <a:gd name="connsiteY6" fmla="*/ 62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0"/>
                        </a:move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Freeform 218">
                    <a:extLst>
                      <a:ext uri="{FF2B5EF4-FFF2-40B4-BE49-F238E27FC236}">
                        <a16:creationId xmlns:a16="http://schemas.microsoft.com/office/drawing/2014/main" id="{0BD9456A-4BD0-E6BB-2EB2-C446E8E550E2}"/>
                      </a:ext>
                    </a:extLst>
                  </p:cNvPr>
                  <p:cNvSpPr/>
                  <p:nvPr/>
                </p:nvSpPr>
                <p:spPr>
                  <a:xfrm>
                    <a:off x="4981901" y="5286553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38372 h 67212"/>
                      <a:gd name="connsiteX1" fmla="*/ 217605 w 217604"/>
                      <a:gd name="connsiteY1" fmla="*/ 0 h 67212"/>
                      <a:gd name="connsiteX2" fmla="*/ 108802 w 217604"/>
                      <a:gd name="connsiteY2" fmla="*/ 28779 h 67212"/>
                      <a:gd name="connsiteX3" fmla="*/ 0 w 217604"/>
                      <a:gd name="connsiteY3" fmla="*/ 0 h 67212"/>
                      <a:gd name="connsiteX4" fmla="*/ 0 w 217604"/>
                      <a:gd name="connsiteY4" fmla="*/ 38434 h 67212"/>
                      <a:gd name="connsiteX5" fmla="*/ 108802 w 217604"/>
                      <a:gd name="connsiteY5" fmla="*/ 67212 h 67212"/>
                      <a:gd name="connsiteX6" fmla="*/ 217605 w 217604"/>
                      <a:gd name="connsiteY6" fmla="*/ 38434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38372"/>
                        </a:moveTo>
                        <a:lnTo>
                          <a:pt x="217605" y="0"/>
                        </a:ln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Freeform 219">
                    <a:extLst>
                      <a:ext uri="{FF2B5EF4-FFF2-40B4-BE49-F238E27FC236}">
                        <a16:creationId xmlns:a16="http://schemas.microsoft.com/office/drawing/2014/main" id="{C8727C5E-7D8D-6349-172A-D0AE86D7B9DB}"/>
                      </a:ext>
                    </a:extLst>
                  </p:cNvPr>
                  <p:cNvSpPr/>
                  <p:nvPr/>
                </p:nvSpPr>
                <p:spPr>
                  <a:xfrm>
                    <a:off x="4981901" y="4775634"/>
                    <a:ext cx="846903" cy="204257"/>
                  </a:xfrm>
                  <a:custGeom>
                    <a:avLst/>
                    <a:gdLst>
                      <a:gd name="connsiteX0" fmla="*/ 0 w 217604"/>
                      <a:gd name="connsiteY0" fmla="*/ 28779 h 70368"/>
                      <a:gd name="connsiteX1" fmla="*/ 0 w 217604"/>
                      <a:gd name="connsiteY1" fmla="*/ 41590 h 70368"/>
                      <a:gd name="connsiteX2" fmla="*/ 108802 w 217604"/>
                      <a:gd name="connsiteY2" fmla="*/ 70369 h 70368"/>
                      <a:gd name="connsiteX3" fmla="*/ 217605 w 217604"/>
                      <a:gd name="connsiteY3" fmla="*/ 41590 h 70368"/>
                      <a:gd name="connsiteX4" fmla="*/ 217605 w 217604"/>
                      <a:gd name="connsiteY4" fmla="*/ 28841 h 70368"/>
                      <a:gd name="connsiteX5" fmla="*/ 108802 w 217604"/>
                      <a:gd name="connsiteY5" fmla="*/ 0 h 70368"/>
                      <a:gd name="connsiteX6" fmla="*/ 0 w 217604"/>
                      <a:gd name="connsiteY6" fmla="*/ 28779 h 70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70368">
                        <a:moveTo>
                          <a:pt x="0" y="28779"/>
                        </a:moveTo>
                        <a:lnTo>
                          <a:pt x="0" y="41590"/>
                        </a:lnTo>
                        <a:cubicBezTo>
                          <a:pt x="0" y="57496"/>
                          <a:pt x="48707" y="70369"/>
                          <a:pt x="108802" y="70369"/>
                        </a:cubicBezTo>
                        <a:cubicBezTo>
                          <a:pt x="168897" y="70369"/>
                          <a:pt x="217605" y="57496"/>
                          <a:pt x="217605" y="41590"/>
                        </a:cubicBezTo>
                        <a:lnTo>
                          <a:pt x="217605" y="28841"/>
                        </a:lnTo>
                        <a:cubicBezTo>
                          <a:pt x="217605" y="12935"/>
                          <a:pt x="168897" y="0"/>
                          <a:pt x="108802" y="0"/>
                        </a:cubicBezTo>
                        <a:cubicBezTo>
                          <a:pt x="48707" y="0"/>
                          <a:pt x="0" y="12873"/>
                          <a:pt x="0" y="28779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D35257CC-BEBE-F6D2-B9A9-979B80A6A492}"/>
                    </a:ext>
                  </a:extLst>
                </p:cNvPr>
                <p:cNvGrpSpPr/>
                <p:nvPr/>
              </p:nvGrpSpPr>
              <p:grpSpPr>
                <a:xfrm>
                  <a:off x="1838252" y="2625070"/>
                  <a:ext cx="147903" cy="189130"/>
                  <a:chOff x="4981901" y="4775634"/>
                  <a:chExt cx="846903" cy="706016"/>
                </a:xfrm>
                <a:solidFill>
                  <a:srgbClr val="000000"/>
                </a:solidFill>
              </p:grpSpPr>
              <p:sp>
                <p:nvSpPr>
                  <p:cNvPr id="213" name="Freeform 212">
                    <a:extLst>
                      <a:ext uri="{FF2B5EF4-FFF2-40B4-BE49-F238E27FC236}">
                        <a16:creationId xmlns:a16="http://schemas.microsoft.com/office/drawing/2014/main" id="{D14CB04A-B7A0-27DC-56AD-11F53854C248}"/>
                      </a:ext>
                    </a:extLst>
                  </p:cNvPr>
                  <p:cNvSpPr/>
                  <p:nvPr/>
                </p:nvSpPr>
                <p:spPr>
                  <a:xfrm>
                    <a:off x="4981901" y="5119299"/>
                    <a:ext cx="846903" cy="195097"/>
                  </a:xfrm>
                  <a:custGeom>
                    <a:avLst/>
                    <a:gdLst>
                      <a:gd name="connsiteX0" fmla="*/ 108802 w 217604"/>
                      <a:gd name="connsiteY0" fmla="*/ 28779 h 67212"/>
                      <a:gd name="connsiteX1" fmla="*/ 0 w 217604"/>
                      <a:gd name="connsiteY1" fmla="*/ 0 h 67212"/>
                      <a:gd name="connsiteX2" fmla="*/ 0 w 217604"/>
                      <a:gd name="connsiteY2" fmla="*/ 38434 h 67212"/>
                      <a:gd name="connsiteX3" fmla="*/ 108802 w 217604"/>
                      <a:gd name="connsiteY3" fmla="*/ 67212 h 67212"/>
                      <a:gd name="connsiteX4" fmla="*/ 217605 w 217604"/>
                      <a:gd name="connsiteY4" fmla="*/ 38434 h 67212"/>
                      <a:gd name="connsiteX5" fmla="*/ 217605 w 217604"/>
                      <a:gd name="connsiteY5" fmla="*/ 62 h 67212"/>
                      <a:gd name="connsiteX6" fmla="*/ 108802 w 217604"/>
                      <a:gd name="connsiteY6" fmla="*/ 28841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108802" y="28779"/>
                        </a:moveTo>
                        <a:cubicBezTo>
                          <a:pt x="48707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ubicBezTo>
                          <a:pt x="217605" y="15968"/>
                          <a:pt x="168836" y="28841"/>
                          <a:pt x="108802" y="28841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" name="Freeform 213">
                    <a:extLst>
                      <a:ext uri="{FF2B5EF4-FFF2-40B4-BE49-F238E27FC236}">
                        <a16:creationId xmlns:a16="http://schemas.microsoft.com/office/drawing/2014/main" id="{0F8806CD-B1DA-5D28-2F5B-8F7363E49ADB}"/>
                      </a:ext>
                    </a:extLst>
                  </p:cNvPr>
                  <p:cNvSpPr/>
                  <p:nvPr/>
                </p:nvSpPr>
                <p:spPr>
                  <a:xfrm>
                    <a:off x="4981901" y="4952048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0 h 67212"/>
                      <a:gd name="connsiteX1" fmla="*/ 108802 w 217604"/>
                      <a:gd name="connsiteY1" fmla="*/ 28779 h 67212"/>
                      <a:gd name="connsiteX2" fmla="*/ 0 w 217604"/>
                      <a:gd name="connsiteY2" fmla="*/ 0 h 67212"/>
                      <a:gd name="connsiteX3" fmla="*/ 0 w 217604"/>
                      <a:gd name="connsiteY3" fmla="*/ 38434 h 67212"/>
                      <a:gd name="connsiteX4" fmla="*/ 108802 w 217604"/>
                      <a:gd name="connsiteY4" fmla="*/ 67212 h 67212"/>
                      <a:gd name="connsiteX5" fmla="*/ 217605 w 217604"/>
                      <a:gd name="connsiteY5" fmla="*/ 38434 h 67212"/>
                      <a:gd name="connsiteX6" fmla="*/ 217605 w 217604"/>
                      <a:gd name="connsiteY6" fmla="*/ 62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0"/>
                        </a:move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" name="Freeform 214">
                    <a:extLst>
                      <a:ext uri="{FF2B5EF4-FFF2-40B4-BE49-F238E27FC236}">
                        <a16:creationId xmlns:a16="http://schemas.microsoft.com/office/drawing/2014/main" id="{05A700E5-3176-5E98-9729-0FC8E8AB16A8}"/>
                      </a:ext>
                    </a:extLst>
                  </p:cNvPr>
                  <p:cNvSpPr/>
                  <p:nvPr/>
                </p:nvSpPr>
                <p:spPr>
                  <a:xfrm>
                    <a:off x="4981901" y="5286553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38372 h 67212"/>
                      <a:gd name="connsiteX1" fmla="*/ 217605 w 217604"/>
                      <a:gd name="connsiteY1" fmla="*/ 0 h 67212"/>
                      <a:gd name="connsiteX2" fmla="*/ 108802 w 217604"/>
                      <a:gd name="connsiteY2" fmla="*/ 28779 h 67212"/>
                      <a:gd name="connsiteX3" fmla="*/ 0 w 217604"/>
                      <a:gd name="connsiteY3" fmla="*/ 0 h 67212"/>
                      <a:gd name="connsiteX4" fmla="*/ 0 w 217604"/>
                      <a:gd name="connsiteY4" fmla="*/ 38434 h 67212"/>
                      <a:gd name="connsiteX5" fmla="*/ 108802 w 217604"/>
                      <a:gd name="connsiteY5" fmla="*/ 67212 h 67212"/>
                      <a:gd name="connsiteX6" fmla="*/ 217605 w 217604"/>
                      <a:gd name="connsiteY6" fmla="*/ 38434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38372"/>
                        </a:moveTo>
                        <a:lnTo>
                          <a:pt x="217605" y="0"/>
                        </a:ln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" name="Freeform 215">
                    <a:extLst>
                      <a:ext uri="{FF2B5EF4-FFF2-40B4-BE49-F238E27FC236}">
                        <a16:creationId xmlns:a16="http://schemas.microsoft.com/office/drawing/2014/main" id="{44591F50-B1C7-9AF4-D343-6BFBDA3582B3}"/>
                      </a:ext>
                    </a:extLst>
                  </p:cNvPr>
                  <p:cNvSpPr/>
                  <p:nvPr/>
                </p:nvSpPr>
                <p:spPr>
                  <a:xfrm>
                    <a:off x="4981901" y="4775634"/>
                    <a:ext cx="846903" cy="204257"/>
                  </a:xfrm>
                  <a:custGeom>
                    <a:avLst/>
                    <a:gdLst>
                      <a:gd name="connsiteX0" fmla="*/ 0 w 217604"/>
                      <a:gd name="connsiteY0" fmla="*/ 28779 h 70368"/>
                      <a:gd name="connsiteX1" fmla="*/ 0 w 217604"/>
                      <a:gd name="connsiteY1" fmla="*/ 41590 h 70368"/>
                      <a:gd name="connsiteX2" fmla="*/ 108802 w 217604"/>
                      <a:gd name="connsiteY2" fmla="*/ 70369 h 70368"/>
                      <a:gd name="connsiteX3" fmla="*/ 217605 w 217604"/>
                      <a:gd name="connsiteY3" fmla="*/ 41590 h 70368"/>
                      <a:gd name="connsiteX4" fmla="*/ 217605 w 217604"/>
                      <a:gd name="connsiteY4" fmla="*/ 28841 h 70368"/>
                      <a:gd name="connsiteX5" fmla="*/ 108802 w 217604"/>
                      <a:gd name="connsiteY5" fmla="*/ 0 h 70368"/>
                      <a:gd name="connsiteX6" fmla="*/ 0 w 217604"/>
                      <a:gd name="connsiteY6" fmla="*/ 28779 h 70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70368">
                        <a:moveTo>
                          <a:pt x="0" y="28779"/>
                        </a:moveTo>
                        <a:lnTo>
                          <a:pt x="0" y="41590"/>
                        </a:lnTo>
                        <a:cubicBezTo>
                          <a:pt x="0" y="57496"/>
                          <a:pt x="48707" y="70369"/>
                          <a:pt x="108802" y="70369"/>
                        </a:cubicBezTo>
                        <a:cubicBezTo>
                          <a:pt x="168897" y="70369"/>
                          <a:pt x="217605" y="57496"/>
                          <a:pt x="217605" y="41590"/>
                        </a:cubicBezTo>
                        <a:lnTo>
                          <a:pt x="217605" y="28841"/>
                        </a:lnTo>
                        <a:cubicBezTo>
                          <a:pt x="217605" y="12935"/>
                          <a:pt x="168897" y="0"/>
                          <a:pt x="108802" y="0"/>
                        </a:cubicBezTo>
                        <a:cubicBezTo>
                          <a:pt x="48707" y="0"/>
                          <a:pt x="0" y="12873"/>
                          <a:pt x="0" y="28779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97" name="Group 196">
                  <a:extLst>
                    <a:ext uri="{FF2B5EF4-FFF2-40B4-BE49-F238E27FC236}">
                      <a16:creationId xmlns:a16="http://schemas.microsoft.com/office/drawing/2014/main" id="{C4E53FFB-4821-6A3A-4510-C3E162141075}"/>
                    </a:ext>
                  </a:extLst>
                </p:cNvPr>
                <p:cNvGrpSpPr/>
                <p:nvPr/>
              </p:nvGrpSpPr>
              <p:grpSpPr>
                <a:xfrm>
                  <a:off x="2028645" y="2625070"/>
                  <a:ext cx="147903" cy="189130"/>
                  <a:chOff x="4981901" y="4775634"/>
                  <a:chExt cx="846903" cy="706016"/>
                </a:xfrm>
                <a:solidFill>
                  <a:srgbClr val="000000"/>
                </a:solidFill>
              </p:grpSpPr>
              <p:sp>
                <p:nvSpPr>
                  <p:cNvPr id="209" name="Freeform 208">
                    <a:extLst>
                      <a:ext uri="{FF2B5EF4-FFF2-40B4-BE49-F238E27FC236}">
                        <a16:creationId xmlns:a16="http://schemas.microsoft.com/office/drawing/2014/main" id="{EA6E8B21-2AA3-CCC3-8A56-9451E5B785C1}"/>
                      </a:ext>
                    </a:extLst>
                  </p:cNvPr>
                  <p:cNvSpPr/>
                  <p:nvPr/>
                </p:nvSpPr>
                <p:spPr>
                  <a:xfrm>
                    <a:off x="4981901" y="5119299"/>
                    <a:ext cx="846903" cy="195097"/>
                  </a:xfrm>
                  <a:custGeom>
                    <a:avLst/>
                    <a:gdLst>
                      <a:gd name="connsiteX0" fmla="*/ 108802 w 217604"/>
                      <a:gd name="connsiteY0" fmla="*/ 28779 h 67212"/>
                      <a:gd name="connsiteX1" fmla="*/ 0 w 217604"/>
                      <a:gd name="connsiteY1" fmla="*/ 0 h 67212"/>
                      <a:gd name="connsiteX2" fmla="*/ 0 w 217604"/>
                      <a:gd name="connsiteY2" fmla="*/ 38434 h 67212"/>
                      <a:gd name="connsiteX3" fmla="*/ 108802 w 217604"/>
                      <a:gd name="connsiteY3" fmla="*/ 67212 h 67212"/>
                      <a:gd name="connsiteX4" fmla="*/ 217605 w 217604"/>
                      <a:gd name="connsiteY4" fmla="*/ 38434 h 67212"/>
                      <a:gd name="connsiteX5" fmla="*/ 217605 w 217604"/>
                      <a:gd name="connsiteY5" fmla="*/ 62 h 67212"/>
                      <a:gd name="connsiteX6" fmla="*/ 108802 w 217604"/>
                      <a:gd name="connsiteY6" fmla="*/ 28841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108802" y="28779"/>
                        </a:moveTo>
                        <a:cubicBezTo>
                          <a:pt x="48707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ubicBezTo>
                          <a:pt x="217605" y="15968"/>
                          <a:pt x="168836" y="28841"/>
                          <a:pt x="108802" y="28841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Freeform 209">
                    <a:extLst>
                      <a:ext uri="{FF2B5EF4-FFF2-40B4-BE49-F238E27FC236}">
                        <a16:creationId xmlns:a16="http://schemas.microsoft.com/office/drawing/2014/main" id="{67151647-D78C-E88B-CE2D-EAC5D0B91F05}"/>
                      </a:ext>
                    </a:extLst>
                  </p:cNvPr>
                  <p:cNvSpPr/>
                  <p:nvPr/>
                </p:nvSpPr>
                <p:spPr>
                  <a:xfrm>
                    <a:off x="4981901" y="4952048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0 h 67212"/>
                      <a:gd name="connsiteX1" fmla="*/ 108802 w 217604"/>
                      <a:gd name="connsiteY1" fmla="*/ 28779 h 67212"/>
                      <a:gd name="connsiteX2" fmla="*/ 0 w 217604"/>
                      <a:gd name="connsiteY2" fmla="*/ 0 h 67212"/>
                      <a:gd name="connsiteX3" fmla="*/ 0 w 217604"/>
                      <a:gd name="connsiteY3" fmla="*/ 38434 h 67212"/>
                      <a:gd name="connsiteX4" fmla="*/ 108802 w 217604"/>
                      <a:gd name="connsiteY4" fmla="*/ 67212 h 67212"/>
                      <a:gd name="connsiteX5" fmla="*/ 217605 w 217604"/>
                      <a:gd name="connsiteY5" fmla="*/ 38434 h 67212"/>
                      <a:gd name="connsiteX6" fmla="*/ 217605 w 217604"/>
                      <a:gd name="connsiteY6" fmla="*/ 62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0"/>
                        </a:move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1" name="Freeform 210">
                    <a:extLst>
                      <a:ext uri="{FF2B5EF4-FFF2-40B4-BE49-F238E27FC236}">
                        <a16:creationId xmlns:a16="http://schemas.microsoft.com/office/drawing/2014/main" id="{F5405F69-E562-EF9B-2A0B-17599E2EF48C}"/>
                      </a:ext>
                    </a:extLst>
                  </p:cNvPr>
                  <p:cNvSpPr/>
                  <p:nvPr/>
                </p:nvSpPr>
                <p:spPr>
                  <a:xfrm>
                    <a:off x="4981901" y="5286553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38372 h 67212"/>
                      <a:gd name="connsiteX1" fmla="*/ 217605 w 217604"/>
                      <a:gd name="connsiteY1" fmla="*/ 0 h 67212"/>
                      <a:gd name="connsiteX2" fmla="*/ 108802 w 217604"/>
                      <a:gd name="connsiteY2" fmla="*/ 28779 h 67212"/>
                      <a:gd name="connsiteX3" fmla="*/ 0 w 217604"/>
                      <a:gd name="connsiteY3" fmla="*/ 0 h 67212"/>
                      <a:gd name="connsiteX4" fmla="*/ 0 w 217604"/>
                      <a:gd name="connsiteY4" fmla="*/ 38434 h 67212"/>
                      <a:gd name="connsiteX5" fmla="*/ 108802 w 217604"/>
                      <a:gd name="connsiteY5" fmla="*/ 67212 h 67212"/>
                      <a:gd name="connsiteX6" fmla="*/ 217605 w 217604"/>
                      <a:gd name="connsiteY6" fmla="*/ 38434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38372"/>
                        </a:moveTo>
                        <a:lnTo>
                          <a:pt x="217605" y="0"/>
                        </a:ln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2" name="Freeform 211">
                    <a:extLst>
                      <a:ext uri="{FF2B5EF4-FFF2-40B4-BE49-F238E27FC236}">
                        <a16:creationId xmlns:a16="http://schemas.microsoft.com/office/drawing/2014/main" id="{913FFD80-08B2-BCDE-A89C-A2013584358F}"/>
                      </a:ext>
                    </a:extLst>
                  </p:cNvPr>
                  <p:cNvSpPr/>
                  <p:nvPr/>
                </p:nvSpPr>
                <p:spPr>
                  <a:xfrm>
                    <a:off x="4981901" y="4775634"/>
                    <a:ext cx="846903" cy="204257"/>
                  </a:xfrm>
                  <a:custGeom>
                    <a:avLst/>
                    <a:gdLst>
                      <a:gd name="connsiteX0" fmla="*/ 0 w 217604"/>
                      <a:gd name="connsiteY0" fmla="*/ 28779 h 70368"/>
                      <a:gd name="connsiteX1" fmla="*/ 0 w 217604"/>
                      <a:gd name="connsiteY1" fmla="*/ 41590 h 70368"/>
                      <a:gd name="connsiteX2" fmla="*/ 108802 w 217604"/>
                      <a:gd name="connsiteY2" fmla="*/ 70369 h 70368"/>
                      <a:gd name="connsiteX3" fmla="*/ 217605 w 217604"/>
                      <a:gd name="connsiteY3" fmla="*/ 41590 h 70368"/>
                      <a:gd name="connsiteX4" fmla="*/ 217605 w 217604"/>
                      <a:gd name="connsiteY4" fmla="*/ 28841 h 70368"/>
                      <a:gd name="connsiteX5" fmla="*/ 108802 w 217604"/>
                      <a:gd name="connsiteY5" fmla="*/ 0 h 70368"/>
                      <a:gd name="connsiteX6" fmla="*/ 0 w 217604"/>
                      <a:gd name="connsiteY6" fmla="*/ 28779 h 70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70368">
                        <a:moveTo>
                          <a:pt x="0" y="28779"/>
                        </a:moveTo>
                        <a:lnTo>
                          <a:pt x="0" y="41590"/>
                        </a:lnTo>
                        <a:cubicBezTo>
                          <a:pt x="0" y="57496"/>
                          <a:pt x="48707" y="70369"/>
                          <a:pt x="108802" y="70369"/>
                        </a:cubicBezTo>
                        <a:cubicBezTo>
                          <a:pt x="168897" y="70369"/>
                          <a:pt x="217605" y="57496"/>
                          <a:pt x="217605" y="41590"/>
                        </a:cubicBezTo>
                        <a:lnTo>
                          <a:pt x="217605" y="28841"/>
                        </a:lnTo>
                        <a:cubicBezTo>
                          <a:pt x="217605" y="12935"/>
                          <a:pt x="168897" y="0"/>
                          <a:pt x="108802" y="0"/>
                        </a:cubicBezTo>
                        <a:cubicBezTo>
                          <a:pt x="48707" y="0"/>
                          <a:pt x="0" y="12873"/>
                          <a:pt x="0" y="28779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C468A5F8-14DC-6A1E-44A4-355D6E971F26}"/>
                    </a:ext>
                  </a:extLst>
                </p:cNvPr>
                <p:cNvSpPr txBox="1"/>
                <p:nvPr/>
              </p:nvSpPr>
              <p:spPr>
                <a:xfrm>
                  <a:off x="1512147" y="2863912"/>
                  <a:ext cx="639478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5C8A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vSAN             Storage Cluster</a:t>
                  </a:r>
                </a:p>
              </p:txBody>
            </p:sp>
            <p:grpSp>
              <p:nvGrpSpPr>
                <p:cNvPr id="199" name="Group 198">
                  <a:extLst>
                    <a:ext uri="{FF2B5EF4-FFF2-40B4-BE49-F238E27FC236}">
                      <a16:creationId xmlns:a16="http://schemas.microsoft.com/office/drawing/2014/main" id="{26A4E5A5-016D-64B7-AB56-1188CEEB524C}"/>
                    </a:ext>
                  </a:extLst>
                </p:cNvPr>
                <p:cNvGrpSpPr/>
                <p:nvPr/>
              </p:nvGrpSpPr>
              <p:grpSpPr>
                <a:xfrm>
                  <a:off x="1452313" y="2145349"/>
                  <a:ext cx="771877" cy="417949"/>
                  <a:chOff x="4987028" y="3247456"/>
                  <a:chExt cx="900000" cy="473040"/>
                </a:xfrm>
                <a:solidFill>
                  <a:srgbClr val="0098C7"/>
                </a:solidFill>
              </p:grpSpPr>
              <p:grpSp>
                <p:nvGrpSpPr>
                  <p:cNvPr id="200" name="Group 199">
                    <a:extLst>
                      <a:ext uri="{FF2B5EF4-FFF2-40B4-BE49-F238E27FC236}">
                        <a16:creationId xmlns:a16="http://schemas.microsoft.com/office/drawing/2014/main" id="{07972796-BC5A-C9A8-AC0B-EF8CB2F45BF8}"/>
                      </a:ext>
                    </a:extLst>
                  </p:cNvPr>
                  <p:cNvGrpSpPr/>
                  <p:nvPr/>
                </p:nvGrpSpPr>
                <p:grpSpPr>
                  <a:xfrm>
                    <a:off x="4987028" y="3592079"/>
                    <a:ext cx="900000" cy="128417"/>
                    <a:chOff x="5030904" y="4970294"/>
                    <a:chExt cx="1917765" cy="244827"/>
                  </a:xfrm>
                  <a:grpFill/>
                </p:grpSpPr>
                <p:pic>
                  <p:nvPicPr>
                    <p:cNvPr id="207" name="Graphic 206">
                      <a:extLst>
                        <a:ext uri="{FF2B5EF4-FFF2-40B4-BE49-F238E27FC236}">
                          <a16:creationId xmlns:a16="http://schemas.microsoft.com/office/drawing/2014/main" id="{8BD6B058-6455-5C1D-C75D-C0E1A5834B7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8" name="Graphic 207">
                      <a:extLst>
                        <a:ext uri="{FF2B5EF4-FFF2-40B4-BE49-F238E27FC236}">
                          <a16:creationId xmlns:a16="http://schemas.microsoft.com/office/drawing/2014/main" id="{0D8698F2-96B9-C1A0-419F-33EA7188F13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01" name="Group 200">
                    <a:extLst>
                      <a:ext uri="{FF2B5EF4-FFF2-40B4-BE49-F238E27FC236}">
                        <a16:creationId xmlns:a16="http://schemas.microsoft.com/office/drawing/2014/main" id="{2CFA7BF4-6452-71BD-CACE-D488A08A2F42}"/>
                      </a:ext>
                    </a:extLst>
                  </p:cNvPr>
                  <p:cNvGrpSpPr/>
                  <p:nvPr/>
                </p:nvGrpSpPr>
                <p:grpSpPr>
                  <a:xfrm>
                    <a:off x="4987028" y="3419263"/>
                    <a:ext cx="900000" cy="128417"/>
                    <a:chOff x="5030904" y="4640821"/>
                    <a:chExt cx="1917765" cy="244827"/>
                  </a:xfrm>
                  <a:grpFill/>
                </p:grpSpPr>
                <p:pic>
                  <p:nvPicPr>
                    <p:cNvPr id="205" name="Graphic 204">
                      <a:extLst>
                        <a:ext uri="{FF2B5EF4-FFF2-40B4-BE49-F238E27FC236}">
                          <a16:creationId xmlns:a16="http://schemas.microsoft.com/office/drawing/2014/main" id="{E6D7691C-D165-57EA-D793-3DB363932B2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6" name="Graphic 205">
                      <a:extLst>
                        <a:ext uri="{FF2B5EF4-FFF2-40B4-BE49-F238E27FC236}">
                          <a16:creationId xmlns:a16="http://schemas.microsoft.com/office/drawing/2014/main" id="{3AC9683E-1918-86A2-3C43-FF0B1085836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02" name="Group 201">
                    <a:extLst>
                      <a:ext uri="{FF2B5EF4-FFF2-40B4-BE49-F238E27FC236}">
                        <a16:creationId xmlns:a16="http://schemas.microsoft.com/office/drawing/2014/main" id="{5DDAEE4A-D1BC-79B5-B79C-E77EEB8F9414}"/>
                      </a:ext>
                    </a:extLst>
                  </p:cNvPr>
                  <p:cNvGrpSpPr/>
                  <p:nvPr/>
                </p:nvGrpSpPr>
                <p:grpSpPr>
                  <a:xfrm>
                    <a:off x="4987028" y="3247456"/>
                    <a:ext cx="900000" cy="128417"/>
                    <a:chOff x="5030904" y="4640821"/>
                    <a:chExt cx="1917765" cy="244827"/>
                  </a:xfrm>
                  <a:grpFill/>
                </p:grpSpPr>
                <p:pic>
                  <p:nvPicPr>
                    <p:cNvPr id="203" name="Graphic 202">
                      <a:extLst>
                        <a:ext uri="{FF2B5EF4-FFF2-40B4-BE49-F238E27FC236}">
                          <a16:creationId xmlns:a16="http://schemas.microsoft.com/office/drawing/2014/main" id="{72F90894-6541-150E-0C18-E3128163DE0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4" name="Graphic 203">
                      <a:extLst>
                        <a:ext uri="{FF2B5EF4-FFF2-40B4-BE49-F238E27FC236}">
                          <a16:creationId xmlns:a16="http://schemas.microsoft.com/office/drawing/2014/main" id="{B09DF449-F89B-96F2-3A47-21DE72DCA82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sp>
            <p:nvSpPr>
              <p:cNvPr id="185" name="Google Shape;1363;p4">
                <a:extLst>
                  <a:ext uri="{FF2B5EF4-FFF2-40B4-BE49-F238E27FC236}">
                    <a16:creationId xmlns:a16="http://schemas.microsoft.com/office/drawing/2014/main" id="{A84DEB13-8DA0-48A0-B710-A6C01B5D1D5B}"/>
                  </a:ext>
                </a:extLst>
              </p:cNvPr>
              <p:cNvSpPr/>
              <p:nvPr/>
            </p:nvSpPr>
            <p:spPr>
              <a:xfrm>
                <a:off x="1028515" y="1673243"/>
                <a:ext cx="1111250" cy="1352518"/>
              </a:xfrm>
              <a:prstGeom prst="rect">
                <a:avLst/>
              </a:prstGeom>
              <a:noFill/>
              <a:ln w="12700" cap="flat" cmpd="sng">
                <a:solidFill>
                  <a:srgbClr val="005C8A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0E2DD74E-6444-C357-C546-B369516A353B}"/>
                  </a:ext>
                </a:extLst>
              </p:cNvPr>
              <p:cNvGrpSpPr/>
              <p:nvPr/>
            </p:nvGrpSpPr>
            <p:grpSpPr>
              <a:xfrm>
                <a:off x="1334774" y="1351856"/>
                <a:ext cx="498734" cy="478674"/>
                <a:chOff x="3391157" y="3797947"/>
                <a:chExt cx="498734" cy="478674"/>
              </a:xfrm>
            </p:grpSpPr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FD494CB9-43C3-1D65-5530-C375E533E538}"/>
                    </a:ext>
                  </a:extLst>
                </p:cNvPr>
                <p:cNvCxnSpPr>
                  <a:cxnSpLocks/>
                  <a:stCxn id="189" idx="2"/>
                </p:cNvCxnSpPr>
                <p:nvPr/>
              </p:nvCxnSpPr>
              <p:spPr bwMode="gray">
                <a:xfrm>
                  <a:off x="3528443" y="3986027"/>
                  <a:ext cx="0" cy="290594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89" name="Graphic 188">
                  <a:extLst>
                    <a:ext uri="{FF2B5EF4-FFF2-40B4-BE49-F238E27FC236}">
                      <a16:creationId xmlns:a16="http://schemas.microsoft.com/office/drawing/2014/main" id="{8C06B968-D668-B2AA-4FF3-A5564BC252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90" name="Graphic 189">
                  <a:extLst>
                    <a:ext uri="{FF2B5EF4-FFF2-40B4-BE49-F238E27FC236}">
                      <a16:creationId xmlns:a16="http://schemas.microsoft.com/office/drawing/2014/main" id="{9F19D22F-1DA0-0F5F-806F-A5B7BA184A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4F83C09C-8B64-BAA3-3E7E-92AF9BF0B01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0" cy="290594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3B34B85F-8F67-A1FD-58AD-DA354D95146C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D9E06CDD-4832-A698-698C-17424ACCA136}"/>
                  </a:ext>
                </a:extLst>
              </p:cNvPr>
              <p:cNvSpPr txBox="1"/>
              <p:nvPr/>
            </p:nvSpPr>
            <p:spPr>
              <a:xfrm>
                <a:off x="1089340" y="1823074"/>
                <a:ext cx="989601" cy="503959"/>
              </a:xfrm>
              <a:prstGeom prst="rect">
                <a:avLst/>
              </a:prstGeom>
              <a:noFill/>
              <a:ln w="12700">
                <a:solidFill>
                  <a:srgbClr val="99999B"/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9" name="Google Shape;1361;p4">
                <a:extLst>
                  <a:ext uri="{FF2B5EF4-FFF2-40B4-BE49-F238E27FC236}">
                    <a16:creationId xmlns:a16="http://schemas.microsoft.com/office/drawing/2014/main" id="{E9A317D0-DC9C-67A5-CCE9-BA5228616DBE}"/>
                  </a:ext>
                </a:extLst>
              </p:cNvPr>
              <p:cNvSpPr/>
              <p:nvPr/>
            </p:nvSpPr>
            <p:spPr>
              <a:xfrm>
                <a:off x="935949" y="1063419"/>
                <a:ext cx="1313498" cy="2039704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</p:grp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054137C5-9C65-77AA-F454-3D08E64A73D6}"/>
                </a:ext>
              </a:extLst>
            </p:cNvPr>
            <p:cNvSpPr txBox="1"/>
            <p:nvPr/>
          </p:nvSpPr>
          <p:spPr>
            <a:xfrm>
              <a:off x="5539714" y="1301883"/>
              <a:ext cx="423231" cy="215444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rPr>
                <a:t>Rack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4805645E-2E21-218C-6421-B6F2BF76E2B8}"/>
                </a:ext>
              </a:extLst>
            </p:cNvPr>
            <p:cNvSpPr txBox="1"/>
            <p:nvPr/>
          </p:nvSpPr>
          <p:spPr>
            <a:xfrm>
              <a:off x="5961692" y="1111609"/>
              <a:ext cx="316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rPr>
                <a:t>L3</a:t>
              </a:r>
            </a:p>
          </p:txBody>
        </p:sp>
        <p:cxnSp>
          <p:nvCxnSpPr>
            <p:cNvPr id="260" name="Elbow Connector 259">
              <a:extLst>
                <a:ext uri="{FF2B5EF4-FFF2-40B4-BE49-F238E27FC236}">
                  <a16:creationId xmlns:a16="http://schemas.microsoft.com/office/drawing/2014/main" id="{35B61D1D-63FF-9022-BDE3-5F600FF5BDC6}"/>
                </a:ext>
              </a:extLst>
            </p:cNvPr>
            <p:cNvCxnSpPr>
              <a:cxnSpLocks/>
              <a:endCxn id="192" idx="0"/>
            </p:cNvCxnSpPr>
            <p:nvPr/>
          </p:nvCxnSpPr>
          <p:spPr>
            <a:xfrm rot="5400000" flipH="1" flipV="1">
              <a:off x="4991723" y="2572418"/>
              <a:ext cx="2014158" cy="16718"/>
            </a:xfrm>
            <a:prstGeom prst="bentConnector5">
              <a:avLst>
                <a:gd name="adj1" fmla="val 8869"/>
                <a:gd name="adj2" fmla="val -6204384"/>
                <a:gd name="adj3" fmla="val 120644"/>
              </a:avLst>
            </a:prstGeom>
            <a:ln w="12700">
              <a:solidFill>
                <a:srgbClr val="9999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755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454EA-0CB2-3525-E805-3CBD5116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3D55E-359F-7D0E-B855-814442BC3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683" y="-3194"/>
            <a:ext cx="11001004" cy="381000"/>
          </a:xfrm>
        </p:spPr>
        <p:txBody>
          <a:bodyPr/>
          <a:lstStyle/>
          <a:p>
            <a:r>
              <a:rPr lang="en-US" sz="1800" dirty="0">
                <a:latin typeface="Metropolis" pitchFamily="2" charset="77"/>
              </a:rPr>
              <a:t>Multi-rack / L3 vSAN compute cluster </a:t>
            </a:r>
            <a:r>
              <a:rPr lang="en-US" sz="1800" dirty="0">
                <a:solidFill>
                  <a:srgbClr val="005C8A"/>
                </a:solidFill>
                <a:latin typeface="Metropolis" pitchFamily="2" charset="77"/>
              </a:rPr>
              <a:t>– ready for export 24% </a:t>
            </a:r>
            <a:endParaRPr lang="en-US" sz="1800" dirty="0">
              <a:latin typeface="Metropolis" pitchFamily="2" charset="77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973996-A5B3-5E21-074D-644DB8C1C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3263" y="597600"/>
            <a:ext cx="7123176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4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1A3AA7-0138-62E3-452B-4BE93CAFB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NFS Storage Model v1.0</a:t>
            </a:r>
          </a:p>
        </p:txBody>
      </p:sp>
      <p:sp>
        <p:nvSpPr>
          <p:cNvPr id="6" name="Google Shape;1342;p4">
            <a:extLst>
              <a:ext uri="{FF2B5EF4-FFF2-40B4-BE49-F238E27FC236}">
                <a16:creationId xmlns:a16="http://schemas.microsoft.com/office/drawing/2014/main" id="{99D43F88-9DD1-8C64-F09F-12DBAF2E470F}"/>
              </a:ext>
            </a:extLst>
          </p:cNvPr>
          <p:cNvSpPr/>
          <p:nvPr/>
        </p:nvSpPr>
        <p:spPr>
          <a:xfrm>
            <a:off x="4775784" y="1495010"/>
            <a:ext cx="2608546" cy="4125890"/>
          </a:xfrm>
          <a:prstGeom prst="rect">
            <a:avLst/>
          </a:prstGeom>
          <a:solidFill>
            <a:sysClr val="window" lastClr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VCF Instance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7" name="Google Shape;1344;p4">
            <a:extLst>
              <a:ext uri="{FF2B5EF4-FFF2-40B4-BE49-F238E27FC236}">
                <a16:creationId xmlns:a16="http://schemas.microsoft.com/office/drawing/2014/main" id="{C6E24FD6-96E3-D9D5-1145-C1054E731CB4}"/>
              </a:ext>
            </a:extLst>
          </p:cNvPr>
          <p:cNvSpPr/>
          <p:nvPr/>
        </p:nvSpPr>
        <p:spPr>
          <a:xfrm>
            <a:off x="5173403" y="2616261"/>
            <a:ext cx="1842085" cy="2704550"/>
          </a:xfrm>
          <a:prstGeom prst="rect">
            <a:avLst/>
          </a:prstGeom>
          <a:solidFill>
            <a:sysClr val="window" lastClr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Rack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221E20"/>
              </a:solidFill>
              <a:effectLst/>
              <a:uLnTx/>
              <a:uFillTx/>
              <a:latin typeface="Metropolis" pitchFamily="2" charset="77"/>
              <a:cs typeface="Arial"/>
              <a:sym typeface="Arial"/>
            </a:endParaRPr>
          </a:p>
        </p:txBody>
      </p:sp>
      <p:sp>
        <p:nvSpPr>
          <p:cNvPr id="8" name="Google Shape;1347;p4">
            <a:extLst>
              <a:ext uri="{FF2B5EF4-FFF2-40B4-BE49-F238E27FC236}">
                <a16:creationId xmlns:a16="http://schemas.microsoft.com/office/drawing/2014/main" id="{B945D084-1EAB-8758-E046-6B2BA9D0DD9A}"/>
              </a:ext>
            </a:extLst>
          </p:cNvPr>
          <p:cNvSpPr/>
          <p:nvPr/>
        </p:nvSpPr>
        <p:spPr>
          <a:xfrm>
            <a:off x="5295804" y="3387625"/>
            <a:ext cx="1612346" cy="1818129"/>
          </a:xfrm>
          <a:prstGeom prst="rect">
            <a:avLst/>
          </a:prstGeom>
          <a:noFill/>
          <a:ln w="12700" cap="flat" cmpd="sng">
            <a:solidFill>
              <a:srgbClr val="0098C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98C7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50C8221-5F1F-45BE-06F5-304D39C6059D}"/>
              </a:ext>
            </a:extLst>
          </p:cNvPr>
          <p:cNvGrpSpPr/>
          <p:nvPr/>
        </p:nvGrpSpPr>
        <p:grpSpPr>
          <a:xfrm>
            <a:off x="5400792" y="4235533"/>
            <a:ext cx="1399733" cy="234001"/>
            <a:chOff x="6509331" y="4965699"/>
            <a:chExt cx="1399733" cy="23400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1489D83-3342-EAE8-27C1-2C92C59F4971}"/>
                </a:ext>
              </a:extLst>
            </p:cNvPr>
            <p:cNvGrpSpPr/>
            <p:nvPr/>
          </p:nvGrpSpPr>
          <p:grpSpPr>
            <a:xfrm>
              <a:off x="6509331" y="4965699"/>
              <a:ext cx="156067" cy="234000"/>
              <a:chOff x="6509331" y="4965699"/>
              <a:chExt cx="156067" cy="234000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A5269D0D-2507-2E00-7DDD-03EA02C73E62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12551" y="4965699"/>
                <a:ext cx="0" cy="23400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A919DBE-DA6D-455C-7CF0-44D8A52795E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09331" y="5194782"/>
                <a:ext cx="156067" cy="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C3D869C-88E8-1406-D474-9D800D8C4F32}"/>
                </a:ext>
              </a:extLst>
            </p:cNvPr>
            <p:cNvSpPr txBox="1"/>
            <p:nvPr/>
          </p:nvSpPr>
          <p:spPr>
            <a:xfrm>
              <a:off x="6509331" y="4980210"/>
              <a:ext cx="139973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kern="1200" dirty="0">
                  <a:solidFill>
                    <a:srgbClr val="0098C7"/>
                  </a:solidFill>
                  <a:latin typeface="Metropolis" pitchFamily="2" charset="77"/>
                  <a:ea typeface="+mn-ea"/>
                </a:rPr>
                <a:t>IP Storage (NFS)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98C7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5CF18AE-7A47-A5B3-58DD-F5358603C833}"/>
                </a:ext>
              </a:extLst>
            </p:cNvPr>
            <p:cNvGrpSpPr/>
            <p:nvPr/>
          </p:nvGrpSpPr>
          <p:grpSpPr>
            <a:xfrm>
              <a:off x="7748422" y="4965700"/>
              <a:ext cx="157512" cy="234000"/>
              <a:chOff x="6504711" y="4943591"/>
              <a:chExt cx="157512" cy="234000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4EB7AD0-FEB5-3512-53F7-FD8A6E9FFBA6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04711" y="5172673"/>
                <a:ext cx="156067" cy="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10DE447-7B78-185D-8819-6E9A790815D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662223" y="4943591"/>
                <a:ext cx="0" cy="23400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5B49DFB-CC4D-7C33-9D5E-0CC816488E75}"/>
              </a:ext>
            </a:extLst>
          </p:cNvPr>
          <p:cNvGrpSpPr/>
          <p:nvPr/>
        </p:nvGrpSpPr>
        <p:grpSpPr>
          <a:xfrm>
            <a:off x="5664671" y="2940745"/>
            <a:ext cx="244561" cy="206128"/>
            <a:chOff x="9321542" y="1289797"/>
            <a:chExt cx="348692" cy="350167"/>
          </a:xfrm>
        </p:grpSpPr>
        <p:sp>
          <p:nvSpPr>
            <p:cNvPr id="43" name="Google Shape;2074;p72">
              <a:extLst>
                <a:ext uri="{FF2B5EF4-FFF2-40B4-BE49-F238E27FC236}">
                  <a16:creationId xmlns:a16="http://schemas.microsoft.com/office/drawing/2014/main" id="{41A3B539-C1DD-5147-FB1D-B5F353FDE16F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" name="Google Shape;2075;p72">
              <a:extLst>
                <a:ext uri="{FF2B5EF4-FFF2-40B4-BE49-F238E27FC236}">
                  <a16:creationId xmlns:a16="http://schemas.microsoft.com/office/drawing/2014/main" id="{E8D83F77-5E1B-4CAA-2BA5-A681748ACAEE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5" name="Google Shape;2076;p72">
              <a:extLst>
                <a:ext uri="{FF2B5EF4-FFF2-40B4-BE49-F238E27FC236}">
                  <a16:creationId xmlns:a16="http://schemas.microsoft.com/office/drawing/2014/main" id="{2436D243-73E8-CB2C-FEBC-342763E3E41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6" name="Google Shape;2077;p72">
              <a:extLst>
                <a:ext uri="{FF2B5EF4-FFF2-40B4-BE49-F238E27FC236}">
                  <a16:creationId xmlns:a16="http://schemas.microsoft.com/office/drawing/2014/main" id="{D89322C1-6335-0A28-EC54-DBD1E524F815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7" name="Google Shape;2078;p72">
              <a:extLst>
                <a:ext uri="{FF2B5EF4-FFF2-40B4-BE49-F238E27FC236}">
                  <a16:creationId xmlns:a16="http://schemas.microsoft.com/office/drawing/2014/main" id="{D1F82A57-C528-8933-6A25-5DC6E2654AE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pic>
        <p:nvPicPr>
          <p:cNvPr id="48" name="Graphic 47">
            <a:extLst>
              <a:ext uri="{FF2B5EF4-FFF2-40B4-BE49-F238E27FC236}">
                <a16:creationId xmlns:a16="http://schemas.microsoft.com/office/drawing/2014/main" id="{5DB222E8-3FF1-D0E1-F23D-E00343017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5737" y="3543620"/>
            <a:ext cx="641218" cy="175233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3E4872E6-CF42-A97C-1D97-D77CDA46F075}"/>
              </a:ext>
            </a:extLst>
          </p:cNvPr>
          <p:cNvSpPr/>
          <p:nvPr/>
        </p:nvSpPr>
        <p:spPr>
          <a:xfrm>
            <a:off x="5400792" y="3496019"/>
            <a:ext cx="1399732" cy="709270"/>
          </a:xfrm>
          <a:prstGeom prst="rect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72AEB737-2DCD-10CA-1D8B-FB5DBFC7B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267" y="3543620"/>
            <a:ext cx="641218" cy="175233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337B4C32-8311-F28C-2CDF-E75737453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5737" y="3762463"/>
            <a:ext cx="641218" cy="175233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80E42753-C645-E719-BDD4-E4B7E8F56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267" y="3762463"/>
            <a:ext cx="641218" cy="175233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3940AC56-2EFA-AACC-D054-8A2F258BC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5737" y="3981306"/>
            <a:ext cx="641218" cy="175233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E9F6DBF0-A7F9-5CEC-3874-621039B25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267" y="3981306"/>
            <a:ext cx="641218" cy="175233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F34C2D3-914B-AA5C-2326-18E8BF1DB571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5786952" y="3146873"/>
            <a:ext cx="0" cy="353566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6E595D5-C419-0DCB-8D71-55F2879BCEE7}"/>
              </a:ext>
            </a:extLst>
          </p:cNvPr>
          <p:cNvGrpSpPr/>
          <p:nvPr/>
        </p:nvGrpSpPr>
        <p:grpSpPr>
          <a:xfrm>
            <a:off x="6312302" y="2931570"/>
            <a:ext cx="244561" cy="206128"/>
            <a:chOff x="9321542" y="1289797"/>
            <a:chExt cx="348692" cy="350167"/>
          </a:xfrm>
        </p:grpSpPr>
        <p:sp>
          <p:nvSpPr>
            <p:cNvPr id="57" name="Google Shape;2074;p72">
              <a:extLst>
                <a:ext uri="{FF2B5EF4-FFF2-40B4-BE49-F238E27FC236}">
                  <a16:creationId xmlns:a16="http://schemas.microsoft.com/office/drawing/2014/main" id="{8E861B75-9F85-85D4-B6E8-3A49AEDCF096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" name="Google Shape;2075;p72">
              <a:extLst>
                <a:ext uri="{FF2B5EF4-FFF2-40B4-BE49-F238E27FC236}">
                  <a16:creationId xmlns:a16="http://schemas.microsoft.com/office/drawing/2014/main" id="{2EDA6F21-7542-5599-D628-00D3141C8786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59" name="Google Shape;2076;p72">
              <a:extLst>
                <a:ext uri="{FF2B5EF4-FFF2-40B4-BE49-F238E27FC236}">
                  <a16:creationId xmlns:a16="http://schemas.microsoft.com/office/drawing/2014/main" id="{852DFB85-369C-2C4D-721A-305D2602062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60" name="Google Shape;2077;p72">
              <a:extLst>
                <a:ext uri="{FF2B5EF4-FFF2-40B4-BE49-F238E27FC236}">
                  <a16:creationId xmlns:a16="http://schemas.microsoft.com/office/drawing/2014/main" id="{BF22F395-C9E8-F673-2429-E1936F85062F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61" name="Google Shape;2078;p72">
              <a:extLst>
                <a:ext uri="{FF2B5EF4-FFF2-40B4-BE49-F238E27FC236}">
                  <a16:creationId xmlns:a16="http://schemas.microsoft.com/office/drawing/2014/main" id="{2569261F-715B-63C9-8933-935D438DDB6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6C5C731-1770-EEB7-F514-95AD5EC22A65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6434583" y="3137698"/>
            <a:ext cx="0" cy="353566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1E3C2FE-F432-BC87-FACB-336EB4D1B547}"/>
              </a:ext>
            </a:extLst>
          </p:cNvPr>
          <p:cNvGrpSpPr/>
          <p:nvPr/>
        </p:nvGrpSpPr>
        <p:grpSpPr>
          <a:xfrm>
            <a:off x="5664671" y="4446042"/>
            <a:ext cx="244561" cy="206128"/>
            <a:chOff x="9321542" y="1289797"/>
            <a:chExt cx="348692" cy="350167"/>
          </a:xfrm>
        </p:grpSpPr>
        <p:sp>
          <p:nvSpPr>
            <p:cNvPr id="64" name="Google Shape;2074;p72">
              <a:extLst>
                <a:ext uri="{FF2B5EF4-FFF2-40B4-BE49-F238E27FC236}">
                  <a16:creationId xmlns:a16="http://schemas.microsoft.com/office/drawing/2014/main" id="{37B720E9-2E10-18FF-62E5-755EE250D9C5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" name="Google Shape;2075;p72">
              <a:extLst>
                <a:ext uri="{FF2B5EF4-FFF2-40B4-BE49-F238E27FC236}">
                  <a16:creationId xmlns:a16="http://schemas.microsoft.com/office/drawing/2014/main" id="{4B3C31F2-0168-6DD1-085D-D87122FF6C64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66" name="Google Shape;2076;p72">
              <a:extLst>
                <a:ext uri="{FF2B5EF4-FFF2-40B4-BE49-F238E27FC236}">
                  <a16:creationId xmlns:a16="http://schemas.microsoft.com/office/drawing/2014/main" id="{C4E38DB4-360A-D937-9D2D-E24B4AEC79C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67" name="Google Shape;2077;p72">
              <a:extLst>
                <a:ext uri="{FF2B5EF4-FFF2-40B4-BE49-F238E27FC236}">
                  <a16:creationId xmlns:a16="http://schemas.microsoft.com/office/drawing/2014/main" id="{CE9D56BB-F28E-FEE0-9F5D-0387437B379D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68" name="Google Shape;2078;p72">
              <a:extLst>
                <a:ext uri="{FF2B5EF4-FFF2-40B4-BE49-F238E27FC236}">
                  <a16:creationId xmlns:a16="http://schemas.microsoft.com/office/drawing/2014/main" id="{D80983C2-D7AA-A23F-6FCA-3410E61CE56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D53247D-D79E-2458-5849-823509511DB2}"/>
              </a:ext>
            </a:extLst>
          </p:cNvPr>
          <p:cNvGrpSpPr/>
          <p:nvPr/>
        </p:nvGrpSpPr>
        <p:grpSpPr>
          <a:xfrm>
            <a:off x="6312302" y="4436867"/>
            <a:ext cx="244561" cy="206128"/>
            <a:chOff x="9321542" y="1289797"/>
            <a:chExt cx="348692" cy="350167"/>
          </a:xfrm>
        </p:grpSpPr>
        <p:sp>
          <p:nvSpPr>
            <p:cNvPr id="70" name="Google Shape;2074;p72">
              <a:extLst>
                <a:ext uri="{FF2B5EF4-FFF2-40B4-BE49-F238E27FC236}">
                  <a16:creationId xmlns:a16="http://schemas.microsoft.com/office/drawing/2014/main" id="{6F5A465D-91F8-B42A-A288-F8349C0529AB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" name="Google Shape;2075;p72">
              <a:extLst>
                <a:ext uri="{FF2B5EF4-FFF2-40B4-BE49-F238E27FC236}">
                  <a16:creationId xmlns:a16="http://schemas.microsoft.com/office/drawing/2014/main" id="{E4DDC2E6-57EF-5042-60FB-F15DFE65BA55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72" name="Google Shape;2076;p72">
              <a:extLst>
                <a:ext uri="{FF2B5EF4-FFF2-40B4-BE49-F238E27FC236}">
                  <a16:creationId xmlns:a16="http://schemas.microsoft.com/office/drawing/2014/main" id="{60744BEC-3257-4F15-EB4F-8B1AF5A939C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73" name="Google Shape;2077;p72">
              <a:extLst>
                <a:ext uri="{FF2B5EF4-FFF2-40B4-BE49-F238E27FC236}">
                  <a16:creationId xmlns:a16="http://schemas.microsoft.com/office/drawing/2014/main" id="{339B9863-76C5-AFF3-795C-EF0153B11AC5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74" name="Google Shape;2078;p72">
              <a:extLst>
                <a:ext uri="{FF2B5EF4-FFF2-40B4-BE49-F238E27FC236}">
                  <a16:creationId xmlns:a16="http://schemas.microsoft.com/office/drawing/2014/main" id="{154D44B0-1F26-8737-ED84-2E1AE079D44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94BA237-0D18-D24C-1099-72015C3CD413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5786952" y="4652170"/>
            <a:ext cx="334315" cy="145281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84624E1-E025-6466-4B95-BC9AB758B99F}"/>
              </a:ext>
            </a:extLst>
          </p:cNvPr>
          <p:cNvCxnSpPr>
            <a:cxnSpLocks/>
            <a:stCxn id="70" idx="2"/>
          </p:cNvCxnSpPr>
          <p:nvPr/>
        </p:nvCxnSpPr>
        <p:spPr>
          <a:xfrm flipH="1">
            <a:off x="6121267" y="4642995"/>
            <a:ext cx="313316" cy="154456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sp>
        <p:nvSpPr>
          <p:cNvPr id="77" name="Google Shape;1343;p4">
            <a:extLst>
              <a:ext uri="{FF2B5EF4-FFF2-40B4-BE49-F238E27FC236}">
                <a16:creationId xmlns:a16="http://schemas.microsoft.com/office/drawing/2014/main" id="{BC42EE95-358A-551E-348B-26DE79F398E5}"/>
              </a:ext>
            </a:extLst>
          </p:cNvPr>
          <p:cNvSpPr/>
          <p:nvPr/>
        </p:nvSpPr>
        <p:spPr>
          <a:xfrm>
            <a:off x="5070500" y="2239862"/>
            <a:ext cx="2047824" cy="3195428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Availability Zone 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343;p4">
            <a:extLst>
              <a:ext uri="{FF2B5EF4-FFF2-40B4-BE49-F238E27FC236}">
                <a16:creationId xmlns:a16="http://schemas.microsoft.com/office/drawing/2014/main" id="{37413A1F-0FB8-8FA4-0293-9B4745E9C3B1}"/>
              </a:ext>
            </a:extLst>
          </p:cNvPr>
          <p:cNvSpPr/>
          <p:nvPr/>
        </p:nvSpPr>
        <p:spPr>
          <a:xfrm>
            <a:off x="4899374" y="1876010"/>
            <a:ext cx="2359134" cy="3631745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Workload Domain</a:t>
            </a:r>
            <a:endParaRPr kumimoji="0" lang="en-US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814CBC0-20C1-180D-26CA-D9BBF5505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506" y="4708000"/>
            <a:ext cx="519032" cy="51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2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65EF23-113C-89A2-9FAC-893A1C4D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Fibre</a:t>
            </a:r>
            <a:r>
              <a:rPr lang="en-US" dirty="0"/>
              <a:t> Channel Storage Model v1.0</a:t>
            </a:r>
          </a:p>
        </p:txBody>
      </p:sp>
      <p:sp>
        <p:nvSpPr>
          <p:cNvPr id="6" name="Google Shape;1342;p4">
            <a:extLst>
              <a:ext uri="{FF2B5EF4-FFF2-40B4-BE49-F238E27FC236}">
                <a16:creationId xmlns:a16="http://schemas.microsoft.com/office/drawing/2014/main" id="{D21677E1-6B1F-79BF-C6DE-673D205B7921}"/>
              </a:ext>
            </a:extLst>
          </p:cNvPr>
          <p:cNvSpPr/>
          <p:nvPr/>
        </p:nvSpPr>
        <p:spPr>
          <a:xfrm>
            <a:off x="4948669" y="1696890"/>
            <a:ext cx="2608546" cy="4125890"/>
          </a:xfrm>
          <a:prstGeom prst="rect">
            <a:avLst/>
          </a:prstGeom>
          <a:solidFill>
            <a:sysClr val="window" lastClr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VCF Instance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7" name="Google Shape;1344;p4">
            <a:extLst>
              <a:ext uri="{FF2B5EF4-FFF2-40B4-BE49-F238E27FC236}">
                <a16:creationId xmlns:a16="http://schemas.microsoft.com/office/drawing/2014/main" id="{E58257C5-BF5C-B1DA-3278-9F1337A4793F}"/>
              </a:ext>
            </a:extLst>
          </p:cNvPr>
          <p:cNvSpPr/>
          <p:nvPr/>
        </p:nvSpPr>
        <p:spPr>
          <a:xfrm>
            <a:off x="5346288" y="2818141"/>
            <a:ext cx="1842085" cy="2704550"/>
          </a:xfrm>
          <a:prstGeom prst="rect">
            <a:avLst/>
          </a:prstGeom>
          <a:solidFill>
            <a:sysClr val="window" lastClr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Rack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221E20"/>
              </a:solidFill>
              <a:effectLst/>
              <a:uLnTx/>
              <a:uFillTx/>
              <a:latin typeface="Metropolis" pitchFamily="2" charset="77"/>
              <a:cs typeface="Arial"/>
              <a:sym typeface="Arial"/>
            </a:endParaRPr>
          </a:p>
        </p:txBody>
      </p:sp>
      <p:sp>
        <p:nvSpPr>
          <p:cNvPr id="8" name="Google Shape;1347;p4">
            <a:extLst>
              <a:ext uri="{FF2B5EF4-FFF2-40B4-BE49-F238E27FC236}">
                <a16:creationId xmlns:a16="http://schemas.microsoft.com/office/drawing/2014/main" id="{C6396C98-53BE-9F61-7CDA-5B179C9F93D8}"/>
              </a:ext>
            </a:extLst>
          </p:cNvPr>
          <p:cNvSpPr/>
          <p:nvPr/>
        </p:nvSpPr>
        <p:spPr>
          <a:xfrm>
            <a:off x="5468689" y="3589505"/>
            <a:ext cx="1612346" cy="1818129"/>
          </a:xfrm>
          <a:prstGeom prst="rect">
            <a:avLst/>
          </a:prstGeom>
          <a:noFill/>
          <a:ln w="12700" cap="flat" cmpd="sng">
            <a:solidFill>
              <a:srgbClr val="0098C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98C7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E0F427F-BD98-07CA-DFF2-6F4C2F2FFE10}"/>
              </a:ext>
            </a:extLst>
          </p:cNvPr>
          <p:cNvGrpSpPr/>
          <p:nvPr/>
        </p:nvGrpSpPr>
        <p:grpSpPr>
          <a:xfrm>
            <a:off x="5573677" y="4437413"/>
            <a:ext cx="1399733" cy="234001"/>
            <a:chOff x="6509331" y="4965699"/>
            <a:chExt cx="1399733" cy="23400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6A2CA8E-3BC6-0081-936E-C2564527456D}"/>
                </a:ext>
              </a:extLst>
            </p:cNvPr>
            <p:cNvGrpSpPr/>
            <p:nvPr/>
          </p:nvGrpSpPr>
          <p:grpSpPr>
            <a:xfrm>
              <a:off x="6509331" y="4965699"/>
              <a:ext cx="156067" cy="234000"/>
              <a:chOff x="6509331" y="4965699"/>
              <a:chExt cx="156067" cy="234000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A7744B6-6E52-EF65-9FC0-A37FABDEACB1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12551" y="4965699"/>
                <a:ext cx="0" cy="23400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60D7A5D-D077-3E11-AB70-8926716354F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09331" y="5194782"/>
                <a:ext cx="156067" cy="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948EC2-4FDB-DECE-698A-02377C1EA89C}"/>
                </a:ext>
              </a:extLst>
            </p:cNvPr>
            <p:cNvSpPr txBox="1"/>
            <p:nvPr/>
          </p:nvSpPr>
          <p:spPr>
            <a:xfrm>
              <a:off x="6509331" y="4970050"/>
              <a:ext cx="139973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kern="1200" dirty="0" err="1">
                  <a:solidFill>
                    <a:srgbClr val="0098C7"/>
                  </a:solidFill>
                  <a:latin typeface="Metropolis" pitchFamily="2" charset="77"/>
                  <a:ea typeface="+mn-ea"/>
                </a:rPr>
                <a:t>Fibre</a:t>
              </a:r>
              <a:r>
                <a:rPr lang="en-US" sz="900" kern="1200" dirty="0">
                  <a:solidFill>
                    <a:srgbClr val="0098C7"/>
                  </a:solidFill>
                  <a:latin typeface="Metropolis" pitchFamily="2" charset="77"/>
                  <a:ea typeface="+mn-ea"/>
                </a:rPr>
                <a:t> Channel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98C7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F2C8BA-5D6B-42F6-0B4C-5CA32D9E8F0B}"/>
                </a:ext>
              </a:extLst>
            </p:cNvPr>
            <p:cNvGrpSpPr/>
            <p:nvPr/>
          </p:nvGrpSpPr>
          <p:grpSpPr>
            <a:xfrm>
              <a:off x="7748422" y="4965700"/>
              <a:ext cx="157512" cy="234000"/>
              <a:chOff x="6504711" y="4943591"/>
              <a:chExt cx="157512" cy="23400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0701E7E-6906-17A1-C159-7BE01EE5A89C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04711" y="5172673"/>
                <a:ext cx="156067" cy="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50A77B0-C920-FBF7-9B99-68612BFD0BB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662223" y="4943591"/>
                <a:ext cx="0" cy="23400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ACC1D2-29BA-FD97-2B2F-AC615BCDB12A}"/>
              </a:ext>
            </a:extLst>
          </p:cNvPr>
          <p:cNvGrpSpPr/>
          <p:nvPr/>
        </p:nvGrpSpPr>
        <p:grpSpPr>
          <a:xfrm>
            <a:off x="5837556" y="3142625"/>
            <a:ext cx="244561" cy="206128"/>
            <a:chOff x="9321542" y="1289797"/>
            <a:chExt cx="348692" cy="350167"/>
          </a:xfrm>
        </p:grpSpPr>
        <p:sp>
          <p:nvSpPr>
            <p:cNvPr id="18" name="Google Shape;2074;p72">
              <a:extLst>
                <a:ext uri="{FF2B5EF4-FFF2-40B4-BE49-F238E27FC236}">
                  <a16:creationId xmlns:a16="http://schemas.microsoft.com/office/drawing/2014/main" id="{BF453EB9-96F9-D869-57D6-AFEAB4A3E86F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" name="Google Shape;2075;p72">
              <a:extLst>
                <a:ext uri="{FF2B5EF4-FFF2-40B4-BE49-F238E27FC236}">
                  <a16:creationId xmlns:a16="http://schemas.microsoft.com/office/drawing/2014/main" id="{D91611DD-10D3-F330-3C7B-691F94EA271E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20" name="Google Shape;2076;p72">
              <a:extLst>
                <a:ext uri="{FF2B5EF4-FFF2-40B4-BE49-F238E27FC236}">
                  <a16:creationId xmlns:a16="http://schemas.microsoft.com/office/drawing/2014/main" id="{E084F260-6E6C-C1DD-A5E7-09F71F458F8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21" name="Google Shape;2077;p72">
              <a:extLst>
                <a:ext uri="{FF2B5EF4-FFF2-40B4-BE49-F238E27FC236}">
                  <a16:creationId xmlns:a16="http://schemas.microsoft.com/office/drawing/2014/main" id="{5BC7BE02-299B-3906-5B18-DBB5391C9BB8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22" name="Google Shape;2078;p72">
              <a:extLst>
                <a:ext uri="{FF2B5EF4-FFF2-40B4-BE49-F238E27FC236}">
                  <a16:creationId xmlns:a16="http://schemas.microsoft.com/office/drawing/2014/main" id="{131AF27F-B97C-F82A-CEE3-103611874A9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5A798BCD-C1F6-900B-D144-ECA7CE994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8622" y="3745500"/>
            <a:ext cx="641218" cy="17523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147DBFB-A5B2-A5B9-B70D-56AE40D5CF9C}"/>
              </a:ext>
            </a:extLst>
          </p:cNvPr>
          <p:cNvSpPr/>
          <p:nvPr/>
        </p:nvSpPr>
        <p:spPr>
          <a:xfrm>
            <a:off x="5573677" y="3697899"/>
            <a:ext cx="1399732" cy="709270"/>
          </a:xfrm>
          <a:prstGeom prst="rect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13ACE3FC-2D99-F2CE-897D-9094DF418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152" y="3745500"/>
            <a:ext cx="641218" cy="175233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72C938C-4CA4-78F9-F4C2-0FEDBFA0C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8622" y="3964343"/>
            <a:ext cx="641218" cy="175233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53E21AA3-47CE-6C3D-5378-287C9B40A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152" y="3964343"/>
            <a:ext cx="641218" cy="175233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541285AD-CE68-B0AD-CBA8-FBF16A068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8622" y="4183186"/>
            <a:ext cx="641218" cy="17523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E9ED8345-65A4-075A-95D9-F7B2420CB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152" y="4183186"/>
            <a:ext cx="641218" cy="175233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65CD04C-C624-B957-D14F-CDB31CFAC31E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959837" y="3348753"/>
            <a:ext cx="0" cy="353566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5949F5B-3ECC-226D-F790-2C6490D10E26}"/>
              </a:ext>
            </a:extLst>
          </p:cNvPr>
          <p:cNvGrpSpPr/>
          <p:nvPr/>
        </p:nvGrpSpPr>
        <p:grpSpPr>
          <a:xfrm>
            <a:off x="6485187" y="3133450"/>
            <a:ext cx="244561" cy="206128"/>
            <a:chOff x="9321542" y="1289797"/>
            <a:chExt cx="348692" cy="350167"/>
          </a:xfrm>
        </p:grpSpPr>
        <p:sp>
          <p:nvSpPr>
            <p:cNvPr id="32" name="Google Shape;2074;p72">
              <a:extLst>
                <a:ext uri="{FF2B5EF4-FFF2-40B4-BE49-F238E27FC236}">
                  <a16:creationId xmlns:a16="http://schemas.microsoft.com/office/drawing/2014/main" id="{61025F44-1494-9657-A219-F9FE1A766E3D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" name="Google Shape;2075;p72">
              <a:extLst>
                <a:ext uri="{FF2B5EF4-FFF2-40B4-BE49-F238E27FC236}">
                  <a16:creationId xmlns:a16="http://schemas.microsoft.com/office/drawing/2014/main" id="{890097EF-DD3C-78F8-A41B-CC8D810E1CF1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34" name="Google Shape;2076;p72">
              <a:extLst>
                <a:ext uri="{FF2B5EF4-FFF2-40B4-BE49-F238E27FC236}">
                  <a16:creationId xmlns:a16="http://schemas.microsoft.com/office/drawing/2014/main" id="{00AD9B1B-93B3-A531-846B-B26DF7DCA08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35" name="Google Shape;2077;p72">
              <a:extLst>
                <a:ext uri="{FF2B5EF4-FFF2-40B4-BE49-F238E27FC236}">
                  <a16:creationId xmlns:a16="http://schemas.microsoft.com/office/drawing/2014/main" id="{B5C75822-3C35-4084-702F-A911284EED59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36" name="Google Shape;2078;p72">
              <a:extLst>
                <a:ext uri="{FF2B5EF4-FFF2-40B4-BE49-F238E27FC236}">
                  <a16:creationId xmlns:a16="http://schemas.microsoft.com/office/drawing/2014/main" id="{A6504331-9524-D999-9674-E1B79999A84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18F5989-BFE6-6149-8434-A46967A5BBD3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6607468" y="3339578"/>
            <a:ext cx="0" cy="353566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CEF1B62-9F16-2F0A-EA89-430BF5A23F63}"/>
              </a:ext>
            </a:extLst>
          </p:cNvPr>
          <p:cNvGrpSpPr/>
          <p:nvPr/>
        </p:nvGrpSpPr>
        <p:grpSpPr>
          <a:xfrm>
            <a:off x="5837556" y="4647922"/>
            <a:ext cx="244561" cy="206128"/>
            <a:chOff x="9321542" y="1289797"/>
            <a:chExt cx="348692" cy="350167"/>
          </a:xfrm>
        </p:grpSpPr>
        <p:sp>
          <p:nvSpPr>
            <p:cNvPr id="39" name="Google Shape;2074;p72">
              <a:extLst>
                <a:ext uri="{FF2B5EF4-FFF2-40B4-BE49-F238E27FC236}">
                  <a16:creationId xmlns:a16="http://schemas.microsoft.com/office/drawing/2014/main" id="{799D790C-5B72-D206-2D44-1DAEF3D496F5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" name="Google Shape;2075;p72">
              <a:extLst>
                <a:ext uri="{FF2B5EF4-FFF2-40B4-BE49-F238E27FC236}">
                  <a16:creationId xmlns:a16="http://schemas.microsoft.com/office/drawing/2014/main" id="{C3BF47D2-1717-95DC-E2FC-74703B4614EA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1" name="Google Shape;2076;p72">
              <a:extLst>
                <a:ext uri="{FF2B5EF4-FFF2-40B4-BE49-F238E27FC236}">
                  <a16:creationId xmlns:a16="http://schemas.microsoft.com/office/drawing/2014/main" id="{998BC4DE-4DF8-DBF7-B3AA-5A283D2C921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2" name="Google Shape;2077;p72">
              <a:extLst>
                <a:ext uri="{FF2B5EF4-FFF2-40B4-BE49-F238E27FC236}">
                  <a16:creationId xmlns:a16="http://schemas.microsoft.com/office/drawing/2014/main" id="{B184E1C8-EC13-CEFD-AA7A-BE14E118B55A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3" name="Google Shape;2078;p72">
              <a:extLst>
                <a:ext uri="{FF2B5EF4-FFF2-40B4-BE49-F238E27FC236}">
                  <a16:creationId xmlns:a16="http://schemas.microsoft.com/office/drawing/2014/main" id="{8E85C4B0-AC3E-C5ED-D27A-4EBB0010C7F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499A848-1BDD-3F4A-8526-B9F6A9726AF1}"/>
              </a:ext>
            </a:extLst>
          </p:cNvPr>
          <p:cNvGrpSpPr/>
          <p:nvPr/>
        </p:nvGrpSpPr>
        <p:grpSpPr>
          <a:xfrm>
            <a:off x="6485187" y="4638747"/>
            <a:ext cx="244561" cy="206128"/>
            <a:chOff x="9321542" y="1289797"/>
            <a:chExt cx="348692" cy="350167"/>
          </a:xfrm>
        </p:grpSpPr>
        <p:sp>
          <p:nvSpPr>
            <p:cNvPr id="45" name="Google Shape;2074;p72">
              <a:extLst>
                <a:ext uri="{FF2B5EF4-FFF2-40B4-BE49-F238E27FC236}">
                  <a16:creationId xmlns:a16="http://schemas.microsoft.com/office/drawing/2014/main" id="{4899202A-E87E-4421-5DE2-39B4A91588FF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" name="Google Shape;2075;p72">
              <a:extLst>
                <a:ext uri="{FF2B5EF4-FFF2-40B4-BE49-F238E27FC236}">
                  <a16:creationId xmlns:a16="http://schemas.microsoft.com/office/drawing/2014/main" id="{FE4D8FFA-FE59-58AC-8B68-BD42D7D03E7B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7" name="Google Shape;2076;p72">
              <a:extLst>
                <a:ext uri="{FF2B5EF4-FFF2-40B4-BE49-F238E27FC236}">
                  <a16:creationId xmlns:a16="http://schemas.microsoft.com/office/drawing/2014/main" id="{8A68D089-777E-1737-67B4-20277F2172E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8" name="Google Shape;2077;p72">
              <a:extLst>
                <a:ext uri="{FF2B5EF4-FFF2-40B4-BE49-F238E27FC236}">
                  <a16:creationId xmlns:a16="http://schemas.microsoft.com/office/drawing/2014/main" id="{062172D0-A4DD-9B5D-EC67-893258F1E3DF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9" name="Google Shape;2078;p72">
              <a:extLst>
                <a:ext uri="{FF2B5EF4-FFF2-40B4-BE49-F238E27FC236}">
                  <a16:creationId xmlns:a16="http://schemas.microsoft.com/office/drawing/2014/main" id="{C015A742-08E8-8F48-5DB7-2259AFC1CF0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B640333-AC60-7301-33B0-C78856BA3211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5959837" y="4854050"/>
            <a:ext cx="334315" cy="145281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EC7BE96-7B69-3781-D16F-3032862B5A7F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6294152" y="4844875"/>
            <a:ext cx="313316" cy="154456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sp>
        <p:nvSpPr>
          <p:cNvPr id="52" name="Google Shape;1343;p4">
            <a:extLst>
              <a:ext uri="{FF2B5EF4-FFF2-40B4-BE49-F238E27FC236}">
                <a16:creationId xmlns:a16="http://schemas.microsoft.com/office/drawing/2014/main" id="{B7F3BAE5-86E4-0507-CCB6-595597FFEC36}"/>
              </a:ext>
            </a:extLst>
          </p:cNvPr>
          <p:cNvSpPr/>
          <p:nvPr/>
        </p:nvSpPr>
        <p:spPr>
          <a:xfrm>
            <a:off x="5243385" y="2441742"/>
            <a:ext cx="2047824" cy="3195428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Availability Zone 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53" name="Google Shape;1343;p4">
            <a:extLst>
              <a:ext uri="{FF2B5EF4-FFF2-40B4-BE49-F238E27FC236}">
                <a16:creationId xmlns:a16="http://schemas.microsoft.com/office/drawing/2014/main" id="{200726B0-536E-9404-F94A-96220F9B4DDF}"/>
              </a:ext>
            </a:extLst>
          </p:cNvPr>
          <p:cNvSpPr/>
          <p:nvPr/>
        </p:nvSpPr>
        <p:spPr>
          <a:xfrm>
            <a:off x="5072259" y="2077890"/>
            <a:ext cx="2359134" cy="3631745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Workload Domain</a:t>
            </a:r>
            <a:endParaRPr kumimoji="0" lang="en-US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CA2014A-F202-388E-B7BB-527B02C1B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032" y="4921666"/>
            <a:ext cx="519032" cy="51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88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g35c6e7e29b5_0_0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4000">
                <a:solidFill>
                  <a:srgbClr val="005C8A"/>
                </a:solidFill>
              </a:rPr>
              <a:t>NSX Edge Cluster Models </a:t>
            </a:r>
            <a:endParaRPr/>
          </a:p>
        </p:txBody>
      </p:sp>
      <p:sp>
        <p:nvSpPr>
          <p:cNvPr id="2173" name="Google Shape;2173;g35c6e7e29b5_0_0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/>
              <a:t>Single Availability Zones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597F31A-A552-8F0B-2E84-F04F0E30E674}"/>
              </a:ext>
            </a:extLst>
          </p:cNvPr>
          <p:cNvSpPr/>
          <p:nvPr/>
        </p:nvSpPr>
        <p:spPr>
          <a:xfrm>
            <a:off x="8251445" y="702839"/>
            <a:ext cx="2147614" cy="5547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8" name="Google Shape;2178;g35c6e7e29b5_0_1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400" dirty="0"/>
              <a:t>Host Fault Tolerant NSX Edge Cluster v1.0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4E1B17-FA73-B0D0-ACA6-EA31675AB63B}"/>
              </a:ext>
            </a:extLst>
          </p:cNvPr>
          <p:cNvCxnSpPr>
            <a:cxnSpLocks/>
          </p:cNvCxnSpPr>
          <p:nvPr/>
        </p:nvCxnSpPr>
        <p:spPr>
          <a:xfrm>
            <a:off x="10056604" y="978518"/>
            <a:ext cx="0" cy="5123768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2227;g331808b2882_0_3053">
            <a:extLst>
              <a:ext uri="{FF2B5EF4-FFF2-40B4-BE49-F238E27FC236}">
                <a16:creationId xmlns:a16="http://schemas.microsoft.com/office/drawing/2014/main" id="{99561365-5313-F4B7-2848-F3399C91A203}"/>
              </a:ext>
            </a:extLst>
          </p:cNvPr>
          <p:cNvSpPr/>
          <p:nvPr/>
        </p:nvSpPr>
        <p:spPr>
          <a:xfrm rot="10800000" flipV="1">
            <a:off x="8392444" y="1054274"/>
            <a:ext cx="1574136" cy="492555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90343B-4790-3997-D19E-8F9979218691}"/>
              </a:ext>
            </a:extLst>
          </p:cNvPr>
          <p:cNvCxnSpPr>
            <a:cxnSpLocks/>
          </p:cNvCxnSpPr>
          <p:nvPr/>
        </p:nvCxnSpPr>
        <p:spPr>
          <a:xfrm flipH="1">
            <a:off x="8309320" y="969030"/>
            <a:ext cx="609" cy="5133256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3FD0757-F999-91B0-E093-FEE6FE333CC5}"/>
              </a:ext>
            </a:extLst>
          </p:cNvPr>
          <p:cNvSpPr/>
          <p:nvPr/>
        </p:nvSpPr>
        <p:spPr>
          <a:xfrm>
            <a:off x="8309321" y="793750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sp>
        <p:nvSpPr>
          <p:cNvPr id="6" name="Google Shape;2227;g331808b2882_0_3053">
            <a:extLst>
              <a:ext uri="{FF2B5EF4-FFF2-40B4-BE49-F238E27FC236}">
                <a16:creationId xmlns:a16="http://schemas.microsoft.com/office/drawing/2014/main" id="{F7DC00A5-EF84-B6E4-8BB7-CAFCDCBB344B}"/>
              </a:ext>
            </a:extLst>
          </p:cNvPr>
          <p:cNvSpPr/>
          <p:nvPr/>
        </p:nvSpPr>
        <p:spPr>
          <a:xfrm>
            <a:off x="8532733" y="1992380"/>
            <a:ext cx="1301129" cy="378796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2 vSphere Cluster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3E1144C-2C0F-9BA6-C95E-69E411A56361}"/>
              </a:ext>
            </a:extLst>
          </p:cNvPr>
          <p:cNvGrpSpPr/>
          <p:nvPr/>
        </p:nvGrpSpPr>
        <p:grpSpPr>
          <a:xfrm>
            <a:off x="8596544" y="1115888"/>
            <a:ext cx="1154136" cy="511554"/>
            <a:chOff x="10136865" y="1480917"/>
            <a:chExt cx="1154136" cy="5115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A312663-E164-4487-63E1-4A27BBA49655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AA128FC-B9B2-0555-C1BD-DF1CD0818DC3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CD03EBC-E600-5BFE-4FD2-F4E4EBBB09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B77CF0-50FF-2577-347A-48C4E820FE2A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1CD4368-9C4D-940D-3AAE-D972E8D90700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600658DC-8257-2BAE-76B0-3A209C92CA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4" name="Google Shape;2227;g331808b2882_0_3053">
            <a:extLst>
              <a:ext uri="{FF2B5EF4-FFF2-40B4-BE49-F238E27FC236}">
                <a16:creationId xmlns:a16="http://schemas.microsoft.com/office/drawing/2014/main" id="{54CFC0DC-6034-213A-8F77-55B6383490AF}"/>
              </a:ext>
            </a:extLst>
          </p:cNvPr>
          <p:cNvSpPr/>
          <p:nvPr/>
        </p:nvSpPr>
        <p:spPr>
          <a:xfrm rot="10800000" flipV="1">
            <a:off x="8815190" y="2122647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15" name="Google Shape;2232;g331808b2882_0_3053">
            <a:extLst>
              <a:ext uri="{FF2B5EF4-FFF2-40B4-BE49-F238E27FC236}">
                <a16:creationId xmlns:a16="http://schemas.microsoft.com/office/drawing/2014/main" id="{2A5F79D2-D3C5-BD83-29DF-502B6BDD78E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1335" y="2389641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EBF89C3-0B82-2331-03EF-473B4A2A9601}"/>
              </a:ext>
            </a:extLst>
          </p:cNvPr>
          <p:cNvGrpSpPr/>
          <p:nvPr/>
        </p:nvGrpSpPr>
        <p:grpSpPr>
          <a:xfrm>
            <a:off x="8984991" y="2234512"/>
            <a:ext cx="402444" cy="402444"/>
            <a:chOff x="8470120" y="4767469"/>
            <a:chExt cx="642856" cy="6428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76D387-84A5-C441-0197-FE96F100A69D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AC5D0ADD-230E-799F-63E7-B59DC2D28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2C52243-8A97-CAFF-9A5A-A4AA6BA8BFB8}"/>
              </a:ext>
            </a:extLst>
          </p:cNvPr>
          <p:cNvSpPr txBox="1"/>
          <p:nvPr/>
        </p:nvSpPr>
        <p:spPr>
          <a:xfrm>
            <a:off x="8953100" y="1591805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8F45B3BA-7E35-29BD-C79F-DF42F9C74936}"/>
              </a:ext>
            </a:extLst>
          </p:cNvPr>
          <p:cNvCxnSpPr>
            <a:cxnSpLocks/>
          </p:cNvCxnSpPr>
          <p:nvPr/>
        </p:nvCxnSpPr>
        <p:spPr>
          <a:xfrm rot="5400000">
            <a:off x="9010862" y="1856448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876F4E-141E-BA6E-1497-0B60BD629B29}"/>
              </a:ext>
            </a:extLst>
          </p:cNvPr>
          <p:cNvGrpSpPr/>
          <p:nvPr/>
        </p:nvGrpSpPr>
        <p:grpSpPr>
          <a:xfrm>
            <a:off x="8815190" y="4169858"/>
            <a:ext cx="756262" cy="699516"/>
            <a:chOff x="5259935" y="4427358"/>
            <a:chExt cx="756262" cy="699516"/>
          </a:xfrm>
        </p:grpSpPr>
        <p:sp>
          <p:nvSpPr>
            <p:cNvPr id="22" name="Google Shape;2227;g331808b2882_0_3053">
              <a:extLst>
                <a:ext uri="{FF2B5EF4-FFF2-40B4-BE49-F238E27FC236}">
                  <a16:creationId xmlns:a16="http://schemas.microsoft.com/office/drawing/2014/main" id="{3CB1D282-9608-B4E3-77AB-9712AD79C537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23" name="Google Shape;2232;g331808b2882_0_3053">
              <a:extLst>
                <a:ext uri="{FF2B5EF4-FFF2-40B4-BE49-F238E27FC236}">
                  <a16:creationId xmlns:a16="http://schemas.microsoft.com/office/drawing/2014/main" id="{DE0CE7EE-82B4-44F6-D813-34BDAB650AE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C1B38DF-2577-08F0-BB25-88330DB34A1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05601" y="1861317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2227;g331808b2882_0_3053">
            <a:extLst>
              <a:ext uri="{FF2B5EF4-FFF2-40B4-BE49-F238E27FC236}">
                <a16:creationId xmlns:a16="http://schemas.microsoft.com/office/drawing/2014/main" id="{EB499CD0-B8F1-2DFE-647C-7DD831CCBA5D}"/>
              </a:ext>
            </a:extLst>
          </p:cNvPr>
          <p:cNvSpPr/>
          <p:nvPr/>
        </p:nvSpPr>
        <p:spPr>
          <a:xfrm rot="10800000" flipV="1">
            <a:off x="8818093" y="3290611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26" name="Google Shape;2232;g331808b2882_0_3053">
            <a:extLst>
              <a:ext uri="{FF2B5EF4-FFF2-40B4-BE49-F238E27FC236}">
                <a16:creationId xmlns:a16="http://schemas.microsoft.com/office/drawing/2014/main" id="{56BF82C2-1F79-6FA2-AC12-C9197186B0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39358" y="3567511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94AC261F-0063-A221-E95D-7454DB36BDB6}"/>
              </a:ext>
            </a:extLst>
          </p:cNvPr>
          <p:cNvGrpSpPr/>
          <p:nvPr/>
        </p:nvGrpSpPr>
        <p:grpSpPr>
          <a:xfrm>
            <a:off x="8987894" y="3402476"/>
            <a:ext cx="402444" cy="402444"/>
            <a:chOff x="8470120" y="4767469"/>
            <a:chExt cx="642856" cy="64285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151D55F-001A-F203-7BDA-2133FA6390EE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9FDFEADB-DBF0-CA74-DF9C-921BA29AB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C70169FE-145C-9B5C-E103-17CDA3238D63}"/>
              </a:ext>
            </a:extLst>
          </p:cNvPr>
          <p:cNvCxnSpPr>
            <a:cxnSpLocks/>
          </p:cNvCxnSpPr>
          <p:nvPr/>
        </p:nvCxnSpPr>
        <p:spPr>
          <a:xfrm rot="5400000">
            <a:off x="8554252" y="2343024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5F1ED8AB-E711-D014-0162-1AB8F33A8B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015734" y="2346209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Google Shape;2227;g331808b2882_0_3053">
            <a:extLst>
              <a:ext uri="{FF2B5EF4-FFF2-40B4-BE49-F238E27FC236}">
                <a16:creationId xmlns:a16="http://schemas.microsoft.com/office/drawing/2014/main" id="{E52F8CE0-0ABF-A4D5-D320-08D15E2D59FA}"/>
              </a:ext>
            </a:extLst>
          </p:cNvPr>
          <p:cNvSpPr/>
          <p:nvPr/>
        </p:nvSpPr>
        <p:spPr>
          <a:xfrm rot="10800000" flipV="1">
            <a:off x="8622409" y="2056055"/>
            <a:ext cx="1119955" cy="2294108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B46400-D186-B8CC-1435-3A01339A9469}"/>
              </a:ext>
            </a:extLst>
          </p:cNvPr>
          <p:cNvSpPr/>
          <p:nvPr/>
        </p:nvSpPr>
        <p:spPr>
          <a:xfrm>
            <a:off x="9741601" y="3893678"/>
            <a:ext cx="538715" cy="45776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NSX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Edge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Cluster</a:t>
            </a:r>
            <a:endParaRPr lang="en-GB" sz="800" dirty="0">
              <a:solidFill>
                <a:srgbClr val="00B0F0"/>
              </a:solidFill>
              <a:latin typeface="Metropolis" pitchFamily="2" charset="77"/>
              <a:cs typeface="Arial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8987A59-5C42-15FE-3270-3FDEE27612AD}"/>
              </a:ext>
            </a:extLst>
          </p:cNvPr>
          <p:cNvCxnSpPr>
            <a:cxnSpLocks/>
          </p:cNvCxnSpPr>
          <p:nvPr/>
        </p:nvCxnSpPr>
        <p:spPr>
          <a:xfrm flipH="1" flipV="1">
            <a:off x="8309320" y="6092255"/>
            <a:ext cx="1747284" cy="1003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E35C105-D10A-D1BC-40C9-9784277A394A}"/>
              </a:ext>
            </a:extLst>
          </p:cNvPr>
          <p:cNvGrpSpPr/>
          <p:nvPr/>
        </p:nvGrpSpPr>
        <p:grpSpPr>
          <a:xfrm>
            <a:off x="8815190" y="4666474"/>
            <a:ext cx="756262" cy="699516"/>
            <a:chOff x="5259935" y="4427358"/>
            <a:chExt cx="756262" cy="699516"/>
          </a:xfrm>
        </p:grpSpPr>
        <p:sp>
          <p:nvSpPr>
            <p:cNvPr id="36" name="Google Shape;2227;g331808b2882_0_3053">
              <a:extLst>
                <a:ext uri="{FF2B5EF4-FFF2-40B4-BE49-F238E27FC236}">
                  <a16:creationId xmlns:a16="http://schemas.microsoft.com/office/drawing/2014/main" id="{61ED293F-F56C-7665-9342-BF2F2F13C5F4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37" name="Google Shape;2232;g331808b2882_0_3053">
              <a:extLst>
                <a:ext uri="{FF2B5EF4-FFF2-40B4-BE49-F238E27FC236}">
                  <a16:creationId xmlns:a16="http://schemas.microsoft.com/office/drawing/2014/main" id="{F0E207A3-E997-8084-0425-9F8E542EBBD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F439C119-60E8-5D32-4166-8C3BDC14FF19}"/>
              </a:ext>
            </a:extLst>
          </p:cNvPr>
          <p:cNvSpPr/>
          <p:nvPr/>
        </p:nvSpPr>
        <p:spPr>
          <a:xfrm>
            <a:off x="8187143" y="714414"/>
            <a:ext cx="2211916" cy="54650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Rectangle 2182">
            <a:extLst>
              <a:ext uri="{FF2B5EF4-FFF2-40B4-BE49-F238E27FC236}">
                <a16:creationId xmlns:a16="http://schemas.microsoft.com/office/drawing/2014/main" id="{0CC9ED99-9978-2211-CF9D-457920AF213D}"/>
              </a:ext>
            </a:extLst>
          </p:cNvPr>
          <p:cNvSpPr/>
          <p:nvPr/>
        </p:nvSpPr>
        <p:spPr>
          <a:xfrm>
            <a:off x="6447099" y="891251"/>
            <a:ext cx="3703898" cy="5741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4" name="Google Shape;2184;g35c6e7e29b5_0_2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sz="2000" dirty="0"/>
              <a:t>Rack Fault Tolerant Design Using Two or More Vertical Layer 2 vSphere Clusters in Separate Racks Model v1.0</a:t>
            </a:r>
            <a:endParaRPr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9F98CE-AF91-950C-6884-FCE83221C3EC}"/>
              </a:ext>
            </a:extLst>
          </p:cNvPr>
          <p:cNvCxnSpPr>
            <a:cxnSpLocks/>
          </p:cNvCxnSpPr>
          <p:nvPr/>
        </p:nvCxnSpPr>
        <p:spPr>
          <a:xfrm>
            <a:off x="8301209" y="1389549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2227;g331808b2882_0_3053">
            <a:extLst>
              <a:ext uri="{FF2B5EF4-FFF2-40B4-BE49-F238E27FC236}">
                <a16:creationId xmlns:a16="http://schemas.microsoft.com/office/drawing/2014/main" id="{B970410C-B6EF-AE9B-DCED-A2D7BBE93042}"/>
              </a:ext>
            </a:extLst>
          </p:cNvPr>
          <p:cNvSpPr/>
          <p:nvPr/>
        </p:nvSpPr>
        <p:spPr>
          <a:xfrm rot="10800000" flipV="1">
            <a:off x="6635362" y="1477856"/>
            <a:ext cx="1574136" cy="491730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14BC29-692E-2898-0723-21360EEC9487}"/>
              </a:ext>
            </a:extLst>
          </p:cNvPr>
          <p:cNvCxnSpPr>
            <a:cxnSpLocks/>
          </p:cNvCxnSpPr>
          <p:nvPr/>
        </p:nvCxnSpPr>
        <p:spPr>
          <a:xfrm>
            <a:off x="6552238" y="1384836"/>
            <a:ext cx="0" cy="5101554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E025C29-EF2B-8927-E790-0C2E000582B0}"/>
              </a:ext>
            </a:extLst>
          </p:cNvPr>
          <p:cNvSpPr/>
          <p:nvPr/>
        </p:nvSpPr>
        <p:spPr>
          <a:xfrm>
            <a:off x="6552239" y="1217332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sp>
        <p:nvSpPr>
          <p:cNvPr id="6" name="Google Shape;2227;g331808b2882_0_3053">
            <a:extLst>
              <a:ext uri="{FF2B5EF4-FFF2-40B4-BE49-F238E27FC236}">
                <a16:creationId xmlns:a16="http://schemas.microsoft.com/office/drawing/2014/main" id="{2F6C122D-7E72-EC4F-F69C-F6B0D84A91AA}"/>
              </a:ext>
            </a:extLst>
          </p:cNvPr>
          <p:cNvSpPr/>
          <p:nvPr/>
        </p:nvSpPr>
        <p:spPr>
          <a:xfrm>
            <a:off x="6775651" y="2415962"/>
            <a:ext cx="1301129" cy="37677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2 vSphere Cluster 01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C9E6BC6-B096-E4A7-76AC-B7A5AE4F0700}"/>
              </a:ext>
            </a:extLst>
          </p:cNvPr>
          <p:cNvGrpSpPr/>
          <p:nvPr/>
        </p:nvGrpSpPr>
        <p:grpSpPr>
          <a:xfrm>
            <a:off x="6839462" y="1539470"/>
            <a:ext cx="1154136" cy="511554"/>
            <a:chOff x="10136865" y="1480917"/>
            <a:chExt cx="1154136" cy="5115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19348AB-3EA4-7E27-8218-2E4016B842E5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95C3A67-7202-54C1-32FF-DE4F55E07EB4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EC74A20A-C375-F411-9492-224E680634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69FE74-56B2-709E-3FB8-55EC121A2726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3E8B7CE-412E-B092-08B0-2587200E9305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0F68A9A4-054C-F425-810E-93F9F3DA0A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4" name="Google Shape;2227;g331808b2882_0_3053">
            <a:extLst>
              <a:ext uri="{FF2B5EF4-FFF2-40B4-BE49-F238E27FC236}">
                <a16:creationId xmlns:a16="http://schemas.microsoft.com/office/drawing/2014/main" id="{54BA6BF3-23B5-4662-C88C-C2E256C382ED}"/>
              </a:ext>
            </a:extLst>
          </p:cNvPr>
          <p:cNvSpPr/>
          <p:nvPr/>
        </p:nvSpPr>
        <p:spPr>
          <a:xfrm rot="10800000" flipV="1">
            <a:off x="7058108" y="2546229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15" name="Google Shape;2232;g331808b2882_0_3053">
            <a:extLst>
              <a:ext uri="{FF2B5EF4-FFF2-40B4-BE49-F238E27FC236}">
                <a16:creationId xmlns:a16="http://schemas.microsoft.com/office/drawing/2014/main" id="{616E18D1-83DB-4B7C-30AF-AC12B55E198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94253" y="2813223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976DCEF-09BA-A860-67C8-2082AC545C75}"/>
              </a:ext>
            </a:extLst>
          </p:cNvPr>
          <p:cNvGrpSpPr/>
          <p:nvPr/>
        </p:nvGrpSpPr>
        <p:grpSpPr>
          <a:xfrm>
            <a:off x="7227909" y="2658094"/>
            <a:ext cx="402444" cy="402444"/>
            <a:chOff x="8470120" y="4767469"/>
            <a:chExt cx="642856" cy="6428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6188163-E2C8-696A-A485-EF37D6858136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49835431-4192-E048-DBB3-C6D9CC618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1384BFE-569F-A412-230E-A7E166645622}"/>
              </a:ext>
            </a:extLst>
          </p:cNvPr>
          <p:cNvSpPr txBox="1"/>
          <p:nvPr/>
        </p:nvSpPr>
        <p:spPr>
          <a:xfrm>
            <a:off x="7196018" y="2015387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625DB80B-AA50-CBFD-9915-E06827A2B2B9}"/>
              </a:ext>
            </a:extLst>
          </p:cNvPr>
          <p:cNvCxnSpPr>
            <a:cxnSpLocks/>
          </p:cNvCxnSpPr>
          <p:nvPr/>
        </p:nvCxnSpPr>
        <p:spPr>
          <a:xfrm rot="5400000">
            <a:off x="7253780" y="2280030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CB24C73-8353-3413-F8B3-15A30748BCBB}"/>
              </a:ext>
            </a:extLst>
          </p:cNvPr>
          <p:cNvGrpSpPr/>
          <p:nvPr/>
        </p:nvGrpSpPr>
        <p:grpSpPr>
          <a:xfrm>
            <a:off x="7058108" y="4593440"/>
            <a:ext cx="756262" cy="699516"/>
            <a:chOff x="5259935" y="4427358"/>
            <a:chExt cx="756262" cy="699516"/>
          </a:xfrm>
        </p:grpSpPr>
        <p:sp>
          <p:nvSpPr>
            <p:cNvPr id="22" name="Google Shape;2227;g331808b2882_0_3053">
              <a:extLst>
                <a:ext uri="{FF2B5EF4-FFF2-40B4-BE49-F238E27FC236}">
                  <a16:creationId xmlns:a16="http://schemas.microsoft.com/office/drawing/2014/main" id="{683C4341-2396-70B0-674C-81A8C6010208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23" name="Google Shape;2232;g331808b2882_0_3053">
              <a:extLst>
                <a:ext uri="{FF2B5EF4-FFF2-40B4-BE49-F238E27FC236}">
                  <a16:creationId xmlns:a16="http://schemas.microsoft.com/office/drawing/2014/main" id="{4A3D2292-112E-9FF7-AB11-94D48DC857F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44979E1D-2CC2-BD81-EF51-B6BAB055DF9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48519" y="2284899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2227;g331808b2882_0_3053">
            <a:extLst>
              <a:ext uri="{FF2B5EF4-FFF2-40B4-BE49-F238E27FC236}">
                <a16:creationId xmlns:a16="http://schemas.microsoft.com/office/drawing/2014/main" id="{7A41DFB1-FF68-81DC-AB3E-77236CE22E67}"/>
              </a:ext>
            </a:extLst>
          </p:cNvPr>
          <p:cNvSpPr/>
          <p:nvPr/>
        </p:nvSpPr>
        <p:spPr>
          <a:xfrm rot="10800000" flipV="1">
            <a:off x="7061011" y="3714193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26" name="Google Shape;2232;g331808b2882_0_3053">
            <a:extLst>
              <a:ext uri="{FF2B5EF4-FFF2-40B4-BE49-F238E27FC236}">
                <a16:creationId xmlns:a16="http://schemas.microsoft.com/office/drawing/2014/main" id="{A4D7CAFC-E685-FB06-395C-32CED9C75FE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82276" y="3991093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99676D71-0A61-7042-3DA3-D3E121E43C8D}"/>
              </a:ext>
            </a:extLst>
          </p:cNvPr>
          <p:cNvGrpSpPr/>
          <p:nvPr/>
        </p:nvGrpSpPr>
        <p:grpSpPr>
          <a:xfrm>
            <a:off x="7230812" y="3826058"/>
            <a:ext cx="402444" cy="402444"/>
            <a:chOff x="8470120" y="4767469"/>
            <a:chExt cx="642856" cy="64285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CA62F9-E757-4448-0B9F-368A4EECF921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FE49A7EB-CBF6-B4CF-F47E-DA302318A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564B4201-C58A-B68B-1B3D-7DFE9FFE7256}"/>
              </a:ext>
            </a:extLst>
          </p:cNvPr>
          <p:cNvCxnSpPr>
            <a:cxnSpLocks/>
          </p:cNvCxnSpPr>
          <p:nvPr/>
        </p:nvCxnSpPr>
        <p:spPr>
          <a:xfrm rot="5400000">
            <a:off x="6797170" y="2766606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171ED1D-F078-770C-D7F6-FD0F4BF98C37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58652" y="2769791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7B75A84-F0BF-8082-FC8E-15B55ADE6448}"/>
              </a:ext>
            </a:extLst>
          </p:cNvPr>
          <p:cNvGrpSpPr/>
          <p:nvPr/>
        </p:nvGrpSpPr>
        <p:grpSpPr>
          <a:xfrm>
            <a:off x="7058108" y="5090056"/>
            <a:ext cx="756262" cy="699516"/>
            <a:chOff x="5259935" y="4427358"/>
            <a:chExt cx="756262" cy="699516"/>
          </a:xfrm>
        </p:grpSpPr>
        <p:sp>
          <p:nvSpPr>
            <p:cNvPr id="33" name="Google Shape;2227;g331808b2882_0_3053">
              <a:extLst>
                <a:ext uri="{FF2B5EF4-FFF2-40B4-BE49-F238E27FC236}">
                  <a16:creationId xmlns:a16="http://schemas.microsoft.com/office/drawing/2014/main" id="{2F298176-69A4-15C3-594C-8C66393099DC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34" name="Google Shape;2232;g331808b2882_0_3053">
              <a:extLst>
                <a:ext uri="{FF2B5EF4-FFF2-40B4-BE49-F238E27FC236}">
                  <a16:creationId xmlns:a16="http://schemas.microsoft.com/office/drawing/2014/main" id="{F867A90E-C163-19D3-CF8D-248E31A1D62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BC58EC8-B98E-5AA8-DE75-43191B2EE384}"/>
              </a:ext>
            </a:extLst>
          </p:cNvPr>
          <p:cNvCxnSpPr>
            <a:cxnSpLocks/>
          </p:cNvCxnSpPr>
          <p:nvPr/>
        </p:nvCxnSpPr>
        <p:spPr>
          <a:xfrm>
            <a:off x="10052154" y="1393900"/>
            <a:ext cx="7736" cy="510912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2227;g331808b2882_0_3053">
            <a:extLst>
              <a:ext uri="{FF2B5EF4-FFF2-40B4-BE49-F238E27FC236}">
                <a16:creationId xmlns:a16="http://schemas.microsoft.com/office/drawing/2014/main" id="{B03AA94C-9915-A46E-CFF4-C73929376F46}"/>
              </a:ext>
            </a:extLst>
          </p:cNvPr>
          <p:cNvSpPr/>
          <p:nvPr/>
        </p:nvSpPr>
        <p:spPr>
          <a:xfrm rot="10800000" flipV="1">
            <a:off x="8395731" y="1477493"/>
            <a:ext cx="1574136" cy="4917307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2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D4F7FE-8667-6D6A-E287-E35E6F78F1EF}"/>
              </a:ext>
            </a:extLst>
          </p:cNvPr>
          <p:cNvSpPr/>
          <p:nvPr/>
        </p:nvSpPr>
        <p:spPr>
          <a:xfrm>
            <a:off x="8301171" y="1216970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sp>
        <p:nvSpPr>
          <p:cNvPr id="38" name="Google Shape;2227;g331808b2882_0_3053">
            <a:extLst>
              <a:ext uri="{FF2B5EF4-FFF2-40B4-BE49-F238E27FC236}">
                <a16:creationId xmlns:a16="http://schemas.microsoft.com/office/drawing/2014/main" id="{D414A11F-8097-F30B-1A5A-CA5E48EC2EF9}"/>
              </a:ext>
            </a:extLst>
          </p:cNvPr>
          <p:cNvSpPr/>
          <p:nvPr/>
        </p:nvSpPr>
        <p:spPr>
          <a:xfrm>
            <a:off x="8536020" y="2415600"/>
            <a:ext cx="1301129" cy="376808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2 vSphere Cluster 02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83A29EE-1D1B-A8DC-4833-0F37A06972DB}"/>
              </a:ext>
            </a:extLst>
          </p:cNvPr>
          <p:cNvGrpSpPr/>
          <p:nvPr/>
        </p:nvGrpSpPr>
        <p:grpSpPr>
          <a:xfrm>
            <a:off x="8599831" y="1539108"/>
            <a:ext cx="1154136" cy="511554"/>
            <a:chOff x="10136865" y="1480917"/>
            <a:chExt cx="1154136" cy="51155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A656E2D-5228-3BAF-CF46-DC25D540C75F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061F646-04FC-6780-21F2-26737888A8A7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5" name="Graphic 44">
                <a:extLst>
                  <a:ext uri="{FF2B5EF4-FFF2-40B4-BE49-F238E27FC236}">
                    <a16:creationId xmlns:a16="http://schemas.microsoft.com/office/drawing/2014/main" id="{0E5676D7-0181-07DF-66D5-0B8C2DDC7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4E1665D-D28A-30C8-609A-E15B30348B6C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4D861B4-CC81-A556-63F2-0EEDF53703AD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44F63124-DC2C-08A1-5357-D57A663F06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46" name="Google Shape;2227;g331808b2882_0_3053">
            <a:extLst>
              <a:ext uri="{FF2B5EF4-FFF2-40B4-BE49-F238E27FC236}">
                <a16:creationId xmlns:a16="http://schemas.microsoft.com/office/drawing/2014/main" id="{EB517119-B0EF-6124-FD2E-5BB227C9AA23}"/>
              </a:ext>
            </a:extLst>
          </p:cNvPr>
          <p:cNvSpPr/>
          <p:nvPr/>
        </p:nvSpPr>
        <p:spPr>
          <a:xfrm rot="10800000" flipV="1">
            <a:off x="8818477" y="2545867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47" name="Google Shape;2232;g331808b2882_0_3053">
            <a:extLst>
              <a:ext uri="{FF2B5EF4-FFF2-40B4-BE49-F238E27FC236}">
                <a16:creationId xmlns:a16="http://schemas.microsoft.com/office/drawing/2014/main" id="{138EBDD5-6F88-C159-2F57-D217748DC52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4622" y="2812861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664A99A6-4CD7-D735-14F1-C7EE5A51C4E7}"/>
              </a:ext>
            </a:extLst>
          </p:cNvPr>
          <p:cNvGrpSpPr/>
          <p:nvPr/>
        </p:nvGrpSpPr>
        <p:grpSpPr>
          <a:xfrm>
            <a:off x="8988278" y="2657732"/>
            <a:ext cx="402444" cy="402444"/>
            <a:chOff x="8470120" y="4767469"/>
            <a:chExt cx="642856" cy="64285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3878EF8-445E-1033-D013-BD5501B3A6C7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282BDC1-B6E8-8B4C-FA55-59E9E905C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54D8CB0-F5F8-EFDE-D5BD-3A38D4127D74}"/>
              </a:ext>
            </a:extLst>
          </p:cNvPr>
          <p:cNvSpPr txBox="1"/>
          <p:nvPr/>
        </p:nvSpPr>
        <p:spPr>
          <a:xfrm>
            <a:off x="8956387" y="2015025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F4061EF3-E438-1EDB-7814-995FAAAF6C64}"/>
              </a:ext>
            </a:extLst>
          </p:cNvPr>
          <p:cNvCxnSpPr>
            <a:cxnSpLocks/>
          </p:cNvCxnSpPr>
          <p:nvPr/>
        </p:nvCxnSpPr>
        <p:spPr>
          <a:xfrm rot="5400000">
            <a:off x="9014149" y="2279668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C85F8C5-219D-3839-541E-578D939B0AC5}"/>
              </a:ext>
            </a:extLst>
          </p:cNvPr>
          <p:cNvGrpSpPr/>
          <p:nvPr/>
        </p:nvGrpSpPr>
        <p:grpSpPr>
          <a:xfrm>
            <a:off x="8818477" y="4593078"/>
            <a:ext cx="756262" cy="699516"/>
            <a:chOff x="5259935" y="4427358"/>
            <a:chExt cx="756262" cy="699516"/>
          </a:xfrm>
        </p:grpSpPr>
        <p:sp>
          <p:nvSpPr>
            <p:cNvPr id="54" name="Google Shape;2227;g331808b2882_0_3053">
              <a:extLst>
                <a:ext uri="{FF2B5EF4-FFF2-40B4-BE49-F238E27FC236}">
                  <a16:creationId xmlns:a16="http://schemas.microsoft.com/office/drawing/2014/main" id="{DEB499CB-9C9F-DE50-5456-55DC01AC6F5E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55" name="Google Shape;2232;g331808b2882_0_3053">
              <a:extLst>
                <a:ext uri="{FF2B5EF4-FFF2-40B4-BE49-F238E27FC236}">
                  <a16:creationId xmlns:a16="http://schemas.microsoft.com/office/drawing/2014/main" id="{04DF4CD4-88EB-1902-943E-7B293962F17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D5A1162-C04F-B710-5E56-844FD2DB207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08888" y="2284537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Google Shape;2227;g331808b2882_0_3053">
            <a:extLst>
              <a:ext uri="{FF2B5EF4-FFF2-40B4-BE49-F238E27FC236}">
                <a16:creationId xmlns:a16="http://schemas.microsoft.com/office/drawing/2014/main" id="{BD83B3A4-962E-C511-D9FC-45184FA7CECB}"/>
              </a:ext>
            </a:extLst>
          </p:cNvPr>
          <p:cNvSpPr/>
          <p:nvPr/>
        </p:nvSpPr>
        <p:spPr>
          <a:xfrm rot="10800000" flipV="1">
            <a:off x="8821380" y="3713831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58" name="Google Shape;2232;g331808b2882_0_3053">
            <a:extLst>
              <a:ext uri="{FF2B5EF4-FFF2-40B4-BE49-F238E27FC236}">
                <a16:creationId xmlns:a16="http://schemas.microsoft.com/office/drawing/2014/main" id="{B1713233-0AA0-E3E5-534A-11A5C15B6B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42645" y="3990731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81E7963A-44E9-3707-6DF7-048C3AEE6B93}"/>
              </a:ext>
            </a:extLst>
          </p:cNvPr>
          <p:cNvGrpSpPr/>
          <p:nvPr/>
        </p:nvGrpSpPr>
        <p:grpSpPr>
          <a:xfrm>
            <a:off x="8991181" y="3825696"/>
            <a:ext cx="402444" cy="402444"/>
            <a:chOff x="8470120" y="4767469"/>
            <a:chExt cx="642856" cy="64285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3533743-FF38-4F5D-9794-1D805CA036AB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737E9084-2E96-9C7B-26AF-8BCB08F54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76215099-1675-24BC-449E-4DDB1CC7EE36}"/>
              </a:ext>
            </a:extLst>
          </p:cNvPr>
          <p:cNvCxnSpPr>
            <a:cxnSpLocks/>
          </p:cNvCxnSpPr>
          <p:nvPr/>
        </p:nvCxnSpPr>
        <p:spPr>
          <a:xfrm rot="5400000">
            <a:off x="8557539" y="2766244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4D1D37B0-13DB-0F37-0970-2B365ECF22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019021" y="2769429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6" name="Google Shape;2227;g331808b2882_0_3053">
            <a:extLst>
              <a:ext uri="{FF2B5EF4-FFF2-40B4-BE49-F238E27FC236}">
                <a16:creationId xmlns:a16="http://schemas.microsoft.com/office/drawing/2014/main" id="{15858C65-F36B-A19A-6E81-029EA74D2A39}"/>
              </a:ext>
            </a:extLst>
          </p:cNvPr>
          <p:cNvSpPr/>
          <p:nvPr/>
        </p:nvSpPr>
        <p:spPr>
          <a:xfrm rot="10800000" flipV="1">
            <a:off x="6861335" y="2479275"/>
            <a:ext cx="2884315" cy="2294108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77" name="Rectangle 2176">
            <a:extLst>
              <a:ext uri="{FF2B5EF4-FFF2-40B4-BE49-F238E27FC236}">
                <a16:creationId xmlns:a16="http://schemas.microsoft.com/office/drawing/2014/main" id="{57A28705-AEEC-641B-5563-9B59D4D58325}"/>
              </a:ext>
            </a:extLst>
          </p:cNvPr>
          <p:cNvSpPr/>
          <p:nvPr/>
        </p:nvSpPr>
        <p:spPr>
          <a:xfrm>
            <a:off x="8037794" y="4315623"/>
            <a:ext cx="538715" cy="45776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NSX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Edge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Cluster</a:t>
            </a:r>
            <a:endParaRPr lang="en-GB" sz="800" dirty="0">
              <a:solidFill>
                <a:srgbClr val="00B0F0"/>
              </a:solidFill>
              <a:latin typeface="Metropolis" pitchFamily="2" charset="77"/>
              <a:cs typeface="Arial"/>
            </a:endParaRPr>
          </a:p>
        </p:txBody>
      </p:sp>
      <p:cxnSp>
        <p:nvCxnSpPr>
          <p:cNvPr id="2178" name="Straight Connector 2177">
            <a:extLst>
              <a:ext uri="{FF2B5EF4-FFF2-40B4-BE49-F238E27FC236}">
                <a16:creationId xmlns:a16="http://schemas.microsoft.com/office/drawing/2014/main" id="{281E2542-5FA0-39CC-781A-73E4001E2756}"/>
              </a:ext>
            </a:extLst>
          </p:cNvPr>
          <p:cNvCxnSpPr>
            <a:cxnSpLocks/>
          </p:cNvCxnSpPr>
          <p:nvPr/>
        </p:nvCxnSpPr>
        <p:spPr>
          <a:xfrm flipH="1" flipV="1">
            <a:off x="6552238" y="6486390"/>
            <a:ext cx="3507653" cy="1663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9" name="Group 2178">
            <a:extLst>
              <a:ext uri="{FF2B5EF4-FFF2-40B4-BE49-F238E27FC236}">
                <a16:creationId xmlns:a16="http://schemas.microsoft.com/office/drawing/2014/main" id="{10C04767-2AD5-C2EA-7D26-0F8EC66DAB06}"/>
              </a:ext>
            </a:extLst>
          </p:cNvPr>
          <p:cNvGrpSpPr/>
          <p:nvPr/>
        </p:nvGrpSpPr>
        <p:grpSpPr>
          <a:xfrm>
            <a:off x="8818477" y="5089694"/>
            <a:ext cx="756262" cy="699516"/>
            <a:chOff x="5259935" y="4427358"/>
            <a:chExt cx="756262" cy="699516"/>
          </a:xfrm>
        </p:grpSpPr>
        <p:sp>
          <p:nvSpPr>
            <p:cNvPr id="2180" name="Google Shape;2227;g331808b2882_0_3053">
              <a:extLst>
                <a:ext uri="{FF2B5EF4-FFF2-40B4-BE49-F238E27FC236}">
                  <a16:creationId xmlns:a16="http://schemas.microsoft.com/office/drawing/2014/main" id="{F1516371-E0F7-4E2C-6BF8-0621D9F82D67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2181" name="Google Shape;2232;g331808b2882_0_3053">
              <a:extLst>
                <a:ext uri="{FF2B5EF4-FFF2-40B4-BE49-F238E27FC236}">
                  <a16:creationId xmlns:a16="http://schemas.microsoft.com/office/drawing/2014/main" id="{EEBC471A-ED6F-BB7A-AC32-6AAFCE88BCF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2" name="Rectangle 2181">
            <a:extLst>
              <a:ext uri="{FF2B5EF4-FFF2-40B4-BE49-F238E27FC236}">
                <a16:creationId xmlns:a16="http://schemas.microsoft.com/office/drawing/2014/main" id="{27EFD3D0-4A57-9A21-5220-988E5CC45AE9}"/>
              </a:ext>
            </a:extLst>
          </p:cNvPr>
          <p:cNvSpPr/>
          <p:nvPr/>
        </p:nvSpPr>
        <p:spPr>
          <a:xfrm>
            <a:off x="6552238" y="1005858"/>
            <a:ext cx="3494529" cy="175281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3 Boundaries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Rectangle 2193">
            <a:extLst>
              <a:ext uri="{FF2B5EF4-FFF2-40B4-BE49-F238E27FC236}">
                <a16:creationId xmlns:a16="http://schemas.microsoft.com/office/drawing/2014/main" id="{DF88D59A-FF58-68B8-E428-6B83923522FA}"/>
              </a:ext>
            </a:extLst>
          </p:cNvPr>
          <p:cNvSpPr/>
          <p:nvPr/>
        </p:nvSpPr>
        <p:spPr>
          <a:xfrm>
            <a:off x="2422583" y="1463373"/>
            <a:ext cx="6782765" cy="409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0" name="Google Shape;2190;g35c6e7e29b5_0_2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sz="2000" dirty="0"/>
              <a:t>Rack Fault Tolerant Design Using a Single Layer 3 vSphere Cluster Deployed Across Multiple Racks Model v1.0</a:t>
            </a:r>
            <a:endParaRPr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FF9DB93-5393-709C-F714-C4034AC8A85E}"/>
              </a:ext>
            </a:extLst>
          </p:cNvPr>
          <p:cNvCxnSpPr>
            <a:cxnSpLocks/>
          </p:cNvCxnSpPr>
          <p:nvPr/>
        </p:nvCxnSpPr>
        <p:spPr>
          <a:xfrm>
            <a:off x="4206164" y="1902049"/>
            <a:ext cx="0" cy="3550323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DBC8-E006-C799-9F86-75E96B839034}"/>
              </a:ext>
            </a:extLst>
          </p:cNvPr>
          <p:cNvCxnSpPr>
            <a:cxnSpLocks/>
          </p:cNvCxnSpPr>
          <p:nvPr/>
        </p:nvCxnSpPr>
        <p:spPr>
          <a:xfrm>
            <a:off x="5832917" y="1914328"/>
            <a:ext cx="0" cy="3550323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BBB23F-D8E0-3E57-9D47-FB14837E0823}"/>
              </a:ext>
            </a:extLst>
          </p:cNvPr>
          <p:cNvCxnSpPr>
            <a:cxnSpLocks/>
          </p:cNvCxnSpPr>
          <p:nvPr/>
        </p:nvCxnSpPr>
        <p:spPr>
          <a:xfrm>
            <a:off x="7455290" y="1913003"/>
            <a:ext cx="0" cy="3550323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2227;g331808b2882_0_3053">
            <a:extLst>
              <a:ext uri="{FF2B5EF4-FFF2-40B4-BE49-F238E27FC236}">
                <a16:creationId xmlns:a16="http://schemas.microsoft.com/office/drawing/2014/main" id="{82910650-C290-84F2-BF96-E47F0D9F2C8B}"/>
              </a:ext>
            </a:extLst>
          </p:cNvPr>
          <p:cNvSpPr/>
          <p:nvPr/>
        </p:nvSpPr>
        <p:spPr>
          <a:xfrm rot="10800000" flipV="1">
            <a:off x="7542573" y="1978477"/>
            <a:ext cx="1436490" cy="33967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4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Google Shape;2227;g331808b2882_0_3053">
            <a:extLst>
              <a:ext uri="{FF2B5EF4-FFF2-40B4-BE49-F238E27FC236}">
                <a16:creationId xmlns:a16="http://schemas.microsoft.com/office/drawing/2014/main" id="{0D86701E-A02A-A30D-CAAD-CE480219A2BE}"/>
              </a:ext>
            </a:extLst>
          </p:cNvPr>
          <p:cNvSpPr/>
          <p:nvPr/>
        </p:nvSpPr>
        <p:spPr>
          <a:xfrm rot="10800000" flipV="1">
            <a:off x="5922081" y="1976019"/>
            <a:ext cx="1436490" cy="3392714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3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2227;g331808b2882_0_3053">
            <a:extLst>
              <a:ext uri="{FF2B5EF4-FFF2-40B4-BE49-F238E27FC236}">
                <a16:creationId xmlns:a16="http://schemas.microsoft.com/office/drawing/2014/main" id="{E4976066-5257-1C1E-B448-1C54A9A4CD2B}"/>
              </a:ext>
            </a:extLst>
          </p:cNvPr>
          <p:cNvSpPr/>
          <p:nvPr/>
        </p:nvSpPr>
        <p:spPr>
          <a:xfrm rot="10800000" flipV="1">
            <a:off x="4302296" y="1972017"/>
            <a:ext cx="1436490" cy="3399175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2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8" name="Google Shape;2227;g331808b2882_0_3053">
            <a:extLst>
              <a:ext uri="{FF2B5EF4-FFF2-40B4-BE49-F238E27FC236}">
                <a16:creationId xmlns:a16="http://schemas.microsoft.com/office/drawing/2014/main" id="{B20ADB70-951D-AFBD-F832-2637D5DD9FD4}"/>
              </a:ext>
            </a:extLst>
          </p:cNvPr>
          <p:cNvSpPr/>
          <p:nvPr/>
        </p:nvSpPr>
        <p:spPr>
          <a:xfrm rot="10800000" flipV="1">
            <a:off x="2681804" y="1969558"/>
            <a:ext cx="1436490" cy="3399175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9" name="Google Shape;2227;g331808b2882_0_3053">
            <a:extLst>
              <a:ext uri="{FF2B5EF4-FFF2-40B4-BE49-F238E27FC236}">
                <a16:creationId xmlns:a16="http://schemas.microsoft.com/office/drawing/2014/main" id="{A5A7ACA8-F177-BAF6-EC27-C66CAAE47B29}"/>
              </a:ext>
            </a:extLst>
          </p:cNvPr>
          <p:cNvSpPr/>
          <p:nvPr/>
        </p:nvSpPr>
        <p:spPr>
          <a:xfrm>
            <a:off x="2773902" y="3076349"/>
            <a:ext cx="6115229" cy="17969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3 vSphere Cluster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F8071A3-956F-2126-4BB2-96D0C05F9C7F}"/>
              </a:ext>
            </a:extLst>
          </p:cNvPr>
          <p:cNvGrpSpPr/>
          <p:nvPr/>
        </p:nvGrpSpPr>
        <p:grpSpPr>
          <a:xfrm>
            <a:off x="7681654" y="2040090"/>
            <a:ext cx="1154136" cy="511554"/>
            <a:chOff x="10136865" y="1480917"/>
            <a:chExt cx="1154136" cy="51155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46F64C1-CD18-1220-2146-6DE46DC46615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3DF9103-846C-30B4-0A75-33F263FDD1D7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9F46BFBE-6D52-8578-E636-EBB9CB2DD8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345B916-9254-5D03-A721-51DD47CB6D2C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9999B30-C57E-A56C-6764-1D1DCC9A3973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E41E6FA8-8245-6E86-F3DA-A8A348C41C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7" name="Google Shape;2227;g331808b2882_0_3053">
            <a:extLst>
              <a:ext uri="{FF2B5EF4-FFF2-40B4-BE49-F238E27FC236}">
                <a16:creationId xmlns:a16="http://schemas.microsoft.com/office/drawing/2014/main" id="{5512E8B0-729B-1569-41BA-F9017621695C}"/>
              </a:ext>
            </a:extLst>
          </p:cNvPr>
          <p:cNvSpPr/>
          <p:nvPr/>
        </p:nvSpPr>
        <p:spPr>
          <a:xfrm rot="10800000" flipV="1">
            <a:off x="7789809" y="3171128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18" name="Google Shape;2232;g331808b2882_0_3053">
            <a:extLst>
              <a:ext uri="{FF2B5EF4-FFF2-40B4-BE49-F238E27FC236}">
                <a16:creationId xmlns:a16="http://schemas.microsoft.com/office/drawing/2014/main" id="{B45EE59E-1576-0A87-D783-CA858A5787F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99776" y="3734943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80A2091-42A5-4722-60D1-463FBC4342A1}"/>
              </a:ext>
            </a:extLst>
          </p:cNvPr>
          <p:cNvGrpSpPr/>
          <p:nvPr/>
        </p:nvGrpSpPr>
        <p:grpSpPr>
          <a:xfrm>
            <a:off x="8048312" y="3399785"/>
            <a:ext cx="402444" cy="402444"/>
            <a:chOff x="8470120" y="4767469"/>
            <a:chExt cx="642856" cy="64285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F42D81-17F4-72A4-81A6-050530E2F37F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665034B0-DF4B-7B3E-60A2-62E01D269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3F3FBA1D-A5E2-9FBA-1B93-863751F712E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15344" y="2861258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2E6539A7-FAB5-CA22-66AF-D51603E3F491}"/>
              </a:ext>
            </a:extLst>
          </p:cNvPr>
          <p:cNvCxnSpPr>
            <a:cxnSpLocks/>
          </p:cNvCxnSpPr>
          <p:nvPr/>
        </p:nvCxnSpPr>
        <p:spPr>
          <a:xfrm rot="5400000">
            <a:off x="8029072" y="2858405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5C6FF4D-08B1-9C52-52E4-CB0FC4CB3D64}"/>
              </a:ext>
            </a:extLst>
          </p:cNvPr>
          <p:cNvSpPr txBox="1"/>
          <p:nvPr/>
        </p:nvSpPr>
        <p:spPr>
          <a:xfrm>
            <a:off x="8029463" y="2516997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8988F5E-CD45-8D78-70C8-466D6EE48E21}"/>
              </a:ext>
            </a:extLst>
          </p:cNvPr>
          <p:cNvGrpSpPr/>
          <p:nvPr/>
        </p:nvGrpSpPr>
        <p:grpSpPr>
          <a:xfrm>
            <a:off x="6061162" y="2037631"/>
            <a:ext cx="1154136" cy="511554"/>
            <a:chOff x="10136865" y="1480917"/>
            <a:chExt cx="1154136" cy="51155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DCC9989-C001-D8EB-FB86-173ACC3E48D0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E36B67A-2D79-43D8-43BF-54D4F15F1FAD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31" name="Graphic 30">
                <a:extLst>
                  <a:ext uri="{FF2B5EF4-FFF2-40B4-BE49-F238E27FC236}">
                    <a16:creationId xmlns:a16="http://schemas.microsoft.com/office/drawing/2014/main" id="{DA7B724D-7E6D-03C0-F067-41C5AC6D9B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46CF476-2725-83D6-F645-C02D09E83529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BE7CA00-ADCF-6DD6-4C7A-DC4DB19E132E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F04C970F-9485-1AF8-4544-7A8C888135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32" name="Google Shape;2227;g331808b2882_0_3053">
            <a:extLst>
              <a:ext uri="{FF2B5EF4-FFF2-40B4-BE49-F238E27FC236}">
                <a16:creationId xmlns:a16="http://schemas.microsoft.com/office/drawing/2014/main" id="{B784A076-2981-27B5-C7EC-82BB7C00BF3C}"/>
              </a:ext>
            </a:extLst>
          </p:cNvPr>
          <p:cNvSpPr/>
          <p:nvPr/>
        </p:nvSpPr>
        <p:spPr>
          <a:xfrm rot="10800000" flipV="1">
            <a:off x="6169317" y="3168669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33" name="Google Shape;2232;g331808b2882_0_3053">
            <a:extLst>
              <a:ext uri="{FF2B5EF4-FFF2-40B4-BE49-F238E27FC236}">
                <a16:creationId xmlns:a16="http://schemas.microsoft.com/office/drawing/2014/main" id="{49A090F5-E788-CC01-60D8-F94930146F0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9284" y="3732484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2E1E009-6BEF-368E-3F5F-EB073AA2BF13}"/>
              </a:ext>
            </a:extLst>
          </p:cNvPr>
          <p:cNvGrpSpPr/>
          <p:nvPr/>
        </p:nvGrpSpPr>
        <p:grpSpPr>
          <a:xfrm>
            <a:off x="6427820" y="3397326"/>
            <a:ext cx="402444" cy="402444"/>
            <a:chOff x="8470120" y="4767469"/>
            <a:chExt cx="642856" cy="64285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A51D68-2522-219B-3A3C-5A893F388F04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33DFD311-5FCC-F399-A466-71A00E97B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A8629015-01B9-89A8-84DE-B352A4563A8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94852" y="2858799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08266001-96A0-C322-2376-8E5E9C0169B8}"/>
              </a:ext>
            </a:extLst>
          </p:cNvPr>
          <p:cNvCxnSpPr>
            <a:cxnSpLocks/>
          </p:cNvCxnSpPr>
          <p:nvPr/>
        </p:nvCxnSpPr>
        <p:spPr>
          <a:xfrm rot="5400000">
            <a:off x="6408580" y="2855946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246AE36-580C-5037-316F-4540F1F56DF8}"/>
              </a:ext>
            </a:extLst>
          </p:cNvPr>
          <p:cNvSpPr txBox="1"/>
          <p:nvPr/>
        </p:nvSpPr>
        <p:spPr>
          <a:xfrm>
            <a:off x="6408971" y="2534131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324347D-F932-5020-8451-E6DB5E9148EF}"/>
              </a:ext>
            </a:extLst>
          </p:cNvPr>
          <p:cNvGrpSpPr/>
          <p:nvPr/>
        </p:nvGrpSpPr>
        <p:grpSpPr>
          <a:xfrm>
            <a:off x="4441377" y="2033630"/>
            <a:ext cx="1154136" cy="511554"/>
            <a:chOff x="10136865" y="1480917"/>
            <a:chExt cx="1154136" cy="51155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FD8EEDD-311E-2E24-99A1-B44AD8E8D062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3FEF8BA-2698-17B7-C55C-F3FEBC01EDA1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6" name="Graphic 45">
                <a:extLst>
                  <a:ext uri="{FF2B5EF4-FFF2-40B4-BE49-F238E27FC236}">
                    <a16:creationId xmlns:a16="http://schemas.microsoft.com/office/drawing/2014/main" id="{199AEFFD-C744-5F8A-027D-A2B1C6FEC2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DE3E777-7468-7862-E576-D92F27CEE8A5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C1CF8D2-34E4-18A3-17F0-11228B6C8508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EDEB0C4D-3F25-4064-93DD-12439EAA0E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47" name="Google Shape;2227;g331808b2882_0_3053">
            <a:extLst>
              <a:ext uri="{FF2B5EF4-FFF2-40B4-BE49-F238E27FC236}">
                <a16:creationId xmlns:a16="http://schemas.microsoft.com/office/drawing/2014/main" id="{A70CE079-7A13-21ED-259A-E9EA9FCCF7C8}"/>
              </a:ext>
            </a:extLst>
          </p:cNvPr>
          <p:cNvSpPr/>
          <p:nvPr/>
        </p:nvSpPr>
        <p:spPr>
          <a:xfrm rot="10800000" flipV="1">
            <a:off x="4549532" y="3164668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48" name="Google Shape;2232;g331808b2882_0_3053">
            <a:extLst>
              <a:ext uri="{FF2B5EF4-FFF2-40B4-BE49-F238E27FC236}">
                <a16:creationId xmlns:a16="http://schemas.microsoft.com/office/drawing/2014/main" id="{34492874-046E-3C73-9743-C8DDF1C65DB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59499" y="3728483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E6E0C909-F893-5FB7-A4F0-2B5D0E92A595}"/>
              </a:ext>
            </a:extLst>
          </p:cNvPr>
          <p:cNvGrpSpPr/>
          <p:nvPr/>
        </p:nvGrpSpPr>
        <p:grpSpPr>
          <a:xfrm>
            <a:off x="4808035" y="3393325"/>
            <a:ext cx="402444" cy="402444"/>
            <a:chOff x="8470120" y="4767469"/>
            <a:chExt cx="642856" cy="64285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5A1F5DC-705A-B463-8587-BBB18B7125FD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8D2E3818-8A12-B7AE-3C25-DB28A0412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FE3C9CF7-E7DC-AC85-C8B6-4BCA2954F1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5067" y="2854798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5F329B5D-3EAD-02C7-B225-441DB85B4625}"/>
              </a:ext>
            </a:extLst>
          </p:cNvPr>
          <p:cNvCxnSpPr>
            <a:cxnSpLocks/>
          </p:cNvCxnSpPr>
          <p:nvPr/>
        </p:nvCxnSpPr>
        <p:spPr>
          <a:xfrm rot="5400000">
            <a:off x="4788795" y="2851945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DEA11F4-63A9-9CC3-113F-94E98BB51DBB}"/>
              </a:ext>
            </a:extLst>
          </p:cNvPr>
          <p:cNvSpPr txBox="1"/>
          <p:nvPr/>
        </p:nvSpPr>
        <p:spPr>
          <a:xfrm>
            <a:off x="4789186" y="2530130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D6A4CD1-306E-B84C-EB7D-8514663AA9D5}"/>
              </a:ext>
            </a:extLst>
          </p:cNvPr>
          <p:cNvGrpSpPr/>
          <p:nvPr/>
        </p:nvGrpSpPr>
        <p:grpSpPr>
          <a:xfrm>
            <a:off x="2820885" y="2031171"/>
            <a:ext cx="1154136" cy="511554"/>
            <a:chOff x="10136865" y="1480917"/>
            <a:chExt cx="1154136" cy="511554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28DC1CC-0E3C-E53B-633E-E56EAD8941B3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180F7E4-93E7-0C7E-581F-48A30104C31E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61" name="Graphic 60">
                <a:extLst>
                  <a:ext uri="{FF2B5EF4-FFF2-40B4-BE49-F238E27FC236}">
                    <a16:creationId xmlns:a16="http://schemas.microsoft.com/office/drawing/2014/main" id="{CDE05939-C2B9-AAB2-98E3-6068DB9741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148A166-8E26-DC26-8168-A220222BB58C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0A92B08-806D-561B-895C-087CF25550F8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EBC36547-E4F5-4C15-B25F-51FC6284B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62" name="Google Shape;2227;g331808b2882_0_3053">
            <a:extLst>
              <a:ext uri="{FF2B5EF4-FFF2-40B4-BE49-F238E27FC236}">
                <a16:creationId xmlns:a16="http://schemas.microsoft.com/office/drawing/2014/main" id="{CD337350-D047-3225-86A9-AF23A6EC7638}"/>
              </a:ext>
            </a:extLst>
          </p:cNvPr>
          <p:cNvSpPr/>
          <p:nvPr/>
        </p:nvSpPr>
        <p:spPr>
          <a:xfrm rot="10800000" flipV="1">
            <a:off x="2929040" y="3162209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63" name="Google Shape;2232;g331808b2882_0_3053">
            <a:extLst>
              <a:ext uri="{FF2B5EF4-FFF2-40B4-BE49-F238E27FC236}">
                <a16:creationId xmlns:a16="http://schemas.microsoft.com/office/drawing/2014/main" id="{56EF6BF5-25A0-EB51-68A0-19589F48F6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9007" y="3726024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6" name="Group 2175">
            <a:extLst>
              <a:ext uri="{FF2B5EF4-FFF2-40B4-BE49-F238E27FC236}">
                <a16:creationId xmlns:a16="http://schemas.microsoft.com/office/drawing/2014/main" id="{AADBA9A3-3089-87E2-F199-AECDEBD08000}"/>
              </a:ext>
            </a:extLst>
          </p:cNvPr>
          <p:cNvGrpSpPr/>
          <p:nvPr/>
        </p:nvGrpSpPr>
        <p:grpSpPr>
          <a:xfrm>
            <a:off x="3187543" y="3390866"/>
            <a:ext cx="402444" cy="402444"/>
            <a:chOff x="8470120" y="4767469"/>
            <a:chExt cx="642856" cy="642856"/>
          </a:xfrm>
        </p:grpSpPr>
        <p:sp>
          <p:nvSpPr>
            <p:cNvPr id="2177" name="Rectangle 2176">
              <a:extLst>
                <a:ext uri="{FF2B5EF4-FFF2-40B4-BE49-F238E27FC236}">
                  <a16:creationId xmlns:a16="http://schemas.microsoft.com/office/drawing/2014/main" id="{24A2C08A-7ACF-7B0F-ECF1-84E18CC1F7F8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178" name="Graphic 2177">
              <a:extLst>
                <a:ext uri="{FF2B5EF4-FFF2-40B4-BE49-F238E27FC236}">
                  <a16:creationId xmlns:a16="http://schemas.microsoft.com/office/drawing/2014/main" id="{80ED219E-2C4A-1760-F671-C6343AF3C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2179" name="Elbow Connector 2178">
            <a:extLst>
              <a:ext uri="{FF2B5EF4-FFF2-40B4-BE49-F238E27FC236}">
                <a16:creationId xmlns:a16="http://schemas.microsoft.com/office/drawing/2014/main" id="{566F227A-DC1D-DB32-47AF-CE719E10F24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54575" y="2852339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0" name="Elbow Connector 2179">
            <a:extLst>
              <a:ext uri="{FF2B5EF4-FFF2-40B4-BE49-F238E27FC236}">
                <a16:creationId xmlns:a16="http://schemas.microsoft.com/office/drawing/2014/main" id="{5C0AF245-4993-B92A-3232-362408ED8E3D}"/>
              </a:ext>
            </a:extLst>
          </p:cNvPr>
          <p:cNvCxnSpPr>
            <a:cxnSpLocks/>
          </p:cNvCxnSpPr>
          <p:nvPr/>
        </p:nvCxnSpPr>
        <p:spPr>
          <a:xfrm rot="5400000">
            <a:off x="3168303" y="2849486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1" name="TextBox 2180">
            <a:extLst>
              <a:ext uri="{FF2B5EF4-FFF2-40B4-BE49-F238E27FC236}">
                <a16:creationId xmlns:a16="http://schemas.microsoft.com/office/drawing/2014/main" id="{B88051EB-710C-CF03-E7FB-131A11C65704}"/>
              </a:ext>
            </a:extLst>
          </p:cNvPr>
          <p:cNvSpPr txBox="1"/>
          <p:nvPr/>
        </p:nvSpPr>
        <p:spPr>
          <a:xfrm>
            <a:off x="3168694" y="2527671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sp>
        <p:nvSpPr>
          <p:cNvPr id="2182" name="Google Shape;2227;g331808b2882_0_3053">
            <a:extLst>
              <a:ext uri="{FF2B5EF4-FFF2-40B4-BE49-F238E27FC236}">
                <a16:creationId xmlns:a16="http://schemas.microsoft.com/office/drawing/2014/main" id="{E869CF26-BABB-C656-8776-D36A541E1B61}"/>
              </a:ext>
            </a:extLst>
          </p:cNvPr>
          <p:cNvSpPr/>
          <p:nvPr/>
        </p:nvSpPr>
        <p:spPr>
          <a:xfrm rot="10800000" flipV="1">
            <a:off x="2861539" y="3281211"/>
            <a:ext cx="5948023" cy="607992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00B0F0"/>
                </a:solidFill>
                <a:latin typeface="Metropolis" pitchFamily="2" charset="77"/>
                <a:sym typeface="Arial"/>
              </a:rPr>
              <a:t>NSX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00B0F0"/>
                </a:solidFill>
                <a:latin typeface="Metropolis" pitchFamily="2" charset="77"/>
                <a:sym typeface="Arial"/>
              </a:rPr>
              <a:t>Edge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00B0F0"/>
                </a:solidFill>
                <a:latin typeface="Metropolis" pitchFamily="2" charset="77"/>
                <a:sym typeface="Arial"/>
              </a:rPr>
              <a:t>Cluster</a:t>
            </a: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83" name="Rectangle 2182">
            <a:extLst>
              <a:ext uri="{FF2B5EF4-FFF2-40B4-BE49-F238E27FC236}">
                <a16:creationId xmlns:a16="http://schemas.microsoft.com/office/drawing/2014/main" id="{2D19013F-DB79-5F65-D55E-E15BB0885E52}"/>
              </a:ext>
            </a:extLst>
          </p:cNvPr>
          <p:cNvSpPr/>
          <p:nvPr/>
        </p:nvSpPr>
        <p:spPr>
          <a:xfrm>
            <a:off x="2580500" y="1503760"/>
            <a:ext cx="6497567" cy="180361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3 Boundaries</a:t>
            </a:r>
          </a:p>
        </p:txBody>
      </p:sp>
      <p:cxnSp>
        <p:nvCxnSpPr>
          <p:cNvPr id="2184" name="Straight Connector 2183">
            <a:extLst>
              <a:ext uri="{FF2B5EF4-FFF2-40B4-BE49-F238E27FC236}">
                <a16:creationId xmlns:a16="http://schemas.microsoft.com/office/drawing/2014/main" id="{010D849A-ADE6-105D-E5FF-EA2AFE874255}"/>
              </a:ext>
            </a:extLst>
          </p:cNvPr>
          <p:cNvCxnSpPr>
            <a:cxnSpLocks/>
          </p:cNvCxnSpPr>
          <p:nvPr/>
        </p:nvCxnSpPr>
        <p:spPr>
          <a:xfrm>
            <a:off x="2582778" y="1913003"/>
            <a:ext cx="0" cy="3550323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5" name="Rectangle 2184">
            <a:extLst>
              <a:ext uri="{FF2B5EF4-FFF2-40B4-BE49-F238E27FC236}">
                <a16:creationId xmlns:a16="http://schemas.microsoft.com/office/drawing/2014/main" id="{A97D64A9-8E04-AD8A-45ED-0207F6C2A5D1}"/>
              </a:ext>
            </a:extLst>
          </p:cNvPr>
          <p:cNvSpPr/>
          <p:nvPr/>
        </p:nvSpPr>
        <p:spPr>
          <a:xfrm>
            <a:off x="2582778" y="1710996"/>
            <a:ext cx="1623386" cy="198135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cxnSp>
        <p:nvCxnSpPr>
          <p:cNvPr id="2186" name="Straight Connector 2185">
            <a:extLst>
              <a:ext uri="{FF2B5EF4-FFF2-40B4-BE49-F238E27FC236}">
                <a16:creationId xmlns:a16="http://schemas.microsoft.com/office/drawing/2014/main" id="{818629B1-36DF-A83C-4EAE-5BF893F6323E}"/>
              </a:ext>
            </a:extLst>
          </p:cNvPr>
          <p:cNvCxnSpPr>
            <a:cxnSpLocks/>
          </p:cNvCxnSpPr>
          <p:nvPr/>
        </p:nvCxnSpPr>
        <p:spPr>
          <a:xfrm flipH="1">
            <a:off x="2588671" y="5463326"/>
            <a:ext cx="6473740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7" name="Rectangle 2186">
            <a:extLst>
              <a:ext uri="{FF2B5EF4-FFF2-40B4-BE49-F238E27FC236}">
                <a16:creationId xmlns:a16="http://schemas.microsoft.com/office/drawing/2014/main" id="{EBE2F894-8A51-7132-9846-905784762433}"/>
              </a:ext>
            </a:extLst>
          </p:cNvPr>
          <p:cNvSpPr/>
          <p:nvPr/>
        </p:nvSpPr>
        <p:spPr>
          <a:xfrm>
            <a:off x="4206164" y="1709978"/>
            <a:ext cx="1623386" cy="198135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sp>
        <p:nvSpPr>
          <p:cNvPr id="2188" name="Rectangle 2187">
            <a:extLst>
              <a:ext uri="{FF2B5EF4-FFF2-40B4-BE49-F238E27FC236}">
                <a16:creationId xmlns:a16="http://schemas.microsoft.com/office/drawing/2014/main" id="{C1D8B9D0-323D-E00B-8195-6C74D6A2A9AD}"/>
              </a:ext>
            </a:extLst>
          </p:cNvPr>
          <p:cNvSpPr/>
          <p:nvPr/>
        </p:nvSpPr>
        <p:spPr>
          <a:xfrm>
            <a:off x="5832493" y="1710487"/>
            <a:ext cx="1623386" cy="198135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sp>
        <p:nvSpPr>
          <p:cNvPr id="2189" name="Rectangle 2188">
            <a:extLst>
              <a:ext uri="{FF2B5EF4-FFF2-40B4-BE49-F238E27FC236}">
                <a16:creationId xmlns:a16="http://schemas.microsoft.com/office/drawing/2014/main" id="{AAA27AA0-4B65-D112-039D-4BC928FB3E06}"/>
              </a:ext>
            </a:extLst>
          </p:cNvPr>
          <p:cNvSpPr/>
          <p:nvPr/>
        </p:nvSpPr>
        <p:spPr>
          <a:xfrm>
            <a:off x="7454686" y="1711505"/>
            <a:ext cx="1623386" cy="198135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cxnSp>
        <p:nvCxnSpPr>
          <p:cNvPr id="2192" name="Straight Connector 2191">
            <a:extLst>
              <a:ext uri="{FF2B5EF4-FFF2-40B4-BE49-F238E27FC236}">
                <a16:creationId xmlns:a16="http://schemas.microsoft.com/office/drawing/2014/main" id="{CDBE762F-CF6A-BF8D-47F5-C023FD3837D1}"/>
              </a:ext>
            </a:extLst>
          </p:cNvPr>
          <p:cNvCxnSpPr>
            <a:cxnSpLocks/>
          </p:cNvCxnSpPr>
          <p:nvPr/>
        </p:nvCxnSpPr>
        <p:spPr>
          <a:xfrm>
            <a:off x="9078067" y="1913003"/>
            <a:ext cx="0" cy="3550323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3" name="Rectangle 2192">
            <a:extLst>
              <a:ext uri="{FF2B5EF4-FFF2-40B4-BE49-F238E27FC236}">
                <a16:creationId xmlns:a16="http://schemas.microsoft.com/office/drawing/2014/main" id="{DFA38116-0ECF-12D1-7013-E9C48E4BC2B5}"/>
              </a:ext>
            </a:extLst>
          </p:cNvPr>
          <p:cNvSpPr/>
          <p:nvPr/>
        </p:nvSpPr>
        <p:spPr>
          <a:xfrm>
            <a:off x="2519070" y="1360770"/>
            <a:ext cx="6612942" cy="41984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Rectangle 2186">
            <a:extLst>
              <a:ext uri="{FF2B5EF4-FFF2-40B4-BE49-F238E27FC236}">
                <a16:creationId xmlns:a16="http://schemas.microsoft.com/office/drawing/2014/main" id="{DC79B84A-B62A-677F-D745-2751E6793128}"/>
              </a:ext>
            </a:extLst>
          </p:cNvPr>
          <p:cNvSpPr/>
          <p:nvPr/>
        </p:nvSpPr>
        <p:spPr>
          <a:xfrm>
            <a:off x="2546430" y="1342663"/>
            <a:ext cx="6782765" cy="4016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6" name="Google Shape;2196;g35c6e7e29b5_0_3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sz="2000" dirty="0"/>
              <a:t>Rack Fault Tolerant Design Using a Single Layer 2 vSphere Cluster Deployed Across Multiple Racks Model v1.0</a:t>
            </a:r>
            <a:endParaRPr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BD1C113-1E86-43AF-E09A-52BC6E05F296}"/>
              </a:ext>
            </a:extLst>
          </p:cNvPr>
          <p:cNvCxnSpPr>
            <a:cxnSpLocks/>
          </p:cNvCxnSpPr>
          <p:nvPr/>
        </p:nvCxnSpPr>
        <p:spPr>
          <a:xfrm>
            <a:off x="4295810" y="1616338"/>
            <a:ext cx="0" cy="3603612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9B8463-303A-2587-F4E0-05ED4FBE998C}"/>
              </a:ext>
            </a:extLst>
          </p:cNvPr>
          <p:cNvCxnSpPr>
            <a:cxnSpLocks/>
          </p:cNvCxnSpPr>
          <p:nvPr/>
        </p:nvCxnSpPr>
        <p:spPr>
          <a:xfrm>
            <a:off x="5922563" y="1628617"/>
            <a:ext cx="0" cy="3591333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DFB19C-CF8E-4BD2-040E-DD60EB71AC1F}"/>
              </a:ext>
            </a:extLst>
          </p:cNvPr>
          <p:cNvCxnSpPr>
            <a:cxnSpLocks/>
          </p:cNvCxnSpPr>
          <p:nvPr/>
        </p:nvCxnSpPr>
        <p:spPr>
          <a:xfrm>
            <a:off x="7544936" y="1627292"/>
            <a:ext cx="0" cy="3592658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2227;g331808b2882_0_3053">
            <a:extLst>
              <a:ext uri="{FF2B5EF4-FFF2-40B4-BE49-F238E27FC236}">
                <a16:creationId xmlns:a16="http://schemas.microsoft.com/office/drawing/2014/main" id="{610C8F5A-D581-AFEC-473B-2A4922D4BB6C}"/>
              </a:ext>
            </a:extLst>
          </p:cNvPr>
          <p:cNvSpPr/>
          <p:nvPr/>
        </p:nvSpPr>
        <p:spPr>
          <a:xfrm rot="10800000" flipV="1">
            <a:off x="7632219" y="1735101"/>
            <a:ext cx="1436490" cy="33967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4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Google Shape;2227;g331808b2882_0_3053">
            <a:extLst>
              <a:ext uri="{FF2B5EF4-FFF2-40B4-BE49-F238E27FC236}">
                <a16:creationId xmlns:a16="http://schemas.microsoft.com/office/drawing/2014/main" id="{B833614C-4E25-0D81-3385-3E897E617BB7}"/>
              </a:ext>
            </a:extLst>
          </p:cNvPr>
          <p:cNvSpPr/>
          <p:nvPr/>
        </p:nvSpPr>
        <p:spPr>
          <a:xfrm rot="10800000" flipV="1">
            <a:off x="6011727" y="1732643"/>
            <a:ext cx="1436490" cy="3392714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3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2227;g331808b2882_0_3053">
            <a:extLst>
              <a:ext uri="{FF2B5EF4-FFF2-40B4-BE49-F238E27FC236}">
                <a16:creationId xmlns:a16="http://schemas.microsoft.com/office/drawing/2014/main" id="{CE46BE2E-FB3A-C67F-7419-4EB80DA010FB}"/>
              </a:ext>
            </a:extLst>
          </p:cNvPr>
          <p:cNvSpPr/>
          <p:nvPr/>
        </p:nvSpPr>
        <p:spPr>
          <a:xfrm rot="10800000" flipV="1">
            <a:off x="4391942" y="1728641"/>
            <a:ext cx="1436490" cy="3399175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2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8" name="Google Shape;2227;g331808b2882_0_3053">
            <a:extLst>
              <a:ext uri="{FF2B5EF4-FFF2-40B4-BE49-F238E27FC236}">
                <a16:creationId xmlns:a16="http://schemas.microsoft.com/office/drawing/2014/main" id="{334BEE1A-20EB-7C9D-3C40-52B6EE40A193}"/>
              </a:ext>
            </a:extLst>
          </p:cNvPr>
          <p:cNvSpPr/>
          <p:nvPr/>
        </p:nvSpPr>
        <p:spPr>
          <a:xfrm rot="10800000" flipV="1">
            <a:off x="2771450" y="1726182"/>
            <a:ext cx="1436490" cy="3399175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9" name="Google Shape;2227;g331808b2882_0_3053">
            <a:extLst>
              <a:ext uri="{FF2B5EF4-FFF2-40B4-BE49-F238E27FC236}">
                <a16:creationId xmlns:a16="http://schemas.microsoft.com/office/drawing/2014/main" id="{32FBCA35-C8E7-5801-38BE-874EB1F65DBA}"/>
              </a:ext>
            </a:extLst>
          </p:cNvPr>
          <p:cNvSpPr/>
          <p:nvPr/>
        </p:nvSpPr>
        <p:spPr>
          <a:xfrm>
            <a:off x="2863548" y="2832973"/>
            <a:ext cx="6115229" cy="17969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2 vSphere Cluster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CB2A8C-53D2-1D0C-DD7C-DEA8FB25E0E9}"/>
              </a:ext>
            </a:extLst>
          </p:cNvPr>
          <p:cNvGrpSpPr/>
          <p:nvPr/>
        </p:nvGrpSpPr>
        <p:grpSpPr>
          <a:xfrm>
            <a:off x="7771300" y="1796714"/>
            <a:ext cx="1154136" cy="511554"/>
            <a:chOff x="10136865" y="1480917"/>
            <a:chExt cx="1154136" cy="51155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6627E7-6EC9-6EAE-2C4D-F3A07536F7C9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838CC87-C58C-BA80-6E92-6C0E98785A8A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CCC80113-356A-8F74-99E5-DF8D27F36D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E8012D1-FE42-26FA-63DD-E1DE62F93D8E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25E06D6-C9C1-20DB-8F3F-F5C94883D1F6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C97FAB00-D929-F51C-3786-11F7E6B33A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7" name="Google Shape;2227;g331808b2882_0_3053">
            <a:extLst>
              <a:ext uri="{FF2B5EF4-FFF2-40B4-BE49-F238E27FC236}">
                <a16:creationId xmlns:a16="http://schemas.microsoft.com/office/drawing/2014/main" id="{D12EEC20-A710-5B63-15FF-37F4EFE47F3F}"/>
              </a:ext>
            </a:extLst>
          </p:cNvPr>
          <p:cNvSpPr/>
          <p:nvPr/>
        </p:nvSpPr>
        <p:spPr>
          <a:xfrm rot="10800000" flipV="1">
            <a:off x="7879455" y="2927752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18" name="Google Shape;2232;g331808b2882_0_3053">
            <a:extLst>
              <a:ext uri="{FF2B5EF4-FFF2-40B4-BE49-F238E27FC236}">
                <a16:creationId xmlns:a16="http://schemas.microsoft.com/office/drawing/2014/main" id="{F4244B99-80FD-188C-F9FC-CDEC894CB6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89422" y="3491567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F164835-99C1-1733-3C34-8DD91FC65B18}"/>
              </a:ext>
            </a:extLst>
          </p:cNvPr>
          <p:cNvGrpSpPr/>
          <p:nvPr/>
        </p:nvGrpSpPr>
        <p:grpSpPr>
          <a:xfrm>
            <a:off x="8137958" y="3156409"/>
            <a:ext cx="402444" cy="402444"/>
            <a:chOff x="8470120" y="4767469"/>
            <a:chExt cx="642856" cy="64285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3AD3E7-A068-7A1E-B58F-1A668597F7C2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E356B24C-8A86-C2A8-3A1E-9F0921153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F359051E-C6C0-F791-53DC-1B498080371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04990" y="2617882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69ACFBBC-81B9-2439-BA3A-824AAACD8314}"/>
              </a:ext>
            </a:extLst>
          </p:cNvPr>
          <p:cNvCxnSpPr>
            <a:cxnSpLocks/>
          </p:cNvCxnSpPr>
          <p:nvPr/>
        </p:nvCxnSpPr>
        <p:spPr>
          <a:xfrm rot="5400000">
            <a:off x="8118718" y="2615029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F411BC1-6086-81D2-90D6-7F169EA89966}"/>
              </a:ext>
            </a:extLst>
          </p:cNvPr>
          <p:cNvSpPr txBox="1"/>
          <p:nvPr/>
        </p:nvSpPr>
        <p:spPr>
          <a:xfrm>
            <a:off x="8119109" y="2273621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BED4C9-E651-9FEE-BF4D-18D429333E68}"/>
              </a:ext>
            </a:extLst>
          </p:cNvPr>
          <p:cNvGrpSpPr/>
          <p:nvPr/>
        </p:nvGrpSpPr>
        <p:grpSpPr>
          <a:xfrm>
            <a:off x="6150808" y="1794255"/>
            <a:ext cx="1154136" cy="511554"/>
            <a:chOff x="10136865" y="1480917"/>
            <a:chExt cx="1154136" cy="51155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1F3231F-563F-B58D-CFD2-37FA43C857D1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3664643-2DF4-32F3-6729-DE4B043444D0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31" name="Graphic 30">
                <a:extLst>
                  <a:ext uri="{FF2B5EF4-FFF2-40B4-BE49-F238E27FC236}">
                    <a16:creationId xmlns:a16="http://schemas.microsoft.com/office/drawing/2014/main" id="{ABB8FCDA-7F38-68A8-39F9-244EDB0201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BFE12DF-0543-50DB-EF43-AF150A9FAEA4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A8EC8E1-69B3-B00B-C56B-3A6E2D9658A2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D73B6D7C-21C0-B59D-2EA2-31E7E38362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32" name="Google Shape;2227;g331808b2882_0_3053">
            <a:extLst>
              <a:ext uri="{FF2B5EF4-FFF2-40B4-BE49-F238E27FC236}">
                <a16:creationId xmlns:a16="http://schemas.microsoft.com/office/drawing/2014/main" id="{EB27FF8C-FBDD-2AEB-EB56-4BE33E2BDD5C}"/>
              </a:ext>
            </a:extLst>
          </p:cNvPr>
          <p:cNvSpPr/>
          <p:nvPr/>
        </p:nvSpPr>
        <p:spPr>
          <a:xfrm rot="10800000" flipV="1">
            <a:off x="6258963" y="2925293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33" name="Google Shape;2232;g331808b2882_0_3053">
            <a:extLst>
              <a:ext uri="{FF2B5EF4-FFF2-40B4-BE49-F238E27FC236}">
                <a16:creationId xmlns:a16="http://schemas.microsoft.com/office/drawing/2014/main" id="{6BB13300-3B4C-1348-04C3-7F530AD647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8930" y="3489108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398D5344-97FB-826B-E312-3BBCDAFA1EC5}"/>
              </a:ext>
            </a:extLst>
          </p:cNvPr>
          <p:cNvGrpSpPr/>
          <p:nvPr/>
        </p:nvGrpSpPr>
        <p:grpSpPr>
          <a:xfrm>
            <a:off x="6517466" y="3153950"/>
            <a:ext cx="402444" cy="402444"/>
            <a:chOff x="8470120" y="4767469"/>
            <a:chExt cx="642856" cy="64285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192CA5D-D380-8B81-CBD1-F532BC37DB64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81A48D7F-4F9F-62AA-B05E-BA7DBBF75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9A6A2C22-F3B8-047A-AF8B-93011039EBB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84498" y="2615423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B5A75110-A141-F740-3ACD-AF2308AB7385}"/>
              </a:ext>
            </a:extLst>
          </p:cNvPr>
          <p:cNvCxnSpPr>
            <a:cxnSpLocks/>
          </p:cNvCxnSpPr>
          <p:nvPr/>
        </p:nvCxnSpPr>
        <p:spPr>
          <a:xfrm rot="5400000">
            <a:off x="6498226" y="2612570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BB1DEAA-CC6B-2093-6088-2BC32A83F8FB}"/>
              </a:ext>
            </a:extLst>
          </p:cNvPr>
          <p:cNvSpPr txBox="1"/>
          <p:nvPr/>
        </p:nvSpPr>
        <p:spPr>
          <a:xfrm>
            <a:off x="6498617" y="2290755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121D867-7B9B-FE93-A385-B72A15FA8619}"/>
              </a:ext>
            </a:extLst>
          </p:cNvPr>
          <p:cNvGrpSpPr/>
          <p:nvPr/>
        </p:nvGrpSpPr>
        <p:grpSpPr>
          <a:xfrm>
            <a:off x="4531023" y="1790254"/>
            <a:ext cx="1154136" cy="511554"/>
            <a:chOff x="10136865" y="1480917"/>
            <a:chExt cx="1154136" cy="51155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74497EC-72B6-74CB-E1F8-DD2DE2C79522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E7098F0-A3CB-458D-016D-49F15C8CA5DE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6" name="Graphic 45">
                <a:extLst>
                  <a:ext uri="{FF2B5EF4-FFF2-40B4-BE49-F238E27FC236}">
                    <a16:creationId xmlns:a16="http://schemas.microsoft.com/office/drawing/2014/main" id="{DBE30F0C-DE79-D340-1225-E4DF6A137C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3BC0966-FCC2-1053-21E9-14BD827DA23F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57F1ABC-52B0-CAE8-64F1-2264D0B991D8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7E4D253A-2DF6-9B58-1CBF-A5DE7AC110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47" name="Google Shape;2227;g331808b2882_0_3053">
            <a:extLst>
              <a:ext uri="{FF2B5EF4-FFF2-40B4-BE49-F238E27FC236}">
                <a16:creationId xmlns:a16="http://schemas.microsoft.com/office/drawing/2014/main" id="{2BCD439C-1220-B1C5-6FFE-CFF71EA2B3F7}"/>
              </a:ext>
            </a:extLst>
          </p:cNvPr>
          <p:cNvSpPr/>
          <p:nvPr/>
        </p:nvSpPr>
        <p:spPr>
          <a:xfrm rot="10800000" flipV="1">
            <a:off x="4639178" y="2921292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48" name="Google Shape;2232;g331808b2882_0_3053">
            <a:extLst>
              <a:ext uri="{FF2B5EF4-FFF2-40B4-BE49-F238E27FC236}">
                <a16:creationId xmlns:a16="http://schemas.microsoft.com/office/drawing/2014/main" id="{969B4676-E01B-506D-0524-94F61D579EC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49145" y="3485107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55425EF9-C765-8CFB-A343-C06499FCC524}"/>
              </a:ext>
            </a:extLst>
          </p:cNvPr>
          <p:cNvGrpSpPr/>
          <p:nvPr/>
        </p:nvGrpSpPr>
        <p:grpSpPr>
          <a:xfrm>
            <a:off x="4897681" y="3149949"/>
            <a:ext cx="402444" cy="402444"/>
            <a:chOff x="8470120" y="4767469"/>
            <a:chExt cx="642856" cy="64285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E98D7D8-4964-EDFD-10DC-1D37D952A4EA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07D25EA2-78B0-5DBE-9799-EF32FB915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35D3B86-C9BB-F668-E828-FD3009B694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64713" y="2611422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E38E3F6F-0BD2-928D-4B46-C4EDCF5E4BBB}"/>
              </a:ext>
            </a:extLst>
          </p:cNvPr>
          <p:cNvCxnSpPr>
            <a:cxnSpLocks/>
          </p:cNvCxnSpPr>
          <p:nvPr/>
        </p:nvCxnSpPr>
        <p:spPr>
          <a:xfrm rot="5400000">
            <a:off x="4878441" y="2608569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1FC36DE-7021-C3D9-DB21-9EB43C7F6239}"/>
              </a:ext>
            </a:extLst>
          </p:cNvPr>
          <p:cNvSpPr txBox="1"/>
          <p:nvPr/>
        </p:nvSpPr>
        <p:spPr>
          <a:xfrm>
            <a:off x="4878832" y="2286754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0479713-86FC-011D-E300-C5D8F4383523}"/>
              </a:ext>
            </a:extLst>
          </p:cNvPr>
          <p:cNvGrpSpPr/>
          <p:nvPr/>
        </p:nvGrpSpPr>
        <p:grpSpPr>
          <a:xfrm>
            <a:off x="2910531" y="1787795"/>
            <a:ext cx="1154136" cy="511554"/>
            <a:chOff x="10136865" y="1480917"/>
            <a:chExt cx="1154136" cy="511554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10F7341-6381-119A-8C8C-4450A5D1C3EB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3567C47-31E2-153F-5E8C-7670A6889A53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61" name="Graphic 60">
                <a:extLst>
                  <a:ext uri="{FF2B5EF4-FFF2-40B4-BE49-F238E27FC236}">
                    <a16:creationId xmlns:a16="http://schemas.microsoft.com/office/drawing/2014/main" id="{DC6F4FFB-1FA3-8137-52FC-CA9423C355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F596A5B-2164-454F-C5AD-33B230CED8A9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7AEB7A48-7057-C48C-52E9-D3ECC4B0F247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5F0B3A73-4AF9-EA30-4360-4ABA49F813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62" name="Google Shape;2227;g331808b2882_0_3053">
            <a:extLst>
              <a:ext uri="{FF2B5EF4-FFF2-40B4-BE49-F238E27FC236}">
                <a16:creationId xmlns:a16="http://schemas.microsoft.com/office/drawing/2014/main" id="{3856D69A-BDF1-6769-E0D8-D5DF5078630F}"/>
              </a:ext>
            </a:extLst>
          </p:cNvPr>
          <p:cNvSpPr/>
          <p:nvPr/>
        </p:nvSpPr>
        <p:spPr>
          <a:xfrm rot="10800000" flipV="1">
            <a:off x="3018686" y="2918833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63" name="Google Shape;2232;g331808b2882_0_3053">
            <a:extLst>
              <a:ext uri="{FF2B5EF4-FFF2-40B4-BE49-F238E27FC236}">
                <a16:creationId xmlns:a16="http://schemas.microsoft.com/office/drawing/2014/main" id="{2F61DE37-086A-1013-7C52-1ACB68E561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28653" y="3482648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6" name="Group 2175">
            <a:extLst>
              <a:ext uri="{FF2B5EF4-FFF2-40B4-BE49-F238E27FC236}">
                <a16:creationId xmlns:a16="http://schemas.microsoft.com/office/drawing/2014/main" id="{81FEA86F-F310-5CC4-5E55-1F325495AC3A}"/>
              </a:ext>
            </a:extLst>
          </p:cNvPr>
          <p:cNvGrpSpPr/>
          <p:nvPr/>
        </p:nvGrpSpPr>
        <p:grpSpPr>
          <a:xfrm>
            <a:off x="3277189" y="3147490"/>
            <a:ext cx="402444" cy="402444"/>
            <a:chOff x="8470120" y="4767469"/>
            <a:chExt cx="642856" cy="642856"/>
          </a:xfrm>
        </p:grpSpPr>
        <p:sp>
          <p:nvSpPr>
            <p:cNvPr id="2177" name="Rectangle 2176">
              <a:extLst>
                <a:ext uri="{FF2B5EF4-FFF2-40B4-BE49-F238E27FC236}">
                  <a16:creationId xmlns:a16="http://schemas.microsoft.com/office/drawing/2014/main" id="{FC0B59CE-2E69-9EA0-30D7-DBA53E4B307C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178" name="Graphic 2177">
              <a:extLst>
                <a:ext uri="{FF2B5EF4-FFF2-40B4-BE49-F238E27FC236}">
                  <a16:creationId xmlns:a16="http://schemas.microsoft.com/office/drawing/2014/main" id="{E326D999-45C6-C8D0-36AC-58E6F491E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2179" name="Elbow Connector 2178">
            <a:extLst>
              <a:ext uri="{FF2B5EF4-FFF2-40B4-BE49-F238E27FC236}">
                <a16:creationId xmlns:a16="http://schemas.microsoft.com/office/drawing/2014/main" id="{64AB4BA0-7D24-FD1F-D755-22E0DF50741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44221" y="2608963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0" name="Elbow Connector 2179">
            <a:extLst>
              <a:ext uri="{FF2B5EF4-FFF2-40B4-BE49-F238E27FC236}">
                <a16:creationId xmlns:a16="http://schemas.microsoft.com/office/drawing/2014/main" id="{D0BAF4A3-0CCA-B0F2-2892-3DFE51340E5C}"/>
              </a:ext>
            </a:extLst>
          </p:cNvPr>
          <p:cNvCxnSpPr>
            <a:cxnSpLocks/>
          </p:cNvCxnSpPr>
          <p:nvPr/>
        </p:nvCxnSpPr>
        <p:spPr>
          <a:xfrm rot="5400000">
            <a:off x="3257949" y="2606110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1" name="TextBox 2180">
            <a:extLst>
              <a:ext uri="{FF2B5EF4-FFF2-40B4-BE49-F238E27FC236}">
                <a16:creationId xmlns:a16="http://schemas.microsoft.com/office/drawing/2014/main" id="{3011A931-BA82-197D-3CA3-3CFFB85A8DBA}"/>
              </a:ext>
            </a:extLst>
          </p:cNvPr>
          <p:cNvSpPr txBox="1"/>
          <p:nvPr/>
        </p:nvSpPr>
        <p:spPr>
          <a:xfrm>
            <a:off x="3258340" y="2284295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sp>
        <p:nvSpPr>
          <p:cNvPr id="2182" name="Google Shape;2227;g331808b2882_0_3053">
            <a:extLst>
              <a:ext uri="{FF2B5EF4-FFF2-40B4-BE49-F238E27FC236}">
                <a16:creationId xmlns:a16="http://schemas.microsoft.com/office/drawing/2014/main" id="{597EC8BB-B5DF-1FB9-79C7-C63B3D995922}"/>
              </a:ext>
            </a:extLst>
          </p:cNvPr>
          <p:cNvSpPr/>
          <p:nvPr/>
        </p:nvSpPr>
        <p:spPr>
          <a:xfrm rot="10800000" flipV="1">
            <a:off x="2951185" y="3037835"/>
            <a:ext cx="5948023" cy="607992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00B0F0"/>
                </a:solidFill>
                <a:latin typeface="Metropolis" pitchFamily="2" charset="77"/>
                <a:sym typeface="Arial"/>
              </a:rPr>
              <a:t>NSX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00B0F0"/>
                </a:solidFill>
                <a:latin typeface="Metropolis" pitchFamily="2" charset="77"/>
                <a:sym typeface="Arial"/>
              </a:rPr>
              <a:t>Edge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00B0F0"/>
                </a:solidFill>
                <a:latin typeface="Metropolis" pitchFamily="2" charset="77"/>
                <a:sym typeface="Arial"/>
              </a:rPr>
              <a:t>Cluster</a:t>
            </a: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83" name="Rectangle 2182">
            <a:extLst>
              <a:ext uri="{FF2B5EF4-FFF2-40B4-BE49-F238E27FC236}">
                <a16:creationId xmlns:a16="http://schemas.microsoft.com/office/drawing/2014/main" id="{B56EA43E-E73D-12CB-28CA-31FA8B0599F0}"/>
              </a:ext>
            </a:extLst>
          </p:cNvPr>
          <p:cNvSpPr/>
          <p:nvPr/>
        </p:nvSpPr>
        <p:spPr>
          <a:xfrm>
            <a:off x="2672424" y="1472054"/>
            <a:ext cx="6495289" cy="15755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cxnSp>
        <p:nvCxnSpPr>
          <p:cNvPr id="2184" name="Straight Connector 2183">
            <a:extLst>
              <a:ext uri="{FF2B5EF4-FFF2-40B4-BE49-F238E27FC236}">
                <a16:creationId xmlns:a16="http://schemas.microsoft.com/office/drawing/2014/main" id="{60B76538-6034-8281-F8B0-465E52D28BBE}"/>
              </a:ext>
            </a:extLst>
          </p:cNvPr>
          <p:cNvCxnSpPr>
            <a:cxnSpLocks/>
          </p:cNvCxnSpPr>
          <p:nvPr/>
        </p:nvCxnSpPr>
        <p:spPr>
          <a:xfrm>
            <a:off x="2672424" y="1627292"/>
            <a:ext cx="0" cy="3592658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5" name="Straight Connector 2184">
            <a:extLst>
              <a:ext uri="{FF2B5EF4-FFF2-40B4-BE49-F238E27FC236}">
                <a16:creationId xmlns:a16="http://schemas.microsoft.com/office/drawing/2014/main" id="{106CE21B-F5DA-DD9B-50DA-445439F13E09}"/>
              </a:ext>
            </a:extLst>
          </p:cNvPr>
          <p:cNvCxnSpPr>
            <a:cxnSpLocks/>
          </p:cNvCxnSpPr>
          <p:nvPr/>
        </p:nvCxnSpPr>
        <p:spPr>
          <a:xfrm flipH="1">
            <a:off x="2678317" y="5219950"/>
            <a:ext cx="6489396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6" name="Straight Connector 2185">
            <a:extLst>
              <a:ext uri="{FF2B5EF4-FFF2-40B4-BE49-F238E27FC236}">
                <a16:creationId xmlns:a16="http://schemas.microsoft.com/office/drawing/2014/main" id="{9B2658D8-62D3-FEC9-23C2-2148D1C01D02}"/>
              </a:ext>
            </a:extLst>
          </p:cNvPr>
          <p:cNvCxnSpPr>
            <a:cxnSpLocks/>
          </p:cNvCxnSpPr>
          <p:nvPr/>
        </p:nvCxnSpPr>
        <p:spPr>
          <a:xfrm>
            <a:off x="9167713" y="1627292"/>
            <a:ext cx="0" cy="3592658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35c6e7e29b5_0_44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4000">
                <a:solidFill>
                  <a:srgbClr val="005C8A"/>
                </a:solidFill>
              </a:rPr>
              <a:t>NSX Edge Cluster Models </a:t>
            </a:r>
            <a:endParaRPr/>
          </a:p>
        </p:txBody>
      </p:sp>
      <p:sp>
        <p:nvSpPr>
          <p:cNvPr id="2203" name="Google Shape;2203;g35c6e7e29b5_0_4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/>
              <a:t>Dual Availability Zones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Rectangle 2255">
            <a:extLst>
              <a:ext uri="{FF2B5EF4-FFF2-40B4-BE49-F238E27FC236}">
                <a16:creationId xmlns:a16="http://schemas.microsoft.com/office/drawing/2014/main" id="{2D634F26-36EF-5C6D-5242-8BF43930F6EC}"/>
              </a:ext>
            </a:extLst>
          </p:cNvPr>
          <p:cNvSpPr/>
          <p:nvPr/>
        </p:nvSpPr>
        <p:spPr>
          <a:xfrm>
            <a:off x="6161568" y="1053298"/>
            <a:ext cx="4521863" cy="549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8" name="Google Shape;2208;g35c6e7e29b5_0_2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sz="2000" dirty="0"/>
              <a:t>Dual Availability Zone Design based on NSX Edge Node HA - Dedicated vSphere Cluster v1.0</a:t>
            </a:r>
            <a:endParaRPr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66EF82-2924-816A-CCE3-6E6C93B76990}"/>
              </a:ext>
            </a:extLst>
          </p:cNvPr>
          <p:cNvCxnSpPr>
            <a:cxnSpLocks/>
          </p:cNvCxnSpPr>
          <p:nvPr/>
        </p:nvCxnSpPr>
        <p:spPr>
          <a:xfrm>
            <a:off x="8855237" y="1331777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2227;g331808b2882_0_3053">
            <a:extLst>
              <a:ext uri="{FF2B5EF4-FFF2-40B4-BE49-F238E27FC236}">
                <a16:creationId xmlns:a16="http://schemas.microsoft.com/office/drawing/2014/main" id="{69436831-A0A9-6B17-DFAC-C6D4A9CA6481}"/>
              </a:ext>
            </a:extLst>
          </p:cNvPr>
          <p:cNvSpPr/>
          <p:nvPr/>
        </p:nvSpPr>
        <p:spPr>
          <a:xfrm rot="10800000" flipV="1">
            <a:off x="6304974" y="1420084"/>
            <a:ext cx="1574136" cy="491730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 – AZ1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BB167-5592-FB81-A4AF-28CD1B9DD9EE}"/>
              </a:ext>
            </a:extLst>
          </p:cNvPr>
          <p:cNvCxnSpPr>
            <a:cxnSpLocks/>
          </p:cNvCxnSpPr>
          <p:nvPr/>
        </p:nvCxnSpPr>
        <p:spPr>
          <a:xfrm>
            <a:off x="6221850" y="1327064"/>
            <a:ext cx="0" cy="5101554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B8AD224-4866-2B11-6790-C70306C93381}"/>
              </a:ext>
            </a:extLst>
          </p:cNvPr>
          <p:cNvSpPr/>
          <p:nvPr/>
        </p:nvSpPr>
        <p:spPr>
          <a:xfrm>
            <a:off x="6221851" y="1159560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Availability Zone 1</a:t>
            </a:r>
          </a:p>
        </p:txBody>
      </p:sp>
      <p:sp>
        <p:nvSpPr>
          <p:cNvPr id="6" name="Google Shape;2227;g331808b2882_0_3053">
            <a:extLst>
              <a:ext uri="{FF2B5EF4-FFF2-40B4-BE49-F238E27FC236}">
                <a16:creationId xmlns:a16="http://schemas.microsoft.com/office/drawing/2014/main" id="{65C4B39A-5002-5510-2895-6521D3CD9DEA}"/>
              </a:ext>
            </a:extLst>
          </p:cNvPr>
          <p:cNvSpPr/>
          <p:nvPr/>
        </p:nvSpPr>
        <p:spPr>
          <a:xfrm>
            <a:off x="6445263" y="2358190"/>
            <a:ext cx="1301129" cy="37677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2 vSphere Cluster 01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E673FF-DF36-9E59-5962-6692BACE2346}"/>
              </a:ext>
            </a:extLst>
          </p:cNvPr>
          <p:cNvGrpSpPr/>
          <p:nvPr/>
        </p:nvGrpSpPr>
        <p:grpSpPr>
          <a:xfrm>
            <a:off x="6509074" y="1481698"/>
            <a:ext cx="1154136" cy="511554"/>
            <a:chOff x="10136865" y="1480917"/>
            <a:chExt cx="1154136" cy="5115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AE17EBD-B0EB-1D54-D501-50769CAEA24D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37438AD-C28B-CD5C-A56B-F6AA95167CC9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674DE7E0-5C47-F497-24B5-19AEBA12AC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8AFF0A3-22A3-91EA-F9DF-E49BBD57C604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DEE5B4F-8376-BDA9-EDC6-C454B6D58AF1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3455B575-63E6-7814-820E-1C4F47B74C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4" name="Google Shape;2227;g331808b2882_0_3053">
            <a:extLst>
              <a:ext uri="{FF2B5EF4-FFF2-40B4-BE49-F238E27FC236}">
                <a16:creationId xmlns:a16="http://schemas.microsoft.com/office/drawing/2014/main" id="{55AAEC28-6FC9-9DEE-CB09-F6D148023D33}"/>
              </a:ext>
            </a:extLst>
          </p:cNvPr>
          <p:cNvSpPr/>
          <p:nvPr/>
        </p:nvSpPr>
        <p:spPr>
          <a:xfrm rot="10800000" flipV="1">
            <a:off x="6727720" y="2488457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15" name="Google Shape;2232;g331808b2882_0_3053">
            <a:extLst>
              <a:ext uri="{FF2B5EF4-FFF2-40B4-BE49-F238E27FC236}">
                <a16:creationId xmlns:a16="http://schemas.microsoft.com/office/drawing/2014/main" id="{FFF5A601-72B8-3B51-074B-0A87F678913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3865" y="2755451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26157D3-3306-BAD7-85E9-A7CBF90B10BC}"/>
              </a:ext>
            </a:extLst>
          </p:cNvPr>
          <p:cNvGrpSpPr/>
          <p:nvPr/>
        </p:nvGrpSpPr>
        <p:grpSpPr>
          <a:xfrm>
            <a:off x="6897521" y="2600322"/>
            <a:ext cx="402444" cy="402444"/>
            <a:chOff x="8470120" y="4767469"/>
            <a:chExt cx="642856" cy="6428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5E0D25-DB95-0DC0-2A4D-64C56DDABA13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492D7A9-18BA-E8EB-C496-344AB02A8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A40E327-A48F-07BD-E718-73D922A09F9F}"/>
              </a:ext>
            </a:extLst>
          </p:cNvPr>
          <p:cNvSpPr txBox="1"/>
          <p:nvPr/>
        </p:nvSpPr>
        <p:spPr>
          <a:xfrm>
            <a:off x="6865630" y="1957615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0533A643-1C0F-DC8C-85B2-4023A68AB4DE}"/>
              </a:ext>
            </a:extLst>
          </p:cNvPr>
          <p:cNvCxnSpPr>
            <a:cxnSpLocks/>
          </p:cNvCxnSpPr>
          <p:nvPr/>
        </p:nvCxnSpPr>
        <p:spPr>
          <a:xfrm rot="5400000">
            <a:off x="6923392" y="2222258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41DEACE-44C2-56E2-8A43-AC4D7C8279C2}"/>
              </a:ext>
            </a:extLst>
          </p:cNvPr>
          <p:cNvGrpSpPr/>
          <p:nvPr/>
        </p:nvGrpSpPr>
        <p:grpSpPr>
          <a:xfrm>
            <a:off x="6727720" y="4535668"/>
            <a:ext cx="756262" cy="699516"/>
            <a:chOff x="5259935" y="4427358"/>
            <a:chExt cx="756262" cy="699516"/>
          </a:xfrm>
        </p:grpSpPr>
        <p:sp>
          <p:nvSpPr>
            <p:cNvPr id="22" name="Google Shape;2227;g331808b2882_0_3053">
              <a:extLst>
                <a:ext uri="{FF2B5EF4-FFF2-40B4-BE49-F238E27FC236}">
                  <a16:creationId xmlns:a16="http://schemas.microsoft.com/office/drawing/2014/main" id="{E2EFA6A8-2A37-8B4E-5FFE-C63B18CFE202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23" name="Google Shape;2232;g331808b2882_0_3053">
              <a:extLst>
                <a:ext uri="{FF2B5EF4-FFF2-40B4-BE49-F238E27FC236}">
                  <a16:creationId xmlns:a16="http://schemas.microsoft.com/office/drawing/2014/main" id="{043CCCBA-D080-9A9A-51EF-7773E06364B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F8C7405A-5169-0087-3B7A-1F26850F4D4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18131" y="2227127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2227;g331808b2882_0_3053">
            <a:extLst>
              <a:ext uri="{FF2B5EF4-FFF2-40B4-BE49-F238E27FC236}">
                <a16:creationId xmlns:a16="http://schemas.microsoft.com/office/drawing/2014/main" id="{50E90059-3517-E2C6-020C-2BBEFE2162AB}"/>
              </a:ext>
            </a:extLst>
          </p:cNvPr>
          <p:cNvSpPr/>
          <p:nvPr/>
        </p:nvSpPr>
        <p:spPr>
          <a:xfrm rot="10800000" flipV="1">
            <a:off x="6730623" y="3656421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26" name="Google Shape;2232;g331808b2882_0_3053">
            <a:extLst>
              <a:ext uri="{FF2B5EF4-FFF2-40B4-BE49-F238E27FC236}">
                <a16:creationId xmlns:a16="http://schemas.microsoft.com/office/drawing/2014/main" id="{13891E62-C5A2-6134-213F-32DCC071756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1888" y="3933321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7FFAFE70-A34A-5A91-B625-648A459785C8}"/>
              </a:ext>
            </a:extLst>
          </p:cNvPr>
          <p:cNvGrpSpPr/>
          <p:nvPr/>
        </p:nvGrpSpPr>
        <p:grpSpPr>
          <a:xfrm>
            <a:off x="6900424" y="3768286"/>
            <a:ext cx="402444" cy="402444"/>
            <a:chOff x="8470120" y="4767469"/>
            <a:chExt cx="642856" cy="64285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2DB9FD9-FD5D-85B9-66B1-CB1E85693752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1DFCA3F2-C35B-2D8D-97A8-D06F5A825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57678D42-9500-CF57-87F9-FEB768A82E48}"/>
              </a:ext>
            </a:extLst>
          </p:cNvPr>
          <p:cNvCxnSpPr>
            <a:cxnSpLocks/>
          </p:cNvCxnSpPr>
          <p:nvPr/>
        </p:nvCxnSpPr>
        <p:spPr>
          <a:xfrm rot="5400000">
            <a:off x="6466782" y="2708834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116B8093-88CF-DB94-E1ED-8DBFF6F7C51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8264" y="2712019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52A0CF2-91AE-05E2-CAAD-E38A3EDAF8B6}"/>
              </a:ext>
            </a:extLst>
          </p:cNvPr>
          <p:cNvGrpSpPr/>
          <p:nvPr/>
        </p:nvGrpSpPr>
        <p:grpSpPr>
          <a:xfrm>
            <a:off x="6727720" y="5032284"/>
            <a:ext cx="756262" cy="699516"/>
            <a:chOff x="5259935" y="4427358"/>
            <a:chExt cx="756262" cy="699516"/>
          </a:xfrm>
        </p:grpSpPr>
        <p:sp>
          <p:nvSpPr>
            <p:cNvPr id="33" name="Google Shape;2227;g331808b2882_0_3053">
              <a:extLst>
                <a:ext uri="{FF2B5EF4-FFF2-40B4-BE49-F238E27FC236}">
                  <a16:creationId xmlns:a16="http://schemas.microsoft.com/office/drawing/2014/main" id="{89DA1745-54BA-3EFA-B553-FAF0E59790E1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34" name="Google Shape;2232;g331808b2882_0_3053">
              <a:extLst>
                <a:ext uri="{FF2B5EF4-FFF2-40B4-BE49-F238E27FC236}">
                  <a16:creationId xmlns:a16="http://schemas.microsoft.com/office/drawing/2014/main" id="{5D3E2CF4-80C0-7039-48DF-564CDA4E027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B2C8A6C-0583-5C86-ED2C-C96BAA1C1B91}"/>
              </a:ext>
            </a:extLst>
          </p:cNvPr>
          <p:cNvCxnSpPr>
            <a:cxnSpLocks/>
          </p:cNvCxnSpPr>
          <p:nvPr/>
        </p:nvCxnSpPr>
        <p:spPr>
          <a:xfrm>
            <a:off x="10606182" y="1336128"/>
            <a:ext cx="7736" cy="510912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2227;g331808b2882_0_3053">
            <a:extLst>
              <a:ext uri="{FF2B5EF4-FFF2-40B4-BE49-F238E27FC236}">
                <a16:creationId xmlns:a16="http://schemas.microsoft.com/office/drawing/2014/main" id="{D6F04B3C-BB3E-7947-40D8-7612D32F3506}"/>
              </a:ext>
            </a:extLst>
          </p:cNvPr>
          <p:cNvSpPr/>
          <p:nvPr/>
        </p:nvSpPr>
        <p:spPr>
          <a:xfrm rot="10800000" flipV="1">
            <a:off x="8949759" y="1419721"/>
            <a:ext cx="1574136" cy="4917307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 – AZ2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2256D0-B125-BF9C-3FA0-93D75CB73D44}"/>
              </a:ext>
            </a:extLst>
          </p:cNvPr>
          <p:cNvSpPr/>
          <p:nvPr/>
        </p:nvSpPr>
        <p:spPr>
          <a:xfrm>
            <a:off x="8855199" y="1159198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Availability Zone 2</a:t>
            </a:r>
          </a:p>
        </p:txBody>
      </p:sp>
      <p:sp>
        <p:nvSpPr>
          <p:cNvPr id="38" name="Google Shape;2227;g331808b2882_0_3053">
            <a:extLst>
              <a:ext uri="{FF2B5EF4-FFF2-40B4-BE49-F238E27FC236}">
                <a16:creationId xmlns:a16="http://schemas.microsoft.com/office/drawing/2014/main" id="{B06A5102-BE31-54AB-093E-1997C207ADF1}"/>
              </a:ext>
            </a:extLst>
          </p:cNvPr>
          <p:cNvSpPr/>
          <p:nvPr/>
        </p:nvSpPr>
        <p:spPr>
          <a:xfrm>
            <a:off x="9090048" y="2357828"/>
            <a:ext cx="1301129" cy="376808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2 vSphere Cluster 02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5E3F2BA-2209-555D-64C1-23C3689E5140}"/>
              </a:ext>
            </a:extLst>
          </p:cNvPr>
          <p:cNvGrpSpPr/>
          <p:nvPr/>
        </p:nvGrpSpPr>
        <p:grpSpPr>
          <a:xfrm>
            <a:off x="9153859" y="1481336"/>
            <a:ext cx="1154136" cy="511554"/>
            <a:chOff x="10136865" y="1480917"/>
            <a:chExt cx="1154136" cy="51155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D1B8A12-EE06-EA24-187E-E675B9F09AE6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9470255-4434-F184-A62A-1332C1FB192D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5" name="Graphic 44">
                <a:extLst>
                  <a:ext uri="{FF2B5EF4-FFF2-40B4-BE49-F238E27FC236}">
                    <a16:creationId xmlns:a16="http://schemas.microsoft.com/office/drawing/2014/main" id="{163376C2-21B9-87A4-BFAA-5BACAE8E6F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BBBDCB3-DDF1-4443-1305-C3B52921D100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DF3CDB6-B517-03E4-2BE6-403A276A4AA8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CDC8B112-A8BB-4DCC-FE8E-5C323EEDF6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46" name="Google Shape;2227;g331808b2882_0_3053">
            <a:extLst>
              <a:ext uri="{FF2B5EF4-FFF2-40B4-BE49-F238E27FC236}">
                <a16:creationId xmlns:a16="http://schemas.microsoft.com/office/drawing/2014/main" id="{E91BAA41-879E-88FD-54DC-A3DEBC54A228}"/>
              </a:ext>
            </a:extLst>
          </p:cNvPr>
          <p:cNvSpPr/>
          <p:nvPr/>
        </p:nvSpPr>
        <p:spPr>
          <a:xfrm rot="10800000" flipV="1">
            <a:off x="9372505" y="2488095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47" name="Google Shape;2232;g331808b2882_0_3053">
            <a:extLst>
              <a:ext uri="{FF2B5EF4-FFF2-40B4-BE49-F238E27FC236}">
                <a16:creationId xmlns:a16="http://schemas.microsoft.com/office/drawing/2014/main" id="{0876D0AE-77CA-C3DD-C1FF-12E79B7C75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08650" y="2755089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F3E2B20B-3103-2FAD-5369-9CF934F9C568}"/>
              </a:ext>
            </a:extLst>
          </p:cNvPr>
          <p:cNvGrpSpPr/>
          <p:nvPr/>
        </p:nvGrpSpPr>
        <p:grpSpPr>
          <a:xfrm>
            <a:off x="9542306" y="2599960"/>
            <a:ext cx="402444" cy="402444"/>
            <a:chOff x="8470120" y="4767469"/>
            <a:chExt cx="642856" cy="64285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7FD9637-EDB5-5C00-0AA2-2FA38666C44E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7ACEFE1D-B1B4-D449-A9CC-F840611B9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6AB7A11-1B94-3788-409A-87C81338A5C4}"/>
              </a:ext>
            </a:extLst>
          </p:cNvPr>
          <p:cNvSpPr txBox="1"/>
          <p:nvPr/>
        </p:nvSpPr>
        <p:spPr>
          <a:xfrm>
            <a:off x="9510415" y="1957253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A8D4D9DF-15FE-5D78-5464-F1ED8F4714E2}"/>
              </a:ext>
            </a:extLst>
          </p:cNvPr>
          <p:cNvCxnSpPr>
            <a:cxnSpLocks/>
          </p:cNvCxnSpPr>
          <p:nvPr/>
        </p:nvCxnSpPr>
        <p:spPr>
          <a:xfrm rot="5400000">
            <a:off x="9568177" y="2221896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8B7A536-B468-CF39-6AF6-A6680E410228}"/>
              </a:ext>
            </a:extLst>
          </p:cNvPr>
          <p:cNvGrpSpPr/>
          <p:nvPr/>
        </p:nvGrpSpPr>
        <p:grpSpPr>
          <a:xfrm>
            <a:off x="9372505" y="4535306"/>
            <a:ext cx="756262" cy="699516"/>
            <a:chOff x="5259935" y="4427358"/>
            <a:chExt cx="756262" cy="699516"/>
          </a:xfrm>
        </p:grpSpPr>
        <p:sp>
          <p:nvSpPr>
            <p:cNvPr id="54" name="Google Shape;2227;g331808b2882_0_3053">
              <a:extLst>
                <a:ext uri="{FF2B5EF4-FFF2-40B4-BE49-F238E27FC236}">
                  <a16:creationId xmlns:a16="http://schemas.microsoft.com/office/drawing/2014/main" id="{4EF6D034-3BF7-8CE0-A5B5-FC0F8F4C192C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55" name="Google Shape;2232;g331808b2882_0_3053">
              <a:extLst>
                <a:ext uri="{FF2B5EF4-FFF2-40B4-BE49-F238E27FC236}">
                  <a16:creationId xmlns:a16="http://schemas.microsoft.com/office/drawing/2014/main" id="{45772BFC-40D7-68AA-B935-C09BB0597FD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45136719-806A-A48D-9FB4-6EBC8941D0FB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62916" y="2226765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Google Shape;2227;g331808b2882_0_3053">
            <a:extLst>
              <a:ext uri="{FF2B5EF4-FFF2-40B4-BE49-F238E27FC236}">
                <a16:creationId xmlns:a16="http://schemas.microsoft.com/office/drawing/2014/main" id="{1ACDDB88-7A72-5F9D-163C-064ECF3717AB}"/>
              </a:ext>
            </a:extLst>
          </p:cNvPr>
          <p:cNvSpPr/>
          <p:nvPr/>
        </p:nvSpPr>
        <p:spPr>
          <a:xfrm rot="10800000" flipV="1">
            <a:off x="9375408" y="3656059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58" name="Google Shape;2232;g331808b2882_0_3053">
            <a:extLst>
              <a:ext uri="{FF2B5EF4-FFF2-40B4-BE49-F238E27FC236}">
                <a16:creationId xmlns:a16="http://schemas.microsoft.com/office/drawing/2014/main" id="{FE73AC8E-B668-A720-0E3A-171184D4F02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96673" y="3932959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AFBB396D-2842-9CAF-4384-F496F08DFA5D}"/>
              </a:ext>
            </a:extLst>
          </p:cNvPr>
          <p:cNvGrpSpPr/>
          <p:nvPr/>
        </p:nvGrpSpPr>
        <p:grpSpPr>
          <a:xfrm>
            <a:off x="9545209" y="3767924"/>
            <a:ext cx="402444" cy="402444"/>
            <a:chOff x="8470120" y="4767469"/>
            <a:chExt cx="642856" cy="64285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4E98B4F-609A-9FFB-E338-5D5124204F27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2DEE696E-1C6C-8D6D-7A73-D06F660E7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6CB8A12B-010D-7FF6-1B29-9DA025315371}"/>
              </a:ext>
            </a:extLst>
          </p:cNvPr>
          <p:cNvCxnSpPr>
            <a:cxnSpLocks/>
          </p:cNvCxnSpPr>
          <p:nvPr/>
        </p:nvCxnSpPr>
        <p:spPr>
          <a:xfrm rot="5400000">
            <a:off x="9111567" y="2708472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EBD1E54A-D826-1065-32C8-38D3D697D8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73049" y="2711657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6" name="Google Shape;2227;g331808b2882_0_3053">
            <a:extLst>
              <a:ext uri="{FF2B5EF4-FFF2-40B4-BE49-F238E27FC236}">
                <a16:creationId xmlns:a16="http://schemas.microsoft.com/office/drawing/2014/main" id="{B6F354B4-396A-DCB7-2E2B-128154B485B4}"/>
              </a:ext>
            </a:extLst>
          </p:cNvPr>
          <p:cNvSpPr/>
          <p:nvPr/>
        </p:nvSpPr>
        <p:spPr>
          <a:xfrm rot="10800000" flipV="1">
            <a:off x="6530944" y="2421503"/>
            <a:ext cx="3778407" cy="2294108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177" name="Straight Connector 2176">
            <a:extLst>
              <a:ext uri="{FF2B5EF4-FFF2-40B4-BE49-F238E27FC236}">
                <a16:creationId xmlns:a16="http://schemas.microsoft.com/office/drawing/2014/main" id="{7E1BA51D-13A6-996D-5656-8CB27BE0F839}"/>
              </a:ext>
            </a:extLst>
          </p:cNvPr>
          <p:cNvCxnSpPr>
            <a:cxnSpLocks/>
          </p:cNvCxnSpPr>
          <p:nvPr/>
        </p:nvCxnSpPr>
        <p:spPr>
          <a:xfrm flipH="1">
            <a:off x="6221850" y="6428618"/>
            <a:ext cx="1743974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8" name="Group 2177">
            <a:extLst>
              <a:ext uri="{FF2B5EF4-FFF2-40B4-BE49-F238E27FC236}">
                <a16:creationId xmlns:a16="http://schemas.microsoft.com/office/drawing/2014/main" id="{0D8A077D-7DF4-12C3-4E69-B2FA24561094}"/>
              </a:ext>
            </a:extLst>
          </p:cNvPr>
          <p:cNvGrpSpPr/>
          <p:nvPr/>
        </p:nvGrpSpPr>
        <p:grpSpPr>
          <a:xfrm>
            <a:off x="9372505" y="5031922"/>
            <a:ext cx="756262" cy="699516"/>
            <a:chOff x="5259935" y="4427358"/>
            <a:chExt cx="756262" cy="699516"/>
          </a:xfrm>
        </p:grpSpPr>
        <p:sp>
          <p:nvSpPr>
            <p:cNvPr id="2179" name="Google Shape;2227;g331808b2882_0_3053">
              <a:extLst>
                <a:ext uri="{FF2B5EF4-FFF2-40B4-BE49-F238E27FC236}">
                  <a16:creationId xmlns:a16="http://schemas.microsoft.com/office/drawing/2014/main" id="{77C6C6BC-CD5D-BBB0-984D-3CD1FA20C4F1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2180" name="Google Shape;2232;g331808b2882_0_3053">
              <a:extLst>
                <a:ext uri="{FF2B5EF4-FFF2-40B4-BE49-F238E27FC236}">
                  <a16:creationId xmlns:a16="http://schemas.microsoft.com/office/drawing/2014/main" id="{822EBF5E-8AE2-2A48-A347-0203D518EEA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81" name="Straight Connector 2180">
            <a:extLst>
              <a:ext uri="{FF2B5EF4-FFF2-40B4-BE49-F238E27FC236}">
                <a16:creationId xmlns:a16="http://schemas.microsoft.com/office/drawing/2014/main" id="{16F872B3-4081-2DCF-43BF-391378DDABAD}"/>
              </a:ext>
            </a:extLst>
          </p:cNvPr>
          <p:cNvCxnSpPr>
            <a:cxnSpLocks/>
          </p:cNvCxnSpPr>
          <p:nvPr/>
        </p:nvCxnSpPr>
        <p:spPr>
          <a:xfrm>
            <a:off x="7965824" y="1334277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2" name="Rectangle 2181">
            <a:extLst>
              <a:ext uri="{FF2B5EF4-FFF2-40B4-BE49-F238E27FC236}">
                <a16:creationId xmlns:a16="http://schemas.microsoft.com/office/drawing/2014/main" id="{5F852FE1-CADC-FE42-66DC-CD26E14A2DAB}"/>
              </a:ext>
            </a:extLst>
          </p:cNvPr>
          <p:cNvSpPr/>
          <p:nvPr/>
        </p:nvSpPr>
        <p:spPr>
          <a:xfrm>
            <a:off x="8141154" y="4087177"/>
            <a:ext cx="538715" cy="45776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NSX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Edge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Cluster</a:t>
            </a:r>
            <a:endParaRPr lang="en-GB" sz="800" dirty="0">
              <a:solidFill>
                <a:srgbClr val="00B0F0"/>
              </a:solidFill>
              <a:latin typeface="Metropolis" pitchFamily="2" charset="77"/>
              <a:cs typeface="Arial"/>
            </a:endParaRPr>
          </a:p>
        </p:txBody>
      </p:sp>
      <p:cxnSp>
        <p:nvCxnSpPr>
          <p:cNvPr id="2183" name="Straight Connector 2182">
            <a:extLst>
              <a:ext uri="{FF2B5EF4-FFF2-40B4-BE49-F238E27FC236}">
                <a16:creationId xmlns:a16="http://schemas.microsoft.com/office/drawing/2014/main" id="{5CF1612A-6811-736C-09AA-A26037D61448}"/>
              </a:ext>
            </a:extLst>
          </p:cNvPr>
          <p:cNvCxnSpPr>
            <a:cxnSpLocks/>
          </p:cNvCxnSpPr>
          <p:nvPr/>
        </p:nvCxnSpPr>
        <p:spPr>
          <a:xfrm flipH="1">
            <a:off x="8869944" y="6430119"/>
            <a:ext cx="1743974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Rectangle 2182">
            <a:extLst>
              <a:ext uri="{FF2B5EF4-FFF2-40B4-BE49-F238E27FC236}">
                <a16:creationId xmlns:a16="http://schemas.microsoft.com/office/drawing/2014/main" id="{E568EC6C-53E8-B6F7-CC4A-EE091872A080}"/>
              </a:ext>
            </a:extLst>
          </p:cNvPr>
          <p:cNvSpPr/>
          <p:nvPr/>
        </p:nvSpPr>
        <p:spPr>
          <a:xfrm>
            <a:off x="6485660" y="914398"/>
            <a:ext cx="4521863" cy="549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4" name="Google Shape;2214;g35c6e7e29b5_0_6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sz="2000" dirty="0"/>
              <a:t>Dual Availability Zone Design based on NSX Edge Node HA - Stretched vSAN Cluster v1.0</a:t>
            </a:r>
            <a:endParaRPr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25C48F5-197E-1D52-0A45-E2199AE23E28}"/>
              </a:ext>
            </a:extLst>
          </p:cNvPr>
          <p:cNvCxnSpPr>
            <a:cxnSpLocks/>
          </p:cNvCxnSpPr>
          <p:nvPr/>
        </p:nvCxnSpPr>
        <p:spPr>
          <a:xfrm>
            <a:off x="8296212" y="1177261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538759-D5B3-AD5B-26A3-90D6DD212B4E}"/>
              </a:ext>
            </a:extLst>
          </p:cNvPr>
          <p:cNvCxnSpPr>
            <a:cxnSpLocks/>
          </p:cNvCxnSpPr>
          <p:nvPr/>
        </p:nvCxnSpPr>
        <p:spPr>
          <a:xfrm>
            <a:off x="9185625" y="1174761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8A00D8-1D1D-8AC1-8A48-10CAE85286F7}"/>
              </a:ext>
            </a:extLst>
          </p:cNvPr>
          <p:cNvCxnSpPr>
            <a:cxnSpLocks/>
          </p:cNvCxnSpPr>
          <p:nvPr/>
        </p:nvCxnSpPr>
        <p:spPr>
          <a:xfrm flipH="1">
            <a:off x="10929993" y="1179112"/>
            <a:ext cx="6577" cy="509249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2227;g331808b2882_0_3053">
            <a:extLst>
              <a:ext uri="{FF2B5EF4-FFF2-40B4-BE49-F238E27FC236}">
                <a16:creationId xmlns:a16="http://schemas.microsoft.com/office/drawing/2014/main" id="{F4261FD1-7566-651C-C32D-63F33AF259FE}"/>
              </a:ext>
            </a:extLst>
          </p:cNvPr>
          <p:cNvSpPr/>
          <p:nvPr/>
        </p:nvSpPr>
        <p:spPr>
          <a:xfrm rot="10800000" flipV="1">
            <a:off x="9280147" y="1262705"/>
            <a:ext cx="1574136" cy="4917307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 – AZ2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25CE3-9411-9575-CD18-E26BB5D204A2}"/>
              </a:ext>
            </a:extLst>
          </p:cNvPr>
          <p:cNvSpPr/>
          <p:nvPr/>
        </p:nvSpPr>
        <p:spPr>
          <a:xfrm>
            <a:off x="9185587" y="1002182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Availability Zone 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5E1BBBE-C408-8363-0025-BF14F81E4D8F}"/>
              </a:ext>
            </a:extLst>
          </p:cNvPr>
          <p:cNvGrpSpPr/>
          <p:nvPr/>
        </p:nvGrpSpPr>
        <p:grpSpPr>
          <a:xfrm>
            <a:off x="9484247" y="1324320"/>
            <a:ext cx="1154136" cy="511554"/>
            <a:chOff x="10136865" y="1480917"/>
            <a:chExt cx="1154136" cy="5115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881613A-CE23-C3B1-36AC-D3C6BC89BBFE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7144FC1-458B-13E1-31B4-245CCA0E3BDE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F4707581-88FB-C03F-6C24-38FCF7D931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04C3AF2-697C-9F5F-03AB-9D463E073AEC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E22125-BBA3-2357-EF94-EC89E3BE086B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A24A3C72-15BB-EC9D-4E34-A68D566F64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4" name="Google Shape;2227;g331808b2882_0_3053">
            <a:extLst>
              <a:ext uri="{FF2B5EF4-FFF2-40B4-BE49-F238E27FC236}">
                <a16:creationId xmlns:a16="http://schemas.microsoft.com/office/drawing/2014/main" id="{4D4EA293-71FA-F2D4-3431-005DA06D25B6}"/>
              </a:ext>
            </a:extLst>
          </p:cNvPr>
          <p:cNvSpPr/>
          <p:nvPr/>
        </p:nvSpPr>
        <p:spPr>
          <a:xfrm rot="10800000" flipV="1">
            <a:off x="6635362" y="1263068"/>
            <a:ext cx="1574136" cy="491730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 – AZ1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3FE9B0-75E8-5C0B-39AE-470E3FFD9EB8}"/>
              </a:ext>
            </a:extLst>
          </p:cNvPr>
          <p:cNvCxnSpPr>
            <a:cxnSpLocks/>
          </p:cNvCxnSpPr>
          <p:nvPr/>
        </p:nvCxnSpPr>
        <p:spPr>
          <a:xfrm>
            <a:off x="6552238" y="1170048"/>
            <a:ext cx="0" cy="5101554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BD3C10A-6481-DB3F-88A3-20909BEB0E68}"/>
              </a:ext>
            </a:extLst>
          </p:cNvPr>
          <p:cNvSpPr/>
          <p:nvPr/>
        </p:nvSpPr>
        <p:spPr>
          <a:xfrm>
            <a:off x="6552239" y="1002544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Availability Zone 1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308C1F-DBD7-02EB-41FA-6DA8E6A7A80A}"/>
              </a:ext>
            </a:extLst>
          </p:cNvPr>
          <p:cNvGrpSpPr/>
          <p:nvPr/>
        </p:nvGrpSpPr>
        <p:grpSpPr>
          <a:xfrm>
            <a:off x="6839462" y="1324682"/>
            <a:ext cx="1154136" cy="511554"/>
            <a:chOff x="10136865" y="1480917"/>
            <a:chExt cx="1154136" cy="51155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29A970E-C1EF-B6CD-FEEC-116687811133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83D66EE-0E91-B045-E576-786A7F0C1853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C70D3648-865C-E9AA-1AEC-2BE1D7DD00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2901C51-9BCE-0FE2-108D-1FAFEEF00362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32335B3-F735-274F-FAE7-FA4C94634E70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97CDC2EA-B526-3EAA-8B8E-6B2949187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FFD1C22-8575-987F-D29B-B2C246C58627}"/>
              </a:ext>
            </a:extLst>
          </p:cNvPr>
          <p:cNvCxnSpPr>
            <a:cxnSpLocks/>
          </p:cNvCxnSpPr>
          <p:nvPr/>
        </p:nvCxnSpPr>
        <p:spPr>
          <a:xfrm flipH="1">
            <a:off x="6552238" y="6271602"/>
            <a:ext cx="1743974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2227;g331808b2882_0_3053">
            <a:extLst>
              <a:ext uri="{FF2B5EF4-FFF2-40B4-BE49-F238E27FC236}">
                <a16:creationId xmlns:a16="http://schemas.microsoft.com/office/drawing/2014/main" id="{2673A02B-4424-5373-4D8F-316D56889DDB}"/>
              </a:ext>
            </a:extLst>
          </p:cNvPr>
          <p:cNvSpPr/>
          <p:nvPr/>
        </p:nvSpPr>
        <p:spPr>
          <a:xfrm>
            <a:off x="6748936" y="2206855"/>
            <a:ext cx="3998672" cy="37677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Stretched vSAN Cluster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2227;g331808b2882_0_3053">
            <a:extLst>
              <a:ext uri="{FF2B5EF4-FFF2-40B4-BE49-F238E27FC236}">
                <a16:creationId xmlns:a16="http://schemas.microsoft.com/office/drawing/2014/main" id="{3AFD417D-0935-7531-50CC-7A903CA8777D}"/>
              </a:ext>
            </a:extLst>
          </p:cNvPr>
          <p:cNvSpPr/>
          <p:nvPr/>
        </p:nvSpPr>
        <p:spPr>
          <a:xfrm rot="10800000" flipV="1">
            <a:off x="9702893" y="2331079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27" name="Google Shape;2232;g331808b2882_0_3053">
            <a:extLst>
              <a:ext uri="{FF2B5EF4-FFF2-40B4-BE49-F238E27FC236}">
                <a16:creationId xmlns:a16="http://schemas.microsoft.com/office/drawing/2014/main" id="{B4DB68D1-A638-75B9-5BB6-26835550D20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39038" y="2598073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C5D4A548-E5B5-1318-F9FE-5A4AF22CA6AF}"/>
              </a:ext>
            </a:extLst>
          </p:cNvPr>
          <p:cNvGrpSpPr/>
          <p:nvPr/>
        </p:nvGrpSpPr>
        <p:grpSpPr>
          <a:xfrm>
            <a:off x="9872694" y="2442944"/>
            <a:ext cx="402444" cy="402444"/>
            <a:chOff x="8470120" y="4767469"/>
            <a:chExt cx="642856" cy="64285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CF2465E-9D4E-D5D2-6DFD-CCE690E432D5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959940B9-A0F5-5A22-ED82-0B04BEFF8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88DE607-50AE-DAA6-8AE0-067632A21A52}"/>
              </a:ext>
            </a:extLst>
          </p:cNvPr>
          <p:cNvSpPr txBox="1"/>
          <p:nvPr/>
        </p:nvSpPr>
        <p:spPr>
          <a:xfrm>
            <a:off x="9840803" y="1800237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8FF41606-EDD0-1D9B-399A-652634A19DB5}"/>
              </a:ext>
            </a:extLst>
          </p:cNvPr>
          <p:cNvCxnSpPr>
            <a:cxnSpLocks/>
          </p:cNvCxnSpPr>
          <p:nvPr/>
        </p:nvCxnSpPr>
        <p:spPr>
          <a:xfrm rot="5400000">
            <a:off x="9898565" y="2064880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6C0445F-A16B-66E1-FCAE-9F2D912C2FF2}"/>
              </a:ext>
            </a:extLst>
          </p:cNvPr>
          <p:cNvGrpSpPr/>
          <p:nvPr/>
        </p:nvGrpSpPr>
        <p:grpSpPr>
          <a:xfrm>
            <a:off x="9702893" y="4378290"/>
            <a:ext cx="756262" cy="699516"/>
            <a:chOff x="5259935" y="4427358"/>
            <a:chExt cx="756262" cy="699516"/>
          </a:xfrm>
        </p:grpSpPr>
        <p:sp>
          <p:nvSpPr>
            <p:cNvPr id="34" name="Google Shape;2227;g331808b2882_0_3053">
              <a:extLst>
                <a:ext uri="{FF2B5EF4-FFF2-40B4-BE49-F238E27FC236}">
                  <a16:creationId xmlns:a16="http://schemas.microsoft.com/office/drawing/2014/main" id="{2A6FFAA6-5C5F-9CF7-18B2-9148C7983FEE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35" name="Google Shape;2232;g331808b2882_0_3053">
              <a:extLst>
                <a:ext uri="{FF2B5EF4-FFF2-40B4-BE49-F238E27FC236}">
                  <a16:creationId xmlns:a16="http://schemas.microsoft.com/office/drawing/2014/main" id="{A1FA2E26-6792-03FC-1773-6628435F713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8AC9EFC-1CF6-8CCA-2323-104B1805D7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93304" y="2069749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oogle Shape;2227;g331808b2882_0_3053">
            <a:extLst>
              <a:ext uri="{FF2B5EF4-FFF2-40B4-BE49-F238E27FC236}">
                <a16:creationId xmlns:a16="http://schemas.microsoft.com/office/drawing/2014/main" id="{19D3E1FF-0D72-53E2-BBD7-6E6F686223F4}"/>
              </a:ext>
            </a:extLst>
          </p:cNvPr>
          <p:cNvSpPr/>
          <p:nvPr/>
        </p:nvSpPr>
        <p:spPr>
          <a:xfrm rot="10800000" flipV="1">
            <a:off x="9705796" y="3499043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38" name="Google Shape;2232;g331808b2882_0_3053">
            <a:extLst>
              <a:ext uri="{FF2B5EF4-FFF2-40B4-BE49-F238E27FC236}">
                <a16:creationId xmlns:a16="http://schemas.microsoft.com/office/drawing/2014/main" id="{6392BBFB-61C1-7B36-FBFF-0DD0DD85466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27061" y="3775943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EAA00042-4383-4B7E-F4BF-50ACB4A90030}"/>
              </a:ext>
            </a:extLst>
          </p:cNvPr>
          <p:cNvGrpSpPr/>
          <p:nvPr/>
        </p:nvGrpSpPr>
        <p:grpSpPr>
          <a:xfrm>
            <a:off x="9875597" y="3610908"/>
            <a:ext cx="402444" cy="402444"/>
            <a:chOff x="8470120" y="4767469"/>
            <a:chExt cx="642856" cy="64285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19B70AB-BB46-07D4-4218-65010F972C96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4C43049-9B76-8C12-DE23-DF7A6529E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13161E3E-9C95-E2E1-E45C-574EBF985BB4}"/>
              </a:ext>
            </a:extLst>
          </p:cNvPr>
          <p:cNvCxnSpPr>
            <a:cxnSpLocks/>
          </p:cNvCxnSpPr>
          <p:nvPr/>
        </p:nvCxnSpPr>
        <p:spPr>
          <a:xfrm rot="5400000">
            <a:off x="9441955" y="2551456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AEED253B-F324-68D9-4809-CFF6A3802B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03437" y="2554641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C08CF70-3C6B-C780-3DCA-0DE5B3EBB20B}"/>
              </a:ext>
            </a:extLst>
          </p:cNvPr>
          <p:cNvGrpSpPr/>
          <p:nvPr/>
        </p:nvGrpSpPr>
        <p:grpSpPr>
          <a:xfrm>
            <a:off x="9702893" y="4874906"/>
            <a:ext cx="756262" cy="699516"/>
            <a:chOff x="5259935" y="4427358"/>
            <a:chExt cx="756262" cy="699516"/>
          </a:xfrm>
        </p:grpSpPr>
        <p:sp>
          <p:nvSpPr>
            <p:cNvPr id="45" name="Google Shape;2227;g331808b2882_0_3053">
              <a:extLst>
                <a:ext uri="{FF2B5EF4-FFF2-40B4-BE49-F238E27FC236}">
                  <a16:creationId xmlns:a16="http://schemas.microsoft.com/office/drawing/2014/main" id="{74359B3E-93AF-A59B-12BD-EAE4395BA001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46" name="Google Shape;2232;g331808b2882_0_3053">
              <a:extLst>
                <a:ext uri="{FF2B5EF4-FFF2-40B4-BE49-F238E27FC236}">
                  <a16:creationId xmlns:a16="http://schemas.microsoft.com/office/drawing/2014/main" id="{192FBDD8-0BD5-F024-CB21-A34858139EA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2227;g331808b2882_0_3053">
            <a:extLst>
              <a:ext uri="{FF2B5EF4-FFF2-40B4-BE49-F238E27FC236}">
                <a16:creationId xmlns:a16="http://schemas.microsoft.com/office/drawing/2014/main" id="{3CD00817-F446-9927-C18E-BDCD920900D0}"/>
              </a:ext>
            </a:extLst>
          </p:cNvPr>
          <p:cNvSpPr/>
          <p:nvPr/>
        </p:nvSpPr>
        <p:spPr>
          <a:xfrm rot="10800000" flipV="1">
            <a:off x="7058108" y="2331441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48" name="Google Shape;2232;g331808b2882_0_3053">
            <a:extLst>
              <a:ext uri="{FF2B5EF4-FFF2-40B4-BE49-F238E27FC236}">
                <a16:creationId xmlns:a16="http://schemas.microsoft.com/office/drawing/2014/main" id="{47D3500F-7FB5-8E38-93AD-E879F8AFDB6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94253" y="2598435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9A3F12C2-7D6E-AA5B-F3BC-B069DA675458}"/>
              </a:ext>
            </a:extLst>
          </p:cNvPr>
          <p:cNvGrpSpPr/>
          <p:nvPr/>
        </p:nvGrpSpPr>
        <p:grpSpPr>
          <a:xfrm>
            <a:off x="7227909" y="2443306"/>
            <a:ext cx="402444" cy="402444"/>
            <a:chOff x="8470120" y="4767469"/>
            <a:chExt cx="642856" cy="64285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BD92E8C-43DA-E489-8279-00F6360D308E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FDEC1928-124D-6E10-AA1A-9D29AAE9A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AB13E186-2410-A4B8-3E21-3F362E9245F2}"/>
              </a:ext>
            </a:extLst>
          </p:cNvPr>
          <p:cNvSpPr txBox="1"/>
          <p:nvPr/>
        </p:nvSpPr>
        <p:spPr>
          <a:xfrm>
            <a:off x="7196018" y="1800599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B986D8DE-B55A-5EA0-AEAA-D7401F3DAF06}"/>
              </a:ext>
            </a:extLst>
          </p:cNvPr>
          <p:cNvCxnSpPr>
            <a:cxnSpLocks/>
          </p:cNvCxnSpPr>
          <p:nvPr/>
        </p:nvCxnSpPr>
        <p:spPr>
          <a:xfrm rot="5400000">
            <a:off x="7253780" y="2065242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762EAB0-D596-3371-37B3-0F9D2046D55F}"/>
              </a:ext>
            </a:extLst>
          </p:cNvPr>
          <p:cNvGrpSpPr/>
          <p:nvPr/>
        </p:nvGrpSpPr>
        <p:grpSpPr>
          <a:xfrm>
            <a:off x="7058108" y="4378652"/>
            <a:ext cx="756262" cy="699516"/>
            <a:chOff x="5259935" y="4427358"/>
            <a:chExt cx="756262" cy="699516"/>
          </a:xfrm>
        </p:grpSpPr>
        <p:sp>
          <p:nvSpPr>
            <p:cNvPr id="55" name="Google Shape;2227;g331808b2882_0_3053">
              <a:extLst>
                <a:ext uri="{FF2B5EF4-FFF2-40B4-BE49-F238E27FC236}">
                  <a16:creationId xmlns:a16="http://schemas.microsoft.com/office/drawing/2014/main" id="{990B54E4-37B0-AAE1-AA39-4FFA41C46C4B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56" name="Google Shape;2232;g331808b2882_0_3053">
              <a:extLst>
                <a:ext uri="{FF2B5EF4-FFF2-40B4-BE49-F238E27FC236}">
                  <a16:creationId xmlns:a16="http://schemas.microsoft.com/office/drawing/2014/main" id="{85FE8F51-47B3-0DC5-4D36-D1CC215CAA0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EE2B9210-7249-FFF1-06A0-FEDA4F9849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48519" y="2070111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oogle Shape;2227;g331808b2882_0_3053">
            <a:extLst>
              <a:ext uri="{FF2B5EF4-FFF2-40B4-BE49-F238E27FC236}">
                <a16:creationId xmlns:a16="http://schemas.microsoft.com/office/drawing/2014/main" id="{C22C0B97-0CE7-4E58-0384-F8BFD508E394}"/>
              </a:ext>
            </a:extLst>
          </p:cNvPr>
          <p:cNvSpPr/>
          <p:nvPr/>
        </p:nvSpPr>
        <p:spPr>
          <a:xfrm rot="10800000" flipV="1">
            <a:off x="7061011" y="3499405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59" name="Google Shape;2232;g331808b2882_0_3053">
            <a:extLst>
              <a:ext uri="{FF2B5EF4-FFF2-40B4-BE49-F238E27FC236}">
                <a16:creationId xmlns:a16="http://schemas.microsoft.com/office/drawing/2014/main" id="{BF414462-CE62-26D6-9132-B0B67AA096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82276" y="3776305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6AF5AE53-9B5E-B403-006A-80204E250F75}"/>
              </a:ext>
            </a:extLst>
          </p:cNvPr>
          <p:cNvGrpSpPr/>
          <p:nvPr/>
        </p:nvGrpSpPr>
        <p:grpSpPr>
          <a:xfrm>
            <a:off x="7230812" y="3611270"/>
            <a:ext cx="402444" cy="402444"/>
            <a:chOff x="8470120" y="4767469"/>
            <a:chExt cx="642856" cy="642856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B7DD80D-8364-ED7F-6C7C-F5F49885D0C8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5F5E7677-7578-D80B-D832-A689626C0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251A1C86-8640-4C27-5761-47E5E48D06C9}"/>
              </a:ext>
            </a:extLst>
          </p:cNvPr>
          <p:cNvCxnSpPr>
            <a:cxnSpLocks/>
          </p:cNvCxnSpPr>
          <p:nvPr/>
        </p:nvCxnSpPr>
        <p:spPr>
          <a:xfrm rot="5400000">
            <a:off x="6797170" y="2551818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6" name="Elbow Connector 2175">
            <a:extLst>
              <a:ext uri="{FF2B5EF4-FFF2-40B4-BE49-F238E27FC236}">
                <a16:creationId xmlns:a16="http://schemas.microsoft.com/office/drawing/2014/main" id="{BC1C4313-0967-D5E3-B47E-76AEE4CA9DB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58652" y="2555003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7" name="Group 2176">
            <a:extLst>
              <a:ext uri="{FF2B5EF4-FFF2-40B4-BE49-F238E27FC236}">
                <a16:creationId xmlns:a16="http://schemas.microsoft.com/office/drawing/2014/main" id="{415C73F9-9EE3-B874-0153-4C2FD7D979CD}"/>
              </a:ext>
            </a:extLst>
          </p:cNvPr>
          <p:cNvGrpSpPr/>
          <p:nvPr/>
        </p:nvGrpSpPr>
        <p:grpSpPr>
          <a:xfrm>
            <a:off x="7058108" y="4875268"/>
            <a:ext cx="756262" cy="699516"/>
            <a:chOff x="5259935" y="4427358"/>
            <a:chExt cx="756262" cy="699516"/>
          </a:xfrm>
        </p:grpSpPr>
        <p:sp>
          <p:nvSpPr>
            <p:cNvPr id="2178" name="Google Shape;2227;g331808b2882_0_3053">
              <a:extLst>
                <a:ext uri="{FF2B5EF4-FFF2-40B4-BE49-F238E27FC236}">
                  <a16:creationId xmlns:a16="http://schemas.microsoft.com/office/drawing/2014/main" id="{9DE247ED-43EE-4B2C-48B5-B11AD7A6C87C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2179" name="Google Shape;2232;g331808b2882_0_3053">
              <a:extLst>
                <a:ext uri="{FF2B5EF4-FFF2-40B4-BE49-F238E27FC236}">
                  <a16:creationId xmlns:a16="http://schemas.microsoft.com/office/drawing/2014/main" id="{EE2A6675-EC4E-1C40-0724-B18AC325D10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0" name="Google Shape;2227;g331808b2882_0_3053">
            <a:extLst>
              <a:ext uri="{FF2B5EF4-FFF2-40B4-BE49-F238E27FC236}">
                <a16:creationId xmlns:a16="http://schemas.microsoft.com/office/drawing/2014/main" id="{4ED9EE4D-51C2-B994-FBE8-0EA2DBA24760}"/>
              </a:ext>
            </a:extLst>
          </p:cNvPr>
          <p:cNvSpPr/>
          <p:nvPr/>
        </p:nvSpPr>
        <p:spPr>
          <a:xfrm rot="10800000" flipV="1">
            <a:off x="6838561" y="2256760"/>
            <a:ext cx="3778407" cy="2294108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81" name="Rectangle 2180">
            <a:extLst>
              <a:ext uri="{FF2B5EF4-FFF2-40B4-BE49-F238E27FC236}">
                <a16:creationId xmlns:a16="http://schemas.microsoft.com/office/drawing/2014/main" id="{C98547A2-73DD-3112-6A47-8CA91E82EC4D}"/>
              </a:ext>
            </a:extLst>
          </p:cNvPr>
          <p:cNvSpPr/>
          <p:nvPr/>
        </p:nvSpPr>
        <p:spPr>
          <a:xfrm>
            <a:off x="8470945" y="4062366"/>
            <a:ext cx="538715" cy="45776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NSX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Edge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Cluster</a:t>
            </a:r>
            <a:endParaRPr lang="en-GB" sz="800" dirty="0">
              <a:solidFill>
                <a:srgbClr val="00B0F0"/>
              </a:solidFill>
              <a:latin typeface="Metropolis" pitchFamily="2" charset="77"/>
              <a:cs typeface="Arial"/>
            </a:endParaRPr>
          </a:p>
        </p:txBody>
      </p:sp>
      <p:cxnSp>
        <p:nvCxnSpPr>
          <p:cNvPr id="2182" name="Straight Connector 2181">
            <a:extLst>
              <a:ext uri="{FF2B5EF4-FFF2-40B4-BE49-F238E27FC236}">
                <a16:creationId xmlns:a16="http://schemas.microsoft.com/office/drawing/2014/main" id="{807AEA8B-0F73-BF54-E3A9-2CE04AC135CA}"/>
              </a:ext>
            </a:extLst>
          </p:cNvPr>
          <p:cNvCxnSpPr>
            <a:cxnSpLocks/>
          </p:cNvCxnSpPr>
          <p:nvPr/>
        </p:nvCxnSpPr>
        <p:spPr>
          <a:xfrm flipH="1">
            <a:off x="9185587" y="6271602"/>
            <a:ext cx="1743974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99B3E3F1-C488-0272-39BC-24305F6F2912}"/>
              </a:ext>
            </a:extLst>
          </p:cNvPr>
          <p:cNvSpPr/>
          <p:nvPr/>
        </p:nvSpPr>
        <p:spPr>
          <a:xfrm>
            <a:off x="6265740" y="983848"/>
            <a:ext cx="4521863" cy="549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0" name="Google Shape;2220;g35c6e7e29b5_0_6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sz="2000" dirty="0"/>
              <a:t>Dual Availability Zone Design based on vSphere HA Recovery v1.0</a:t>
            </a:r>
            <a:endParaRPr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35C62E8-F3AB-816A-294E-8F283C048280}"/>
              </a:ext>
            </a:extLst>
          </p:cNvPr>
          <p:cNvCxnSpPr>
            <a:cxnSpLocks/>
          </p:cNvCxnSpPr>
          <p:nvPr/>
        </p:nvCxnSpPr>
        <p:spPr>
          <a:xfrm>
            <a:off x="8067589" y="1242372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D1EE263-4EEF-854C-7C4C-A13EC98FE297}"/>
              </a:ext>
            </a:extLst>
          </p:cNvPr>
          <p:cNvCxnSpPr>
            <a:cxnSpLocks/>
          </p:cNvCxnSpPr>
          <p:nvPr/>
        </p:nvCxnSpPr>
        <p:spPr>
          <a:xfrm>
            <a:off x="8957002" y="1239872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9E30A24-29B6-9CB3-D0FE-8BE60F385B82}"/>
              </a:ext>
            </a:extLst>
          </p:cNvPr>
          <p:cNvCxnSpPr>
            <a:cxnSpLocks/>
          </p:cNvCxnSpPr>
          <p:nvPr/>
        </p:nvCxnSpPr>
        <p:spPr>
          <a:xfrm flipH="1">
            <a:off x="10701370" y="1244223"/>
            <a:ext cx="6577" cy="509249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2227;g331808b2882_0_3053">
            <a:extLst>
              <a:ext uri="{FF2B5EF4-FFF2-40B4-BE49-F238E27FC236}">
                <a16:creationId xmlns:a16="http://schemas.microsoft.com/office/drawing/2014/main" id="{1951BDE1-650C-F201-2511-1BEB8CEBE2E7}"/>
              </a:ext>
            </a:extLst>
          </p:cNvPr>
          <p:cNvSpPr/>
          <p:nvPr/>
        </p:nvSpPr>
        <p:spPr>
          <a:xfrm rot="10800000" flipV="1">
            <a:off x="9051524" y="1327816"/>
            <a:ext cx="1574136" cy="4917307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 – AZ2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4744EF-D79E-9DD7-93AD-6BF74E3C34FD}"/>
              </a:ext>
            </a:extLst>
          </p:cNvPr>
          <p:cNvSpPr/>
          <p:nvPr/>
        </p:nvSpPr>
        <p:spPr>
          <a:xfrm>
            <a:off x="8956964" y="1067293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Availability Zone 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DA5968-DD12-4D24-2C8A-FFD57538C111}"/>
              </a:ext>
            </a:extLst>
          </p:cNvPr>
          <p:cNvGrpSpPr/>
          <p:nvPr/>
        </p:nvGrpSpPr>
        <p:grpSpPr>
          <a:xfrm>
            <a:off x="9255624" y="1389431"/>
            <a:ext cx="1154136" cy="511554"/>
            <a:chOff x="10136865" y="1480917"/>
            <a:chExt cx="1154136" cy="5115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0291779-5237-369E-017C-0164DD1C1460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72A79C1-22DF-5273-5312-9060F34AA976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8F516236-5899-F3FA-25AD-D68D0C46AE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7692DC-A55E-72E6-7295-AF6D3759227C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4564775-C195-1B5A-9E44-B04C658A1960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9406C309-2052-0CCA-C26D-3CAE4651F8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4" name="Google Shape;2227;g331808b2882_0_3053">
            <a:extLst>
              <a:ext uri="{FF2B5EF4-FFF2-40B4-BE49-F238E27FC236}">
                <a16:creationId xmlns:a16="http://schemas.microsoft.com/office/drawing/2014/main" id="{A881CA29-5DE9-0B02-2596-B7FA5BEF365B}"/>
              </a:ext>
            </a:extLst>
          </p:cNvPr>
          <p:cNvSpPr/>
          <p:nvPr/>
        </p:nvSpPr>
        <p:spPr>
          <a:xfrm rot="10800000" flipV="1">
            <a:off x="6406739" y="1328179"/>
            <a:ext cx="1574136" cy="491730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 – AZ1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BA9790-5733-501E-BD6C-4C933D1E0C05}"/>
              </a:ext>
            </a:extLst>
          </p:cNvPr>
          <p:cNvCxnSpPr>
            <a:cxnSpLocks/>
          </p:cNvCxnSpPr>
          <p:nvPr/>
        </p:nvCxnSpPr>
        <p:spPr>
          <a:xfrm>
            <a:off x="6323615" y="1235159"/>
            <a:ext cx="0" cy="5101554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CB0F536-29B2-FF1E-A1B5-B3806A625C82}"/>
              </a:ext>
            </a:extLst>
          </p:cNvPr>
          <p:cNvSpPr/>
          <p:nvPr/>
        </p:nvSpPr>
        <p:spPr>
          <a:xfrm>
            <a:off x="6323616" y="1067655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Availability Zone 1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E44C6D6-5D01-A57A-ACE2-86E61E6E2A9B}"/>
              </a:ext>
            </a:extLst>
          </p:cNvPr>
          <p:cNvGrpSpPr/>
          <p:nvPr/>
        </p:nvGrpSpPr>
        <p:grpSpPr>
          <a:xfrm>
            <a:off x="6610839" y="1389793"/>
            <a:ext cx="1154136" cy="511554"/>
            <a:chOff x="10136865" y="1480917"/>
            <a:chExt cx="1154136" cy="51155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F3506CF-C04D-FEC2-2929-C7F9AF9141B0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6F52D97-C284-6FA8-FC36-F64DFE2A3809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C8877D88-AB36-8CFC-DEC3-9E10A22532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C61D3AC-D048-D3E0-46FF-812C15E688E0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BDD3842-1003-4CE1-C8DA-DF4193A9BCBC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A990285E-08F7-A0FD-9E82-60EDC9DE6A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605E7A0-392A-E0E7-4C93-39ECA821D537}"/>
              </a:ext>
            </a:extLst>
          </p:cNvPr>
          <p:cNvCxnSpPr>
            <a:cxnSpLocks/>
          </p:cNvCxnSpPr>
          <p:nvPr/>
        </p:nvCxnSpPr>
        <p:spPr>
          <a:xfrm flipH="1">
            <a:off x="6323615" y="6336713"/>
            <a:ext cx="1743974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2227;g331808b2882_0_3053">
            <a:extLst>
              <a:ext uri="{FF2B5EF4-FFF2-40B4-BE49-F238E27FC236}">
                <a16:creationId xmlns:a16="http://schemas.microsoft.com/office/drawing/2014/main" id="{88639E8C-7309-48DE-5848-B7782E9401DF}"/>
              </a:ext>
            </a:extLst>
          </p:cNvPr>
          <p:cNvSpPr/>
          <p:nvPr/>
        </p:nvSpPr>
        <p:spPr>
          <a:xfrm>
            <a:off x="6520313" y="2271966"/>
            <a:ext cx="3998672" cy="3203241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Stretched vSAN Cluster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26" name="Google Shape;2232;g331808b2882_0_3053">
            <a:extLst>
              <a:ext uri="{FF2B5EF4-FFF2-40B4-BE49-F238E27FC236}">
                <a16:creationId xmlns:a16="http://schemas.microsoft.com/office/drawing/2014/main" id="{52A0185A-8845-13D1-C081-BBE9C4F016F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10415" y="2663184"/>
            <a:ext cx="699516" cy="69951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23C314C-29A9-6AB1-CDF0-B298F3E8117B}"/>
              </a:ext>
            </a:extLst>
          </p:cNvPr>
          <p:cNvSpPr txBox="1"/>
          <p:nvPr/>
        </p:nvSpPr>
        <p:spPr>
          <a:xfrm>
            <a:off x="9612180" y="1865348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pic>
        <p:nvPicPr>
          <p:cNvPr id="28" name="Google Shape;2232;g331808b2882_0_3053">
            <a:extLst>
              <a:ext uri="{FF2B5EF4-FFF2-40B4-BE49-F238E27FC236}">
                <a16:creationId xmlns:a16="http://schemas.microsoft.com/office/drawing/2014/main" id="{109F99C1-7AD9-D3E1-0E99-FD505AF3CE6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10415" y="2883175"/>
            <a:ext cx="699516" cy="699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232;g331808b2882_0_3053">
            <a:extLst>
              <a:ext uri="{FF2B5EF4-FFF2-40B4-BE49-F238E27FC236}">
                <a16:creationId xmlns:a16="http://schemas.microsoft.com/office/drawing/2014/main" id="{F3AB5609-8637-A2A6-A3F1-0CBA61F734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5630" y="2762778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40EDFA82-456C-BE70-A162-B8F1B9C4D8AB}"/>
              </a:ext>
            </a:extLst>
          </p:cNvPr>
          <p:cNvGrpSpPr/>
          <p:nvPr/>
        </p:nvGrpSpPr>
        <p:grpSpPr>
          <a:xfrm>
            <a:off x="6999286" y="2607649"/>
            <a:ext cx="402444" cy="402444"/>
            <a:chOff x="8470120" y="4767469"/>
            <a:chExt cx="642856" cy="64285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8F4F27C-F164-B88B-0844-A034AE6E26EE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CC476D1D-A5A2-349C-C04C-865883B7F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8D44571-F114-C7C9-10C2-6B71B53AA525}"/>
              </a:ext>
            </a:extLst>
          </p:cNvPr>
          <p:cNvSpPr txBox="1"/>
          <p:nvPr/>
        </p:nvSpPr>
        <p:spPr>
          <a:xfrm>
            <a:off x="6967395" y="1865710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BEFBD43E-ED6B-A8FD-891F-3696ADA6DD10}"/>
              </a:ext>
            </a:extLst>
          </p:cNvPr>
          <p:cNvCxnSpPr>
            <a:cxnSpLocks/>
          </p:cNvCxnSpPr>
          <p:nvPr/>
        </p:nvCxnSpPr>
        <p:spPr>
          <a:xfrm rot="5400000">
            <a:off x="6964850" y="2165734"/>
            <a:ext cx="742069" cy="171033"/>
          </a:xfrm>
          <a:prstGeom prst="bentConnector3">
            <a:avLst>
              <a:gd name="adj1" fmla="val 44283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oogle Shape;2232;g331808b2882_0_3053">
            <a:extLst>
              <a:ext uri="{FF2B5EF4-FFF2-40B4-BE49-F238E27FC236}">
                <a16:creationId xmlns:a16="http://schemas.microsoft.com/office/drawing/2014/main" id="{C21CDF8E-F1CF-6303-6EFF-A018DA8E1C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8079" y="4616148"/>
            <a:ext cx="699516" cy="699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52B169A3-C207-0C6B-1962-2ECF98B4E6E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64721" y="2190397"/>
            <a:ext cx="734021" cy="123394"/>
          </a:xfrm>
          <a:prstGeom prst="bentConnector3">
            <a:avLst>
              <a:gd name="adj1" fmla="val 4396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oogle Shape;2232;g331808b2882_0_3053">
            <a:extLst>
              <a:ext uri="{FF2B5EF4-FFF2-40B4-BE49-F238E27FC236}">
                <a16:creationId xmlns:a16="http://schemas.microsoft.com/office/drawing/2014/main" id="{E89DE8C6-5409-1796-5036-CD5434A5CE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3653" y="3841416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8CDEBC0F-CE76-545B-F82A-E3794EA183CF}"/>
              </a:ext>
            </a:extLst>
          </p:cNvPr>
          <p:cNvGrpSpPr/>
          <p:nvPr/>
        </p:nvGrpSpPr>
        <p:grpSpPr>
          <a:xfrm>
            <a:off x="7002189" y="3676381"/>
            <a:ext cx="402444" cy="402444"/>
            <a:chOff x="8470120" y="4767469"/>
            <a:chExt cx="642856" cy="64285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CC4D08E-2076-C5EA-6D6A-7B02589B3020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C7FAB96-22D9-7DFB-E892-5ED756F94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C10C44D1-5AC5-D983-66FD-79D383DC27D6}"/>
              </a:ext>
            </a:extLst>
          </p:cNvPr>
          <p:cNvCxnSpPr>
            <a:cxnSpLocks/>
          </p:cNvCxnSpPr>
          <p:nvPr/>
        </p:nvCxnSpPr>
        <p:spPr>
          <a:xfrm rot="5400000">
            <a:off x="6506165" y="2608347"/>
            <a:ext cx="1817436" cy="348789"/>
          </a:xfrm>
          <a:prstGeom prst="bentConnector3">
            <a:avLst>
              <a:gd name="adj1" fmla="val 77020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77421EF7-6C9E-A4DF-C03C-5E50CD7D80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18045" y="2632097"/>
            <a:ext cx="1817436" cy="301288"/>
          </a:xfrm>
          <a:prstGeom prst="bentConnector3">
            <a:avLst>
              <a:gd name="adj1" fmla="val 77719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Google Shape;2232;g331808b2882_0_3053">
            <a:extLst>
              <a:ext uri="{FF2B5EF4-FFF2-40B4-BE49-F238E27FC236}">
                <a16:creationId xmlns:a16="http://schemas.microsoft.com/office/drawing/2014/main" id="{D25B15E8-4416-8E82-B421-913DB6D4282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5630" y="4817062"/>
            <a:ext cx="699516" cy="699516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2227;g331808b2882_0_3053">
            <a:extLst>
              <a:ext uri="{FF2B5EF4-FFF2-40B4-BE49-F238E27FC236}">
                <a16:creationId xmlns:a16="http://schemas.microsoft.com/office/drawing/2014/main" id="{5ACB5035-759C-1F28-0968-BDD1A7D5F93D}"/>
              </a:ext>
            </a:extLst>
          </p:cNvPr>
          <p:cNvSpPr/>
          <p:nvPr/>
        </p:nvSpPr>
        <p:spPr>
          <a:xfrm rot="10800000" flipV="1">
            <a:off x="6609938" y="2321870"/>
            <a:ext cx="1281686" cy="2445288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CF78BED-E224-14E1-AA26-AA57CDA46AFF}"/>
              </a:ext>
            </a:extLst>
          </p:cNvPr>
          <p:cNvSpPr/>
          <p:nvPr/>
        </p:nvSpPr>
        <p:spPr>
          <a:xfrm>
            <a:off x="6938645" y="4292562"/>
            <a:ext cx="538715" cy="45776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NSX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Edge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Cluster</a:t>
            </a:r>
            <a:endParaRPr lang="en-GB" sz="800" dirty="0">
              <a:solidFill>
                <a:srgbClr val="00B0F0"/>
              </a:solidFill>
              <a:latin typeface="Metropolis" pitchFamily="2" charset="77"/>
              <a:cs typeface="Arial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908EF8D-65CE-CDED-5881-26CF013AA16B}"/>
              </a:ext>
            </a:extLst>
          </p:cNvPr>
          <p:cNvCxnSpPr>
            <a:cxnSpLocks/>
          </p:cNvCxnSpPr>
          <p:nvPr/>
        </p:nvCxnSpPr>
        <p:spPr>
          <a:xfrm flipH="1">
            <a:off x="8956964" y="6336713"/>
            <a:ext cx="1743974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oogle Shape;2232;g331808b2882_0_3053">
            <a:extLst>
              <a:ext uri="{FF2B5EF4-FFF2-40B4-BE49-F238E27FC236}">
                <a16:creationId xmlns:a16="http://schemas.microsoft.com/office/drawing/2014/main" id="{D069D596-D4B2-60DF-FCDE-EEE8DB3D53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10415" y="3103533"/>
            <a:ext cx="699516" cy="699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2232;g331808b2882_0_3053">
            <a:extLst>
              <a:ext uri="{FF2B5EF4-FFF2-40B4-BE49-F238E27FC236}">
                <a16:creationId xmlns:a16="http://schemas.microsoft.com/office/drawing/2014/main" id="{A206179F-41FB-8DEC-05DF-F11D1679A8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10415" y="3323524"/>
            <a:ext cx="699516" cy="699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FB120AA3-1A74-E470-6BE6-27B655777E5D}"/>
              </a:ext>
            </a:extLst>
          </p:cNvPr>
          <p:cNvCxnSpPr>
            <a:cxnSpLocks/>
          </p:cNvCxnSpPr>
          <p:nvPr/>
        </p:nvCxnSpPr>
        <p:spPr>
          <a:xfrm rot="5400000">
            <a:off x="7907282" y="1124862"/>
            <a:ext cx="762067" cy="2232774"/>
          </a:xfrm>
          <a:prstGeom prst="bentConnector3">
            <a:avLst>
              <a:gd name="adj1" fmla="val 67318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FAB7CD46-A385-822C-7C34-97AFD7FB1562}"/>
              </a:ext>
            </a:extLst>
          </p:cNvPr>
          <p:cNvCxnSpPr>
            <a:cxnSpLocks/>
          </p:cNvCxnSpPr>
          <p:nvPr/>
        </p:nvCxnSpPr>
        <p:spPr>
          <a:xfrm rot="5400000">
            <a:off x="8299619" y="880274"/>
            <a:ext cx="776574" cy="2709138"/>
          </a:xfrm>
          <a:prstGeom prst="bentConnector3">
            <a:avLst>
              <a:gd name="adj1" fmla="val 77313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7EF56A7C-147E-2D74-08F6-8E5678CB96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7157715" y="3336865"/>
            <a:ext cx="534789" cy="355643"/>
          </a:xfrm>
          <a:prstGeom prst="bentConnector3">
            <a:avLst>
              <a:gd name="adj1" fmla="val 100662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F20DA5A2-4B4D-143A-614E-F3CB8A2C73EE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24642" y="3406151"/>
            <a:ext cx="454576" cy="286355"/>
          </a:xfrm>
          <a:prstGeom prst="bentConnector3">
            <a:avLst>
              <a:gd name="adj1" fmla="val 100289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288C6FB7-78D2-31A5-C4C8-DAF3936E1B86}"/>
              </a:ext>
            </a:extLst>
          </p:cNvPr>
          <p:cNvCxnSpPr>
            <a:cxnSpLocks/>
          </p:cNvCxnSpPr>
          <p:nvPr/>
        </p:nvCxnSpPr>
        <p:spPr>
          <a:xfrm rot="5400000">
            <a:off x="7916632" y="1629135"/>
            <a:ext cx="1481823" cy="1930228"/>
          </a:xfrm>
          <a:prstGeom prst="bentConnector3">
            <a:avLst>
              <a:gd name="adj1" fmla="val 45954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B1F7EE55-E8E0-B2D7-87FD-684B062FF5F1}"/>
              </a:ext>
            </a:extLst>
          </p:cNvPr>
          <p:cNvCxnSpPr>
            <a:cxnSpLocks/>
          </p:cNvCxnSpPr>
          <p:nvPr/>
        </p:nvCxnSpPr>
        <p:spPr>
          <a:xfrm rot="5400000">
            <a:off x="8242810" y="1389170"/>
            <a:ext cx="1560426" cy="2482416"/>
          </a:xfrm>
          <a:prstGeom prst="bentConnector3">
            <a:avLst>
              <a:gd name="adj1" fmla="val 48939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117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NSX Management and Control Plane</a:t>
            </a:r>
            <a:endParaRPr/>
          </a:p>
        </p:txBody>
      </p:sp>
      <p:sp>
        <p:nvSpPr>
          <p:cNvPr id="3099" name="Google Shape;3099;p11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  <p:sp>
        <p:nvSpPr>
          <p:cNvPr id="3100" name="Google Shape;3100;p117"/>
          <p:cNvSpPr txBox="1">
            <a:spLocks noGrp="1"/>
          </p:cNvSpPr>
          <p:nvPr>
            <p:ph type="sldNum" idx="4294967295"/>
          </p:nvPr>
        </p:nvSpPr>
        <p:spPr>
          <a:xfrm>
            <a:off x="9447213" y="7351713"/>
            <a:ext cx="2741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5" name="Google Shape;3105;p118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Networking</a:t>
            </a:r>
            <a:endParaRPr/>
          </a:p>
        </p:txBody>
      </p:sp>
      <p:sp>
        <p:nvSpPr>
          <p:cNvPr id="3106" name="Google Shape;3106;p118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p119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VCF Single Sign-On</a:t>
            </a:r>
            <a:endParaRPr/>
          </a:p>
        </p:txBody>
      </p:sp>
      <p:sp>
        <p:nvSpPr>
          <p:cNvPr id="3112" name="Google Shape;3112;p119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  <p:sp>
        <p:nvSpPr>
          <p:cNvPr id="3113" name="Google Shape;3113;p119"/>
          <p:cNvSpPr txBox="1">
            <a:spLocks noGrp="1"/>
          </p:cNvSpPr>
          <p:nvPr>
            <p:ph type="sldNum" idx="4294967295"/>
          </p:nvPr>
        </p:nvSpPr>
        <p:spPr>
          <a:xfrm>
            <a:off x="9447213" y="7351713"/>
            <a:ext cx="2741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99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ECC15-C51F-206B-02BC-AABE2B65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7B9BDA8-CC40-6A58-D9EC-E0FF9085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503" y="272507"/>
            <a:ext cx="11001004" cy="381000"/>
          </a:xfrm>
        </p:spPr>
        <p:txBody>
          <a:bodyPr/>
          <a:lstStyle/>
          <a:p>
            <a:r>
              <a:rPr lang="en-US" sz="2400" dirty="0"/>
              <a:t>VCF </a:t>
            </a:r>
            <a:r>
              <a:rPr lang="en-GB" sz="2400" dirty="0"/>
              <a:t>Identity Broker Models v1.0</a:t>
            </a:r>
            <a:endParaRPr lang="en-US" sz="2400" dirty="0"/>
          </a:p>
        </p:txBody>
      </p:sp>
      <p:sp>
        <p:nvSpPr>
          <p:cNvPr id="9" name="Google Shape;1326;p61">
            <a:extLst>
              <a:ext uri="{FF2B5EF4-FFF2-40B4-BE49-F238E27FC236}">
                <a16:creationId xmlns:a16="http://schemas.microsoft.com/office/drawing/2014/main" id="{9681B893-73B3-3373-CE2A-BAA15BB115E7}"/>
              </a:ext>
            </a:extLst>
          </p:cNvPr>
          <p:cNvSpPr/>
          <p:nvPr/>
        </p:nvSpPr>
        <p:spPr>
          <a:xfrm>
            <a:off x="767933" y="928864"/>
            <a:ext cx="5103539" cy="51614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rPr>
              <a:t>Embedded VCF Identity Broker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B9368BD-AC74-EC91-C601-FAEFE62EAC43}"/>
              </a:ext>
            </a:extLst>
          </p:cNvPr>
          <p:cNvGrpSpPr/>
          <p:nvPr/>
        </p:nvGrpSpPr>
        <p:grpSpPr>
          <a:xfrm>
            <a:off x="931952" y="1357449"/>
            <a:ext cx="4817262" cy="4588272"/>
            <a:chOff x="931952" y="1357449"/>
            <a:chExt cx="4817262" cy="4588272"/>
          </a:xfrm>
        </p:grpSpPr>
        <p:sp>
          <p:nvSpPr>
            <p:cNvPr id="42" name="Google Shape;2713;p28">
              <a:extLst>
                <a:ext uri="{FF2B5EF4-FFF2-40B4-BE49-F238E27FC236}">
                  <a16:creationId xmlns:a16="http://schemas.microsoft.com/office/drawing/2014/main" id="{960AC50E-71ED-0808-E1F0-157AC59925F9}"/>
                </a:ext>
              </a:extLst>
            </p:cNvPr>
            <p:cNvSpPr/>
            <p:nvPr/>
          </p:nvSpPr>
          <p:spPr>
            <a:xfrm>
              <a:off x="931952" y="1357449"/>
              <a:ext cx="3481223" cy="378538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5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</a:t>
              </a:r>
              <a:endParaRPr sz="1050" dirty="0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43" name="Google Shape;2716;p28">
              <a:extLst>
                <a:ext uri="{FF2B5EF4-FFF2-40B4-BE49-F238E27FC236}">
                  <a16:creationId xmlns:a16="http://schemas.microsoft.com/office/drawing/2014/main" id="{CFAAB775-3410-19A9-5CDF-A5CA105CE87E}"/>
                </a:ext>
              </a:extLst>
            </p:cNvPr>
            <p:cNvSpPr/>
            <p:nvPr/>
          </p:nvSpPr>
          <p:spPr>
            <a:xfrm>
              <a:off x="1088862" y="1761068"/>
              <a:ext cx="3202394" cy="3116730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5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050" dirty="0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44" name="Google Shape;2723;p28">
              <a:extLst>
                <a:ext uri="{FF2B5EF4-FFF2-40B4-BE49-F238E27FC236}">
                  <a16:creationId xmlns:a16="http://schemas.microsoft.com/office/drawing/2014/main" id="{38C8A204-E0BC-F0BA-A3C3-183D13D43C00}"/>
                </a:ext>
              </a:extLst>
            </p:cNvPr>
            <p:cNvSpPr/>
            <p:nvPr/>
          </p:nvSpPr>
          <p:spPr>
            <a:xfrm>
              <a:off x="1088863" y="5311452"/>
              <a:ext cx="3202394" cy="634269"/>
            </a:xfrm>
            <a:custGeom>
              <a:avLst/>
              <a:gdLst/>
              <a:ahLst/>
              <a:cxnLst/>
              <a:rect l="l" t="t" r="r" b="b"/>
              <a:pathLst>
                <a:path w="3868557" h="718242" extrusionOk="0">
                  <a:moveTo>
                    <a:pt x="0" y="0"/>
                  </a:moveTo>
                  <a:lnTo>
                    <a:pt x="2350232" y="1646"/>
                  </a:lnTo>
                  <a:lnTo>
                    <a:pt x="3372208" y="1646"/>
                  </a:lnTo>
                  <a:lnTo>
                    <a:pt x="3868557" y="0"/>
                  </a:lnTo>
                  <a:lnTo>
                    <a:pt x="3866499" y="359775"/>
                  </a:lnTo>
                  <a:lnTo>
                    <a:pt x="3868557" y="718242"/>
                  </a:lnTo>
                  <a:lnTo>
                    <a:pt x="0" y="7182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9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Customer Identity Provider</a:t>
              </a:r>
              <a:endParaRPr lang="en-US" sz="900" dirty="0">
                <a:latin typeface="Metropolis" pitchFamily="2" charset="77"/>
              </a:endParaRPr>
            </a:p>
          </p:txBody>
        </p:sp>
        <p:sp>
          <p:nvSpPr>
            <p:cNvPr id="46" name="Google Shape;2639;p27">
              <a:extLst>
                <a:ext uri="{FF2B5EF4-FFF2-40B4-BE49-F238E27FC236}">
                  <a16:creationId xmlns:a16="http://schemas.microsoft.com/office/drawing/2014/main" id="{1D6EE2F6-E493-DA30-77AF-3AE6C108DC8B}"/>
                </a:ext>
              </a:extLst>
            </p:cNvPr>
            <p:cNvSpPr/>
            <p:nvPr/>
          </p:nvSpPr>
          <p:spPr>
            <a:xfrm>
              <a:off x="2913684" y="2465714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NSX </a:t>
              </a: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</a:rPr>
                <a:t>M</a:t>
              </a: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anager</a:t>
              </a:r>
              <a:endParaRPr sz="1600" dirty="0">
                <a:latin typeface="Metropolis" pitchFamily="2" charset="77"/>
              </a:endParaRPr>
            </a:p>
          </p:txBody>
        </p:sp>
        <p:sp>
          <p:nvSpPr>
            <p:cNvPr id="47" name="Google Shape;2641;p27">
              <a:extLst>
                <a:ext uri="{FF2B5EF4-FFF2-40B4-BE49-F238E27FC236}">
                  <a16:creationId xmlns:a16="http://schemas.microsoft.com/office/drawing/2014/main" id="{F631D156-3EEE-798A-574F-1F9B194182B8}"/>
                </a:ext>
              </a:extLst>
            </p:cNvPr>
            <p:cNvSpPr/>
            <p:nvPr/>
          </p:nvSpPr>
          <p:spPr>
            <a:xfrm>
              <a:off x="1191390" y="2207749"/>
              <a:ext cx="1270339" cy="72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vCenter</a:t>
              </a:r>
              <a:endParaRPr sz="1600" dirty="0">
                <a:latin typeface="Metropolis" pitchFamily="2" charset="77"/>
              </a:endParaRPr>
            </a:p>
          </p:txBody>
        </p:sp>
        <p:sp>
          <p:nvSpPr>
            <p:cNvPr id="48" name="Google Shape;2642;p27">
              <a:extLst>
                <a:ext uri="{FF2B5EF4-FFF2-40B4-BE49-F238E27FC236}">
                  <a16:creationId xmlns:a16="http://schemas.microsoft.com/office/drawing/2014/main" id="{A7AA9DF9-84F6-0508-3B21-4067DDD82420}"/>
                </a:ext>
              </a:extLst>
            </p:cNvPr>
            <p:cNvSpPr/>
            <p:nvPr/>
          </p:nvSpPr>
          <p:spPr>
            <a:xfrm>
              <a:off x="2932978" y="4264026"/>
              <a:ext cx="1179129" cy="465388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HCX</a:t>
              </a:r>
              <a:endParaRPr sz="1600" dirty="0">
                <a:latin typeface="Metropolis" pitchFamily="2" charset="77"/>
              </a:endParaRPr>
            </a:p>
          </p:txBody>
        </p:sp>
        <p:sp>
          <p:nvSpPr>
            <p:cNvPr id="49" name="Google Shape;2648;p27">
              <a:extLst>
                <a:ext uri="{FF2B5EF4-FFF2-40B4-BE49-F238E27FC236}">
                  <a16:creationId xmlns:a16="http://schemas.microsoft.com/office/drawing/2014/main" id="{6933D0D3-8C9E-100D-FBC0-5494B7D4F866}"/>
                </a:ext>
              </a:extLst>
            </p:cNvPr>
            <p:cNvSpPr/>
            <p:nvPr/>
          </p:nvSpPr>
          <p:spPr>
            <a:xfrm>
              <a:off x="1276920" y="2519250"/>
              <a:ext cx="1065066" cy="36108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tx1"/>
                  </a:solidFill>
                  <a:latin typeface="Metropolis" pitchFamily="2" charset="77"/>
                  <a:sym typeface="Arial"/>
                </a:rPr>
                <a:t>VCF Identity Broker</a:t>
              </a:r>
              <a:endParaRPr sz="1600" dirty="0">
                <a:solidFill>
                  <a:schemeClr val="tx1"/>
                </a:solidFill>
                <a:latin typeface="Metropolis" pitchFamily="2" charset="77"/>
              </a:endParaRPr>
            </a:p>
          </p:txBody>
        </p:sp>
        <p:sp>
          <p:nvSpPr>
            <p:cNvPr id="50" name="Google Shape;2650;p27">
              <a:extLst>
                <a:ext uri="{FF2B5EF4-FFF2-40B4-BE49-F238E27FC236}">
                  <a16:creationId xmlns:a16="http://schemas.microsoft.com/office/drawing/2014/main" id="{F877709D-5CF3-32B7-8826-D82DE3F20FC2}"/>
                </a:ext>
              </a:extLst>
            </p:cNvPr>
            <p:cNvSpPr/>
            <p:nvPr/>
          </p:nvSpPr>
          <p:spPr>
            <a:xfrm>
              <a:off x="2932978" y="3661096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Automation</a:t>
              </a:r>
              <a:endParaRPr sz="1600" dirty="0">
                <a:latin typeface="Metropolis" pitchFamily="2" charset="77"/>
              </a:endParaRPr>
            </a:p>
          </p:txBody>
        </p:sp>
        <p:sp>
          <p:nvSpPr>
            <p:cNvPr id="51" name="Google Shape;2651;p27">
              <a:extLst>
                <a:ext uri="{FF2B5EF4-FFF2-40B4-BE49-F238E27FC236}">
                  <a16:creationId xmlns:a16="http://schemas.microsoft.com/office/drawing/2014/main" id="{130AC0D4-4904-8C27-BAAC-EA035550EE23}"/>
                </a:ext>
              </a:extLst>
            </p:cNvPr>
            <p:cNvSpPr/>
            <p:nvPr/>
          </p:nvSpPr>
          <p:spPr>
            <a:xfrm>
              <a:off x="2923330" y="3060129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600" dirty="0">
                <a:latin typeface="Metropolis" pitchFamily="2" charset="77"/>
              </a:endParaRPr>
            </a:p>
          </p:txBody>
        </p:sp>
        <p:cxnSp>
          <p:nvCxnSpPr>
            <p:cNvPr id="52" name="Google Shape;2652;p27">
              <a:extLst>
                <a:ext uri="{FF2B5EF4-FFF2-40B4-BE49-F238E27FC236}">
                  <a16:creationId xmlns:a16="http://schemas.microsoft.com/office/drawing/2014/main" id="{1F4096E7-CAC0-6F58-A79F-4A9A5664DBE9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>
              <a:off x="1809453" y="2880335"/>
              <a:ext cx="0" cy="243111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" name="Google Shape;2640;p27">
              <a:extLst>
                <a:ext uri="{FF2B5EF4-FFF2-40B4-BE49-F238E27FC236}">
                  <a16:creationId xmlns:a16="http://schemas.microsoft.com/office/drawing/2014/main" id="{736412CD-7CBC-C6E4-BFE9-EC4019E4AC9C}"/>
                </a:ext>
              </a:extLst>
            </p:cNvPr>
            <p:cNvSpPr/>
            <p:nvPr/>
          </p:nvSpPr>
          <p:spPr>
            <a:xfrm>
              <a:off x="4570085" y="3661096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Tenant </a:t>
              </a: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Identity Provider</a:t>
              </a:r>
              <a:endParaRPr dirty="0">
                <a:latin typeface="Metropolis" pitchFamily="2" charset="77"/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5D64CA2-E356-7EE5-549E-FD1D832EDA46}"/>
                </a:ext>
              </a:extLst>
            </p:cNvPr>
            <p:cNvCxnSpPr>
              <a:cxnSpLocks/>
              <a:stCxn id="50" idx="3"/>
              <a:endCxn id="55" idx="1"/>
            </p:cNvCxnSpPr>
            <p:nvPr/>
          </p:nvCxnSpPr>
          <p:spPr>
            <a:xfrm>
              <a:off x="4112107" y="3893790"/>
              <a:ext cx="457978" cy="0"/>
            </a:xfrm>
            <a:prstGeom prst="straightConnector1">
              <a:avLst/>
            </a:prstGeom>
            <a:ln w="127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1D9B180F-7D04-D9E2-3721-C227DB85F863}"/>
                </a:ext>
              </a:extLst>
            </p:cNvPr>
            <p:cNvCxnSpPr>
              <a:cxnSpLocks/>
              <a:stCxn id="48" idx="1"/>
              <a:endCxn id="49" idx="3"/>
            </p:cNvCxnSpPr>
            <p:nvPr/>
          </p:nvCxnSpPr>
          <p:spPr>
            <a:xfrm rot="10800000">
              <a:off x="2341986" y="2699794"/>
              <a:ext cx="590992" cy="1796927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lbow Connector 77">
              <a:extLst>
                <a:ext uri="{FF2B5EF4-FFF2-40B4-BE49-F238E27FC236}">
                  <a16:creationId xmlns:a16="http://schemas.microsoft.com/office/drawing/2014/main" id="{1A626112-938A-6098-E545-D90EDBF0F79E}"/>
                </a:ext>
              </a:extLst>
            </p:cNvPr>
            <p:cNvCxnSpPr>
              <a:cxnSpLocks/>
              <a:stCxn id="50" idx="1"/>
              <a:endCxn id="49" idx="3"/>
            </p:cNvCxnSpPr>
            <p:nvPr/>
          </p:nvCxnSpPr>
          <p:spPr>
            <a:xfrm rot="10800000">
              <a:off x="2341986" y="2699794"/>
              <a:ext cx="590992" cy="1193997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Elbow Connector 81">
              <a:extLst>
                <a:ext uri="{FF2B5EF4-FFF2-40B4-BE49-F238E27FC236}">
                  <a16:creationId xmlns:a16="http://schemas.microsoft.com/office/drawing/2014/main" id="{EEDCC809-1546-911C-B7B8-73C2C51BEA40}"/>
                </a:ext>
              </a:extLst>
            </p:cNvPr>
            <p:cNvCxnSpPr>
              <a:cxnSpLocks/>
              <a:endCxn id="49" idx="3"/>
            </p:cNvCxnSpPr>
            <p:nvPr/>
          </p:nvCxnSpPr>
          <p:spPr>
            <a:xfrm rot="10800000">
              <a:off x="2341987" y="2699794"/>
              <a:ext cx="590993" cy="45245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9705EA9D-E387-DBC9-C6BD-A011F5E4D5B9}"/>
                </a:ext>
              </a:extLst>
            </p:cNvPr>
            <p:cNvCxnSpPr>
              <a:cxnSpLocks/>
              <a:stCxn id="46" idx="1"/>
              <a:endCxn id="49" idx="3"/>
            </p:cNvCxnSpPr>
            <p:nvPr/>
          </p:nvCxnSpPr>
          <p:spPr>
            <a:xfrm rot="10800000" flipV="1">
              <a:off x="2341986" y="2698407"/>
              <a:ext cx="571698" cy="138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Google Shape;1326;p61">
            <a:extLst>
              <a:ext uri="{FF2B5EF4-FFF2-40B4-BE49-F238E27FC236}">
                <a16:creationId xmlns:a16="http://schemas.microsoft.com/office/drawing/2014/main" id="{A32A6131-93E6-CD66-2E8C-B11743D66685}"/>
              </a:ext>
            </a:extLst>
          </p:cNvPr>
          <p:cNvSpPr/>
          <p:nvPr/>
        </p:nvSpPr>
        <p:spPr>
          <a:xfrm>
            <a:off x="6153334" y="928864"/>
            <a:ext cx="5103539" cy="51614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rPr>
              <a:t>Appliance VCF Identity Broker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924CBCA-8223-1663-230A-7938E753C92E}"/>
              </a:ext>
            </a:extLst>
          </p:cNvPr>
          <p:cNvGrpSpPr/>
          <p:nvPr/>
        </p:nvGrpSpPr>
        <p:grpSpPr>
          <a:xfrm>
            <a:off x="6317353" y="1357449"/>
            <a:ext cx="4817262" cy="4588272"/>
            <a:chOff x="6317353" y="1357449"/>
            <a:chExt cx="4817262" cy="4588272"/>
          </a:xfrm>
        </p:grpSpPr>
        <p:sp>
          <p:nvSpPr>
            <p:cNvPr id="121" name="Google Shape;2713;p28">
              <a:extLst>
                <a:ext uri="{FF2B5EF4-FFF2-40B4-BE49-F238E27FC236}">
                  <a16:creationId xmlns:a16="http://schemas.microsoft.com/office/drawing/2014/main" id="{ACC82399-A95D-E00B-2AA3-1DA6231209D1}"/>
                </a:ext>
              </a:extLst>
            </p:cNvPr>
            <p:cNvSpPr/>
            <p:nvPr/>
          </p:nvSpPr>
          <p:spPr>
            <a:xfrm>
              <a:off x="6317353" y="1357449"/>
              <a:ext cx="3481223" cy="378538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5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</a:t>
              </a:r>
              <a:endParaRPr sz="1050" dirty="0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2" name="Google Shape;2716;p28">
              <a:extLst>
                <a:ext uri="{FF2B5EF4-FFF2-40B4-BE49-F238E27FC236}">
                  <a16:creationId xmlns:a16="http://schemas.microsoft.com/office/drawing/2014/main" id="{8122E109-37F9-BD88-402A-32A62CFA0984}"/>
                </a:ext>
              </a:extLst>
            </p:cNvPr>
            <p:cNvSpPr/>
            <p:nvPr/>
          </p:nvSpPr>
          <p:spPr>
            <a:xfrm>
              <a:off x="6474263" y="1761068"/>
              <a:ext cx="3202394" cy="3116730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5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050" dirty="0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3" name="Google Shape;2723;p28">
              <a:extLst>
                <a:ext uri="{FF2B5EF4-FFF2-40B4-BE49-F238E27FC236}">
                  <a16:creationId xmlns:a16="http://schemas.microsoft.com/office/drawing/2014/main" id="{6D6CEA3A-D2F2-72E8-294C-AE4B4F0D41C1}"/>
                </a:ext>
              </a:extLst>
            </p:cNvPr>
            <p:cNvSpPr/>
            <p:nvPr/>
          </p:nvSpPr>
          <p:spPr>
            <a:xfrm>
              <a:off x="6474264" y="5311452"/>
              <a:ext cx="3202394" cy="634269"/>
            </a:xfrm>
            <a:custGeom>
              <a:avLst/>
              <a:gdLst/>
              <a:ahLst/>
              <a:cxnLst/>
              <a:rect l="l" t="t" r="r" b="b"/>
              <a:pathLst>
                <a:path w="3868557" h="718242" extrusionOk="0">
                  <a:moveTo>
                    <a:pt x="0" y="0"/>
                  </a:moveTo>
                  <a:lnTo>
                    <a:pt x="2350232" y="1646"/>
                  </a:lnTo>
                  <a:lnTo>
                    <a:pt x="3372208" y="1646"/>
                  </a:lnTo>
                  <a:lnTo>
                    <a:pt x="3868557" y="0"/>
                  </a:lnTo>
                  <a:lnTo>
                    <a:pt x="3866499" y="359775"/>
                  </a:lnTo>
                  <a:lnTo>
                    <a:pt x="3868557" y="718242"/>
                  </a:lnTo>
                  <a:lnTo>
                    <a:pt x="0" y="7182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9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Customer Identity Provider</a:t>
              </a:r>
              <a:endParaRPr lang="en-US" sz="900" dirty="0">
                <a:latin typeface="Metropolis" pitchFamily="2" charset="77"/>
              </a:endParaRPr>
            </a:p>
          </p:txBody>
        </p:sp>
        <p:sp>
          <p:nvSpPr>
            <p:cNvPr id="124" name="Google Shape;2639;p27">
              <a:extLst>
                <a:ext uri="{FF2B5EF4-FFF2-40B4-BE49-F238E27FC236}">
                  <a16:creationId xmlns:a16="http://schemas.microsoft.com/office/drawing/2014/main" id="{9F1A88A2-723E-E287-1FBE-66EC12432075}"/>
                </a:ext>
              </a:extLst>
            </p:cNvPr>
            <p:cNvSpPr/>
            <p:nvPr/>
          </p:nvSpPr>
          <p:spPr>
            <a:xfrm>
              <a:off x="8299085" y="2465714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NSX </a:t>
              </a: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</a:rPr>
                <a:t>M</a:t>
              </a: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anager</a:t>
              </a:r>
              <a:endParaRPr sz="900" dirty="0">
                <a:latin typeface="Metropolis" pitchFamily="2" charset="77"/>
              </a:endParaRPr>
            </a:p>
          </p:txBody>
        </p:sp>
        <p:sp>
          <p:nvSpPr>
            <p:cNvPr id="126" name="Google Shape;2642;p27">
              <a:extLst>
                <a:ext uri="{FF2B5EF4-FFF2-40B4-BE49-F238E27FC236}">
                  <a16:creationId xmlns:a16="http://schemas.microsoft.com/office/drawing/2014/main" id="{E0E429D9-89E1-49C9-08C5-FA176CA37C72}"/>
                </a:ext>
              </a:extLst>
            </p:cNvPr>
            <p:cNvSpPr/>
            <p:nvPr/>
          </p:nvSpPr>
          <p:spPr>
            <a:xfrm>
              <a:off x="8318379" y="4264026"/>
              <a:ext cx="1179129" cy="465388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HCX</a:t>
              </a:r>
              <a:endParaRPr sz="900" dirty="0">
                <a:latin typeface="Metropolis" pitchFamily="2" charset="77"/>
              </a:endParaRPr>
            </a:p>
          </p:txBody>
        </p:sp>
        <p:sp>
          <p:nvSpPr>
            <p:cNvPr id="128" name="Google Shape;2650;p27">
              <a:extLst>
                <a:ext uri="{FF2B5EF4-FFF2-40B4-BE49-F238E27FC236}">
                  <a16:creationId xmlns:a16="http://schemas.microsoft.com/office/drawing/2014/main" id="{EF2C676F-A143-A4BD-3462-64AE9042C5CD}"/>
                </a:ext>
              </a:extLst>
            </p:cNvPr>
            <p:cNvSpPr/>
            <p:nvPr/>
          </p:nvSpPr>
          <p:spPr>
            <a:xfrm>
              <a:off x="8318379" y="3661096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Automation</a:t>
              </a:r>
              <a:endParaRPr sz="900">
                <a:latin typeface="Metropolis" pitchFamily="2" charset="77"/>
              </a:endParaRPr>
            </a:p>
          </p:txBody>
        </p:sp>
        <p:sp>
          <p:nvSpPr>
            <p:cNvPr id="129" name="Google Shape;2651;p27">
              <a:extLst>
                <a:ext uri="{FF2B5EF4-FFF2-40B4-BE49-F238E27FC236}">
                  <a16:creationId xmlns:a16="http://schemas.microsoft.com/office/drawing/2014/main" id="{0918277C-0C37-4CAC-CBC5-8482113587DE}"/>
                </a:ext>
              </a:extLst>
            </p:cNvPr>
            <p:cNvSpPr/>
            <p:nvPr/>
          </p:nvSpPr>
          <p:spPr>
            <a:xfrm>
              <a:off x="8308731" y="3060129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900" dirty="0">
                <a:latin typeface="Metropolis" pitchFamily="2" charset="77"/>
              </a:endParaRPr>
            </a:p>
          </p:txBody>
        </p:sp>
        <p:cxnSp>
          <p:nvCxnSpPr>
            <p:cNvPr id="130" name="Google Shape;2652;p27">
              <a:extLst>
                <a:ext uri="{FF2B5EF4-FFF2-40B4-BE49-F238E27FC236}">
                  <a16:creationId xmlns:a16="http://schemas.microsoft.com/office/drawing/2014/main" id="{2BB0F108-2ED9-DC2A-EA3C-F4DD1325DC60}"/>
                </a:ext>
              </a:extLst>
            </p:cNvPr>
            <p:cNvCxnSpPr>
              <a:cxnSpLocks/>
            </p:cNvCxnSpPr>
            <p:nvPr/>
          </p:nvCxnSpPr>
          <p:spPr>
            <a:xfrm>
              <a:off x="7194854" y="2880335"/>
              <a:ext cx="0" cy="243111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31" name="Google Shape;2640;p27">
              <a:extLst>
                <a:ext uri="{FF2B5EF4-FFF2-40B4-BE49-F238E27FC236}">
                  <a16:creationId xmlns:a16="http://schemas.microsoft.com/office/drawing/2014/main" id="{08C7FC9E-292A-49C7-4C54-C042F7565D8A}"/>
                </a:ext>
              </a:extLst>
            </p:cNvPr>
            <p:cNvSpPr/>
            <p:nvPr/>
          </p:nvSpPr>
          <p:spPr>
            <a:xfrm>
              <a:off x="9955486" y="3661096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Tenant </a:t>
              </a:r>
              <a:r>
                <a:rPr lang="en-US" sz="9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Identity Provider</a:t>
              </a:r>
              <a:endParaRPr sz="900" dirty="0">
                <a:latin typeface="Metropolis" pitchFamily="2" charset="77"/>
              </a:endParaRPr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68938587-143F-D2AA-0705-9A896393B51D}"/>
                </a:ext>
              </a:extLst>
            </p:cNvPr>
            <p:cNvCxnSpPr>
              <a:cxnSpLocks/>
              <a:stCxn id="128" idx="3"/>
              <a:endCxn id="131" idx="1"/>
            </p:cNvCxnSpPr>
            <p:nvPr/>
          </p:nvCxnSpPr>
          <p:spPr>
            <a:xfrm>
              <a:off x="9497508" y="3893790"/>
              <a:ext cx="457978" cy="0"/>
            </a:xfrm>
            <a:prstGeom prst="straightConnector1">
              <a:avLst/>
            </a:prstGeom>
            <a:ln w="127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Elbow Connector 132">
              <a:extLst>
                <a:ext uri="{FF2B5EF4-FFF2-40B4-BE49-F238E27FC236}">
                  <a16:creationId xmlns:a16="http://schemas.microsoft.com/office/drawing/2014/main" id="{ECEF361D-6CDC-812B-09E6-7A05FBEA30A9}"/>
                </a:ext>
              </a:extLst>
            </p:cNvPr>
            <p:cNvCxnSpPr>
              <a:cxnSpLocks/>
              <a:stCxn id="126" idx="1"/>
              <a:endCxn id="138" idx="3"/>
            </p:cNvCxnSpPr>
            <p:nvPr/>
          </p:nvCxnSpPr>
          <p:spPr>
            <a:xfrm rot="10800000">
              <a:off x="7746683" y="2695266"/>
              <a:ext cx="571697" cy="1801454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Elbow Connector 133">
              <a:extLst>
                <a:ext uri="{FF2B5EF4-FFF2-40B4-BE49-F238E27FC236}">
                  <a16:creationId xmlns:a16="http://schemas.microsoft.com/office/drawing/2014/main" id="{30147ABB-2EC5-0975-8323-7B55FAEFB80B}"/>
                </a:ext>
              </a:extLst>
            </p:cNvPr>
            <p:cNvCxnSpPr>
              <a:cxnSpLocks/>
              <a:stCxn id="128" idx="1"/>
              <a:endCxn id="138" idx="3"/>
            </p:cNvCxnSpPr>
            <p:nvPr/>
          </p:nvCxnSpPr>
          <p:spPr>
            <a:xfrm rot="10800000">
              <a:off x="7746683" y="2695266"/>
              <a:ext cx="571697" cy="119852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Elbow Connector 134">
              <a:extLst>
                <a:ext uri="{FF2B5EF4-FFF2-40B4-BE49-F238E27FC236}">
                  <a16:creationId xmlns:a16="http://schemas.microsoft.com/office/drawing/2014/main" id="{6C6EA40B-A666-18F9-9F15-981C42DE46F2}"/>
                </a:ext>
              </a:extLst>
            </p:cNvPr>
            <p:cNvCxnSpPr>
              <a:cxnSpLocks/>
              <a:endCxn id="138" idx="3"/>
            </p:cNvCxnSpPr>
            <p:nvPr/>
          </p:nvCxnSpPr>
          <p:spPr>
            <a:xfrm rot="10800000">
              <a:off x="7746682" y="2695267"/>
              <a:ext cx="571700" cy="50461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Elbow Connector 135">
              <a:extLst>
                <a:ext uri="{FF2B5EF4-FFF2-40B4-BE49-F238E27FC236}">
                  <a16:creationId xmlns:a16="http://schemas.microsoft.com/office/drawing/2014/main" id="{15F2DD6E-8831-6165-4E80-519F2556975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746681" y="2693696"/>
              <a:ext cx="552403" cy="314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Google Shape;2639;p27">
              <a:extLst>
                <a:ext uri="{FF2B5EF4-FFF2-40B4-BE49-F238E27FC236}">
                  <a16:creationId xmlns:a16="http://schemas.microsoft.com/office/drawing/2014/main" id="{0EEF663F-C2F1-82F6-F155-12E38E2C61B3}"/>
                </a:ext>
              </a:extLst>
            </p:cNvPr>
            <p:cNvSpPr/>
            <p:nvPr/>
          </p:nvSpPr>
          <p:spPr>
            <a:xfrm>
              <a:off x="8299084" y="1866132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vCenter</a:t>
              </a:r>
              <a:endParaRPr sz="1600" dirty="0">
                <a:latin typeface="Metropolis" pitchFamily="2" charset="77"/>
              </a:endParaRPr>
            </a:p>
          </p:txBody>
        </p:sp>
        <p:sp>
          <p:nvSpPr>
            <p:cNvPr id="138" name="Google Shape;2639;p27">
              <a:extLst>
                <a:ext uri="{FF2B5EF4-FFF2-40B4-BE49-F238E27FC236}">
                  <a16:creationId xmlns:a16="http://schemas.microsoft.com/office/drawing/2014/main" id="{7F1C7CF9-BCB0-56FD-B3D1-5F9561B1297E}"/>
                </a:ext>
              </a:extLst>
            </p:cNvPr>
            <p:cNvSpPr/>
            <p:nvPr/>
          </p:nvSpPr>
          <p:spPr>
            <a:xfrm>
              <a:off x="6567553" y="2462572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</a:t>
              </a:r>
              <a:endParaRPr sz="1600" dirty="0">
                <a:latin typeface="Metropolis" pitchFamily="2" charset="77"/>
              </a:endParaRPr>
            </a:p>
          </p:txBody>
        </p:sp>
        <p:cxnSp>
          <p:nvCxnSpPr>
            <p:cNvPr id="139" name="Elbow Connector 138">
              <a:extLst>
                <a:ext uri="{FF2B5EF4-FFF2-40B4-BE49-F238E27FC236}">
                  <a16:creationId xmlns:a16="http://schemas.microsoft.com/office/drawing/2014/main" id="{3B4A8198-D7D3-2516-B915-2ADB548AEDA5}"/>
                </a:ext>
              </a:extLst>
            </p:cNvPr>
            <p:cNvCxnSpPr>
              <a:cxnSpLocks/>
              <a:stCxn id="137" idx="1"/>
              <a:endCxn id="138" idx="3"/>
            </p:cNvCxnSpPr>
            <p:nvPr/>
          </p:nvCxnSpPr>
          <p:spPr>
            <a:xfrm rot="10800000" flipV="1">
              <a:off x="7746682" y="2098826"/>
              <a:ext cx="552402" cy="596440"/>
            </a:xfrm>
            <a:prstGeom prst="bentConnector3">
              <a:avLst>
                <a:gd name="adj1" fmla="val 48385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272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C53F15-D433-7D82-B67F-8A1F60F7B6DC}"/>
              </a:ext>
            </a:extLst>
          </p:cNvPr>
          <p:cNvSpPr/>
          <p:nvPr/>
        </p:nvSpPr>
        <p:spPr>
          <a:xfrm>
            <a:off x="377053" y="896571"/>
            <a:ext cx="5503050" cy="5220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dirty="0"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2435" name="Google Shape;2435;p21"/>
          <p:cNvSpPr/>
          <p:nvPr/>
        </p:nvSpPr>
        <p:spPr>
          <a:xfrm>
            <a:off x="617438" y="5381731"/>
            <a:ext cx="5029946" cy="576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Customer Identity Provider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36" name="Google Shape;2436;p21"/>
          <p:cNvSpPr/>
          <p:nvPr/>
        </p:nvSpPr>
        <p:spPr>
          <a:xfrm>
            <a:off x="463137" y="2560532"/>
            <a:ext cx="5357683" cy="258703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dirty="0">
                <a:solidFill>
                  <a:schemeClr val="tx1"/>
                </a:solidFill>
                <a:latin typeface="Metropolis" pitchFamily="2" charset="77"/>
              </a:rPr>
              <a:t>VCF Instance</a:t>
            </a:r>
          </a:p>
        </p:txBody>
      </p:sp>
      <p:sp>
        <p:nvSpPr>
          <p:cNvPr id="2437" name="Google Shape;2437;p21"/>
          <p:cNvSpPr/>
          <p:nvPr/>
        </p:nvSpPr>
        <p:spPr>
          <a:xfrm>
            <a:off x="975322" y="4111112"/>
            <a:ext cx="4310049" cy="793383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vCenter</a:t>
            </a:r>
            <a:endParaRPr sz="1000" b="0" i="0" u="none" strike="noStrike" cap="none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39" name="Google Shape;2439;p21"/>
          <p:cNvSpPr/>
          <p:nvPr/>
        </p:nvSpPr>
        <p:spPr>
          <a:xfrm>
            <a:off x="993528" y="3077808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2380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40" name="Google Shape;2440;p21"/>
          <p:cNvSpPr/>
          <p:nvPr/>
        </p:nvSpPr>
        <p:spPr>
          <a:xfrm>
            <a:off x="4313371" y="3074951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VCF Automation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42" name="Google Shape;2442;p21"/>
          <p:cNvSpPr/>
          <p:nvPr/>
        </p:nvSpPr>
        <p:spPr>
          <a:xfrm>
            <a:off x="2646807" y="4337852"/>
            <a:ext cx="1042334" cy="4511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2"/>
                </a:solidFill>
                <a:latin typeface="Metropolis" pitchFamily="2" charset="77"/>
                <a:sym typeface="Arial"/>
              </a:rPr>
              <a:t>VCF Identity Broker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43" name="Google Shape;2443;p21"/>
          <p:cNvSpPr/>
          <p:nvPr/>
        </p:nvSpPr>
        <p:spPr>
          <a:xfrm>
            <a:off x="2597706" y="1037732"/>
            <a:ext cx="1096994" cy="1096994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endParaRPr sz="1999" b="1" i="0" u="none" strike="noStrike" cap="none">
              <a:solidFill>
                <a:srgbClr val="FFFFFF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2444" name="Google Shape;244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3346" y="1264564"/>
            <a:ext cx="711200" cy="71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5" name="Google Shape;2445;p21"/>
          <p:cNvCxnSpPr>
            <a:cxnSpLocks/>
            <a:stCxn id="2437" idx="2"/>
            <a:endCxn id="2435" idx="0"/>
          </p:cNvCxnSpPr>
          <p:nvPr/>
        </p:nvCxnSpPr>
        <p:spPr>
          <a:xfrm>
            <a:off x="3130347" y="4904495"/>
            <a:ext cx="2064" cy="477236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48" name="Google Shape;2448;p21"/>
          <p:cNvCxnSpPr>
            <a:cxnSpLocks/>
            <a:stCxn id="2443" idx="6"/>
            <a:endCxn id="2440" idx="0"/>
          </p:cNvCxnSpPr>
          <p:nvPr/>
        </p:nvCxnSpPr>
        <p:spPr>
          <a:xfrm>
            <a:off x="3694700" y="1586229"/>
            <a:ext cx="1104671" cy="1488722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49" name="Google Shape;2449;p21"/>
          <p:cNvCxnSpPr>
            <a:cxnSpLocks/>
            <a:stCxn id="2439" idx="2"/>
          </p:cNvCxnSpPr>
          <p:nvPr/>
        </p:nvCxnSpPr>
        <p:spPr>
          <a:xfrm>
            <a:off x="1479528" y="3527808"/>
            <a:ext cx="0" cy="57077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50" name="Google Shape;2450;p21"/>
          <p:cNvCxnSpPr>
            <a:cxnSpLocks/>
            <a:stCxn id="2440" idx="2"/>
          </p:cNvCxnSpPr>
          <p:nvPr/>
        </p:nvCxnSpPr>
        <p:spPr>
          <a:xfrm>
            <a:off x="4799371" y="3524951"/>
            <a:ext cx="0" cy="57347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" name="Google Shape;2439;p21">
            <a:extLst>
              <a:ext uri="{FF2B5EF4-FFF2-40B4-BE49-F238E27FC236}">
                <a16:creationId xmlns:a16="http://schemas.microsoft.com/office/drawing/2014/main" id="{1FEE9F0D-4D68-0CCE-E537-9759A84211FA}"/>
              </a:ext>
            </a:extLst>
          </p:cNvPr>
          <p:cNvSpPr/>
          <p:nvPr/>
        </p:nvSpPr>
        <p:spPr>
          <a:xfrm>
            <a:off x="2098380" y="3070082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NSX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Manager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" name="Google Shape;2439;p21">
            <a:extLst>
              <a:ext uri="{FF2B5EF4-FFF2-40B4-BE49-F238E27FC236}">
                <a16:creationId xmlns:a16="http://schemas.microsoft.com/office/drawing/2014/main" id="{20936C48-EB7E-C8D5-CCD6-76CA5517CE52}"/>
              </a:ext>
            </a:extLst>
          </p:cNvPr>
          <p:cNvSpPr/>
          <p:nvPr/>
        </p:nvSpPr>
        <p:spPr>
          <a:xfrm>
            <a:off x="3220611" y="3074758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HCX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" name="Google Shape;2451;p21">
            <a:extLst>
              <a:ext uri="{FF2B5EF4-FFF2-40B4-BE49-F238E27FC236}">
                <a16:creationId xmlns:a16="http://schemas.microsoft.com/office/drawing/2014/main" id="{30E2EFCA-3FE5-0A0B-4577-F9254EA1BC8F}"/>
              </a:ext>
            </a:extLst>
          </p:cNvPr>
          <p:cNvCxnSpPr>
            <a:cxnSpLocks/>
            <a:stCxn id="2443" idx="3"/>
            <a:endCxn id="2" idx="0"/>
          </p:cNvCxnSpPr>
          <p:nvPr/>
        </p:nvCxnSpPr>
        <p:spPr>
          <a:xfrm rot="5400000">
            <a:off x="2123366" y="2435090"/>
            <a:ext cx="1096007" cy="173977"/>
          </a:xfrm>
          <a:prstGeom prst="bentConnector3">
            <a:avLst>
              <a:gd name="adj1" fmla="val 40340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" name="Google Shape;2451;p21">
            <a:extLst>
              <a:ext uri="{FF2B5EF4-FFF2-40B4-BE49-F238E27FC236}">
                <a16:creationId xmlns:a16="http://schemas.microsoft.com/office/drawing/2014/main" id="{CD386D70-6B41-C96C-44E8-869CDEFADEA4}"/>
              </a:ext>
            </a:extLst>
          </p:cNvPr>
          <p:cNvCxnSpPr>
            <a:cxnSpLocks/>
            <a:stCxn id="2443" idx="5"/>
            <a:endCxn id="3" idx="0"/>
          </p:cNvCxnSpPr>
          <p:nvPr/>
        </p:nvCxnSpPr>
        <p:spPr>
          <a:xfrm rot="16200000" flipH="1">
            <a:off x="3069989" y="2438135"/>
            <a:ext cx="1100683" cy="172562"/>
          </a:xfrm>
          <a:prstGeom prst="bentConnector3">
            <a:avLst>
              <a:gd name="adj1" fmla="val 39506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" name="Google Shape;2428;p21">
            <a:extLst>
              <a:ext uri="{FF2B5EF4-FFF2-40B4-BE49-F238E27FC236}">
                <a16:creationId xmlns:a16="http://schemas.microsoft.com/office/drawing/2014/main" id="{D416E863-B5B9-F717-9DBB-6D605A77E3C2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584380" y="3520082"/>
            <a:ext cx="0" cy="57077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" name="Google Shape;2428;p21">
            <a:extLst>
              <a:ext uri="{FF2B5EF4-FFF2-40B4-BE49-F238E27FC236}">
                <a16:creationId xmlns:a16="http://schemas.microsoft.com/office/drawing/2014/main" id="{A1A58D53-7DDE-6AF4-19DE-C1CBA557DF21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3706611" y="3524758"/>
            <a:ext cx="0" cy="566096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C4C062F8-A935-109B-AB7E-54E83C325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VCF </a:t>
            </a:r>
            <a:r>
              <a:rPr lang="en-GB" sz="2400" dirty="0"/>
              <a:t>Identity Broker Models v1.0</a:t>
            </a:r>
            <a:endParaRPr lang="en-US" sz="24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04CE3F-3F04-93C6-CCC8-B002D7EA6588}"/>
              </a:ext>
            </a:extLst>
          </p:cNvPr>
          <p:cNvSpPr/>
          <p:nvPr/>
        </p:nvSpPr>
        <p:spPr>
          <a:xfrm>
            <a:off x="6423075" y="881007"/>
            <a:ext cx="5503050" cy="5220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dirty="0"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50" name="Google Shape;2435;p21">
            <a:extLst>
              <a:ext uri="{FF2B5EF4-FFF2-40B4-BE49-F238E27FC236}">
                <a16:creationId xmlns:a16="http://schemas.microsoft.com/office/drawing/2014/main" id="{20194CC1-F724-9BB9-F083-FDE88B6B5D96}"/>
              </a:ext>
            </a:extLst>
          </p:cNvPr>
          <p:cNvSpPr/>
          <p:nvPr/>
        </p:nvSpPr>
        <p:spPr>
          <a:xfrm>
            <a:off x="6686131" y="5366167"/>
            <a:ext cx="5029946" cy="576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Customer Identity Provider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51" name="Google Shape;2436;p21">
            <a:extLst>
              <a:ext uri="{FF2B5EF4-FFF2-40B4-BE49-F238E27FC236}">
                <a16:creationId xmlns:a16="http://schemas.microsoft.com/office/drawing/2014/main" id="{7BD1EDE9-902F-2B37-DD40-A1FD9061EE13}"/>
              </a:ext>
            </a:extLst>
          </p:cNvPr>
          <p:cNvSpPr/>
          <p:nvPr/>
        </p:nvSpPr>
        <p:spPr>
          <a:xfrm>
            <a:off x="6509159" y="2544968"/>
            <a:ext cx="5357683" cy="258703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dirty="0">
                <a:solidFill>
                  <a:schemeClr val="tx1"/>
                </a:solidFill>
                <a:latin typeface="Metropolis" pitchFamily="2" charset="77"/>
              </a:rPr>
              <a:t>VCF Instance</a:t>
            </a:r>
          </a:p>
        </p:txBody>
      </p:sp>
      <p:sp>
        <p:nvSpPr>
          <p:cNvPr id="52" name="Google Shape;2437;p21">
            <a:extLst>
              <a:ext uri="{FF2B5EF4-FFF2-40B4-BE49-F238E27FC236}">
                <a16:creationId xmlns:a16="http://schemas.microsoft.com/office/drawing/2014/main" id="{6724010E-E195-93C3-05E5-E23C9F800759}"/>
              </a:ext>
            </a:extLst>
          </p:cNvPr>
          <p:cNvSpPr/>
          <p:nvPr/>
        </p:nvSpPr>
        <p:spPr>
          <a:xfrm>
            <a:off x="6608801" y="4095548"/>
            <a:ext cx="5176157" cy="793383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rgbClr val="6C4B9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000"/>
            </a:pPr>
            <a:r>
              <a:rPr lang="en-US" sz="1000" dirty="0">
                <a:solidFill>
                  <a:schemeClr val="dk2"/>
                </a:solidFill>
                <a:latin typeface="Metropolis" pitchFamily="2" charset="77"/>
              </a:rPr>
              <a:t>VCF Identity Broker Cluster</a:t>
            </a:r>
            <a:endParaRPr lang="en-US" dirty="0">
              <a:latin typeface="Metropolis" pitchFamily="2" charset="77"/>
            </a:endParaRPr>
          </a:p>
        </p:txBody>
      </p:sp>
      <p:sp>
        <p:nvSpPr>
          <p:cNvPr id="53" name="Google Shape;2439;p21">
            <a:extLst>
              <a:ext uri="{FF2B5EF4-FFF2-40B4-BE49-F238E27FC236}">
                <a16:creationId xmlns:a16="http://schemas.microsoft.com/office/drawing/2014/main" id="{4E7CBEE8-6A03-6EE0-AA9F-4A0ED7FDD8E9}"/>
              </a:ext>
            </a:extLst>
          </p:cNvPr>
          <p:cNvSpPr/>
          <p:nvPr/>
        </p:nvSpPr>
        <p:spPr>
          <a:xfrm>
            <a:off x="6608801" y="3062244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2380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54" name="Google Shape;2440;p21">
            <a:extLst>
              <a:ext uri="{FF2B5EF4-FFF2-40B4-BE49-F238E27FC236}">
                <a16:creationId xmlns:a16="http://schemas.microsoft.com/office/drawing/2014/main" id="{CF75A931-8716-0CE4-DA7C-911FC3399279}"/>
              </a:ext>
            </a:extLst>
          </p:cNvPr>
          <p:cNvSpPr/>
          <p:nvPr/>
        </p:nvSpPr>
        <p:spPr>
          <a:xfrm>
            <a:off x="10812963" y="3059387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VCF Automation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55" name="Google Shape;2442;p21">
            <a:extLst>
              <a:ext uri="{FF2B5EF4-FFF2-40B4-BE49-F238E27FC236}">
                <a16:creationId xmlns:a16="http://schemas.microsoft.com/office/drawing/2014/main" id="{2AF62F90-F85B-679F-1E13-56D447DEBEF8}"/>
              </a:ext>
            </a:extLst>
          </p:cNvPr>
          <p:cNvSpPr/>
          <p:nvPr/>
        </p:nvSpPr>
        <p:spPr>
          <a:xfrm>
            <a:off x="8692829" y="4322288"/>
            <a:ext cx="1042334" cy="4511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2"/>
                </a:solidFill>
                <a:latin typeface="Metropolis" pitchFamily="2" charset="77"/>
                <a:sym typeface="Arial"/>
              </a:rPr>
              <a:t>VCF Identity Broker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56" name="Google Shape;2443;p21">
            <a:extLst>
              <a:ext uri="{FF2B5EF4-FFF2-40B4-BE49-F238E27FC236}">
                <a16:creationId xmlns:a16="http://schemas.microsoft.com/office/drawing/2014/main" id="{24F2D170-FC1C-2B36-ED47-2F1B647BDFD5}"/>
              </a:ext>
            </a:extLst>
          </p:cNvPr>
          <p:cNvSpPr/>
          <p:nvPr/>
        </p:nvSpPr>
        <p:spPr>
          <a:xfrm>
            <a:off x="8643728" y="1022168"/>
            <a:ext cx="1096994" cy="1096994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endParaRPr sz="1999" b="1" i="0" u="none" strike="noStrike" cap="none">
              <a:solidFill>
                <a:srgbClr val="FFFFFF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57" name="Google Shape;2444;p21">
            <a:extLst>
              <a:ext uri="{FF2B5EF4-FFF2-40B4-BE49-F238E27FC236}">
                <a16:creationId xmlns:a16="http://schemas.microsoft.com/office/drawing/2014/main" id="{551BF550-D99C-BDA0-9FDC-39C39A6523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9368" y="1249000"/>
            <a:ext cx="711200" cy="71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2445;p21">
            <a:extLst>
              <a:ext uri="{FF2B5EF4-FFF2-40B4-BE49-F238E27FC236}">
                <a16:creationId xmlns:a16="http://schemas.microsoft.com/office/drawing/2014/main" id="{A84275D1-D088-E4B8-F24C-4C1895B895F3}"/>
              </a:ext>
            </a:extLst>
          </p:cNvPr>
          <p:cNvCxnSpPr>
            <a:cxnSpLocks/>
            <a:stCxn id="52" idx="2"/>
            <a:endCxn id="50" idx="0"/>
          </p:cNvCxnSpPr>
          <p:nvPr/>
        </p:nvCxnSpPr>
        <p:spPr>
          <a:xfrm>
            <a:off x="9196880" y="4888931"/>
            <a:ext cx="4224" cy="477236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" name="Google Shape;2448;p21">
            <a:extLst>
              <a:ext uri="{FF2B5EF4-FFF2-40B4-BE49-F238E27FC236}">
                <a16:creationId xmlns:a16="http://schemas.microsoft.com/office/drawing/2014/main" id="{EA51FF12-525C-C25D-CE34-AB3F0234EB78}"/>
              </a:ext>
            </a:extLst>
          </p:cNvPr>
          <p:cNvCxnSpPr>
            <a:cxnSpLocks/>
            <a:stCxn id="56" idx="6"/>
          </p:cNvCxnSpPr>
          <p:nvPr/>
        </p:nvCxnSpPr>
        <p:spPr>
          <a:xfrm>
            <a:off x="9740722" y="1570665"/>
            <a:ext cx="1226432" cy="1488721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" name="Google Shape;2449;p21">
            <a:extLst>
              <a:ext uri="{FF2B5EF4-FFF2-40B4-BE49-F238E27FC236}">
                <a16:creationId xmlns:a16="http://schemas.microsoft.com/office/drawing/2014/main" id="{9B19E40B-9545-D778-922B-C7C3E4FFE313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7094801" y="3512244"/>
            <a:ext cx="0" cy="57077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" name="Google Shape;2450;p21">
            <a:extLst>
              <a:ext uri="{FF2B5EF4-FFF2-40B4-BE49-F238E27FC236}">
                <a16:creationId xmlns:a16="http://schemas.microsoft.com/office/drawing/2014/main" id="{FB3C7BD9-0026-4982-A2B9-C659DAD950FB}"/>
              </a:ext>
            </a:extLst>
          </p:cNvPr>
          <p:cNvCxnSpPr>
            <a:cxnSpLocks/>
            <a:stCxn id="54" idx="2"/>
          </p:cNvCxnSpPr>
          <p:nvPr/>
        </p:nvCxnSpPr>
        <p:spPr>
          <a:xfrm>
            <a:off x="11298963" y="3509387"/>
            <a:ext cx="0" cy="57347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" name="Google Shape;2439;p21">
            <a:extLst>
              <a:ext uri="{FF2B5EF4-FFF2-40B4-BE49-F238E27FC236}">
                <a16:creationId xmlns:a16="http://schemas.microsoft.com/office/drawing/2014/main" id="{4C5DC097-7C95-79C2-BD78-4DA44D68A064}"/>
              </a:ext>
            </a:extLst>
          </p:cNvPr>
          <p:cNvSpPr/>
          <p:nvPr/>
        </p:nvSpPr>
        <p:spPr>
          <a:xfrm>
            <a:off x="7660993" y="3062243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NSX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Manager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3" name="Google Shape;2439;p21">
            <a:extLst>
              <a:ext uri="{FF2B5EF4-FFF2-40B4-BE49-F238E27FC236}">
                <a16:creationId xmlns:a16="http://schemas.microsoft.com/office/drawing/2014/main" id="{D026F912-00EE-7647-1522-01445E4A7E7E}"/>
              </a:ext>
            </a:extLst>
          </p:cNvPr>
          <p:cNvSpPr/>
          <p:nvPr/>
        </p:nvSpPr>
        <p:spPr>
          <a:xfrm>
            <a:off x="9763543" y="3059193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HCX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68" name="Google Shape;2451;p21">
            <a:extLst>
              <a:ext uri="{FF2B5EF4-FFF2-40B4-BE49-F238E27FC236}">
                <a16:creationId xmlns:a16="http://schemas.microsoft.com/office/drawing/2014/main" id="{1F68332E-EE63-93A0-270D-40CD7349634D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 rot="5400000">
            <a:off x="7923820" y="2181684"/>
            <a:ext cx="1103732" cy="657386"/>
          </a:xfrm>
          <a:prstGeom prst="bentConnector3">
            <a:avLst>
              <a:gd name="adj1" fmla="val 38663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69" name="Google Shape;2451;p21">
            <a:extLst>
              <a:ext uri="{FF2B5EF4-FFF2-40B4-BE49-F238E27FC236}">
                <a16:creationId xmlns:a16="http://schemas.microsoft.com/office/drawing/2014/main" id="{8ED8B372-F704-20C8-A8D5-BE109CE27B27}"/>
              </a:ext>
            </a:extLst>
          </p:cNvPr>
          <p:cNvCxnSpPr>
            <a:cxnSpLocks/>
            <a:stCxn id="56" idx="5"/>
            <a:endCxn id="63" idx="0"/>
          </p:cNvCxnSpPr>
          <p:nvPr/>
        </p:nvCxnSpPr>
        <p:spPr>
          <a:xfrm rot="16200000" flipH="1">
            <a:off x="9364466" y="2174116"/>
            <a:ext cx="1100682" cy="669472"/>
          </a:xfrm>
          <a:prstGeom prst="bentConnector3">
            <a:avLst>
              <a:gd name="adj1" fmla="val 3775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70" name="Google Shape;2428;p21">
            <a:extLst>
              <a:ext uri="{FF2B5EF4-FFF2-40B4-BE49-F238E27FC236}">
                <a16:creationId xmlns:a16="http://schemas.microsoft.com/office/drawing/2014/main" id="{AEA38F95-5D56-83AB-7962-A9828304ADE4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8146993" y="3512243"/>
            <a:ext cx="0" cy="57077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71" name="Google Shape;2428;p21">
            <a:extLst>
              <a:ext uri="{FF2B5EF4-FFF2-40B4-BE49-F238E27FC236}">
                <a16:creationId xmlns:a16="http://schemas.microsoft.com/office/drawing/2014/main" id="{E282422A-DE79-86AA-836E-40A7F87AF3C0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10249543" y="3509193"/>
            <a:ext cx="0" cy="566096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72" name="Google Shape;2442;p21">
            <a:extLst>
              <a:ext uri="{FF2B5EF4-FFF2-40B4-BE49-F238E27FC236}">
                <a16:creationId xmlns:a16="http://schemas.microsoft.com/office/drawing/2014/main" id="{919A1AAD-7059-C30D-4A1B-F6D0F3C37335}"/>
              </a:ext>
            </a:extLst>
          </p:cNvPr>
          <p:cNvSpPr/>
          <p:nvPr/>
        </p:nvSpPr>
        <p:spPr>
          <a:xfrm>
            <a:off x="9845251" y="4322288"/>
            <a:ext cx="1042334" cy="4511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2"/>
                </a:solidFill>
                <a:latin typeface="Metropolis" pitchFamily="2" charset="77"/>
                <a:sym typeface="Arial"/>
              </a:rPr>
              <a:t>VCF Identity Broker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373" name="Google Shape;2442;p21">
            <a:extLst>
              <a:ext uri="{FF2B5EF4-FFF2-40B4-BE49-F238E27FC236}">
                <a16:creationId xmlns:a16="http://schemas.microsoft.com/office/drawing/2014/main" id="{4EAB93E3-8183-AC30-D2FE-CFFAA6F42A8C}"/>
              </a:ext>
            </a:extLst>
          </p:cNvPr>
          <p:cNvSpPr/>
          <p:nvPr/>
        </p:nvSpPr>
        <p:spPr>
          <a:xfrm>
            <a:off x="7525550" y="4322288"/>
            <a:ext cx="1042334" cy="4511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2"/>
                </a:solidFill>
                <a:latin typeface="Metropolis" pitchFamily="2" charset="77"/>
                <a:sym typeface="Arial"/>
              </a:rPr>
              <a:t>VCF Identity Broker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374" name="Google Shape;2439;p21">
            <a:extLst>
              <a:ext uri="{FF2B5EF4-FFF2-40B4-BE49-F238E27FC236}">
                <a16:creationId xmlns:a16="http://schemas.microsoft.com/office/drawing/2014/main" id="{805E6C9C-38A6-FB54-A5B4-A6812E49220B}"/>
              </a:ext>
            </a:extLst>
          </p:cNvPr>
          <p:cNvSpPr/>
          <p:nvPr/>
        </p:nvSpPr>
        <p:spPr>
          <a:xfrm>
            <a:off x="8714123" y="3062243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000"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vCenter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81" name="Google Shape;2428;p21">
            <a:extLst>
              <a:ext uri="{FF2B5EF4-FFF2-40B4-BE49-F238E27FC236}">
                <a16:creationId xmlns:a16="http://schemas.microsoft.com/office/drawing/2014/main" id="{E811C770-A82F-F10A-4CB2-80F5F11A51F6}"/>
              </a:ext>
            </a:extLst>
          </p:cNvPr>
          <p:cNvCxnSpPr>
            <a:cxnSpLocks/>
            <a:stCxn id="2374" idx="2"/>
          </p:cNvCxnSpPr>
          <p:nvPr/>
        </p:nvCxnSpPr>
        <p:spPr>
          <a:xfrm>
            <a:off x="9200123" y="3512243"/>
            <a:ext cx="0" cy="57061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86" name="Google Shape;2428;p21">
            <a:extLst>
              <a:ext uri="{FF2B5EF4-FFF2-40B4-BE49-F238E27FC236}">
                <a16:creationId xmlns:a16="http://schemas.microsoft.com/office/drawing/2014/main" id="{9F41D7DC-D118-777B-222D-93094F4AA684}"/>
              </a:ext>
            </a:extLst>
          </p:cNvPr>
          <p:cNvCxnSpPr>
            <a:cxnSpLocks/>
            <a:stCxn id="56" idx="4"/>
          </p:cNvCxnSpPr>
          <p:nvPr/>
        </p:nvCxnSpPr>
        <p:spPr>
          <a:xfrm>
            <a:off x="9192225" y="2119162"/>
            <a:ext cx="14923" cy="94003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" name="Google Shape;2447;p21">
            <a:extLst>
              <a:ext uri="{FF2B5EF4-FFF2-40B4-BE49-F238E27FC236}">
                <a16:creationId xmlns:a16="http://schemas.microsoft.com/office/drawing/2014/main" id="{1A007691-2EEF-6CA0-E296-75722B513D84}"/>
              </a:ext>
            </a:extLst>
          </p:cNvPr>
          <p:cNvCxnSpPr>
            <a:cxnSpLocks/>
            <a:stCxn id="56" idx="2"/>
          </p:cNvCxnSpPr>
          <p:nvPr/>
        </p:nvCxnSpPr>
        <p:spPr>
          <a:xfrm rot="10800000" flipV="1">
            <a:off x="7460082" y="1570664"/>
            <a:ext cx="1183647" cy="1481241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47" name="Google Shape;2447;p21"/>
          <p:cNvCxnSpPr>
            <a:cxnSpLocks/>
            <a:stCxn id="2443" idx="2"/>
            <a:endCxn id="2439" idx="0"/>
          </p:cNvCxnSpPr>
          <p:nvPr/>
        </p:nvCxnSpPr>
        <p:spPr>
          <a:xfrm rot="10800000" flipV="1">
            <a:off x="1479528" y="1586228"/>
            <a:ext cx="1118178" cy="1491579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7">
          <a:extLst>
            <a:ext uri="{FF2B5EF4-FFF2-40B4-BE49-F238E27FC236}">
              <a16:creationId xmlns:a16="http://schemas.microsoft.com/office/drawing/2014/main" id="{596CCD75-6B31-C548-32A2-94DDA9FC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p23">
            <a:extLst>
              <a:ext uri="{FF2B5EF4-FFF2-40B4-BE49-F238E27FC236}">
                <a16:creationId xmlns:a16="http://schemas.microsoft.com/office/drawing/2014/main" id="{F81A65CF-D889-A22E-CAD9-0C9FBF762E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AU" sz="2400" dirty="0"/>
              <a:t>VCF Single Sign-on Design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7F638-E68A-693A-BD34-994784E38A86}"/>
              </a:ext>
            </a:extLst>
          </p:cNvPr>
          <p:cNvSpPr txBox="1"/>
          <p:nvPr/>
        </p:nvSpPr>
        <p:spPr>
          <a:xfrm>
            <a:off x="2250233" y="1219546"/>
            <a:ext cx="270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VCF Fleet-Wide SSO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F54EF-A998-8D13-CD48-610E55BD6BF2}"/>
              </a:ext>
            </a:extLst>
          </p:cNvPr>
          <p:cNvSpPr txBox="1"/>
          <p:nvPr/>
        </p:nvSpPr>
        <p:spPr>
          <a:xfrm>
            <a:off x="7451239" y="1152386"/>
            <a:ext cx="3105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Single VCF Instance SSO Model</a:t>
            </a:r>
          </a:p>
        </p:txBody>
      </p:sp>
      <p:grpSp>
        <p:nvGrpSpPr>
          <p:cNvPr id="2500" name="Group 2499">
            <a:extLst>
              <a:ext uri="{FF2B5EF4-FFF2-40B4-BE49-F238E27FC236}">
                <a16:creationId xmlns:a16="http://schemas.microsoft.com/office/drawing/2014/main" id="{4DEF26CC-817B-DA25-98EE-529139B8DC6E}"/>
              </a:ext>
            </a:extLst>
          </p:cNvPr>
          <p:cNvGrpSpPr/>
          <p:nvPr/>
        </p:nvGrpSpPr>
        <p:grpSpPr>
          <a:xfrm>
            <a:off x="1379592" y="2005949"/>
            <a:ext cx="4389362" cy="3324728"/>
            <a:chOff x="1379592" y="2005949"/>
            <a:chExt cx="4389362" cy="3324728"/>
          </a:xfrm>
        </p:grpSpPr>
        <p:sp>
          <p:nvSpPr>
            <p:cNvPr id="2540" name="Google Shape;2540;p23">
              <a:extLst>
                <a:ext uri="{FF2B5EF4-FFF2-40B4-BE49-F238E27FC236}">
                  <a16:creationId xmlns:a16="http://schemas.microsoft.com/office/drawing/2014/main" id="{28985BBC-F71E-B6E8-827F-81B94F57E5C4}"/>
                </a:ext>
              </a:extLst>
            </p:cNvPr>
            <p:cNvSpPr/>
            <p:nvPr/>
          </p:nvSpPr>
          <p:spPr>
            <a:xfrm>
              <a:off x="1379592" y="4859218"/>
              <a:ext cx="4155207" cy="471459"/>
            </a:xfrm>
            <a:custGeom>
              <a:avLst/>
              <a:gdLst/>
              <a:ahLst/>
              <a:cxnLst/>
              <a:rect l="l" t="t" r="r" b="b"/>
              <a:pathLst>
                <a:path w="3868557" h="718242" extrusionOk="0">
                  <a:moveTo>
                    <a:pt x="0" y="0"/>
                  </a:moveTo>
                  <a:lnTo>
                    <a:pt x="3868557" y="0"/>
                  </a:lnTo>
                  <a:lnTo>
                    <a:pt x="3866499" y="359775"/>
                  </a:lnTo>
                  <a:lnTo>
                    <a:pt x="3868557" y="718242"/>
                  </a:lnTo>
                  <a:lnTo>
                    <a:pt x="0" y="7182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Customer Identity Provider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41" name="Google Shape;2541;p23">
              <a:extLst>
                <a:ext uri="{FF2B5EF4-FFF2-40B4-BE49-F238E27FC236}">
                  <a16:creationId xmlns:a16="http://schemas.microsoft.com/office/drawing/2014/main" id="{AD1AD514-B484-2EE3-81BF-DB706C168489}"/>
                </a:ext>
              </a:extLst>
            </p:cNvPr>
            <p:cNvSpPr/>
            <p:nvPr/>
          </p:nvSpPr>
          <p:spPr>
            <a:xfrm>
              <a:off x="3697882" y="2005949"/>
              <a:ext cx="1836917" cy="2614848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23">
              <a:extLst>
                <a:ext uri="{FF2B5EF4-FFF2-40B4-BE49-F238E27FC236}">
                  <a16:creationId xmlns:a16="http://schemas.microsoft.com/office/drawing/2014/main" id="{031D7D0F-6B48-35EA-AB71-2D1EF6EBF1AB}"/>
                </a:ext>
              </a:extLst>
            </p:cNvPr>
            <p:cNvSpPr/>
            <p:nvPr/>
          </p:nvSpPr>
          <p:spPr>
            <a:xfrm>
              <a:off x="3781557" y="3900951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23">
              <a:extLst>
                <a:ext uri="{FF2B5EF4-FFF2-40B4-BE49-F238E27FC236}">
                  <a16:creationId xmlns:a16="http://schemas.microsoft.com/office/drawing/2014/main" id="{C5B2BB7F-70B3-DAB1-2C26-CEDA0482D17B}"/>
                </a:ext>
              </a:extLst>
            </p:cNvPr>
            <p:cNvSpPr/>
            <p:nvPr/>
          </p:nvSpPr>
          <p:spPr>
            <a:xfrm>
              <a:off x="4599788" y="3983599"/>
              <a:ext cx="743518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</a:t>
              </a: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</a:rPr>
                <a:t>2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44" name="Google Shape;2544;p23">
              <a:extLst>
                <a:ext uri="{FF2B5EF4-FFF2-40B4-BE49-F238E27FC236}">
                  <a16:creationId xmlns:a16="http://schemas.microsoft.com/office/drawing/2014/main" id="{4BEE1C6D-4086-9238-7E2B-7949256C0ED1}"/>
                </a:ext>
              </a:extLst>
            </p:cNvPr>
            <p:cNvSpPr txBox="1"/>
            <p:nvPr/>
          </p:nvSpPr>
          <p:spPr>
            <a:xfrm>
              <a:off x="3867443" y="4106724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us-east-1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45" name="Google Shape;2545;p23">
              <a:extLst>
                <a:ext uri="{FF2B5EF4-FFF2-40B4-BE49-F238E27FC236}">
                  <a16:creationId xmlns:a16="http://schemas.microsoft.com/office/drawing/2014/main" id="{86882A57-E101-D428-AB0F-1443E7F7B4D4}"/>
                </a:ext>
              </a:extLst>
            </p:cNvPr>
            <p:cNvSpPr/>
            <p:nvPr/>
          </p:nvSpPr>
          <p:spPr>
            <a:xfrm>
              <a:off x="3781557" y="3181105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23">
              <a:extLst>
                <a:ext uri="{FF2B5EF4-FFF2-40B4-BE49-F238E27FC236}">
                  <a16:creationId xmlns:a16="http://schemas.microsoft.com/office/drawing/2014/main" id="{14A4FE60-3897-9E00-068B-D3503DCA3B8B}"/>
                </a:ext>
              </a:extLst>
            </p:cNvPr>
            <p:cNvSpPr txBox="1"/>
            <p:nvPr/>
          </p:nvSpPr>
          <p:spPr>
            <a:xfrm>
              <a:off x="3867443" y="3386878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us-east-2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49" name="Google Shape;2549;p23">
              <a:extLst>
                <a:ext uri="{FF2B5EF4-FFF2-40B4-BE49-F238E27FC236}">
                  <a16:creationId xmlns:a16="http://schemas.microsoft.com/office/drawing/2014/main" id="{B99DBB96-32BF-9105-2DC1-92C00FC43F3D}"/>
                </a:ext>
              </a:extLst>
            </p:cNvPr>
            <p:cNvSpPr/>
            <p:nvPr/>
          </p:nvSpPr>
          <p:spPr>
            <a:xfrm>
              <a:off x="1379593" y="2005949"/>
              <a:ext cx="1836917" cy="2614847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23">
              <a:extLst>
                <a:ext uri="{FF2B5EF4-FFF2-40B4-BE49-F238E27FC236}">
                  <a16:creationId xmlns:a16="http://schemas.microsoft.com/office/drawing/2014/main" id="{CD37B5C1-5FF7-5E55-7317-AEA8A22B47D9}"/>
                </a:ext>
              </a:extLst>
            </p:cNvPr>
            <p:cNvSpPr/>
            <p:nvPr/>
          </p:nvSpPr>
          <p:spPr>
            <a:xfrm>
              <a:off x="1463268" y="3900951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23">
              <a:extLst>
                <a:ext uri="{FF2B5EF4-FFF2-40B4-BE49-F238E27FC236}">
                  <a16:creationId xmlns:a16="http://schemas.microsoft.com/office/drawing/2014/main" id="{110E9541-9D27-4DCE-B618-A181E8116A31}"/>
                </a:ext>
              </a:extLst>
            </p:cNvPr>
            <p:cNvSpPr/>
            <p:nvPr/>
          </p:nvSpPr>
          <p:spPr>
            <a:xfrm>
              <a:off x="2281499" y="3983599"/>
              <a:ext cx="743518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</a:t>
              </a: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</a:rPr>
                <a:t>1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52" name="Google Shape;2552;p23">
              <a:extLst>
                <a:ext uri="{FF2B5EF4-FFF2-40B4-BE49-F238E27FC236}">
                  <a16:creationId xmlns:a16="http://schemas.microsoft.com/office/drawing/2014/main" id="{8797A84F-8A94-E038-B44E-0353627A060C}"/>
                </a:ext>
              </a:extLst>
            </p:cNvPr>
            <p:cNvSpPr txBox="1"/>
            <p:nvPr/>
          </p:nvSpPr>
          <p:spPr>
            <a:xfrm>
              <a:off x="1549154" y="4106724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us-west-1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53" name="Google Shape;2553;p23">
              <a:extLst>
                <a:ext uri="{FF2B5EF4-FFF2-40B4-BE49-F238E27FC236}">
                  <a16:creationId xmlns:a16="http://schemas.microsoft.com/office/drawing/2014/main" id="{54D2FA36-D83D-3BEE-BAD6-C5CD6B559BD0}"/>
                </a:ext>
              </a:extLst>
            </p:cNvPr>
            <p:cNvSpPr/>
            <p:nvPr/>
          </p:nvSpPr>
          <p:spPr>
            <a:xfrm>
              <a:off x="1463268" y="3181105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23">
              <a:extLst>
                <a:ext uri="{FF2B5EF4-FFF2-40B4-BE49-F238E27FC236}">
                  <a16:creationId xmlns:a16="http://schemas.microsoft.com/office/drawing/2014/main" id="{200D4076-7BDA-C167-DE06-720262A37C02}"/>
                </a:ext>
              </a:extLst>
            </p:cNvPr>
            <p:cNvSpPr txBox="1"/>
            <p:nvPr/>
          </p:nvSpPr>
          <p:spPr>
            <a:xfrm>
              <a:off x="1549154" y="3386878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us-west-2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57" name="Google Shape;2557;p23">
              <a:extLst>
                <a:ext uri="{FF2B5EF4-FFF2-40B4-BE49-F238E27FC236}">
                  <a16:creationId xmlns:a16="http://schemas.microsoft.com/office/drawing/2014/main" id="{B0467854-AE14-F0FC-07F2-71AD938FCC8E}"/>
                </a:ext>
              </a:extLst>
            </p:cNvPr>
            <p:cNvSpPr txBox="1"/>
            <p:nvPr/>
          </p:nvSpPr>
          <p:spPr>
            <a:xfrm>
              <a:off x="1463268" y="2116486"/>
              <a:ext cx="83478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 West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58" name="Google Shape;2558;p23">
              <a:extLst>
                <a:ext uri="{FF2B5EF4-FFF2-40B4-BE49-F238E27FC236}">
                  <a16:creationId xmlns:a16="http://schemas.microsoft.com/office/drawing/2014/main" id="{29D6D4F4-4CA9-ECA3-5C7D-71CCCB8CECDB}"/>
                </a:ext>
              </a:extLst>
            </p:cNvPr>
            <p:cNvSpPr txBox="1"/>
            <p:nvPr/>
          </p:nvSpPr>
          <p:spPr>
            <a:xfrm>
              <a:off x="3781557" y="2103511"/>
              <a:ext cx="748897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 East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560" name="Google Shape;2560;p23">
              <a:extLst>
                <a:ext uri="{FF2B5EF4-FFF2-40B4-BE49-F238E27FC236}">
                  <a16:creationId xmlns:a16="http://schemas.microsoft.com/office/drawing/2014/main" id="{3DFE42DB-23C8-C708-2385-0F9C78A7A616}"/>
                </a:ext>
              </a:extLst>
            </p:cNvPr>
            <p:cNvCxnSpPr>
              <a:stCxn id="2553" idx="3"/>
              <a:endCxn id="2551" idx="3"/>
            </p:cNvCxnSpPr>
            <p:nvPr/>
          </p:nvCxnSpPr>
          <p:spPr>
            <a:xfrm flipH="1">
              <a:off x="3025134" y="3494606"/>
              <a:ext cx="107700" cy="724800"/>
            </a:xfrm>
            <a:prstGeom prst="bentConnector3">
              <a:avLst>
                <a:gd name="adj1" fmla="val -212256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62" name="Google Shape;2562;p23">
              <a:extLst>
                <a:ext uri="{FF2B5EF4-FFF2-40B4-BE49-F238E27FC236}">
                  <a16:creationId xmlns:a16="http://schemas.microsoft.com/office/drawing/2014/main" id="{6B6DD81C-C75A-95FE-7C74-AD176124B669}"/>
                </a:ext>
              </a:extLst>
            </p:cNvPr>
            <p:cNvCxnSpPr>
              <a:stCxn id="2545" idx="3"/>
              <a:endCxn id="2543" idx="3"/>
            </p:cNvCxnSpPr>
            <p:nvPr/>
          </p:nvCxnSpPr>
          <p:spPr>
            <a:xfrm flipH="1">
              <a:off x="5343423" y="3494606"/>
              <a:ext cx="107700" cy="724800"/>
            </a:xfrm>
            <a:prstGeom prst="bentConnector3">
              <a:avLst>
                <a:gd name="adj1" fmla="val -212256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63" name="Google Shape;2563;p23">
              <a:extLst>
                <a:ext uri="{FF2B5EF4-FFF2-40B4-BE49-F238E27FC236}">
                  <a16:creationId xmlns:a16="http://schemas.microsoft.com/office/drawing/2014/main" id="{F7C3E9DD-EF98-C4F9-6DD2-317F92EDE550}"/>
                </a:ext>
              </a:extLst>
            </p:cNvPr>
            <p:cNvCxnSpPr>
              <a:stCxn id="2551" idx="2"/>
            </p:cNvCxnSpPr>
            <p:nvPr/>
          </p:nvCxnSpPr>
          <p:spPr>
            <a:xfrm flipH="1">
              <a:off x="2652358" y="4454938"/>
              <a:ext cx="900" cy="404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64" name="Google Shape;2564;p23">
              <a:extLst>
                <a:ext uri="{FF2B5EF4-FFF2-40B4-BE49-F238E27FC236}">
                  <a16:creationId xmlns:a16="http://schemas.microsoft.com/office/drawing/2014/main" id="{F70F29C4-A277-8128-2CDE-298489E30233}"/>
                </a:ext>
              </a:extLst>
            </p:cNvPr>
            <p:cNvCxnSpPr>
              <a:stCxn id="2543" idx="2"/>
            </p:cNvCxnSpPr>
            <p:nvPr/>
          </p:nvCxnSpPr>
          <p:spPr>
            <a:xfrm>
              <a:off x="4971547" y="4454938"/>
              <a:ext cx="6900" cy="404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0AE5FDE-867E-D62C-F0E6-8D2C7402C291}"/>
                </a:ext>
              </a:extLst>
            </p:cNvPr>
            <p:cNvGrpSpPr/>
            <p:nvPr/>
          </p:nvGrpSpPr>
          <p:grpSpPr>
            <a:xfrm>
              <a:off x="1430552" y="2443844"/>
              <a:ext cx="1727378" cy="627003"/>
              <a:chOff x="3679647" y="2443844"/>
              <a:chExt cx="1727378" cy="627003"/>
            </a:xfrm>
          </p:grpSpPr>
          <p:sp>
            <p:nvSpPr>
              <p:cNvPr id="5" name="Google Shape;2691;p27">
                <a:extLst>
                  <a:ext uri="{FF2B5EF4-FFF2-40B4-BE49-F238E27FC236}">
                    <a16:creationId xmlns:a16="http://schemas.microsoft.com/office/drawing/2014/main" id="{2EBAF098-8CF0-A291-406D-9F4DC7A179EF}"/>
                  </a:ext>
                </a:extLst>
              </p:cNvPr>
              <p:cNvSpPr/>
              <p:nvPr/>
            </p:nvSpPr>
            <p:spPr>
              <a:xfrm>
                <a:off x="3715259" y="2621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Operations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8" name="Google Shape;2690;p27">
                <a:extLst>
                  <a:ext uri="{FF2B5EF4-FFF2-40B4-BE49-F238E27FC236}">
                    <a16:creationId xmlns:a16="http://schemas.microsoft.com/office/drawing/2014/main" id="{36E85035-C256-83C2-7635-81A519DB5DF7}"/>
                  </a:ext>
                </a:extLst>
              </p:cNvPr>
              <p:cNvSpPr/>
              <p:nvPr/>
            </p:nvSpPr>
            <p:spPr>
              <a:xfrm>
                <a:off x="4578739" y="2620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Automation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0" name="Google Shape;2549;p23">
                <a:extLst>
                  <a:ext uri="{FF2B5EF4-FFF2-40B4-BE49-F238E27FC236}">
                    <a16:creationId xmlns:a16="http://schemas.microsoft.com/office/drawing/2014/main" id="{B9559D7A-33F8-60D8-3D54-68FC41E64DC7}"/>
                  </a:ext>
                </a:extLst>
              </p:cNvPr>
              <p:cNvSpPr/>
              <p:nvPr/>
            </p:nvSpPr>
            <p:spPr>
              <a:xfrm>
                <a:off x="3679647" y="2443844"/>
                <a:ext cx="1727378" cy="627003"/>
              </a:xfrm>
              <a:prstGeom prst="rect">
                <a:avLst/>
              </a:prstGeom>
              <a:noFill/>
              <a:ln w="12700" cap="rnd" cmpd="sng">
                <a:solidFill>
                  <a:schemeClr val="accent2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557;p23">
                <a:extLst>
                  <a:ext uri="{FF2B5EF4-FFF2-40B4-BE49-F238E27FC236}">
                    <a16:creationId xmlns:a16="http://schemas.microsoft.com/office/drawing/2014/main" id="{0BA9EB41-F6F1-A652-CE61-5DEFB1A033DC}"/>
                  </a:ext>
                </a:extLst>
              </p:cNvPr>
              <p:cNvSpPr txBox="1"/>
              <p:nvPr/>
            </p:nvSpPr>
            <p:spPr>
              <a:xfrm>
                <a:off x="4153288" y="2459131"/>
                <a:ext cx="97200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VCF Management</a:t>
                </a:r>
                <a:endParaRPr dirty="0">
                  <a:latin typeface="Metropolis" pitchFamily="2" charset="77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dirty="0">
                  <a:solidFill>
                    <a:schemeClr val="dk2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90D343E-26E3-65BD-C118-40B7A1979F5D}"/>
                </a:ext>
              </a:extLst>
            </p:cNvPr>
            <p:cNvCxnSpPr>
              <a:stCxn id="10" idx="3"/>
            </p:cNvCxnSpPr>
            <p:nvPr/>
          </p:nvCxnSpPr>
          <p:spPr>
            <a:xfrm flipV="1">
              <a:off x="3157930" y="2757345"/>
              <a:ext cx="299265" cy="1"/>
            </a:xfrm>
            <a:prstGeom prst="lin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med" len="med"/>
            </a:ln>
          </p:spPr>
        </p:cxnSp>
        <p:cxnSp>
          <p:nvCxnSpPr>
            <p:cNvPr id="36" name="Google Shape;2534;p23">
              <a:extLst>
                <a:ext uri="{FF2B5EF4-FFF2-40B4-BE49-F238E27FC236}">
                  <a16:creationId xmlns:a16="http://schemas.microsoft.com/office/drawing/2014/main" id="{99D47DFD-FE25-9488-96E3-CCEEE27104E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446208" y="3347885"/>
              <a:ext cx="1598836" cy="417759"/>
            </a:xfrm>
            <a:prstGeom prst="bentConnector3">
              <a:avLst>
                <a:gd name="adj1" fmla="val 99732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F3581CE-9CB2-1ED5-B570-DEA68890EAA9}"/>
                </a:ext>
              </a:extLst>
            </p:cNvPr>
            <p:cNvCxnSpPr/>
            <p:nvPr/>
          </p:nvCxnSpPr>
          <p:spPr>
            <a:xfrm flipV="1">
              <a:off x="5469689" y="2757346"/>
              <a:ext cx="299265" cy="1"/>
            </a:xfrm>
            <a:prstGeom prst="lin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med" len="med"/>
            </a:ln>
          </p:spPr>
        </p:cxnSp>
        <p:cxnSp>
          <p:nvCxnSpPr>
            <p:cNvPr id="44" name="Google Shape;2534;p23">
              <a:extLst>
                <a:ext uri="{FF2B5EF4-FFF2-40B4-BE49-F238E27FC236}">
                  <a16:creationId xmlns:a16="http://schemas.microsoft.com/office/drawing/2014/main" id="{0F21F319-69A6-21F5-DE10-31C86A8EFC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54792" y="3344711"/>
              <a:ext cx="1598836" cy="417759"/>
            </a:xfrm>
            <a:prstGeom prst="bentConnector3">
              <a:avLst>
                <a:gd name="adj1" fmla="val 99732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FE8AD29-96A3-A4F7-1861-1A38A30E78D6}"/>
                </a:ext>
              </a:extLst>
            </p:cNvPr>
            <p:cNvGrpSpPr/>
            <p:nvPr/>
          </p:nvGrpSpPr>
          <p:grpSpPr>
            <a:xfrm>
              <a:off x="3753809" y="2443844"/>
              <a:ext cx="1727378" cy="627003"/>
              <a:chOff x="3679647" y="2443844"/>
              <a:chExt cx="1727378" cy="627003"/>
            </a:xfrm>
          </p:grpSpPr>
          <p:sp>
            <p:nvSpPr>
              <p:cNvPr id="46" name="Google Shape;2691;p27">
                <a:extLst>
                  <a:ext uri="{FF2B5EF4-FFF2-40B4-BE49-F238E27FC236}">
                    <a16:creationId xmlns:a16="http://schemas.microsoft.com/office/drawing/2014/main" id="{1EBDE54C-DCFF-634B-1F0D-3DF5ED7C230C}"/>
                  </a:ext>
                </a:extLst>
              </p:cNvPr>
              <p:cNvSpPr/>
              <p:nvPr/>
            </p:nvSpPr>
            <p:spPr>
              <a:xfrm>
                <a:off x="3715259" y="2621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Operations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47" name="Google Shape;2690;p27">
                <a:extLst>
                  <a:ext uri="{FF2B5EF4-FFF2-40B4-BE49-F238E27FC236}">
                    <a16:creationId xmlns:a16="http://schemas.microsoft.com/office/drawing/2014/main" id="{C706EB28-A1F6-874B-AA9A-BF8830F75D35}"/>
                  </a:ext>
                </a:extLst>
              </p:cNvPr>
              <p:cNvSpPr/>
              <p:nvPr/>
            </p:nvSpPr>
            <p:spPr>
              <a:xfrm>
                <a:off x="4578739" y="2620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Automation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48" name="Google Shape;2549;p23">
                <a:extLst>
                  <a:ext uri="{FF2B5EF4-FFF2-40B4-BE49-F238E27FC236}">
                    <a16:creationId xmlns:a16="http://schemas.microsoft.com/office/drawing/2014/main" id="{3F5EA735-5CBE-DF10-F04D-ACF56D72FE03}"/>
                  </a:ext>
                </a:extLst>
              </p:cNvPr>
              <p:cNvSpPr/>
              <p:nvPr/>
            </p:nvSpPr>
            <p:spPr>
              <a:xfrm>
                <a:off x="3679647" y="2443844"/>
                <a:ext cx="1727378" cy="627003"/>
              </a:xfrm>
              <a:prstGeom prst="rect">
                <a:avLst/>
              </a:prstGeom>
              <a:noFill/>
              <a:ln w="12700" cap="rnd" cmpd="sng">
                <a:solidFill>
                  <a:schemeClr val="accent2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2557;p23">
                <a:extLst>
                  <a:ext uri="{FF2B5EF4-FFF2-40B4-BE49-F238E27FC236}">
                    <a16:creationId xmlns:a16="http://schemas.microsoft.com/office/drawing/2014/main" id="{6DFCF760-4C3E-5AAA-CEFF-851B474A3F51}"/>
                  </a:ext>
                </a:extLst>
              </p:cNvPr>
              <p:cNvSpPr txBox="1"/>
              <p:nvPr/>
            </p:nvSpPr>
            <p:spPr>
              <a:xfrm>
                <a:off x="4153288" y="2459131"/>
                <a:ext cx="97200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VCF Management</a:t>
                </a:r>
                <a:endParaRPr dirty="0">
                  <a:latin typeface="Metropolis" pitchFamily="2" charset="77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dirty="0">
                  <a:solidFill>
                    <a:schemeClr val="dk2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</p:grpSp>
      <p:grpSp>
        <p:nvGrpSpPr>
          <p:cNvPr id="2501" name="Group 2500">
            <a:extLst>
              <a:ext uri="{FF2B5EF4-FFF2-40B4-BE49-F238E27FC236}">
                <a16:creationId xmlns:a16="http://schemas.microsoft.com/office/drawing/2014/main" id="{11C847A1-CBA8-A305-12F1-8BE94FC36116}"/>
              </a:ext>
            </a:extLst>
          </p:cNvPr>
          <p:cNvGrpSpPr/>
          <p:nvPr/>
        </p:nvGrpSpPr>
        <p:grpSpPr>
          <a:xfrm>
            <a:off x="6848743" y="1953916"/>
            <a:ext cx="4403794" cy="3319189"/>
            <a:chOff x="6848743" y="1953916"/>
            <a:chExt cx="4403794" cy="3319189"/>
          </a:xfrm>
        </p:grpSpPr>
        <p:sp>
          <p:nvSpPr>
            <p:cNvPr id="2510" name="Google Shape;2510;p23">
              <a:extLst>
                <a:ext uri="{FF2B5EF4-FFF2-40B4-BE49-F238E27FC236}">
                  <a16:creationId xmlns:a16="http://schemas.microsoft.com/office/drawing/2014/main" id="{C357AA53-7048-4588-8BE2-2732BA8E870A}"/>
                </a:ext>
              </a:extLst>
            </p:cNvPr>
            <p:cNvSpPr/>
            <p:nvPr/>
          </p:nvSpPr>
          <p:spPr>
            <a:xfrm>
              <a:off x="6848743" y="4801505"/>
              <a:ext cx="4155207" cy="471600"/>
            </a:xfrm>
            <a:custGeom>
              <a:avLst/>
              <a:gdLst/>
              <a:ahLst/>
              <a:cxnLst/>
              <a:rect l="l" t="t" r="r" b="b"/>
              <a:pathLst>
                <a:path w="3868557" h="718242" extrusionOk="0">
                  <a:moveTo>
                    <a:pt x="0" y="0"/>
                  </a:moveTo>
                  <a:lnTo>
                    <a:pt x="2350232" y="1646"/>
                  </a:lnTo>
                  <a:lnTo>
                    <a:pt x="3372208" y="1646"/>
                  </a:lnTo>
                  <a:lnTo>
                    <a:pt x="3868557" y="0"/>
                  </a:lnTo>
                  <a:lnTo>
                    <a:pt x="3866499" y="359775"/>
                  </a:lnTo>
                  <a:lnTo>
                    <a:pt x="3868557" y="718242"/>
                  </a:lnTo>
                  <a:lnTo>
                    <a:pt x="0" y="7182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Customer Identity Provider</a:t>
              </a:r>
              <a:endParaRPr lang="en-US" sz="800" dirty="0">
                <a:latin typeface="Metropolis" pitchFamily="2" charset="77"/>
              </a:endParaRPr>
            </a:p>
          </p:txBody>
        </p:sp>
        <p:sp>
          <p:nvSpPr>
            <p:cNvPr id="2511" name="Google Shape;2511;p23">
              <a:extLst>
                <a:ext uri="{FF2B5EF4-FFF2-40B4-BE49-F238E27FC236}">
                  <a16:creationId xmlns:a16="http://schemas.microsoft.com/office/drawing/2014/main" id="{AB3B9751-F092-F4D4-1B95-7CECA1269667}"/>
                </a:ext>
              </a:extLst>
            </p:cNvPr>
            <p:cNvSpPr/>
            <p:nvPr/>
          </p:nvSpPr>
          <p:spPr>
            <a:xfrm>
              <a:off x="9167033" y="1953916"/>
              <a:ext cx="1836917" cy="2614848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23">
              <a:extLst>
                <a:ext uri="{FF2B5EF4-FFF2-40B4-BE49-F238E27FC236}">
                  <a16:creationId xmlns:a16="http://schemas.microsoft.com/office/drawing/2014/main" id="{7BECD246-CD9E-06A4-C3AF-0763B980463B}"/>
                </a:ext>
              </a:extLst>
            </p:cNvPr>
            <p:cNvSpPr/>
            <p:nvPr/>
          </p:nvSpPr>
          <p:spPr>
            <a:xfrm>
              <a:off x="9250708" y="3848918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23">
              <a:extLst>
                <a:ext uri="{FF2B5EF4-FFF2-40B4-BE49-F238E27FC236}">
                  <a16:creationId xmlns:a16="http://schemas.microsoft.com/office/drawing/2014/main" id="{15F7B6B9-4545-F229-2B2B-B7474AE9DFBE}"/>
                </a:ext>
              </a:extLst>
            </p:cNvPr>
            <p:cNvSpPr/>
            <p:nvPr/>
          </p:nvSpPr>
          <p:spPr>
            <a:xfrm>
              <a:off x="10085491" y="3931566"/>
              <a:ext cx="743518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3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14" name="Google Shape;2514;p23">
              <a:extLst>
                <a:ext uri="{FF2B5EF4-FFF2-40B4-BE49-F238E27FC236}">
                  <a16:creationId xmlns:a16="http://schemas.microsoft.com/office/drawing/2014/main" id="{6198D71F-6394-3EB3-6379-1DE0D2711DB4}"/>
                </a:ext>
              </a:extLst>
            </p:cNvPr>
            <p:cNvSpPr txBox="1"/>
            <p:nvPr/>
          </p:nvSpPr>
          <p:spPr>
            <a:xfrm>
              <a:off x="9336594" y="4054691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us-east-1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15" name="Google Shape;2515;p23">
              <a:extLst>
                <a:ext uri="{FF2B5EF4-FFF2-40B4-BE49-F238E27FC236}">
                  <a16:creationId xmlns:a16="http://schemas.microsoft.com/office/drawing/2014/main" id="{D464D2C3-5A23-8587-E9E2-C74D1FED920F}"/>
                </a:ext>
              </a:extLst>
            </p:cNvPr>
            <p:cNvSpPr/>
            <p:nvPr/>
          </p:nvSpPr>
          <p:spPr>
            <a:xfrm>
              <a:off x="9250708" y="3129072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23">
              <a:extLst>
                <a:ext uri="{FF2B5EF4-FFF2-40B4-BE49-F238E27FC236}">
                  <a16:creationId xmlns:a16="http://schemas.microsoft.com/office/drawing/2014/main" id="{957FB1A1-A576-B565-804C-CA4429C7D536}"/>
                </a:ext>
              </a:extLst>
            </p:cNvPr>
            <p:cNvSpPr/>
            <p:nvPr/>
          </p:nvSpPr>
          <p:spPr>
            <a:xfrm>
              <a:off x="10085491" y="3211720"/>
              <a:ext cx="743518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4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17" name="Google Shape;2517;p23">
              <a:extLst>
                <a:ext uri="{FF2B5EF4-FFF2-40B4-BE49-F238E27FC236}">
                  <a16:creationId xmlns:a16="http://schemas.microsoft.com/office/drawing/2014/main" id="{5199551A-EA33-921E-CAD6-ADCE7CBCACBE}"/>
                </a:ext>
              </a:extLst>
            </p:cNvPr>
            <p:cNvSpPr txBox="1"/>
            <p:nvPr/>
          </p:nvSpPr>
          <p:spPr>
            <a:xfrm>
              <a:off x="9336594" y="3334845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us-east-2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21" name="Google Shape;2521;p23">
              <a:extLst>
                <a:ext uri="{FF2B5EF4-FFF2-40B4-BE49-F238E27FC236}">
                  <a16:creationId xmlns:a16="http://schemas.microsoft.com/office/drawing/2014/main" id="{E69B292E-8F9F-A924-BE40-C582FA1B16C5}"/>
                </a:ext>
              </a:extLst>
            </p:cNvPr>
            <p:cNvSpPr/>
            <p:nvPr/>
          </p:nvSpPr>
          <p:spPr>
            <a:xfrm>
              <a:off x="6848744" y="1959596"/>
              <a:ext cx="1836917" cy="2614847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23">
              <a:extLst>
                <a:ext uri="{FF2B5EF4-FFF2-40B4-BE49-F238E27FC236}">
                  <a16:creationId xmlns:a16="http://schemas.microsoft.com/office/drawing/2014/main" id="{4E6CA4E2-A88A-DCDB-DDA6-0AAC9B7E4CAA}"/>
                </a:ext>
              </a:extLst>
            </p:cNvPr>
            <p:cNvSpPr/>
            <p:nvPr/>
          </p:nvSpPr>
          <p:spPr>
            <a:xfrm>
              <a:off x="6932419" y="3854598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23">
              <a:extLst>
                <a:ext uri="{FF2B5EF4-FFF2-40B4-BE49-F238E27FC236}">
                  <a16:creationId xmlns:a16="http://schemas.microsoft.com/office/drawing/2014/main" id="{2C9708FD-6C32-326A-AE36-8E93D9B99497}"/>
                </a:ext>
              </a:extLst>
            </p:cNvPr>
            <p:cNvSpPr/>
            <p:nvPr/>
          </p:nvSpPr>
          <p:spPr>
            <a:xfrm>
              <a:off x="7767202" y="3937246"/>
              <a:ext cx="743518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1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24" name="Google Shape;2524;p23">
              <a:extLst>
                <a:ext uri="{FF2B5EF4-FFF2-40B4-BE49-F238E27FC236}">
                  <a16:creationId xmlns:a16="http://schemas.microsoft.com/office/drawing/2014/main" id="{3C51D45E-01FA-743B-1604-356BB8DEC7CD}"/>
                </a:ext>
              </a:extLst>
            </p:cNvPr>
            <p:cNvSpPr txBox="1"/>
            <p:nvPr/>
          </p:nvSpPr>
          <p:spPr>
            <a:xfrm>
              <a:off x="7018305" y="4060371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us-west-1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25" name="Google Shape;2525;p23">
              <a:extLst>
                <a:ext uri="{FF2B5EF4-FFF2-40B4-BE49-F238E27FC236}">
                  <a16:creationId xmlns:a16="http://schemas.microsoft.com/office/drawing/2014/main" id="{0AEDF493-0808-5B32-1BE4-BEB0B67AE29D}"/>
                </a:ext>
              </a:extLst>
            </p:cNvPr>
            <p:cNvSpPr/>
            <p:nvPr/>
          </p:nvSpPr>
          <p:spPr>
            <a:xfrm>
              <a:off x="6932419" y="3134752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23">
              <a:extLst>
                <a:ext uri="{FF2B5EF4-FFF2-40B4-BE49-F238E27FC236}">
                  <a16:creationId xmlns:a16="http://schemas.microsoft.com/office/drawing/2014/main" id="{820ABD5F-ED9D-61E9-166E-614D5A0FE97E}"/>
                </a:ext>
              </a:extLst>
            </p:cNvPr>
            <p:cNvSpPr/>
            <p:nvPr/>
          </p:nvSpPr>
          <p:spPr>
            <a:xfrm>
              <a:off x="7767202" y="3217400"/>
              <a:ext cx="743518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2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27" name="Google Shape;2527;p23">
              <a:extLst>
                <a:ext uri="{FF2B5EF4-FFF2-40B4-BE49-F238E27FC236}">
                  <a16:creationId xmlns:a16="http://schemas.microsoft.com/office/drawing/2014/main" id="{2B270BB6-5BED-B5F3-CCE2-D41473B78783}"/>
                </a:ext>
              </a:extLst>
            </p:cNvPr>
            <p:cNvSpPr txBox="1"/>
            <p:nvPr/>
          </p:nvSpPr>
          <p:spPr>
            <a:xfrm>
              <a:off x="7018305" y="3340525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us-west-2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531" name="Google Shape;2531;p23">
              <a:extLst>
                <a:ext uri="{FF2B5EF4-FFF2-40B4-BE49-F238E27FC236}">
                  <a16:creationId xmlns:a16="http://schemas.microsoft.com/office/drawing/2014/main" id="{68647633-7DF9-5762-2A38-DC95F1026585}"/>
                </a:ext>
              </a:extLst>
            </p:cNvPr>
            <p:cNvCxnSpPr>
              <a:cxnSpLocks/>
              <a:stCxn id="2513" idx="2"/>
            </p:cNvCxnSpPr>
            <p:nvPr/>
          </p:nvCxnSpPr>
          <p:spPr>
            <a:xfrm rot="5400000">
              <a:off x="10069231" y="4419166"/>
              <a:ext cx="404280" cy="371759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32" name="Google Shape;2532;p23">
              <a:extLst>
                <a:ext uri="{FF2B5EF4-FFF2-40B4-BE49-F238E27FC236}">
                  <a16:creationId xmlns:a16="http://schemas.microsoft.com/office/drawing/2014/main" id="{FDDDA4FC-C432-42EC-E453-2F1DFFBBFB82}"/>
                </a:ext>
              </a:extLst>
            </p:cNvPr>
            <p:cNvCxnSpPr>
              <a:cxnSpLocks/>
              <a:stCxn id="2516" idx="3"/>
            </p:cNvCxnSpPr>
            <p:nvPr/>
          </p:nvCxnSpPr>
          <p:spPr>
            <a:xfrm flipH="1">
              <a:off x="10557164" y="3447390"/>
              <a:ext cx="271845" cy="1357044"/>
            </a:xfrm>
            <a:prstGeom prst="bentConnector4">
              <a:avLst>
                <a:gd name="adj1" fmla="val -84092"/>
                <a:gd name="adj2" fmla="val 87123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35" name="Google Shape;2535;p23">
              <a:extLst>
                <a:ext uri="{FF2B5EF4-FFF2-40B4-BE49-F238E27FC236}">
                  <a16:creationId xmlns:a16="http://schemas.microsoft.com/office/drawing/2014/main" id="{760D2126-8842-121E-B4A8-852352360086}"/>
                </a:ext>
              </a:extLst>
            </p:cNvPr>
            <p:cNvCxnSpPr>
              <a:stCxn id="2523" idx="2"/>
            </p:cNvCxnSpPr>
            <p:nvPr/>
          </p:nvCxnSpPr>
          <p:spPr>
            <a:xfrm>
              <a:off x="8138961" y="4408585"/>
              <a:ext cx="4200" cy="3945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36" name="Google Shape;2536;p23">
              <a:extLst>
                <a:ext uri="{FF2B5EF4-FFF2-40B4-BE49-F238E27FC236}">
                  <a16:creationId xmlns:a16="http://schemas.microsoft.com/office/drawing/2014/main" id="{53CE2BE0-41AC-636E-75CE-2EDF69E96BA5}"/>
                </a:ext>
              </a:extLst>
            </p:cNvPr>
            <p:cNvCxnSpPr>
              <a:stCxn id="2526" idx="3"/>
            </p:cNvCxnSpPr>
            <p:nvPr/>
          </p:nvCxnSpPr>
          <p:spPr>
            <a:xfrm>
              <a:off x="8510720" y="3453070"/>
              <a:ext cx="263100" cy="1359900"/>
            </a:xfrm>
            <a:prstGeom prst="bentConnector2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538" name="Google Shape;2538;p23">
              <a:extLst>
                <a:ext uri="{FF2B5EF4-FFF2-40B4-BE49-F238E27FC236}">
                  <a16:creationId xmlns:a16="http://schemas.microsoft.com/office/drawing/2014/main" id="{126C206E-9C6E-7E8C-9822-94FF0F583E4B}"/>
                </a:ext>
              </a:extLst>
            </p:cNvPr>
            <p:cNvSpPr txBox="1"/>
            <p:nvPr/>
          </p:nvSpPr>
          <p:spPr>
            <a:xfrm>
              <a:off x="6932419" y="2070133"/>
              <a:ext cx="83478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 West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39" name="Google Shape;2539;p23">
              <a:extLst>
                <a:ext uri="{FF2B5EF4-FFF2-40B4-BE49-F238E27FC236}">
                  <a16:creationId xmlns:a16="http://schemas.microsoft.com/office/drawing/2014/main" id="{A94158F2-575D-EEA9-3979-57CC628AFDE6}"/>
                </a:ext>
              </a:extLst>
            </p:cNvPr>
            <p:cNvSpPr txBox="1"/>
            <p:nvPr/>
          </p:nvSpPr>
          <p:spPr>
            <a:xfrm>
              <a:off x="9250708" y="2051478"/>
              <a:ext cx="748897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 East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AD139F3-B7C5-403F-12A2-F5B39A65448B}"/>
                </a:ext>
              </a:extLst>
            </p:cNvPr>
            <p:cNvGrpSpPr/>
            <p:nvPr/>
          </p:nvGrpSpPr>
          <p:grpSpPr>
            <a:xfrm>
              <a:off x="6901697" y="2410320"/>
              <a:ext cx="1727378" cy="627003"/>
              <a:chOff x="3679647" y="2443844"/>
              <a:chExt cx="1727378" cy="627003"/>
            </a:xfrm>
          </p:grpSpPr>
          <p:sp>
            <p:nvSpPr>
              <p:cNvPr id="51" name="Google Shape;2691;p27">
                <a:extLst>
                  <a:ext uri="{FF2B5EF4-FFF2-40B4-BE49-F238E27FC236}">
                    <a16:creationId xmlns:a16="http://schemas.microsoft.com/office/drawing/2014/main" id="{F9861932-612B-7F7E-7CA4-5E846ADBC8F6}"/>
                  </a:ext>
                </a:extLst>
              </p:cNvPr>
              <p:cNvSpPr/>
              <p:nvPr/>
            </p:nvSpPr>
            <p:spPr>
              <a:xfrm>
                <a:off x="3715259" y="2621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Operations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52" name="Google Shape;2690;p27">
                <a:extLst>
                  <a:ext uri="{FF2B5EF4-FFF2-40B4-BE49-F238E27FC236}">
                    <a16:creationId xmlns:a16="http://schemas.microsoft.com/office/drawing/2014/main" id="{9CC3F653-167F-4421-806F-448F7A77C361}"/>
                  </a:ext>
                </a:extLst>
              </p:cNvPr>
              <p:cNvSpPr/>
              <p:nvPr/>
            </p:nvSpPr>
            <p:spPr>
              <a:xfrm>
                <a:off x="4578739" y="2620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Automation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53" name="Google Shape;2549;p23">
                <a:extLst>
                  <a:ext uri="{FF2B5EF4-FFF2-40B4-BE49-F238E27FC236}">
                    <a16:creationId xmlns:a16="http://schemas.microsoft.com/office/drawing/2014/main" id="{48A2635B-C014-CA28-1538-7001EF81EAE9}"/>
                  </a:ext>
                </a:extLst>
              </p:cNvPr>
              <p:cNvSpPr/>
              <p:nvPr/>
            </p:nvSpPr>
            <p:spPr>
              <a:xfrm>
                <a:off x="3679647" y="2443844"/>
                <a:ext cx="1727378" cy="627003"/>
              </a:xfrm>
              <a:prstGeom prst="rect">
                <a:avLst/>
              </a:prstGeom>
              <a:noFill/>
              <a:ln w="12700" cap="rnd" cmpd="sng">
                <a:solidFill>
                  <a:schemeClr val="accent2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2557;p23">
                <a:extLst>
                  <a:ext uri="{FF2B5EF4-FFF2-40B4-BE49-F238E27FC236}">
                    <a16:creationId xmlns:a16="http://schemas.microsoft.com/office/drawing/2014/main" id="{290A3BA5-56EC-FBF8-E507-4E3C42543686}"/>
                  </a:ext>
                </a:extLst>
              </p:cNvPr>
              <p:cNvSpPr txBox="1"/>
              <p:nvPr/>
            </p:nvSpPr>
            <p:spPr>
              <a:xfrm>
                <a:off x="4153288" y="2459131"/>
                <a:ext cx="97200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VCF Management</a:t>
                </a:r>
                <a:endParaRPr dirty="0">
                  <a:latin typeface="Metropolis" pitchFamily="2" charset="77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dirty="0">
                  <a:solidFill>
                    <a:schemeClr val="dk2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0CC8B6B-9420-41CE-D093-94F8F97FF4D1}"/>
                </a:ext>
              </a:extLst>
            </p:cNvPr>
            <p:cNvCxnSpPr/>
            <p:nvPr/>
          </p:nvCxnSpPr>
          <p:spPr>
            <a:xfrm flipV="1">
              <a:off x="8625620" y="2756787"/>
              <a:ext cx="299265" cy="1"/>
            </a:xfrm>
            <a:prstGeom prst="lin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med" len="med"/>
            </a:ln>
          </p:spPr>
        </p:cxnSp>
        <p:cxnSp>
          <p:nvCxnSpPr>
            <p:cNvPr id="57" name="Google Shape;2534;p23">
              <a:extLst>
                <a:ext uri="{FF2B5EF4-FFF2-40B4-BE49-F238E27FC236}">
                  <a16:creationId xmlns:a16="http://schemas.microsoft.com/office/drawing/2014/main" id="{C56371A2-A0E3-5012-03EE-0F5A02D8934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992646" y="3266074"/>
              <a:ext cx="1440000" cy="417759"/>
            </a:xfrm>
            <a:prstGeom prst="bentConnector3">
              <a:avLst>
                <a:gd name="adj1" fmla="val 99732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48731AF-E87D-B00E-68DD-44E2BE1B2621}"/>
                </a:ext>
              </a:extLst>
            </p:cNvPr>
            <p:cNvGrpSpPr/>
            <p:nvPr/>
          </p:nvGrpSpPr>
          <p:grpSpPr>
            <a:xfrm>
              <a:off x="9222308" y="2403999"/>
              <a:ext cx="1727378" cy="627003"/>
              <a:chOff x="3679647" y="2443844"/>
              <a:chExt cx="1727378" cy="627003"/>
            </a:xfrm>
          </p:grpSpPr>
          <p:sp>
            <p:nvSpPr>
              <p:cNvPr id="61" name="Google Shape;2691;p27">
                <a:extLst>
                  <a:ext uri="{FF2B5EF4-FFF2-40B4-BE49-F238E27FC236}">
                    <a16:creationId xmlns:a16="http://schemas.microsoft.com/office/drawing/2014/main" id="{89B48C2A-10E4-299E-CB2B-FE40060A7434}"/>
                  </a:ext>
                </a:extLst>
              </p:cNvPr>
              <p:cNvSpPr/>
              <p:nvPr/>
            </p:nvSpPr>
            <p:spPr>
              <a:xfrm>
                <a:off x="3715259" y="2621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Operations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62" name="Google Shape;2690;p27">
                <a:extLst>
                  <a:ext uri="{FF2B5EF4-FFF2-40B4-BE49-F238E27FC236}">
                    <a16:creationId xmlns:a16="http://schemas.microsoft.com/office/drawing/2014/main" id="{334C6DC6-80B3-586B-A5C1-ABA08608B554}"/>
                  </a:ext>
                </a:extLst>
              </p:cNvPr>
              <p:cNvSpPr/>
              <p:nvPr/>
            </p:nvSpPr>
            <p:spPr>
              <a:xfrm>
                <a:off x="4578739" y="2620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Automation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63" name="Google Shape;2549;p23">
                <a:extLst>
                  <a:ext uri="{FF2B5EF4-FFF2-40B4-BE49-F238E27FC236}">
                    <a16:creationId xmlns:a16="http://schemas.microsoft.com/office/drawing/2014/main" id="{F7852829-E903-37C2-4D4D-B7984409C64D}"/>
                  </a:ext>
                </a:extLst>
              </p:cNvPr>
              <p:cNvSpPr/>
              <p:nvPr/>
            </p:nvSpPr>
            <p:spPr>
              <a:xfrm>
                <a:off x="3679647" y="2443844"/>
                <a:ext cx="1727378" cy="627003"/>
              </a:xfrm>
              <a:prstGeom prst="rect">
                <a:avLst/>
              </a:prstGeom>
              <a:noFill/>
              <a:ln w="12700" cap="rnd" cmpd="sng">
                <a:solidFill>
                  <a:schemeClr val="accent2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6" name="Google Shape;2557;p23">
                <a:extLst>
                  <a:ext uri="{FF2B5EF4-FFF2-40B4-BE49-F238E27FC236}">
                    <a16:creationId xmlns:a16="http://schemas.microsoft.com/office/drawing/2014/main" id="{0392F7B4-9B71-6A45-1894-6E6B8B172F23}"/>
                  </a:ext>
                </a:extLst>
              </p:cNvPr>
              <p:cNvSpPr txBox="1"/>
              <p:nvPr/>
            </p:nvSpPr>
            <p:spPr>
              <a:xfrm>
                <a:off x="4153288" y="2459131"/>
                <a:ext cx="97200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VCF Management</a:t>
                </a:r>
                <a:endParaRPr dirty="0">
                  <a:latin typeface="Metropolis" pitchFamily="2" charset="77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dirty="0">
                  <a:solidFill>
                    <a:schemeClr val="dk2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cxnSp>
          <p:nvCxnSpPr>
            <p:cNvPr id="2498" name="Straight Connector 2497">
              <a:extLst>
                <a:ext uri="{FF2B5EF4-FFF2-40B4-BE49-F238E27FC236}">
                  <a16:creationId xmlns:a16="http://schemas.microsoft.com/office/drawing/2014/main" id="{5E4F397C-4754-ADCD-8BB1-12B69003DBFC}"/>
                </a:ext>
              </a:extLst>
            </p:cNvPr>
            <p:cNvCxnSpPr/>
            <p:nvPr/>
          </p:nvCxnSpPr>
          <p:spPr>
            <a:xfrm flipV="1">
              <a:off x="10953272" y="2767180"/>
              <a:ext cx="299265" cy="1"/>
            </a:xfrm>
            <a:prstGeom prst="lin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med" len="med"/>
            </a:ln>
          </p:spPr>
        </p:cxnSp>
        <p:cxnSp>
          <p:nvCxnSpPr>
            <p:cNvPr id="2499" name="Google Shape;2534;p23">
              <a:extLst>
                <a:ext uri="{FF2B5EF4-FFF2-40B4-BE49-F238E27FC236}">
                  <a16:creationId xmlns:a16="http://schemas.microsoft.com/office/drawing/2014/main" id="{06EE30E5-8E61-2748-B719-8909AF59561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320377" y="3272701"/>
              <a:ext cx="1440000" cy="417600"/>
            </a:xfrm>
            <a:prstGeom prst="bentConnector3">
              <a:avLst>
                <a:gd name="adj1" fmla="val 99732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25633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7">
          <a:extLst>
            <a:ext uri="{FF2B5EF4-FFF2-40B4-BE49-F238E27FC236}">
              <a16:creationId xmlns:a16="http://schemas.microsoft.com/office/drawing/2014/main" id="{E126F858-D90C-3968-7CCD-F1236784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p23">
            <a:extLst>
              <a:ext uri="{FF2B5EF4-FFF2-40B4-BE49-F238E27FC236}">
                <a16:creationId xmlns:a16="http://schemas.microsoft.com/office/drawing/2014/main" id="{FD896548-C97C-E056-58FB-F0027C5EE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AU" sz="2400" dirty="0"/>
              <a:t>VCF Single Sign-on Design v1.0</a:t>
            </a: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7312-6362-CBE4-AA35-3E0F20E1FBE3}"/>
              </a:ext>
            </a:extLst>
          </p:cNvPr>
          <p:cNvSpPr txBox="1"/>
          <p:nvPr/>
        </p:nvSpPr>
        <p:spPr>
          <a:xfrm>
            <a:off x="3522369" y="1413397"/>
            <a:ext cx="49834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Cross VCF Instance SSO Model 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148A75F-B80E-F06B-3290-A414AE62F8B8}"/>
              </a:ext>
            </a:extLst>
          </p:cNvPr>
          <p:cNvGrpSpPr/>
          <p:nvPr/>
        </p:nvGrpSpPr>
        <p:grpSpPr>
          <a:xfrm>
            <a:off x="3612154" y="2008052"/>
            <a:ext cx="4368065" cy="3310750"/>
            <a:chOff x="3612154" y="2008052"/>
            <a:chExt cx="4368065" cy="3310750"/>
          </a:xfrm>
        </p:grpSpPr>
        <p:sp>
          <p:nvSpPr>
            <p:cNvPr id="6" name="Google Shape;2540;p23">
              <a:extLst>
                <a:ext uri="{FF2B5EF4-FFF2-40B4-BE49-F238E27FC236}">
                  <a16:creationId xmlns:a16="http://schemas.microsoft.com/office/drawing/2014/main" id="{35DB2202-5467-F303-2583-6B46ED1A2AEF}"/>
                </a:ext>
              </a:extLst>
            </p:cNvPr>
            <p:cNvSpPr/>
            <p:nvPr/>
          </p:nvSpPr>
          <p:spPr>
            <a:xfrm>
              <a:off x="3612154" y="4847343"/>
              <a:ext cx="4132736" cy="471459"/>
            </a:xfrm>
            <a:custGeom>
              <a:avLst/>
              <a:gdLst/>
              <a:ahLst/>
              <a:cxnLst/>
              <a:rect l="l" t="t" r="r" b="b"/>
              <a:pathLst>
                <a:path w="3868557" h="718242" extrusionOk="0">
                  <a:moveTo>
                    <a:pt x="0" y="0"/>
                  </a:moveTo>
                  <a:lnTo>
                    <a:pt x="3868557" y="0"/>
                  </a:lnTo>
                  <a:lnTo>
                    <a:pt x="3866499" y="359775"/>
                  </a:lnTo>
                  <a:lnTo>
                    <a:pt x="3868557" y="718242"/>
                  </a:lnTo>
                  <a:lnTo>
                    <a:pt x="0" y="7182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Customer Identity Provider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8" name="Google Shape;2542;p23">
              <a:extLst>
                <a:ext uri="{FF2B5EF4-FFF2-40B4-BE49-F238E27FC236}">
                  <a16:creationId xmlns:a16="http://schemas.microsoft.com/office/drawing/2014/main" id="{A76C026C-1028-D818-C609-CC084815AE52}"/>
                </a:ext>
              </a:extLst>
            </p:cNvPr>
            <p:cNvSpPr/>
            <p:nvPr/>
          </p:nvSpPr>
          <p:spPr>
            <a:xfrm>
              <a:off x="6014118" y="3889076"/>
              <a:ext cx="1660537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543;p23">
              <a:extLst>
                <a:ext uri="{FF2B5EF4-FFF2-40B4-BE49-F238E27FC236}">
                  <a16:creationId xmlns:a16="http://schemas.microsoft.com/office/drawing/2014/main" id="{42D253EE-1B74-2D11-8798-9AA710708764}"/>
                </a:ext>
              </a:extLst>
            </p:cNvPr>
            <p:cNvSpPr/>
            <p:nvPr/>
          </p:nvSpPr>
          <p:spPr>
            <a:xfrm>
              <a:off x="6832349" y="3971724"/>
              <a:ext cx="739497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</a:t>
              </a: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</a:rPr>
                <a:t>2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10" name="Google Shape;2544;p23">
              <a:extLst>
                <a:ext uri="{FF2B5EF4-FFF2-40B4-BE49-F238E27FC236}">
                  <a16:creationId xmlns:a16="http://schemas.microsoft.com/office/drawing/2014/main" id="{F1237155-F174-FFBB-DEAF-56EA77A7CDF6}"/>
                </a:ext>
              </a:extLst>
            </p:cNvPr>
            <p:cNvSpPr txBox="1"/>
            <p:nvPr/>
          </p:nvSpPr>
          <p:spPr>
            <a:xfrm>
              <a:off x="6100004" y="4094849"/>
              <a:ext cx="74484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us-east-1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1" name="Google Shape;2545;p23">
              <a:extLst>
                <a:ext uri="{FF2B5EF4-FFF2-40B4-BE49-F238E27FC236}">
                  <a16:creationId xmlns:a16="http://schemas.microsoft.com/office/drawing/2014/main" id="{C4EBFE00-06A0-D41F-1958-5F85CBA74C8A}"/>
                </a:ext>
              </a:extLst>
            </p:cNvPr>
            <p:cNvSpPr/>
            <p:nvPr/>
          </p:nvSpPr>
          <p:spPr>
            <a:xfrm>
              <a:off x="6014118" y="3169230"/>
              <a:ext cx="1660537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546;p23">
              <a:extLst>
                <a:ext uri="{FF2B5EF4-FFF2-40B4-BE49-F238E27FC236}">
                  <a16:creationId xmlns:a16="http://schemas.microsoft.com/office/drawing/2014/main" id="{21E3E43C-89D7-177C-9C87-B80EBB2C218A}"/>
                </a:ext>
              </a:extLst>
            </p:cNvPr>
            <p:cNvSpPr txBox="1"/>
            <p:nvPr/>
          </p:nvSpPr>
          <p:spPr>
            <a:xfrm>
              <a:off x="6100004" y="3375003"/>
              <a:ext cx="74484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us-east-2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4" name="Google Shape;2547;p23">
              <a:extLst>
                <a:ext uri="{FF2B5EF4-FFF2-40B4-BE49-F238E27FC236}">
                  <a16:creationId xmlns:a16="http://schemas.microsoft.com/office/drawing/2014/main" id="{432B16D6-F753-4672-85B1-63E8432BBB2A}"/>
                </a:ext>
              </a:extLst>
            </p:cNvPr>
            <p:cNvSpPr/>
            <p:nvPr/>
          </p:nvSpPr>
          <p:spPr>
            <a:xfrm>
              <a:off x="6014118" y="2452385"/>
              <a:ext cx="1660537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548;p23">
              <a:extLst>
                <a:ext uri="{FF2B5EF4-FFF2-40B4-BE49-F238E27FC236}">
                  <a16:creationId xmlns:a16="http://schemas.microsoft.com/office/drawing/2014/main" id="{A9B39BC3-30D8-6458-B5E6-FBA8F3DA9DFE}"/>
                </a:ext>
              </a:extLst>
            </p:cNvPr>
            <p:cNvSpPr txBox="1"/>
            <p:nvPr/>
          </p:nvSpPr>
          <p:spPr>
            <a:xfrm>
              <a:off x="6100004" y="2658158"/>
              <a:ext cx="74484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us-east-3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6" name="Google Shape;2549;p23">
              <a:extLst>
                <a:ext uri="{FF2B5EF4-FFF2-40B4-BE49-F238E27FC236}">
                  <a16:creationId xmlns:a16="http://schemas.microsoft.com/office/drawing/2014/main" id="{539D30DB-6361-E25E-DDA2-A87D5AD39AB8}"/>
                </a:ext>
              </a:extLst>
            </p:cNvPr>
            <p:cNvSpPr/>
            <p:nvPr/>
          </p:nvSpPr>
          <p:spPr>
            <a:xfrm>
              <a:off x="3612155" y="2008052"/>
              <a:ext cx="4368064" cy="2599860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550;p23">
              <a:extLst>
                <a:ext uri="{FF2B5EF4-FFF2-40B4-BE49-F238E27FC236}">
                  <a16:creationId xmlns:a16="http://schemas.microsoft.com/office/drawing/2014/main" id="{C3267A91-503B-3E82-E7D3-3AD641BA96E8}"/>
                </a:ext>
              </a:extLst>
            </p:cNvPr>
            <p:cNvSpPr/>
            <p:nvPr/>
          </p:nvSpPr>
          <p:spPr>
            <a:xfrm>
              <a:off x="3695829" y="3889076"/>
              <a:ext cx="1660537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551;p23">
              <a:extLst>
                <a:ext uri="{FF2B5EF4-FFF2-40B4-BE49-F238E27FC236}">
                  <a16:creationId xmlns:a16="http://schemas.microsoft.com/office/drawing/2014/main" id="{2F5997B1-84F4-F457-CD62-820C8215B2DA}"/>
                </a:ext>
              </a:extLst>
            </p:cNvPr>
            <p:cNvSpPr/>
            <p:nvPr/>
          </p:nvSpPr>
          <p:spPr>
            <a:xfrm>
              <a:off x="4514060" y="3971724"/>
              <a:ext cx="739497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</a:t>
              </a: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</a:rPr>
                <a:t>1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19" name="Google Shape;2552;p23">
              <a:extLst>
                <a:ext uri="{FF2B5EF4-FFF2-40B4-BE49-F238E27FC236}">
                  <a16:creationId xmlns:a16="http://schemas.microsoft.com/office/drawing/2014/main" id="{3C2D635E-ED1A-A602-917A-5AB5DD0293C3}"/>
                </a:ext>
              </a:extLst>
            </p:cNvPr>
            <p:cNvSpPr txBox="1"/>
            <p:nvPr/>
          </p:nvSpPr>
          <p:spPr>
            <a:xfrm>
              <a:off x="3781715" y="4094849"/>
              <a:ext cx="74484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us-west-1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0" name="Google Shape;2553;p23">
              <a:extLst>
                <a:ext uri="{FF2B5EF4-FFF2-40B4-BE49-F238E27FC236}">
                  <a16:creationId xmlns:a16="http://schemas.microsoft.com/office/drawing/2014/main" id="{FF55DDAE-029C-A1BC-1C3C-E6300BD64C39}"/>
                </a:ext>
              </a:extLst>
            </p:cNvPr>
            <p:cNvSpPr/>
            <p:nvPr/>
          </p:nvSpPr>
          <p:spPr>
            <a:xfrm>
              <a:off x="3695829" y="3169230"/>
              <a:ext cx="1660537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554;p23">
              <a:extLst>
                <a:ext uri="{FF2B5EF4-FFF2-40B4-BE49-F238E27FC236}">
                  <a16:creationId xmlns:a16="http://schemas.microsoft.com/office/drawing/2014/main" id="{6B7E2DC7-0B8E-65A7-0E47-784E97E98A5A}"/>
                </a:ext>
              </a:extLst>
            </p:cNvPr>
            <p:cNvSpPr txBox="1"/>
            <p:nvPr/>
          </p:nvSpPr>
          <p:spPr>
            <a:xfrm>
              <a:off x="3781715" y="3375003"/>
              <a:ext cx="74484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us-west-2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2" name="Google Shape;2557;p23">
              <a:extLst>
                <a:ext uri="{FF2B5EF4-FFF2-40B4-BE49-F238E27FC236}">
                  <a16:creationId xmlns:a16="http://schemas.microsoft.com/office/drawing/2014/main" id="{28A39B2C-8351-0B2C-2D40-4A81BA3575C5}"/>
                </a:ext>
              </a:extLst>
            </p:cNvPr>
            <p:cNvSpPr txBox="1"/>
            <p:nvPr/>
          </p:nvSpPr>
          <p:spPr>
            <a:xfrm>
              <a:off x="3679646" y="2079915"/>
              <a:ext cx="830268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4" name="Google Shape;2560;p23">
              <a:extLst>
                <a:ext uri="{FF2B5EF4-FFF2-40B4-BE49-F238E27FC236}">
                  <a16:creationId xmlns:a16="http://schemas.microsoft.com/office/drawing/2014/main" id="{F0832FA1-63EE-72BB-849C-A14A79E710ED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 flipH="1">
              <a:off x="5257856" y="3482731"/>
              <a:ext cx="98510" cy="601472"/>
            </a:xfrm>
            <a:prstGeom prst="bentConnector4">
              <a:avLst>
                <a:gd name="adj1" fmla="val -151482"/>
                <a:gd name="adj2" fmla="val 99815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" name="Google Shape;2561;p23">
              <a:extLst>
                <a:ext uri="{FF2B5EF4-FFF2-40B4-BE49-F238E27FC236}">
                  <a16:creationId xmlns:a16="http://schemas.microsoft.com/office/drawing/2014/main" id="{3AB15B7B-4103-79CD-4B61-403C3B46D81E}"/>
                </a:ext>
              </a:extLst>
            </p:cNvPr>
            <p:cNvCxnSpPr>
              <a:stCxn id="14" idx="3"/>
              <a:endCxn id="9" idx="3"/>
            </p:cNvCxnSpPr>
            <p:nvPr/>
          </p:nvCxnSpPr>
          <p:spPr>
            <a:xfrm flipH="1">
              <a:off x="7571846" y="2765886"/>
              <a:ext cx="102809" cy="1441508"/>
            </a:xfrm>
            <a:prstGeom prst="bentConnector3">
              <a:avLst>
                <a:gd name="adj1" fmla="val -222354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" name="Google Shape;2562;p23">
              <a:extLst>
                <a:ext uri="{FF2B5EF4-FFF2-40B4-BE49-F238E27FC236}">
                  <a16:creationId xmlns:a16="http://schemas.microsoft.com/office/drawing/2014/main" id="{552717FB-F2EC-AFFC-B154-8CAE1A8E5B7C}"/>
                </a:ext>
              </a:extLst>
            </p:cNvPr>
            <p:cNvCxnSpPr>
              <a:stCxn id="11" idx="3"/>
              <a:endCxn id="9" idx="3"/>
            </p:cNvCxnSpPr>
            <p:nvPr/>
          </p:nvCxnSpPr>
          <p:spPr>
            <a:xfrm flipH="1">
              <a:off x="7571846" y="3482731"/>
              <a:ext cx="102809" cy="724663"/>
            </a:xfrm>
            <a:prstGeom prst="bentConnector3">
              <a:avLst>
                <a:gd name="adj1" fmla="val -222354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" name="Google Shape;2563;p23">
              <a:extLst>
                <a:ext uri="{FF2B5EF4-FFF2-40B4-BE49-F238E27FC236}">
                  <a16:creationId xmlns:a16="http://schemas.microsoft.com/office/drawing/2014/main" id="{0D505CF7-3B09-A3DF-940E-5B1253B3DC1A}"/>
                </a:ext>
              </a:extLst>
            </p:cNvPr>
            <p:cNvCxnSpPr>
              <a:stCxn id="18" idx="2"/>
            </p:cNvCxnSpPr>
            <p:nvPr/>
          </p:nvCxnSpPr>
          <p:spPr>
            <a:xfrm>
              <a:off x="4883809" y="4443063"/>
              <a:ext cx="1110" cy="404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" name="Google Shape;2564;p23">
              <a:extLst>
                <a:ext uri="{FF2B5EF4-FFF2-40B4-BE49-F238E27FC236}">
                  <a16:creationId xmlns:a16="http://schemas.microsoft.com/office/drawing/2014/main" id="{82A15936-D232-88CE-5D27-96C752FD4503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7202098" y="4443063"/>
              <a:ext cx="7200" cy="404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" name="Google Shape;2562;p23">
              <a:extLst>
                <a:ext uri="{FF2B5EF4-FFF2-40B4-BE49-F238E27FC236}">
                  <a16:creationId xmlns:a16="http://schemas.microsoft.com/office/drawing/2014/main" id="{4FB29998-12E8-3400-439C-6E6E86BD8C65}"/>
                </a:ext>
              </a:extLst>
            </p:cNvPr>
            <p:cNvCxnSpPr>
              <a:cxnSpLocks/>
              <a:stCxn id="12" idx="3"/>
              <a:endCxn id="18" idx="3"/>
            </p:cNvCxnSpPr>
            <p:nvPr/>
          </p:nvCxnSpPr>
          <p:spPr>
            <a:xfrm flipH="1">
              <a:off x="5253557" y="2757346"/>
              <a:ext cx="153468" cy="1450048"/>
            </a:xfrm>
            <a:prstGeom prst="bentConnector3">
              <a:avLst>
                <a:gd name="adj1" fmla="val -148956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DED6722-2D5E-D4DE-7AEF-57AF00BE838C}"/>
                </a:ext>
              </a:extLst>
            </p:cNvPr>
            <p:cNvGrpSpPr/>
            <p:nvPr/>
          </p:nvGrpSpPr>
          <p:grpSpPr>
            <a:xfrm>
              <a:off x="3679647" y="2443844"/>
              <a:ext cx="1727378" cy="627003"/>
              <a:chOff x="3679647" y="2443844"/>
              <a:chExt cx="1727378" cy="627003"/>
            </a:xfrm>
          </p:grpSpPr>
          <p:sp>
            <p:nvSpPr>
              <p:cNvPr id="2" name="Google Shape;2691;p27">
                <a:extLst>
                  <a:ext uri="{FF2B5EF4-FFF2-40B4-BE49-F238E27FC236}">
                    <a16:creationId xmlns:a16="http://schemas.microsoft.com/office/drawing/2014/main" id="{8E3F17DA-FF71-205E-8AE1-2F61F3453A3F}"/>
                  </a:ext>
                </a:extLst>
              </p:cNvPr>
              <p:cNvSpPr/>
              <p:nvPr/>
            </p:nvSpPr>
            <p:spPr>
              <a:xfrm>
                <a:off x="3715259" y="2621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Operations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4" name="Google Shape;2690;p27">
                <a:extLst>
                  <a:ext uri="{FF2B5EF4-FFF2-40B4-BE49-F238E27FC236}">
                    <a16:creationId xmlns:a16="http://schemas.microsoft.com/office/drawing/2014/main" id="{2B5FB527-1F33-5236-A796-366651AA8D19}"/>
                  </a:ext>
                </a:extLst>
              </p:cNvPr>
              <p:cNvSpPr/>
              <p:nvPr/>
            </p:nvSpPr>
            <p:spPr>
              <a:xfrm>
                <a:off x="4578739" y="2620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Automation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2" name="Google Shape;2549;p23">
                <a:extLst>
                  <a:ext uri="{FF2B5EF4-FFF2-40B4-BE49-F238E27FC236}">
                    <a16:creationId xmlns:a16="http://schemas.microsoft.com/office/drawing/2014/main" id="{ED1B175A-9279-881C-D193-87A8361261FD}"/>
                  </a:ext>
                </a:extLst>
              </p:cNvPr>
              <p:cNvSpPr/>
              <p:nvPr/>
            </p:nvSpPr>
            <p:spPr>
              <a:xfrm>
                <a:off x="3679647" y="2443844"/>
                <a:ext cx="1727378" cy="627003"/>
              </a:xfrm>
              <a:prstGeom prst="rect">
                <a:avLst/>
              </a:prstGeom>
              <a:noFill/>
              <a:ln w="12700" cap="rnd" cmpd="sng">
                <a:solidFill>
                  <a:schemeClr val="accent2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557;p23">
                <a:extLst>
                  <a:ext uri="{FF2B5EF4-FFF2-40B4-BE49-F238E27FC236}">
                    <a16:creationId xmlns:a16="http://schemas.microsoft.com/office/drawing/2014/main" id="{CAD72B3B-2951-B21C-A002-F8617E4D98E8}"/>
                  </a:ext>
                </a:extLst>
              </p:cNvPr>
              <p:cNvSpPr txBox="1"/>
              <p:nvPr/>
            </p:nvSpPr>
            <p:spPr>
              <a:xfrm>
                <a:off x="4153288" y="2459131"/>
                <a:ext cx="97200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VCF Management</a:t>
                </a:r>
                <a:endParaRPr dirty="0">
                  <a:latin typeface="Metropolis" pitchFamily="2" charset="77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dirty="0">
                  <a:solidFill>
                    <a:schemeClr val="dk2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649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AU" sz="2400" dirty="0"/>
              <a:t>VCF Automation Enterprise Authentication Model v1.0</a:t>
            </a:r>
            <a:endParaRPr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CB2BFC-A511-2399-72D9-9C6E601DF7E7}"/>
              </a:ext>
            </a:extLst>
          </p:cNvPr>
          <p:cNvGrpSpPr/>
          <p:nvPr/>
        </p:nvGrpSpPr>
        <p:grpSpPr>
          <a:xfrm>
            <a:off x="1522773" y="1725032"/>
            <a:ext cx="4571639" cy="1591918"/>
            <a:chOff x="1522773" y="1725032"/>
            <a:chExt cx="4571639" cy="1591918"/>
          </a:xfrm>
        </p:grpSpPr>
        <p:sp>
          <p:nvSpPr>
            <p:cNvPr id="2928" name="Google Shape;2928;p32"/>
            <p:cNvSpPr/>
            <p:nvPr/>
          </p:nvSpPr>
          <p:spPr>
            <a:xfrm>
              <a:off x="4915283" y="1725032"/>
              <a:ext cx="1179129" cy="13592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Automation</a:t>
              </a:r>
              <a:endParaRPr sz="14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29" name="Google Shape;2929;p32"/>
            <p:cNvSpPr/>
            <p:nvPr/>
          </p:nvSpPr>
          <p:spPr>
            <a:xfrm>
              <a:off x="2290186" y="2851562"/>
              <a:ext cx="1179129" cy="465388"/>
            </a:xfrm>
            <a:prstGeom prst="rect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accent5"/>
                  </a:solidFill>
                  <a:latin typeface="Metropolis" pitchFamily="2" charset="77"/>
                  <a:sym typeface="Arial"/>
                </a:rPr>
                <a:t>IdP</a:t>
              </a:r>
              <a:endParaRPr sz="1400" b="0" i="0" u="none" strike="noStrike" cap="none">
                <a:solidFill>
                  <a:schemeClr val="accent5"/>
                </a:solidFill>
                <a:latin typeface="Metropolis" pitchFamily="2" charset="77"/>
                <a:sym typeface="Arial"/>
              </a:endParaRPr>
            </a:p>
          </p:txBody>
        </p:sp>
        <p:grpSp>
          <p:nvGrpSpPr>
            <p:cNvPr id="2930" name="Google Shape;2930;p32"/>
            <p:cNvGrpSpPr/>
            <p:nvPr/>
          </p:nvGrpSpPr>
          <p:grpSpPr>
            <a:xfrm>
              <a:off x="1522773" y="1813122"/>
              <a:ext cx="2689351" cy="716462"/>
              <a:chOff x="7369048" y="3733709"/>
              <a:chExt cx="3199183" cy="1017594"/>
            </a:xfrm>
          </p:grpSpPr>
          <p:sp>
            <p:nvSpPr>
              <p:cNvPr id="2931" name="Google Shape;2931;p32"/>
              <p:cNvSpPr/>
              <p:nvPr/>
            </p:nvSpPr>
            <p:spPr>
              <a:xfrm>
                <a:off x="7384640" y="3733709"/>
                <a:ext cx="3183591" cy="1017594"/>
              </a:xfrm>
              <a:prstGeom prst="rect">
                <a:avLst/>
              </a:prstGeom>
              <a:noFill/>
              <a:ln w="12700" cap="sq" cmpd="sng">
                <a:solidFill>
                  <a:srgbClr val="007DA3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2" name="Google Shape;2932;p32"/>
              <p:cNvSpPr/>
              <p:nvPr/>
            </p:nvSpPr>
            <p:spPr>
              <a:xfrm>
                <a:off x="7528840" y="4053544"/>
                <a:ext cx="898958" cy="59253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accent2"/>
                    </a:solidFill>
                    <a:latin typeface="Metropolis" pitchFamily="2" charset="77"/>
                    <a:sym typeface="Arial"/>
                  </a:rPr>
                  <a:t>VCF Identity Broker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933" name="Google Shape;2933;p32"/>
              <p:cNvSpPr txBox="1"/>
              <p:nvPr/>
            </p:nvSpPr>
            <p:spPr>
              <a:xfrm>
                <a:off x="7369048" y="3825362"/>
                <a:ext cx="1736400" cy="17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2"/>
                    </a:solidFill>
                    <a:latin typeface="Metropolis" pitchFamily="2" charset="77"/>
                    <a:sym typeface="Arial"/>
                  </a:rPr>
                  <a:t>VCF Identity Broker Service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934" name="Google Shape;2934;p32"/>
              <p:cNvSpPr/>
              <p:nvPr/>
            </p:nvSpPr>
            <p:spPr>
              <a:xfrm>
                <a:off x="9528492" y="4061958"/>
                <a:ext cx="898958" cy="59253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accent2"/>
                    </a:solidFill>
                    <a:latin typeface="Metropolis" pitchFamily="2" charset="77"/>
                    <a:sym typeface="Arial"/>
                  </a:rPr>
                  <a:t>VCF Identity Broker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935" name="Google Shape;2935;p32"/>
              <p:cNvSpPr/>
              <p:nvPr/>
            </p:nvSpPr>
            <p:spPr>
              <a:xfrm>
                <a:off x="8528666" y="4058427"/>
                <a:ext cx="898958" cy="59253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accent2"/>
                    </a:solidFill>
                    <a:latin typeface="Metropolis" pitchFamily="2" charset="77"/>
                    <a:sym typeface="Arial"/>
                  </a:rPr>
                  <a:t>VCF Identity Broker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cxnSp>
          <p:nvCxnSpPr>
            <p:cNvPr id="2936" name="Google Shape;2936;p32"/>
            <p:cNvCxnSpPr>
              <a:stCxn id="2931" idx="2"/>
              <a:endCxn id="2929" idx="0"/>
            </p:cNvCxnSpPr>
            <p:nvPr/>
          </p:nvCxnSpPr>
          <p:spPr>
            <a:xfrm>
              <a:off x="2874002" y="2529584"/>
              <a:ext cx="5700" cy="3219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37" name="Google Shape;2937;p32"/>
            <p:cNvSpPr/>
            <p:nvPr/>
          </p:nvSpPr>
          <p:spPr>
            <a:xfrm>
              <a:off x="4995369" y="2056054"/>
              <a:ext cx="1018956" cy="2474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Provider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38" name="Google Shape;2938;p32"/>
            <p:cNvSpPr/>
            <p:nvPr/>
          </p:nvSpPr>
          <p:spPr>
            <a:xfrm>
              <a:off x="4995369" y="2394707"/>
              <a:ext cx="1018956" cy="2474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Tenant A</a:t>
              </a:r>
              <a:endParaRPr sz="14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939" name="Google Shape;2939;p32"/>
            <p:cNvCxnSpPr>
              <a:stCxn id="2937" idx="1"/>
              <a:endCxn id="2931" idx="3"/>
            </p:cNvCxnSpPr>
            <p:nvPr/>
          </p:nvCxnSpPr>
          <p:spPr>
            <a:xfrm rot="10800000">
              <a:off x="4212069" y="2171367"/>
              <a:ext cx="783300" cy="8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940" name="Google Shape;2940;p32"/>
            <p:cNvCxnSpPr>
              <a:stCxn id="2938" idx="1"/>
              <a:endCxn id="2929" idx="3"/>
            </p:cNvCxnSpPr>
            <p:nvPr/>
          </p:nvCxnSpPr>
          <p:spPr>
            <a:xfrm flipH="1">
              <a:off x="3469269" y="2518420"/>
              <a:ext cx="1526100" cy="565800"/>
            </a:xfrm>
            <a:prstGeom prst="bentConnector3">
              <a:avLst>
                <a:gd name="adj1" fmla="val 40109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41" name="Google Shape;2941;p32"/>
            <p:cNvSpPr/>
            <p:nvPr/>
          </p:nvSpPr>
          <p:spPr>
            <a:xfrm>
              <a:off x="4995369" y="2726569"/>
              <a:ext cx="1018956" cy="2474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Tenant B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942" name="Google Shape;2942;p32"/>
            <p:cNvCxnSpPr>
              <a:stCxn id="2941" idx="1"/>
              <a:endCxn id="2929" idx="3"/>
            </p:cNvCxnSpPr>
            <p:nvPr/>
          </p:nvCxnSpPr>
          <p:spPr>
            <a:xfrm flipH="1">
              <a:off x="3469269" y="2850282"/>
              <a:ext cx="1526100" cy="234000"/>
            </a:xfrm>
            <a:prstGeom prst="bentConnector3">
              <a:avLst>
                <a:gd name="adj1" fmla="val 40109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Google Shape;2947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AU" sz="2400" dirty="0"/>
              <a:t>VCF Automation Service Provider Authentication Model v1.0</a:t>
            </a:r>
            <a:endParaRPr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ADC44B1-70A0-967A-8DF6-D1A0E8368E46}"/>
              </a:ext>
            </a:extLst>
          </p:cNvPr>
          <p:cNvGrpSpPr/>
          <p:nvPr/>
        </p:nvGrpSpPr>
        <p:grpSpPr>
          <a:xfrm>
            <a:off x="821448" y="1437225"/>
            <a:ext cx="6453930" cy="1591918"/>
            <a:chOff x="821448" y="1437225"/>
            <a:chExt cx="6453930" cy="1591918"/>
          </a:xfrm>
        </p:grpSpPr>
        <p:sp>
          <p:nvSpPr>
            <p:cNvPr id="2949" name="Google Shape;2949;p33"/>
            <p:cNvSpPr/>
            <p:nvPr/>
          </p:nvSpPr>
          <p:spPr>
            <a:xfrm>
              <a:off x="4213961" y="1437225"/>
              <a:ext cx="1179129" cy="13592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Automation</a:t>
              </a:r>
              <a:endParaRPr sz="14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1588864" y="2563755"/>
              <a:ext cx="1179129" cy="465388"/>
            </a:xfrm>
            <a:prstGeom prst="rect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Metropolis" pitchFamily="2" charset="77"/>
                </a:rPr>
                <a:t>Provider’s </a:t>
              </a: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IdP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grpSp>
          <p:nvGrpSpPr>
            <p:cNvPr id="2951" name="Google Shape;2951;p33"/>
            <p:cNvGrpSpPr/>
            <p:nvPr/>
          </p:nvGrpSpPr>
          <p:grpSpPr>
            <a:xfrm>
              <a:off x="821448" y="1525315"/>
              <a:ext cx="2689354" cy="716462"/>
              <a:chOff x="7369044" y="3733709"/>
              <a:chExt cx="3199187" cy="1017594"/>
            </a:xfrm>
          </p:grpSpPr>
          <p:sp>
            <p:nvSpPr>
              <p:cNvPr id="2952" name="Google Shape;2952;p33"/>
              <p:cNvSpPr/>
              <p:nvPr/>
            </p:nvSpPr>
            <p:spPr>
              <a:xfrm>
                <a:off x="7384640" y="3733709"/>
                <a:ext cx="3183591" cy="1017594"/>
              </a:xfrm>
              <a:prstGeom prst="rect">
                <a:avLst/>
              </a:prstGeom>
              <a:noFill/>
              <a:ln w="12700" cap="sq" cmpd="sng">
                <a:solidFill>
                  <a:srgbClr val="007DA3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3" name="Google Shape;2953;p33"/>
              <p:cNvSpPr/>
              <p:nvPr/>
            </p:nvSpPr>
            <p:spPr>
              <a:xfrm>
                <a:off x="7528840" y="4053544"/>
                <a:ext cx="898958" cy="59253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accent2"/>
                    </a:solidFill>
                    <a:latin typeface="Metropolis" pitchFamily="2" charset="77"/>
                    <a:sym typeface="Arial"/>
                  </a:rPr>
                  <a:t>VCF Identity Broker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954" name="Google Shape;2954;p33"/>
              <p:cNvSpPr txBox="1"/>
              <p:nvPr/>
            </p:nvSpPr>
            <p:spPr>
              <a:xfrm>
                <a:off x="7369044" y="3825372"/>
                <a:ext cx="1795500" cy="17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2"/>
                    </a:solidFill>
                    <a:latin typeface="Metropolis" pitchFamily="2" charset="77"/>
                    <a:sym typeface="Arial"/>
                  </a:rPr>
                  <a:t>VCF Identity Broker Service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955" name="Google Shape;2955;p33"/>
              <p:cNvSpPr/>
              <p:nvPr/>
            </p:nvSpPr>
            <p:spPr>
              <a:xfrm>
                <a:off x="9528492" y="4061958"/>
                <a:ext cx="898958" cy="59253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accent2"/>
                    </a:solidFill>
                    <a:latin typeface="Metropolis" pitchFamily="2" charset="77"/>
                    <a:sym typeface="Arial"/>
                  </a:rPr>
                  <a:t>VCF Identity Broker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956" name="Google Shape;2956;p33"/>
              <p:cNvSpPr/>
              <p:nvPr/>
            </p:nvSpPr>
            <p:spPr>
              <a:xfrm>
                <a:off x="8528666" y="4058427"/>
                <a:ext cx="898958" cy="59253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accent2"/>
                    </a:solidFill>
                    <a:latin typeface="Metropolis" pitchFamily="2" charset="77"/>
                    <a:sym typeface="Arial"/>
                  </a:rPr>
                  <a:t>VCF Identity Broker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cxnSp>
          <p:nvCxnSpPr>
            <p:cNvPr id="2957" name="Google Shape;2957;p33"/>
            <p:cNvCxnSpPr>
              <a:stCxn id="2952" idx="2"/>
              <a:endCxn id="2950" idx="0"/>
            </p:cNvCxnSpPr>
            <p:nvPr/>
          </p:nvCxnSpPr>
          <p:spPr>
            <a:xfrm>
              <a:off x="2172680" y="2241777"/>
              <a:ext cx="5700" cy="3219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58" name="Google Shape;2958;p33"/>
            <p:cNvSpPr/>
            <p:nvPr/>
          </p:nvSpPr>
          <p:spPr>
            <a:xfrm>
              <a:off x="4294047" y="1768247"/>
              <a:ext cx="1018956" cy="2474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Provider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4294047" y="2106900"/>
              <a:ext cx="1018956" cy="2474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Tenant A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960" name="Google Shape;2960;p33"/>
            <p:cNvCxnSpPr>
              <a:stCxn id="2958" idx="1"/>
              <a:endCxn id="2952" idx="3"/>
            </p:cNvCxnSpPr>
            <p:nvPr/>
          </p:nvCxnSpPr>
          <p:spPr>
            <a:xfrm rot="10800000">
              <a:off x="3510747" y="1883560"/>
              <a:ext cx="783300" cy="8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61" name="Google Shape;2961;p33"/>
            <p:cNvSpPr/>
            <p:nvPr/>
          </p:nvSpPr>
          <p:spPr>
            <a:xfrm>
              <a:off x="4294047" y="2438762"/>
              <a:ext cx="1018956" cy="2474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Tenant B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62" name="Google Shape;2962;p33"/>
            <p:cNvSpPr/>
            <p:nvPr/>
          </p:nvSpPr>
          <p:spPr>
            <a:xfrm>
              <a:off x="6096249" y="1437225"/>
              <a:ext cx="1179129" cy="465388"/>
            </a:xfrm>
            <a:prstGeom prst="rect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</a:rPr>
                <a:t>Tenant A’s </a:t>
              </a:r>
              <a:r>
                <a:rPr lang="en-US" sz="8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IdP</a:t>
              </a:r>
              <a:endParaRPr sz="14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63" name="Google Shape;2963;p33"/>
            <p:cNvSpPr/>
            <p:nvPr/>
          </p:nvSpPr>
          <p:spPr>
            <a:xfrm>
              <a:off x="6096249" y="2329780"/>
              <a:ext cx="1179129" cy="465388"/>
            </a:xfrm>
            <a:prstGeom prst="rect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Metropolis" pitchFamily="2" charset="77"/>
                </a:rPr>
                <a:t>Tenant B’s </a:t>
              </a: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IdP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964" name="Google Shape;2964;p33"/>
            <p:cNvCxnSpPr>
              <a:stCxn id="2959" idx="3"/>
              <a:endCxn id="2962" idx="1"/>
            </p:cNvCxnSpPr>
            <p:nvPr/>
          </p:nvCxnSpPr>
          <p:spPr>
            <a:xfrm rot="10800000" flipH="1">
              <a:off x="5313003" y="1669913"/>
              <a:ext cx="783300" cy="560700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965" name="Google Shape;2965;p33"/>
            <p:cNvCxnSpPr>
              <a:stCxn id="2961" idx="3"/>
              <a:endCxn id="2963" idx="1"/>
            </p:cNvCxnSpPr>
            <p:nvPr/>
          </p:nvCxnSpPr>
          <p:spPr>
            <a:xfrm>
              <a:off x="5313003" y="2562475"/>
              <a:ext cx="783300" cy="600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8" name="Google Shape;3118;p81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4000">
                <a:solidFill>
                  <a:srgbClr val="005C8A"/>
                </a:solidFill>
              </a:rPr>
              <a:t>Supervisor Models</a:t>
            </a:r>
            <a:endParaRPr/>
          </a:p>
        </p:txBody>
      </p:sp>
      <p:sp>
        <p:nvSpPr>
          <p:cNvPr id="3119" name="Google Shape;3119;p8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9B0A68-D7BC-0A29-27EB-439FFC8D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Simplified Supervisor Model v1.0</a:t>
            </a:r>
            <a:endParaRPr lang="en-US" sz="2400" dirty="0"/>
          </a:p>
        </p:txBody>
      </p:sp>
      <p:sp>
        <p:nvSpPr>
          <p:cNvPr id="3126" name="Google Shape;3126;p82"/>
          <p:cNvSpPr/>
          <p:nvPr/>
        </p:nvSpPr>
        <p:spPr>
          <a:xfrm flipH="1">
            <a:off x="4366465" y="1365253"/>
            <a:ext cx="3455894" cy="462464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7" name="Google Shape;3127;p82"/>
          <p:cNvSpPr/>
          <p:nvPr/>
        </p:nvSpPr>
        <p:spPr>
          <a:xfrm flipH="1">
            <a:off x="4958135" y="2063463"/>
            <a:ext cx="2272554" cy="32723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8" name="Google Shape;3128;p82"/>
          <p:cNvSpPr/>
          <p:nvPr/>
        </p:nvSpPr>
        <p:spPr>
          <a:xfrm>
            <a:off x="5056037" y="2319290"/>
            <a:ext cx="2076750" cy="2902223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9" name="Google Shape;3129;p82"/>
          <p:cNvSpPr/>
          <p:nvPr/>
        </p:nvSpPr>
        <p:spPr>
          <a:xfrm flipH="1">
            <a:off x="5136677" y="2935514"/>
            <a:ext cx="1930401" cy="2171699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0" name="Google Shape;3130;p82"/>
          <p:cNvSpPr/>
          <p:nvPr/>
        </p:nvSpPr>
        <p:spPr>
          <a:xfrm>
            <a:off x="4458181" y="165457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1" name="Google Shape;3131;p82"/>
          <p:cNvSpPr/>
          <p:nvPr/>
        </p:nvSpPr>
        <p:spPr>
          <a:xfrm>
            <a:off x="6141572" y="165457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2" name="Google Shape;3132;p82"/>
          <p:cNvSpPr/>
          <p:nvPr/>
        </p:nvSpPr>
        <p:spPr>
          <a:xfrm>
            <a:off x="5450824" y="3527719"/>
            <a:ext cx="1274727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3" name="Google Shape;3133;p82"/>
          <p:cNvGrpSpPr/>
          <p:nvPr/>
        </p:nvGrpSpPr>
        <p:grpSpPr>
          <a:xfrm>
            <a:off x="5934232" y="3287236"/>
            <a:ext cx="325298" cy="325526"/>
            <a:chOff x="658852" y="4954224"/>
            <a:chExt cx="583799" cy="584209"/>
          </a:xfrm>
        </p:grpSpPr>
        <p:sp>
          <p:nvSpPr>
            <p:cNvPr id="3134" name="Google Shape;3134;p82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35" name="Google Shape;3135;p82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136" name="Google Shape;3136;p82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7" name="Google Shape;3137;p82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38" name="Google Shape;3138;p82"/>
          <p:cNvSpPr/>
          <p:nvPr/>
        </p:nvSpPr>
        <p:spPr>
          <a:xfrm>
            <a:off x="5213835" y="4054174"/>
            <a:ext cx="1771650" cy="94557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Service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9" name="Google Shape;3139;p82"/>
          <p:cNvSpPr/>
          <p:nvPr/>
        </p:nvSpPr>
        <p:spPr>
          <a:xfrm>
            <a:off x="5342838" y="4423452"/>
            <a:ext cx="1521178" cy="4442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0" name="Google Shape;3140;p82"/>
          <p:cNvSpPr/>
          <p:nvPr/>
        </p:nvSpPr>
        <p:spPr>
          <a:xfrm>
            <a:off x="5670417" y="4425949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1" name="Google Shape;3141;p82"/>
          <p:cNvGrpSpPr/>
          <p:nvPr/>
        </p:nvGrpSpPr>
        <p:grpSpPr>
          <a:xfrm>
            <a:off x="5459093" y="4530379"/>
            <a:ext cx="274320" cy="274320"/>
            <a:chOff x="658852" y="4954224"/>
            <a:chExt cx="583799" cy="584209"/>
          </a:xfrm>
        </p:grpSpPr>
        <p:sp>
          <p:nvSpPr>
            <p:cNvPr id="3142" name="Google Shape;3142;p82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43" name="Google Shape;3143;p82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144" name="Google Shape;3144;p82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5" name="Google Shape;3145;p82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46" name="Google Shape;3146;p82"/>
          <p:cNvSpPr/>
          <p:nvPr/>
        </p:nvSpPr>
        <p:spPr>
          <a:xfrm>
            <a:off x="5300868" y="5519316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7" name="Google Shape;3147;p82"/>
          <p:cNvCxnSpPr>
            <a:stCxn id="3127" idx="2"/>
            <a:endCxn id="3146" idx="0"/>
          </p:cNvCxnSpPr>
          <p:nvPr/>
        </p:nvCxnSpPr>
        <p:spPr>
          <a:xfrm>
            <a:off x="6094412" y="5335813"/>
            <a:ext cx="0" cy="1836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162D-8D76-10AD-AE0B-FFB481D5F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Single Management Zone with Combined Workload Zones Model v1.0</a:t>
            </a:r>
            <a:endParaRPr lang="en-US" sz="2400" dirty="0"/>
          </a:p>
        </p:txBody>
      </p:sp>
      <p:sp>
        <p:nvSpPr>
          <p:cNvPr id="3155" name="Google Shape;3155;p83"/>
          <p:cNvSpPr/>
          <p:nvPr/>
        </p:nvSpPr>
        <p:spPr>
          <a:xfrm flipH="1">
            <a:off x="4366465" y="1029346"/>
            <a:ext cx="3455894" cy="507402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6" name="Google Shape;3156;p83"/>
          <p:cNvSpPr/>
          <p:nvPr/>
        </p:nvSpPr>
        <p:spPr>
          <a:xfrm flipH="1">
            <a:off x="4958135" y="1727557"/>
            <a:ext cx="2272554" cy="38251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7" name="Google Shape;3157;p83"/>
          <p:cNvSpPr/>
          <p:nvPr/>
        </p:nvSpPr>
        <p:spPr>
          <a:xfrm>
            <a:off x="5056037" y="1983384"/>
            <a:ext cx="2076750" cy="3458688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1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8" name="Google Shape;3158;p83"/>
          <p:cNvSpPr/>
          <p:nvPr/>
        </p:nvSpPr>
        <p:spPr>
          <a:xfrm flipH="1">
            <a:off x="5136682" y="2552001"/>
            <a:ext cx="1930401" cy="2816113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9" name="Google Shape;3159;p83"/>
          <p:cNvSpPr/>
          <p:nvPr/>
        </p:nvSpPr>
        <p:spPr>
          <a:xfrm>
            <a:off x="5212884" y="3442898"/>
            <a:ext cx="1771650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A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0" name="Google Shape;3160;p83"/>
          <p:cNvSpPr/>
          <p:nvPr/>
        </p:nvSpPr>
        <p:spPr>
          <a:xfrm>
            <a:off x="5341887" y="3679990"/>
            <a:ext cx="1521178" cy="4728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1" name="Google Shape;3161;p83"/>
          <p:cNvGrpSpPr/>
          <p:nvPr/>
        </p:nvGrpSpPr>
        <p:grpSpPr>
          <a:xfrm>
            <a:off x="5549271" y="3762448"/>
            <a:ext cx="314932" cy="306639"/>
            <a:chOff x="624431" y="1107698"/>
            <a:chExt cx="682601" cy="664625"/>
          </a:xfrm>
        </p:grpSpPr>
        <p:sp>
          <p:nvSpPr>
            <p:cNvPr id="3162" name="Google Shape;3162;p83"/>
            <p:cNvSpPr/>
            <p:nvPr/>
          </p:nvSpPr>
          <p:spPr>
            <a:xfrm>
              <a:off x="1004841" y="1579446"/>
              <a:ext cx="1943" cy="7287"/>
            </a:xfrm>
            <a:custGeom>
              <a:avLst/>
              <a:gdLst/>
              <a:ahLst/>
              <a:cxnLst/>
              <a:rect l="l" t="t" r="r" b="b"/>
              <a:pathLst>
                <a:path w="1943" h="7287" extrusionOk="0">
                  <a:moveTo>
                    <a:pt x="0" y="486"/>
                  </a:moveTo>
                  <a:lnTo>
                    <a:pt x="1943" y="7288"/>
                  </a:lnTo>
                  <a:lnTo>
                    <a:pt x="486" y="0"/>
                  </a:lnTo>
                  <a:cubicBezTo>
                    <a:pt x="486" y="0"/>
                    <a:pt x="48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p83"/>
            <p:cNvSpPr/>
            <p:nvPr/>
          </p:nvSpPr>
          <p:spPr>
            <a:xfrm>
              <a:off x="878038" y="1319523"/>
              <a:ext cx="62673" cy="67379"/>
            </a:xfrm>
            <a:custGeom>
              <a:avLst/>
              <a:gdLst/>
              <a:ahLst/>
              <a:cxnLst/>
              <a:rect l="l" t="t" r="r" b="b"/>
              <a:pathLst>
                <a:path w="62673" h="67379" extrusionOk="0">
                  <a:moveTo>
                    <a:pt x="51499" y="66560"/>
                  </a:moveTo>
                  <a:cubicBezTo>
                    <a:pt x="51499" y="66560"/>
                    <a:pt x="54900" y="68017"/>
                    <a:pt x="56357" y="67046"/>
                  </a:cubicBezTo>
                  <a:cubicBezTo>
                    <a:pt x="57815" y="66560"/>
                    <a:pt x="58786" y="65102"/>
                    <a:pt x="58786" y="63159"/>
                  </a:cubicBezTo>
                  <a:cubicBezTo>
                    <a:pt x="59758" y="47126"/>
                    <a:pt x="60730" y="30608"/>
                    <a:pt x="61701" y="14575"/>
                  </a:cubicBezTo>
                  <a:lnTo>
                    <a:pt x="62673" y="0"/>
                  </a:lnTo>
                  <a:cubicBezTo>
                    <a:pt x="38381" y="4858"/>
                    <a:pt x="17976" y="15061"/>
                    <a:pt x="0" y="30122"/>
                  </a:cubicBezTo>
                  <a:cubicBezTo>
                    <a:pt x="7773" y="35466"/>
                    <a:pt x="15547" y="41296"/>
                    <a:pt x="23320" y="46640"/>
                  </a:cubicBezTo>
                  <a:cubicBezTo>
                    <a:pt x="32551" y="53442"/>
                    <a:pt x="42268" y="59758"/>
                    <a:pt x="51499" y="66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p83"/>
            <p:cNvSpPr/>
            <p:nvPr/>
          </p:nvSpPr>
          <p:spPr>
            <a:xfrm>
              <a:off x="1014072" y="1494424"/>
              <a:ext cx="74333" cy="65102"/>
            </a:xfrm>
            <a:custGeom>
              <a:avLst/>
              <a:gdLst/>
              <a:ahLst/>
              <a:cxnLst/>
              <a:rect l="l" t="t" r="r" b="b"/>
              <a:pathLst>
                <a:path w="74333" h="65102" extrusionOk="0">
                  <a:moveTo>
                    <a:pt x="8259" y="972"/>
                  </a:moveTo>
                  <a:cubicBezTo>
                    <a:pt x="8259" y="972"/>
                    <a:pt x="6316" y="2915"/>
                    <a:pt x="6316" y="4858"/>
                  </a:cubicBezTo>
                  <a:lnTo>
                    <a:pt x="0" y="9717"/>
                  </a:lnTo>
                  <a:lnTo>
                    <a:pt x="6802" y="6802"/>
                  </a:lnTo>
                  <a:lnTo>
                    <a:pt x="12632" y="20891"/>
                  </a:lnTo>
                  <a:cubicBezTo>
                    <a:pt x="18948" y="35466"/>
                    <a:pt x="24778" y="50527"/>
                    <a:pt x="31094" y="65102"/>
                  </a:cubicBezTo>
                  <a:cubicBezTo>
                    <a:pt x="50527" y="50527"/>
                    <a:pt x="64616" y="32551"/>
                    <a:pt x="74333" y="10688"/>
                  </a:cubicBezTo>
                  <a:lnTo>
                    <a:pt x="12146" y="0"/>
                  </a:lnTo>
                  <a:cubicBezTo>
                    <a:pt x="12146" y="0"/>
                    <a:pt x="9231" y="486"/>
                    <a:pt x="8259" y="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p83"/>
            <p:cNvSpPr/>
            <p:nvPr/>
          </p:nvSpPr>
          <p:spPr>
            <a:xfrm>
              <a:off x="842572" y="1494424"/>
              <a:ext cx="67045" cy="64616"/>
            </a:xfrm>
            <a:custGeom>
              <a:avLst/>
              <a:gdLst/>
              <a:ahLst/>
              <a:cxnLst/>
              <a:rect l="l" t="t" r="r" b="b"/>
              <a:pathLst>
                <a:path w="67045" h="64616" extrusionOk="0">
                  <a:moveTo>
                    <a:pt x="62673" y="0"/>
                  </a:moveTo>
                  <a:lnTo>
                    <a:pt x="46155" y="2915"/>
                  </a:lnTo>
                  <a:cubicBezTo>
                    <a:pt x="30608" y="5344"/>
                    <a:pt x="15547" y="8259"/>
                    <a:pt x="0" y="10688"/>
                  </a:cubicBezTo>
                  <a:cubicBezTo>
                    <a:pt x="9717" y="32551"/>
                    <a:pt x="24292" y="50527"/>
                    <a:pt x="43240" y="64616"/>
                  </a:cubicBezTo>
                  <a:cubicBezTo>
                    <a:pt x="48584" y="51985"/>
                    <a:pt x="53442" y="39839"/>
                    <a:pt x="58300" y="27693"/>
                  </a:cubicBezTo>
                  <a:lnTo>
                    <a:pt x="65588" y="9717"/>
                  </a:lnTo>
                  <a:cubicBezTo>
                    <a:pt x="65588" y="9717"/>
                    <a:pt x="66560" y="6802"/>
                    <a:pt x="67046" y="5830"/>
                  </a:cubicBezTo>
                  <a:cubicBezTo>
                    <a:pt x="67046" y="4858"/>
                    <a:pt x="67046" y="3401"/>
                    <a:pt x="66074" y="2429"/>
                  </a:cubicBezTo>
                  <a:cubicBezTo>
                    <a:pt x="65102" y="1457"/>
                    <a:pt x="64131" y="972"/>
                    <a:pt x="62673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p83"/>
            <p:cNvSpPr/>
            <p:nvPr/>
          </p:nvSpPr>
          <p:spPr>
            <a:xfrm>
              <a:off x="930994" y="1523575"/>
              <a:ext cx="68503" cy="62187"/>
            </a:xfrm>
            <a:custGeom>
              <a:avLst/>
              <a:gdLst/>
              <a:ahLst/>
              <a:cxnLst/>
              <a:rect l="l" t="t" r="r" b="b"/>
              <a:pathLst>
                <a:path w="68503" h="62187" extrusionOk="0">
                  <a:moveTo>
                    <a:pt x="55385" y="32551"/>
                  </a:moveTo>
                  <a:cubicBezTo>
                    <a:pt x="50041" y="22834"/>
                    <a:pt x="44697" y="12632"/>
                    <a:pt x="38867" y="2915"/>
                  </a:cubicBezTo>
                  <a:cubicBezTo>
                    <a:pt x="37895" y="972"/>
                    <a:pt x="35952" y="486"/>
                    <a:pt x="34494" y="0"/>
                  </a:cubicBezTo>
                  <a:cubicBezTo>
                    <a:pt x="33037" y="0"/>
                    <a:pt x="31094" y="972"/>
                    <a:pt x="30122" y="2915"/>
                  </a:cubicBezTo>
                  <a:lnTo>
                    <a:pt x="17490" y="25749"/>
                  </a:lnTo>
                  <a:cubicBezTo>
                    <a:pt x="11660" y="36438"/>
                    <a:pt x="5830" y="46640"/>
                    <a:pt x="0" y="57329"/>
                  </a:cubicBezTo>
                  <a:cubicBezTo>
                    <a:pt x="11660" y="60244"/>
                    <a:pt x="22834" y="61701"/>
                    <a:pt x="34494" y="62187"/>
                  </a:cubicBezTo>
                  <a:cubicBezTo>
                    <a:pt x="45669" y="62187"/>
                    <a:pt x="57329" y="60730"/>
                    <a:pt x="68503" y="57815"/>
                  </a:cubicBezTo>
                  <a:cubicBezTo>
                    <a:pt x="67046" y="54900"/>
                    <a:pt x="65588" y="52470"/>
                    <a:pt x="64131" y="50041"/>
                  </a:cubicBezTo>
                  <a:lnTo>
                    <a:pt x="54900" y="330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p83"/>
            <p:cNvSpPr/>
            <p:nvPr/>
          </p:nvSpPr>
          <p:spPr>
            <a:xfrm>
              <a:off x="1090835" y="1499768"/>
              <a:ext cx="6801" cy="2915"/>
            </a:xfrm>
            <a:custGeom>
              <a:avLst/>
              <a:gdLst/>
              <a:ahLst/>
              <a:cxnLst/>
              <a:rect l="l" t="t" r="r" b="b"/>
              <a:pathLst>
                <a:path w="6801" h="2915" extrusionOk="0">
                  <a:moveTo>
                    <a:pt x="0" y="0"/>
                  </a:moveTo>
                  <a:lnTo>
                    <a:pt x="6802" y="29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p83"/>
            <p:cNvSpPr/>
            <p:nvPr/>
          </p:nvSpPr>
          <p:spPr>
            <a:xfrm>
              <a:off x="831667" y="1388512"/>
              <a:ext cx="64346" cy="67531"/>
            </a:xfrm>
            <a:custGeom>
              <a:avLst/>
              <a:gdLst/>
              <a:ahLst/>
              <a:cxnLst/>
              <a:rect l="l" t="t" r="r" b="b"/>
              <a:pathLst>
                <a:path w="64346" h="67531" extrusionOk="0">
                  <a:moveTo>
                    <a:pt x="63375" y="47126"/>
                  </a:moveTo>
                  <a:cubicBezTo>
                    <a:pt x="63375" y="47126"/>
                    <a:pt x="63375" y="43725"/>
                    <a:pt x="60460" y="40810"/>
                  </a:cubicBezTo>
                  <a:cubicBezTo>
                    <a:pt x="45399" y="27207"/>
                    <a:pt x="30338" y="13603"/>
                    <a:pt x="15277" y="0"/>
                  </a:cubicBezTo>
                  <a:cubicBezTo>
                    <a:pt x="6532" y="17004"/>
                    <a:pt x="1673" y="34494"/>
                    <a:pt x="216" y="52956"/>
                  </a:cubicBezTo>
                  <a:cubicBezTo>
                    <a:pt x="216" y="57329"/>
                    <a:pt x="-270" y="62673"/>
                    <a:pt x="216" y="67531"/>
                  </a:cubicBezTo>
                  <a:lnTo>
                    <a:pt x="10419" y="64616"/>
                  </a:lnTo>
                  <a:cubicBezTo>
                    <a:pt x="26451" y="59758"/>
                    <a:pt x="42970" y="55385"/>
                    <a:pt x="59002" y="50527"/>
                  </a:cubicBezTo>
                  <a:cubicBezTo>
                    <a:pt x="63375" y="49070"/>
                    <a:pt x="63861" y="47612"/>
                    <a:pt x="64346" y="46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p83"/>
            <p:cNvSpPr/>
            <p:nvPr/>
          </p:nvSpPr>
          <p:spPr>
            <a:xfrm>
              <a:off x="990752" y="1319523"/>
              <a:ext cx="61701" cy="66751"/>
            </a:xfrm>
            <a:custGeom>
              <a:avLst/>
              <a:gdLst/>
              <a:ahLst/>
              <a:cxnLst/>
              <a:rect l="l" t="t" r="r" b="b"/>
              <a:pathLst>
                <a:path w="61701" h="66751" extrusionOk="0">
                  <a:moveTo>
                    <a:pt x="5830" y="66560"/>
                  </a:moveTo>
                  <a:cubicBezTo>
                    <a:pt x="5830" y="66560"/>
                    <a:pt x="8745" y="67531"/>
                    <a:pt x="12146" y="65102"/>
                  </a:cubicBezTo>
                  <a:cubicBezTo>
                    <a:pt x="28664" y="53442"/>
                    <a:pt x="45183" y="41782"/>
                    <a:pt x="61701" y="30122"/>
                  </a:cubicBezTo>
                  <a:cubicBezTo>
                    <a:pt x="42754" y="14575"/>
                    <a:pt x="22348" y="4373"/>
                    <a:pt x="0" y="0"/>
                  </a:cubicBezTo>
                  <a:lnTo>
                    <a:pt x="3401" y="60730"/>
                  </a:lnTo>
                  <a:cubicBezTo>
                    <a:pt x="3401" y="65102"/>
                    <a:pt x="4858" y="65588"/>
                    <a:pt x="5830" y="66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0" name="Google Shape;3170;p83"/>
            <p:cNvSpPr/>
            <p:nvPr/>
          </p:nvSpPr>
          <p:spPr>
            <a:xfrm>
              <a:off x="732681" y="1210695"/>
              <a:ext cx="466686" cy="454812"/>
            </a:xfrm>
            <a:custGeom>
              <a:avLst/>
              <a:gdLst/>
              <a:ahLst/>
              <a:cxnLst/>
              <a:rect l="l" t="t" r="r" b="b"/>
              <a:pathLst>
                <a:path w="466686" h="454812" extrusionOk="0">
                  <a:moveTo>
                    <a:pt x="444146" y="283729"/>
                  </a:moveTo>
                  <a:cubicBezTo>
                    <a:pt x="438802" y="283243"/>
                    <a:pt x="433458" y="282757"/>
                    <a:pt x="428600" y="281786"/>
                  </a:cubicBezTo>
                  <a:cubicBezTo>
                    <a:pt x="421798" y="280814"/>
                    <a:pt x="414024" y="279842"/>
                    <a:pt x="409166" y="272555"/>
                  </a:cubicBezTo>
                  <a:cubicBezTo>
                    <a:pt x="406251" y="272069"/>
                    <a:pt x="404308" y="270611"/>
                    <a:pt x="403336" y="269154"/>
                  </a:cubicBezTo>
                  <a:cubicBezTo>
                    <a:pt x="400421" y="265753"/>
                    <a:pt x="400907" y="261866"/>
                    <a:pt x="401393" y="259923"/>
                  </a:cubicBezTo>
                  <a:cubicBezTo>
                    <a:pt x="402364" y="250206"/>
                    <a:pt x="402850" y="240975"/>
                    <a:pt x="402364" y="231744"/>
                  </a:cubicBezTo>
                  <a:cubicBezTo>
                    <a:pt x="400907" y="202108"/>
                    <a:pt x="391676" y="174416"/>
                    <a:pt x="376129" y="149152"/>
                  </a:cubicBezTo>
                  <a:cubicBezTo>
                    <a:pt x="375158" y="147695"/>
                    <a:pt x="373214" y="144294"/>
                    <a:pt x="374186" y="139921"/>
                  </a:cubicBezTo>
                  <a:cubicBezTo>
                    <a:pt x="374672" y="137492"/>
                    <a:pt x="376129" y="135549"/>
                    <a:pt x="378073" y="134091"/>
                  </a:cubicBezTo>
                  <a:cubicBezTo>
                    <a:pt x="378558" y="129719"/>
                    <a:pt x="380988" y="125832"/>
                    <a:pt x="384874" y="122431"/>
                  </a:cubicBezTo>
                  <a:cubicBezTo>
                    <a:pt x="391190" y="117087"/>
                    <a:pt x="398478" y="112228"/>
                    <a:pt x="408194" y="106884"/>
                  </a:cubicBezTo>
                  <a:cubicBezTo>
                    <a:pt x="412081" y="104941"/>
                    <a:pt x="415482" y="102998"/>
                    <a:pt x="417911" y="100083"/>
                  </a:cubicBezTo>
                  <a:cubicBezTo>
                    <a:pt x="421312" y="97167"/>
                    <a:pt x="421312" y="94738"/>
                    <a:pt x="420826" y="93281"/>
                  </a:cubicBezTo>
                  <a:cubicBezTo>
                    <a:pt x="420826" y="90852"/>
                    <a:pt x="418883" y="89394"/>
                    <a:pt x="417911" y="88908"/>
                  </a:cubicBezTo>
                  <a:cubicBezTo>
                    <a:pt x="415968" y="87937"/>
                    <a:pt x="413053" y="88422"/>
                    <a:pt x="410624" y="89880"/>
                  </a:cubicBezTo>
                  <a:cubicBezTo>
                    <a:pt x="407223" y="91823"/>
                    <a:pt x="404308" y="95224"/>
                    <a:pt x="401393" y="98139"/>
                  </a:cubicBezTo>
                  <a:cubicBezTo>
                    <a:pt x="395563" y="104941"/>
                    <a:pt x="389247" y="111257"/>
                    <a:pt x="382445" y="116601"/>
                  </a:cubicBezTo>
                  <a:cubicBezTo>
                    <a:pt x="380502" y="118058"/>
                    <a:pt x="375643" y="122431"/>
                    <a:pt x="368356" y="121459"/>
                  </a:cubicBezTo>
                  <a:cubicBezTo>
                    <a:pt x="366412" y="123403"/>
                    <a:pt x="363983" y="124374"/>
                    <a:pt x="361554" y="123889"/>
                  </a:cubicBezTo>
                  <a:cubicBezTo>
                    <a:pt x="357182" y="123889"/>
                    <a:pt x="354267" y="120974"/>
                    <a:pt x="352809" y="119516"/>
                  </a:cubicBezTo>
                  <a:cubicBezTo>
                    <a:pt x="333861" y="100568"/>
                    <a:pt x="311513" y="86965"/>
                    <a:pt x="286249" y="78220"/>
                  </a:cubicBezTo>
                  <a:cubicBezTo>
                    <a:pt x="275075" y="74333"/>
                    <a:pt x="263415" y="71904"/>
                    <a:pt x="249811" y="69961"/>
                  </a:cubicBezTo>
                  <a:cubicBezTo>
                    <a:pt x="248354" y="69961"/>
                    <a:pt x="244953" y="69961"/>
                    <a:pt x="242524" y="67046"/>
                  </a:cubicBezTo>
                  <a:lnTo>
                    <a:pt x="240581" y="64616"/>
                  </a:lnTo>
                  <a:lnTo>
                    <a:pt x="240581" y="60244"/>
                  </a:lnTo>
                  <a:cubicBezTo>
                    <a:pt x="237180" y="56357"/>
                    <a:pt x="235722" y="52956"/>
                    <a:pt x="235722" y="49070"/>
                  </a:cubicBezTo>
                  <a:lnTo>
                    <a:pt x="235722" y="47126"/>
                  </a:lnTo>
                  <a:cubicBezTo>
                    <a:pt x="235722" y="42754"/>
                    <a:pt x="235722" y="38867"/>
                    <a:pt x="236208" y="34494"/>
                  </a:cubicBezTo>
                  <a:cubicBezTo>
                    <a:pt x="237180" y="28664"/>
                    <a:pt x="237666" y="23320"/>
                    <a:pt x="238637" y="17490"/>
                  </a:cubicBezTo>
                  <a:lnTo>
                    <a:pt x="238637" y="11660"/>
                  </a:lnTo>
                  <a:cubicBezTo>
                    <a:pt x="238637" y="11660"/>
                    <a:pt x="239123" y="7288"/>
                    <a:pt x="239123" y="7288"/>
                  </a:cubicBezTo>
                  <a:cubicBezTo>
                    <a:pt x="239123" y="3401"/>
                    <a:pt x="236208" y="486"/>
                    <a:pt x="233293" y="0"/>
                  </a:cubicBezTo>
                  <a:cubicBezTo>
                    <a:pt x="229892" y="0"/>
                    <a:pt x="226977" y="2429"/>
                    <a:pt x="226491" y="6316"/>
                  </a:cubicBezTo>
                  <a:cubicBezTo>
                    <a:pt x="226491" y="9231"/>
                    <a:pt x="226491" y="12632"/>
                    <a:pt x="226977" y="17490"/>
                  </a:cubicBezTo>
                  <a:cubicBezTo>
                    <a:pt x="228435" y="26721"/>
                    <a:pt x="229892" y="36438"/>
                    <a:pt x="229892" y="46640"/>
                  </a:cubicBezTo>
                  <a:cubicBezTo>
                    <a:pt x="229892" y="49070"/>
                    <a:pt x="229892" y="54414"/>
                    <a:pt x="225520" y="58786"/>
                  </a:cubicBezTo>
                  <a:cubicBezTo>
                    <a:pt x="225520" y="62187"/>
                    <a:pt x="224548" y="64616"/>
                    <a:pt x="223090" y="66560"/>
                  </a:cubicBezTo>
                  <a:cubicBezTo>
                    <a:pt x="221633" y="68503"/>
                    <a:pt x="219204" y="69475"/>
                    <a:pt x="215803" y="69961"/>
                  </a:cubicBezTo>
                  <a:lnTo>
                    <a:pt x="212402" y="69961"/>
                  </a:lnTo>
                  <a:cubicBezTo>
                    <a:pt x="174021" y="75305"/>
                    <a:pt x="140012" y="91337"/>
                    <a:pt x="112805" y="119030"/>
                  </a:cubicBezTo>
                  <a:cubicBezTo>
                    <a:pt x="111348" y="120488"/>
                    <a:pt x="108433" y="124374"/>
                    <a:pt x="103574" y="123403"/>
                  </a:cubicBezTo>
                  <a:cubicBezTo>
                    <a:pt x="101631" y="123403"/>
                    <a:pt x="99202" y="122431"/>
                    <a:pt x="97259" y="121459"/>
                  </a:cubicBezTo>
                  <a:cubicBezTo>
                    <a:pt x="90943" y="121945"/>
                    <a:pt x="86570" y="118544"/>
                    <a:pt x="84627" y="117573"/>
                  </a:cubicBezTo>
                  <a:cubicBezTo>
                    <a:pt x="77825" y="112228"/>
                    <a:pt x="71509" y="106398"/>
                    <a:pt x="64707" y="98625"/>
                  </a:cubicBezTo>
                  <a:cubicBezTo>
                    <a:pt x="61307" y="94738"/>
                    <a:pt x="58392" y="91823"/>
                    <a:pt x="54991" y="89394"/>
                  </a:cubicBezTo>
                  <a:cubicBezTo>
                    <a:pt x="51590" y="87451"/>
                    <a:pt x="47703" y="87937"/>
                    <a:pt x="45760" y="90366"/>
                  </a:cubicBezTo>
                  <a:cubicBezTo>
                    <a:pt x="43816" y="92795"/>
                    <a:pt x="44302" y="96682"/>
                    <a:pt x="47217" y="99597"/>
                  </a:cubicBezTo>
                  <a:cubicBezTo>
                    <a:pt x="50132" y="102512"/>
                    <a:pt x="53533" y="104455"/>
                    <a:pt x="57420" y="106398"/>
                  </a:cubicBezTo>
                  <a:cubicBezTo>
                    <a:pt x="65193" y="110771"/>
                    <a:pt x="72481" y="115143"/>
                    <a:pt x="78797" y="120488"/>
                  </a:cubicBezTo>
                  <a:cubicBezTo>
                    <a:pt x="81712" y="122917"/>
                    <a:pt x="86570" y="126804"/>
                    <a:pt x="87542" y="133605"/>
                  </a:cubicBezTo>
                  <a:cubicBezTo>
                    <a:pt x="89485" y="135063"/>
                    <a:pt x="90457" y="137006"/>
                    <a:pt x="90943" y="138949"/>
                  </a:cubicBezTo>
                  <a:cubicBezTo>
                    <a:pt x="91914" y="143322"/>
                    <a:pt x="89971" y="147209"/>
                    <a:pt x="88514" y="149152"/>
                  </a:cubicBezTo>
                  <a:cubicBezTo>
                    <a:pt x="67622" y="183161"/>
                    <a:pt x="59363" y="220084"/>
                    <a:pt x="64222" y="258951"/>
                  </a:cubicBezTo>
                  <a:cubicBezTo>
                    <a:pt x="65193" y="268182"/>
                    <a:pt x="59363" y="271097"/>
                    <a:pt x="56448" y="271583"/>
                  </a:cubicBezTo>
                  <a:cubicBezTo>
                    <a:pt x="53047" y="276927"/>
                    <a:pt x="47703" y="278385"/>
                    <a:pt x="43816" y="279356"/>
                  </a:cubicBezTo>
                  <a:cubicBezTo>
                    <a:pt x="34586" y="281300"/>
                    <a:pt x="24869" y="282272"/>
                    <a:pt x="15638" y="282757"/>
                  </a:cubicBezTo>
                  <a:cubicBezTo>
                    <a:pt x="11265" y="282757"/>
                    <a:pt x="7864" y="283729"/>
                    <a:pt x="4464" y="284701"/>
                  </a:cubicBezTo>
                  <a:cubicBezTo>
                    <a:pt x="1063" y="286158"/>
                    <a:pt x="-395" y="289559"/>
                    <a:pt x="91" y="291988"/>
                  </a:cubicBezTo>
                  <a:cubicBezTo>
                    <a:pt x="577" y="294903"/>
                    <a:pt x="3978" y="297818"/>
                    <a:pt x="7379" y="296847"/>
                  </a:cubicBezTo>
                  <a:cubicBezTo>
                    <a:pt x="11265" y="296847"/>
                    <a:pt x="15152" y="295389"/>
                    <a:pt x="19525" y="293446"/>
                  </a:cubicBezTo>
                  <a:cubicBezTo>
                    <a:pt x="28755" y="289559"/>
                    <a:pt x="37015" y="286644"/>
                    <a:pt x="44788" y="284701"/>
                  </a:cubicBezTo>
                  <a:cubicBezTo>
                    <a:pt x="48675" y="283729"/>
                    <a:pt x="53533" y="282272"/>
                    <a:pt x="58392" y="285187"/>
                  </a:cubicBezTo>
                  <a:cubicBezTo>
                    <a:pt x="59849" y="286158"/>
                    <a:pt x="60335" y="286158"/>
                    <a:pt x="60335" y="286158"/>
                  </a:cubicBezTo>
                  <a:lnTo>
                    <a:pt x="63250" y="285187"/>
                  </a:lnTo>
                  <a:lnTo>
                    <a:pt x="67622" y="286644"/>
                  </a:lnTo>
                  <a:cubicBezTo>
                    <a:pt x="71023" y="288587"/>
                    <a:pt x="71995" y="291502"/>
                    <a:pt x="72481" y="292960"/>
                  </a:cubicBezTo>
                  <a:cubicBezTo>
                    <a:pt x="86084" y="331341"/>
                    <a:pt x="109890" y="361463"/>
                    <a:pt x="144385" y="382840"/>
                  </a:cubicBezTo>
                  <a:cubicBezTo>
                    <a:pt x="150701" y="386727"/>
                    <a:pt x="150701" y="392557"/>
                    <a:pt x="148271" y="396929"/>
                  </a:cubicBezTo>
                  <a:cubicBezTo>
                    <a:pt x="150701" y="403245"/>
                    <a:pt x="148271" y="408589"/>
                    <a:pt x="146814" y="410533"/>
                  </a:cubicBezTo>
                  <a:cubicBezTo>
                    <a:pt x="142927" y="418306"/>
                    <a:pt x="138555" y="426079"/>
                    <a:pt x="131753" y="435310"/>
                  </a:cubicBezTo>
                  <a:cubicBezTo>
                    <a:pt x="128838" y="439197"/>
                    <a:pt x="127380" y="442112"/>
                    <a:pt x="126409" y="445027"/>
                  </a:cubicBezTo>
                  <a:cubicBezTo>
                    <a:pt x="124951" y="448914"/>
                    <a:pt x="126409" y="452800"/>
                    <a:pt x="129324" y="454258"/>
                  </a:cubicBezTo>
                  <a:cubicBezTo>
                    <a:pt x="132239" y="455715"/>
                    <a:pt x="136126" y="454258"/>
                    <a:pt x="138069" y="450371"/>
                  </a:cubicBezTo>
                  <a:cubicBezTo>
                    <a:pt x="139526" y="447942"/>
                    <a:pt x="140984" y="444541"/>
                    <a:pt x="141956" y="440654"/>
                  </a:cubicBezTo>
                  <a:cubicBezTo>
                    <a:pt x="144871" y="430938"/>
                    <a:pt x="147786" y="422193"/>
                    <a:pt x="151672" y="414419"/>
                  </a:cubicBezTo>
                  <a:cubicBezTo>
                    <a:pt x="152644" y="411990"/>
                    <a:pt x="155559" y="406160"/>
                    <a:pt x="162361" y="403731"/>
                  </a:cubicBezTo>
                  <a:cubicBezTo>
                    <a:pt x="163818" y="400330"/>
                    <a:pt x="168191" y="395472"/>
                    <a:pt x="176936" y="398387"/>
                  </a:cubicBezTo>
                  <a:cubicBezTo>
                    <a:pt x="213860" y="411504"/>
                    <a:pt x="251269" y="411504"/>
                    <a:pt x="289164" y="398872"/>
                  </a:cubicBezTo>
                  <a:cubicBezTo>
                    <a:pt x="292079" y="397901"/>
                    <a:pt x="295966" y="396443"/>
                    <a:pt x="300339" y="398872"/>
                  </a:cubicBezTo>
                  <a:cubicBezTo>
                    <a:pt x="302282" y="399844"/>
                    <a:pt x="303739" y="401302"/>
                    <a:pt x="304711" y="403731"/>
                  </a:cubicBezTo>
                  <a:cubicBezTo>
                    <a:pt x="309084" y="405188"/>
                    <a:pt x="311999" y="408103"/>
                    <a:pt x="314428" y="412962"/>
                  </a:cubicBezTo>
                  <a:cubicBezTo>
                    <a:pt x="319286" y="422678"/>
                    <a:pt x="322201" y="432881"/>
                    <a:pt x="324630" y="441140"/>
                  </a:cubicBezTo>
                  <a:cubicBezTo>
                    <a:pt x="326088" y="445999"/>
                    <a:pt x="327545" y="449400"/>
                    <a:pt x="329975" y="451829"/>
                  </a:cubicBezTo>
                  <a:cubicBezTo>
                    <a:pt x="332404" y="454258"/>
                    <a:pt x="335319" y="454744"/>
                    <a:pt x="337748" y="453286"/>
                  </a:cubicBezTo>
                  <a:cubicBezTo>
                    <a:pt x="340177" y="451829"/>
                    <a:pt x="341149" y="448428"/>
                    <a:pt x="340177" y="445513"/>
                  </a:cubicBezTo>
                  <a:cubicBezTo>
                    <a:pt x="339206" y="441626"/>
                    <a:pt x="336776" y="438225"/>
                    <a:pt x="334347" y="434824"/>
                  </a:cubicBezTo>
                  <a:cubicBezTo>
                    <a:pt x="329003" y="427051"/>
                    <a:pt x="324145" y="419763"/>
                    <a:pt x="320258" y="412476"/>
                  </a:cubicBezTo>
                  <a:cubicBezTo>
                    <a:pt x="318800" y="409561"/>
                    <a:pt x="315400" y="403731"/>
                    <a:pt x="317829" y="396443"/>
                  </a:cubicBezTo>
                  <a:cubicBezTo>
                    <a:pt x="315885" y="392071"/>
                    <a:pt x="316371" y="386727"/>
                    <a:pt x="322687" y="382840"/>
                  </a:cubicBezTo>
                  <a:cubicBezTo>
                    <a:pt x="339691" y="372637"/>
                    <a:pt x="354752" y="359034"/>
                    <a:pt x="367384" y="343001"/>
                  </a:cubicBezTo>
                  <a:cubicBezTo>
                    <a:pt x="379044" y="327940"/>
                    <a:pt x="388275" y="311422"/>
                    <a:pt x="394105" y="293446"/>
                  </a:cubicBezTo>
                  <a:cubicBezTo>
                    <a:pt x="396534" y="285672"/>
                    <a:pt x="402850" y="284215"/>
                    <a:pt x="407709" y="285672"/>
                  </a:cubicBezTo>
                  <a:cubicBezTo>
                    <a:pt x="409652" y="283243"/>
                    <a:pt x="414510" y="282272"/>
                    <a:pt x="419369" y="283243"/>
                  </a:cubicBezTo>
                  <a:cubicBezTo>
                    <a:pt x="425199" y="284701"/>
                    <a:pt x="431029" y="286158"/>
                    <a:pt x="436373" y="288102"/>
                  </a:cubicBezTo>
                  <a:cubicBezTo>
                    <a:pt x="440260" y="289559"/>
                    <a:pt x="442689" y="290531"/>
                    <a:pt x="445118" y="291502"/>
                  </a:cubicBezTo>
                  <a:cubicBezTo>
                    <a:pt x="449491" y="293446"/>
                    <a:pt x="453377" y="294903"/>
                    <a:pt x="457750" y="295389"/>
                  </a:cubicBezTo>
                  <a:cubicBezTo>
                    <a:pt x="462122" y="296361"/>
                    <a:pt x="464066" y="294417"/>
                    <a:pt x="465523" y="292474"/>
                  </a:cubicBezTo>
                  <a:cubicBezTo>
                    <a:pt x="466981" y="290531"/>
                    <a:pt x="466981" y="289073"/>
                    <a:pt x="466009" y="287130"/>
                  </a:cubicBezTo>
                  <a:cubicBezTo>
                    <a:pt x="464552" y="284215"/>
                    <a:pt x="462608" y="282757"/>
                    <a:pt x="459207" y="282272"/>
                  </a:cubicBezTo>
                  <a:cubicBezTo>
                    <a:pt x="454349" y="281786"/>
                    <a:pt x="449491" y="281300"/>
                    <a:pt x="444632" y="280814"/>
                  </a:cubicBezTo>
                  <a:close/>
                  <a:moveTo>
                    <a:pt x="246411" y="95710"/>
                  </a:moveTo>
                  <a:cubicBezTo>
                    <a:pt x="249811" y="92795"/>
                    <a:pt x="254184" y="93281"/>
                    <a:pt x="259042" y="94252"/>
                  </a:cubicBezTo>
                  <a:lnTo>
                    <a:pt x="259042" y="94252"/>
                  </a:lnTo>
                  <a:cubicBezTo>
                    <a:pt x="286249" y="99111"/>
                    <a:pt x="311513" y="111743"/>
                    <a:pt x="332890" y="131176"/>
                  </a:cubicBezTo>
                  <a:cubicBezTo>
                    <a:pt x="334347" y="132634"/>
                    <a:pt x="337748" y="135549"/>
                    <a:pt x="337262" y="139921"/>
                  </a:cubicBezTo>
                  <a:cubicBezTo>
                    <a:pt x="337262" y="144294"/>
                    <a:pt x="333376" y="147209"/>
                    <a:pt x="331918" y="148180"/>
                  </a:cubicBezTo>
                  <a:cubicBezTo>
                    <a:pt x="313942" y="160812"/>
                    <a:pt x="296452" y="173444"/>
                    <a:pt x="278476" y="186076"/>
                  </a:cubicBezTo>
                  <a:cubicBezTo>
                    <a:pt x="274103" y="188991"/>
                    <a:pt x="269731" y="190448"/>
                    <a:pt x="265358" y="190448"/>
                  </a:cubicBezTo>
                  <a:cubicBezTo>
                    <a:pt x="262443" y="190448"/>
                    <a:pt x="260014" y="189962"/>
                    <a:pt x="257099" y="188505"/>
                  </a:cubicBezTo>
                  <a:cubicBezTo>
                    <a:pt x="250297" y="185590"/>
                    <a:pt x="246411" y="179274"/>
                    <a:pt x="245925" y="170529"/>
                  </a:cubicBezTo>
                  <a:lnTo>
                    <a:pt x="242524" y="108828"/>
                  </a:lnTo>
                  <a:cubicBezTo>
                    <a:pt x="242524" y="102998"/>
                    <a:pt x="242524" y="98625"/>
                    <a:pt x="245925" y="95710"/>
                  </a:cubicBezTo>
                  <a:close/>
                  <a:moveTo>
                    <a:pt x="249326" y="207938"/>
                  </a:moveTo>
                  <a:lnTo>
                    <a:pt x="269245" y="233202"/>
                  </a:lnTo>
                  <a:lnTo>
                    <a:pt x="262443" y="264781"/>
                  </a:lnTo>
                  <a:lnTo>
                    <a:pt x="233293" y="278871"/>
                  </a:lnTo>
                  <a:lnTo>
                    <a:pt x="204143" y="264781"/>
                  </a:lnTo>
                  <a:lnTo>
                    <a:pt x="196855" y="233202"/>
                  </a:lnTo>
                  <a:lnTo>
                    <a:pt x="216775" y="207938"/>
                  </a:lnTo>
                  <a:lnTo>
                    <a:pt x="249326" y="207938"/>
                  </a:lnTo>
                  <a:close/>
                  <a:moveTo>
                    <a:pt x="130781" y="132148"/>
                  </a:moveTo>
                  <a:lnTo>
                    <a:pt x="136126" y="137492"/>
                  </a:lnTo>
                  <a:lnTo>
                    <a:pt x="131267" y="132148"/>
                  </a:lnTo>
                  <a:cubicBezTo>
                    <a:pt x="152158" y="112714"/>
                    <a:pt x="176936" y="100568"/>
                    <a:pt x="204629" y="95224"/>
                  </a:cubicBezTo>
                  <a:cubicBezTo>
                    <a:pt x="206572" y="95224"/>
                    <a:pt x="208029" y="94738"/>
                    <a:pt x="209001" y="94252"/>
                  </a:cubicBezTo>
                  <a:cubicBezTo>
                    <a:pt x="212888" y="93767"/>
                    <a:pt x="216289" y="93281"/>
                    <a:pt x="219690" y="96196"/>
                  </a:cubicBezTo>
                  <a:cubicBezTo>
                    <a:pt x="223090" y="99111"/>
                    <a:pt x="222605" y="102998"/>
                    <a:pt x="222605" y="106398"/>
                  </a:cubicBezTo>
                  <a:lnTo>
                    <a:pt x="221633" y="124374"/>
                  </a:lnTo>
                  <a:cubicBezTo>
                    <a:pt x="220661" y="140407"/>
                    <a:pt x="219690" y="156925"/>
                    <a:pt x="218718" y="172958"/>
                  </a:cubicBezTo>
                  <a:cubicBezTo>
                    <a:pt x="218718" y="180246"/>
                    <a:pt x="214345" y="186076"/>
                    <a:pt x="208029" y="188991"/>
                  </a:cubicBezTo>
                  <a:cubicBezTo>
                    <a:pt x="205600" y="190448"/>
                    <a:pt x="202685" y="190934"/>
                    <a:pt x="199770" y="190934"/>
                  </a:cubicBezTo>
                  <a:cubicBezTo>
                    <a:pt x="195884" y="190934"/>
                    <a:pt x="191997" y="189477"/>
                    <a:pt x="188596" y="187533"/>
                  </a:cubicBezTo>
                  <a:cubicBezTo>
                    <a:pt x="179365" y="180731"/>
                    <a:pt x="169648" y="174416"/>
                    <a:pt x="160417" y="167614"/>
                  </a:cubicBezTo>
                  <a:cubicBezTo>
                    <a:pt x="151187" y="160812"/>
                    <a:pt x="141470" y="154496"/>
                    <a:pt x="132239" y="147695"/>
                  </a:cubicBezTo>
                  <a:cubicBezTo>
                    <a:pt x="129324" y="145751"/>
                    <a:pt x="127866" y="143322"/>
                    <a:pt x="127380" y="140407"/>
                  </a:cubicBezTo>
                  <a:cubicBezTo>
                    <a:pt x="127380" y="136034"/>
                    <a:pt x="129810" y="133605"/>
                    <a:pt x="131267" y="132634"/>
                  </a:cubicBezTo>
                  <a:close/>
                  <a:moveTo>
                    <a:pt x="85113" y="256522"/>
                  </a:moveTo>
                  <a:cubicBezTo>
                    <a:pt x="83169" y="246805"/>
                    <a:pt x="83655" y="237574"/>
                    <a:pt x="84141" y="229801"/>
                  </a:cubicBezTo>
                  <a:cubicBezTo>
                    <a:pt x="85598" y="206967"/>
                    <a:pt x="92400" y="185590"/>
                    <a:pt x="103574" y="166156"/>
                  </a:cubicBezTo>
                  <a:cubicBezTo>
                    <a:pt x="104546" y="164699"/>
                    <a:pt x="106489" y="160812"/>
                    <a:pt x="110862" y="160326"/>
                  </a:cubicBezTo>
                  <a:cubicBezTo>
                    <a:pt x="115235" y="159841"/>
                    <a:pt x="118150" y="162270"/>
                    <a:pt x="119607" y="163241"/>
                  </a:cubicBezTo>
                  <a:cubicBezTo>
                    <a:pt x="136126" y="178302"/>
                    <a:pt x="152644" y="192877"/>
                    <a:pt x="169162" y="207453"/>
                  </a:cubicBezTo>
                  <a:cubicBezTo>
                    <a:pt x="175964" y="213283"/>
                    <a:pt x="178393" y="220084"/>
                    <a:pt x="176450" y="227858"/>
                  </a:cubicBezTo>
                  <a:cubicBezTo>
                    <a:pt x="174021" y="239032"/>
                    <a:pt x="164304" y="241461"/>
                    <a:pt x="160903" y="242433"/>
                  </a:cubicBezTo>
                  <a:cubicBezTo>
                    <a:pt x="144871" y="246805"/>
                    <a:pt x="128838" y="251664"/>
                    <a:pt x="112320" y="256522"/>
                  </a:cubicBezTo>
                  <a:lnTo>
                    <a:pt x="86570" y="263810"/>
                  </a:lnTo>
                  <a:lnTo>
                    <a:pt x="85113" y="256036"/>
                  </a:lnTo>
                  <a:close/>
                  <a:moveTo>
                    <a:pt x="164790" y="358062"/>
                  </a:moveTo>
                  <a:cubicBezTo>
                    <a:pt x="164790" y="358062"/>
                    <a:pt x="162361" y="363892"/>
                    <a:pt x="157988" y="365350"/>
                  </a:cubicBezTo>
                  <a:cubicBezTo>
                    <a:pt x="157017" y="365350"/>
                    <a:pt x="156045" y="365350"/>
                    <a:pt x="155559" y="365350"/>
                  </a:cubicBezTo>
                  <a:cubicBezTo>
                    <a:pt x="152158" y="365350"/>
                    <a:pt x="149729" y="363406"/>
                    <a:pt x="148271" y="362435"/>
                  </a:cubicBezTo>
                  <a:cubicBezTo>
                    <a:pt x="123980" y="345430"/>
                    <a:pt x="105518" y="322596"/>
                    <a:pt x="94344" y="294903"/>
                  </a:cubicBezTo>
                  <a:cubicBezTo>
                    <a:pt x="93372" y="292960"/>
                    <a:pt x="91914" y="289073"/>
                    <a:pt x="94344" y="285672"/>
                  </a:cubicBezTo>
                  <a:cubicBezTo>
                    <a:pt x="95801" y="283243"/>
                    <a:pt x="98230" y="281300"/>
                    <a:pt x="102117" y="280814"/>
                  </a:cubicBezTo>
                  <a:cubicBezTo>
                    <a:pt x="119121" y="277899"/>
                    <a:pt x="136611" y="274984"/>
                    <a:pt x="153616" y="272069"/>
                  </a:cubicBezTo>
                  <a:lnTo>
                    <a:pt x="172563" y="269154"/>
                  </a:lnTo>
                  <a:cubicBezTo>
                    <a:pt x="178393" y="268668"/>
                    <a:pt x="183738" y="271583"/>
                    <a:pt x="187624" y="275956"/>
                  </a:cubicBezTo>
                  <a:cubicBezTo>
                    <a:pt x="191511" y="280328"/>
                    <a:pt x="192969" y="286158"/>
                    <a:pt x="191997" y="291988"/>
                  </a:cubicBezTo>
                  <a:lnTo>
                    <a:pt x="191997" y="291988"/>
                  </a:lnTo>
                  <a:cubicBezTo>
                    <a:pt x="191997" y="291988"/>
                    <a:pt x="190539" y="296361"/>
                    <a:pt x="190053" y="298790"/>
                  </a:cubicBezTo>
                  <a:lnTo>
                    <a:pt x="182766" y="316766"/>
                  </a:lnTo>
                  <a:cubicBezTo>
                    <a:pt x="176936" y="330369"/>
                    <a:pt x="171592" y="343973"/>
                    <a:pt x="165762" y="358062"/>
                  </a:cubicBezTo>
                  <a:close/>
                  <a:moveTo>
                    <a:pt x="283820" y="377010"/>
                  </a:moveTo>
                  <a:cubicBezTo>
                    <a:pt x="281877" y="381382"/>
                    <a:pt x="277504" y="382840"/>
                    <a:pt x="276047" y="383326"/>
                  </a:cubicBezTo>
                  <a:cubicBezTo>
                    <a:pt x="261472" y="387212"/>
                    <a:pt x="247382" y="389642"/>
                    <a:pt x="232807" y="389642"/>
                  </a:cubicBezTo>
                  <a:cubicBezTo>
                    <a:pt x="217746" y="389642"/>
                    <a:pt x="203171" y="387212"/>
                    <a:pt x="188596" y="382840"/>
                  </a:cubicBezTo>
                  <a:cubicBezTo>
                    <a:pt x="187138" y="382840"/>
                    <a:pt x="183252" y="381382"/>
                    <a:pt x="181308" y="377010"/>
                  </a:cubicBezTo>
                  <a:cubicBezTo>
                    <a:pt x="179851" y="373123"/>
                    <a:pt x="181308" y="369236"/>
                    <a:pt x="182280" y="367779"/>
                  </a:cubicBezTo>
                  <a:cubicBezTo>
                    <a:pt x="189082" y="355633"/>
                    <a:pt x="195398" y="343973"/>
                    <a:pt x="202199" y="331827"/>
                  </a:cubicBezTo>
                  <a:lnTo>
                    <a:pt x="214831" y="308993"/>
                  </a:lnTo>
                  <a:cubicBezTo>
                    <a:pt x="218718" y="302191"/>
                    <a:pt x="225034" y="298304"/>
                    <a:pt x="231836" y="298304"/>
                  </a:cubicBezTo>
                  <a:lnTo>
                    <a:pt x="231836" y="298304"/>
                  </a:lnTo>
                  <a:cubicBezTo>
                    <a:pt x="238637" y="298304"/>
                    <a:pt x="244953" y="302191"/>
                    <a:pt x="248840" y="308993"/>
                  </a:cubicBezTo>
                  <a:cubicBezTo>
                    <a:pt x="254670" y="318709"/>
                    <a:pt x="260014" y="328912"/>
                    <a:pt x="265358" y="338629"/>
                  </a:cubicBezTo>
                  <a:lnTo>
                    <a:pt x="274589" y="355633"/>
                  </a:lnTo>
                  <a:cubicBezTo>
                    <a:pt x="276533" y="359520"/>
                    <a:pt x="278962" y="363406"/>
                    <a:pt x="280905" y="367293"/>
                  </a:cubicBezTo>
                  <a:cubicBezTo>
                    <a:pt x="281877" y="368751"/>
                    <a:pt x="284306" y="372637"/>
                    <a:pt x="282363" y="377010"/>
                  </a:cubicBezTo>
                  <a:close/>
                  <a:moveTo>
                    <a:pt x="371757" y="294417"/>
                  </a:moveTo>
                  <a:cubicBezTo>
                    <a:pt x="360582" y="323082"/>
                    <a:pt x="341635" y="346402"/>
                    <a:pt x="316857" y="363892"/>
                  </a:cubicBezTo>
                  <a:cubicBezTo>
                    <a:pt x="315885" y="364378"/>
                    <a:pt x="313456" y="366321"/>
                    <a:pt x="310541" y="366321"/>
                  </a:cubicBezTo>
                  <a:cubicBezTo>
                    <a:pt x="309569" y="366321"/>
                    <a:pt x="309084" y="366321"/>
                    <a:pt x="308112" y="366321"/>
                  </a:cubicBezTo>
                  <a:cubicBezTo>
                    <a:pt x="303739" y="364864"/>
                    <a:pt x="302282" y="360977"/>
                    <a:pt x="301796" y="360005"/>
                  </a:cubicBezTo>
                  <a:cubicBezTo>
                    <a:pt x="294994" y="343487"/>
                    <a:pt x="288193" y="326969"/>
                    <a:pt x="281391" y="310450"/>
                  </a:cubicBezTo>
                  <a:lnTo>
                    <a:pt x="275561" y="296361"/>
                  </a:lnTo>
                  <a:cubicBezTo>
                    <a:pt x="275561" y="296361"/>
                    <a:pt x="273618" y="291017"/>
                    <a:pt x="274103" y="287616"/>
                  </a:cubicBezTo>
                  <a:cubicBezTo>
                    <a:pt x="274103" y="282757"/>
                    <a:pt x="276533" y="277413"/>
                    <a:pt x="280905" y="273526"/>
                  </a:cubicBezTo>
                  <a:cubicBezTo>
                    <a:pt x="285278" y="270126"/>
                    <a:pt x="290622" y="268668"/>
                    <a:pt x="296452" y="269640"/>
                  </a:cubicBezTo>
                  <a:lnTo>
                    <a:pt x="363983" y="281300"/>
                  </a:lnTo>
                  <a:cubicBezTo>
                    <a:pt x="363983" y="281300"/>
                    <a:pt x="369328" y="282272"/>
                    <a:pt x="371757" y="286158"/>
                  </a:cubicBezTo>
                  <a:cubicBezTo>
                    <a:pt x="373214" y="288587"/>
                    <a:pt x="373214" y="291502"/>
                    <a:pt x="371757" y="294903"/>
                  </a:cubicBezTo>
                  <a:lnTo>
                    <a:pt x="371757" y="294903"/>
                  </a:lnTo>
                  <a:close/>
                  <a:moveTo>
                    <a:pt x="380988" y="253121"/>
                  </a:moveTo>
                  <a:cubicBezTo>
                    <a:pt x="380988" y="256522"/>
                    <a:pt x="379530" y="258951"/>
                    <a:pt x="377101" y="260409"/>
                  </a:cubicBezTo>
                  <a:cubicBezTo>
                    <a:pt x="375643" y="261380"/>
                    <a:pt x="373700" y="261866"/>
                    <a:pt x="372242" y="261866"/>
                  </a:cubicBezTo>
                  <a:cubicBezTo>
                    <a:pt x="370785" y="261866"/>
                    <a:pt x="369328" y="261866"/>
                    <a:pt x="368842" y="261380"/>
                  </a:cubicBezTo>
                  <a:lnTo>
                    <a:pt x="347465" y="255065"/>
                  </a:lnTo>
                  <a:cubicBezTo>
                    <a:pt x="332404" y="250692"/>
                    <a:pt x="317829" y="246320"/>
                    <a:pt x="302768" y="241947"/>
                  </a:cubicBezTo>
                  <a:cubicBezTo>
                    <a:pt x="295480" y="240004"/>
                    <a:pt x="290136" y="234659"/>
                    <a:pt x="288678" y="227858"/>
                  </a:cubicBezTo>
                  <a:cubicBezTo>
                    <a:pt x="287221" y="221056"/>
                    <a:pt x="289650" y="213768"/>
                    <a:pt x="295480" y="208910"/>
                  </a:cubicBezTo>
                  <a:lnTo>
                    <a:pt x="346007" y="163727"/>
                  </a:lnTo>
                  <a:cubicBezTo>
                    <a:pt x="346007" y="163727"/>
                    <a:pt x="350380" y="159841"/>
                    <a:pt x="354752" y="160812"/>
                  </a:cubicBezTo>
                  <a:cubicBezTo>
                    <a:pt x="359125" y="161298"/>
                    <a:pt x="361068" y="165185"/>
                    <a:pt x="362040" y="166642"/>
                  </a:cubicBezTo>
                  <a:cubicBezTo>
                    <a:pt x="373214" y="186076"/>
                    <a:pt x="380016" y="206967"/>
                    <a:pt x="381473" y="228829"/>
                  </a:cubicBezTo>
                  <a:cubicBezTo>
                    <a:pt x="381473" y="234174"/>
                    <a:pt x="382445" y="238060"/>
                    <a:pt x="381959" y="241947"/>
                  </a:cubicBezTo>
                  <a:cubicBezTo>
                    <a:pt x="381959" y="246320"/>
                    <a:pt x="381959" y="249720"/>
                    <a:pt x="381473" y="253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1" name="Google Shape;3171;p83"/>
            <p:cNvSpPr/>
            <p:nvPr/>
          </p:nvSpPr>
          <p:spPr>
            <a:xfrm>
              <a:off x="624431" y="1107698"/>
              <a:ext cx="682601" cy="664625"/>
            </a:xfrm>
            <a:custGeom>
              <a:avLst/>
              <a:gdLst/>
              <a:ahLst/>
              <a:cxnLst/>
              <a:rect l="l" t="t" r="r" b="b"/>
              <a:pathLst>
                <a:path w="682601" h="664625" extrusionOk="0">
                  <a:moveTo>
                    <a:pt x="614584" y="131662"/>
                  </a:moveTo>
                  <a:lnTo>
                    <a:pt x="341058" y="0"/>
                  </a:lnTo>
                  <a:lnTo>
                    <a:pt x="67531" y="131662"/>
                  </a:lnTo>
                  <a:lnTo>
                    <a:pt x="0" y="427537"/>
                  </a:lnTo>
                  <a:lnTo>
                    <a:pt x="189477" y="664626"/>
                  </a:lnTo>
                  <a:lnTo>
                    <a:pt x="493125" y="664626"/>
                  </a:lnTo>
                  <a:lnTo>
                    <a:pt x="682601" y="427537"/>
                  </a:lnTo>
                  <a:lnTo>
                    <a:pt x="615070" y="131662"/>
                  </a:lnTo>
                  <a:close/>
                  <a:moveTo>
                    <a:pt x="584462" y="407618"/>
                  </a:moveTo>
                  <a:cubicBezTo>
                    <a:pt x="579118" y="413933"/>
                    <a:pt x="571831" y="416848"/>
                    <a:pt x="563085" y="415877"/>
                  </a:cubicBezTo>
                  <a:cubicBezTo>
                    <a:pt x="557255" y="414905"/>
                    <a:pt x="551911" y="412962"/>
                    <a:pt x="547053" y="411018"/>
                  </a:cubicBezTo>
                  <a:cubicBezTo>
                    <a:pt x="544624" y="410047"/>
                    <a:pt x="542680" y="409075"/>
                    <a:pt x="540251" y="408103"/>
                  </a:cubicBezTo>
                  <a:cubicBezTo>
                    <a:pt x="533935" y="406160"/>
                    <a:pt x="529077" y="404217"/>
                    <a:pt x="523733" y="403245"/>
                  </a:cubicBezTo>
                  <a:cubicBezTo>
                    <a:pt x="519846" y="405188"/>
                    <a:pt x="516931" y="405674"/>
                    <a:pt x="514988" y="405674"/>
                  </a:cubicBezTo>
                  <a:cubicBezTo>
                    <a:pt x="508186" y="424136"/>
                    <a:pt x="498955" y="441626"/>
                    <a:pt x="486809" y="457173"/>
                  </a:cubicBezTo>
                  <a:cubicBezTo>
                    <a:pt x="473691" y="474177"/>
                    <a:pt x="458145" y="488267"/>
                    <a:pt x="440654" y="498955"/>
                  </a:cubicBezTo>
                  <a:cubicBezTo>
                    <a:pt x="441140" y="501870"/>
                    <a:pt x="440654" y="504299"/>
                    <a:pt x="440169" y="505757"/>
                  </a:cubicBezTo>
                  <a:cubicBezTo>
                    <a:pt x="440169" y="506728"/>
                    <a:pt x="439683" y="507700"/>
                    <a:pt x="441626" y="511101"/>
                  </a:cubicBezTo>
                  <a:cubicBezTo>
                    <a:pt x="445027" y="517903"/>
                    <a:pt x="449400" y="524704"/>
                    <a:pt x="454258" y="531992"/>
                  </a:cubicBezTo>
                  <a:cubicBezTo>
                    <a:pt x="457173" y="536364"/>
                    <a:pt x="460574" y="541223"/>
                    <a:pt x="462031" y="547539"/>
                  </a:cubicBezTo>
                  <a:cubicBezTo>
                    <a:pt x="464461" y="557255"/>
                    <a:pt x="460574" y="566972"/>
                    <a:pt x="452315" y="571831"/>
                  </a:cubicBezTo>
                  <a:cubicBezTo>
                    <a:pt x="444055" y="576689"/>
                    <a:pt x="433853" y="574746"/>
                    <a:pt x="426565" y="567458"/>
                  </a:cubicBezTo>
                  <a:cubicBezTo>
                    <a:pt x="421707" y="562114"/>
                    <a:pt x="419763" y="556284"/>
                    <a:pt x="417820" y="550454"/>
                  </a:cubicBezTo>
                  <a:cubicBezTo>
                    <a:pt x="415391" y="542680"/>
                    <a:pt x="412476" y="532964"/>
                    <a:pt x="408103" y="524218"/>
                  </a:cubicBezTo>
                  <a:cubicBezTo>
                    <a:pt x="407132" y="522275"/>
                    <a:pt x="406646" y="522275"/>
                    <a:pt x="406160" y="522275"/>
                  </a:cubicBezTo>
                  <a:cubicBezTo>
                    <a:pt x="402759" y="521303"/>
                    <a:pt x="400816" y="519846"/>
                    <a:pt x="399844" y="518388"/>
                  </a:cubicBezTo>
                  <a:cubicBezTo>
                    <a:pt x="360005" y="531506"/>
                    <a:pt x="320167" y="531506"/>
                    <a:pt x="280814" y="518388"/>
                  </a:cubicBezTo>
                  <a:cubicBezTo>
                    <a:pt x="278871" y="521303"/>
                    <a:pt x="275956" y="522275"/>
                    <a:pt x="274498" y="522761"/>
                  </a:cubicBezTo>
                  <a:cubicBezTo>
                    <a:pt x="274012" y="522761"/>
                    <a:pt x="273526" y="522761"/>
                    <a:pt x="272069" y="526162"/>
                  </a:cubicBezTo>
                  <a:cubicBezTo>
                    <a:pt x="268668" y="533449"/>
                    <a:pt x="265753" y="541709"/>
                    <a:pt x="263324" y="550454"/>
                  </a:cubicBezTo>
                  <a:cubicBezTo>
                    <a:pt x="261866" y="555312"/>
                    <a:pt x="259923" y="559685"/>
                    <a:pt x="257980" y="563571"/>
                  </a:cubicBezTo>
                  <a:cubicBezTo>
                    <a:pt x="253607" y="570859"/>
                    <a:pt x="246320" y="574746"/>
                    <a:pt x="239032" y="574746"/>
                  </a:cubicBezTo>
                  <a:cubicBezTo>
                    <a:pt x="236117" y="574746"/>
                    <a:pt x="233202" y="574260"/>
                    <a:pt x="230287" y="572802"/>
                  </a:cubicBezTo>
                  <a:cubicBezTo>
                    <a:pt x="220570" y="567944"/>
                    <a:pt x="216198" y="556284"/>
                    <a:pt x="220084" y="545595"/>
                  </a:cubicBezTo>
                  <a:cubicBezTo>
                    <a:pt x="222028" y="540251"/>
                    <a:pt x="224943" y="535879"/>
                    <a:pt x="227372" y="532478"/>
                  </a:cubicBezTo>
                  <a:cubicBezTo>
                    <a:pt x="233202" y="524218"/>
                    <a:pt x="237574" y="516931"/>
                    <a:pt x="240975" y="510129"/>
                  </a:cubicBezTo>
                  <a:cubicBezTo>
                    <a:pt x="241947" y="508186"/>
                    <a:pt x="241947" y="507700"/>
                    <a:pt x="241461" y="507214"/>
                  </a:cubicBezTo>
                  <a:cubicBezTo>
                    <a:pt x="240004" y="504299"/>
                    <a:pt x="240004" y="501384"/>
                    <a:pt x="240975" y="498955"/>
                  </a:cubicBezTo>
                  <a:cubicBezTo>
                    <a:pt x="205995" y="476121"/>
                    <a:pt x="181217" y="445027"/>
                    <a:pt x="166642" y="406160"/>
                  </a:cubicBezTo>
                  <a:cubicBezTo>
                    <a:pt x="163241" y="406160"/>
                    <a:pt x="160326" y="404703"/>
                    <a:pt x="157897" y="403245"/>
                  </a:cubicBezTo>
                  <a:cubicBezTo>
                    <a:pt x="157897" y="403245"/>
                    <a:pt x="156440" y="403245"/>
                    <a:pt x="155468" y="403731"/>
                  </a:cubicBezTo>
                  <a:cubicBezTo>
                    <a:pt x="147209" y="405674"/>
                    <a:pt x="139921" y="408103"/>
                    <a:pt x="131176" y="411990"/>
                  </a:cubicBezTo>
                  <a:cubicBezTo>
                    <a:pt x="125832" y="414419"/>
                    <a:pt x="120002" y="416363"/>
                    <a:pt x="113200" y="416363"/>
                  </a:cubicBezTo>
                  <a:cubicBezTo>
                    <a:pt x="102512" y="416363"/>
                    <a:pt x="93767" y="409561"/>
                    <a:pt x="91823" y="399844"/>
                  </a:cubicBezTo>
                  <a:cubicBezTo>
                    <a:pt x="89880" y="390127"/>
                    <a:pt x="95710" y="379925"/>
                    <a:pt x="104941" y="376038"/>
                  </a:cubicBezTo>
                  <a:cubicBezTo>
                    <a:pt x="109799" y="374095"/>
                    <a:pt x="114658" y="373123"/>
                    <a:pt x="120974" y="372637"/>
                  </a:cubicBezTo>
                  <a:cubicBezTo>
                    <a:pt x="129719" y="372637"/>
                    <a:pt x="138464" y="371180"/>
                    <a:pt x="146723" y="369236"/>
                  </a:cubicBezTo>
                  <a:cubicBezTo>
                    <a:pt x="149638" y="368751"/>
                    <a:pt x="150124" y="368265"/>
                    <a:pt x="150124" y="367779"/>
                  </a:cubicBezTo>
                  <a:cubicBezTo>
                    <a:pt x="151095" y="365836"/>
                    <a:pt x="152553" y="363892"/>
                    <a:pt x="155468" y="362435"/>
                  </a:cubicBezTo>
                  <a:cubicBezTo>
                    <a:pt x="151095" y="321138"/>
                    <a:pt x="159840" y="282271"/>
                    <a:pt x="181703" y="246320"/>
                  </a:cubicBezTo>
                  <a:cubicBezTo>
                    <a:pt x="180246" y="244376"/>
                    <a:pt x="179274" y="241947"/>
                    <a:pt x="179274" y="239518"/>
                  </a:cubicBezTo>
                  <a:cubicBezTo>
                    <a:pt x="179274" y="238546"/>
                    <a:pt x="179274" y="238060"/>
                    <a:pt x="175873" y="235631"/>
                  </a:cubicBezTo>
                  <a:cubicBezTo>
                    <a:pt x="170043" y="231259"/>
                    <a:pt x="163241" y="226886"/>
                    <a:pt x="155954" y="222999"/>
                  </a:cubicBezTo>
                  <a:cubicBezTo>
                    <a:pt x="151581" y="220570"/>
                    <a:pt x="146723" y="217655"/>
                    <a:pt x="142350" y="213283"/>
                  </a:cubicBezTo>
                  <a:cubicBezTo>
                    <a:pt x="134577" y="205509"/>
                    <a:pt x="133119" y="193363"/>
                    <a:pt x="139921" y="185104"/>
                  </a:cubicBezTo>
                  <a:cubicBezTo>
                    <a:pt x="146237" y="176359"/>
                    <a:pt x="158383" y="174416"/>
                    <a:pt x="168100" y="180246"/>
                  </a:cubicBezTo>
                  <a:cubicBezTo>
                    <a:pt x="173444" y="183161"/>
                    <a:pt x="177331" y="187533"/>
                    <a:pt x="181217" y="191906"/>
                  </a:cubicBezTo>
                  <a:cubicBezTo>
                    <a:pt x="187533" y="199193"/>
                    <a:pt x="193363" y="204538"/>
                    <a:pt x="199193" y="208910"/>
                  </a:cubicBezTo>
                  <a:cubicBezTo>
                    <a:pt x="199193" y="208910"/>
                    <a:pt x="200651" y="210368"/>
                    <a:pt x="201137" y="209882"/>
                  </a:cubicBezTo>
                  <a:cubicBezTo>
                    <a:pt x="204052" y="208910"/>
                    <a:pt x="206481" y="209882"/>
                    <a:pt x="208910" y="210853"/>
                  </a:cubicBezTo>
                  <a:cubicBezTo>
                    <a:pt x="239518" y="181217"/>
                    <a:pt x="274984" y="164213"/>
                    <a:pt x="316280" y="159355"/>
                  </a:cubicBezTo>
                  <a:cubicBezTo>
                    <a:pt x="316280" y="159355"/>
                    <a:pt x="316280" y="159355"/>
                    <a:pt x="316280" y="159355"/>
                  </a:cubicBezTo>
                  <a:cubicBezTo>
                    <a:pt x="316766" y="156925"/>
                    <a:pt x="318709" y="154010"/>
                    <a:pt x="320653" y="152067"/>
                  </a:cubicBezTo>
                  <a:cubicBezTo>
                    <a:pt x="320653" y="152067"/>
                    <a:pt x="320653" y="152067"/>
                    <a:pt x="320653" y="150610"/>
                  </a:cubicBezTo>
                  <a:cubicBezTo>
                    <a:pt x="320653" y="141379"/>
                    <a:pt x="319195" y="132148"/>
                    <a:pt x="317738" y="123889"/>
                  </a:cubicBezTo>
                  <a:cubicBezTo>
                    <a:pt x="316766" y="118058"/>
                    <a:pt x="316766" y="113200"/>
                    <a:pt x="317252" y="108828"/>
                  </a:cubicBezTo>
                  <a:cubicBezTo>
                    <a:pt x="318709" y="97167"/>
                    <a:pt x="327454" y="88908"/>
                    <a:pt x="339114" y="89394"/>
                  </a:cubicBezTo>
                  <a:cubicBezTo>
                    <a:pt x="348831" y="89394"/>
                    <a:pt x="357090" y="97653"/>
                    <a:pt x="358548" y="107370"/>
                  </a:cubicBezTo>
                  <a:lnTo>
                    <a:pt x="360977" y="107370"/>
                  </a:lnTo>
                  <a:lnTo>
                    <a:pt x="358062" y="122431"/>
                  </a:lnTo>
                  <a:cubicBezTo>
                    <a:pt x="357576" y="128261"/>
                    <a:pt x="356605" y="134091"/>
                    <a:pt x="355633" y="139921"/>
                  </a:cubicBezTo>
                  <a:cubicBezTo>
                    <a:pt x="355633" y="143322"/>
                    <a:pt x="355633" y="146723"/>
                    <a:pt x="355633" y="150124"/>
                  </a:cubicBezTo>
                  <a:lnTo>
                    <a:pt x="355633" y="152553"/>
                  </a:lnTo>
                  <a:cubicBezTo>
                    <a:pt x="355633" y="152553"/>
                    <a:pt x="359034" y="155954"/>
                    <a:pt x="360005" y="159840"/>
                  </a:cubicBezTo>
                  <a:cubicBezTo>
                    <a:pt x="374095" y="161784"/>
                    <a:pt x="385755" y="164213"/>
                    <a:pt x="396443" y="168100"/>
                  </a:cubicBezTo>
                  <a:cubicBezTo>
                    <a:pt x="423164" y="177331"/>
                    <a:pt x="446970" y="191906"/>
                    <a:pt x="467376" y="211339"/>
                  </a:cubicBezTo>
                  <a:cubicBezTo>
                    <a:pt x="469805" y="209882"/>
                    <a:pt x="472234" y="209396"/>
                    <a:pt x="475149" y="209882"/>
                  </a:cubicBezTo>
                  <a:cubicBezTo>
                    <a:pt x="475149" y="209882"/>
                    <a:pt x="476121" y="209882"/>
                    <a:pt x="478550" y="207938"/>
                  </a:cubicBezTo>
                  <a:cubicBezTo>
                    <a:pt x="484380" y="203080"/>
                    <a:pt x="490210" y="197250"/>
                    <a:pt x="496040" y="190934"/>
                  </a:cubicBezTo>
                  <a:cubicBezTo>
                    <a:pt x="499441" y="187047"/>
                    <a:pt x="503328" y="182675"/>
                    <a:pt x="508672" y="179760"/>
                  </a:cubicBezTo>
                  <a:cubicBezTo>
                    <a:pt x="514988" y="175873"/>
                    <a:pt x="522761" y="175387"/>
                    <a:pt x="529563" y="178302"/>
                  </a:cubicBezTo>
                  <a:cubicBezTo>
                    <a:pt x="535393" y="181217"/>
                    <a:pt x="539765" y="186562"/>
                    <a:pt x="541223" y="193363"/>
                  </a:cubicBezTo>
                  <a:cubicBezTo>
                    <a:pt x="542195" y="198707"/>
                    <a:pt x="541223" y="205995"/>
                    <a:pt x="533935" y="213768"/>
                  </a:cubicBezTo>
                  <a:cubicBezTo>
                    <a:pt x="530049" y="217655"/>
                    <a:pt x="525190" y="220570"/>
                    <a:pt x="520818" y="222513"/>
                  </a:cubicBezTo>
                  <a:cubicBezTo>
                    <a:pt x="512073" y="227372"/>
                    <a:pt x="505271" y="231744"/>
                    <a:pt x="499927" y="236603"/>
                  </a:cubicBezTo>
                  <a:cubicBezTo>
                    <a:pt x="498469" y="238060"/>
                    <a:pt x="498469" y="238546"/>
                    <a:pt x="498469" y="239032"/>
                  </a:cubicBezTo>
                  <a:cubicBezTo>
                    <a:pt x="498469" y="241947"/>
                    <a:pt x="497497" y="244376"/>
                    <a:pt x="495554" y="246320"/>
                  </a:cubicBezTo>
                  <a:cubicBezTo>
                    <a:pt x="512073" y="273526"/>
                    <a:pt x="521303" y="302677"/>
                    <a:pt x="523247" y="333770"/>
                  </a:cubicBezTo>
                  <a:cubicBezTo>
                    <a:pt x="523733" y="343001"/>
                    <a:pt x="523247" y="352232"/>
                    <a:pt x="522275" y="361949"/>
                  </a:cubicBezTo>
                  <a:cubicBezTo>
                    <a:pt x="525190" y="362921"/>
                    <a:pt x="526162" y="365350"/>
                    <a:pt x="527134" y="366321"/>
                  </a:cubicBezTo>
                  <a:cubicBezTo>
                    <a:pt x="528105" y="368265"/>
                    <a:pt x="529563" y="368751"/>
                    <a:pt x="534907" y="369236"/>
                  </a:cubicBezTo>
                  <a:cubicBezTo>
                    <a:pt x="541709" y="370208"/>
                    <a:pt x="546567" y="370694"/>
                    <a:pt x="551911" y="371180"/>
                  </a:cubicBezTo>
                  <a:cubicBezTo>
                    <a:pt x="556770" y="371666"/>
                    <a:pt x="561628" y="372151"/>
                    <a:pt x="566972" y="373123"/>
                  </a:cubicBezTo>
                  <a:cubicBezTo>
                    <a:pt x="575231" y="374095"/>
                    <a:pt x="581547" y="378953"/>
                    <a:pt x="584948" y="386241"/>
                  </a:cubicBezTo>
                  <a:lnTo>
                    <a:pt x="584948" y="386241"/>
                  </a:lnTo>
                  <a:cubicBezTo>
                    <a:pt x="588349" y="393528"/>
                    <a:pt x="587377" y="400816"/>
                    <a:pt x="582519" y="407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2" name="Google Shape;3172;p83"/>
            <p:cNvSpPr/>
            <p:nvPr/>
          </p:nvSpPr>
          <p:spPr>
            <a:xfrm>
              <a:off x="1099094" y="1462359"/>
              <a:ext cx="7287" cy="485"/>
            </a:xfrm>
            <a:custGeom>
              <a:avLst/>
              <a:gdLst/>
              <a:ahLst/>
              <a:cxnLst/>
              <a:rect l="l" t="t" r="r" b="b"/>
              <a:pathLst>
                <a:path w="7287" h="485" extrusionOk="0">
                  <a:moveTo>
                    <a:pt x="0" y="0"/>
                  </a:moveTo>
                  <a:lnTo>
                    <a:pt x="7288" y="4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3" name="Google Shape;3173;p83"/>
            <p:cNvSpPr/>
            <p:nvPr/>
          </p:nvSpPr>
          <p:spPr>
            <a:xfrm>
              <a:off x="952371" y="1440011"/>
              <a:ext cx="26235" cy="25749"/>
            </a:xfrm>
            <a:custGeom>
              <a:avLst/>
              <a:gdLst/>
              <a:ahLst/>
              <a:cxnLst/>
              <a:rect l="l" t="t" r="r" b="b"/>
              <a:pathLst>
                <a:path w="26235" h="25749" extrusionOk="0">
                  <a:moveTo>
                    <a:pt x="13118" y="25749"/>
                  </a:moveTo>
                  <a:lnTo>
                    <a:pt x="23806" y="20405"/>
                  </a:lnTo>
                  <a:lnTo>
                    <a:pt x="26235" y="9231"/>
                  </a:lnTo>
                  <a:lnTo>
                    <a:pt x="18948" y="0"/>
                  </a:lnTo>
                  <a:lnTo>
                    <a:pt x="7288" y="0"/>
                  </a:lnTo>
                  <a:lnTo>
                    <a:pt x="0" y="9231"/>
                  </a:lnTo>
                  <a:lnTo>
                    <a:pt x="2429" y="20405"/>
                  </a:lnTo>
                  <a:lnTo>
                    <a:pt x="13118" y="25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4" name="Google Shape;3174;p83"/>
            <p:cNvSpPr/>
            <p:nvPr/>
          </p:nvSpPr>
          <p:spPr>
            <a:xfrm>
              <a:off x="1035871" y="1388512"/>
              <a:ext cx="63708" cy="67045"/>
            </a:xfrm>
            <a:custGeom>
              <a:avLst/>
              <a:gdLst/>
              <a:ahLst/>
              <a:cxnLst/>
              <a:rect l="l" t="t" r="r" b="b"/>
              <a:pathLst>
                <a:path w="63708" h="67045" extrusionOk="0">
                  <a:moveTo>
                    <a:pt x="63709" y="63645"/>
                  </a:moveTo>
                  <a:cubicBezTo>
                    <a:pt x="63709" y="59758"/>
                    <a:pt x="63709" y="56357"/>
                    <a:pt x="63223" y="52956"/>
                  </a:cubicBezTo>
                  <a:cubicBezTo>
                    <a:pt x="61766" y="34009"/>
                    <a:pt x="56421" y="16518"/>
                    <a:pt x="48162" y="0"/>
                  </a:cubicBezTo>
                  <a:lnTo>
                    <a:pt x="2008" y="41296"/>
                  </a:lnTo>
                  <a:cubicBezTo>
                    <a:pt x="2008" y="41296"/>
                    <a:pt x="-422" y="44697"/>
                    <a:pt x="64" y="46155"/>
                  </a:cubicBezTo>
                  <a:cubicBezTo>
                    <a:pt x="64" y="47612"/>
                    <a:pt x="2008" y="49070"/>
                    <a:pt x="3951" y="49555"/>
                  </a:cubicBezTo>
                  <a:cubicBezTo>
                    <a:pt x="18526" y="53928"/>
                    <a:pt x="33587" y="58300"/>
                    <a:pt x="48162" y="62673"/>
                  </a:cubicBezTo>
                  <a:lnTo>
                    <a:pt x="63709" y="67046"/>
                  </a:lnTo>
                  <a:cubicBezTo>
                    <a:pt x="63709" y="67046"/>
                    <a:pt x="63709" y="64616"/>
                    <a:pt x="63709" y="63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5" name="Google Shape;3175;p83"/>
          <p:cNvSpPr/>
          <p:nvPr/>
        </p:nvSpPr>
        <p:spPr>
          <a:xfrm>
            <a:off x="5828206" y="3668230"/>
            <a:ext cx="899005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VKS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6" name="Google Shape;3176;p83"/>
          <p:cNvSpPr/>
          <p:nvPr/>
        </p:nvSpPr>
        <p:spPr>
          <a:xfrm>
            <a:off x="4458181" y="1318666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7" name="Google Shape;3177;p83"/>
          <p:cNvSpPr/>
          <p:nvPr/>
        </p:nvSpPr>
        <p:spPr>
          <a:xfrm>
            <a:off x="6141572" y="1318666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8" name="Google Shape;3178;p83"/>
          <p:cNvGrpSpPr/>
          <p:nvPr/>
        </p:nvGrpSpPr>
        <p:grpSpPr>
          <a:xfrm>
            <a:off x="5464518" y="2883286"/>
            <a:ext cx="1274727" cy="660774"/>
            <a:chOff x="4836335" y="2749875"/>
            <a:chExt cx="1274727" cy="660774"/>
          </a:xfrm>
        </p:grpSpPr>
        <p:sp>
          <p:nvSpPr>
            <p:cNvPr id="3179" name="Google Shape;3179;p83"/>
            <p:cNvSpPr/>
            <p:nvPr/>
          </p:nvSpPr>
          <p:spPr>
            <a:xfrm>
              <a:off x="4836335" y="2937779"/>
              <a:ext cx="1274727" cy="47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Plane VMs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80" name="Google Shape;3180;p83"/>
            <p:cNvGrpSpPr/>
            <p:nvPr/>
          </p:nvGrpSpPr>
          <p:grpSpPr>
            <a:xfrm>
              <a:off x="4938502" y="2749875"/>
              <a:ext cx="1053717" cy="325526"/>
              <a:chOff x="4930942" y="3130758"/>
              <a:chExt cx="1053717" cy="325526"/>
            </a:xfrm>
          </p:grpSpPr>
          <p:grpSp>
            <p:nvGrpSpPr>
              <p:cNvPr id="3181" name="Google Shape;3181;p83"/>
              <p:cNvGrpSpPr/>
              <p:nvPr/>
            </p:nvGrpSpPr>
            <p:grpSpPr>
              <a:xfrm>
                <a:off x="5295151" y="3130758"/>
                <a:ext cx="325298" cy="325526"/>
                <a:chOff x="658852" y="4954224"/>
                <a:chExt cx="583799" cy="584209"/>
              </a:xfrm>
            </p:grpSpPr>
            <p:sp>
              <p:nvSpPr>
                <p:cNvPr id="3182" name="Google Shape;3182;p83"/>
                <p:cNvSpPr/>
                <p:nvPr/>
              </p:nvSpPr>
              <p:spPr>
                <a:xfrm>
                  <a:off x="658852" y="4954224"/>
                  <a:ext cx="583799" cy="584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799" h="584209" extrusionOk="0">
                      <a:moveTo>
                        <a:pt x="491426" y="584210"/>
                      </a:moveTo>
                      <a:lnTo>
                        <a:pt x="0" y="584210"/>
                      </a:lnTo>
                      <a:lnTo>
                        <a:pt x="0" y="0"/>
                      </a:lnTo>
                      <a:lnTo>
                        <a:pt x="583799" y="0"/>
                      </a:lnTo>
                      <a:lnTo>
                        <a:pt x="583799" y="566146"/>
                      </a:lnTo>
                      <a:lnTo>
                        <a:pt x="542745" y="566146"/>
                      </a:lnTo>
                      <a:lnTo>
                        <a:pt x="542745" y="41055"/>
                      </a:lnTo>
                      <a:lnTo>
                        <a:pt x="41055" y="41055"/>
                      </a:lnTo>
                      <a:lnTo>
                        <a:pt x="41055" y="543155"/>
                      </a:lnTo>
                      <a:lnTo>
                        <a:pt x="491426" y="543155"/>
                      </a:lnTo>
                      <a:lnTo>
                        <a:pt x="491426" y="584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83" name="Google Shape;3183;p83"/>
                <p:cNvGrpSpPr/>
                <p:nvPr/>
              </p:nvGrpSpPr>
              <p:grpSpPr>
                <a:xfrm>
                  <a:off x="834156" y="5211637"/>
                  <a:ext cx="216359" cy="78004"/>
                  <a:chOff x="834156" y="5211637"/>
                  <a:chExt cx="216359" cy="78004"/>
                </a:xfrm>
              </p:grpSpPr>
              <p:sp>
                <p:nvSpPr>
                  <p:cNvPr id="3184" name="Google Shape;3184;p83"/>
                  <p:cNvSpPr/>
                  <p:nvPr/>
                </p:nvSpPr>
                <p:spPr>
                  <a:xfrm>
                    <a:off x="834156" y="5213690"/>
                    <a:ext cx="81699" cy="75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99" h="75951" extrusionOk="0">
                        <a:moveTo>
                          <a:pt x="0" y="0"/>
                        </a:moveTo>
                        <a:lnTo>
                          <a:pt x="18885" y="0"/>
                        </a:lnTo>
                        <a:lnTo>
                          <a:pt x="41055" y="55013"/>
                        </a:lnTo>
                        <a:lnTo>
                          <a:pt x="62814" y="0"/>
                        </a:lnTo>
                        <a:lnTo>
                          <a:pt x="81699" y="0"/>
                        </a:lnTo>
                        <a:lnTo>
                          <a:pt x="49676" y="75951"/>
                        </a:lnTo>
                        <a:lnTo>
                          <a:pt x="32844" y="759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85" name="Google Shape;3185;p83"/>
                  <p:cNvSpPr/>
                  <p:nvPr/>
                </p:nvSpPr>
                <p:spPr>
                  <a:xfrm>
                    <a:off x="935151" y="5211637"/>
                    <a:ext cx="115364" cy="775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364" h="77593" extrusionOk="0">
                        <a:moveTo>
                          <a:pt x="101816" y="3695"/>
                        </a:moveTo>
                        <a:cubicBezTo>
                          <a:pt x="105921" y="6158"/>
                          <a:pt x="109206" y="9853"/>
                          <a:pt x="111669" y="13959"/>
                        </a:cubicBezTo>
                        <a:cubicBezTo>
                          <a:pt x="114132" y="18475"/>
                          <a:pt x="115364" y="23401"/>
                          <a:pt x="115364" y="29149"/>
                        </a:cubicBezTo>
                        <a:lnTo>
                          <a:pt x="115364" y="77594"/>
                        </a:lnTo>
                        <a:lnTo>
                          <a:pt x="97710" y="77594"/>
                        </a:lnTo>
                        <a:lnTo>
                          <a:pt x="97710" y="32433"/>
                        </a:lnTo>
                        <a:cubicBezTo>
                          <a:pt x="97710" y="27507"/>
                          <a:pt x="96479" y="23401"/>
                          <a:pt x="93605" y="20117"/>
                        </a:cubicBezTo>
                        <a:cubicBezTo>
                          <a:pt x="90731" y="16832"/>
                          <a:pt x="87447" y="15190"/>
                          <a:pt x="82931" y="15190"/>
                        </a:cubicBezTo>
                        <a:cubicBezTo>
                          <a:pt x="78415" y="15190"/>
                          <a:pt x="73899" y="16832"/>
                          <a:pt x="71025" y="19706"/>
                        </a:cubicBezTo>
                        <a:cubicBezTo>
                          <a:pt x="67740" y="22580"/>
                          <a:pt x="66509" y="26686"/>
                          <a:pt x="66509" y="31202"/>
                        </a:cubicBezTo>
                        <a:lnTo>
                          <a:pt x="66509" y="77594"/>
                        </a:lnTo>
                        <a:lnTo>
                          <a:pt x="49266" y="77594"/>
                        </a:lnTo>
                        <a:lnTo>
                          <a:pt x="49266" y="32433"/>
                        </a:lnTo>
                        <a:cubicBezTo>
                          <a:pt x="49266" y="27507"/>
                          <a:pt x="48034" y="23401"/>
                          <a:pt x="45160" y="20117"/>
                        </a:cubicBezTo>
                        <a:cubicBezTo>
                          <a:pt x="42286" y="16832"/>
                          <a:pt x="39002" y="15190"/>
                          <a:pt x="34486" y="15190"/>
                        </a:cubicBezTo>
                        <a:cubicBezTo>
                          <a:pt x="29970" y="15190"/>
                          <a:pt x="25865" y="16832"/>
                          <a:pt x="22580" y="19706"/>
                        </a:cubicBezTo>
                        <a:cubicBezTo>
                          <a:pt x="19296" y="22580"/>
                          <a:pt x="18064" y="26686"/>
                          <a:pt x="18064" y="31202"/>
                        </a:cubicBezTo>
                        <a:lnTo>
                          <a:pt x="18064" y="77594"/>
                        </a:lnTo>
                        <a:lnTo>
                          <a:pt x="0" y="77594"/>
                        </a:lnTo>
                        <a:lnTo>
                          <a:pt x="0" y="1642"/>
                        </a:lnTo>
                        <a:lnTo>
                          <a:pt x="18064" y="1642"/>
                        </a:lnTo>
                        <a:lnTo>
                          <a:pt x="18064" y="11906"/>
                        </a:lnTo>
                        <a:cubicBezTo>
                          <a:pt x="20117" y="8211"/>
                          <a:pt x="22991" y="5337"/>
                          <a:pt x="26686" y="3284"/>
                        </a:cubicBezTo>
                        <a:cubicBezTo>
                          <a:pt x="30381" y="1232"/>
                          <a:pt x="34486" y="0"/>
                          <a:pt x="39413" y="0"/>
                        </a:cubicBezTo>
                        <a:cubicBezTo>
                          <a:pt x="44339" y="0"/>
                          <a:pt x="50497" y="1642"/>
                          <a:pt x="55424" y="4927"/>
                        </a:cubicBezTo>
                        <a:cubicBezTo>
                          <a:pt x="59940" y="8211"/>
                          <a:pt x="63224" y="12727"/>
                          <a:pt x="65277" y="18064"/>
                        </a:cubicBezTo>
                        <a:cubicBezTo>
                          <a:pt x="66509" y="12727"/>
                          <a:pt x="68972" y="8211"/>
                          <a:pt x="73078" y="4927"/>
                        </a:cubicBezTo>
                        <a:cubicBezTo>
                          <a:pt x="77183" y="1642"/>
                          <a:pt x="82110" y="0"/>
                          <a:pt x="88268" y="0"/>
                        </a:cubicBezTo>
                        <a:cubicBezTo>
                          <a:pt x="94426" y="0"/>
                          <a:pt x="98121" y="1232"/>
                          <a:pt x="102226" y="369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186" name="Google Shape;3186;p83"/>
              <p:cNvGrpSpPr/>
              <p:nvPr/>
            </p:nvGrpSpPr>
            <p:grpSpPr>
              <a:xfrm>
                <a:off x="5659361" y="3130758"/>
                <a:ext cx="325298" cy="325526"/>
                <a:chOff x="658852" y="4954224"/>
                <a:chExt cx="583799" cy="584209"/>
              </a:xfrm>
            </p:grpSpPr>
            <p:sp>
              <p:nvSpPr>
                <p:cNvPr id="3187" name="Google Shape;3187;p83"/>
                <p:cNvSpPr/>
                <p:nvPr/>
              </p:nvSpPr>
              <p:spPr>
                <a:xfrm>
                  <a:off x="658852" y="4954224"/>
                  <a:ext cx="583799" cy="584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799" h="584209" extrusionOk="0">
                      <a:moveTo>
                        <a:pt x="491426" y="584210"/>
                      </a:moveTo>
                      <a:lnTo>
                        <a:pt x="0" y="584210"/>
                      </a:lnTo>
                      <a:lnTo>
                        <a:pt x="0" y="0"/>
                      </a:lnTo>
                      <a:lnTo>
                        <a:pt x="583799" y="0"/>
                      </a:lnTo>
                      <a:lnTo>
                        <a:pt x="583799" y="566146"/>
                      </a:lnTo>
                      <a:lnTo>
                        <a:pt x="542745" y="566146"/>
                      </a:lnTo>
                      <a:lnTo>
                        <a:pt x="542745" y="41055"/>
                      </a:lnTo>
                      <a:lnTo>
                        <a:pt x="41055" y="41055"/>
                      </a:lnTo>
                      <a:lnTo>
                        <a:pt x="41055" y="543155"/>
                      </a:lnTo>
                      <a:lnTo>
                        <a:pt x="491426" y="543155"/>
                      </a:lnTo>
                      <a:lnTo>
                        <a:pt x="491426" y="584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88" name="Google Shape;3188;p83"/>
                <p:cNvGrpSpPr/>
                <p:nvPr/>
              </p:nvGrpSpPr>
              <p:grpSpPr>
                <a:xfrm>
                  <a:off x="834156" y="5211637"/>
                  <a:ext cx="216359" cy="78004"/>
                  <a:chOff x="834156" y="5211637"/>
                  <a:chExt cx="216359" cy="78004"/>
                </a:xfrm>
              </p:grpSpPr>
              <p:sp>
                <p:nvSpPr>
                  <p:cNvPr id="3189" name="Google Shape;3189;p83"/>
                  <p:cNvSpPr/>
                  <p:nvPr/>
                </p:nvSpPr>
                <p:spPr>
                  <a:xfrm>
                    <a:off x="834156" y="5213690"/>
                    <a:ext cx="81699" cy="75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99" h="75951" extrusionOk="0">
                        <a:moveTo>
                          <a:pt x="0" y="0"/>
                        </a:moveTo>
                        <a:lnTo>
                          <a:pt x="18885" y="0"/>
                        </a:lnTo>
                        <a:lnTo>
                          <a:pt x="41055" y="55013"/>
                        </a:lnTo>
                        <a:lnTo>
                          <a:pt x="62814" y="0"/>
                        </a:lnTo>
                        <a:lnTo>
                          <a:pt x="81699" y="0"/>
                        </a:lnTo>
                        <a:lnTo>
                          <a:pt x="49676" y="75951"/>
                        </a:lnTo>
                        <a:lnTo>
                          <a:pt x="32844" y="759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90" name="Google Shape;3190;p83"/>
                  <p:cNvSpPr/>
                  <p:nvPr/>
                </p:nvSpPr>
                <p:spPr>
                  <a:xfrm>
                    <a:off x="935151" y="5211637"/>
                    <a:ext cx="115364" cy="775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364" h="77593" extrusionOk="0">
                        <a:moveTo>
                          <a:pt x="101816" y="3695"/>
                        </a:moveTo>
                        <a:cubicBezTo>
                          <a:pt x="105921" y="6158"/>
                          <a:pt x="109206" y="9853"/>
                          <a:pt x="111669" y="13959"/>
                        </a:cubicBezTo>
                        <a:cubicBezTo>
                          <a:pt x="114132" y="18475"/>
                          <a:pt x="115364" y="23401"/>
                          <a:pt x="115364" y="29149"/>
                        </a:cubicBezTo>
                        <a:lnTo>
                          <a:pt x="115364" y="77594"/>
                        </a:lnTo>
                        <a:lnTo>
                          <a:pt x="97710" y="77594"/>
                        </a:lnTo>
                        <a:lnTo>
                          <a:pt x="97710" y="32433"/>
                        </a:lnTo>
                        <a:cubicBezTo>
                          <a:pt x="97710" y="27507"/>
                          <a:pt x="96479" y="23401"/>
                          <a:pt x="93605" y="20117"/>
                        </a:cubicBezTo>
                        <a:cubicBezTo>
                          <a:pt x="90731" y="16832"/>
                          <a:pt x="87447" y="15190"/>
                          <a:pt x="82931" y="15190"/>
                        </a:cubicBezTo>
                        <a:cubicBezTo>
                          <a:pt x="78415" y="15190"/>
                          <a:pt x="73899" y="16832"/>
                          <a:pt x="71025" y="19706"/>
                        </a:cubicBezTo>
                        <a:cubicBezTo>
                          <a:pt x="67740" y="22580"/>
                          <a:pt x="66509" y="26686"/>
                          <a:pt x="66509" y="31202"/>
                        </a:cubicBezTo>
                        <a:lnTo>
                          <a:pt x="66509" y="77594"/>
                        </a:lnTo>
                        <a:lnTo>
                          <a:pt x="49266" y="77594"/>
                        </a:lnTo>
                        <a:lnTo>
                          <a:pt x="49266" y="32433"/>
                        </a:lnTo>
                        <a:cubicBezTo>
                          <a:pt x="49266" y="27507"/>
                          <a:pt x="48034" y="23401"/>
                          <a:pt x="45160" y="20117"/>
                        </a:cubicBezTo>
                        <a:cubicBezTo>
                          <a:pt x="42286" y="16832"/>
                          <a:pt x="39002" y="15190"/>
                          <a:pt x="34486" y="15190"/>
                        </a:cubicBezTo>
                        <a:cubicBezTo>
                          <a:pt x="29970" y="15190"/>
                          <a:pt x="25865" y="16832"/>
                          <a:pt x="22580" y="19706"/>
                        </a:cubicBezTo>
                        <a:cubicBezTo>
                          <a:pt x="19296" y="22580"/>
                          <a:pt x="18064" y="26686"/>
                          <a:pt x="18064" y="31202"/>
                        </a:cubicBezTo>
                        <a:lnTo>
                          <a:pt x="18064" y="77594"/>
                        </a:lnTo>
                        <a:lnTo>
                          <a:pt x="0" y="77594"/>
                        </a:lnTo>
                        <a:lnTo>
                          <a:pt x="0" y="1642"/>
                        </a:lnTo>
                        <a:lnTo>
                          <a:pt x="18064" y="1642"/>
                        </a:lnTo>
                        <a:lnTo>
                          <a:pt x="18064" y="11906"/>
                        </a:lnTo>
                        <a:cubicBezTo>
                          <a:pt x="20117" y="8211"/>
                          <a:pt x="22991" y="5337"/>
                          <a:pt x="26686" y="3284"/>
                        </a:cubicBezTo>
                        <a:cubicBezTo>
                          <a:pt x="30381" y="1232"/>
                          <a:pt x="34486" y="0"/>
                          <a:pt x="39413" y="0"/>
                        </a:cubicBezTo>
                        <a:cubicBezTo>
                          <a:pt x="44339" y="0"/>
                          <a:pt x="50497" y="1642"/>
                          <a:pt x="55424" y="4927"/>
                        </a:cubicBezTo>
                        <a:cubicBezTo>
                          <a:pt x="59940" y="8211"/>
                          <a:pt x="63224" y="12727"/>
                          <a:pt x="65277" y="18064"/>
                        </a:cubicBezTo>
                        <a:cubicBezTo>
                          <a:pt x="66509" y="12727"/>
                          <a:pt x="68972" y="8211"/>
                          <a:pt x="73078" y="4927"/>
                        </a:cubicBezTo>
                        <a:cubicBezTo>
                          <a:pt x="77183" y="1642"/>
                          <a:pt x="82110" y="0"/>
                          <a:pt x="88268" y="0"/>
                        </a:cubicBezTo>
                        <a:cubicBezTo>
                          <a:pt x="94426" y="0"/>
                          <a:pt x="98121" y="1232"/>
                          <a:pt x="102226" y="369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191" name="Google Shape;3191;p83"/>
              <p:cNvGrpSpPr/>
              <p:nvPr/>
            </p:nvGrpSpPr>
            <p:grpSpPr>
              <a:xfrm>
                <a:off x="4930942" y="3130758"/>
                <a:ext cx="325298" cy="325526"/>
                <a:chOff x="658852" y="4954224"/>
                <a:chExt cx="583799" cy="584209"/>
              </a:xfrm>
            </p:grpSpPr>
            <p:sp>
              <p:nvSpPr>
                <p:cNvPr id="3192" name="Google Shape;3192;p83"/>
                <p:cNvSpPr/>
                <p:nvPr/>
              </p:nvSpPr>
              <p:spPr>
                <a:xfrm>
                  <a:off x="658852" y="4954224"/>
                  <a:ext cx="583799" cy="584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799" h="584209" extrusionOk="0">
                      <a:moveTo>
                        <a:pt x="491426" y="584210"/>
                      </a:moveTo>
                      <a:lnTo>
                        <a:pt x="0" y="584210"/>
                      </a:lnTo>
                      <a:lnTo>
                        <a:pt x="0" y="0"/>
                      </a:lnTo>
                      <a:lnTo>
                        <a:pt x="583799" y="0"/>
                      </a:lnTo>
                      <a:lnTo>
                        <a:pt x="583799" y="566146"/>
                      </a:lnTo>
                      <a:lnTo>
                        <a:pt x="542745" y="566146"/>
                      </a:lnTo>
                      <a:lnTo>
                        <a:pt x="542745" y="41055"/>
                      </a:lnTo>
                      <a:lnTo>
                        <a:pt x="41055" y="41055"/>
                      </a:lnTo>
                      <a:lnTo>
                        <a:pt x="41055" y="543155"/>
                      </a:lnTo>
                      <a:lnTo>
                        <a:pt x="491426" y="543155"/>
                      </a:lnTo>
                      <a:lnTo>
                        <a:pt x="491426" y="584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93" name="Google Shape;3193;p83"/>
                <p:cNvGrpSpPr/>
                <p:nvPr/>
              </p:nvGrpSpPr>
              <p:grpSpPr>
                <a:xfrm>
                  <a:off x="834156" y="5211637"/>
                  <a:ext cx="216359" cy="78004"/>
                  <a:chOff x="834156" y="5211637"/>
                  <a:chExt cx="216359" cy="78004"/>
                </a:xfrm>
              </p:grpSpPr>
              <p:sp>
                <p:nvSpPr>
                  <p:cNvPr id="3194" name="Google Shape;3194;p83"/>
                  <p:cNvSpPr/>
                  <p:nvPr/>
                </p:nvSpPr>
                <p:spPr>
                  <a:xfrm>
                    <a:off x="834156" y="5213690"/>
                    <a:ext cx="81699" cy="75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99" h="75951" extrusionOk="0">
                        <a:moveTo>
                          <a:pt x="0" y="0"/>
                        </a:moveTo>
                        <a:lnTo>
                          <a:pt x="18885" y="0"/>
                        </a:lnTo>
                        <a:lnTo>
                          <a:pt x="41055" y="55013"/>
                        </a:lnTo>
                        <a:lnTo>
                          <a:pt x="62814" y="0"/>
                        </a:lnTo>
                        <a:lnTo>
                          <a:pt x="81699" y="0"/>
                        </a:lnTo>
                        <a:lnTo>
                          <a:pt x="49676" y="75951"/>
                        </a:lnTo>
                        <a:lnTo>
                          <a:pt x="32844" y="759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95" name="Google Shape;3195;p83"/>
                  <p:cNvSpPr/>
                  <p:nvPr/>
                </p:nvSpPr>
                <p:spPr>
                  <a:xfrm>
                    <a:off x="935151" y="5211637"/>
                    <a:ext cx="115364" cy="775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364" h="77593" extrusionOk="0">
                        <a:moveTo>
                          <a:pt x="101816" y="3695"/>
                        </a:moveTo>
                        <a:cubicBezTo>
                          <a:pt x="105921" y="6158"/>
                          <a:pt x="109206" y="9853"/>
                          <a:pt x="111669" y="13959"/>
                        </a:cubicBezTo>
                        <a:cubicBezTo>
                          <a:pt x="114132" y="18475"/>
                          <a:pt x="115364" y="23401"/>
                          <a:pt x="115364" y="29149"/>
                        </a:cubicBezTo>
                        <a:lnTo>
                          <a:pt x="115364" y="77594"/>
                        </a:lnTo>
                        <a:lnTo>
                          <a:pt x="97710" y="77594"/>
                        </a:lnTo>
                        <a:lnTo>
                          <a:pt x="97710" y="32433"/>
                        </a:lnTo>
                        <a:cubicBezTo>
                          <a:pt x="97710" y="27507"/>
                          <a:pt x="96479" y="23401"/>
                          <a:pt x="93605" y="20117"/>
                        </a:cubicBezTo>
                        <a:cubicBezTo>
                          <a:pt x="90731" y="16832"/>
                          <a:pt x="87447" y="15190"/>
                          <a:pt x="82931" y="15190"/>
                        </a:cubicBezTo>
                        <a:cubicBezTo>
                          <a:pt x="78415" y="15190"/>
                          <a:pt x="73899" y="16832"/>
                          <a:pt x="71025" y="19706"/>
                        </a:cubicBezTo>
                        <a:cubicBezTo>
                          <a:pt x="67740" y="22580"/>
                          <a:pt x="66509" y="26686"/>
                          <a:pt x="66509" y="31202"/>
                        </a:cubicBezTo>
                        <a:lnTo>
                          <a:pt x="66509" y="77594"/>
                        </a:lnTo>
                        <a:lnTo>
                          <a:pt x="49266" y="77594"/>
                        </a:lnTo>
                        <a:lnTo>
                          <a:pt x="49266" y="32433"/>
                        </a:lnTo>
                        <a:cubicBezTo>
                          <a:pt x="49266" y="27507"/>
                          <a:pt x="48034" y="23401"/>
                          <a:pt x="45160" y="20117"/>
                        </a:cubicBezTo>
                        <a:cubicBezTo>
                          <a:pt x="42286" y="16832"/>
                          <a:pt x="39002" y="15190"/>
                          <a:pt x="34486" y="15190"/>
                        </a:cubicBezTo>
                        <a:cubicBezTo>
                          <a:pt x="29970" y="15190"/>
                          <a:pt x="25865" y="16832"/>
                          <a:pt x="22580" y="19706"/>
                        </a:cubicBezTo>
                        <a:cubicBezTo>
                          <a:pt x="19296" y="22580"/>
                          <a:pt x="18064" y="26686"/>
                          <a:pt x="18064" y="31202"/>
                        </a:cubicBezTo>
                        <a:lnTo>
                          <a:pt x="18064" y="77594"/>
                        </a:lnTo>
                        <a:lnTo>
                          <a:pt x="0" y="77594"/>
                        </a:lnTo>
                        <a:lnTo>
                          <a:pt x="0" y="1642"/>
                        </a:lnTo>
                        <a:lnTo>
                          <a:pt x="18064" y="1642"/>
                        </a:lnTo>
                        <a:lnTo>
                          <a:pt x="18064" y="11906"/>
                        </a:lnTo>
                        <a:cubicBezTo>
                          <a:pt x="20117" y="8211"/>
                          <a:pt x="22991" y="5337"/>
                          <a:pt x="26686" y="3284"/>
                        </a:cubicBezTo>
                        <a:cubicBezTo>
                          <a:pt x="30381" y="1232"/>
                          <a:pt x="34486" y="0"/>
                          <a:pt x="39413" y="0"/>
                        </a:cubicBezTo>
                        <a:cubicBezTo>
                          <a:pt x="44339" y="0"/>
                          <a:pt x="50497" y="1642"/>
                          <a:pt x="55424" y="4927"/>
                        </a:cubicBezTo>
                        <a:cubicBezTo>
                          <a:pt x="59940" y="8211"/>
                          <a:pt x="63224" y="12727"/>
                          <a:pt x="65277" y="18064"/>
                        </a:cubicBezTo>
                        <a:cubicBezTo>
                          <a:pt x="66509" y="12727"/>
                          <a:pt x="68972" y="8211"/>
                          <a:pt x="73078" y="4927"/>
                        </a:cubicBezTo>
                        <a:cubicBezTo>
                          <a:pt x="77183" y="1642"/>
                          <a:pt x="82110" y="0"/>
                          <a:pt x="88268" y="0"/>
                        </a:cubicBezTo>
                        <a:cubicBezTo>
                          <a:pt x="94426" y="0"/>
                          <a:pt x="98121" y="1232"/>
                          <a:pt x="102226" y="369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3196" name="Google Shape;3196;p83"/>
          <p:cNvSpPr/>
          <p:nvPr/>
        </p:nvSpPr>
        <p:spPr>
          <a:xfrm>
            <a:off x="5212884" y="4395579"/>
            <a:ext cx="1771650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B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7" name="Google Shape;3197;p83"/>
          <p:cNvSpPr/>
          <p:nvPr/>
        </p:nvSpPr>
        <p:spPr>
          <a:xfrm>
            <a:off x="5341887" y="4637705"/>
            <a:ext cx="1521178" cy="4442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8" name="Google Shape;3198;p83"/>
          <p:cNvSpPr/>
          <p:nvPr/>
        </p:nvSpPr>
        <p:spPr>
          <a:xfrm>
            <a:off x="5669466" y="4621152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9" name="Google Shape;3199;p83"/>
          <p:cNvGrpSpPr/>
          <p:nvPr/>
        </p:nvGrpSpPr>
        <p:grpSpPr>
          <a:xfrm>
            <a:off x="5458142" y="4725582"/>
            <a:ext cx="274320" cy="274320"/>
            <a:chOff x="658852" y="4954224"/>
            <a:chExt cx="583799" cy="584209"/>
          </a:xfrm>
        </p:grpSpPr>
        <p:sp>
          <p:nvSpPr>
            <p:cNvPr id="3200" name="Google Shape;3200;p83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01" name="Google Shape;3201;p83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202" name="Google Shape;3202;p83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3" name="Google Shape;3203;p83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04" name="Google Shape;3204;p83"/>
          <p:cNvSpPr/>
          <p:nvPr/>
        </p:nvSpPr>
        <p:spPr>
          <a:xfrm>
            <a:off x="5301488" y="5682736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5" name="Google Shape;3205;p83"/>
          <p:cNvCxnSpPr>
            <a:stCxn id="3156" idx="2"/>
            <a:endCxn id="3204" idx="0"/>
          </p:cNvCxnSpPr>
          <p:nvPr/>
        </p:nvCxnSpPr>
        <p:spPr>
          <a:xfrm>
            <a:off x="6094412" y="5552751"/>
            <a:ext cx="600" cy="1299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780E3-F78C-7443-FCC1-4AC97D6E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Single Management Zone with Isolated Workload Zones Model v1.0</a:t>
            </a:r>
            <a:endParaRPr lang="en-US" sz="2400" dirty="0"/>
          </a:p>
        </p:txBody>
      </p:sp>
      <p:sp>
        <p:nvSpPr>
          <p:cNvPr id="3213" name="Google Shape;3213;p84"/>
          <p:cNvSpPr/>
          <p:nvPr/>
        </p:nvSpPr>
        <p:spPr>
          <a:xfrm flipH="1">
            <a:off x="2884668" y="1043952"/>
            <a:ext cx="6919757" cy="520834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4" name="Google Shape;3214;p84"/>
          <p:cNvSpPr txBox="1"/>
          <p:nvPr/>
        </p:nvSpPr>
        <p:spPr>
          <a:xfrm>
            <a:off x="5300333" y="2769379"/>
            <a:ext cx="106641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5" name="Google Shape;3215;p84"/>
          <p:cNvGrpSpPr/>
          <p:nvPr/>
        </p:nvGrpSpPr>
        <p:grpSpPr>
          <a:xfrm>
            <a:off x="2982108" y="1718990"/>
            <a:ext cx="6643216" cy="3825194"/>
            <a:chOff x="2774391" y="1012884"/>
            <a:chExt cx="6643216" cy="3825194"/>
          </a:xfrm>
        </p:grpSpPr>
        <p:sp>
          <p:nvSpPr>
            <p:cNvPr id="3216" name="Google Shape;3216;p84"/>
            <p:cNvSpPr/>
            <p:nvPr/>
          </p:nvSpPr>
          <p:spPr>
            <a:xfrm flipH="1">
              <a:off x="2774391" y="1012884"/>
              <a:ext cx="1587337" cy="3825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7D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Cluster 1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7" name="Google Shape;3217;p84"/>
            <p:cNvSpPr/>
            <p:nvPr/>
          </p:nvSpPr>
          <p:spPr>
            <a:xfrm flipH="1">
              <a:off x="4454608" y="1012884"/>
              <a:ext cx="1587337" cy="3825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7D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Cluster 2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8" name="Google Shape;3218;p84"/>
            <p:cNvSpPr/>
            <p:nvPr/>
          </p:nvSpPr>
          <p:spPr>
            <a:xfrm flipH="1">
              <a:off x="6136832" y="1012884"/>
              <a:ext cx="1587337" cy="3825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7D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Cluster 3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9" name="Google Shape;3219;p84"/>
            <p:cNvSpPr/>
            <p:nvPr/>
          </p:nvSpPr>
          <p:spPr>
            <a:xfrm flipH="1">
              <a:off x="7830270" y="1012884"/>
              <a:ext cx="1587337" cy="3825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7D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Cluster 4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0" name="Google Shape;3220;p84"/>
            <p:cNvSpPr/>
            <p:nvPr/>
          </p:nvSpPr>
          <p:spPr>
            <a:xfrm>
              <a:off x="2898668" y="1386161"/>
              <a:ext cx="1338783" cy="3313540"/>
            </a:xfrm>
            <a:prstGeom prst="rect">
              <a:avLst/>
            </a:prstGeom>
            <a:solidFill>
              <a:srgbClr val="007DA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vSphere Zone 1</a:t>
              </a:r>
              <a:b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(Management)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1" name="Google Shape;3221;p84"/>
            <p:cNvSpPr/>
            <p:nvPr/>
          </p:nvSpPr>
          <p:spPr>
            <a:xfrm>
              <a:off x="6261110" y="1389428"/>
              <a:ext cx="1338783" cy="3313540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Zone 3</a:t>
              </a:r>
              <a:b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(Workload)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2" name="Google Shape;3222;p84"/>
            <p:cNvSpPr/>
            <p:nvPr/>
          </p:nvSpPr>
          <p:spPr>
            <a:xfrm>
              <a:off x="7954548" y="1389428"/>
              <a:ext cx="1338783" cy="3313540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Zone 4</a:t>
              </a:r>
              <a:b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(Workload)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3" name="Google Shape;3223;p84"/>
            <p:cNvSpPr/>
            <p:nvPr/>
          </p:nvSpPr>
          <p:spPr>
            <a:xfrm>
              <a:off x="4578886" y="1389428"/>
              <a:ext cx="1338783" cy="3313540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Zone 2</a:t>
              </a:r>
              <a:b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(Workload)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4" name="Google Shape;3224;p84"/>
          <p:cNvSpPr/>
          <p:nvPr/>
        </p:nvSpPr>
        <p:spPr>
          <a:xfrm flipH="1">
            <a:off x="3198666" y="2687018"/>
            <a:ext cx="6223536" cy="2558229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5" name="Google Shape;3225;p84"/>
          <p:cNvSpPr/>
          <p:nvPr/>
        </p:nvSpPr>
        <p:spPr>
          <a:xfrm>
            <a:off x="8079613" y="2763344"/>
            <a:ext cx="1415994" cy="1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6" name="Google Shape;3226;p84"/>
          <p:cNvGrpSpPr/>
          <p:nvPr/>
        </p:nvGrpSpPr>
        <p:grpSpPr>
          <a:xfrm>
            <a:off x="4942064" y="2992756"/>
            <a:ext cx="4339704" cy="912201"/>
            <a:chOff x="4734347" y="2424098"/>
            <a:chExt cx="4339704" cy="912201"/>
          </a:xfrm>
        </p:grpSpPr>
        <p:sp>
          <p:nvSpPr>
            <p:cNvPr id="3227" name="Google Shape;3227;p84"/>
            <p:cNvSpPr/>
            <p:nvPr/>
          </p:nvSpPr>
          <p:spPr>
            <a:xfrm>
              <a:off x="4734347" y="2424098"/>
              <a:ext cx="4339704" cy="91220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E68C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vSphere Namespace A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8" name="Google Shape;3228;p84"/>
            <p:cNvSpPr/>
            <p:nvPr/>
          </p:nvSpPr>
          <p:spPr>
            <a:xfrm>
              <a:off x="4957168" y="2707393"/>
              <a:ext cx="3894063" cy="46356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VKS Clusters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29" name="Google Shape;3229;p84"/>
            <p:cNvGrpSpPr/>
            <p:nvPr/>
          </p:nvGrpSpPr>
          <p:grpSpPr>
            <a:xfrm>
              <a:off x="6153588" y="2765247"/>
              <a:ext cx="314932" cy="306639"/>
              <a:chOff x="624431" y="1107698"/>
              <a:chExt cx="682601" cy="664625"/>
            </a:xfrm>
          </p:grpSpPr>
          <p:sp>
            <p:nvSpPr>
              <p:cNvPr id="3230" name="Google Shape;3230;p84"/>
              <p:cNvSpPr/>
              <p:nvPr/>
            </p:nvSpPr>
            <p:spPr>
              <a:xfrm>
                <a:off x="1004841" y="1579446"/>
                <a:ext cx="1943" cy="7287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7287" extrusionOk="0">
                    <a:moveTo>
                      <a:pt x="0" y="486"/>
                    </a:moveTo>
                    <a:lnTo>
                      <a:pt x="1943" y="7288"/>
                    </a:lnTo>
                    <a:lnTo>
                      <a:pt x="486" y="0"/>
                    </a:lnTo>
                    <a:cubicBezTo>
                      <a:pt x="486" y="0"/>
                      <a:pt x="486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1" name="Google Shape;3231;p84"/>
              <p:cNvSpPr/>
              <p:nvPr/>
            </p:nvSpPr>
            <p:spPr>
              <a:xfrm>
                <a:off x="878038" y="1319523"/>
                <a:ext cx="62673" cy="67379"/>
              </a:xfrm>
              <a:custGeom>
                <a:avLst/>
                <a:gdLst/>
                <a:ahLst/>
                <a:cxnLst/>
                <a:rect l="l" t="t" r="r" b="b"/>
                <a:pathLst>
                  <a:path w="62673" h="67379" extrusionOk="0">
                    <a:moveTo>
                      <a:pt x="51499" y="66560"/>
                    </a:moveTo>
                    <a:cubicBezTo>
                      <a:pt x="51499" y="66560"/>
                      <a:pt x="54900" y="68017"/>
                      <a:pt x="56357" y="67046"/>
                    </a:cubicBezTo>
                    <a:cubicBezTo>
                      <a:pt x="57815" y="66560"/>
                      <a:pt x="58786" y="65102"/>
                      <a:pt x="58786" y="63159"/>
                    </a:cubicBezTo>
                    <a:cubicBezTo>
                      <a:pt x="59758" y="47126"/>
                      <a:pt x="60730" y="30608"/>
                      <a:pt x="61701" y="14575"/>
                    </a:cubicBezTo>
                    <a:lnTo>
                      <a:pt x="62673" y="0"/>
                    </a:lnTo>
                    <a:cubicBezTo>
                      <a:pt x="38381" y="4858"/>
                      <a:pt x="17976" y="15061"/>
                      <a:pt x="0" y="30122"/>
                    </a:cubicBezTo>
                    <a:cubicBezTo>
                      <a:pt x="7773" y="35466"/>
                      <a:pt x="15547" y="41296"/>
                      <a:pt x="23320" y="46640"/>
                    </a:cubicBezTo>
                    <a:cubicBezTo>
                      <a:pt x="32551" y="53442"/>
                      <a:pt x="42268" y="59758"/>
                      <a:pt x="51499" y="665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2" name="Google Shape;3232;p84"/>
              <p:cNvSpPr/>
              <p:nvPr/>
            </p:nvSpPr>
            <p:spPr>
              <a:xfrm>
                <a:off x="1014072" y="1494424"/>
                <a:ext cx="74333" cy="65102"/>
              </a:xfrm>
              <a:custGeom>
                <a:avLst/>
                <a:gdLst/>
                <a:ahLst/>
                <a:cxnLst/>
                <a:rect l="l" t="t" r="r" b="b"/>
                <a:pathLst>
                  <a:path w="74333" h="65102" extrusionOk="0">
                    <a:moveTo>
                      <a:pt x="8259" y="972"/>
                    </a:moveTo>
                    <a:cubicBezTo>
                      <a:pt x="8259" y="972"/>
                      <a:pt x="6316" y="2915"/>
                      <a:pt x="6316" y="4858"/>
                    </a:cubicBezTo>
                    <a:lnTo>
                      <a:pt x="0" y="9717"/>
                    </a:lnTo>
                    <a:lnTo>
                      <a:pt x="6802" y="6802"/>
                    </a:lnTo>
                    <a:lnTo>
                      <a:pt x="12632" y="20891"/>
                    </a:lnTo>
                    <a:cubicBezTo>
                      <a:pt x="18948" y="35466"/>
                      <a:pt x="24778" y="50527"/>
                      <a:pt x="31094" y="65102"/>
                    </a:cubicBezTo>
                    <a:cubicBezTo>
                      <a:pt x="50527" y="50527"/>
                      <a:pt x="64616" y="32551"/>
                      <a:pt x="74333" y="10688"/>
                    </a:cubicBezTo>
                    <a:lnTo>
                      <a:pt x="12146" y="0"/>
                    </a:lnTo>
                    <a:cubicBezTo>
                      <a:pt x="12146" y="0"/>
                      <a:pt x="9231" y="486"/>
                      <a:pt x="8259" y="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3" name="Google Shape;3233;p84"/>
              <p:cNvSpPr/>
              <p:nvPr/>
            </p:nvSpPr>
            <p:spPr>
              <a:xfrm>
                <a:off x="842572" y="1494424"/>
                <a:ext cx="67045" cy="64616"/>
              </a:xfrm>
              <a:custGeom>
                <a:avLst/>
                <a:gdLst/>
                <a:ahLst/>
                <a:cxnLst/>
                <a:rect l="l" t="t" r="r" b="b"/>
                <a:pathLst>
                  <a:path w="67045" h="64616" extrusionOk="0">
                    <a:moveTo>
                      <a:pt x="62673" y="0"/>
                    </a:moveTo>
                    <a:lnTo>
                      <a:pt x="46155" y="2915"/>
                    </a:lnTo>
                    <a:cubicBezTo>
                      <a:pt x="30608" y="5344"/>
                      <a:pt x="15547" y="8259"/>
                      <a:pt x="0" y="10688"/>
                    </a:cubicBezTo>
                    <a:cubicBezTo>
                      <a:pt x="9717" y="32551"/>
                      <a:pt x="24292" y="50527"/>
                      <a:pt x="43240" y="64616"/>
                    </a:cubicBezTo>
                    <a:cubicBezTo>
                      <a:pt x="48584" y="51985"/>
                      <a:pt x="53442" y="39839"/>
                      <a:pt x="58300" y="27693"/>
                    </a:cubicBezTo>
                    <a:lnTo>
                      <a:pt x="65588" y="9717"/>
                    </a:lnTo>
                    <a:cubicBezTo>
                      <a:pt x="65588" y="9717"/>
                      <a:pt x="66560" y="6802"/>
                      <a:pt x="67046" y="5830"/>
                    </a:cubicBezTo>
                    <a:cubicBezTo>
                      <a:pt x="67046" y="4858"/>
                      <a:pt x="67046" y="3401"/>
                      <a:pt x="66074" y="2429"/>
                    </a:cubicBezTo>
                    <a:cubicBezTo>
                      <a:pt x="65102" y="1457"/>
                      <a:pt x="64131" y="972"/>
                      <a:pt x="62673" y="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4" name="Google Shape;3234;p84"/>
              <p:cNvSpPr/>
              <p:nvPr/>
            </p:nvSpPr>
            <p:spPr>
              <a:xfrm>
                <a:off x="930994" y="1523575"/>
                <a:ext cx="68503" cy="62187"/>
              </a:xfrm>
              <a:custGeom>
                <a:avLst/>
                <a:gdLst/>
                <a:ahLst/>
                <a:cxnLst/>
                <a:rect l="l" t="t" r="r" b="b"/>
                <a:pathLst>
                  <a:path w="68503" h="62187" extrusionOk="0">
                    <a:moveTo>
                      <a:pt x="55385" y="32551"/>
                    </a:moveTo>
                    <a:cubicBezTo>
                      <a:pt x="50041" y="22834"/>
                      <a:pt x="44697" y="12632"/>
                      <a:pt x="38867" y="2915"/>
                    </a:cubicBezTo>
                    <a:cubicBezTo>
                      <a:pt x="37895" y="972"/>
                      <a:pt x="35952" y="486"/>
                      <a:pt x="34494" y="0"/>
                    </a:cubicBezTo>
                    <a:cubicBezTo>
                      <a:pt x="33037" y="0"/>
                      <a:pt x="31094" y="972"/>
                      <a:pt x="30122" y="2915"/>
                    </a:cubicBezTo>
                    <a:lnTo>
                      <a:pt x="17490" y="25749"/>
                    </a:lnTo>
                    <a:cubicBezTo>
                      <a:pt x="11660" y="36438"/>
                      <a:pt x="5830" y="46640"/>
                      <a:pt x="0" y="57329"/>
                    </a:cubicBezTo>
                    <a:cubicBezTo>
                      <a:pt x="11660" y="60244"/>
                      <a:pt x="22834" y="61701"/>
                      <a:pt x="34494" y="62187"/>
                    </a:cubicBezTo>
                    <a:cubicBezTo>
                      <a:pt x="45669" y="62187"/>
                      <a:pt x="57329" y="60730"/>
                      <a:pt x="68503" y="57815"/>
                    </a:cubicBezTo>
                    <a:cubicBezTo>
                      <a:pt x="67046" y="54900"/>
                      <a:pt x="65588" y="52470"/>
                      <a:pt x="64131" y="50041"/>
                    </a:cubicBezTo>
                    <a:lnTo>
                      <a:pt x="54900" y="330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5" name="Google Shape;3235;p84"/>
              <p:cNvSpPr/>
              <p:nvPr/>
            </p:nvSpPr>
            <p:spPr>
              <a:xfrm>
                <a:off x="1090835" y="1499768"/>
                <a:ext cx="6801" cy="2915"/>
              </a:xfrm>
              <a:custGeom>
                <a:avLst/>
                <a:gdLst/>
                <a:ahLst/>
                <a:cxnLst/>
                <a:rect l="l" t="t" r="r" b="b"/>
                <a:pathLst>
                  <a:path w="6801" h="2915" extrusionOk="0">
                    <a:moveTo>
                      <a:pt x="0" y="0"/>
                    </a:moveTo>
                    <a:lnTo>
                      <a:pt x="6802" y="291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6" name="Google Shape;3236;p84"/>
              <p:cNvSpPr/>
              <p:nvPr/>
            </p:nvSpPr>
            <p:spPr>
              <a:xfrm>
                <a:off x="831667" y="1388512"/>
                <a:ext cx="64346" cy="67531"/>
              </a:xfrm>
              <a:custGeom>
                <a:avLst/>
                <a:gdLst/>
                <a:ahLst/>
                <a:cxnLst/>
                <a:rect l="l" t="t" r="r" b="b"/>
                <a:pathLst>
                  <a:path w="64346" h="67531" extrusionOk="0">
                    <a:moveTo>
                      <a:pt x="63375" y="47126"/>
                    </a:moveTo>
                    <a:cubicBezTo>
                      <a:pt x="63375" y="47126"/>
                      <a:pt x="63375" y="43725"/>
                      <a:pt x="60460" y="40810"/>
                    </a:cubicBezTo>
                    <a:cubicBezTo>
                      <a:pt x="45399" y="27207"/>
                      <a:pt x="30338" y="13603"/>
                      <a:pt x="15277" y="0"/>
                    </a:cubicBezTo>
                    <a:cubicBezTo>
                      <a:pt x="6532" y="17004"/>
                      <a:pt x="1673" y="34494"/>
                      <a:pt x="216" y="52956"/>
                    </a:cubicBezTo>
                    <a:cubicBezTo>
                      <a:pt x="216" y="57329"/>
                      <a:pt x="-270" y="62673"/>
                      <a:pt x="216" y="67531"/>
                    </a:cubicBezTo>
                    <a:lnTo>
                      <a:pt x="10419" y="64616"/>
                    </a:lnTo>
                    <a:cubicBezTo>
                      <a:pt x="26451" y="59758"/>
                      <a:pt x="42970" y="55385"/>
                      <a:pt x="59002" y="50527"/>
                    </a:cubicBezTo>
                    <a:cubicBezTo>
                      <a:pt x="63375" y="49070"/>
                      <a:pt x="63861" y="47612"/>
                      <a:pt x="64346" y="46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7" name="Google Shape;3237;p84"/>
              <p:cNvSpPr/>
              <p:nvPr/>
            </p:nvSpPr>
            <p:spPr>
              <a:xfrm>
                <a:off x="990752" y="1319523"/>
                <a:ext cx="61701" cy="66751"/>
              </a:xfrm>
              <a:custGeom>
                <a:avLst/>
                <a:gdLst/>
                <a:ahLst/>
                <a:cxnLst/>
                <a:rect l="l" t="t" r="r" b="b"/>
                <a:pathLst>
                  <a:path w="61701" h="66751" extrusionOk="0">
                    <a:moveTo>
                      <a:pt x="5830" y="66560"/>
                    </a:moveTo>
                    <a:cubicBezTo>
                      <a:pt x="5830" y="66560"/>
                      <a:pt x="8745" y="67531"/>
                      <a:pt x="12146" y="65102"/>
                    </a:cubicBezTo>
                    <a:cubicBezTo>
                      <a:pt x="28664" y="53442"/>
                      <a:pt x="45183" y="41782"/>
                      <a:pt x="61701" y="30122"/>
                    </a:cubicBezTo>
                    <a:cubicBezTo>
                      <a:pt x="42754" y="14575"/>
                      <a:pt x="22348" y="4373"/>
                      <a:pt x="0" y="0"/>
                    </a:cubicBezTo>
                    <a:lnTo>
                      <a:pt x="3401" y="60730"/>
                    </a:lnTo>
                    <a:cubicBezTo>
                      <a:pt x="3401" y="65102"/>
                      <a:pt x="4858" y="65588"/>
                      <a:pt x="5830" y="660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8" name="Google Shape;3238;p84"/>
              <p:cNvSpPr/>
              <p:nvPr/>
            </p:nvSpPr>
            <p:spPr>
              <a:xfrm>
                <a:off x="732681" y="1210695"/>
                <a:ext cx="466686" cy="454812"/>
              </a:xfrm>
              <a:custGeom>
                <a:avLst/>
                <a:gdLst/>
                <a:ahLst/>
                <a:cxnLst/>
                <a:rect l="l" t="t" r="r" b="b"/>
                <a:pathLst>
                  <a:path w="466686" h="454812" extrusionOk="0">
                    <a:moveTo>
                      <a:pt x="444146" y="283729"/>
                    </a:moveTo>
                    <a:cubicBezTo>
                      <a:pt x="438802" y="283243"/>
                      <a:pt x="433458" y="282757"/>
                      <a:pt x="428600" y="281786"/>
                    </a:cubicBezTo>
                    <a:cubicBezTo>
                      <a:pt x="421798" y="280814"/>
                      <a:pt x="414024" y="279842"/>
                      <a:pt x="409166" y="272555"/>
                    </a:cubicBezTo>
                    <a:cubicBezTo>
                      <a:pt x="406251" y="272069"/>
                      <a:pt x="404308" y="270611"/>
                      <a:pt x="403336" y="269154"/>
                    </a:cubicBezTo>
                    <a:cubicBezTo>
                      <a:pt x="400421" y="265753"/>
                      <a:pt x="400907" y="261866"/>
                      <a:pt x="401393" y="259923"/>
                    </a:cubicBezTo>
                    <a:cubicBezTo>
                      <a:pt x="402364" y="250206"/>
                      <a:pt x="402850" y="240975"/>
                      <a:pt x="402364" y="231744"/>
                    </a:cubicBezTo>
                    <a:cubicBezTo>
                      <a:pt x="400907" y="202108"/>
                      <a:pt x="391676" y="174416"/>
                      <a:pt x="376129" y="149152"/>
                    </a:cubicBezTo>
                    <a:cubicBezTo>
                      <a:pt x="375158" y="147695"/>
                      <a:pt x="373214" y="144294"/>
                      <a:pt x="374186" y="139921"/>
                    </a:cubicBezTo>
                    <a:cubicBezTo>
                      <a:pt x="374672" y="137492"/>
                      <a:pt x="376129" y="135549"/>
                      <a:pt x="378073" y="134091"/>
                    </a:cubicBezTo>
                    <a:cubicBezTo>
                      <a:pt x="378558" y="129719"/>
                      <a:pt x="380988" y="125832"/>
                      <a:pt x="384874" y="122431"/>
                    </a:cubicBezTo>
                    <a:cubicBezTo>
                      <a:pt x="391190" y="117087"/>
                      <a:pt x="398478" y="112228"/>
                      <a:pt x="408194" y="106884"/>
                    </a:cubicBezTo>
                    <a:cubicBezTo>
                      <a:pt x="412081" y="104941"/>
                      <a:pt x="415482" y="102998"/>
                      <a:pt x="417911" y="100083"/>
                    </a:cubicBezTo>
                    <a:cubicBezTo>
                      <a:pt x="421312" y="97167"/>
                      <a:pt x="421312" y="94738"/>
                      <a:pt x="420826" y="93281"/>
                    </a:cubicBezTo>
                    <a:cubicBezTo>
                      <a:pt x="420826" y="90852"/>
                      <a:pt x="418883" y="89394"/>
                      <a:pt x="417911" y="88908"/>
                    </a:cubicBezTo>
                    <a:cubicBezTo>
                      <a:pt x="415968" y="87937"/>
                      <a:pt x="413053" y="88422"/>
                      <a:pt x="410624" y="89880"/>
                    </a:cubicBezTo>
                    <a:cubicBezTo>
                      <a:pt x="407223" y="91823"/>
                      <a:pt x="404308" y="95224"/>
                      <a:pt x="401393" y="98139"/>
                    </a:cubicBezTo>
                    <a:cubicBezTo>
                      <a:pt x="395563" y="104941"/>
                      <a:pt x="389247" y="111257"/>
                      <a:pt x="382445" y="116601"/>
                    </a:cubicBezTo>
                    <a:cubicBezTo>
                      <a:pt x="380502" y="118058"/>
                      <a:pt x="375643" y="122431"/>
                      <a:pt x="368356" y="121459"/>
                    </a:cubicBezTo>
                    <a:cubicBezTo>
                      <a:pt x="366412" y="123403"/>
                      <a:pt x="363983" y="124374"/>
                      <a:pt x="361554" y="123889"/>
                    </a:cubicBezTo>
                    <a:cubicBezTo>
                      <a:pt x="357182" y="123889"/>
                      <a:pt x="354267" y="120974"/>
                      <a:pt x="352809" y="119516"/>
                    </a:cubicBezTo>
                    <a:cubicBezTo>
                      <a:pt x="333861" y="100568"/>
                      <a:pt x="311513" y="86965"/>
                      <a:pt x="286249" y="78220"/>
                    </a:cubicBezTo>
                    <a:cubicBezTo>
                      <a:pt x="275075" y="74333"/>
                      <a:pt x="263415" y="71904"/>
                      <a:pt x="249811" y="69961"/>
                    </a:cubicBezTo>
                    <a:cubicBezTo>
                      <a:pt x="248354" y="69961"/>
                      <a:pt x="244953" y="69961"/>
                      <a:pt x="242524" y="67046"/>
                    </a:cubicBezTo>
                    <a:lnTo>
                      <a:pt x="240581" y="64616"/>
                    </a:lnTo>
                    <a:lnTo>
                      <a:pt x="240581" y="60244"/>
                    </a:lnTo>
                    <a:cubicBezTo>
                      <a:pt x="237180" y="56357"/>
                      <a:pt x="235722" y="52956"/>
                      <a:pt x="235722" y="49070"/>
                    </a:cubicBezTo>
                    <a:lnTo>
                      <a:pt x="235722" y="47126"/>
                    </a:lnTo>
                    <a:cubicBezTo>
                      <a:pt x="235722" y="42754"/>
                      <a:pt x="235722" y="38867"/>
                      <a:pt x="236208" y="34494"/>
                    </a:cubicBezTo>
                    <a:cubicBezTo>
                      <a:pt x="237180" y="28664"/>
                      <a:pt x="237666" y="23320"/>
                      <a:pt x="238637" y="17490"/>
                    </a:cubicBezTo>
                    <a:lnTo>
                      <a:pt x="238637" y="11660"/>
                    </a:lnTo>
                    <a:cubicBezTo>
                      <a:pt x="238637" y="11660"/>
                      <a:pt x="239123" y="7288"/>
                      <a:pt x="239123" y="7288"/>
                    </a:cubicBezTo>
                    <a:cubicBezTo>
                      <a:pt x="239123" y="3401"/>
                      <a:pt x="236208" y="486"/>
                      <a:pt x="233293" y="0"/>
                    </a:cubicBezTo>
                    <a:cubicBezTo>
                      <a:pt x="229892" y="0"/>
                      <a:pt x="226977" y="2429"/>
                      <a:pt x="226491" y="6316"/>
                    </a:cubicBezTo>
                    <a:cubicBezTo>
                      <a:pt x="226491" y="9231"/>
                      <a:pt x="226491" y="12632"/>
                      <a:pt x="226977" y="17490"/>
                    </a:cubicBezTo>
                    <a:cubicBezTo>
                      <a:pt x="228435" y="26721"/>
                      <a:pt x="229892" y="36438"/>
                      <a:pt x="229892" y="46640"/>
                    </a:cubicBezTo>
                    <a:cubicBezTo>
                      <a:pt x="229892" y="49070"/>
                      <a:pt x="229892" y="54414"/>
                      <a:pt x="225520" y="58786"/>
                    </a:cubicBezTo>
                    <a:cubicBezTo>
                      <a:pt x="225520" y="62187"/>
                      <a:pt x="224548" y="64616"/>
                      <a:pt x="223090" y="66560"/>
                    </a:cubicBezTo>
                    <a:cubicBezTo>
                      <a:pt x="221633" y="68503"/>
                      <a:pt x="219204" y="69475"/>
                      <a:pt x="215803" y="69961"/>
                    </a:cubicBezTo>
                    <a:lnTo>
                      <a:pt x="212402" y="69961"/>
                    </a:lnTo>
                    <a:cubicBezTo>
                      <a:pt x="174021" y="75305"/>
                      <a:pt x="140012" y="91337"/>
                      <a:pt x="112805" y="119030"/>
                    </a:cubicBezTo>
                    <a:cubicBezTo>
                      <a:pt x="111348" y="120488"/>
                      <a:pt x="108433" y="124374"/>
                      <a:pt x="103574" y="123403"/>
                    </a:cubicBezTo>
                    <a:cubicBezTo>
                      <a:pt x="101631" y="123403"/>
                      <a:pt x="99202" y="122431"/>
                      <a:pt x="97259" y="121459"/>
                    </a:cubicBezTo>
                    <a:cubicBezTo>
                      <a:pt x="90943" y="121945"/>
                      <a:pt x="86570" y="118544"/>
                      <a:pt x="84627" y="117573"/>
                    </a:cubicBezTo>
                    <a:cubicBezTo>
                      <a:pt x="77825" y="112228"/>
                      <a:pt x="71509" y="106398"/>
                      <a:pt x="64707" y="98625"/>
                    </a:cubicBezTo>
                    <a:cubicBezTo>
                      <a:pt x="61307" y="94738"/>
                      <a:pt x="58392" y="91823"/>
                      <a:pt x="54991" y="89394"/>
                    </a:cubicBezTo>
                    <a:cubicBezTo>
                      <a:pt x="51590" y="87451"/>
                      <a:pt x="47703" y="87937"/>
                      <a:pt x="45760" y="90366"/>
                    </a:cubicBezTo>
                    <a:cubicBezTo>
                      <a:pt x="43816" y="92795"/>
                      <a:pt x="44302" y="96682"/>
                      <a:pt x="47217" y="99597"/>
                    </a:cubicBezTo>
                    <a:cubicBezTo>
                      <a:pt x="50132" y="102512"/>
                      <a:pt x="53533" y="104455"/>
                      <a:pt x="57420" y="106398"/>
                    </a:cubicBezTo>
                    <a:cubicBezTo>
                      <a:pt x="65193" y="110771"/>
                      <a:pt x="72481" y="115143"/>
                      <a:pt x="78797" y="120488"/>
                    </a:cubicBezTo>
                    <a:cubicBezTo>
                      <a:pt x="81712" y="122917"/>
                      <a:pt x="86570" y="126804"/>
                      <a:pt x="87542" y="133605"/>
                    </a:cubicBezTo>
                    <a:cubicBezTo>
                      <a:pt x="89485" y="135063"/>
                      <a:pt x="90457" y="137006"/>
                      <a:pt x="90943" y="138949"/>
                    </a:cubicBezTo>
                    <a:cubicBezTo>
                      <a:pt x="91914" y="143322"/>
                      <a:pt x="89971" y="147209"/>
                      <a:pt x="88514" y="149152"/>
                    </a:cubicBezTo>
                    <a:cubicBezTo>
                      <a:pt x="67622" y="183161"/>
                      <a:pt x="59363" y="220084"/>
                      <a:pt x="64222" y="258951"/>
                    </a:cubicBezTo>
                    <a:cubicBezTo>
                      <a:pt x="65193" y="268182"/>
                      <a:pt x="59363" y="271097"/>
                      <a:pt x="56448" y="271583"/>
                    </a:cubicBezTo>
                    <a:cubicBezTo>
                      <a:pt x="53047" y="276927"/>
                      <a:pt x="47703" y="278385"/>
                      <a:pt x="43816" y="279356"/>
                    </a:cubicBezTo>
                    <a:cubicBezTo>
                      <a:pt x="34586" y="281300"/>
                      <a:pt x="24869" y="282272"/>
                      <a:pt x="15638" y="282757"/>
                    </a:cubicBezTo>
                    <a:cubicBezTo>
                      <a:pt x="11265" y="282757"/>
                      <a:pt x="7864" y="283729"/>
                      <a:pt x="4464" y="284701"/>
                    </a:cubicBezTo>
                    <a:cubicBezTo>
                      <a:pt x="1063" y="286158"/>
                      <a:pt x="-395" y="289559"/>
                      <a:pt x="91" y="291988"/>
                    </a:cubicBezTo>
                    <a:cubicBezTo>
                      <a:pt x="577" y="294903"/>
                      <a:pt x="3978" y="297818"/>
                      <a:pt x="7379" y="296847"/>
                    </a:cubicBezTo>
                    <a:cubicBezTo>
                      <a:pt x="11265" y="296847"/>
                      <a:pt x="15152" y="295389"/>
                      <a:pt x="19525" y="293446"/>
                    </a:cubicBezTo>
                    <a:cubicBezTo>
                      <a:pt x="28755" y="289559"/>
                      <a:pt x="37015" y="286644"/>
                      <a:pt x="44788" y="284701"/>
                    </a:cubicBezTo>
                    <a:cubicBezTo>
                      <a:pt x="48675" y="283729"/>
                      <a:pt x="53533" y="282272"/>
                      <a:pt x="58392" y="285187"/>
                    </a:cubicBezTo>
                    <a:cubicBezTo>
                      <a:pt x="59849" y="286158"/>
                      <a:pt x="60335" y="286158"/>
                      <a:pt x="60335" y="286158"/>
                    </a:cubicBezTo>
                    <a:lnTo>
                      <a:pt x="63250" y="285187"/>
                    </a:lnTo>
                    <a:lnTo>
                      <a:pt x="67622" y="286644"/>
                    </a:lnTo>
                    <a:cubicBezTo>
                      <a:pt x="71023" y="288587"/>
                      <a:pt x="71995" y="291502"/>
                      <a:pt x="72481" y="292960"/>
                    </a:cubicBezTo>
                    <a:cubicBezTo>
                      <a:pt x="86084" y="331341"/>
                      <a:pt x="109890" y="361463"/>
                      <a:pt x="144385" y="382840"/>
                    </a:cubicBezTo>
                    <a:cubicBezTo>
                      <a:pt x="150701" y="386727"/>
                      <a:pt x="150701" y="392557"/>
                      <a:pt x="148271" y="396929"/>
                    </a:cubicBezTo>
                    <a:cubicBezTo>
                      <a:pt x="150701" y="403245"/>
                      <a:pt x="148271" y="408589"/>
                      <a:pt x="146814" y="410533"/>
                    </a:cubicBezTo>
                    <a:cubicBezTo>
                      <a:pt x="142927" y="418306"/>
                      <a:pt x="138555" y="426079"/>
                      <a:pt x="131753" y="435310"/>
                    </a:cubicBezTo>
                    <a:cubicBezTo>
                      <a:pt x="128838" y="439197"/>
                      <a:pt x="127380" y="442112"/>
                      <a:pt x="126409" y="445027"/>
                    </a:cubicBezTo>
                    <a:cubicBezTo>
                      <a:pt x="124951" y="448914"/>
                      <a:pt x="126409" y="452800"/>
                      <a:pt x="129324" y="454258"/>
                    </a:cubicBezTo>
                    <a:cubicBezTo>
                      <a:pt x="132239" y="455715"/>
                      <a:pt x="136126" y="454258"/>
                      <a:pt x="138069" y="450371"/>
                    </a:cubicBezTo>
                    <a:cubicBezTo>
                      <a:pt x="139526" y="447942"/>
                      <a:pt x="140984" y="444541"/>
                      <a:pt x="141956" y="440654"/>
                    </a:cubicBezTo>
                    <a:cubicBezTo>
                      <a:pt x="144871" y="430938"/>
                      <a:pt x="147786" y="422193"/>
                      <a:pt x="151672" y="414419"/>
                    </a:cubicBezTo>
                    <a:cubicBezTo>
                      <a:pt x="152644" y="411990"/>
                      <a:pt x="155559" y="406160"/>
                      <a:pt x="162361" y="403731"/>
                    </a:cubicBezTo>
                    <a:cubicBezTo>
                      <a:pt x="163818" y="400330"/>
                      <a:pt x="168191" y="395472"/>
                      <a:pt x="176936" y="398387"/>
                    </a:cubicBezTo>
                    <a:cubicBezTo>
                      <a:pt x="213860" y="411504"/>
                      <a:pt x="251269" y="411504"/>
                      <a:pt x="289164" y="398872"/>
                    </a:cubicBezTo>
                    <a:cubicBezTo>
                      <a:pt x="292079" y="397901"/>
                      <a:pt x="295966" y="396443"/>
                      <a:pt x="300339" y="398872"/>
                    </a:cubicBezTo>
                    <a:cubicBezTo>
                      <a:pt x="302282" y="399844"/>
                      <a:pt x="303739" y="401302"/>
                      <a:pt x="304711" y="403731"/>
                    </a:cubicBezTo>
                    <a:cubicBezTo>
                      <a:pt x="309084" y="405188"/>
                      <a:pt x="311999" y="408103"/>
                      <a:pt x="314428" y="412962"/>
                    </a:cubicBezTo>
                    <a:cubicBezTo>
                      <a:pt x="319286" y="422678"/>
                      <a:pt x="322201" y="432881"/>
                      <a:pt x="324630" y="441140"/>
                    </a:cubicBezTo>
                    <a:cubicBezTo>
                      <a:pt x="326088" y="445999"/>
                      <a:pt x="327545" y="449400"/>
                      <a:pt x="329975" y="451829"/>
                    </a:cubicBezTo>
                    <a:cubicBezTo>
                      <a:pt x="332404" y="454258"/>
                      <a:pt x="335319" y="454744"/>
                      <a:pt x="337748" y="453286"/>
                    </a:cubicBezTo>
                    <a:cubicBezTo>
                      <a:pt x="340177" y="451829"/>
                      <a:pt x="341149" y="448428"/>
                      <a:pt x="340177" y="445513"/>
                    </a:cubicBezTo>
                    <a:cubicBezTo>
                      <a:pt x="339206" y="441626"/>
                      <a:pt x="336776" y="438225"/>
                      <a:pt x="334347" y="434824"/>
                    </a:cubicBezTo>
                    <a:cubicBezTo>
                      <a:pt x="329003" y="427051"/>
                      <a:pt x="324145" y="419763"/>
                      <a:pt x="320258" y="412476"/>
                    </a:cubicBezTo>
                    <a:cubicBezTo>
                      <a:pt x="318800" y="409561"/>
                      <a:pt x="315400" y="403731"/>
                      <a:pt x="317829" y="396443"/>
                    </a:cubicBezTo>
                    <a:cubicBezTo>
                      <a:pt x="315885" y="392071"/>
                      <a:pt x="316371" y="386727"/>
                      <a:pt x="322687" y="382840"/>
                    </a:cubicBezTo>
                    <a:cubicBezTo>
                      <a:pt x="339691" y="372637"/>
                      <a:pt x="354752" y="359034"/>
                      <a:pt x="367384" y="343001"/>
                    </a:cubicBezTo>
                    <a:cubicBezTo>
                      <a:pt x="379044" y="327940"/>
                      <a:pt x="388275" y="311422"/>
                      <a:pt x="394105" y="293446"/>
                    </a:cubicBezTo>
                    <a:cubicBezTo>
                      <a:pt x="396534" y="285672"/>
                      <a:pt x="402850" y="284215"/>
                      <a:pt x="407709" y="285672"/>
                    </a:cubicBezTo>
                    <a:cubicBezTo>
                      <a:pt x="409652" y="283243"/>
                      <a:pt x="414510" y="282272"/>
                      <a:pt x="419369" y="283243"/>
                    </a:cubicBezTo>
                    <a:cubicBezTo>
                      <a:pt x="425199" y="284701"/>
                      <a:pt x="431029" y="286158"/>
                      <a:pt x="436373" y="288102"/>
                    </a:cubicBezTo>
                    <a:cubicBezTo>
                      <a:pt x="440260" y="289559"/>
                      <a:pt x="442689" y="290531"/>
                      <a:pt x="445118" y="291502"/>
                    </a:cubicBezTo>
                    <a:cubicBezTo>
                      <a:pt x="449491" y="293446"/>
                      <a:pt x="453377" y="294903"/>
                      <a:pt x="457750" y="295389"/>
                    </a:cubicBezTo>
                    <a:cubicBezTo>
                      <a:pt x="462122" y="296361"/>
                      <a:pt x="464066" y="294417"/>
                      <a:pt x="465523" y="292474"/>
                    </a:cubicBezTo>
                    <a:cubicBezTo>
                      <a:pt x="466981" y="290531"/>
                      <a:pt x="466981" y="289073"/>
                      <a:pt x="466009" y="287130"/>
                    </a:cubicBezTo>
                    <a:cubicBezTo>
                      <a:pt x="464552" y="284215"/>
                      <a:pt x="462608" y="282757"/>
                      <a:pt x="459207" y="282272"/>
                    </a:cubicBezTo>
                    <a:cubicBezTo>
                      <a:pt x="454349" y="281786"/>
                      <a:pt x="449491" y="281300"/>
                      <a:pt x="444632" y="280814"/>
                    </a:cubicBezTo>
                    <a:close/>
                    <a:moveTo>
                      <a:pt x="246411" y="95710"/>
                    </a:moveTo>
                    <a:cubicBezTo>
                      <a:pt x="249811" y="92795"/>
                      <a:pt x="254184" y="93281"/>
                      <a:pt x="259042" y="94252"/>
                    </a:cubicBezTo>
                    <a:lnTo>
                      <a:pt x="259042" y="94252"/>
                    </a:lnTo>
                    <a:cubicBezTo>
                      <a:pt x="286249" y="99111"/>
                      <a:pt x="311513" y="111743"/>
                      <a:pt x="332890" y="131176"/>
                    </a:cubicBezTo>
                    <a:cubicBezTo>
                      <a:pt x="334347" y="132634"/>
                      <a:pt x="337748" y="135549"/>
                      <a:pt x="337262" y="139921"/>
                    </a:cubicBezTo>
                    <a:cubicBezTo>
                      <a:pt x="337262" y="144294"/>
                      <a:pt x="333376" y="147209"/>
                      <a:pt x="331918" y="148180"/>
                    </a:cubicBezTo>
                    <a:cubicBezTo>
                      <a:pt x="313942" y="160812"/>
                      <a:pt x="296452" y="173444"/>
                      <a:pt x="278476" y="186076"/>
                    </a:cubicBezTo>
                    <a:cubicBezTo>
                      <a:pt x="274103" y="188991"/>
                      <a:pt x="269731" y="190448"/>
                      <a:pt x="265358" y="190448"/>
                    </a:cubicBezTo>
                    <a:cubicBezTo>
                      <a:pt x="262443" y="190448"/>
                      <a:pt x="260014" y="189962"/>
                      <a:pt x="257099" y="188505"/>
                    </a:cubicBezTo>
                    <a:cubicBezTo>
                      <a:pt x="250297" y="185590"/>
                      <a:pt x="246411" y="179274"/>
                      <a:pt x="245925" y="170529"/>
                    </a:cubicBezTo>
                    <a:lnTo>
                      <a:pt x="242524" y="108828"/>
                    </a:lnTo>
                    <a:cubicBezTo>
                      <a:pt x="242524" y="102998"/>
                      <a:pt x="242524" y="98625"/>
                      <a:pt x="245925" y="95710"/>
                    </a:cubicBezTo>
                    <a:close/>
                    <a:moveTo>
                      <a:pt x="249326" y="207938"/>
                    </a:moveTo>
                    <a:lnTo>
                      <a:pt x="269245" y="233202"/>
                    </a:lnTo>
                    <a:lnTo>
                      <a:pt x="262443" y="264781"/>
                    </a:lnTo>
                    <a:lnTo>
                      <a:pt x="233293" y="278871"/>
                    </a:lnTo>
                    <a:lnTo>
                      <a:pt x="204143" y="264781"/>
                    </a:lnTo>
                    <a:lnTo>
                      <a:pt x="196855" y="233202"/>
                    </a:lnTo>
                    <a:lnTo>
                      <a:pt x="216775" y="207938"/>
                    </a:lnTo>
                    <a:lnTo>
                      <a:pt x="249326" y="207938"/>
                    </a:lnTo>
                    <a:close/>
                    <a:moveTo>
                      <a:pt x="130781" y="132148"/>
                    </a:moveTo>
                    <a:lnTo>
                      <a:pt x="136126" y="137492"/>
                    </a:lnTo>
                    <a:lnTo>
                      <a:pt x="131267" y="132148"/>
                    </a:lnTo>
                    <a:cubicBezTo>
                      <a:pt x="152158" y="112714"/>
                      <a:pt x="176936" y="100568"/>
                      <a:pt x="204629" y="95224"/>
                    </a:cubicBezTo>
                    <a:cubicBezTo>
                      <a:pt x="206572" y="95224"/>
                      <a:pt x="208029" y="94738"/>
                      <a:pt x="209001" y="94252"/>
                    </a:cubicBezTo>
                    <a:cubicBezTo>
                      <a:pt x="212888" y="93767"/>
                      <a:pt x="216289" y="93281"/>
                      <a:pt x="219690" y="96196"/>
                    </a:cubicBezTo>
                    <a:cubicBezTo>
                      <a:pt x="223090" y="99111"/>
                      <a:pt x="222605" y="102998"/>
                      <a:pt x="222605" y="106398"/>
                    </a:cubicBezTo>
                    <a:lnTo>
                      <a:pt x="221633" y="124374"/>
                    </a:lnTo>
                    <a:cubicBezTo>
                      <a:pt x="220661" y="140407"/>
                      <a:pt x="219690" y="156925"/>
                      <a:pt x="218718" y="172958"/>
                    </a:cubicBezTo>
                    <a:cubicBezTo>
                      <a:pt x="218718" y="180246"/>
                      <a:pt x="214345" y="186076"/>
                      <a:pt x="208029" y="188991"/>
                    </a:cubicBezTo>
                    <a:cubicBezTo>
                      <a:pt x="205600" y="190448"/>
                      <a:pt x="202685" y="190934"/>
                      <a:pt x="199770" y="190934"/>
                    </a:cubicBezTo>
                    <a:cubicBezTo>
                      <a:pt x="195884" y="190934"/>
                      <a:pt x="191997" y="189477"/>
                      <a:pt x="188596" y="187533"/>
                    </a:cubicBezTo>
                    <a:cubicBezTo>
                      <a:pt x="179365" y="180731"/>
                      <a:pt x="169648" y="174416"/>
                      <a:pt x="160417" y="167614"/>
                    </a:cubicBezTo>
                    <a:cubicBezTo>
                      <a:pt x="151187" y="160812"/>
                      <a:pt x="141470" y="154496"/>
                      <a:pt x="132239" y="147695"/>
                    </a:cubicBezTo>
                    <a:cubicBezTo>
                      <a:pt x="129324" y="145751"/>
                      <a:pt x="127866" y="143322"/>
                      <a:pt x="127380" y="140407"/>
                    </a:cubicBezTo>
                    <a:cubicBezTo>
                      <a:pt x="127380" y="136034"/>
                      <a:pt x="129810" y="133605"/>
                      <a:pt x="131267" y="132634"/>
                    </a:cubicBezTo>
                    <a:close/>
                    <a:moveTo>
                      <a:pt x="85113" y="256522"/>
                    </a:moveTo>
                    <a:cubicBezTo>
                      <a:pt x="83169" y="246805"/>
                      <a:pt x="83655" y="237574"/>
                      <a:pt x="84141" y="229801"/>
                    </a:cubicBezTo>
                    <a:cubicBezTo>
                      <a:pt x="85598" y="206967"/>
                      <a:pt x="92400" y="185590"/>
                      <a:pt x="103574" y="166156"/>
                    </a:cubicBezTo>
                    <a:cubicBezTo>
                      <a:pt x="104546" y="164699"/>
                      <a:pt x="106489" y="160812"/>
                      <a:pt x="110862" y="160326"/>
                    </a:cubicBezTo>
                    <a:cubicBezTo>
                      <a:pt x="115235" y="159841"/>
                      <a:pt x="118150" y="162270"/>
                      <a:pt x="119607" y="163241"/>
                    </a:cubicBezTo>
                    <a:cubicBezTo>
                      <a:pt x="136126" y="178302"/>
                      <a:pt x="152644" y="192877"/>
                      <a:pt x="169162" y="207453"/>
                    </a:cubicBezTo>
                    <a:cubicBezTo>
                      <a:pt x="175964" y="213283"/>
                      <a:pt x="178393" y="220084"/>
                      <a:pt x="176450" y="227858"/>
                    </a:cubicBezTo>
                    <a:cubicBezTo>
                      <a:pt x="174021" y="239032"/>
                      <a:pt x="164304" y="241461"/>
                      <a:pt x="160903" y="242433"/>
                    </a:cubicBezTo>
                    <a:cubicBezTo>
                      <a:pt x="144871" y="246805"/>
                      <a:pt x="128838" y="251664"/>
                      <a:pt x="112320" y="256522"/>
                    </a:cubicBezTo>
                    <a:lnTo>
                      <a:pt x="86570" y="263810"/>
                    </a:lnTo>
                    <a:lnTo>
                      <a:pt x="85113" y="256036"/>
                    </a:lnTo>
                    <a:close/>
                    <a:moveTo>
                      <a:pt x="164790" y="358062"/>
                    </a:moveTo>
                    <a:cubicBezTo>
                      <a:pt x="164790" y="358062"/>
                      <a:pt x="162361" y="363892"/>
                      <a:pt x="157988" y="365350"/>
                    </a:cubicBezTo>
                    <a:cubicBezTo>
                      <a:pt x="157017" y="365350"/>
                      <a:pt x="156045" y="365350"/>
                      <a:pt x="155559" y="365350"/>
                    </a:cubicBezTo>
                    <a:cubicBezTo>
                      <a:pt x="152158" y="365350"/>
                      <a:pt x="149729" y="363406"/>
                      <a:pt x="148271" y="362435"/>
                    </a:cubicBezTo>
                    <a:cubicBezTo>
                      <a:pt x="123980" y="345430"/>
                      <a:pt x="105518" y="322596"/>
                      <a:pt x="94344" y="294903"/>
                    </a:cubicBezTo>
                    <a:cubicBezTo>
                      <a:pt x="93372" y="292960"/>
                      <a:pt x="91914" y="289073"/>
                      <a:pt x="94344" y="285672"/>
                    </a:cubicBezTo>
                    <a:cubicBezTo>
                      <a:pt x="95801" y="283243"/>
                      <a:pt x="98230" y="281300"/>
                      <a:pt x="102117" y="280814"/>
                    </a:cubicBezTo>
                    <a:cubicBezTo>
                      <a:pt x="119121" y="277899"/>
                      <a:pt x="136611" y="274984"/>
                      <a:pt x="153616" y="272069"/>
                    </a:cubicBezTo>
                    <a:lnTo>
                      <a:pt x="172563" y="269154"/>
                    </a:lnTo>
                    <a:cubicBezTo>
                      <a:pt x="178393" y="268668"/>
                      <a:pt x="183738" y="271583"/>
                      <a:pt x="187624" y="275956"/>
                    </a:cubicBezTo>
                    <a:cubicBezTo>
                      <a:pt x="191511" y="280328"/>
                      <a:pt x="192969" y="286158"/>
                      <a:pt x="191997" y="291988"/>
                    </a:cubicBezTo>
                    <a:lnTo>
                      <a:pt x="191997" y="291988"/>
                    </a:lnTo>
                    <a:cubicBezTo>
                      <a:pt x="191997" y="291988"/>
                      <a:pt x="190539" y="296361"/>
                      <a:pt x="190053" y="298790"/>
                    </a:cubicBezTo>
                    <a:lnTo>
                      <a:pt x="182766" y="316766"/>
                    </a:lnTo>
                    <a:cubicBezTo>
                      <a:pt x="176936" y="330369"/>
                      <a:pt x="171592" y="343973"/>
                      <a:pt x="165762" y="358062"/>
                    </a:cubicBezTo>
                    <a:close/>
                    <a:moveTo>
                      <a:pt x="283820" y="377010"/>
                    </a:moveTo>
                    <a:cubicBezTo>
                      <a:pt x="281877" y="381382"/>
                      <a:pt x="277504" y="382840"/>
                      <a:pt x="276047" y="383326"/>
                    </a:cubicBezTo>
                    <a:cubicBezTo>
                      <a:pt x="261472" y="387212"/>
                      <a:pt x="247382" y="389642"/>
                      <a:pt x="232807" y="389642"/>
                    </a:cubicBezTo>
                    <a:cubicBezTo>
                      <a:pt x="217746" y="389642"/>
                      <a:pt x="203171" y="387212"/>
                      <a:pt x="188596" y="382840"/>
                    </a:cubicBezTo>
                    <a:cubicBezTo>
                      <a:pt x="187138" y="382840"/>
                      <a:pt x="183252" y="381382"/>
                      <a:pt x="181308" y="377010"/>
                    </a:cubicBezTo>
                    <a:cubicBezTo>
                      <a:pt x="179851" y="373123"/>
                      <a:pt x="181308" y="369236"/>
                      <a:pt x="182280" y="367779"/>
                    </a:cubicBezTo>
                    <a:cubicBezTo>
                      <a:pt x="189082" y="355633"/>
                      <a:pt x="195398" y="343973"/>
                      <a:pt x="202199" y="331827"/>
                    </a:cubicBezTo>
                    <a:lnTo>
                      <a:pt x="214831" y="308993"/>
                    </a:lnTo>
                    <a:cubicBezTo>
                      <a:pt x="218718" y="302191"/>
                      <a:pt x="225034" y="298304"/>
                      <a:pt x="231836" y="298304"/>
                    </a:cubicBezTo>
                    <a:lnTo>
                      <a:pt x="231836" y="298304"/>
                    </a:lnTo>
                    <a:cubicBezTo>
                      <a:pt x="238637" y="298304"/>
                      <a:pt x="244953" y="302191"/>
                      <a:pt x="248840" y="308993"/>
                    </a:cubicBezTo>
                    <a:cubicBezTo>
                      <a:pt x="254670" y="318709"/>
                      <a:pt x="260014" y="328912"/>
                      <a:pt x="265358" y="338629"/>
                    </a:cubicBezTo>
                    <a:lnTo>
                      <a:pt x="274589" y="355633"/>
                    </a:lnTo>
                    <a:cubicBezTo>
                      <a:pt x="276533" y="359520"/>
                      <a:pt x="278962" y="363406"/>
                      <a:pt x="280905" y="367293"/>
                    </a:cubicBezTo>
                    <a:cubicBezTo>
                      <a:pt x="281877" y="368751"/>
                      <a:pt x="284306" y="372637"/>
                      <a:pt x="282363" y="377010"/>
                    </a:cubicBezTo>
                    <a:close/>
                    <a:moveTo>
                      <a:pt x="371757" y="294417"/>
                    </a:moveTo>
                    <a:cubicBezTo>
                      <a:pt x="360582" y="323082"/>
                      <a:pt x="341635" y="346402"/>
                      <a:pt x="316857" y="363892"/>
                    </a:cubicBezTo>
                    <a:cubicBezTo>
                      <a:pt x="315885" y="364378"/>
                      <a:pt x="313456" y="366321"/>
                      <a:pt x="310541" y="366321"/>
                    </a:cubicBezTo>
                    <a:cubicBezTo>
                      <a:pt x="309569" y="366321"/>
                      <a:pt x="309084" y="366321"/>
                      <a:pt x="308112" y="366321"/>
                    </a:cubicBezTo>
                    <a:cubicBezTo>
                      <a:pt x="303739" y="364864"/>
                      <a:pt x="302282" y="360977"/>
                      <a:pt x="301796" y="360005"/>
                    </a:cubicBezTo>
                    <a:cubicBezTo>
                      <a:pt x="294994" y="343487"/>
                      <a:pt x="288193" y="326969"/>
                      <a:pt x="281391" y="310450"/>
                    </a:cubicBezTo>
                    <a:lnTo>
                      <a:pt x="275561" y="296361"/>
                    </a:lnTo>
                    <a:cubicBezTo>
                      <a:pt x="275561" y="296361"/>
                      <a:pt x="273618" y="291017"/>
                      <a:pt x="274103" y="287616"/>
                    </a:cubicBezTo>
                    <a:cubicBezTo>
                      <a:pt x="274103" y="282757"/>
                      <a:pt x="276533" y="277413"/>
                      <a:pt x="280905" y="273526"/>
                    </a:cubicBezTo>
                    <a:cubicBezTo>
                      <a:pt x="285278" y="270126"/>
                      <a:pt x="290622" y="268668"/>
                      <a:pt x="296452" y="269640"/>
                    </a:cubicBezTo>
                    <a:lnTo>
                      <a:pt x="363983" y="281300"/>
                    </a:lnTo>
                    <a:cubicBezTo>
                      <a:pt x="363983" y="281300"/>
                      <a:pt x="369328" y="282272"/>
                      <a:pt x="371757" y="286158"/>
                    </a:cubicBezTo>
                    <a:cubicBezTo>
                      <a:pt x="373214" y="288587"/>
                      <a:pt x="373214" y="291502"/>
                      <a:pt x="371757" y="294903"/>
                    </a:cubicBezTo>
                    <a:lnTo>
                      <a:pt x="371757" y="294903"/>
                    </a:lnTo>
                    <a:close/>
                    <a:moveTo>
                      <a:pt x="380988" y="253121"/>
                    </a:moveTo>
                    <a:cubicBezTo>
                      <a:pt x="380988" y="256522"/>
                      <a:pt x="379530" y="258951"/>
                      <a:pt x="377101" y="260409"/>
                    </a:cubicBezTo>
                    <a:cubicBezTo>
                      <a:pt x="375643" y="261380"/>
                      <a:pt x="373700" y="261866"/>
                      <a:pt x="372242" y="261866"/>
                    </a:cubicBezTo>
                    <a:cubicBezTo>
                      <a:pt x="370785" y="261866"/>
                      <a:pt x="369328" y="261866"/>
                      <a:pt x="368842" y="261380"/>
                    </a:cubicBezTo>
                    <a:lnTo>
                      <a:pt x="347465" y="255065"/>
                    </a:lnTo>
                    <a:cubicBezTo>
                      <a:pt x="332404" y="250692"/>
                      <a:pt x="317829" y="246320"/>
                      <a:pt x="302768" y="241947"/>
                    </a:cubicBezTo>
                    <a:cubicBezTo>
                      <a:pt x="295480" y="240004"/>
                      <a:pt x="290136" y="234659"/>
                      <a:pt x="288678" y="227858"/>
                    </a:cubicBezTo>
                    <a:cubicBezTo>
                      <a:pt x="287221" y="221056"/>
                      <a:pt x="289650" y="213768"/>
                      <a:pt x="295480" y="208910"/>
                    </a:cubicBezTo>
                    <a:lnTo>
                      <a:pt x="346007" y="163727"/>
                    </a:lnTo>
                    <a:cubicBezTo>
                      <a:pt x="346007" y="163727"/>
                      <a:pt x="350380" y="159841"/>
                      <a:pt x="354752" y="160812"/>
                    </a:cubicBezTo>
                    <a:cubicBezTo>
                      <a:pt x="359125" y="161298"/>
                      <a:pt x="361068" y="165185"/>
                      <a:pt x="362040" y="166642"/>
                    </a:cubicBezTo>
                    <a:cubicBezTo>
                      <a:pt x="373214" y="186076"/>
                      <a:pt x="380016" y="206967"/>
                      <a:pt x="381473" y="228829"/>
                    </a:cubicBezTo>
                    <a:cubicBezTo>
                      <a:pt x="381473" y="234174"/>
                      <a:pt x="382445" y="238060"/>
                      <a:pt x="381959" y="241947"/>
                    </a:cubicBezTo>
                    <a:cubicBezTo>
                      <a:pt x="381959" y="246320"/>
                      <a:pt x="381959" y="249720"/>
                      <a:pt x="381473" y="2536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9" name="Google Shape;3239;p84"/>
              <p:cNvSpPr/>
              <p:nvPr/>
            </p:nvSpPr>
            <p:spPr>
              <a:xfrm>
                <a:off x="624431" y="1107698"/>
                <a:ext cx="682601" cy="664625"/>
              </a:xfrm>
              <a:custGeom>
                <a:avLst/>
                <a:gdLst/>
                <a:ahLst/>
                <a:cxnLst/>
                <a:rect l="l" t="t" r="r" b="b"/>
                <a:pathLst>
                  <a:path w="682601" h="664625" extrusionOk="0">
                    <a:moveTo>
                      <a:pt x="614584" y="131662"/>
                    </a:moveTo>
                    <a:lnTo>
                      <a:pt x="341058" y="0"/>
                    </a:lnTo>
                    <a:lnTo>
                      <a:pt x="67531" y="131662"/>
                    </a:lnTo>
                    <a:lnTo>
                      <a:pt x="0" y="427537"/>
                    </a:lnTo>
                    <a:lnTo>
                      <a:pt x="189477" y="664626"/>
                    </a:lnTo>
                    <a:lnTo>
                      <a:pt x="493125" y="664626"/>
                    </a:lnTo>
                    <a:lnTo>
                      <a:pt x="682601" y="427537"/>
                    </a:lnTo>
                    <a:lnTo>
                      <a:pt x="615070" y="131662"/>
                    </a:lnTo>
                    <a:close/>
                    <a:moveTo>
                      <a:pt x="584462" y="407618"/>
                    </a:moveTo>
                    <a:cubicBezTo>
                      <a:pt x="579118" y="413933"/>
                      <a:pt x="571831" y="416848"/>
                      <a:pt x="563085" y="415877"/>
                    </a:cubicBezTo>
                    <a:cubicBezTo>
                      <a:pt x="557255" y="414905"/>
                      <a:pt x="551911" y="412962"/>
                      <a:pt x="547053" y="411018"/>
                    </a:cubicBezTo>
                    <a:cubicBezTo>
                      <a:pt x="544624" y="410047"/>
                      <a:pt x="542680" y="409075"/>
                      <a:pt x="540251" y="408103"/>
                    </a:cubicBezTo>
                    <a:cubicBezTo>
                      <a:pt x="533935" y="406160"/>
                      <a:pt x="529077" y="404217"/>
                      <a:pt x="523733" y="403245"/>
                    </a:cubicBezTo>
                    <a:cubicBezTo>
                      <a:pt x="519846" y="405188"/>
                      <a:pt x="516931" y="405674"/>
                      <a:pt x="514988" y="405674"/>
                    </a:cubicBezTo>
                    <a:cubicBezTo>
                      <a:pt x="508186" y="424136"/>
                      <a:pt x="498955" y="441626"/>
                      <a:pt x="486809" y="457173"/>
                    </a:cubicBezTo>
                    <a:cubicBezTo>
                      <a:pt x="473691" y="474177"/>
                      <a:pt x="458145" y="488267"/>
                      <a:pt x="440654" y="498955"/>
                    </a:cubicBezTo>
                    <a:cubicBezTo>
                      <a:pt x="441140" y="501870"/>
                      <a:pt x="440654" y="504299"/>
                      <a:pt x="440169" y="505757"/>
                    </a:cubicBezTo>
                    <a:cubicBezTo>
                      <a:pt x="440169" y="506728"/>
                      <a:pt x="439683" y="507700"/>
                      <a:pt x="441626" y="511101"/>
                    </a:cubicBezTo>
                    <a:cubicBezTo>
                      <a:pt x="445027" y="517903"/>
                      <a:pt x="449400" y="524704"/>
                      <a:pt x="454258" y="531992"/>
                    </a:cubicBezTo>
                    <a:cubicBezTo>
                      <a:pt x="457173" y="536364"/>
                      <a:pt x="460574" y="541223"/>
                      <a:pt x="462031" y="547539"/>
                    </a:cubicBezTo>
                    <a:cubicBezTo>
                      <a:pt x="464461" y="557255"/>
                      <a:pt x="460574" y="566972"/>
                      <a:pt x="452315" y="571831"/>
                    </a:cubicBezTo>
                    <a:cubicBezTo>
                      <a:pt x="444055" y="576689"/>
                      <a:pt x="433853" y="574746"/>
                      <a:pt x="426565" y="567458"/>
                    </a:cubicBezTo>
                    <a:cubicBezTo>
                      <a:pt x="421707" y="562114"/>
                      <a:pt x="419763" y="556284"/>
                      <a:pt x="417820" y="550454"/>
                    </a:cubicBezTo>
                    <a:cubicBezTo>
                      <a:pt x="415391" y="542680"/>
                      <a:pt x="412476" y="532964"/>
                      <a:pt x="408103" y="524218"/>
                    </a:cubicBezTo>
                    <a:cubicBezTo>
                      <a:pt x="407132" y="522275"/>
                      <a:pt x="406646" y="522275"/>
                      <a:pt x="406160" y="522275"/>
                    </a:cubicBezTo>
                    <a:cubicBezTo>
                      <a:pt x="402759" y="521303"/>
                      <a:pt x="400816" y="519846"/>
                      <a:pt x="399844" y="518388"/>
                    </a:cubicBezTo>
                    <a:cubicBezTo>
                      <a:pt x="360005" y="531506"/>
                      <a:pt x="320167" y="531506"/>
                      <a:pt x="280814" y="518388"/>
                    </a:cubicBezTo>
                    <a:cubicBezTo>
                      <a:pt x="278871" y="521303"/>
                      <a:pt x="275956" y="522275"/>
                      <a:pt x="274498" y="522761"/>
                    </a:cubicBezTo>
                    <a:cubicBezTo>
                      <a:pt x="274012" y="522761"/>
                      <a:pt x="273526" y="522761"/>
                      <a:pt x="272069" y="526162"/>
                    </a:cubicBezTo>
                    <a:cubicBezTo>
                      <a:pt x="268668" y="533449"/>
                      <a:pt x="265753" y="541709"/>
                      <a:pt x="263324" y="550454"/>
                    </a:cubicBezTo>
                    <a:cubicBezTo>
                      <a:pt x="261866" y="555312"/>
                      <a:pt x="259923" y="559685"/>
                      <a:pt x="257980" y="563571"/>
                    </a:cubicBezTo>
                    <a:cubicBezTo>
                      <a:pt x="253607" y="570859"/>
                      <a:pt x="246320" y="574746"/>
                      <a:pt x="239032" y="574746"/>
                    </a:cubicBezTo>
                    <a:cubicBezTo>
                      <a:pt x="236117" y="574746"/>
                      <a:pt x="233202" y="574260"/>
                      <a:pt x="230287" y="572802"/>
                    </a:cubicBezTo>
                    <a:cubicBezTo>
                      <a:pt x="220570" y="567944"/>
                      <a:pt x="216198" y="556284"/>
                      <a:pt x="220084" y="545595"/>
                    </a:cubicBezTo>
                    <a:cubicBezTo>
                      <a:pt x="222028" y="540251"/>
                      <a:pt x="224943" y="535879"/>
                      <a:pt x="227372" y="532478"/>
                    </a:cubicBezTo>
                    <a:cubicBezTo>
                      <a:pt x="233202" y="524218"/>
                      <a:pt x="237574" y="516931"/>
                      <a:pt x="240975" y="510129"/>
                    </a:cubicBezTo>
                    <a:cubicBezTo>
                      <a:pt x="241947" y="508186"/>
                      <a:pt x="241947" y="507700"/>
                      <a:pt x="241461" y="507214"/>
                    </a:cubicBezTo>
                    <a:cubicBezTo>
                      <a:pt x="240004" y="504299"/>
                      <a:pt x="240004" y="501384"/>
                      <a:pt x="240975" y="498955"/>
                    </a:cubicBezTo>
                    <a:cubicBezTo>
                      <a:pt x="205995" y="476121"/>
                      <a:pt x="181217" y="445027"/>
                      <a:pt x="166642" y="406160"/>
                    </a:cubicBezTo>
                    <a:cubicBezTo>
                      <a:pt x="163241" y="406160"/>
                      <a:pt x="160326" y="404703"/>
                      <a:pt x="157897" y="403245"/>
                    </a:cubicBezTo>
                    <a:cubicBezTo>
                      <a:pt x="157897" y="403245"/>
                      <a:pt x="156440" y="403245"/>
                      <a:pt x="155468" y="403731"/>
                    </a:cubicBezTo>
                    <a:cubicBezTo>
                      <a:pt x="147209" y="405674"/>
                      <a:pt x="139921" y="408103"/>
                      <a:pt x="131176" y="411990"/>
                    </a:cubicBezTo>
                    <a:cubicBezTo>
                      <a:pt x="125832" y="414419"/>
                      <a:pt x="120002" y="416363"/>
                      <a:pt x="113200" y="416363"/>
                    </a:cubicBezTo>
                    <a:cubicBezTo>
                      <a:pt x="102512" y="416363"/>
                      <a:pt x="93767" y="409561"/>
                      <a:pt x="91823" y="399844"/>
                    </a:cubicBezTo>
                    <a:cubicBezTo>
                      <a:pt x="89880" y="390127"/>
                      <a:pt x="95710" y="379925"/>
                      <a:pt x="104941" y="376038"/>
                    </a:cubicBezTo>
                    <a:cubicBezTo>
                      <a:pt x="109799" y="374095"/>
                      <a:pt x="114658" y="373123"/>
                      <a:pt x="120974" y="372637"/>
                    </a:cubicBezTo>
                    <a:cubicBezTo>
                      <a:pt x="129719" y="372637"/>
                      <a:pt x="138464" y="371180"/>
                      <a:pt x="146723" y="369236"/>
                    </a:cubicBezTo>
                    <a:cubicBezTo>
                      <a:pt x="149638" y="368751"/>
                      <a:pt x="150124" y="368265"/>
                      <a:pt x="150124" y="367779"/>
                    </a:cubicBezTo>
                    <a:cubicBezTo>
                      <a:pt x="151095" y="365836"/>
                      <a:pt x="152553" y="363892"/>
                      <a:pt x="155468" y="362435"/>
                    </a:cubicBezTo>
                    <a:cubicBezTo>
                      <a:pt x="151095" y="321138"/>
                      <a:pt x="159840" y="282271"/>
                      <a:pt x="181703" y="246320"/>
                    </a:cubicBezTo>
                    <a:cubicBezTo>
                      <a:pt x="180246" y="244376"/>
                      <a:pt x="179274" y="241947"/>
                      <a:pt x="179274" y="239518"/>
                    </a:cubicBezTo>
                    <a:cubicBezTo>
                      <a:pt x="179274" y="238546"/>
                      <a:pt x="179274" y="238060"/>
                      <a:pt x="175873" y="235631"/>
                    </a:cubicBezTo>
                    <a:cubicBezTo>
                      <a:pt x="170043" y="231259"/>
                      <a:pt x="163241" y="226886"/>
                      <a:pt x="155954" y="222999"/>
                    </a:cubicBezTo>
                    <a:cubicBezTo>
                      <a:pt x="151581" y="220570"/>
                      <a:pt x="146723" y="217655"/>
                      <a:pt x="142350" y="213283"/>
                    </a:cubicBezTo>
                    <a:cubicBezTo>
                      <a:pt x="134577" y="205509"/>
                      <a:pt x="133119" y="193363"/>
                      <a:pt x="139921" y="185104"/>
                    </a:cubicBezTo>
                    <a:cubicBezTo>
                      <a:pt x="146237" y="176359"/>
                      <a:pt x="158383" y="174416"/>
                      <a:pt x="168100" y="180246"/>
                    </a:cubicBezTo>
                    <a:cubicBezTo>
                      <a:pt x="173444" y="183161"/>
                      <a:pt x="177331" y="187533"/>
                      <a:pt x="181217" y="191906"/>
                    </a:cubicBezTo>
                    <a:cubicBezTo>
                      <a:pt x="187533" y="199193"/>
                      <a:pt x="193363" y="204538"/>
                      <a:pt x="199193" y="208910"/>
                    </a:cubicBezTo>
                    <a:cubicBezTo>
                      <a:pt x="199193" y="208910"/>
                      <a:pt x="200651" y="210368"/>
                      <a:pt x="201137" y="209882"/>
                    </a:cubicBezTo>
                    <a:cubicBezTo>
                      <a:pt x="204052" y="208910"/>
                      <a:pt x="206481" y="209882"/>
                      <a:pt x="208910" y="210853"/>
                    </a:cubicBezTo>
                    <a:cubicBezTo>
                      <a:pt x="239518" y="181217"/>
                      <a:pt x="274984" y="164213"/>
                      <a:pt x="316280" y="159355"/>
                    </a:cubicBezTo>
                    <a:cubicBezTo>
                      <a:pt x="316280" y="159355"/>
                      <a:pt x="316280" y="159355"/>
                      <a:pt x="316280" y="159355"/>
                    </a:cubicBezTo>
                    <a:cubicBezTo>
                      <a:pt x="316766" y="156925"/>
                      <a:pt x="318709" y="154010"/>
                      <a:pt x="320653" y="152067"/>
                    </a:cubicBezTo>
                    <a:cubicBezTo>
                      <a:pt x="320653" y="152067"/>
                      <a:pt x="320653" y="152067"/>
                      <a:pt x="320653" y="150610"/>
                    </a:cubicBezTo>
                    <a:cubicBezTo>
                      <a:pt x="320653" y="141379"/>
                      <a:pt x="319195" y="132148"/>
                      <a:pt x="317738" y="123889"/>
                    </a:cubicBezTo>
                    <a:cubicBezTo>
                      <a:pt x="316766" y="118058"/>
                      <a:pt x="316766" y="113200"/>
                      <a:pt x="317252" y="108828"/>
                    </a:cubicBezTo>
                    <a:cubicBezTo>
                      <a:pt x="318709" y="97167"/>
                      <a:pt x="327454" y="88908"/>
                      <a:pt x="339114" y="89394"/>
                    </a:cubicBezTo>
                    <a:cubicBezTo>
                      <a:pt x="348831" y="89394"/>
                      <a:pt x="357090" y="97653"/>
                      <a:pt x="358548" y="107370"/>
                    </a:cubicBezTo>
                    <a:lnTo>
                      <a:pt x="360977" y="107370"/>
                    </a:lnTo>
                    <a:lnTo>
                      <a:pt x="358062" y="122431"/>
                    </a:lnTo>
                    <a:cubicBezTo>
                      <a:pt x="357576" y="128261"/>
                      <a:pt x="356605" y="134091"/>
                      <a:pt x="355633" y="139921"/>
                    </a:cubicBezTo>
                    <a:cubicBezTo>
                      <a:pt x="355633" y="143322"/>
                      <a:pt x="355633" y="146723"/>
                      <a:pt x="355633" y="150124"/>
                    </a:cubicBezTo>
                    <a:lnTo>
                      <a:pt x="355633" y="152553"/>
                    </a:lnTo>
                    <a:cubicBezTo>
                      <a:pt x="355633" y="152553"/>
                      <a:pt x="359034" y="155954"/>
                      <a:pt x="360005" y="159840"/>
                    </a:cubicBezTo>
                    <a:cubicBezTo>
                      <a:pt x="374095" y="161784"/>
                      <a:pt x="385755" y="164213"/>
                      <a:pt x="396443" y="168100"/>
                    </a:cubicBezTo>
                    <a:cubicBezTo>
                      <a:pt x="423164" y="177331"/>
                      <a:pt x="446970" y="191906"/>
                      <a:pt x="467376" y="211339"/>
                    </a:cubicBezTo>
                    <a:cubicBezTo>
                      <a:pt x="469805" y="209882"/>
                      <a:pt x="472234" y="209396"/>
                      <a:pt x="475149" y="209882"/>
                    </a:cubicBezTo>
                    <a:cubicBezTo>
                      <a:pt x="475149" y="209882"/>
                      <a:pt x="476121" y="209882"/>
                      <a:pt x="478550" y="207938"/>
                    </a:cubicBezTo>
                    <a:cubicBezTo>
                      <a:pt x="484380" y="203080"/>
                      <a:pt x="490210" y="197250"/>
                      <a:pt x="496040" y="190934"/>
                    </a:cubicBezTo>
                    <a:cubicBezTo>
                      <a:pt x="499441" y="187047"/>
                      <a:pt x="503328" y="182675"/>
                      <a:pt x="508672" y="179760"/>
                    </a:cubicBezTo>
                    <a:cubicBezTo>
                      <a:pt x="514988" y="175873"/>
                      <a:pt x="522761" y="175387"/>
                      <a:pt x="529563" y="178302"/>
                    </a:cubicBezTo>
                    <a:cubicBezTo>
                      <a:pt x="535393" y="181217"/>
                      <a:pt x="539765" y="186562"/>
                      <a:pt x="541223" y="193363"/>
                    </a:cubicBezTo>
                    <a:cubicBezTo>
                      <a:pt x="542195" y="198707"/>
                      <a:pt x="541223" y="205995"/>
                      <a:pt x="533935" y="213768"/>
                    </a:cubicBezTo>
                    <a:cubicBezTo>
                      <a:pt x="530049" y="217655"/>
                      <a:pt x="525190" y="220570"/>
                      <a:pt x="520818" y="222513"/>
                    </a:cubicBezTo>
                    <a:cubicBezTo>
                      <a:pt x="512073" y="227372"/>
                      <a:pt x="505271" y="231744"/>
                      <a:pt x="499927" y="236603"/>
                    </a:cubicBezTo>
                    <a:cubicBezTo>
                      <a:pt x="498469" y="238060"/>
                      <a:pt x="498469" y="238546"/>
                      <a:pt x="498469" y="239032"/>
                    </a:cubicBezTo>
                    <a:cubicBezTo>
                      <a:pt x="498469" y="241947"/>
                      <a:pt x="497497" y="244376"/>
                      <a:pt x="495554" y="246320"/>
                    </a:cubicBezTo>
                    <a:cubicBezTo>
                      <a:pt x="512073" y="273526"/>
                      <a:pt x="521303" y="302677"/>
                      <a:pt x="523247" y="333770"/>
                    </a:cubicBezTo>
                    <a:cubicBezTo>
                      <a:pt x="523733" y="343001"/>
                      <a:pt x="523247" y="352232"/>
                      <a:pt x="522275" y="361949"/>
                    </a:cubicBezTo>
                    <a:cubicBezTo>
                      <a:pt x="525190" y="362921"/>
                      <a:pt x="526162" y="365350"/>
                      <a:pt x="527134" y="366321"/>
                    </a:cubicBezTo>
                    <a:cubicBezTo>
                      <a:pt x="528105" y="368265"/>
                      <a:pt x="529563" y="368751"/>
                      <a:pt x="534907" y="369236"/>
                    </a:cubicBezTo>
                    <a:cubicBezTo>
                      <a:pt x="541709" y="370208"/>
                      <a:pt x="546567" y="370694"/>
                      <a:pt x="551911" y="371180"/>
                    </a:cubicBezTo>
                    <a:cubicBezTo>
                      <a:pt x="556770" y="371666"/>
                      <a:pt x="561628" y="372151"/>
                      <a:pt x="566972" y="373123"/>
                    </a:cubicBezTo>
                    <a:cubicBezTo>
                      <a:pt x="575231" y="374095"/>
                      <a:pt x="581547" y="378953"/>
                      <a:pt x="584948" y="386241"/>
                    </a:cubicBezTo>
                    <a:lnTo>
                      <a:pt x="584948" y="386241"/>
                    </a:lnTo>
                    <a:cubicBezTo>
                      <a:pt x="588349" y="393528"/>
                      <a:pt x="587377" y="400816"/>
                      <a:pt x="582519" y="407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0" name="Google Shape;3240;p84"/>
              <p:cNvSpPr/>
              <p:nvPr/>
            </p:nvSpPr>
            <p:spPr>
              <a:xfrm>
                <a:off x="1099094" y="1462359"/>
                <a:ext cx="7287" cy="485"/>
              </a:xfrm>
              <a:custGeom>
                <a:avLst/>
                <a:gdLst/>
                <a:ahLst/>
                <a:cxnLst/>
                <a:rect l="l" t="t" r="r" b="b"/>
                <a:pathLst>
                  <a:path w="7287" h="485" extrusionOk="0">
                    <a:moveTo>
                      <a:pt x="0" y="0"/>
                    </a:moveTo>
                    <a:lnTo>
                      <a:pt x="7288" y="48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1" name="Google Shape;3241;p84"/>
              <p:cNvSpPr/>
              <p:nvPr/>
            </p:nvSpPr>
            <p:spPr>
              <a:xfrm>
                <a:off x="952371" y="1440011"/>
                <a:ext cx="26235" cy="25749"/>
              </a:xfrm>
              <a:custGeom>
                <a:avLst/>
                <a:gdLst/>
                <a:ahLst/>
                <a:cxnLst/>
                <a:rect l="l" t="t" r="r" b="b"/>
                <a:pathLst>
                  <a:path w="26235" h="25749" extrusionOk="0">
                    <a:moveTo>
                      <a:pt x="13118" y="25749"/>
                    </a:moveTo>
                    <a:lnTo>
                      <a:pt x="23806" y="20405"/>
                    </a:lnTo>
                    <a:lnTo>
                      <a:pt x="26235" y="9231"/>
                    </a:lnTo>
                    <a:lnTo>
                      <a:pt x="18948" y="0"/>
                    </a:lnTo>
                    <a:lnTo>
                      <a:pt x="7288" y="0"/>
                    </a:lnTo>
                    <a:lnTo>
                      <a:pt x="0" y="9231"/>
                    </a:lnTo>
                    <a:lnTo>
                      <a:pt x="2429" y="20405"/>
                    </a:lnTo>
                    <a:lnTo>
                      <a:pt x="13118" y="257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2" name="Google Shape;3242;p84"/>
              <p:cNvSpPr/>
              <p:nvPr/>
            </p:nvSpPr>
            <p:spPr>
              <a:xfrm>
                <a:off x="1035871" y="1388512"/>
                <a:ext cx="63708" cy="67045"/>
              </a:xfrm>
              <a:custGeom>
                <a:avLst/>
                <a:gdLst/>
                <a:ahLst/>
                <a:cxnLst/>
                <a:rect l="l" t="t" r="r" b="b"/>
                <a:pathLst>
                  <a:path w="63708" h="67045" extrusionOk="0">
                    <a:moveTo>
                      <a:pt x="63709" y="63645"/>
                    </a:moveTo>
                    <a:cubicBezTo>
                      <a:pt x="63709" y="59758"/>
                      <a:pt x="63709" y="56357"/>
                      <a:pt x="63223" y="52956"/>
                    </a:cubicBezTo>
                    <a:cubicBezTo>
                      <a:pt x="61766" y="34009"/>
                      <a:pt x="56421" y="16518"/>
                      <a:pt x="48162" y="0"/>
                    </a:cubicBezTo>
                    <a:lnTo>
                      <a:pt x="2008" y="41296"/>
                    </a:lnTo>
                    <a:cubicBezTo>
                      <a:pt x="2008" y="41296"/>
                      <a:pt x="-422" y="44697"/>
                      <a:pt x="64" y="46155"/>
                    </a:cubicBezTo>
                    <a:cubicBezTo>
                      <a:pt x="64" y="47612"/>
                      <a:pt x="2008" y="49070"/>
                      <a:pt x="3951" y="49555"/>
                    </a:cubicBezTo>
                    <a:cubicBezTo>
                      <a:pt x="18526" y="53928"/>
                      <a:pt x="33587" y="58300"/>
                      <a:pt x="48162" y="62673"/>
                    </a:cubicBezTo>
                    <a:lnTo>
                      <a:pt x="63709" y="67046"/>
                    </a:lnTo>
                    <a:cubicBezTo>
                      <a:pt x="63709" y="67046"/>
                      <a:pt x="63709" y="64616"/>
                      <a:pt x="63709" y="631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43" name="Google Shape;3243;p84"/>
          <p:cNvGrpSpPr/>
          <p:nvPr/>
        </p:nvGrpSpPr>
        <p:grpSpPr>
          <a:xfrm>
            <a:off x="4942064" y="4039270"/>
            <a:ext cx="1066412" cy="1084431"/>
            <a:chOff x="9526136" y="3631678"/>
            <a:chExt cx="1066412" cy="1084431"/>
          </a:xfrm>
        </p:grpSpPr>
        <p:sp>
          <p:nvSpPr>
            <p:cNvPr id="3244" name="Google Shape;3244;p84"/>
            <p:cNvSpPr/>
            <p:nvPr/>
          </p:nvSpPr>
          <p:spPr>
            <a:xfrm>
              <a:off x="9526136" y="3631678"/>
              <a:ext cx="1066412" cy="108443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E68C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vSphere Namespace B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45" name="Google Shape;3245;p84"/>
            <p:cNvGrpSpPr/>
            <p:nvPr/>
          </p:nvGrpSpPr>
          <p:grpSpPr>
            <a:xfrm>
              <a:off x="9641262" y="4203374"/>
              <a:ext cx="314932" cy="306639"/>
              <a:chOff x="624431" y="1107698"/>
              <a:chExt cx="682601" cy="664625"/>
            </a:xfrm>
          </p:grpSpPr>
          <p:sp>
            <p:nvSpPr>
              <p:cNvPr id="3246" name="Google Shape;3246;p84"/>
              <p:cNvSpPr/>
              <p:nvPr/>
            </p:nvSpPr>
            <p:spPr>
              <a:xfrm>
                <a:off x="1004841" y="1579446"/>
                <a:ext cx="1943" cy="7287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7287" extrusionOk="0">
                    <a:moveTo>
                      <a:pt x="0" y="486"/>
                    </a:moveTo>
                    <a:lnTo>
                      <a:pt x="1943" y="7288"/>
                    </a:lnTo>
                    <a:lnTo>
                      <a:pt x="486" y="0"/>
                    </a:lnTo>
                    <a:cubicBezTo>
                      <a:pt x="486" y="0"/>
                      <a:pt x="486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7" name="Google Shape;3247;p84"/>
              <p:cNvSpPr/>
              <p:nvPr/>
            </p:nvSpPr>
            <p:spPr>
              <a:xfrm>
                <a:off x="878038" y="1319523"/>
                <a:ext cx="62673" cy="67379"/>
              </a:xfrm>
              <a:custGeom>
                <a:avLst/>
                <a:gdLst/>
                <a:ahLst/>
                <a:cxnLst/>
                <a:rect l="l" t="t" r="r" b="b"/>
                <a:pathLst>
                  <a:path w="62673" h="67379" extrusionOk="0">
                    <a:moveTo>
                      <a:pt x="51499" y="66560"/>
                    </a:moveTo>
                    <a:cubicBezTo>
                      <a:pt x="51499" y="66560"/>
                      <a:pt x="54900" y="68017"/>
                      <a:pt x="56357" y="67046"/>
                    </a:cubicBezTo>
                    <a:cubicBezTo>
                      <a:pt x="57815" y="66560"/>
                      <a:pt x="58786" y="65102"/>
                      <a:pt x="58786" y="63159"/>
                    </a:cubicBezTo>
                    <a:cubicBezTo>
                      <a:pt x="59758" y="47126"/>
                      <a:pt x="60730" y="30608"/>
                      <a:pt x="61701" y="14575"/>
                    </a:cubicBezTo>
                    <a:lnTo>
                      <a:pt x="62673" y="0"/>
                    </a:lnTo>
                    <a:cubicBezTo>
                      <a:pt x="38381" y="4858"/>
                      <a:pt x="17976" y="15061"/>
                      <a:pt x="0" y="30122"/>
                    </a:cubicBezTo>
                    <a:cubicBezTo>
                      <a:pt x="7773" y="35466"/>
                      <a:pt x="15547" y="41296"/>
                      <a:pt x="23320" y="46640"/>
                    </a:cubicBezTo>
                    <a:cubicBezTo>
                      <a:pt x="32551" y="53442"/>
                      <a:pt x="42268" y="59758"/>
                      <a:pt x="51499" y="665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8" name="Google Shape;3248;p84"/>
              <p:cNvSpPr/>
              <p:nvPr/>
            </p:nvSpPr>
            <p:spPr>
              <a:xfrm>
                <a:off x="1014072" y="1494424"/>
                <a:ext cx="74333" cy="65102"/>
              </a:xfrm>
              <a:custGeom>
                <a:avLst/>
                <a:gdLst/>
                <a:ahLst/>
                <a:cxnLst/>
                <a:rect l="l" t="t" r="r" b="b"/>
                <a:pathLst>
                  <a:path w="74333" h="65102" extrusionOk="0">
                    <a:moveTo>
                      <a:pt x="8259" y="972"/>
                    </a:moveTo>
                    <a:cubicBezTo>
                      <a:pt x="8259" y="972"/>
                      <a:pt x="6316" y="2915"/>
                      <a:pt x="6316" y="4858"/>
                    </a:cubicBezTo>
                    <a:lnTo>
                      <a:pt x="0" y="9717"/>
                    </a:lnTo>
                    <a:lnTo>
                      <a:pt x="6802" y="6802"/>
                    </a:lnTo>
                    <a:lnTo>
                      <a:pt x="12632" y="20891"/>
                    </a:lnTo>
                    <a:cubicBezTo>
                      <a:pt x="18948" y="35466"/>
                      <a:pt x="24778" y="50527"/>
                      <a:pt x="31094" y="65102"/>
                    </a:cubicBezTo>
                    <a:cubicBezTo>
                      <a:pt x="50527" y="50527"/>
                      <a:pt x="64616" y="32551"/>
                      <a:pt x="74333" y="10688"/>
                    </a:cubicBezTo>
                    <a:lnTo>
                      <a:pt x="12146" y="0"/>
                    </a:lnTo>
                    <a:cubicBezTo>
                      <a:pt x="12146" y="0"/>
                      <a:pt x="9231" y="486"/>
                      <a:pt x="8259" y="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9" name="Google Shape;3249;p84"/>
              <p:cNvSpPr/>
              <p:nvPr/>
            </p:nvSpPr>
            <p:spPr>
              <a:xfrm>
                <a:off x="842572" y="1494424"/>
                <a:ext cx="67045" cy="64616"/>
              </a:xfrm>
              <a:custGeom>
                <a:avLst/>
                <a:gdLst/>
                <a:ahLst/>
                <a:cxnLst/>
                <a:rect l="l" t="t" r="r" b="b"/>
                <a:pathLst>
                  <a:path w="67045" h="64616" extrusionOk="0">
                    <a:moveTo>
                      <a:pt x="62673" y="0"/>
                    </a:moveTo>
                    <a:lnTo>
                      <a:pt x="46155" y="2915"/>
                    </a:lnTo>
                    <a:cubicBezTo>
                      <a:pt x="30608" y="5344"/>
                      <a:pt x="15547" y="8259"/>
                      <a:pt x="0" y="10688"/>
                    </a:cubicBezTo>
                    <a:cubicBezTo>
                      <a:pt x="9717" y="32551"/>
                      <a:pt x="24292" y="50527"/>
                      <a:pt x="43240" y="64616"/>
                    </a:cubicBezTo>
                    <a:cubicBezTo>
                      <a:pt x="48584" y="51985"/>
                      <a:pt x="53442" y="39839"/>
                      <a:pt x="58300" y="27693"/>
                    </a:cubicBezTo>
                    <a:lnTo>
                      <a:pt x="65588" y="9717"/>
                    </a:lnTo>
                    <a:cubicBezTo>
                      <a:pt x="65588" y="9717"/>
                      <a:pt x="66560" y="6802"/>
                      <a:pt x="67046" y="5830"/>
                    </a:cubicBezTo>
                    <a:cubicBezTo>
                      <a:pt x="67046" y="4858"/>
                      <a:pt x="67046" y="3401"/>
                      <a:pt x="66074" y="2429"/>
                    </a:cubicBezTo>
                    <a:cubicBezTo>
                      <a:pt x="65102" y="1457"/>
                      <a:pt x="64131" y="972"/>
                      <a:pt x="62673" y="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0" name="Google Shape;3250;p84"/>
              <p:cNvSpPr/>
              <p:nvPr/>
            </p:nvSpPr>
            <p:spPr>
              <a:xfrm>
                <a:off x="930994" y="1523575"/>
                <a:ext cx="68503" cy="62187"/>
              </a:xfrm>
              <a:custGeom>
                <a:avLst/>
                <a:gdLst/>
                <a:ahLst/>
                <a:cxnLst/>
                <a:rect l="l" t="t" r="r" b="b"/>
                <a:pathLst>
                  <a:path w="68503" h="62187" extrusionOk="0">
                    <a:moveTo>
                      <a:pt x="55385" y="32551"/>
                    </a:moveTo>
                    <a:cubicBezTo>
                      <a:pt x="50041" y="22834"/>
                      <a:pt x="44697" y="12632"/>
                      <a:pt x="38867" y="2915"/>
                    </a:cubicBezTo>
                    <a:cubicBezTo>
                      <a:pt x="37895" y="972"/>
                      <a:pt x="35952" y="486"/>
                      <a:pt x="34494" y="0"/>
                    </a:cubicBezTo>
                    <a:cubicBezTo>
                      <a:pt x="33037" y="0"/>
                      <a:pt x="31094" y="972"/>
                      <a:pt x="30122" y="2915"/>
                    </a:cubicBezTo>
                    <a:lnTo>
                      <a:pt x="17490" y="25749"/>
                    </a:lnTo>
                    <a:cubicBezTo>
                      <a:pt x="11660" y="36438"/>
                      <a:pt x="5830" y="46640"/>
                      <a:pt x="0" y="57329"/>
                    </a:cubicBezTo>
                    <a:cubicBezTo>
                      <a:pt x="11660" y="60244"/>
                      <a:pt x="22834" y="61701"/>
                      <a:pt x="34494" y="62187"/>
                    </a:cubicBezTo>
                    <a:cubicBezTo>
                      <a:pt x="45669" y="62187"/>
                      <a:pt x="57329" y="60730"/>
                      <a:pt x="68503" y="57815"/>
                    </a:cubicBezTo>
                    <a:cubicBezTo>
                      <a:pt x="67046" y="54900"/>
                      <a:pt x="65588" y="52470"/>
                      <a:pt x="64131" y="50041"/>
                    </a:cubicBezTo>
                    <a:lnTo>
                      <a:pt x="54900" y="330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1" name="Google Shape;3251;p84"/>
              <p:cNvSpPr/>
              <p:nvPr/>
            </p:nvSpPr>
            <p:spPr>
              <a:xfrm>
                <a:off x="1090835" y="1499768"/>
                <a:ext cx="6801" cy="2915"/>
              </a:xfrm>
              <a:custGeom>
                <a:avLst/>
                <a:gdLst/>
                <a:ahLst/>
                <a:cxnLst/>
                <a:rect l="l" t="t" r="r" b="b"/>
                <a:pathLst>
                  <a:path w="6801" h="2915" extrusionOk="0">
                    <a:moveTo>
                      <a:pt x="0" y="0"/>
                    </a:moveTo>
                    <a:lnTo>
                      <a:pt x="6802" y="291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2" name="Google Shape;3252;p84"/>
              <p:cNvSpPr/>
              <p:nvPr/>
            </p:nvSpPr>
            <p:spPr>
              <a:xfrm>
                <a:off x="831667" y="1388512"/>
                <a:ext cx="64346" cy="67531"/>
              </a:xfrm>
              <a:custGeom>
                <a:avLst/>
                <a:gdLst/>
                <a:ahLst/>
                <a:cxnLst/>
                <a:rect l="l" t="t" r="r" b="b"/>
                <a:pathLst>
                  <a:path w="64346" h="67531" extrusionOk="0">
                    <a:moveTo>
                      <a:pt x="63375" y="47126"/>
                    </a:moveTo>
                    <a:cubicBezTo>
                      <a:pt x="63375" y="47126"/>
                      <a:pt x="63375" y="43725"/>
                      <a:pt x="60460" y="40810"/>
                    </a:cubicBezTo>
                    <a:cubicBezTo>
                      <a:pt x="45399" y="27207"/>
                      <a:pt x="30338" y="13603"/>
                      <a:pt x="15277" y="0"/>
                    </a:cubicBezTo>
                    <a:cubicBezTo>
                      <a:pt x="6532" y="17004"/>
                      <a:pt x="1673" y="34494"/>
                      <a:pt x="216" y="52956"/>
                    </a:cubicBezTo>
                    <a:cubicBezTo>
                      <a:pt x="216" y="57329"/>
                      <a:pt x="-270" y="62673"/>
                      <a:pt x="216" y="67531"/>
                    </a:cubicBezTo>
                    <a:lnTo>
                      <a:pt x="10419" y="64616"/>
                    </a:lnTo>
                    <a:cubicBezTo>
                      <a:pt x="26451" y="59758"/>
                      <a:pt x="42970" y="55385"/>
                      <a:pt x="59002" y="50527"/>
                    </a:cubicBezTo>
                    <a:cubicBezTo>
                      <a:pt x="63375" y="49070"/>
                      <a:pt x="63861" y="47612"/>
                      <a:pt x="64346" y="46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3" name="Google Shape;3253;p84"/>
              <p:cNvSpPr/>
              <p:nvPr/>
            </p:nvSpPr>
            <p:spPr>
              <a:xfrm>
                <a:off x="990752" y="1319523"/>
                <a:ext cx="61701" cy="66751"/>
              </a:xfrm>
              <a:custGeom>
                <a:avLst/>
                <a:gdLst/>
                <a:ahLst/>
                <a:cxnLst/>
                <a:rect l="l" t="t" r="r" b="b"/>
                <a:pathLst>
                  <a:path w="61701" h="66751" extrusionOk="0">
                    <a:moveTo>
                      <a:pt x="5830" y="66560"/>
                    </a:moveTo>
                    <a:cubicBezTo>
                      <a:pt x="5830" y="66560"/>
                      <a:pt x="8745" y="67531"/>
                      <a:pt x="12146" y="65102"/>
                    </a:cubicBezTo>
                    <a:cubicBezTo>
                      <a:pt x="28664" y="53442"/>
                      <a:pt x="45183" y="41782"/>
                      <a:pt x="61701" y="30122"/>
                    </a:cubicBezTo>
                    <a:cubicBezTo>
                      <a:pt x="42754" y="14575"/>
                      <a:pt x="22348" y="4373"/>
                      <a:pt x="0" y="0"/>
                    </a:cubicBezTo>
                    <a:lnTo>
                      <a:pt x="3401" y="60730"/>
                    </a:lnTo>
                    <a:cubicBezTo>
                      <a:pt x="3401" y="65102"/>
                      <a:pt x="4858" y="65588"/>
                      <a:pt x="5830" y="660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4" name="Google Shape;3254;p84"/>
              <p:cNvSpPr/>
              <p:nvPr/>
            </p:nvSpPr>
            <p:spPr>
              <a:xfrm>
                <a:off x="732681" y="1210695"/>
                <a:ext cx="466686" cy="454812"/>
              </a:xfrm>
              <a:custGeom>
                <a:avLst/>
                <a:gdLst/>
                <a:ahLst/>
                <a:cxnLst/>
                <a:rect l="l" t="t" r="r" b="b"/>
                <a:pathLst>
                  <a:path w="466686" h="454812" extrusionOk="0">
                    <a:moveTo>
                      <a:pt x="444146" y="283729"/>
                    </a:moveTo>
                    <a:cubicBezTo>
                      <a:pt x="438802" y="283243"/>
                      <a:pt x="433458" y="282757"/>
                      <a:pt x="428600" y="281786"/>
                    </a:cubicBezTo>
                    <a:cubicBezTo>
                      <a:pt x="421798" y="280814"/>
                      <a:pt x="414024" y="279842"/>
                      <a:pt x="409166" y="272555"/>
                    </a:cubicBezTo>
                    <a:cubicBezTo>
                      <a:pt x="406251" y="272069"/>
                      <a:pt x="404308" y="270611"/>
                      <a:pt x="403336" y="269154"/>
                    </a:cubicBezTo>
                    <a:cubicBezTo>
                      <a:pt x="400421" y="265753"/>
                      <a:pt x="400907" y="261866"/>
                      <a:pt x="401393" y="259923"/>
                    </a:cubicBezTo>
                    <a:cubicBezTo>
                      <a:pt x="402364" y="250206"/>
                      <a:pt x="402850" y="240975"/>
                      <a:pt x="402364" y="231744"/>
                    </a:cubicBezTo>
                    <a:cubicBezTo>
                      <a:pt x="400907" y="202108"/>
                      <a:pt x="391676" y="174416"/>
                      <a:pt x="376129" y="149152"/>
                    </a:cubicBezTo>
                    <a:cubicBezTo>
                      <a:pt x="375158" y="147695"/>
                      <a:pt x="373214" y="144294"/>
                      <a:pt x="374186" y="139921"/>
                    </a:cubicBezTo>
                    <a:cubicBezTo>
                      <a:pt x="374672" y="137492"/>
                      <a:pt x="376129" y="135549"/>
                      <a:pt x="378073" y="134091"/>
                    </a:cubicBezTo>
                    <a:cubicBezTo>
                      <a:pt x="378558" y="129719"/>
                      <a:pt x="380988" y="125832"/>
                      <a:pt x="384874" y="122431"/>
                    </a:cubicBezTo>
                    <a:cubicBezTo>
                      <a:pt x="391190" y="117087"/>
                      <a:pt x="398478" y="112228"/>
                      <a:pt x="408194" y="106884"/>
                    </a:cubicBezTo>
                    <a:cubicBezTo>
                      <a:pt x="412081" y="104941"/>
                      <a:pt x="415482" y="102998"/>
                      <a:pt x="417911" y="100083"/>
                    </a:cubicBezTo>
                    <a:cubicBezTo>
                      <a:pt x="421312" y="97167"/>
                      <a:pt x="421312" y="94738"/>
                      <a:pt x="420826" y="93281"/>
                    </a:cubicBezTo>
                    <a:cubicBezTo>
                      <a:pt x="420826" y="90852"/>
                      <a:pt x="418883" y="89394"/>
                      <a:pt x="417911" y="88908"/>
                    </a:cubicBezTo>
                    <a:cubicBezTo>
                      <a:pt x="415968" y="87937"/>
                      <a:pt x="413053" y="88422"/>
                      <a:pt x="410624" y="89880"/>
                    </a:cubicBezTo>
                    <a:cubicBezTo>
                      <a:pt x="407223" y="91823"/>
                      <a:pt x="404308" y="95224"/>
                      <a:pt x="401393" y="98139"/>
                    </a:cubicBezTo>
                    <a:cubicBezTo>
                      <a:pt x="395563" y="104941"/>
                      <a:pt x="389247" y="111257"/>
                      <a:pt x="382445" y="116601"/>
                    </a:cubicBezTo>
                    <a:cubicBezTo>
                      <a:pt x="380502" y="118058"/>
                      <a:pt x="375643" y="122431"/>
                      <a:pt x="368356" y="121459"/>
                    </a:cubicBezTo>
                    <a:cubicBezTo>
                      <a:pt x="366412" y="123403"/>
                      <a:pt x="363983" y="124374"/>
                      <a:pt x="361554" y="123889"/>
                    </a:cubicBezTo>
                    <a:cubicBezTo>
                      <a:pt x="357182" y="123889"/>
                      <a:pt x="354267" y="120974"/>
                      <a:pt x="352809" y="119516"/>
                    </a:cubicBezTo>
                    <a:cubicBezTo>
                      <a:pt x="333861" y="100568"/>
                      <a:pt x="311513" y="86965"/>
                      <a:pt x="286249" y="78220"/>
                    </a:cubicBezTo>
                    <a:cubicBezTo>
                      <a:pt x="275075" y="74333"/>
                      <a:pt x="263415" y="71904"/>
                      <a:pt x="249811" y="69961"/>
                    </a:cubicBezTo>
                    <a:cubicBezTo>
                      <a:pt x="248354" y="69961"/>
                      <a:pt x="244953" y="69961"/>
                      <a:pt x="242524" y="67046"/>
                    </a:cubicBezTo>
                    <a:lnTo>
                      <a:pt x="240581" y="64616"/>
                    </a:lnTo>
                    <a:lnTo>
                      <a:pt x="240581" y="60244"/>
                    </a:lnTo>
                    <a:cubicBezTo>
                      <a:pt x="237180" y="56357"/>
                      <a:pt x="235722" y="52956"/>
                      <a:pt x="235722" y="49070"/>
                    </a:cubicBezTo>
                    <a:lnTo>
                      <a:pt x="235722" y="47126"/>
                    </a:lnTo>
                    <a:cubicBezTo>
                      <a:pt x="235722" y="42754"/>
                      <a:pt x="235722" y="38867"/>
                      <a:pt x="236208" y="34494"/>
                    </a:cubicBezTo>
                    <a:cubicBezTo>
                      <a:pt x="237180" y="28664"/>
                      <a:pt x="237666" y="23320"/>
                      <a:pt x="238637" y="17490"/>
                    </a:cubicBezTo>
                    <a:lnTo>
                      <a:pt x="238637" y="11660"/>
                    </a:lnTo>
                    <a:cubicBezTo>
                      <a:pt x="238637" y="11660"/>
                      <a:pt x="239123" y="7288"/>
                      <a:pt x="239123" y="7288"/>
                    </a:cubicBezTo>
                    <a:cubicBezTo>
                      <a:pt x="239123" y="3401"/>
                      <a:pt x="236208" y="486"/>
                      <a:pt x="233293" y="0"/>
                    </a:cubicBezTo>
                    <a:cubicBezTo>
                      <a:pt x="229892" y="0"/>
                      <a:pt x="226977" y="2429"/>
                      <a:pt x="226491" y="6316"/>
                    </a:cubicBezTo>
                    <a:cubicBezTo>
                      <a:pt x="226491" y="9231"/>
                      <a:pt x="226491" y="12632"/>
                      <a:pt x="226977" y="17490"/>
                    </a:cubicBezTo>
                    <a:cubicBezTo>
                      <a:pt x="228435" y="26721"/>
                      <a:pt x="229892" y="36438"/>
                      <a:pt x="229892" y="46640"/>
                    </a:cubicBezTo>
                    <a:cubicBezTo>
                      <a:pt x="229892" y="49070"/>
                      <a:pt x="229892" y="54414"/>
                      <a:pt x="225520" y="58786"/>
                    </a:cubicBezTo>
                    <a:cubicBezTo>
                      <a:pt x="225520" y="62187"/>
                      <a:pt x="224548" y="64616"/>
                      <a:pt x="223090" y="66560"/>
                    </a:cubicBezTo>
                    <a:cubicBezTo>
                      <a:pt x="221633" y="68503"/>
                      <a:pt x="219204" y="69475"/>
                      <a:pt x="215803" y="69961"/>
                    </a:cubicBezTo>
                    <a:lnTo>
                      <a:pt x="212402" y="69961"/>
                    </a:lnTo>
                    <a:cubicBezTo>
                      <a:pt x="174021" y="75305"/>
                      <a:pt x="140012" y="91337"/>
                      <a:pt x="112805" y="119030"/>
                    </a:cubicBezTo>
                    <a:cubicBezTo>
                      <a:pt x="111348" y="120488"/>
                      <a:pt x="108433" y="124374"/>
                      <a:pt x="103574" y="123403"/>
                    </a:cubicBezTo>
                    <a:cubicBezTo>
                      <a:pt x="101631" y="123403"/>
                      <a:pt x="99202" y="122431"/>
                      <a:pt x="97259" y="121459"/>
                    </a:cubicBezTo>
                    <a:cubicBezTo>
                      <a:pt x="90943" y="121945"/>
                      <a:pt x="86570" y="118544"/>
                      <a:pt x="84627" y="117573"/>
                    </a:cubicBezTo>
                    <a:cubicBezTo>
                      <a:pt x="77825" y="112228"/>
                      <a:pt x="71509" y="106398"/>
                      <a:pt x="64707" y="98625"/>
                    </a:cubicBezTo>
                    <a:cubicBezTo>
                      <a:pt x="61307" y="94738"/>
                      <a:pt x="58392" y="91823"/>
                      <a:pt x="54991" y="89394"/>
                    </a:cubicBezTo>
                    <a:cubicBezTo>
                      <a:pt x="51590" y="87451"/>
                      <a:pt x="47703" y="87937"/>
                      <a:pt x="45760" y="90366"/>
                    </a:cubicBezTo>
                    <a:cubicBezTo>
                      <a:pt x="43816" y="92795"/>
                      <a:pt x="44302" y="96682"/>
                      <a:pt x="47217" y="99597"/>
                    </a:cubicBezTo>
                    <a:cubicBezTo>
                      <a:pt x="50132" y="102512"/>
                      <a:pt x="53533" y="104455"/>
                      <a:pt x="57420" y="106398"/>
                    </a:cubicBezTo>
                    <a:cubicBezTo>
                      <a:pt x="65193" y="110771"/>
                      <a:pt x="72481" y="115143"/>
                      <a:pt x="78797" y="120488"/>
                    </a:cubicBezTo>
                    <a:cubicBezTo>
                      <a:pt x="81712" y="122917"/>
                      <a:pt x="86570" y="126804"/>
                      <a:pt x="87542" y="133605"/>
                    </a:cubicBezTo>
                    <a:cubicBezTo>
                      <a:pt x="89485" y="135063"/>
                      <a:pt x="90457" y="137006"/>
                      <a:pt x="90943" y="138949"/>
                    </a:cubicBezTo>
                    <a:cubicBezTo>
                      <a:pt x="91914" y="143322"/>
                      <a:pt x="89971" y="147209"/>
                      <a:pt x="88514" y="149152"/>
                    </a:cubicBezTo>
                    <a:cubicBezTo>
                      <a:pt x="67622" y="183161"/>
                      <a:pt x="59363" y="220084"/>
                      <a:pt x="64222" y="258951"/>
                    </a:cubicBezTo>
                    <a:cubicBezTo>
                      <a:pt x="65193" y="268182"/>
                      <a:pt x="59363" y="271097"/>
                      <a:pt x="56448" y="271583"/>
                    </a:cubicBezTo>
                    <a:cubicBezTo>
                      <a:pt x="53047" y="276927"/>
                      <a:pt x="47703" y="278385"/>
                      <a:pt x="43816" y="279356"/>
                    </a:cubicBezTo>
                    <a:cubicBezTo>
                      <a:pt x="34586" y="281300"/>
                      <a:pt x="24869" y="282272"/>
                      <a:pt x="15638" y="282757"/>
                    </a:cubicBezTo>
                    <a:cubicBezTo>
                      <a:pt x="11265" y="282757"/>
                      <a:pt x="7864" y="283729"/>
                      <a:pt x="4464" y="284701"/>
                    </a:cubicBezTo>
                    <a:cubicBezTo>
                      <a:pt x="1063" y="286158"/>
                      <a:pt x="-395" y="289559"/>
                      <a:pt x="91" y="291988"/>
                    </a:cubicBezTo>
                    <a:cubicBezTo>
                      <a:pt x="577" y="294903"/>
                      <a:pt x="3978" y="297818"/>
                      <a:pt x="7379" y="296847"/>
                    </a:cubicBezTo>
                    <a:cubicBezTo>
                      <a:pt x="11265" y="296847"/>
                      <a:pt x="15152" y="295389"/>
                      <a:pt x="19525" y="293446"/>
                    </a:cubicBezTo>
                    <a:cubicBezTo>
                      <a:pt x="28755" y="289559"/>
                      <a:pt x="37015" y="286644"/>
                      <a:pt x="44788" y="284701"/>
                    </a:cubicBezTo>
                    <a:cubicBezTo>
                      <a:pt x="48675" y="283729"/>
                      <a:pt x="53533" y="282272"/>
                      <a:pt x="58392" y="285187"/>
                    </a:cubicBezTo>
                    <a:cubicBezTo>
                      <a:pt x="59849" y="286158"/>
                      <a:pt x="60335" y="286158"/>
                      <a:pt x="60335" y="286158"/>
                    </a:cubicBezTo>
                    <a:lnTo>
                      <a:pt x="63250" y="285187"/>
                    </a:lnTo>
                    <a:lnTo>
                      <a:pt x="67622" y="286644"/>
                    </a:lnTo>
                    <a:cubicBezTo>
                      <a:pt x="71023" y="288587"/>
                      <a:pt x="71995" y="291502"/>
                      <a:pt x="72481" y="292960"/>
                    </a:cubicBezTo>
                    <a:cubicBezTo>
                      <a:pt x="86084" y="331341"/>
                      <a:pt x="109890" y="361463"/>
                      <a:pt x="144385" y="382840"/>
                    </a:cubicBezTo>
                    <a:cubicBezTo>
                      <a:pt x="150701" y="386727"/>
                      <a:pt x="150701" y="392557"/>
                      <a:pt x="148271" y="396929"/>
                    </a:cubicBezTo>
                    <a:cubicBezTo>
                      <a:pt x="150701" y="403245"/>
                      <a:pt x="148271" y="408589"/>
                      <a:pt x="146814" y="410533"/>
                    </a:cubicBezTo>
                    <a:cubicBezTo>
                      <a:pt x="142927" y="418306"/>
                      <a:pt x="138555" y="426079"/>
                      <a:pt x="131753" y="435310"/>
                    </a:cubicBezTo>
                    <a:cubicBezTo>
                      <a:pt x="128838" y="439197"/>
                      <a:pt x="127380" y="442112"/>
                      <a:pt x="126409" y="445027"/>
                    </a:cubicBezTo>
                    <a:cubicBezTo>
                      <a:pt x="124951" y="448914"/>
                      <a:pt x="126409" y="452800"/>
                      <a:pt x="129324" y="454258"/>
                    </a:cubicBezTo>
                    <a:cubicBezTo>
                      <a:pt x="132239" y="455715"/>
                      <a:pt x="136126" y="454258"/>
                      <a:pt x="138069" y="450371"/>
                    </a:cubicBezTo>
                    <a:cubicBezTo>
                      <a:pt x="139526" y="447942"/>
                      <a:pt x="140984" y="444541"/>
                      <a:pt x="141956" y="440654"/>
                    </a:cubicBezTo>
                    <a:cubicBezTo>
                      <a:pt x="144871" y="430938"/>
                      <a:pt x="147786" y="422193"/>
                      <a:pt x="151672" y="414419"/>
                    </a:cubicBezTo>
                    <a:cubicBezTo>
                      <a:pt x="152644" y="411990"/>
                      <a:pt x="155559" y="406160"/>
                      <a:pt x="162361" y="403731"/>
                    </a:cubicBezTo>
                    <a:cubicBezTo>
                      <a:pt x="163818" y="400330"/>
                      <a:pt x="168191" y="395472"/>
                      <a:pt x="176936" y="398387"/>
                    </a:cubicBezTo>
                    <a:cubicBezTo>
                      <a:pt x="213860" y="411504"/>
                      <a:pt x="251269" y="411504"/>
                      <a:pt x="289164" y="398872"/>
                    </a:cubicBezTo>
                    <a:cubicBezTo>
                      <a:pt x="292079" y="397901"/>
                      <a:pt x="295966" y="396443"/>
                      <a:pt x="300339" y="398872"/>
                    </a:cubicBezTo>
                    <a:cubicBezTo>
                      <a:pt x="302282" y="399844"/>
                      <a:pt x="303739" y="401302"/>
                      <a:pt x="304711" y="403731"/>
                    </a:cubicBezTo>
                    <a:cubicBezTo>
                      <a:pt x="309084" y="405188"/>
                      <a:pt x="311999" y="408103"/>
                      <a:pt x="314428" y="412962"/>
                    </a:cubicBezTo>
                    <a:cubicBezTo>
                      <a:pt x="319286" y="422678"/>
                      <a:pt x="322201" y="432881"/>
                      <a:pt x="324630" y="441140"/>
                    </a:cubicBezTo>
                    <a:cubicBezTo>
                      <a:pt x="326088" y="445999"/>
                      <a:pt x="327545" y="449400"/>
                      <a:pt x="329975" y="451829"/>
                    </a:cubicBezTo>
                    <a:cubicBezTo>
                      <a:pt x="332404" y="454258"/>
                      <a:pt x="335319" y="454744"/>
                      <a:pt x="337748" y="453286"/>
                    </a:cubicBezTo>
                    <a:cubicBezTo>
                      <a:pt x="340177" y="451829"/>
                      <a:pt x="341149" y="448428"/>
                      <a:pt x="340177" y="445513"/>
                    </a:cubicBezTo>
                    <a:cubicBezTo>
                      <a:pt x="339206" y="441626"/>
                      <a:pt x="336776" y="438225"/>
                      <a:pt x="334347" y="434824"/>
                    </a:cubicBezTo>
                    <a:cubicBezTo>
                      <a:pt x="329003" y="427051"/>
                      <a:pt x="324145" y="419763"/>
                      <a:pt x="320258" y="412476"/>
                    </a:cubicBezTo>
                    <a:cubicBezTo>
                      <a:pt x="318800" y="409561"/>
                      <a:pt x="315400" y="403731"/>
                      <a:pt x="317829" y="396443"/>
                    </a:cubicBezTo>
                    <a:cubicBezTo>
                      <a:pt x="315885" y="392071"/>
                      <a:pt x="316371" y="386727"/>
                      <a:pt x="322687" y="382840"/>
                    </a:cubicBezTo>
                    <a:cubicBezTo>
                      <a:pt x="339691" y="372637"/>
                      <a:pt x="354752" y="359034"/>
                      <a:pt x="367384" y="343001"/>
                    </a:cubicBezTo>
                    <a:cubicBezTo>
                      <a:pt x="379044" y="327940"/>
                      <a:pt x="388275" y="311422"/>
                      <a:pt x="394105" y="293446"/>
                    </a:cubicBezTo>
                    <a:cubicBezTo>
                      <a:pt x="396534" y="285672"/>
                      <a:pt x="402850" y="284215"/>
                      <a:pt x="407709" y="285672"/>
                    </a:cubicBezTo>
                    <a:cubicBezTo>
                      <a:pt x="409652" y="283243"/>
                      <a:pt x="414510" y="282272"/>
                      <a:pt x="419369" y="283243"/>
                    </a:cubicBezTo>
                    <a:cubicBezTo>
                      <a:pt x="425199" y="284701"/>
                      <a:pt x="431029" y="286158"/>
                      <a:pt x="436373" y="288102"/>
                    </a:cubicBezTo>
                    <a:cubicBezTo>
                      <a:pt x="440260" y="289559"/>
                      <a:pt x="442689" y="290531"/>
                      <a:pt x="445118" y="291502"/>
                    </a:cubicBezTo>
                    <a:cubicBezTo>
                      <a:pt x="449491" y="293446"/>
                      <a:pt x="453377" y="294903"/>
                      <a:pt x="457750" y="295389"/>
                    </a:cubicBezTo>
                    <a:cubicBezTo>
                      <a:pt x="462122" y="296361"/>
                      <a:pt x="464066" y="294417"/>
                      <a:pt x="465523" y="292474"/>
                    </a:cubicBezTo>
                    <a:cubicBezTo>
                      <a:pt x="466981" y="290531"/>
                      <a:pt x="466981" y="289073"/>
                      <a:pt x="466009" y="287130"/>
                    </a:cubicBezTo>
                    <a:cubicBezTo>
                      <a:pt x="464552" y="284215"/>
                      <a:pt x="462608" y="282757"/>
                      <a:pt x="459207" y="282272"/>
                    </a:cubicBezTo>
                    <a:cubicBezTo>
                      <a:pt x="454349" y="281786"/>
                      <a:pt x="449491" y="281300"/>
                      <a:pt x="444632" y="280814"/>
                    </a:cubicBezTo>
                    <a:close/>
                    <a:moveTo>
                      <a:pt x="246411" y="95710"/>
                    </a:moveTo>
                    <a:cubicBezTo>
                      <a:pt x="249811" y="92795"/>
                      <a:pt x="254184" y="93281"/>
                      <a:pt x="259042" y="94252"/>
                    </a:cubicBezTo>
                    <a:lnTo>
                      <a:pt x="259042" y="94252"/>
                    </a:lnTo>
                    <a:cubicBezTo>
                      <a:pt x="286249" y="99111"/>
                      <a:pt x="311513" y="111743"/>
                      <a:pt x="332890" y="131176"/>
                    </a:cubicBezTo>
                    <a:cubicBezTo>
                      <a:pt x="334347" y="132634"/>
                      <a:pt x="337748" y="135549"/>
                      <a:pt x="337262" y="139921"/>
                    </a:cubicBezTo>
                    <a:cubicBezTo>
                      <a:pt x="337262" y="144294"/>
                      <a:pt x="333376" y="147209"/>
                      <a:pt x="331918" y="148180"/>
                    </a:cubicBezTo>
                    <a:cubicBezTo>
                      <a:pt x="313942" y="160812"/>
                      <a:pt x="296452" y="173444"/>
                      <a:pt x="278476" y="186076"/>
                    </a:cubicBezTo>
                    <a:cubicBezTo>
                      <a:pt x="274103" y="188991"/>
                      <a:pt x="269731" y="190448"/>
                      <a:pt x="265358" y="190448"/>
                    </a:cubicBezTo>
                    <a:cubicBezTo>
                      <a:pt x="262443" y="190448"/>
                      <a:pt x="260014" y="189962"/>
                      <a:pt x="257099" y="188505"/>
                    </a:cubicBezTo>
                    <a:cubicBezTo>
                      <a:pt x="250297" y="185590"/>
                      <a:pt x="246411" y="179274"/>
                      <a:pt x="245925" y="170529"/>
                    </a:cubicBezTo>
                    <a:lnTo>
                      <a:pt x="242524" y="108828"/>
                    </a:lnTo>
                    <a:cubicBezTo>
                      <a:pt x="242524" y="102998"/>
                      <a:pt x="242524" y="98625"/>
                      <a:pt x="245925" y="95710"/>
                    </a:cubicBezTo>
                    <a:close/>
                    <a:moveTo>
                      <a:pt x="249326" y="207938"/>
                    </a:moveTo>
                    <a:lnTo>
                      <a:pt x="269245" y="233202"/>
                    </a:lnTo>
                    <a:lnTo>
                      <a:pt x="262443" y="264781"/>
                    </a:lnTo>
                    <a:lnTo>
                      <a:pt x="233293" y="278871"/>
                    </a:lnTo>
                    <a:lnTo>
                      <a:pt x="204143" y="264781"/>
                    </a:lnTo>
                    <a:lnTo>
                      <a:pt x="196855" y="233202"/>
                    </a:lnTo>
                    <a:lnTo>
                      <a:pt x="216775" y="207938"/>
                    </a:lnTo>
                    <a:lnTo>
                      <a:pt x="249326" y="207938"/>
                    </a:lnTo>
                    <a:close/>
                    <a:moveTo>
                      <a:pt x="130781" y="132148"/>
                    </a:moveTo>
                    <a:lnTo>
                      <a:pt x="136126" y="137492"/>
                    </a:lnTo>
                    <a:lnTo>
                      <a:pt x="131267" y="132148"/>
                    </a:lnTo>
                    <a:cubicBezTo>
                      <a:pt x="152158" y="112714"/>
                      <a:pt x="176936" y="100568"/>
                      <a:pt x="204629" y="95224"/>
                    </a:cubicBezTo>
                    <a:cubicBezTo>
                      <a:pt x="206572" y="95224"/>
                      <a:pt x="208029" y="94738"/>
                      <a:pt x="209001" y="94252"/>
                    </a:cubicBezTo>
                    <a:cubicBezTo>
                      <a:pt x="212888" y="93767"/>
                      <a:pt x="216289" y="93281"/>
                      <a:pt x="219690" y="96196"/>
                    </a:cubicBezTo>
                    <a:cubicBezTo>
                      <a:pt x="223090" y="99111"/>
                      <a:pt x="222605" y="102998"/>
                      <a:pt x="222605" y="106398"/>
                    </a:cubicBezTo>
                    <a:lnTo>
                      <a:pt x="221633" y="124374"/>
                    </a:lnTo>
                    <a:cubicBezTo>
                      <a:pt x="220661" y="140407"/>
                      <a:pt x="219690" y="156925"/>
                      <a:pt x="218718" y="172958"/>
                    </a:cubicBezTo>
                    <a:cubicBezTo>
                      <a:pt x="218718" y="180246"/>
                      <a:pt x="214345" y="186076"/>
                      <a:pt x="208029" y="188991"/>
                    </a:cubicBezTo>
                    <a:cubicBezTo>
                      <a:pt x="205600" y="190448"/>
                      <a:pt x="202685" y="190934"/>
                      <a:pt x="199770" y="190934"/>
                    </a:cubicBezTo>
                    <a:cubicBezTo>
                      <a:pt x="195884" y="190934"/>
                      <a:pt x="191997" y="189477"/>
                      <a:pt x="188596" y="187533"/>
                    </a:cubicBezTo>
                    <a:cubicBezTo>
                      <a:pt x="179365" y="180731"/>
                      <a:pt x="169648" y="174416"/>
                      <a:pt x="160417" y="167614"/>
                    </a:cubicBezTo>
                    <a:cubicBezTo>
                      <a:pt x="151187" y="160812"/>
                      <a:pt x="141470" y="154496"/>
                      <a:pt x="132239" y="147695"/>
                    </a:cubicBezTo>
                    <a:cubicBezTo>
                      <a:pt x="129324" y="145751"/>
                      <a:pt x="127866" y="143322"/>
                      <a:pt x="127380" y="140407"/>
                    </a:cubicBezTo>
                    <a:cubicBezTo>
                      <a:pt x="127380" y="136034"/>
                      <a:pt x="129810" y="133605"/>
                      <a:pt x="131267" y="132634"/>
                    </a:cubicBezTo>
                    <a:close/>
                    <a:moveTo>
                      <a:pt x="85113" y="256522"/>
                    </a:moveTo>
                    <a:cubicBezTo>
                      <a:pt x="83169" y="246805"/>
                      <a:pt x="83655" y="237574"/>
                      <a:pt x="84141" y="229801"/>
                    </a:cubicBezTo>
                    <a:cubicBezTo>
                      <a:pt x="85598" y="206967"/>
                      <a:pt x="92400" y="185590"/>
                      <a:pt x="103574" y="166156"/>
                    </a:cubicBezTo>
                    <a:cubicBezTo>
                      <a:pt x="104546" y="164699"/>
                      <a:pt x="106489" y="160812"/>
                      <a:pt x="110862" y="160326"/>
                    </a:cubicBezTo>
                    <a:cubicBezTo>
                      <a:pt x="115235" y="159841"/>
                      <a:pt x="118150" y="162270"/>
                      <a:pt x="119607" y="163241"/>
                    </a:cubicBezTo>
                    <a:cubicBezTo>
                      <a:pt x="136126" y="178302"/>
                      <a:pt x="152644" y="192877"/>
                      <a:pt x="169162" y="207453"/>
                    </a:cubicBezTo>
                    <a:cubicBezTo>
                      <a:pt x="175964" y="213283"/>
                      <a:pt x="178393" y="220084"/>
                      <a:pt x="176450" y="227858"/>
                    </a:cubicBezTo>
                    <a:cubicBezTo>
                      <a:pt x="174021" y="239032"/>
                      <a:pt x="164304" y="241461"/>
                      <a:pt x="160903" y="242433"/>
                    </a:cubicBezTo>
                    <a:cubicBezTo>
                      <a:pt x="144871" y="246805"/>
                      <a:pt x="128838" y="251664"/>
                      <a:pt x="112320" y="256522"/>
                    </a:cubicBezTo>
                    <a:lnTo>
                      <a:pt x="86570" y="263810"/>
                    </a:lnTo>
                    <a:lnTo>
                      <a:pt x="85113" y="256036"/>
                    </a:lnTo>
                    <a:close/>
                    <a:moveTo>
                      <a:pt x="164790" y="358062"/>
                    </a:moveTo>
                    <a:cubicBezTo>
                      <a:pt x="164790" y="358062"/>
                      <a:pt x="162361" y="363892"/>
                      <a:pt x="157988" y="365350"/>
                    </a:cubicBezTo>
                    <a:cubicBezTo>
                      <a:pt x="157017" y="365350"/>
                      <a:pt x="156045" y="365350"/>
                      <a:pt x="155559" y="365350"/>
                    </a:cubicBezTo>
                    <a:cubicBezTo>
                      <a:pt x="152158" y="365350"/>
                      <a:pt x="149729" y="363406"/>
                      <a:pt x="148271" y="362435"/>
                    </a:cubicBezTo>
                    <a:cubicBezTo>
                      <a:pt x="123980" y="345430"/>
                      <a:pt x="105518" y="322596"/>
                      <a:pt x="94344" y="294903"/>
                    </a:cubicBezTo>
                    <a:cubicBezTo>
                      <a:pt x="93372" y="292960"/>
                      <a:pt x="91914" y="289073"/>
                      <a:pt x="94344" y="285672"/>
                    </a:cubicBezTo>
                    <a:cubicBezTo>
                      <a:pt x="95801" y="283243"/>
                      <a:pt x="98230" y="281300"/>
                      <a:pt x="102117" y="280814"/>
                    </a:cubicBezTo>
                    <a:cubicBezTo>
                      <a:pt x="119121" y="277899"/>
                      <a:pt x="136611" y="274984"/>
                      <a:pt x="153616" y="272069"/>
                    </a:cubicBezTo>
                    <a:lnTo>
                      <a:pt x="172563" y="269154"/>
                    </a:lnTo>
                    <a:cubicBezTo>
                      <a:pt x="178393" y="268668"/>
                      <a:pt x="183738" y="271583"/>
                      <a:pt x="187624" y="275956"/>
                    </a:cubicBezTo>
                    <a:cubicBezTo>
                      <a:pt x="191511" y="280328"/>
                      <a:pt x="192969" y="286158"/>
                      <a:pt x="191997" y="291988"/>
                    </a:cubicBezTo>
                    <a:lnTo>
                      <a:pt x="191997" y="291988"/>
                    </a:lnTo>
                    <a:cubicBezTo>
                      <a:pt x="191997" y="291988"/>
                      <a:pt x="190539" y="296361"/>
                      <a:pt x="190053" y="298790"/>
                    </a:cubicBezTo>
                    <a:lnTo>
                      <a:pt x="182766" y="316766"/>
                    </a:lnTo>
                    <a:cubicBezTo>
                      <a:pt x="176936" y="330369"/>
                      <a:pt x="171592" y="343973"/>
                      <a:pt x="165762" y="358062"/>
                    </a:cubicBezTo>
                    <a:close/>
                    <a:moveTo>
                      <a:pt x="283820" y="377010"/>
                    </a:moveTo>
                    <a:cubicBezTo>
                      <a:pt x="281877" y="381382"/>
                      <a:pt x="277504" y="382840"/>
                      <a:pt x="276047" y="383326"/>
                    </a:cubicBezTo>
                    <a:cubicBezTo>
                      <a:pt x="261472" y="387212"/>
                      <a:pt x="247382" y="389642"/>
                      <a:pt x="232807" y="389642"/>
                    </a:cubicBezTo>
                    <a:cubicBezTo>
                      <a:pt x="217746" y="389642"/>
                      <a:pt x="203171" y="387212"/>
                      <a:pt x="188596" y="382840"/>
                    </a:cubicBezTo>
                    <a:cubicBezTo>
                      <a:pt x="187138" y="382840"/>
                      <a:pt x="183252" y="381382"/>
                      <a:pt x="181308" y="377010"/>
                    </a:cubicBezTo>
                    <a:cubicBezTo>
                      <a:pt x="179851" y="373123"/>
                      <a:pt x="181308" y="369236"/>
                      <a:pt x="182280" y="367779"/>
                    </a:cubicBezTo>
                    <a:cubicBezTo>
                      <a:pt x="189082" y="355633"/>
                      <a:pt x="195398" y="343973"/>
                      <a:pt x="202199" y="331827"/>
                    </a:cubicBezTo>
                    <a:lnTo>
                      <a:pt x="214831" y="308993"/>
                    </a:lnTo>
                    <a:cubicBezTo>
                      <a:pt x="218718" y="302191"/>
                      <a:pt x="225034" y="298304"/>
                      <a:pt x="231836" y="298304"/>
                    </a:cubicBezTo>
                    <a:lnTo>
                      <a:pt x="231836" y="298304"/>
                    </a:lnTo>
                    <a:cubicBezTo>
                      <a:pt x="238637" y="298304"/>
                      <a:pt x="244953" y="302191"/>
                      <a:pt x="248840" y="308993"/>
                    </a:cubicBezTo>
                    <a:cubicBezTo>
                      <a:pt x="254670" y="318709"/>
                      <a:pt x="260014" y="328912"/>
                      <a:pt x="265358" y="338629"/>
                    </a:cubicBezTo>
                    <a:lnTo>
                      <a:pt x="274589" y="355633"/>
                    </a:lnTo>
                    <a:cubicBezTo>
                      <a:pt x="276533" y="359520"/>
                      <a:pt x="278962" y="363406"/>
                      <a:pt x="280905" y="367293"/>
                    </a:cubicBezTo>
                    <a:cubicBezTo>
                      <a:pt x="281877" y="368751"/>
                      <a:pt x="284306" y="372637"/>
                      <a:pt x="282363" y="377010"/>
                    </a:cubicBezTo>
                    <a:close/>
                    <a:moveTo>
                      <a:pt x="371757" y="294417"/>
                    </a:moveTo>
                    <a:cubicBezTo>
                      <a:pt x="360582" y="323082"/>
                      <a:pt x="341635" y="346402"/>
                      <a:pt x="316857" y="363892"/>
                    </a:cubicBezTo>
                    <a:cubicBezTo>
                      <a:pt x="315885" y="364378"/>
                      <a:pt x="313456" y="366321"/>
                      <a:pt x="310541" y="366321"/>
                    </a:cubicBezTo>
                    <a:cubicBezTo>
                      <a:pt x="309569" y="366321"/>
                      <a:pt x="309084" y="366321"/>
                      <a:pt x="308112" y="366321"/>
                    </a:cubicBezTo>
                    <a:cubicBezTo>
                      <a:pt x="303739" y="364864"/>
                      <a:pt x="302282" y="360977"/>
                      <a:pt x="301796" y="360005"/>
                    </a:cubicBezTo>
                    <a:cubicBezTo>
                      <a:pt x="294994" y="343487"/>
                      <a:pt x="288193" y="326969"/>
                      <a:pt x="281391" y="310450"/>
                    </a:cubicBezTo>
                    <a:lnTo>
                      <a:pt x="275561" y="296361"/>
                    </a:lnTo>
                    <a:cubicBezTo>
                      <a:pt x="275561" y="296361"/>
                      <a:pt x="273618" y="291017"/>
                      <a:pt x="274103" y="287616"/>
                    </a:cubicBezTo>
                    <a:cubicBezTo>
                      <a:pt x="274103" y="282757"/>
                      <a:pt x="276533" y="277413"/>
                      <a:pt x="280905" y="273526"/>
                    </a:cubicBezTo>
                    <a:cubicBezTo>
                      <a:pt x="285278" y="270126"/>
                      <a:pt x="290622" y="268668"/>
                      <a:pt x="296452" y="269640"/>
                    </a:cubicBezTo>
                    <a:lnTo>
                      <a:pt x="363983" y="281300"/>
                    </a:lnTo>
                    <a:cubicBezTo>
                      <a:pt x="363983" y="281300"/>
                      <a:pt x="369328" y="282272"/>
                      <a:pt x="371757" y="286158"/>
                    </a:cubicBezTo>
                    <a:cubicBezTo>
                      <a:pt x="373214" y="288587"/>
                      <a:pt x="373214" y="291502"/>
                      <a:pt x="371757" y="294903"/>
                    </a:cubicBezTo>
                    <a:lnTo>
                      <a:pt x="371757" y="294903"/>
                    </a:lnTo>
                    <a:close/>
                    <a:moveTo>
                      <a:pt x="380988" y="253121"/>
                    </a:moveTo>
                    <a:cubicBezTo>
                      <a:pt x="380988" y="256522"/>
                      <a:pt x="379530" y="258951"/>
                      <a:pt x="377101" y="260409"/>
                    </a:cubicBezTo>
                    <a:cubicBezTo>
                      <a:pt x="375643" y="261380"/>
                      <a:pt x="373700" y="261866"/>
                      <a:pt x="372242" y="261866"/>
                    </a:cubicBezTo>
                    <a:cubicBezTo>
                      <a:pt x="370785" y="261866"/>
                      <a:pt x="369328" y="261866"/>
                      <a:pt x="368842" y="261380"/>
                    </a:cubicBezTo>
                    <a:lnTo>
                      <a:pt x="347465" y="255065"/>
                    </a:lnTo>
                    <a:cubicBezTo>
                      <a:pt x="332404" y="250692"/>
                      <a:pt x="317829" y="246320"/>
                      <a:pt x="302768" y="241947"/>
                    </a:cubicBezTo>
                    <a:cubicBezTo>
                      <a:pt x="295480" y="240004"/>
                      <a:pt x="290136" y="234659"/>
                      <a:pt x="288678" y="227858"/>
                    </a:cubicBezTo>
                    <a:cubicBezTo>
                      <a:pt x="287221" y="221056"/>
                      <a:pt x="289650" y="213768"/>
                      <a:pt x="295480" y="208910"/>
                    </a:cubicBezTo>
                    <a:lnTo>
                      <a:pt x="346007" y="163727"/>
                    </a:lnTo>
                    <a:cubicBezTo>
                      <a:pt x="346007" y="163727"/>
                      <a:pt x="350380" y="159841"/>
                      <a:pt x="354752" y="160812"/>
                    </a:cubicBezTo>
                    <a:cubicBezTo>
                      <a:pt x="359125" y="161298"/>
                      <a:pt x="361068" y="165185"/>
                      <a:pt x="362040" y="166642"/>
                    </a:cubicBezTo>
                    <a:cubicBezTo>
                      <a:pt x="373214" y="186076"/>
                      <a:pt x="380016" y="206967"/>
                      <a:pt x="381473" y="228829"/>
                    </a:cubicBezTo>
                    <a:cubicBezTo>
                      <a:pt x="381473" y="234174"/>
                      <a:pt x="382445" y="238060"/>
                      <a:pt x="381959" y="241947"/>
                    </a:cubicBezTo>
                    <a:cubicBezTo>
                      <a:pt x="381959" y="246320"/>
                      <a:pt x="381959" y="249720"/>
                      <a:pt x="381473" y="2536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5" name="Google Shape;3255;p84"/>
              <p:cNvSpPr/>
              <p:nvPr/>
            </p:nvSpPr>
            <p:spPr>
              <a:xfrm>
                <a:off x="624431" y="1107698"/>
                <a:ext cx="682601" cy="664625"/>
              </a:xfrm>
              <a:custGeom>
                <a:avLst/>
                <a:gdLst/>
                <a:ahLst/>
                <a:cxnLst/>
                <a:rect l="l" t="t" r="r" b="b"/>
                <a:pathLst>
                  <a:path w="682601" h="664625" extrusionOk="0">
                    <a:moveTo>
                      <a:pt x="614584" y="131662"/>
                    </a:moveTo>
                    <a:lnTo>
                      <a:pt x="341058" y="0"/>
                    </a:lnTo>
                    <a:lnTo>
                      <a:pt x="67531" y="131662"/>
                    </a:lnTo>
                    <a:lnTo>
                      <a:pt x="0" y="427537"/>
                    </a:lnTo>
                    <a:lnTo>
                      <a:pt x="189477" y="664626"/>
                    </a:lnTo>
                    <a:lnTo>
                      <a:pt x="493125" y="664626"/>
                    </a:lnTo>
                    <a:lnTo>
                      <a:pt x="682601" y="427537"/>
                    </a:lnTo>
                    <a:lnTo>
                      <a:pt x="615070" y="131662"/>
                    </a:lnTo>
                    <a:close/>
                    <a:moveTo>
                      <a:pt x="584462" y="407618"/>
                    </a:moveTo>
                    <a:cubicBezTo>
                      <a:pt x="579118" y="413933"/>
                      <a:pt x="571831" y="416848"/>
                      <a:pt x="563085" y="415877"/>
                    </a:cubicBezTo>
                    <a:cubicBezTo>
                      <a:pt x="557255" y="414905"/>
                      <a:pt x="551911" y="412962"/>
                      <a:pt x="547053" y="411018"/>
                    </a:cubicBezTo>
                    <a:cubicBezTo>
                      <a:pt x="544624" y="410047"/>
                      <a:pt x="542680" y="409075"/>
                      <a:pt x="540251" y="408103"/>
                    </a:cubicBezTo>
                    <a:cubicBezTo>
                      <a:pt x="533935" y="406160"/>
                      <a:pt x="529077" y="404217"/>
                      <a:pt x="523733" y="403245"/>
                    </a:cubicBezTo>
                    <a:cubicBezTo>
                      <a:pt x="519846" y="405188"/>
                      <a:pt x="516931" y="405674"/>
                      <a:pt x="514988" y="405674"/>
                    </a:cubicBezTo>
                    <a:cubicBezTo>
                      <a:pt x="508186" y="424136"/>
                      <a:pt x="498955" y="441626"/>
                      <a:pt x="486809" y="457173"/>
                    </a:cubicBezTo>
                    <a:cubicBezTo>
                      <a:pt x="473691" y="474177"/>
                      <a:pt x="458145" y="488267"/>
                      <a:pt x="440654" y="498955"/>
                    </a:cubicBezTo>
                    <a:cubicBezTo>
                      <a:pt x="441140" y="501870"/>
                      <a:pt x="440654" y="504299"/>
                      <a:pt x="440169" y="505757"/>
                    </a:cubicBezTo>
                    <a:cubicBezTo>
                      <a:pt x="440169" y="506728"/>
                      <a:pt x="439683" y="507700"/>
                      <a:pt x="441626" y="511101"/>
                    </a:cubicBezTo>
                    <a:cubicBezTo>
                      <a:pt x="445027" y="517903"/>
                      <a:pt x="449400" y="524704"/>
                      <a:pt x="454258" y="531992"/>
                    </a:cubicBezTo>
                    <a:cubicBezTo>
                      <a:pt x="457173" y="536364"/>
                      <a:pt x="460574" y="541223"/>
                      <a:pt x="462031" y="547539"/>
                    </a:cubicBezTo>
                    <a:cubicBezTo>
                      <a:pt x="464461" y="557255"/>
                      <a:pt x="460574" y="566972"/>
                      <a:pt x="452315" y="571831"/>
                    </a:cubicBezTo>
                    <a:cubicBezTo>
                      <a:pt x="444055" y="576689"/>
                      <a:pt x="433853" y="574746"/>
                      <a:pt x="426565" y="567458"/>
                    </a:cubicBezTo>
                    <a:cubicBezTo>
                      <a:pt x="421707" y="562114"/>
                      <a:pt x="419763" y="556284"/>
                      <a:pt x="417820" y="550454"/>
                    </a:cubicBezTo>
                    <a:cubicBezTo>
                      <a:pt x="415391" y="542680"/>
                      <a:pt x="412476" y="532964"/>
                      <a:pt x="408103" y="524218"/>
                    </a:cubicBezTo>
                    <a:cubicBezTo>
                      <a:pt x="407132" y="522275"/>
                      <a:pt x="406646" y="522275"/>
                      <a:pt x="406160" y="522275"/>
                    </a:cubicBezTo>
                    <a:cubicBezTo>
                      <a:pt x="402759" y="521303"/>
                      <a:pt x="400816" y="519846"/>
                      <a:pt x="399844" y="518388"/>
                    </a:cubicBezTo>
                    <a:cubicBezTo>
                      <a:pt x="360005" y="531506"/>
                      <a:pt x="320167" y="531506"/>
                      <a:pt x="280814" y="518388"/>
                    </a:cubicBezTo>
                    <a:cubicBezTo>
                      <a:pt x="278871" y="521303"/>
                      <a:pt x="275956" y="522275"/>
                      <a:pt x="274498" y="522761"/>
                    </a:cubicBezTo>
                    <a:cubicBezTo>
                      <a:pt x="274012" y="522761"/>
                      <a:pt x="273526" y="522761"/>
                      <a:pt x="272069" y="526162"/>
                    </a:cubicBezTo>
                    <a:cubicBezTo>
                      <a:pt x="268668" y="533449"/>
                      <a:pt x="265753" y="541709"/>
                      <a:pt x="263324" y="550454"/>
                    </a:cubicBezTo>
                    <a:cubicBezTo>
                      <a:pt x="261866" y="555312"/>
                      <a:pt x="259923" y="559685"/>
                      <a:pt x="257980" y="563571"/>
                    </a:cubicBezTo>
                    <a:cubicBezTo>
                      <a:pt x="253607" y="570859"/>
                      <a:pt x="246320" y="574746"/>
                      <a:pt x="239032" y="574746"/>
                    </a:cubicBezTo>
                    <a:cubicBezTo>
                      <a:pt x="236117" y="574746"/>
                      <a:pt x="233202" y="574260"/>
                      <a:pt x="230287" y="572802"/>
                    </a:cubicBezTo>
                    <a:cubicBezTo>
                      <a:pt x="220570" y="567944"/>
                      <a:pt x="216198" y="556284"/>
                      <a:pt x="220084" y="545595"/>
                    </a:cubicBezTo>
                    <a:cubicBezTo>
                      <a:pt x="222028" y="540251"/>
                      <a:pt x="224943" y="535879"/>
                      <a:pt x="227372" y="532478"/>
                    </a:cubicBezTo>
                    <a:cubicBezTo>
                      <a:pt x="233202" y="524218"/>
                      <a:pt x="237574" y="516931"/>
                      <a:pt x="240975" y="510129"/>
                    </a:cubicBezTo>
                    <a:cubicBezTo>
                      <a:pt x="241947" y="508186"/>
                      <a:pt x="241947" y="507700"/>
                      <a:pt x="241461" y="507214"/>
                    </a:cubicBezTo>
                    <a:cubicBezTo>
                      <a:pt x="240004" y="504299"/>
                      <a:pt x="240004" y="501384"/>
                      <a:pt x="240975" y="498955"/>
                    </a:cubicBezTo>
                    <a:cubicBezTo>
                      <a:pt x="205995" y="476121"/>
                      <a:pt x="181217" y="445027"/>
                      <a:pt x="166642" y="406160"/>
                    </a:cubicBezTo>
                    <a:cubicBezTo>
                      <a:pt x="163241" y="406160"/>
                      <a:pt x="160326" y="404703"/>
                      <a:pt x="157897" y="403245"/>
                    </a:cubicBezTo>
                    <a:cubicBezTo>
                      <a:pt x="157897" y="403245"/>
                      <a:pt x="156440" y="403245"/>
                      <a:pt x="155468" y="403731"/>
                    </a:cubicBezTo>
                    <a:cubicBezTo>
                      <a:pt x="147209" y="405674"/>
                      <a:pt x="139921" y="408103"/>
                      <a:pt x="131176" y="411990"/>
                    </a:cubicBezTo>
                    <a:cubicBezTo>
                      <a:pt x="125832" y="414419"/>
                      <a:pt x="120002" y="416363"/>
                      <a:pt x="113200" y="416363"/>
                    </a:cubicBezTo>
                    <a:cubicBezTo>
                      <a:pt x="102512" y="416363"/>
                      <a:pt x="93767" y="409561"/>
                      <a:pt x="91823" y="399844"/>
                    </a:cubicBezTo>
                    <a:cubicBezTo>
                      <a:pt x="89880" y="390127"/>
                      <a:pt x="95710" y="379925"/>
                      <a:pt x="104941" y="376038"/>
                    </a:cubicBezTo>
                    <a:cubicBezTo>
                      <a:pt x="109799" y="374095"/>
                      <a:pt x="114658" y="373123"/>
                      <a:pt x="120974" y="372637"/>
                    </a:cubicBezTo>
                    <a:cubicBezTo>
                      <a:pt x="129719" y="372637"/>
                      <a:pt x="138464" y="371180"/>
                      <a:pt x="146723" y="369236"/>
                    </a:cubicBezTo>
                    <a:cubicBezTo>
                      <a:pt x="149638" y="368751"/>
                      <a:pt x="150124" y="368265"/>
                      <a:pt x="150124" y="367779"/>
                    </a:cubicBezTo>
                    <a:cubicBezTo>
                      <a:pt x="151095" y="365836"/>
                      <a:pt x="152553" y="363892"/>
                      <a:pt x="155468" y="362435"/>
                    </a:cubicBezTo>
                    <a:cubicBezTo>
                      <a:pt x="151095" y="321138"/>
                      <a:pt x="159840" y="282271"/>
                      <a:pt x="181703" y="246320"/>
                    </a:cubicBezTo>
                    <a:cubicBezTo>
                      <a:pt x="180246" y="244376"/>
                      <a:pt x="179274" y="241947"/>
                      <a:pt x="179274" y="239518"/>
                    </a:cubicBezTo>
                    <a:cubicBezTo>
                      <a:pt x="179274" y="238546"/>
                      <a:pt x="179274" y="238060"/>
                      <a:pt x="175873" y="235631"/>
                    </a:cubicBezTo>
                    <a:cubicBezTo>
                      <a:pt x="170043" y="231259"/>
                      <a:pt x="163241" y="226886"/>
                      <a:pt x="155954" y="222999"/>
                    </a:cubicBezTo>
                    <a:cubicBezTo>
                      <a:pt x="151581" y="220570"/>
                      <a:pt x="146723" y="217655"/>
                      <a:pt x="142350" y="213283"/>
                    </a:cubicBezTo>
                    <a:cubicBezTo>
                      <a:pt x="134577" y="205509"/>
                      <a:pt x="133119" y="193363"/>
                      <a:pt x="139921" y="185104"/>
                    </a:cubicBezTo>
                    <a:cubicBezTo>
                      <a:pt x="146237" y="176359"/>
                      <a:pt x="158383" y="174416"/>
                      <a:pt x="168100" y="180246"/>
                    </a:cubicBezTo>
                    <a:cubicBezTo>
                      <a:pt x="173444" y="183161"/>
                      <a:pt x="177331" y="187533"/>
                      <a:pt x="181217" y="191906"/>
                    </a:cubicBezTo>
                    <a:cubicBezTo>
                      <a:pt x="187533" y="199193"/>
                      <a:pt x="193363" y="204538"/>
                      <a:pt x="199193" y="208910"/>
                    </a:cubicBezTo>
                    <a:cubicBezTo>
                      <a:pt x="199193" y="208910"/>
                      <a:pt x="200651" y="210368"/>
                      <a:pt x="201137" y="209882"/>
                    </a:cubicBezTo>
                    <a:cubicBezTo>
                      <a:pt x="204052" y="208910"/>
                      <a:pt x="206481" y="209882"/>
                      <a:pt x="208910" y="210853"/>
                    </a:cubicBezTo>
                    <a:cubicBezTo>
                      <a:pt x="239518" y="181217"/>
                      <a:pt x="274984" y="164213"/>
                      <a:pt x="316280" y="159355"/>
                    </a:cubicBezTo>
                    <a:cubicBezTo>
                      <a:pt x="316280" y="159355"/>
                      <a:pt x="316280" y="159355"/>
                      <a:pt x="316280" y="159355"/>
                    </a:cubicBezTo>
                    <a:cubicBezTo>
                      <a:pt x="316766" y="156925"/>
                      <a:pt x="318709" y="154010"/>
                      <a:pt x="320653" y="152067"/>
                    </a:cubicBezTo>
                    <a:cubicBezTo>
                      <a:pt x="320653" y="152067"/>
                      <a:pt x="320653" y="152067"/>
                      <a:pt x="320653" y="150610"/>
                    </a:cubicBezTo>
                    <a:cubicBezTo>
                      <a:pt x="320653" y="141379"/>
                      <a:pt x="319195" y="132148"/>
                      <a:pt x="317738" y="123889"/>
                    </a:cubicBezTo>
                    <a:cubicBezTo>
                      <a:pt x="316766" y="118058"/>
                      <a:pt x="316766" y="113200"/>
                      <a:pt x="317252" y="108828"/>
                    </a:cubicBezTo>
                    <a:cubicBezTo>
                      <a:pt x="318709" y="97167"/>
                      <a:pt x="327454" y="88908"/>
                      <a:pt x="339114" y="89394"/>
                    </a:cubicBezTo>
                    <a:cubicBezTo>
                      <a:pt x="348831" y="89394"/>
                      <a:pt x="357090" y="97653"/>
                      <a:pt x="358548" y="107370"/>
                    </a:cubicBezTo>
                    <a:lnTo>
                      <a:pt x="360977" y="107370"/>
                    </a:lnTo>
                    <a:lnTo>
                      <a:pt x="358062" y="122431"/>
                    </a:lnTo>
                    <a:cubicBezTo>
                      <a:pt x="357576" y="128261"/>
                      <a:pt x="356605" y="134091"/>
                      <a:pt x="355633" y="139921"/>
                    </a:cubicBezTo>
                    <a:cubicBezTo>
                      <a:pt x="355633" y="143322"/>
                      <a:pt x="355633" y="146723"/>
                      <a:pt x="355633" y="150124"/>
                    </a:cubicBezTo>
                    <a:lnTo>
                      <a:pt x="355633" y="152553"/>
                    </a:lnTo>
                    <a:cubicBezTo>
                      <a:pt x="355633" y="152553"/>
                      <a:pt x="359034" y="155954"/>
                      <a:pt x="360005" y="159840"/>
                    </a:cubicBezTo>
                    <a:cubicBezTo>
                      <a:pt x="374095" y="161784"/>
                      <a:pt x="385755" y="164213"/>
                      <a:pt x="396443" y="168100"/>
                    </a:cubicBezTo>
                    <a:cubicBezTo>
                      <a:pt x="423164" y="177331"/>
                      <a:pt x="446970" y="191906"/>
                      <a:pt x="467376" y="211339"/>
                    </a:cubicBezTo>
                    <a:cubicBezTo>
                      <a:pt x="469805" y="209882"/>
                      <a:pt x="472234" y="209396"/>
                      <a:pt x="475149" y="209882"/>
                    </a:cubicBezTo>
                    <a:cubicBezTo>
                      <a:pt x="475149" y="209882"/>
                      <a:pt x="476121" y="209882"/>
                      <a:pt x="478550" y="207938"/>
                    </a:cubicBezTo>
                    <a:cubicBezTo>
                      <a:pt x="484380" y="203080"/>
                      <a:pt x="490210" y="197250"/>
                      <a:pt x="496040" y="190934"/>
                    </a:cubicBezTo>
                    <a:cubicBezTo>
                      <a:pt x="499441" y="187047"/>
                      <a:pt x="503328" y="182675"/>
                      <a:pt x="508672" y="179760"/>
                    </a:cubicBezTo>
                    <a:cubicBezTo>
                      <a:pt x="514988" y="175873"/>
                      <a:pt x="522761" y="175387"/>
                      <a:pt x="529563" y="178302"/>
                    </a:cubicBezTo>
                    <a:cubicBezTo>
                      <a:pt x="535393" y="181217"/>
                      <a:pt x="539765" y="186562"/>
                      <a:pt x="541223" y="193363"/>
                    </a:cubicBezTo>
                    <a:cubicBezTo>
                      <a:pt x="542195" y="198707"/>
                      <a:pt x="541223" y="205995"/>
                      <a:pt x="533935" y="213768"/>
                    </a:cubicBezTo>
                    <a:cubicBezTo>
                      <a:pt x="530049" y="217655"/>
                      <a:pt x="525190" y="220570"/>
                      <a:pt x="520818" y="222513"/>
                    </a:cubicBezTo>
                    <a:cubicBezTo>
                      <a:pt x="512073" y="227372"/>
                      <a:pt x="505271" y="231744"/>
                      <a:pt x="499927" y="236603"/>
                    </a:cubicBezTo>
                    <a:cubicBezTo>
                      <a:pt x="498469" y="238060"/>
                      <a:pt x="498469" y="238546"/>
                      <a:pt x="498469" y="239032"/>
                    </a:cubicBezTo>
                    <a:cubicBezTo>
                      <a:pt x="498469" y="241947"/>
                      <a:pt x="497497" y="244376"/>
                      <a:pt x="495554" y="246320"/>
                    </a:cubicBezTo>
                    <a:cubicBezTo>
                      <a:pt x="512073" y="273526"/>
                      <a:pt x="521303" y="302677"/>
                      <a:pt x="523247" y="333770"/>
                    </a:cubicBezTo>
                    <a:cubicBezTo>
                      <a:pt x="523733" y="343001"/>
                      <a:pt x="523247" y="352232"/>
                      <a:pt x="522275" y="361949"/>
                    </a:cubicBezTo>
                    <a:cubicBezTo>
                      <a:pt x="525190" y="362921"/>
                      <a:pt x="526162" y="365350"/>
                      <a:pt x="527134" y="366321"/>
                    </a:cubicBezTo>
                    <a:cubicBezTo>
                      <a:pt x="528105" y="368265"/>
                      <a:pt x="529563" y="368751"/>
                      <a:pt x="534907" y="369236"/>
                    </a:cubicBezTo>
                    <a:cubicBezTo>
                      <a:pt x="541709" y="370208"/>
                      <a:pt x="546567" y="370694"/>
                      <a:pt x="551911" y="371180"/>
                    </a:cubicBezTo>
                    <a:cubicBezTo>
                      <a:pt x="556770" y="371666"/>
                      <a:pt x="561628" y="372151"/>
                      <a:pt x="566972" y="373123"/>
                    </a:cubicBezTo>
                    <a:cubicBezTo>
                      <a:pt x="575231" y="374095"/>
                      <a:pt x="581547" y="378953"/>
                      <a:pt x="584948" y="386241"/>
                    </a:cubicBezTo>
                    <a:lnTo>
                      <a:pt x="584948" y="386241"/>
                    </a:lnTo>
                    <a:cubicBezTo>
                      <a:pt x="588349" y="393528"/>
                      <a:pt x="587377" y="400816"/>
                      <a:pt x="582519" y="407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6" name="Google Shape;3256;p84"/>
              <p:cNvSpPr/>
              <p:nvPr/>
            </p:nvSpPr>
            <p:spPr>
              <a:xfrm>
                <a:off x="1099094" y="1462359"/>
                <a:ext cx="7287" cy="485"/>
              </a:xfrm>
              <a:custGeom>
                <a:avLst/>
                <a:gdLst/>
                <a:ahLst/>
                <a:cxnLst/>
                <a:rect l="l" t="t" r="r" b="b"/>
                <a:pathLst>
                  <a:path w="7287" h="485" extrusionOk="0">
                    <a:moveTo>
                      <a:pt x="0" y="0"/>
                    </a:moveTo>
                    <a:lnTo>
                      <a:pt x="7288" y="48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7" name="Google Shape;3257;p84"/>
              <p:cNvSpPr/>
              <p:nvPr/>
            </p:nvSpPr>
            <p:spPr>
              <a:xfrm>
                <a:off x="952371" y="1440011"/>
                <a:ext cx="26235" cy="25749"/>
              </a:xfrm>
              <a:custGeom>
                <a:avLst/>
                <a:gdLst/>
                <a:ahLst/>
                <a:cxnLst/>
                <a:rect l="l" t="t" r="r" b="b"/>
                <a:pathLst>
                  <a:path w="26235" h="25749" extrusionOk="0">
                    <a:moveTo>
                      <a:pt x="13118" y="25749"/>
                    </a:moveTo>
                    <a:lnTo>
                      <a:pt x="23806" y="20405"/>
                    </a:lnTo>
                    <a:lnTo>
                      <a:pt x="26235" y="9231"/>
                    </a:lnTo>
                    <a:lnTo>
                      <a:pt x="18948" y="0"/>
                    </a:lnTo>
                    <a:lnTo>
                      <a:pt x="7288" y="0"/>
                    </a:lnTo>
                    <a:lnTo>
                      <a:pt x="0" y="9231"/>
                    </a:lnTo>
                    <a:lnTo>
                      <a:pt x="2429" y="20405"/>
                    </a:lnTo>
                    <a:lnTo>
                      <a:pt x="13118" y="257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8" name="Google Shape;3258;p84"/>
              <p:cNvSpPr/>
              <p:nvPr/>
            </p:nvSpPr>
            <p:spPr>
              <a:xfrm>
                <a:off x="1035871" y="1388512"/>
                <a:ext cx="63708" cy="67045"/>
              </a:xfrm>
              <a:custGeom>
                <a:avLst/>
                <a:gdLst/>
                <a:ahLst/>
                <a:cxnLst/>
                <a:rect l="l" t="t" r="r" b="b"/>
                <a:pathLst>
                  <a:path w="63708" h="67045" extrusionOk="0">
                    <a:moveTo>
                      <a:pt x="63709" y="63645"/>
                    </a:moveTo>
                    <a:cubicBezTo>
                      <a:pt x="63709" y="59758"/>
                      <a:pt x="63709" y="56357"/>
                      <a:pt x="63223" y="52956"/>
                    </a:cubicBezTo>
                    <a:cubicBezTo>
                      <a:pt x="61766" y="34009"/>
                      <a:pt x="56421" y="16518"/>
                      <a:pt x="48162" y="0"/>
                    </a:cubicBezTo>
                    <a:lnTo>
                      <a:pt x="2008" y="41296"/>
                    </a:lnTo>
                    <a:cubicBezTo>
                      <a:pt x="2008" y="41296"/>
                      <a:pt x="-422" y="44697"/>
                      <a:pt x="64" y="46155"/>
                    </a:cubicBezTo>
                    <a:cubicBezTo>
                      <a:pt x="64" y="47612"/>
                      <a:pt x="2008" y="49070"/>
                      <a:pt x="3951" y="49555"/>
                    </a:cubicBezTo>
                    <a:cubicBezTo>
                      <a:pt x="18526" y="53928"/>
                      <a:pt x="33587" y="58300"/>
                      <a:pt x="48162" y="62673"/>
                    </a:cubicBezTo>
                    <a:lnTo>
                      <a:pt x="63709" y="67046"/>
                    </a:lnTo>
                    <a:cubicBezTo>
                      <a:pt x="63709" y="67046"/>
                      <a:pt x="63709" y="64616"/>
                      <a:pt x="63709" y="631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59" name="Google Shape;3259;p84"/>
            <p:cNvSpPr/>
            <p:nvPr/>
          </p:nvSpPr>
          <p:spPr>
            <a:xfrm>
              <a:off x="9600534" y="4096985"/>
              <a:ext cx="901479" cy="508763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0" name="Google Shape;3260;p84"/>
          <p:cNvGrpSpPr/>
          <p:nvPr/>
        </p:nvGrpSpPr>
        <p:grpSpPr>
          <a:xfrm>
            <a:off x="3323306" y="2997181"/>
            <a:ext cx="325298" cy="325526"/>
            <a:chOff x="658852" y="4954224"/>
            <a:chExt cx="583799" cy="584209"/>
          </a:xfrm>
        </p:grpSpPr>
        <p:sp>
          <p:nvSpPr>
            <p:cNvPr id="3261" name="Google Shape;3261;p84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2" name="Google Shape;3262;p84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263" name="Google Shape;3263;p84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4" name="Google Shape;3264;p84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65" name="Google Shape;3265;p84"/>
          <p:cNvGrpSpPr/>
          <p:nvPr/>
        </p:nvGrpSpPr>
        <p:grpSpPr>
          <a:xfrm>
            <a:off x="3687515" y="2997181"/>
            <a:ext cx="325298" cy="325526"/>
            <a:chOff x="658852" y="4954224"/>
            <a:chExt cx="583799" cy="584209"/>
          </a:xfrm>
        </p:grpSpPr>
        <p:sp>
          <p:nvSpPr>
            <p:cNvPr id="3266" name="Google Shape;3266;p84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7" name="Google Shape;3267;p84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268" name="Google Shape;3268;p84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9" name="Google Shape;3269;p84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70" name="Google Shape;3270;p84"/>
          <p:cNvGrpSpPr/>
          <p:nvPr/>
        </p:nvGrpSpPr>
        <p:grpSpPr>
          <a:xfrm>
            <a:off x="4051725" y="2997181"/>
            <a:ext cx="325298" cy="325526"/>
            <a:chOff x="658852" y="4954224"/>
            <a:chExt cx="583799" cy="584209"/>
          </a:xfrm>
        </p:grpSpPr>
        <p:sp>
          <p:nvSpPr>
            <p:cNvPr id="3271" name="Google Shape;3271;p84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2" name="Google Shape;3272;p84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273" name="Google Shape;3273;p84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4" name="Google Shape;3274;p84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75" name="Google Shape;3275;p84"/>
          <p:cNvSpPr/>
          <p:nvPr/>
        </p:nvSpPr>
        <p:spPr>
          <a:xfrm>
            <a:off x="3210023" y="3221971"/>
            <a:ext cx="1274727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6" name="Google Shape;3276;p84"/>
          <p:cNvSpPr/>
          <p:nvPr/>
        </p:nvSpPr>
        <p:spPr>
          <a:xfrm>
            <a:off x="4662326" y="1277033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7" name="Google Shape;3277;p84"/>
          <p:cNvSpPr/>
          <p:nvPr/>
        </p:nvSpPr>
        <p:spPr>
          <a:xfrm>
            <a:off x="6345717" y="1277033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8" name="Google Shape;3278;p84"/>
          <p:cNvGrpSpPr/>
          <p:nvPr/>
        </p:nvGrpSpPr>
        <p:grpSpPr>
          <a:xfrm>
            <a:off x="6585209" y="4042707"/>
            <a:ext cx="2696559" cy="1077556"/>
            <a:chOff x="6233693" y="3638553"/>
            <a:chExt cx="2696559" cy="1077556"/>
          </a:xfrm>
        </p:grpSpPr>
        <p:sp>
          <p:nvSpPr>
            <p:cNvPr id="3279" name="Google Shape;3279;p84"/>
            <p:cNvSpPr/>
            <p:nvPr/>
          </p:nvSpPr>
          <p:spPr>
            <a:xfrm>
              <a:off x="6233693" y="3638553"/>
              <a:ext cx="2696559" cy="107755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E68C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vSphere Namespace C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84"/>
            <p:cNvSpPr/>
            <p:nvPr/>
          </p:nvSpPr>
          <p:spPr>
            <a:xfrm>
              <a:off x="6431073" y="4108836"/>
              <a:ext cx="2301798" cy="49691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Virtual Machines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81" name="Google Shape;3281;p84"/>
            <p:cNvGrpSpPr/>
            <p:nvPr/>
          </p:nvGrpSpPr>
          <p:grpSpPr>
            <a:xfrm>
              <a:off x="6732639" y="4207605"/>
              <a:ext cx="325298" cy="325526"/>
              <a:chOff x="658852" y="4954224"/>
              <a:chExt cx="583799" cy="584209"/>
            </a:xfrm>
          </p:grpSpPr>
          <p:sp>
            <p:nvSpPr>
              <p:cNvPr id="3282" name="Google Shape;3282;p84"/>
              <p:cNvSpPr/>
              <p:nvPr/>
            </p:nvSpPr>
            <p:spPr>
              <a:xfrm>
                <a:off x="658852" y="4954224"/>
                <a:ext cx="583799" cy="584209"/>
              </a:xfrm>
              <a:custGeom>
                <a:avLst/>
                <a:gdLst/>
                <a:ahLst/>
                <a:cxnLst/>
                <a:rect l="l" t="t" r="r" b="b"/>
                <a:pathLst>
                  <a:path w="583799" h="584209" extrusionOk="0">
                    <a:moveTo>
                      <a:pt x="491426" y="584210"/>
                    </a:moveTo>
                    <a:lnTo>
                      <a:pt x="0" y="584210"/>
                    </a:lnTo>
                    <a:lnTo>
                      <a:pt x="0" y="0"/>
                    </a:lnTo>
                    <a:lnTo>
                      <a:pt x="583799" y="0"/>
                    </a:lnTo>
                    <a:lnTo>
                      <a:pt x="583799" y="566146"/>
                    </a:lnTo>
                    <a:lnTo>
                      <a:pt x="542745" y="566146"/>
                    </a:lnTo>
                    <a:lnTo>
                      <a:pt x="542745" y="41055"/>
                    </a:lnTo>
                    <a:lnTo>
                      <a:pt x="41055" y="41055"/>
                    </a:lnTo>
                    <a:lnTo>
                      <a:pt x="41055" y="543155"/>
                    </a:lnTo>
                    <a:lnTo>
                      <a:pt x="491426" y="543155"/>
                    </a:lnTo>
                    <a:lnTo>
                      <a:pt x="491426" y="5842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83" name="Google Shape;3283;p84"/>
              <p:cNvGrpSpPr/>
              <p:nvPr/>
            </p:nvGrpSpPr>
            <p:grpSpPr>
              <a:xfrm>
                <a:off x="834156" y="5211637"/>
                <a:ext cx="216359" cy="78004"/>
                <a:chOff x="834156" y="5211637"/>
                <a:chExt cx="216359" cy="78004"/>
              </a:xfrm>
            </p:grpSpPr>
            <p:sp>
              <p:nvSpPr>
                <p:cNvPr id="3284" name="Google Shape;3284;p84"/>
                <p:cNvSpPr/>
                <p:nvPr/>
              </p:nvSpPr>
              <p:spPr>
                <a:xfrm>
                  <a:off x="834156" y="5213690"/>
                  <a:ext cx="81699" cy="75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99" h="75951" extrusionOk="0">
                      <a:moveTo>
                        <a:pt x="0" y="0"/>
                      </a:moveTo>
                      <a:lnTo>
                        <a:pt x="18885" y="0"/>
                      </a:lnTo>
                      <a:lnTo>
                        <a:pt x="41055" y="55013"/>
                      </a:lnTo>
                      <a:lnTo>
                        <a:pt x="62814" y="0"/>
                      </a:lnTo>
                      <a:lnTo>
                        <a:pt x="81699" y="0"/>
                      </a:lnTo>
                      <a:lnTo>
                        <a:pt x="49676" y="75951"/>
                      </a:lnTo>
                      <a:lnTo>
                        <a:pt x="32844" y="759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5" name="Google Shape;3285;p84"/>
                <p:cNvSpPr/>
                <p:nvPr/>
              </p:nvSpPr>
              <p:spPr>
                <a:xfrm>
                  <a:off x="935151" y="5211637"/>
                  <a:ext cx="115364" cy="7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64" h="77593" extrusionOk="0">
                      <a:moveTo>
                        <a:pt x="101816" y="3695"/>
                      </a:moveTo>
                      <a:cubicBezTo>
                        <a:pt x="105921" y="6158"/>
                        <a:pt x="109206" y="9853"/>
                        <a:pt x="111669" y="13959"/>
                      </a:cubicBezTo>
                      <a:cubicBezTo>
                        <a:pt x="114132" y="18475"/>
                        <a:pt x="115364" y="23401"/>
                        <a:pt x="115364" y="29149"/>
                      </a:cubicBezTo>
                      <a:lnTo>
                        <a:pt x="115364" y="77594"/>
                      </a:lnTo>
                      <a:lnTo>
                        <a:pt x="97710" y="77594"/>
                      </a:lnTo>
                      <a:lnTo>
                        <a:pt x="97710" y="32433"/>
                      </a:lnTo>
                      <a:cubicBezTo>
                        <a:pt x="97710" y="27507"/>
                        <a:pt x="96479" y="23401"/>
                        <a:pt x="93605" y="20117"/>
                      </a:cubicBezTo>
                      <a:cubicBezTo>
                        <a:pt x="90731" y="16832"/>
                        <a:pt x="87447" y="15190"/>
                        <a:pt x="82931" y="15190"/>
                      </a:cubicBezTo>
                      <a:cubicBezTo>
                        <a:pt x="78415" y="15190"/>
                        <a:pt x="73899" y="16832"/>
                        <a:pt x="71025" y="19706"/>
                      </a:cubicBezTo>
                      <a:cubicBezTo>
                        <a:pt x="67740" y="22580"/>
                        <a:pt x="66509" y="26686"/>
                        <a:pt x="66509" y="31202"/>
                      </a:cubicBezTo>
                      <a:lnTo>
                        <a:pt x="66509" y="77594"/>
                      </a:lnTo>
                      <a:lnTo>
                        <a:pt x="49266" y="77594"/>
                      </a:lnTo>
                      <a:lnTo>
                        <a:pt x="49266" y="32433"/>
                      </a:lnTo>
                      <a:cubicBezTo>
                        <a:pt x="49266" y="27507"/>
                        <a:pt x="48034" y="23401"/>
                        <a:pt x="45160" y="20117"/>
                      </a:cubicBezTo>
                      <a:cubicBezTo>
                        <a:pt x="42286" y="16832"/>
                        <a:pt x="39002" y="15190"/>
                        <a:pt x="34486" y="15190"/>
                      </a:cubicBezTo>
                      <a:cubicBezTo>
                        <a:pt x="29970" y="15190"/>
                        <a:pt x="25865" y="16832"/>
                        <a:pt x="22580" y="19706"/>
                      </a:cubicBezTo>
                      <a:cubicBezTo>
                        <a:pt x="19296" y="22580"/>
                        <a:pt x="18064" y="26686"/>
                        <a:pt x="18064" y="31202"/>
                      </a:cubicBezTo>
                      <a:lnTo>
                        <a:pt x="18064" y="77594"/>
                      </a:lnTo>
                      <a:lnTo>
                        <a:pt x="0" y="77594"/>
                      </a:lnTo>
                      <a:lnTo>
                        <a:pt x="0" y="1642"/>
                      </a:lnTo>
                      <a:lnTo>
                        <a:pt x="18064" y="1642"/>
                      </a:lnTo>
                      <a:lnTo>
                        <a:pt x="18064" y="11906"/>
                      </a:lnTo>
                      <a:cubicBezTo>
                        <a:pt x="20117" y="8211"/>
                        <a:pt x="22991" y="5337"/>
                        <a:pt x="26686" y="3284"/>
                      </a:cubicBezTo>
                      <a:cubicBezTo>
                        <a:pt x="30381" y="1232"/>
                        <a:pt x="34486" y="0"/>
                        <a:pt x="39413" y="0"/>
                      </a:cubicBezTo>
                      <a:cubicBezTo>
                        <a:pt x="44339" y="0"/>
                        <a:pt x="50497" y="1642"/>
                        <a:pt x="55424" y="4927"/>
                      </a:cubicBezTo>
                      <a:cubicBezTo>
                        <a:pt x="59940" y="8211"/>
                        <a:pt x="63224" y="12727"/>
                        <a:pt x="65277" y="18064"/>
                      </a:cubicBezTo>
                      <a:cubicBezTo>
                        <a:pt x="66509" y="12727"/>
                        <a:pt x="68972" y="8211"/>
                        <a:pt x="73078" y="4927"/>
                      </a:cubicBezTo>
                      <a:cubicBezTo>
                        <a:pt x="77183" y="1642"/>
                        <a:pt x="82110" y="0"/>
                        <a:pt x="88268" y="0"/>
                      </a:cubicBezTo>
                      <a:cubicBezTo>
                        <a:pt x="94426" y="0"/>
                        <a:pt x="98121" y="1232"/>
                        <a:pt x="102226" y="36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86" name="Google Shape;3286;p84"/>
          <p:cNvSpPr/>
          <p:nvPr/>
        </p:nvSpPr>
        <p:spPr>
          <a:xfrm>
            <a:off x="5287871" y="4542072"/>
            <a:ext cx="657753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VKS Clusters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7" name="Google Shape;3287;p84"/>
          <p:cNvSpPr/>
          <p:nvPr/>
        </p:nvSpPr>
        <p:spPr>
          <a:xfrm>
            <a:off x="3190461" y="5779084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8" name="Google Shape;3288;p84"/>
          <p:cNvCxnSpPr>
            <a:stCxn id="3216" idx="2"/>
            <a:endCxn id="3287" idx="0"/>
          </p:cNvCxnSpPr>
          <p:nvPr/>
        </p:nvCxnSpPr>
        <p:spPr>
          <a:xfrm flipH="1">
            <a:off x="3773677" y="5544184"/>
            <a:ext cx="2100" cy="2349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89" name="Google Shape;3289;p84"/>
          <p:cNvSpPr/>
          <p:nvPr/>
        </p:nvSpPr>
        <p:spPr>
          <a:xfrm>
            <a:off x="4877282" y="5777238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0" name="Google Shape;3290;p84"/>
          <p:cNvCxnSpPr>
            <a:stCxn id="3217" idx="2"/>
            <a:endCxn id="3289" idx="0"/>
          </p:cNvCxnSpPr>
          <p:nvPr/>
        </p:nvCxnSpPr>
        <p:spPr>
          <a:xfrm>
            <a:off x="5455994" y="5544184"/>
            <a:ext cx="4500" cy="2331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91" name="Google Shape;3291;p84"/>
          <p:cNvCxnSpPr>
            <a:stCxn id="3218" idx="2"/>
            <a:endCxn id="3292" idx="0"/>
          </p:cNvCxnSpPr>
          <p:nvPr/>
        </p:nvCxnSpPr>
        <p:spPr>
          <a:xfrm>
            <a:off x="7138218" y="5544184"/>
            <a:ext cx="3300" cy="2397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92" name="Google Shape;3292;p84"/>
          <p:cNvSpPr/>
          <p:nvPr/>
        </p:nvSpPr>
        <p:spPr>
          <a:xfrm>
            <a:off x="6558221" y="5783854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3" name="Google Shape;3293;p84"/>
          <p:cNvSpPr/>
          <p:nvPr/>
        </p:nvSpPr>
        <p:spPr>
          <a:xfrm>
            <a:off x="8245042" y="5783854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4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4" name="Google Shape;3294;p84"/>
          <p:cNvCxnSpPr>
            <a:stCxn id="3219" idx="2"/>
            <a:endCxn id="3293" idx="0"/>
          </p:cNvCxnSpPr>
          <p:nvPr/>
        </p:nvCxnSpPr>
        <p:spPr>
          <a:xfrm flipH="1">
            <a:off x="8828356" y="5544184"/>
            <a:ext cx="3300" cy="2397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5747-7881-A80E-A5E8-82FF1E41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Three Management Zones with Combined Workload Zones Model v1.0</a:t>
            </a:r>
            <a:endParaRPr lang="en-US" sz="2400" dirty="0"/>
          </a:p>
        </p:txBody>
      </p:sp>
      <p:sp>
        <p:nvSpPr>
          <p:cNvPr id="3308" name="Google Shape;3308;p86"/>
          <p:cNvSpPr/>
          <p:nvPr/>
        </p:nvSpPr>
        <p:spPr>
          <a:xfrm flipH="1">
            <a:off x="2464448" y="1052155"/>
            <a:ext cx="7452111" cy="5204387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9" name="Google Shape;3309;p86"/>
          <p:cNvSpPr/>
          <p:nvPr/>
        </p:nvSpPr>
        <p:spPr>
          <a:xfrm flipH="1">
            <a:off x="2620908" y="1744512"/>
            <a:ext cx="2272554" cy="38251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0" name="Google Shape;3310;p86"/>
          <p:cNvSpPr/>
          <p:nvPr/>
        </p:nvSpPr>
        <p:spPr>
          <a:xfrm>
            <a:off x="2718810" y="2000339"/>
            <a:ext cx="2076750" cy="3458688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1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1" name="Google Shape;3311;p86"/>
          <p:cNvSpPr/>
          <p:nvPr/>
        </p:nvSpPr>
        <p:spPr>
          <a:xfrm>
            <a:off x="4577499" y="1318034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2" name="Google Shape;3312;p86"/>
          <p:cNvSpPr/>
          <p:nvPr/>
        </p:nvSpPr>
        <p:spPr>
          <a:xfrm>
            <a:off x="6260890" y="1318034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13" name="Google Shape;3313;p86"/>
          <p:cNvGrpSpPr/>
          <p:nvPr/>
        </p:nvGrpSpPr>
        <p:grpSpPr>
          <a:xfrm>
            <a:off x="3004872" y="2816403"/>
            <a:ext cx="1643606" cy="472870"/>
            <a:chOff x="2703176" y="3135473"/>
            <a:chExt cx="1643606" cy="472870"/>
          </a:xfrm>
        </p:grpSpPr>
        <p:sp>
          <p:nvSpPr>
            <p:cNvPr id="3314" name="Google Shape;3314;p86"/>
            <p:cNvSpPr/>
            <p:nvPr/>
          </p:nvSpPr>
          <p:spPr>
            <a:xfrm>
              <a:off x="2930788" y="3135473"/>
              <a:ext cx="1415994" cy="47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Plane VM 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5" name="Google Shape;3315;p86"/>
            <p:cNvGrpSpPr/>
            <p:nvPr/>
          </p:nvGrpSpPr>
          <p:grpSpPr>
            <a:xfrm>
              <a:off x="2703176" y="3213980"/>
              <a:ext cx="325298" cy="325526"/>
              <a:chOff x="658852" y="4954224"/>
              <a:chExt cx="583799" cy="584209"/>
            </a:xfrm>
          </p:grpSpPr>
          <p:sp>
            <p:nvSpPr>
              <p:cNvPr id="3316" name="Google Shape;3316;p86"/>
              <p:cNvSpPr/>
              <p:nvPr/>
            </p:nvSpPr>
            <p:spPr>
              <a:xfrm>
                <a:off x="658852" y="4954224"/>
                <a:ext cx="583799" cy="584209"/>
              </a:xfrm>
              <a:custGeom>
                <a:avLst/>
                <a:gdLst/>
                <a:ahLst/>
                <a:cxnLst/>
                <a:rect l="l" t="t" r="r" b="b"/>
                <a:pathLst>
                  <a:path w="583799" h="584209" extrusionOk="0">
                    <a:moveTo>
                      <a:pt x="491426" y="584210"/>
                    </a:moveTo>
                    <a:lnTo>
                      <a:pt x="0" y="584210"/>
                    </a:lnTo>
                    <a:lnTo>
                      <a:pt x="0" y="0"/>
                    </a:lnTo>
                    <a:lnTo>
                      <a:pt x="583799" y="0"/>
                    </a:lnTo>
                    <a:lnTo>
                      <a:pt x="583799" y="566146"/>
                    </a:lnTo>
                    <a:lnTo>
                      <a:pt x="542745" y="566146"/>
                    </a:lnTo>
                    <a:lnTo>
                      <a:pt x="542745" y="41055"/>
                    </a:lnTo>
                    <a:lnTo>
                      <a:pt x="41055" y="41055"/>
                    </a:lnTo>
                    <a:lnTo>
                      <a:pt x="41055" y="543155"/>
                    </a:lnTo>
                    <a:lnTo>
                      <a:pt x="491426" y="543155"/>
                    </a:lnTo>
                    <a:lnTo>
                      <a:pt x="491426" y="58421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17" name="Google Shape;3317;p86"/>
              <p:cNvGrpSpPr/>
              <p:nvPr/>
            </p:nvGrpSpPr>
            <p:grpSpPr>
              <a:xfrm>
                <a:off x="834156" y="5211637"/>
                <a:ext cx="216359" cy="78004"/>
                <a:chOff x="834156" y="5211637"/>
                <a:chExt cx="216359" cy="78004"/>
              </a:xfrm>
            </p:grpSpPr>
            <p:sp>
              <p:nvSpPr>
                <p:cNvPr id="3318" name="Google Shape;3318;p86"/>
                <p:cNvSpPr/>
                <p:nvPr/>
              </p:nvSpPr>
              <p:spPr>
                <a:xfrm>
                  <a:off x="834156" y="5213690"/>
                  <a:ext cx="81699" cy="75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99" h="75951" extrusionOk="0">
                      <a:moveTo>
                        <a:pt x="0" y="0"/>
                      </a:moveTo>
                      <a:lnTo>
                        <a:pt x="18885" y="0"/>
                      </a:lnTo>
                      <a:lnTo>
                        <a:pt x="41055" y="55013"/>
                      </a:lnTo>
                      <a:lnTo>
                        <a:pt x="62814" y="0"/>
                      </a:lnTo>
                      <a:lnTo>
                        <a:pt x="81699" y="0"/>
                      </a:lnTo>
                      <a:lnTo>
                        <a:pt x="49676" y="75951"/>
                      </a:lnTo>
                      <a:lnTo>
                        <a:pt x="32844" y="759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9" name="Google Shape;3319;p86"/>
                <p:cNvSpPr/>
                <p:nvPr/>
              </p:nvSpPr>
              <p:spPr>
                <a:xfrm>
                  <a:off x="935151" y="5211637"/>
                  <a:ext cx="115364" cy="7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64" h="77593" extrusionOk="0">
                      <a:moveTo>
                        <a:pt x="101816" y="3695"/>
                      </a:moveTo>
                      <a:cubicBezTo>
                        <a:pt x="105921" y="6158"/>
                        <a:pt x="109206" y="9853"/>
                        <a:pt x="111669" y="13959"/>
                      </a:cubicBezTo>
                      <a:cubicBezTo>
                        <a:pt x="114132" y="18475"/>
                        <a:pt x="115364" y="23401"/>
                        <a:pt x="115364" y="29149"/>
                      </a:cubicBezTo>
                      <a:lnTo>
                        <a:pt x="115364" y="77594"/>
                      </a:lnTo>
                      <a:lnTo>
                        <a:pt x="97710" y="77594"/>
                      </a:lnTo>
                      <a:lnTo>
                        <a:pt x="97710" y="32433"/>
                      </a:lnTo>
                      <a:cubicBezTo>
                        <a:pt x="97710" y="27507"/>
                        <a:pt x="96479" y="23401"/>
                        <a:pt x="93605" y="20117"/>
                      </a:cubicBezTo>
                      <a:cubicBezTo>
                        <a:pt x="90731" y="16832"/>
                        <a:pt x="87447" y="15190"/>
                        <a:pt x="82931" y="15190"/>
                      </a:cubicBezTo>
                      <a:cubicBezTo>
                        <a:pt x="78415" y="15190"/>
                        <a:pt x="73899" y="16832"/>
                        <a:pt x="71025" y="19706"/>
                      </a:cubicBezTo>
                      <a:cubicBezTo>
                        <a:pt x="67740" y="22580"/>
                        <a:pt x="66509" y="26686"/>
                        <a:pt x="66509" y="31202"/>
                      </a:cubicBezTo>
                      <a:lnTo>
                        <a:pt x="66509" y="77594"/>
                      </a:lnTo>
                      <a:lnTo>
                        <a:pt x="49266" y="77594"/>
                      </a:lnTo>
                      <a:lnTo>
                        <a:pt x="49266" y="32433"/>
                      </a:lnTo>
                      <a:cubicBezTo>
                        <a:pt x="49266" y="27507"/>
                        <a:pt x="48034" y="23401"/>
                        <a:pt x="45160" y="20117"/>
                      </a:cubicBezTo>
                      <a:cubicBezTo>
                        <a:pt x="42286" y="16832"/>
                        <a:pt x="39002" y="15190"/>
                        <a:pt x="34486" y="15190"/>
                      </a:cubicBezTo>
                      <a:cubicBezTo>
                        <a:pt x="29970" y="15190"/>
                        <a:pt x="25865" y="16832"/>
                        <a:pt x="22580" y="19706"/>
                      </a:cubicBezTo>
                      <a:cubicBezTo>
                        <a:pt x="19296" y="22580"/>
                        <a:pt x="18064" y="26686"/>
                        <a:pt x="18064" y="31202"/>
                      </a:cubicBezTo>
                      <a:lnTo>
                        <a:pt x="18064" y="77594"/>
                      </a:lnTo>
                      <a:lnTo>
                        <a:pt x="0" y="77594"/>
                      </a:lnTo>
                      <a:lnTo>
                        <a:pt x="0" y="1642"/>
                      </a:lnTo>
                      <a:lnTo>
                        <a:pt x="18064" y="1642"/>
                      </a:lnTo>
                      <a:lnTo>
                        <a:pt x="18064" y="11906"/>
                      </a:lnTo>
                      <a:cubicBezTo>
                        <a:pt x="20117" y="8211"/>
                        <a:pt x="22991" y="5337"/>
                        <a:pt x="26686" y="3284"/>
                      </a:cubicBezTo>
                      <a:cubicBezTo>
                        <a:pt x="30381" y="1232"/>
                        <a:pt x="34486" y="0"/>
                        <a:pt x="39413" y="0"/>
                      </a:cubicBezTo>
                      <a:cubicBezTo>
                        <a:pt x="44339" y="0"/>
                        <a:pt x="50497" y="1642"/>
                        <a:pt x="55424" y="4927"/>
                      </a:cubicBezTo>
                      <a:cubicBezTo>
                        <a:pt x="59940" y="8211"/>
                        <a:pt x="63224" y="12727"/>
                        <a:pt x="65277" y="18064"/>
                      </a:cubicBezTo>
                      <a:cubicBezTo>
                        <a:pt x="66509" y="12727"/>
                        <a:pt x="68972" y="8211"/>
                        <a:pt x="73078" y="4927"/>
                      </a:cubicBezTo>
                      <a:cubicBezTo>
                        <a:pt x="77183" y="1642"/>
                        <a:pt x="82110" y="0"/>
                        <a:pt x="88268" y="0"/>
                      </a:cubicBezTo>
                      <a:cubicBezTo>
                        <a:pt x="94426" y="0"/>
                        <a:pt x="98121" y="1232"/>
                        <a:pt x="102226" y="36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320" name="Google Shape;3320;p86"/>
          <p:cNvSpPr/>
          <p:nvPr/>
        </p:nvSpPr>
        <p:spPr>
          <a:xfrm flipH="1">
            <a:off x="5063818" y="1744512"/>
            <a:ext cx="2272554" cy="38251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1" name="Google Shape;3321;p86"/>
          <p:cNvSpPr/>
          <p:nvPr/>
        </p:nvSpPr>
        <p:spPr>
          <a:xfrm>
            <a:off x="5161720" y="2000339"/>
            <a:ext cx="2076750" cy="3458688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2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2" name="Google Shape;3322;p86"/>
          <p:cNvSpPr/>
          <p:nvPr/>
        </p:nvSpPr>
        <p:spPr>
          <a:xfrm flipH="1">
            <a:off x="7500345" y="1744512"/>
            <a:ext cx="2272554" cy="38251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3" name="Google Shape;3323;p86"/>
          <p:cNvSpPr/>
          <p:nvPr/>
        </p:nvSpPr>
        <p:spPr>
          <a:xfrm>
            <a:off x="7598247" y="2000339"/>
            <a:ext cx="2076750" cy="3458688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3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4" name="Google Shape;3324;p86"/>
          <p:cNvSpPr/>
          <p:nvPr/>
        </p:nvSpPr>
        <p:spPr>
          <a:xfrm>
            <a:off x="2875656" y="3459853"/>
            <a:ext cx="6587509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A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5" name="Google Shape;3325;p86"/>
          <p:cNvSpPr/>
          <p:nvPr/>
        </p:nvSpPr>
        <p:spPr>
          <a:xfrm>
            <a:off x="2976919" y="3697024"/>
            <a:ext cx="6375836" cy="4728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6" name="Google Shape;3326;p86"/>
          <p:cNvSpPr/>
          <p:nvPr/>
        </p:nvSpPr>
        <p:spPr>
          <a:xfrm flipH="1">
            <a:off x="2799454" y="2568956"/>
            <a:ext cx="6780718" cy="2816113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7" name="Google Shape;3327;p86"/>
          <p:cNvGrpSpPr/>
          <p:nvPr/>
        </p:nvGrpSpPr>
        <p:grpSpPr>
          <a:xfrm>
            <a:off x="5410953" y="2818821"/>
            <a:ext cx="1643606" cy="472870"/>
            <a:chOff x="2703176" y="3135473"/>
            <a:chExt cx="1643606" cy="472870"/>
          </a:xfrm>
        </p:grpSpPr>
        <p:sp>
          <p:nvSpPr>
            <p:cNvPr id="3328" name="Google Shape;3328;p86"/>
            <p:cNvSpPr/>
            <p:nvPr/>
          </p:nvSpPr>
          <p:spPr>
            <a:xfrm>
              <a:off x="2930788" y="3135473"/>
              <a:ext cx="1415994" cy="47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Plane VM 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9" name="Google Shape;3329;p86"/>
            <p:cNvGrpSpPr/>
            <p:nvPr/>
          </p:nvGrpSpPr>
          <p:grpSpPr>
            <a:xfrm>
              <a:off x="2703176" y="3213980"/>
              <a:ext cx="325298" cy="325526"/>
              <a:chOff x="658852" y="4954224"/>
              <a:chExt cx="583799" cy="584209"/>
            </a:xfrm>
          </p:grpSpPr>
          <p:sp>
            <p:nvSpPr>
              <p:cNvPr id="3330" name="Google Shape;3330;p86"/>
              <p:cNvSpPr/>
              <p:nvPr/>
            </p:nvSpPr>
            <p:spPr>
              <a:xfrm>
                <a:off x="658852" y="4954224"/>
                <a:ext cx="583799" cy="584209"/>
              </a:xfrm>
              <a:custGeom>
                <a:avLst/>
                <a:gdLst/>
                <a:ahLst/>
                <a:cxnLst/>
                <a:rect l="l" t="t" r="r" b="b"/>
                <a:pathLst>
                  <a:path w="583799" h="584209" extrusionOk="0">
                    <a:moveTo>
                      <a:pt x="491426" y="584210"/>
                    </a:moveTo>
                    <a:lnTo>
                      <a:pt x="0" y="584210"/>
                    </a:lnTo>
                    <a:lnTo>
                      <a:pt x="0" y="0"/>
                    </a:lnTo>
                    <a:lnTo>
                      <a:pt x="583799" y="0"/>
                    </a:lnTo>
                    <a:lnTo>
                      <a:pt x="583799" y="566146"/>
                    </a:lnTo>
                    <a:lnTo>
                      <a:pt x="542745" y="566146"/>
                    </a:lnTo>
                    <a:lnTo>
                      <a:pt x="542745" y="41055"/>
                    </a:lnTo>
                    <a:lnTo>
                      <a:pt x="41055" y="41055"/>
                    </a:lnTo>
                    <a:lnTo>
                      <a:pt x="41055" y="543155"/>
                    </a:lnTo>
                    <a:lnTo>
                      <a:pt x="491426" y="543155"/>
                    </a:lnTo>
                    <a:lnTo>
                      <a:pt x="491426" y="58421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31" name="Google Shape;3331;p86"/>
              <p:cNvGrpSpPr/>
              <p:nvPr/>
            </p:nvGrpSpPr>
            <p:grpSpPr>
              <a:xfrm>
                <a:off x="834156" y="5211637"/>
                <a:ext cx="216359" cy="78004"/>
                <a:chOff x="834156" y="5211637"/>
                <a:chExt cx="216359" cy="78004"/>
              </a:xfrm>
            </p:grpSpPr>
            <p:sp>
              <p:nvSpPr>
                <p:cNvPr id="3332" name="Google Shape;3332;p86"/>
                <p:cNvSpPr/>
                <p:nvPr/>
              </p:nvSpPr>
              <p:spPr>
                <a:xfrm>
                  <a:off x="834156" y="5213690"/>
                  <a:ext cx="81699" cy="75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99" h="75951" extrusionOk="0">
                      <a:moveTo>
                        <a:pt x="0" y="0"/>
                      </a:moveTo>
                      <a:lnTo>
                        <a:pt x="18885" y="0"/>
                      </a:lnTo>
                      <a:lnTo>
                        <a:pt x="41055" y="55013"/>
                      </a:lnTo>
                      <a:lnTo>
                        <a:pt x="62814" y="0"/>
                      </a:lnTo>
                      <a:lnTo>
                        <a:pt x="81699" y="0"/>
                      </a:lnTo>
                      <a:lnTo>
                        <a:pt x="49676" y="75951"/>
                      </a:lnTo>
                      <a:lnTo>
                        <a:pt x="32844" y="759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3" name="Google Shape;3333;p86"/>
                <p:cNvSpPr/>
                <p:nvPr/>
              </p:nvSpPr>
              <p:spPr>
                <a:xfrm>
                  <a:off x="935151" y="5211637"/>
                  <a:ext cx="115364" cy="7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64" h="77593" extrusionOk="0">
                      <a:moveTo>
                        <a:pt x="101816" y="3695"/>
                      </a:moveTo>
                      <a:cubicBezTo>
                        <a:pt x="105921" y="6158"/>
                        <a:pt x="109206" y="9853"/>
                        <a:pt x="111669" y="13959"/>
                      </a:cubicBezTo>
                      <a:cubicBezTo>
                        <a:pt x="114132" y="18475"/>
                        <a:pt x="115364" y="23401"/>
                        <a:pt x="115364" y="29149"/>
                      </a:cubicBezTo>
                      <a:lnTo>
                        <a:pt x="115364" y="77594"/>
                      </a:lnTo>
                      <a:lnTo>
                        <a:pt x="97710" y="77594"/>
                      </a:lnTo>
                      <a:lnTo>
                        <a:pt x="97710" y="32433"/>
                      </a:lnTo>
                      <a:cubicBezTo>
                        <a:pt x="97710" y="27507"/>
                        <a:pt x="96479" y="23401"/>
                        <a:pt x="93605" y="20117"/>
                      </a:cubicBezTo>
                      <a:cubicBezTo>
                        <a:pt x="90731" y="16832"/>
                        <a:pt x="87447" y="15190"/>
                        <a:pt x="82931" y="15190"/>
                      </a:cubicBezTo>
                      <a:cubicBezTo>
                        <a:pt x="78415" y="15190"/>
                        <a:pt x="73899" y="16832"/>
                        <a:pt x="71025" y="19706"/>
                      </a:cubicBezTo>
                      <a:cubicBezTo>
                        <a:pt x="67740" y="22580"/>
                        <a:pt x="66509" y="26686"/>
                        <a:pt x="66509" y="31202"/>
                      </a:cubicBezTo>
                      <a:lnTo>
                        <a:pt x="66509" y="77594"/>
                      </a:lnTo>
                      <a:lnTo>
                        <a:pt x="49266" y="77594"/>
                      </a:lnTo>
                      <a:lnTo>
                        <a:pt x="49266" y="32433"/>
                      </a:lnTo>
                      <a:cubicBezTo>
                        <a:pt x="49266" y="27507"/>
                        <a:pt x="48034" y="23401"/>
                        <a:pt x="45160" y="20117"/>
                      </a:cubicBezTo>
                      <a:cubicBezTo>
                        <a:pt x="42286" y="16832"/>
                        <a:pt x="39002" y="15190"/>
                        <a:pt x="34486" y="15190"/>
                      </a:cubicBezTo>
                      <a:cubicBezTo>
                        <a:pt x="29970" y="15190"/>
                        <a:pt x="25865" y="16832"/>
                        <a:pt x="22580" y="19706"/>
                      </a:cubicBezTo>
                      <a:cubicBezTo>
                        <a:pt x="19296" y="22580"/>
                        <a:pt x="18064" y="26686"/>
                        <a:pt x="18064" y="31202"/>
                      </a:cubicBezTo>
                      <a:lnTo>
                        <a:pt x="18064" y="77594"/>
                      </a:lnTo>
                      <a:lnTo>
                        <a:pt x="0" y="77594"/>
                      </a:lnTo>
                      <a:lnTo>
                        <a:pt x="0" y="1642"/>
                      </a:lnTo>
                      <a:lnTo>
                        <a:pt x="18064" y="1642"/>
                      </a:lnTo>
                      <a:lnTo>
                        <a:pt x="18064" y="11906"/>
                      </a:lnTo>
                      <a:cubicBezTo>
                        <a:pt x="20117" y="8211"/>
                        <a:pt x="22991" y="5337"/>
                        <a:pt x="26686" y="3284"/>
                      </a:cubicBezTo>
                      <a:cubicBezTo>
                        <a:pt x="30381" y="1232"/>
                        <a:pt x="34486" y="0"/>
                        <a:pt x="39413" y="0"/>
                      </a:cubicBezTo>
                      <a:cubicBezTo>
                        <a:pt x="44339" y="0"/>
                        <a:pt x="50497" y="1642"/>
                        <a:pt x="55424" y="4927"/>
                      </a:cubicBezTo>
                      <a:cubicBezTo>
                        <a:pt x="59940" y="8211"/>
                        <a:pt x="63224" y="12727"/>
                        <a:pt x="65277" y="18064"/>
                      </a:cubicBezTo>
                      <a:cubicBezTo>
                        <a:pt x="66509" y="12727"/>
                        <a:pt x="68972" y="8211"/>
                        <a:pt x="73078" y="4927"/>
                      </a:cubicBezTo>
                      <a:cubicBezTo>
                        <a:pt x="77183" y="1642"/>
                        <a:pt x="82110" y="0"/>
                        <a:pt x="88268" y="0"/>
                      </a:cubicBezTo>
                      <a:cubicBezTo>
                        <a:pt x="94426" y="0"/>
                        <a:pt x="98121" y="1232"/>
                        <a:pt x="102226" y="36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334" name="Google Shape;3334;p86"/>
          <p:cNvGrpSpPr/>
          <p:nvPr/>
        </p:nvGrpSpPr>
        <p:grpSpPr>
          <a:xfrm>
            <a:off x="7848228" y="2818821"/>
            <a:ext cx="1643606" cy="472870"/>
            <a:chOff x="2703176" y="3135473"/>
            <a:chExt cx="1643606" cy="472870"/>
          </a:xfrm>
        </p:grpSpPr>
        <p:sp>
          <p:nvSpPr>
            <p:cNvPr id="3335" name="Google Shape;3335;p86"/>
            <p:cNvSpPr/>
            <p:nvPr/>
          </p:nvSpPr>
          <p:spPr>
            <a:xfrm>
              <a:off x="2930788" y="3135473"/>
              <a:ext cx="1415994" cy="47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Plane VM 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6" name="Google Shape;3336;p86"/>
            <p:cNvGrpSpPr/>
            <p:nvPr/>
          </p:nvGrpSpPr>
          <p:grpSpPr>
            <a:xfrm>
              <a:off x="2703176" y="3213980"/>
              <a:ext cx="325298" cy="325526"/>
              <a:chOff x="658852" y="4954224"/>
              <a:chExt cx="583799" cy="584209"/>
            </a:xfrm>
          </p:grpSpPr>
          <p:sp>
            <p:nvSpPr>
              <p:cNvPr id="3337" name="Google Shape;3337;p86"/>
              <p:cNvSpPr/>
              <p:nvPr/>
            </p:nvSpPr>
            <p:spPr>
              <a:xfrm>
                <a:off x="658852" y="4954224"/>
                <a:ext cx="583799" cy="584209"/>
              </a:xfrm>
              <a:custGeom>
                <a:avLst/>
                <a:gdLst/>
                <a:ahLst/>
                <a:cxnLst/>
                <a:rect l="l" t="t" r="r" b="b"/>
                <a:pathLst>
                  <a:path w="583799" h="584209" extrusionOk="0">
                    <a:moveTo>
                      <a:pt x="491426" y="584210"/>
                    </a:moveTo>
                    <a:lnTo>
                      <a:pt x="0" y="584210"/>
                    </a:lnTo>
                    <a:lnTo>
                      <a:pt x="0" y="0"/>
                    </a:lnTo>
                    <a:lnTo>
                      <a:pt x="583799" y="0"/>
                    </a:lnTo>
                    <a:lnTo>
                      <a:pt x="583799" y="566146"/>
                    </a:lnTo>
                    <a:lnTo>
                      <a:pt x="542745" y="566146"/>
                    </a:lnTo>
                    <a:lnTo>
                      <a:pt x="542745" y="41055"/>
                    </a:lnTo>
                    <a:lnTo>
                      <a:pt x="41055" y="41055"/>
                    </a:lnTo>
                    <a:lnTo>
                      <a:pt x="41055" y="543155"/>
                    </a:lnTo>
                    <a:lnTo>
                      <a:pt x="491426" y="543155"/>
                    </a:lnTo>
                    <a:lnTo>
                      <a:pt x="491426" y="58421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38" name="Google Shape;3338;p86"/>
              <p:cNvGrpSpPr/>
              <p:nvPr/>
            </p:nvGrpSpPr>
            <p:grpSpPr>
              <a:xfrm>
                <a:off x="834156" y="5211637"/>
                <a:ext cx="216359" cy="78004"/>
                <a:chOff x="834156" y="5211637"/>
                <a:chExt cx="216359" cy="78004"/>
              </a:xfrm>
            </p:grpSpPr>
            <p:sp>
              <p:nvSpPr>
                <p:cNvPr id="3339" name="Google Shape;3339;p86"/>
                <p:cNvSpPr/>
                <p:nvPr/>
              </p:nvSpPr>
              <p:spPr>
                <a:xfrm>
                  <a:off x="834156" y="5213690"/>
                  <a:ext cx="81699" cy="75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99" h="75951" extrusionOk="0">
                      <a:moveTo>
                        <a:pt x="0" y="0"/>
                      </a:moveTo>
                      <a:lnTo>
                        <a:pt x="18885" y="0"/>
                      </a:lnTo>
                      <a:lnTo>
                        <a:pt x="41055" y="55013"/>
                      </a:lnTo>
                      <a:lnTo>
                        <a:pt x="62814" y="0"/>
                      </a:lnTo>
                      <a:lnTo>
                        <a:pt x="81699" y="0"/>
                      </a:lnTo>
                      <a:lnTo>
                        <a:pt x="49676" y="75951"/>
                      </a:lnTo>
                      <a:lnTo>
                        <a:pt x="32844" y="759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0" name="Google Shape;3340;p86"/>
                <p:cNvSpPr/>
                <p:nvPr/>
              </p:nvSpPr>
              <p:spPr>
                <a:xfrm>
                  <a:off x="935151" y="5211637"/>
                  <a:ext cx="115364" cy="7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64" h="77593" extrusionOk="0">
                      <a:moveTo>
                        <a:pt x="101816" y="3695"/>
                      </a:moveTo>
                      <a:cubicBezTo>
                        <a:pt x="105921" y="6158"/>
                        <a:pt x="109206" y="9853"/>
                        <a:pt x="111669" y="13959"/>
                      </a:cubicBezTo>
                      <a:cubicBezTo>
                        <a:pt x="114132" y="18475"/>
                        <a:pt x="115364" y="23401"/>
                        <a:pt x="115364" y="29149"/>
                      </a:cubicBezTo>
                      <a:lnTo>
                        <a:pt x="115364" y="77594"/>
                      </a:lnTo>
                      <a:lnTo>
                        <a:pt x="97710" y="77594"/>
                      </a:lnTo>
                      <a:lnTo>
                        <a:pt x="97710" y="32433"/>
                      </a:lnTo>
                      <a:cubicBezTo>
                        <a:pt x="97710" y="27507"/>
                        <a:pt x="96479" y="23401"/>
                        <a:pt x="93605" y="20117"/>
                      </a:cubicBezTo>
                      <a:cubicBezTo>
                        <a:pt x="90731" y="16832"/>
                        <a:pt x="87447" y="15190"/>
                        <a:pt x="82931" y="15190"/>
                      </a:cubicBezTo>
                      <a:cubicBezTo>
                        <a:pt x="78415" y="15190"/>
                        <a:pt x="73899" y="16832"/>
                        <a:pt x="71025" y="19706"/>
                      </a:cubicBezTo>
                      <a:cubicBezTo>
                        <a:pt x="67740" y="22580"/>
                        <a:pt x="66509" y="26686"/>
                        <a:pt x="66509" y="31202"/>
                      </a:cubicBezTo>
                      <a:lnTo>
                        <a:pt x="66509" y="77594"/>
                      </a:lnTo>
                      <a:lnTo>
                        <a:pt x="49266" y="77594"/>
                      </a:lnTo>
                      <a:lnTo>
                        <a:pt x="49266" y="32433"/>
                      </a:lnTo>
                      <a:cubicBezTo>
                        <a:pt x="49266" y="27507"/>
                        <a:pt x="48034" y="23401"/>
                        <a:pt x="45160" y="20117"/>
                      </a:cubicBezTo>
                      <a:cubicBezTo>
                        <a:pt x="42286" y="16832"/>
                        <a:pt x="39002" y="15190"/>
                        <a:pt x="34486" y="15190"/>
                      </a:cubicBezTo>
                      <a:cubicBezTo>
                        <a:pt x="29970" y="15190"/>
                        <a:pt x="25865" y="16832"/>
                        <a:pt x="22580" y="19706"/>
                      </a:cubicBezTo>
                      <a:cubicBezTo>
                        <a:pt x="19296" y="22580"/>
                        <a:pt x="18064" y="26686"/>
                        <a:pt x="18064" y="31202"/>
                      </a:cubicBezTo>
                      <a:lnTo>
                        <a:pt x="18064" y="77594"/>
                      </a:lnTo>
                      <a:lnTo>
                        <a:pt x="0" y="77594"/>
                      </a:lnTo>
                      <a:lnTo>
                        <a:pt x="0" y="1642"/>
                      </a:lnTo>
                      <a:lnTo>
                        <a:pt x="18064" y="1642"/>
                      </a:lnTo>
                      <a:lnTo>
                        <a:pt x="18064" y="11906"/>
                      </a:lnTo>
                      <a:cubicBezTo>
                        <a:pt x="20117" y="8211"/>
                        <a:pt x="22991" y="5337"/>
                        <a:pt x="26686" y="3284"/>
                      </a:cubicBezTo>
                      <a:cubicBezTo>
                        <a:pt x="30381" y="1232"/>
                        <a:pt x="34486" y="0"/>
                        <a:pt x="39413" y="0"/>
                      </a:cubicBezTo>
                      <a:cubicBezTo>
                        <a:pt x="44339" y="0"/>
                        <a:pt x="50497" y="1642"/>
                        <a:pt x="55424" y="4927"/>
                      </a:cubicBezTo>
                      <a:cubicBezTo>
                        <a:pt x="59940" y="8211"/>
                        <a:pt x="63224" y="12727"/>
                        <a:pt x="65277" y="18064"/>
                      </a:cubicBezTo>
                      <a:cubicBezTo>
                        <a:pt x="66509" y="12727"/>
                        <a:pt x="68972" y="8211"/>
                        <a:pt x="73078" y="4927"/>
                      </a:cubicBezTo>
                      <a:cubicBezTo>
                        <a:pt x="77183" y="1642"/>
                        <a:pt x="82110" y="0"/>
                        <a:pt x="88268" y="0"/>
                      </a:cubicBezTo>
                      <a:cubicBezTo>
                        <a:pt x="94426" y="0"/>
                        <a:pt x="98121" y="1232"/>
                        <a:pt x="102226" y="36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341" name="Google Shape;3341;p86"/>
          <p:cNvSpPr/>
          <p:nvPr/>
        </p:nvSpPr>
        <p:spPr>
          <a:xfrm>
            <a:off x="8216781" y="2631129"/>
            <a:ext cx="1415994" cy="1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2" name="Google Shape;3342;p86"/>
          <p:cNvGrpSpPr/>
          <p:nvPr/>
        </p:nvGrpSpPr>
        <p:grpSpPr>
          <a:xfrm>
            <a:off x="5578785" y="3809522"/>
            <a:ext cx="314932" cy="306639"/>
            <a:chOff x="624431" y="1107698"/>
            <a:chExt cx="682601" cy="664625"/>
          </a:xfrm>
        </p:grpSpPr>
        <p:sp>
          <p:nvSpPr>
            <p:cNvPr id="3343" name="Google Shape;3343;p86"/>
            <p:cNvSpPr/>
            <p:nvPr/>
          </p:nvSpPr>
          <p:spPr>
            <a:xfrm>
              <a:off x="1004841" y="1579446"/>
              <a:ext cx="1943" cy="7287"/>
            </a:xfrm>
            <a:custGeom>
              <a:avLst/>
              <a:gdLst/>
              <a:ahLst/>
              <a:cxnLst/>
              <a:rect l="l" t="t" r="r" b="b"/>
              <a:pathLst>
                <a:path w="1943" h="7287" extrusionOk="0">
                  <a:moveTo>
                    <a:pt x="0" y="486"/>
                  </a:moveTo>
                  <a:lnTo>
                    <a:pt x="1943" y="7288"/>
                  </a:lnTo>
                  <a:lnTo>
                    <a:pt x="486" y="0"/>
                  </a:lnTo>
                  <a:cubicBezTo>
                    <a:pt x="486" y="0"/>
                    <a:pt x="48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86"/>
            <p:cNvSpPr/>
            <p:nvPr/>
          </p:nvSpPr>
          <p:spPr>
            <a:xfrm>
              <a:off x="878038" y="1319523"/>
              <a:ext cx="62673" cy="67379"/>
            </a:xfrm>
            <a:custGeom>
              <a:avLst/>
              <a:gdLst/>
              <a:ahLst/>
              <a:cxnLst/>
              <a:rect l="l" t="t" r="r" b="b"/>
              <a:pathLst>
                <a:path w="62673" h="67379" extrusionOk="0">
                  <a:moveTo>
                    <a:pt x="51499" y="66560"/>
                  </a:moveTo>
                  <a:cubicBezTo>
                    <a:pt x="51499" y="66560"/>
                    <a:pt x="54900" y="68017"/>
                    <a:pt x="56357" y="67046"/>
                  </a:cubicBezTo>
                  <a:cubicBezTo>
                    <a:pt x="57815" y="66560"/>
                    <a:pt x="58786" y="65102"/>
                    <a:pt x="58786" y="63159"/>
                  </a:cubicBezTo>
                  <a:cubicBezTo>
                    <a:pt x="59758" y="47126"/>
                    <a:pt x="60730" y="30608"/>
                    <a:pt x="61701" y="14575"/>
                  </a:cubicBezTo>
                  <a:lnTo>
                    <a:pt x="62673" y="0"/>
                  </a:lnTo>
                  <a:cubicBezTo>
                    <a:pt x="38381" y="4858"/>
                    <a:pt x="17976" y="15061"/>
                    <a:pt x="0" y="30122"/>
                  </a:cubicBezTo>
                  <a:cubicBezTo>
                    <a:pt x="7773" y="35466"/>
                    <a:pt x="15547" y="41296"/>
                    <a:pt x="23320" y="46640"/>
                  </a:cubicBezTo>
                  <a:cubicBezTo>
                    <a:pt x="32551" y="53442"/>
                    <a:pt x="42268" y="59758"/>
                    <a:pt x="51499" y="66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86"/>
            <p:cNvSpPr/>
            <p:nvPr/>
          </p:nvSpPr>
          <p:spPr>
            <a:xfrm>
              <a:off x="1014072" y="1494424"/>
              <a:ext cx="74333" cy="65102"/>
            </a:xfrm>
            <a:custGeom>
              <a:avLst/>
              <a:gdLst/>
              <a:ahLst/>
              <a:cxnLst/>
              <a:rect l="l" t="t" r="r" b="b"/>
              <a:pathLst>
                <a:path w="74333" h="65102" extrusionOk="0">
                  <a:moveTo>
                    <a:pt x="8259" y="972"/>
                  </a:moveTo>
                  <a:cubicBezTo>
                    <a:pt x="8259" y="972"/>
                    <a:pt x="6316" y="2915"/>
                    <a:pt x="6316" y="4858"/>
                  </a:cubicBezTo>
                  <a:lnTo>
                    <a:pt x="0" y="9717"/>
                  </a:lnTo>
                  <a:lnTo>
                    <a:pt x="6802" y="6802"/>
                  </a:lnTo>
                  <a:lnTo>
                    <a:pt x="12632" y="20891"/>
                  </a:lnTo>
                  <a:cubicBezTo>
                    <a:pt x="18948" y="35466"/>
                    <a:pt x="24778" y="50527"/>
                    <a:pt x="31094" y="65102"/>
                  </a:cubicBezTo>
                  <a:cubicBezTo>
                    <a:pt x="50527" y="50527"/>
                    <a:pt x="64616" y="32551"/>
                    <a:pt x="74333" y="10688"/>
                  </a:cubicBezTo>
                  <a:lnTo>
                    <a:pt x="12146" y="0"/>
                  </a:lnTo>
                  <a:cubicBezTo>
                    <a:pt x="12146" y="0"/>
                    <a:pt x="9231" y="486"/>
                    <a:pt x="8259" y="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6" name="Google Shape;3346;p86"/>
            <p:cNvSpPr/>
            <p:nvPr/>
          </p:nvSpPr>
          <p:spPr>
            <a:xfrm>
              <a:off x="842572" y="1494424"/>
              <a:ext cx="67045" cy="64616"/>
            </a:xfrm>
            <a:custGeom>
              <a:avLst/>
              <a:gdLst/>
              <a:ahLst/>
              <a:cxnLst/>
              <a:rect l="l" t="t" r="r" b="b"/>
              <a:pathLst>
                <a:path w="67045" h="64616" extrusionOk="0">
                  <a:moveTo>
                    <a:pt x="62673" y="0"/>
                  </a:moveTo>
                  <a:lnTo>
                    <a:pt x="46155" y="2915"/>
                  </a:lnTo>
                  <a:cubicBezTo>
                    <a:pt x="30608" y="5344"/>
                    <a:pt x="15547" y="8259"/>
                    <a:pt x="0" y="10688"/>
                  </a:cubicBezTo>
                  <a:cubicBezTo>
                    <a:pt x="9717" y="32551"/>
                    <a:pt x="24292" y="50527"/>
                    <a:pt x="43240" y="64616"/>
                  </a:cubicBezTo>
                  <a:cubicBezTo>
                    <a:pt x="48584" y="51985"/>
                    <a:pt x="53442" y="39839"/>
                    <a:pt x="58300" y="27693"/>
                  </a:cubicBezTo>
                  <a:lnTo>
                    <a:pt x="65588" y="9717"/>
                  </a:lnTo>
                  <a:cubicBezTo>
                    <a:pt x="65588" y="9717"/>
                    <a:pt x="66560" y="6802"/>
                    <a:pt x="67046" y="5830"/>
                  </a:cubicBezTo>
                  <a:cubicBezTo>
                    <a:pt x="67046" y="4858"/>
                    <a:pt x="67046" y="3401"/>
                    <a:pt x="66074" y="2429"/>
                  </a:cubicBezTo>
                  <a:cubicBezTo>
                    <a:pt x="65102" y="1457"/>
                    <a:pt x="64131" y="972"/>
                    <a:pt x="62673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7" name="Google Shape;3347;p86"/>
            <p:cNvSpPr/>
            <p:nvPr/>
          </p:nvSpPr>
          <p:spPr>
            <a:xfrm>
              <a:off x="930994" y="1523575"/>
              <a:ext cx="68503" cy="62187"/>
            </a:xfrm>
            <a:custGeom>
              <a:avLst/>
              <a:gdLst/>
              <a:ahLst/>
              <a:cxnLst/>
              <a:rect l="l" t="t" r="r" b="b"/>
              <a:pathLst>
                <a:path w="68503" h="62187" extrusionOk="0">
                  <a:moveTo>
                    <a:pt x="55385" y="32551"/>
                  </a:moveTo>
                  <a:cubicBezTo>
                    <a:pt x="50041" y="22834"/>
                    <a:pt x="44697" y="12632"/>
                    <a:pt x="38867" y="2915"/>
                  </a:cubicBezTo>
                  <a:cubicBezTo>
                    <a:pt x="37895" y="972"/>
                    <a:pt x="35952" y="486"/>
                    <a:pt x="34494" y="0"/>
                  </a:cubicBezTo>
                  <a:cubicBezTo>
                    <a:pt x="33037" y="0"/>
                    <a:pt x="31094" y="972"/>
                    <a:pt x="30122" y="2915"/>
                  </a:cubicBezTo>
                  <a:lnTo>
                    <a:pt x="17490" y="25749"/>
                  </a:lnTo>
                  <a:cubicBezTo>
                    <a:pt x="11660" y="36438"/>
                    <a:pt x="5830" y="46640"/>
                    <a:pt x="0" y="57329"/>
                  </a:cubicBezTo>
                  <a:cubicBezTo>
                    <a:pt x="11660" y="60244"/>
                    <a:pt x="22834" y="61701"/>
                    <a:pt x="34494" y="62187"/>
                  </a:cubicBezTo>
                  <a:cubicBezTo>
                    <a:pt x="45669" y="62187"/>
                    <a:pt x="57329" y="60730"/>
                    <a:pt x="68503" y="57815"/>
                  </a:cubicBezTo>
                  <a:cubicBezTo>
                    <a:pt x="67046" y="54900"/>
                    <a:pt x="65588" y="52470"/>
                    <a:pt x="64131" y="50041"/>
                  </a:cubicBezTo>
                  <a:lnTo>
                    <a:pt x="54900" y="330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p86"/>
            <p:cNvSpPr/>
            <p:nvPr/>
          </p:nvSpPr>
          <p:spPr>
            <a:xfrm>
              <a:off x="1090835" y="1499768"/>
              <a:ext cx="6801" cy="2915"/>
            </a:xfrm>
            <a:custGeom>
              <a:avLst/>
              <a:gdLst/>
              <a:ahLst/>
              <a:cxnLst/>
              <a:rect l="l" t="t" r="r" b="b"/>
              <a:pathLst>
                <a:path w="6801" h="2915" extrusionOk="0">
                  <a:moveTo>
                    <a:pt x="0" y="0"/>
                  </a:moveTo>
                  <a:lnTo>
                    <a:pt x="6802" y="29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86"/>
            <p:cNvSpPr/>
            <p:nvPr/>
          </p:nvSpPr>
          <p:spPr>
            <a:xfrm>
              <a:off x="831667" y="1388512"/>
              <a:ext cx="64346" cy="67531"/>
            </a:xfrm>
            <a:custGeom>
              <a:avLst/>
              <a:gdLst/>
              <a:ahLst/>
              <a:cxnLst/>
              <a:rect l="l" t="t" r="r" b="b"/>
              <a:pathLst>
                <a:path w="64346" h="67531" extrusionOk="0">
                  <a:moveTo>
                    <a:pt x="63375" y="47126"/>
                  </a:moveTo>
                  <a:cubicBezTo>
                    <a:pt x="63375" y="47126"/>
                    <a:pt x="63375" y="43725"/>
                    <a:pt x="60460" y="40810"/>
                  </a:cubicBezTo>
                  <a:cubicBezTo>
                    <a:pt x="45399" y="27207"/>
                    <a:pt x="30338" y="13603"/>
                    <a:pt x="15277" y="0"/>
                  </a:cubicBezTo>
                  <a:cubicBezTo>
                    <a:pt x="6532" y="17004"/>
                    <a:pt x="1673" y="34494"/>
                    <a:pt x="216" y="52956"/>
                  </a:cubicBezTo>
                  <a:cubicBezTo>
                    <a:pt x="216" y="57329"/>
                    <a:pt x="-270" y="62673"/>
                    <a:pt x="216" y="67531"/>
                  </a:cubicBezTo>
                  <a:lnTo>
                    <a:pt x="10419" y="64616"/>
                  </a:lnTo>
                  <a:cubicBezTo>
                    <a:pt x="26451" y="59758"/>
                    <a:pt x="42970" y="55385"/>
                    <a:pt x="59002" y="50527"/>
                  </a:cubicBezTo>
                  <a:cubicBezTo>
                    <a:pt x="63375" y="49070"/>
                    <a:pt x="63861" y="47612"/>
                    <a:pt x="64346" y="46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86"/>
            <p:cNvSpPr/>
            <p:nvPr/>
          </p:nvSpPr>
          <p:spPr>
            <a:xfrm>
              <a:off x="990752" y="1319523"/>
              <a:ext cx="61701" cy="66751"/>
            </a:xfrm>
            <a:custGeom>
              <a:avLst/>
              <a:gdLst/>
              <a:ahLst/>
              <a:cxnLst/>
              <a:rect l="l" t="t" r="r" b="b"/>
              <a:pathLst>
                <a:path w="61701" h="66751" extrusionOk="0">
                  <a:moveTo>
                    <a:pt x="5830" y="66560"/>
                  </a:moveTo>
                  <a:cubicBezTo>
                    <a:pt x="5830" y="66560"/>
                    <a:pt x="8745" y="67531"/>
                    <a:pt x="12146" y="65102"/>
                  </a:cubicBezTo>
                  <a:cubicBezTo>
                    <a:pt x="28664" y="53442"/>
                    <a:pt x="45183" y="41782"/>
                    <a:pt x="61701" y="30122"/>
                  </a:cubicBezTo>
                  <a:cubicBezTo>
                    <a:pt x="42754" y="14575"/>
                    <a:pt x="22348" y="4373"/>
                    <a:pt x="0" y="0"/>
                  </a:cubicBezTo>
                  <a:lnTo>
                    <a:pt x="3401" y="60730"/>
                  </a:lnTo>
                  <a:cubicBezTo>
                    <a:pt x="3401" y="65102"/>
                    <a:pt x="4858" y="65588"/>
                    <a:pt x="5830" y="66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p86"/>
            <p:cNvSpPr/>
            <p:nvPr/>
          </p:nvSpPr>
          <p:spPr>
            <a:xfrm>
              <a:off x="732681" y="1210695"/>
              <a:ext cx="466686" cy="454812"/>
            </a:xfrm>
            <a:custGeom>
              <a:avLst/>
              <a:gdLst/>
              <a:ahLst/>
              <a:cxnLst/>
              <a:rect l="l" t="t" r="r" b="b"/>
              <a:pathLst>
                <a:path w="466686" h="454812" extrusionOk="0">
                  <a:moveTo>
                    <a:pt x="444146" y="283729"/>
                  </a:moveTo>
                  <a:cubicBezTo>
                    <a:pt x="438802" y="283243"/>
                    <a:pt x="433458" y="282757"/>
                    <a:pt x="428600" y="281786"/>
                  </a:cubicBezTo>
                  <a:cubicBezTo>
                    <a:pt x="421798" y="280814"/>
                    <a:pt x="414024" y="279842"/>
                    <a:pt x="409166" y="272555"/>
                  </a:cubicBezTo>
                  <a:cubicBezTo>
                    <a:pt x="406251" y="272069"/>
                    <a:pt x="404308" y="270611"/>
                    <a:pt x="403336" y="269154"/>
                  </a:cubicBezTo>
                  <a:cubicBezTo>
                    <a:pt x="400421" y="265753"/>
                    <a:pt x="400907" y="261866"/>
                    <a:pt x="401393" y="259923"/>
                  </a:cubicBezTo>
                  <a:cubicBezTo>
                    <a:pt x="402364" y="250206"/>
                    <a:pt x="402850" y="240975"/>
                    <a:pt x="402364" y="231744"/>
                  </a:cubicBezTo>
                  <a:cubicBezTo>
                    <a:pt x="400907" y="202108"/>
                    <a:pt x="391676" y="174416"/>
                    <a:pt x="376129" y="149152"/>
                  </a:cubicBezTo>
                  <a:cubicBezTo>
                    <a:pt x="375158" y="147695"/>
                    <a:pt x="373214" y="144294"/>
                    <a:pt x="374186" y="139921"/>
                  </a:cubicBezTo>
                  <a:cubicBezTo>
                    <a:pt x="374672" y="137492"/>
                    <a:pt x="376129" y="135549"/>
                    <a:pt x="378073" y="134091"/>
                  </a:cubicBezTo>
                  <a:cubicBezTo>
                    <a:pt x="378558" y="129719"/>
                    <a:pt x="380988" y="125832"/>
                    <a:pt x="384874" y="122431"/>
                  </a:cubicBezTo>
                  <a:cubicBezTo>
                    <a:pt x="391190" y="117087"/>
                    <a:pt x="398478" y="112228"/>
                    <a:pt x="408194" y="106884"/>
                  </a:cubicBezTo>
                  <a:cubicBezTo>
                    <a:pt x="412081" y="104941"/>
                    <a:pt x="415482" y="102998"/>
                    <a:pt x="417911" y="100083"/>
                  </a:cubicBezTo>
                  <a:cubicBezTo>
                    <a:pt x="421312" y="97167"/>
                    <a:pt x="421312" y="94738"/>
                    <a:pt x="420826" y="93281"/>
                  </a:cubicBezTo>
                  <a:cubicBezTo>
                    <a:pt x="420826" y="90852"/>
                    <a:pt x="418883" y="89394"/>
                    <a:pt x="417911" y="88908"/>
                  </a:cubicBezTo>
                  <a:cubicBezTo>
                    <a:pt x="415968" y="87937"/>
                    <a:pt x="413053" y="88422"/>
                    <a:pt x="410624" y="89880"/>
                  </a:cubicBezTo>
                  <a:cubicBezTo>
                    <a:pt x="407223" y="91823"/>
                    <a:pt x="404308" y="95224"/>
                    <a:pt x="401393" y="98139"/>
                  </a:cubicBezTo>
                  <a:cubicBezTo>
                    <a:pt x="395563" y="104941"/>
                    <a:pt x="389247" y="111257"/>
                    <a:pt x="382445" y="116601"/>
                  </a:cubicBezTo>
                  <a:cubicBezTo>
                    <a:pt x="380502" y="118058"/>
                    <a:pt x="375643" y="122431"/>
                    <a:pt x="368356" y="121459"/>
                  </a:cubicBezTo>
                  <a:cubicBezTo>
                    <a:pt x="366412" y="123403"/>
                    <a:pt x="363983" y="124374"/>
                    <a:pt x="361554" y="123889"/>
                  </a:cubicBezTo>
                  <a:cubicBezTo>
                    <a:pt x="357182" y="123889"/>
                    <a:pt x="354267" y="120974"/>
                    <a:pt x="352809" y="119516"/>
                  </a:cubicBezTo>
                  <a:cubicBezTo>
                    <a:pt x="333861" y="100568"/>
                    <a:pt x="311513" y="86965"/>
                    <a:pt x="286249" y="78220"/>
                  </a:cubicBezTo>
                  <a:cubicBezTo>
                    <a:pt x="275075" y="74333"/>
                    <a:pt x="263415" y="71904"/>
                    <a:pt x="249811" y="69961"/>
                  </a:cubicBezTo>
                  <a:cubicBezTo>
                    <a:pt x="248354" y="69961"/>
                    <a:pt x="244953" y="69961"/>
                    <a:pt x="242524" y="67046"/>
                  </a:cubicBezTo>
                  <a:lnTo>
                    <a:pt x="240581" y="64616"/>
                  </a:lnTo>
                  <a:lnTo>
                    <a:pt x="240581" y="60244"/>
                  </a:lnTo>
                  <a:cubicBezTo>
                    <a:pt x="237180" y="56357"/>
                    <a:pt x="235722" y="52956"/>
                    <a:pt x="235722" y="49070"/>
                  </a:cubicBezTo>
                  <a:lnTo>
                    <a:pt x="235722" y="47126"/>
                  </a:lnTo>
                  <a:cubicBezTo>
                    <a:pt x="235722" y="42754"/>
                    <a:pt x="235722" y="38867"/>
                    <a:pt x="236208" y="34494"/>
                  </a:cubicBezTo>
                  <a:cubicBezTo>
                    <a:pt x="237180" y="28664"/>
                    <a:pt x="237666" y="23320"/>
                    <a:pt x="238637" y="17490"/>
                  </a:cubicBezTo>
                  <a:lnTo>
                    <a:pt x="238637" y="11660"/>
                  </a:lnTo>
                  <a:cubicBezTo>
                    <a:pt x="238637" y="11660"/>
                    <a:pt x="239123" y="7288"/>
                    <a:pt x="239123" y="7288"/>
                  </a:cubicBezTo>
                  <a:cubicBezTo>
                    <a:pt x="239123" y="3401"/>
                    <a:pt x="236208" y="486"/>
                    <a:pt x="233293" y="0"/>
                  </a:cubicBezTo>
                  <a:cubicBezTo>
                    <a:pt x="229892" y="0"/>
                    <a:pt x="226977" y="2429"/>
                    <a:pt x="226491" y="6316"/>
                  </a:cubicBezTo>
                  <a:cubicBezTo>
                    <a:pt x="226491" y="9231"/>
                    <a:pt x="226491" y="12632"/>
                    <a:pt x="226977" y="17490"/>
                  </a:cubicBezTo>
                  <a:cubicBezTo>
                    <a:pt x="228435" y="26721"/>
                    <a:pt x="229892" y="36438"/>
                    <a:pt x="229892" y="46640"/>
                  </a:cubicBezTo>
                  <a:cubicBezTo>
                    <a:pt x="229892" y="49070"/>
                    <a:pt x="229892" y="54414"/>
                    <a:pt x="225520" y="58786"/>
                  </a:cubicBezTo>
                  <a:cubicBezTo>
                    <a:pt x="225520" y="62187"/>
                    <a:pt x="224548" y="64616"/>
                    <a:pt x="223090" y="66560"/>
                  </a:cubicBezTo>
                  <a:cubicBezTo>
                    <a:pt x="221633" y="68503"/>
                    <a:pt x="219204" y="69475"/>
                    <a:pt x="215803" y="69961"/>
                  </a:cubicBezTo>
                  <a:lnTo>
                    <a:pt x="212402" y="69961"/>
                  </a:lnTo>
                  <a:cubicBezTo>
                    <a:pt x="174021" y="75305"/>
                    <a:pt x="140012" y="91337"/>
                    <a:pt x="112805" y="119030"/>
                  </a:cubicBezTo>
                  <a:cubicBezTo>
                    <a:pt x="111348" y="120488"/>
                    <a:pt x="108433" y="124374"/>
                    <a:pt x="103574" y="123403"/>
                  </a:cubicBezTo>
                  <a:cubicBezTo>
                    <a:pt x="101631" y="123403"/>
                    <a:pt x="99202" y="122431"/>
                    <a:pt x="97259" y="121459"/>
                  </a:cubicBezTo>
                  <a:cubicBezTo>
                    <a:pt x="90943" y="121945"/>
                    <a:pt x="86570" y="118544"/>
                    <a:pt x="84627" y="117573"/>
                  </a:cubicBezTo>
                  <a:cubicBezTo>
                    <a:pt x="77825" y="112228"/>
                    <a:pt x="71509" y="106398"/>
                    <a:pt x="64707" y="98625"/>
                  </a:cubicBezTo>
                  <a:cubicBezTo>
                    <a:pt x="61307" y="94738"/>
                    <a:pt x="58392" y="91823"/>
                    <a:pt x="54991" y="89394"/>
                  </a:cubicBezTo>
                  <a:cubicBezTo>
                    <a:pt x="51590" y="87451"/>
                    <a:pt x="47703" y="87937"/>
                    <a:pt x="45760" y="90366"/>
                  </a:cubicBezTo>
                  <a:cubicBezTo>
                    <a:pt x="43816" y="92795"/>
                    <a:pt x="44302" y="96682"/>
                    <a:pt x="47217" y="99597"/>
                  </a:cubicBezTo>
                  <a:cubicBezTo>
                    <a:pt x="50132" y="102512"/>
                    <a:pt x="53533" y="104455"/>
                    <a:pt x="57420" y="106398"/>
                  </a:cubicBezTo>
                  <a:cubicBezTo>
                    <a:pt x="65193" y="110771"/>
                    <a:pt x="72481" y="115143"/>
                    <a:pt x="78797" y="120488"/>
                  </a:cubicBezTo>
                  <a:cubicBezTo>
                    <a:pt x="81712" y="122917"/>
                    <a:pt x="86570" y="126804"/>
                    <a:pt x="87542" y="133605"/>
                  </a:cubicBezTo>
                  <a:cubicBezTo>
                    <a:pt x="89485" y="135063"/>
                    <a:pt x="90457" y="137006"/>
                    <a:pt x="90943" y="138949"/>
                  </a:cubicBezTo>
                  <a:cubicBezTo>
                    <a:pt x="91914" y="143322"/>
                    <a:pt x="89971" y="147209"/>
                    <a:pt x="88514" y="149152"/>
                  </a:cubicBezTo>
                  <a:cubicBezTo>
                    <a:pt x="67622" y="183161"/>
                    <a:pt x="59363" y="220084"/>
                    <a:pt x="64222" y="258951"/>
                  </a:cubicBezTo>
                  <a:cubicBezTo>
                    <a:pt x="65193" y="268182"/>
                    <a:pt x="59363" y="271097"/>
                    <a:pt x="56448" y="271583"/>
                  </a:cubicBezTo>
                  <a:cubicBezTo>
                    <a:pt x="53047" y="276927"/>
                    <a:pt x="47703" y="278385"/>
                    <a:pt x="43816" y="279356"/>
                  </a:cubicBezTo>
                  <a:cubicBezTo>
                    <a:pt x="34586" y="281300"/>
                    <a:pt x="24869" y="282272"/>
                    <a:pt x="15638" y="282757"/>
                  </a:cubicBezTo>
                  <a:cubicBezTo>
                    <a:pt x="11265" y="282757"/>
                    <a:pt x="7864" y="283729"/>
                    <a:pt x="4464" y="284701"/>
                  </a:cubicBezTo>
                  <a:cubicBezTo>
                    <a:pt x="1063" y="286158"/>
                    <a:pt x="-395" y="289559"/>
                    <a:pt x="91" y="291988"/>
                  </a:cubicBezTo>
                  <a:cubicBezTo>
                    <a:pt x="577" y="294903"/>
                    <a:pt x="3978" y="297818"/>
                    <a:pt x="7379" y="296847"/>
                  </a:cubicBezTo>
                  <a:cubicBezTo>
                    <a:pt x="11265" y="296847"/>
                    <a:pt x="15152" y="295389"/>
                    <a:pt x="19525" y="293446"/>
                  </a:cubicBezTo>
                  <a:cubicBezTo>
                    <a:pt x="28755" y="289559"/>
                    <a:pt x="37015" y="286644"/>
                    <a:pt x="44788" y="284701"/>
                  </a:cubicBezTo>
                  <a:cubicBezTo>
                    <a:pt x="48675" y="283729"/>
                    <a:pt x="53533" y="282272"/>
                    <a:pt x="58392" y="285187"/>
                  </a:cubicBezTo>
                  <a:cubicBezTo>
                    <a:pt x="59849" y="286158"/>
                    <a:pt x="60335" y="286158"/>
                    <a:pt x="60335" y="286158"/>
                  </a:cubicBezTo>
                  <a:lnTo>
                    <a:pt x="63250" y="285187"/>
                  </a:lnTo>
                  <a:lnTo>
                    <a:pt x="67622" y="286644"/>
                  </a:lnTo>
                  <a:cubicBezTo>
                    <a:pt x="71023" y="288587"/>
                    <a:pt x="71995" y="291502"/>
                    <a:pt x="72481" y="292960"/>
                  </a:cubicBezTo>
                  <a:cubicBezTo>
                    <a:pt x="86084" y="331341"/>
                    <a:pt x="109890" y="361463"/>
                    <a:pt x="144385" y="382840"/>
                  </a:cubicBezTo>
                  <a:cubicBezTo>
                    <a:pt x="150701" y="386727"/>
                    <a:pt x="150701" y="392557"/>
                    <a:pt x="148271" y="396929"/>
                  </a:cubicBezTo>
                  <a:cubicBezTo>
                    <a:pt x="150701" y="403245"/>
                    <a:pt x="148271" y="408589"/>
                    <a:pt x="146814" y="410533"/>
                  </a:cubicBezTo>
                  <a:cubicBezTo>
                    <a:pt x="142927" y="418306"/>
                    <a:pt x="138555" y="426079"/>
                    <a:pt x="131753" y="435310"/>
                  </a:cubicBezTo>
                  <a:cubicBezTo>
                    <a:pt x="128838" y="439197"/>
                    <a:pt x="127380" y="442112"/>
                    <a:pt x="126409" y="445027"/>
                  </a:cubicBezTo>
                  <a:cubicBezTo>
                    <a:pt x="124951" y="448914"/>
                    <a:pt x="126409" y="452800"/>
                    <a:pt x="129324" y="454258"/>
                  </a:cubicBezTo>
                  <a:cubicBezTo>
                    <a:pt x="132239" y="455715"/>
                    <a:pt x="136126" y="454258"/>
                    <a:pt x="138069" y="450371"/>
                  </a:cubicBezTo>
                  <a:cubicBezTo>
                    <a:pt x="139526" y="447942"/>
                    <a:pt x="140984" y="444541"/>
                    <a:pt x="141956" y="440654"/>
                  </a:cubicBezTo>
                  <a:cubicBezTo>
                    <a:pt x="144871" y="430938"/>
                    <a:pt x="147786" y="422193"/>
                    <a:pt x="151672" y="414419"/>
                  </a:cubicBezTo>
                  <a:cubicBezTo>
                    <a:pt x="152644" y="411990"/>
                    <a:pt x="155559" y="406160"/>
                    <a:pt x="162361" y="403731"/>
                  </a:cubicBezTo>
                  <a:cubicBezTo>
                    <a:pt x="163818" y="400330"/>
                    <a:pt x="168191" y="395472"/>
                    <a:pt x="176936" y="398387"/>
                  </a:cubicBezTo>
                  <a:cubicBezTo>
                    <a:pt x="213860" y="411504"/>
                    <a:pt x="251269" y="411504"/>
                    <a:pt x="289164" y="398872"/>
                  </a:cubicBezTo>
                  <a:cubicBezTo>
                    <a:pt x="292079" y="397901"/>
                    <a:pt x="295966" y="396443"/>
                    <a:pt x="300339" y="398872"/>
                  </a:cubicBezTo>
                  <a:cubicBezTo>
                    <a:pt x="302282" y="399844"/>
                    <a:pt x="303739" y="401302"/>
                    <a:pt x="304711" y="403731"/>
                  </a:cubicBezTo>
                  <a:cubicBezTo>
                    <a:pt x="309084" y="405188"/>
                    <a:pt x="311999" y="408103"/>
                    <a:pt x="314428" y="412962"/>
                  </a:cubicBezTo>
                  <a:cubicBezTo>
                    <a:pt x="319286" y="422678"/>
                    <a:pt x="322201" y="432881"/>
                    <a:pt x="324630" y="441140"/>
                  </a:cubicBezTo>
                  <a:cubicBezTo>
                    <a:pt x="326088" y="445999"/>
                    <a:pt x="327545" y="449400"/>
                    <a:pt x="329975" y="451829"/>
                  </a:cubicBezTo>
                  <a:cubicBezTo>
                    <a:pt x="332404" y="454258"/>
                    <a:pt x="335319" y="454744"/>
                    <a:pt x="337748" y="453286"/>
                  </a:cubicBezTo>
                  <a:cubicBezTo>
                    <a:pt x="340177" y="451829"/>
                    <a:pt x="341149" y="448428"/>
                    <a:pt x="340177" y="445513"/>
                  </a:cubicBezTo>
                  <a:cubicBezTo>
                    <a:pt x="339206" y="441626"/>
                    <a:pt x="336776" y="438225"/>
                    <a:pt x="334347" y="434824"/>
                  </a:cubicBezTo>
                  <a:cubicBezTo>
                    <a:pt x="329003" y="427051"/>
                    <a:pt x="324145" y="419763"/>
                    <a:pt x="320258" y="412476"/>
                  </a:cubicBezTo>
                  <a:cubicBezTo>
                    <a:pt x="318800" y="409561"/>
                    <a:pt x="315400" y="403731"/>
                    <a:pt x="317829" y="396443"/>
                  </a:cubicBezTo>
                  <a:cubicBezTo>
                    <a:pt x="315885" y="392071"/>
                    <a:pt x="316371" y="386727"/>
                    <a:pt x="322687" y="382840"/>
                  </a:cubicBezTo>
                  <a:cubicBezTo>
                    <a:pt x="339691" y="372637"/>
                    <a:pt x="354752" y="359034"/>
                    <a:pt x="367384" y="343001"/>
                  </a:cubicBezTo>
                  <a:cubicBezTo>
                    <a:pt x="379044" y="327940"/>
                    <a:pt x="388275" y="311422"/>
                    <a:pt x="394105" y="293446"/>
                  </a:cubicBezTo>
                  <a:cubicBezTo>
                    <a:pt x="396534" y="285672"/>
                    <a:pt x="402850" y="284215"/>
                    <a:pt x="407709" y="285672"/>
                  </a:cubicBezTo>
                  <a:cubicBezTo>
                    <a:pt x="409652" y="283243"/>
                    <a:pt x="414510" y="282272"/>
                    <a:pt x="419369" y="283243"/>
                  </a:cubicBezTo>
                  <a:cubicBezTo>
                    <a:pt x="425199" y="284701"/>
                    <a:pt x="431029" y="286158"/>
                    <a:pt x="436373" y="288102"/>
                  </a:cubicBezTo>
                  <a:cubicBezTo>
                    <a:pt x="440260" y="289559"/>
                    <a:pt x="442689" y="290531"/>
                    <a:pt x="445118" y="291502"/>
                  </a:cubicBezTo>
                  <a:cubicBezTo>
                    <a:pt x="449491" y="293446"/>
                    <a:pt x="453377" y="294903"/>
                    <a:pt x="457750" y="295389"/>
                  </a:cubicBezTo>
                  <a:cubicBezTo>
                    <a:pt x="462122" y="296361"/>
                    <a:pt x="464066" y="294417"/>
                    <a:pt x="465523" y="292474"/>
                  </a:cubicBezTo>
                  <a:cubicBezTo>
                    <a:pt x="466981" y="290531"/>
                    <a:pt x="466981" y="289073"/>
                    <a:pt x="466009" y="287130"/>
                  </a:cubicBezTo>
                  <a:cubicBezTo>
                    <a:pt x="464552" y="284215"/>
                    <a:pt x="462608" y="282757"/>
                    <a:pt x="459207" y="282272"/>
                  </a:cubicBezTo>
                  <a:cubicBezTo>
                    <a:pt x="454349" y="281786"/>
                    <a:pt x="449491" y="281300"/>
                    <a:pt x="444632" y="280814"/>
                  </a:cubicBezTo>
                  <a:close/>
                  <a:moveTo>
                    <a:pt x="246411" y="95710"/>
                  </a:moveTo>
                  <a:cubicBezTo>
                    <a:pt x="249811" y="92795"/>
                    <a:pt x="254184" y="93281"/>
                    <a:pt x="259042" y="94252"/>
                  </a:cubicBezTo>
                  <a:lnTo>
                    <a:pt x="259042" y="94252"/>
                  </a:lnTo>
                  <a:cubicBezTo>
                    <a:pt x="286249" y="99111"/>
                    <a:pt x="311513" y="111743"/>
                    <a:pt x="332890" y="131176"/>
                  </a:cubicBezTo>
                  <a:cubicBezTo>
                    <a:pt x="334347" y="132634"/>
                    <a:pt x="337748" y="135549"/>
                    <a:pt x="337262" y="139921"/>
                  </a:cubicBezTo>
                  <a:cubicBezTo>
                    <a:pt x="337262" y="144294"/>
                    <a:pt x="333376" y="147209"/>
                    <a:pt x="331918" y="148180"/>
                  </a:cubicBezTo>
                  <a:cubicBezTo>
                    <a:pt x="313942" y="160812"/>
                    <a:pt x="296452" y="173444"/>
                    <a:pt x="278476" y="186076"/>
                  </a:cubicBezTo>
                  <a:cubicBezTo>
                    <a:pt x="274103" y="188991"/>
                    <a:pt x="269731" y="190448"/>
                    <a:pt x="265358" y="190448"/>
                  </a:cubicBezTo>
                  <a:cubicBezTo>
                    <a:pt x="262443" y="190448"/>
                    <a:pt x="260014" y="189962"/>
                    <a:pt x="257099" y="188505"/>
                  </a:cubicBezTo>
                  <a:cubicBezTo>
                    <a:pt x="250297" y="185590"/>
                    <a:pt x="246411" y="179274"/>
                    <a:pt x="245925" y="170529"/>
                  </a:cubicBezTo>
                  <a:lnTo>
                    <a:pt x="242524" y="108828"/>
                  </a:lnTo>
                  <a:cubicBezTo>
                    <a:pt x="242524" y="102998"/>
                    <a:pt x="242524" y="98625"/>
                    <a:pt x="245925" y="95710"/>
                  </a:cubicBezTo>
                  <a:close/>
                  <a:moveTo>
                    <a:pt x="249326" y="207938"/>
                  </a:moveTo>
                  <a:lnTo>
                    <a:pt x="269245" y="233202"/>
                  </a:lnTo>
                  <a:lnTo>
                    <a:pt x="262443" y="264781"/>
                  </a:lnTo>
                  <a:lnTo>
                    <a:pt x="233293" y="278871"/>
                  </a:lnTo>
                  <a:lnTo>
                    <a:pt x="204143" y="264781"/>
                  </a:lnTo>
                  <a:lnTo>
                    <a:pt x="196855" y="233202"/>
                  </a:lnTo>
                  <a:lnTo>
                    <a:pt x="216775" y="207938"/>
                  </a:lnTo>
                  <a:lnTo>
                    <a:pt x="249326" y="207938"/>
                  </a:lnTo>
                  <a:close/>
                  <a:moveTo>
                    <a:pt x="130781" y="132148"/>
                  </a:moveTo>
                  <a:lnTo>
                    <a:pt x="136126" y="137492"/>
                  </a:lnTo>
                  <a:lnTo>
                    <a:pt x="131267" y="132148"/>
                  </a:lnTo>
                  <a:cubicBezTo>
                    <a:pt x="152158" y="112714"/>
                    <a:pt x="176936" y="100568"/>
                    <a:pt x="204629" y="95224"/>
                  </a:cubicBezTo>
                  <a:cubicBezTo>
                    <a:pt x="206572" y="95224"/>
                    <a:pt x="208029" y="94738"/>
                    <a:pt x="209001" y="94252"/>
                  </a:cubicBezTo>
                  <a:cubicBezTo>
                    <a:pt x="212888" y="93767"/>
                    <a:pt x="216289" y="93281"/>
                    <a:pt x="219690" y="96196"/>
                  </a:cubicBezTo>
                  <a:cubicBezTo>
                    <a:pt x="223090" y="99111"/>
                    <a:pt x="222605" y="102998"/>
                    <a:pt x="222605" y="106398"/>
                  </a:cubicBezTo>
                  <a:lnTo>
                    <a:pt x="221633" y="124374"/>
                  </a:lnTo>
                  <a:cubicBezTo>
                    <a:pt x="220661" y="140407"/>
                    <a:pt x="219690" y="156925"/>
                    <a:pt x="218718" y="172958"/>
                  </a:cubicBezTo>
                  <a:cubicBezTo>
                    <a:pt x="218718" y="180246"/>
                    <a:pt x="214345" y="186076"/>
                    <a:pt x="208029" y="188991"/>
                  </a:cubicBezTo>
                  <a:cubicBezTo>
                    <a:pt x="205600" y="190448"/>
                    <a:pt x="202685" y="190934"/>
                    <a:pt x="199770" y="190934"/>
                  </a:cubicBezTo>
                  <a:cubicBezTo>
                    <a:pt x="195884" y="190934"/>
                    <a:pt x="191997" y="189477"/>
                    <a:pt x="188596" y="187533"/>
                  </a:cubicBezTo>
                  <a:cubicBezTo>
                    <a:pt x="179365" y="180731"/>
                    <a:pt x="169648" y="174416"/>
                    <a:pt x="160417" y="167614"/>
                  </a:cubicBezTo>
                  <a:cubicBezTo>
                    <a:pt x="151187" y="160812"/>
                    <a:pt x="141470" y="154496"/>
                    <a:pt x="132239" y="147695"/>
                  </a:cubicBezTo>
                  <a:cubicBezTo>
                    <a:pt x="129324" y="145751"/>
                    <a:pt x="127866" y="143322"/>
                    <a:pt x="127380" y="140407"/>
                  </a:cubicBezTo>
                  <a:cubicBezTo>
                    <a:pt x="127380" y="136034"/>
                    <a:pt x="129810" y="133605"/>
                    <a:pt x="131267" y="132634"/>
                  </a:cubicBezTo>
                  <a:close/>
                  <a:moveTo>
                    <a:pt x="85113" y="256522"/>
                  </a:moveTo>
                  <a:cubicBezTo>
                    <a:pt x="83169" y="246805"/>
                    <a:pt x="83655" y="237574"/>
                    <a:pt x="84141" y="229801"/>
                  </a:cubicBezTo>
                  <a:cubicBezTo>
                    <a:pt x="85598" y="206967"/>
                    <a:pt x="92400" y="185590"/>
                    <a:pt x="103574" y="166156"/>
                  </a:cubicBezTo>
                  <a:cubicBezTo>
                    <a:pt x="104546" y="164699"/>
                    <a:pt x="106489" y="160812"/>
                    <a:pt x="110862" y="160326"/>
                  </a:cubicBezTo>
                  <a:cubicBezTo>
                    <a:pt x="115235" y="159841"/>
                    <a:pt x="118150" y="162270"/>
                    <a:pt x="119607" y="163241"/>
                  </a:cubicBezTo>
                  <a:cubicBezTo>
                    <a:pt x="136126" y="178302"/>
                    <a:pt x="152644" y="192877"/>
                    <a:pt x="169162" y="207453"/>
                  </a:cubicBezTo>
                  <a:cubicBezTo>
                    <a:pt x="175964" y="213283"/>
                    <a:pt x="178393" y="220084"/>
                    <a:pt x="176450" y="227858"/>
                  </a:cubicBezTo>
                  <a:cubicBezTo>
                    <a:pt x="174021" y="239032"/>
                    <a:pt x="164304" y="241461"/>
                    <a:pt x="160903" y="242433"/>
                  </a:cubicBezTo>
                  <a:cubicBezTo>
                    <a:pt x="144871" y="246805"/>
                    <a:pt x="128838" y="251664"/>
                    <a:pt x="112320" y="256522"/>
                  </a:cubicBezTo>
                  <a:lnTo>
                    <a:pt x="86570" y="263810"/>
                  </a:lnTo>
                  <a:lnTo>
                    <a:pt x="85113" y="256036"/>
                  </a:lnTo>
                  <a:close/>
                  <a:moveTo>
                    <a:pt x="164790" y="358062"/>
                  </a:moveTo>
                  <a:cubicBezTo>
                    <a:pt x="164790" y="358062"/>
                    <a:pt x="162361" y="363892"/>
                    <a:pt x="157988" y="365350"/>
                  </a:cubicBezTo>
                  <a:cubicBezTo>
                    <a:pt x="157017" y="365350"/>
                    <a:pt x="156045" y="365350"/>
                    <a:pt x="155559" y="365350"/>
                  </a:cubicBezTo>
                  <a:cubicBezTo>
                    <a:pt x="152158" y="365350"/>
                    <a:pt x="149729" y="363406"/>
                    <a:pt x="148271" y="362435"/>
                  </a:cubicBezTo>
                  <a:cubicBezTo>
                    <a:pt x="123980" y="345430"/>
                    <a:pt x="105518" y="322596"/>
                    <a:pt x="94344" y="294903"/>
                  </a:cubicBezTo>
                  <a:cubicBezTo>
                    <a:pt x="93372" y="292960"/>
                    <a:pt x="91914" y="289073"/>
                    <a:pt x="94344" y="285672"/>
                  </a:cubicBezTo>
                  <a:cubicBezTo>
                    <a:pt x="95801" y="283243"/>
                    <a:pt x="98230" y="281300"/>
                    <a:pt x="102117" y="280814"/>
                  </a:cubicBezTo>
                  <a:cubicBezTo>
                    <a:pt x="119121" y="277899"/>
                    <a:pt x="136611" y="274984"/>
                    <a:pt x="153616" y="272069"/>
                  </a:cubicBezTo>
                  <a:lnTo>
                    <a:pt x="172563" y="269154"/>
                  </a:lnTo>
                  <a:cubicBezTo>
                    <a:pt x="178393" y="268668"/>
                    <a:pt x="183738" y="271583"/>
                    <a:pt x="187624" y="275956"/>
                  </a:cubicBezTo>
                  <a:cubicBezTo>
                    <a:pt x="191511" y="280328"/>
                    <a:pt x="192969" y="286158"/>
                    <a:pt x="191997" y="291988"/>
                  </a:cubicBezTo>
                  <a:lnTo>
                    <a:pt x="191997" y="291988"/>
                  </a:lnTo>
                  <a:cubicBezTo>
                    <a:pt x="191997" y="291988"/>
                    <a:pt x="190539" y="296361"/>
                    <a:pt x="190053" y="298790"/>
                  </a:cubicBezTo>
                  <a:lnTo>
                    <a:pt x="182766" y="316766"/>
                  </a:lnTo>
                  <a:cubicBezTo>
                    <a:pt x="176936" y="330369"/>
                    <a:pt x="171592" y="343973"/>
                    <a:pt x="165762" y="358062"/>
                  </a:cubicBezTo>
                  <a:close/>
                  <a:moveTo>
                    <a:pt x="283820" y="377010"/>
                  </a:moveTo>
                  <a:cubicBezTo>
                    <a:pt x="281877" y="381382"/>
                    <a:pt x="277504" y="382840"/>
                    <a:pt x="276047" y="383326"/>
                  </a:cubicBezTo>
                  <a:cubicBezTo>
                    <a:pt x="261472" y="387212"/>
                    <a:pt x="247382" y="389642"/>
                    <a:pt x="232807" y="389642"/>
                  </a:cubicBezTo>
                  <a:cubicBezTo>
                    <a:pt x="217746" y="389642"/>
                    <a:pt x="203171" y="387212"/>
                    <a:pt x="188596" y="382840"/>
                  </a:cubicBezTo>
                  <a:cubicBezTo>
                    <a:pt x="187138" y="382840"/>
                    <a:pt x="183252" y="381382"/>
                    <a:pt x="181308" y="377010"/>
                  </a:cubicBezTo>
                  <a:cubicBezTo>
                    <a:pt x="179851" y="373123"/>
                    <a:pt x="181308" y="369236"/>
                    <a:pt x="182280" y="367779"/>
                  </a:cubicBezTo>
                  <a:cubicBezTo>
                    <a:pt x="189082" y="355633"/>
                    <a:pt x="195398" y="343973"/>
                    <a:pt x="202199" y="331827"/>
                  </a:cubicBezTo>
                  <a:lnTo>
                    <a:pt x="214831" y="308993"/>
                  </a:lnTo>
                  <a:cubicBezTo>
                    <a:pt x="218718" y="302191"/>
                    <a:pt x="225034" y="298304"/>
                    <a:pt x="231836" y="298304"/>
                  </a:cubicBezTo>
                  <a:lnTo>
                    <a:pt x="231836" y="298304"/>
                  </a:lnTo>
                  <a:cubicBezTo>
                    <a:pt x="238637" y="298304"/>
                    <a:pt x="244953" y="302191"/>
                    <a:pt x="248840" y="308993"/>
                  </a:cubicBezTo>
                  <a:cubicBezTo>
                    <a:pt x="254670" y="318709"/>
                    <a:pt x="260014" y="328912"/>
                    <a:pt x="265358" y="338629"/>
                  </a:cubicBezTo>
                  <a:lnTo>
                    <a:pt x="274589" y="355633"/>
                  </a:lnTo>
                  <a:cubicBezTo>
                    <a:pt x="276533" y="359520"/>
                    <a:pt x="278962" y="363406"/>
                    <a:pt x="280905" y="367293"/>
                  </a:cubicBezTo>
                  <a:cubicBezTo>
                    <a:pt x="281877" y="368751"/>
                    <a:pt x="284306" y="372637"/>
                    <a:pt x="282363" y="377010"/>
                  </a:cubicBezTo>
                  <a:close/>
                  <a:moveTo>
                    <a:pt x="371757" y="294417"/>
                  </a:moveTo>
                  <a:cubicBezTo>
                    <a:pt x="360582" y="323082"/>
                    <a:pt x="341635" y="346402"/>
                    <a:pt x="316857" y="363892"/>
                  </a:cubicBezTo>
                  <a:cubicBezTo>
                    <a:pt x="315885" y="364378"/>
                    <a:pt x="313456" y="366321"/>
                    <a:pt x="310541" y="366321"/>
                  </a:cubicBezTo>
                  <a:cubicBezTo>
                    <a:pt x="309569" y="366321"/>
                    <a:pt x="309084" y="366321"/>
                    <a:pt x="308112" y="366321"/>
                  </a:cubicBezTo>
                  <a:cubicBezTo>
                    <a:pt x="303739" y="364864"/>
                    <a:pt x="302282" y="360977"/>
                    <a:pt x="301796" y="360005"/>
                  </a:cubicBezTo>
                  <a:cubicBezTo>
                    <a:pt x="294994" y="343487"/>
                    <a:pt x="288193" y="326969"/>
                    <a:pt x="281391" y="310450"/>
                  </a:cubicBezTo>
                  <a:lnTo>
                    <a:pt x="275561" y="296361"/>
                  </a:lnTo>
                  <a:cubicBezTo>
                    <a:pt x="275561" y="296361"/>
                    <a:pt x="273618" y="291017"/>
                    <a:pt x="274103" y="287616"/>
                  </a:cubicBezTo>
                  <a:cubicBezTo>
                    <a:pt x="274103" y="282757"/>
                    <a:pt x="276533" y="277413"/>
                    <a:pt x="280905" y="273526"/>
                  </a:cubicBezTo>
                  <a:cubicBezTo>
                    <a:pt x="285278" y="270126"/>
                    <a:pt x="290622" y="268668"/>
                    <a:pt x="296452" y="269640"/>
                  </a:cubicBezTo>
                  <a:lnTo>
                    <a:pt x="363983" y="281300"/>
                  </a:lnTo>
                  <a:cubicBezTo>
                    <a:pt x="363983" y="281300"/>
                    <a:pt x="369328" y="282272"/>
                    <a:pt x="371757" y="286158"/>
                  </a:cubicBezTo>
                  <a:cubicBezTo>
                    <a:pt x="373214" y="288587"/>
                    <a:pt x="373214" y="291502"/>
                    <a:pt x="371757" y="294903"/>
                  </a:cubicBezTo>
                  <a:lnTo>
                    <a:pt x="371757" y="294903"/>
                  </a:lnTo>
                  <a:close/>
                  <a:moveTo>
                    <a:pt x="380988" y="253121"/>
                  </a:moveTo>
                  <a:cubicBezTo>
                    <a:pt x="380988" y="256522"/>
                    <a:pt x="379530" y="258951"/>
                    <a:pt x="377101" y="260409"/>
                  </a:cubicBezTo>
                  <a:cubicBezTo>
                    <a:pt x="375643" y="261380"/>
                    <a:pt x="373700" y="261866"/>
                    <a:pt x="372242" y="261866"/>
                  </a:cubicBezTo>
                  <a:cubicBezTo>
                    <a:pt x="370785" y="261866"/>
                    <a:pt x="369328" y="261866"/>
                    <a:pt x="368842" y="261380"/>
                  </a:cubicBezTo>
                  <a:lnTo>
                    <a:pt x="347465" y="255065"/>
                  </a:lnTo>
                  <a:cubicBezTo>
                    <a:pt x="332404" y="250692"/>
                    <a:pt x="317829" y="246320"/>
                    <a:pt x="302768" y="241947"/>
                  </a:cubicBezTo>
                  <a:cubicBezTo>
                    <a:pt x="295480" y="240004"/>
                    <a:pt x="290136" y="234659"/>
                    <a:pt x="288678" y="227858"/>
                  </a:cubicBezTo>
                  <a:cubicBezTo>
                    <a:pt x="287221" y="221056"/>
                    <a:pt x="289650" y="213768"/>
                    <a:pt x="295480" y="208910"/>
                  </a:cubicBezTo>
                  <a:lnTo>
                    <a:pt x="346007" y="163727"/>
                  </a:lnTo>
                  <a:cubicBezTo>
                    <a:pt x="346007" y="163727"/>
                    <a:pt x="350380" y="159841"/>
                    <a:pt x="354752" y="160812"/>
                  </a:cubicBezTo>
                  <a:cubicBezTo>
                    <a:pt x="359125" y="161298"/>
                    <a:pt x="361068" y="165185"/>
                    <a:pt x="362040" y="166642"/>
                  </a:cubicBezTo>
                  <a:cubicBezTo>
                    <a:pt x="373214" y="186076"/>
                    <a:pt x="380016" y="206967"/>
                    <a:pt x="381473" y="228829"/>
                  </a:cubicBezTo>
                  <a:cubicBezTo>
                    <a:pt x="381473" y="234174"/>
                    <a:pt x="382445" y="238060"/>
                    <a:pt x="381959" y="241947"/>
                  </a:cubicBezTo>
                  <a:cubicBezTo>
                    <a:pt x="381959" y="246320"/>
                    <a:pt x="381959" y="249720"/>
                    <a:pt x="381473" y="253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86"/>
            <p:cNvSpPr/>
            <p:nvPr/>
          </p:nvSpPr>
          <p:spPr>
            <a:xfrm>
              <a:off x="624431" y="1107698"/>
              <a:ext cx="682601" cy="664625"/>
            </a:xfrm>
            <a:custGeom>
              <a:avLst/>
              <a:gdLst/>
              <a:ahLst/>
              <a:cxnLst/>
              <a:rect l="l" t="t" r="r" b="b"/>
              <a:pathLst>
                <a:path w="682601" h="664625" extrusionOk="0">
                  <a:moveTo>
                    <a:pt x="614584" y="131662"/>
                  </a:moveTo>
                  <a:lnTo>
                    <a:pt x="341058" y="0"/>
                  </a:lnTo>
                  <a:lnTo>
                    <a:pt x="67531" y="131662"/>
                  </a:lnTo>
                  <a:lnTo>
                    <a:pt x="0" y="427537"/>
                  </a:lnTo>
                  <a:lnTo>
                    <a:pt x="189477" y="664626"/>
                  </a:lnTo>
                  <a:lnTo>
                    <a:pt x="493125" y="664626"/>
                  </a:lnTo>
                  <a:lnTo>
                    <a:pt x="682601" y="427537"/>
                  </a:lnTo>
                  <a:lnTo>
                    <a:pt x="615070" y="131662"/>
                  </a:lnTo>
                  <a:close/>
                  <a:moveTo>
                    <a:pt x="584462" y="407618"/>
                  </a:moveTo>
                  <a:cubicBezTo>
                    <a:pt x="579118" y="413933"/>
                    <a:pt x="571831" y="416848"/>
                    <a:pt x="563085" y="415877"/>
                  </a:cubicBezTo>
                  <a:cubicBezTo>
                    <a:pt x="557255" y="414905"/>
                    <a:pt x="551911" y="412962"/>
                    <a:pt x="547053" y="411018"/>
                  </a:cubicBezTo>
                  <a:cubicBezTo>
                    <a:pt x="544624" y="410047"/>
                    <a:pt x="542680" y="409075"/>
                    <a:pt x="540251" y="408103"/>
                  </a:cubicBezTo>
                  <a:cubicBezTo>
                    <a:pt x="533935" y="406160"/>
                    <a:pt x="529077" y="404217"/>
                    <a:pt x="523733" y="403245"/>
                  </a:cubicBezTo>
                  <a:cubicBezTo>
                    <a:pt x="519846" y="405188"/>
                    <a:pt x="516931" y="405674"/>
                    <a:pt x="514988" y="405674"/>
                  </a:cubicBezTo>
                  <a:cubicBezTo>
                    <a:pt x="508186" y="424136"/>
                    <a:pt x="498955" y="441626"/>
                    <a:pt x="486809" y="457173"/>
                  </a:cubicBezTo>
                  <a:cubicBezTo>
                    <a:pt x="473691" y="474177"/>
                    <a:pt x="458145" y="488267"/>
                    <a:pt x="440654" y="498955"/>
                  </a:cubicBezTo>
                  <a:cubicBezTo>
                    <a:pt x="441140" y="501870"/>
                    <a:pt x="440654" y="504299"/>
                    <a:pt x="440169" y="505757"/>
                  </a:cubicBezTo>
                  <a:cubicBezTo>
                    <a:pt x="440169" y="506728"/>
                    <a:pt x="439683" y="507700"/>
                    <a:pt x="441626" y="511101"/>
                  </a:cubicBezTo>
                  <a:cubicBezTo>
                    <a:pt x="445027" y="517903"/>
                    <a:pt x="449400" y="524704"/>
                    <a:pt x="454258" y="531992"/>
                  </a:cubicBezTo>
                  <a:cubicBezTo>
                    <a:pt x="457173" y="536364"/>
                    <a:pt x="460574" y="541223"/>
                    <a:pt x="462031" y="547539"/>
                  </a:cubicBezTo>
                  <a:cubicBezTo>
                    <a:pt x="464461" y="557255"/>
                    <a:pt x="460574" y="566972"/>
                    <a:pt x="452315" y="571831"/>
                  </a:cubicBezTo>
                  <a:cubicBezTo>
                    <a:pt x="444055" y="576689"/>
                    <a:pt x="433853" y="574746"/>
                    <a:pt x="426565" y="567458"/>
                  </a:cubicBezTo>
                  <a:cubicBezTo>
                    <a:pt x="421707" y="562114"/>
                    <a:pt x="419763" y="556284"/>
                    <a:pt x="417820" y="550454"/>
                  </a:cubicBezTo>
                  <a:cubicBezTo>
                    <a:pt x="415391" y="542680"/>
                    <a:pt x="412476" y="532964"/>
                    <a:pt x="408103" y="524218"/>
                  </a:cubicBezTo>
                  <a:cubicBezTo>
                    <a:pt x="407132" y="522275"/>
                    <a:pt x="406646" y="522275"/>
                    <a:pt x="406160" y="522275"/>
                  </a:cubicBezTo>
                  <a:cubicBezTo>
                    <a:pt x="402759" y="521303"/>
                    <a:pt x="400816" y="519846"/>
                    <a:pt x="399844" y="518388"/>
                  </a:cubicBezTo>
                  <a:cubicBezTo>
                    <a:pt x="360005" y="531506"/>
                    <a:pt x="320167" y="531506"/>
                    <a:pt x="280814" y="518388"/>
                  </a:cubicBezTo>
                  <a:cubicBezTo>
                    <a:pt x="278871" y="521303"/>
                    <a:pt x="275956" y="522275"/>
                    <a:pt x="274498" y="522761"/>
                  </a:cubicBezTo>
                  <a:cubicBezTo>
                    <a:pt x="274012" y="522761"/>
                    <a:pt x="273526" y="522761"/>
                    <a:pt x="272069" y="526162"/>
                  </a:cubicBezTo>
                  <a:cubicBezTo>
                    <a:pt x="268668" y="533449"/>
                    <a:pt x="265753" y="541709"/>
                    <a:pt x="263324" y="550454"/>
                  </a:cubicBezTo>
                  <a:cubicBezTo>
                    <a:pt x="261866" y="555312"/>
                    <a:pt x="259923" y="559685"/>
                    <a:pt x="257980" y="563571"/>
                  </a:cubicBezTo>
                  <a:cubicBezTo>
                    <a:pt x="253607" y="570859"/>
                    <a:pt x="246320" y="574746"/>
                    <a:pt x="239032" y="574746"/>
                  </a:cubicBezTo>
                  <a:cubicBezTo>
                    <a:pt x="236117" y="574746"/>
                    <a:pt x="233202" y="574260"/>
                    <a:pt x="230287" y="572802"/>
                  </a:cubicBezTo>
                  <a:cubicBezTo>
                    <a:pt x="220570" y="567944"/>
                    <a:pt x="216198" y="556284"/>
                    <a:pt x="220084" y="545595"/>
                  </a:cubicBezTo>
                  <a:cubicBezTo>
                    <a:pt x="222028" y="540251"/>
                    <a:pt x="224943" y="535879"/>
                    <a:pt x="227372" y="532478"/>
                  </a:cubicBezTo>
                  <a:cubicBezTo>
                    <a:pt x="233202" y="524218"/>
                    <a:pt x="237574" y="516931"/>
                    <a:pt x="240975" y="510129"/>
                  </a:cubicBezTo>
                  <a:cubicBezTo>
                    <a:pt x="241947" y="508186"/>
                    <a:pt x="241947" y="507700"/>
                    <a:pt x="241461" y="507214"/>
                  </a:cubicBezTo>
                  <a:cubicBezTo>
                    <a:pt x="240004" y="504299"/>
                    <a:pt x="240004" y="501384"/>
                    <a:pt x="240975" y="498955"/>
                  </a:cubicBezTo>
                  <a:cubicBezTo>
                    <a:pt x="205995" y="476121"/>
                    <a:pt x="181217" y="445027"/>
                    <a:pt x="166642" y="406160"/>
                  </a:cubicBezTo>
                  <a:cubicBezTo>
                    <a:pt x="163241" y="406160"/>
                    <a:pt x="160326" y="404703"/>
                    <a:pt x="157897" y="403245"/>
                  </a:cubicBezTo>
                  <a:cubicBezTo>
                    <a:pt x="157897" y="403245"/>
                    <a:pt x="156440" y="403245"/>
                    <a:pt x="155468" y="403731"/>
                  </a:cubicBezTo>
                  <a:cubicBezTo>
                    <a:pt x="147209" y="405674"/>
                    <a:pt x="139921" y="408103"/>
                    <a:pt x="131176" y="411990"/>
                  </a:cubicBezTo>
                  <a:cubicBezTo>
                    <a:pt x="125832" y="414419"/>
                    <a:pt x="120002" y="416363"/>
                    <a:pt x="113200" y="416363"/>
                  </a:cubicBezTo>
                  <a:cubicBezTo>
                    <a:pt x="102512" y="416363"/>
                    <a:pt x="93767" y="409561"/>
                    <a:pt x="91823" y="399844"/>
                  </a:cubicBezTo>
                  <a:cubicBezTo>
                    <a:pt x="89880" y="390127"/>
                    <a:pt x="95710" y="379925"/>
                    <a:pt x="104941" y="376038"/>
                  </a:cubicBezTo>
                  <a:cubicBezTo>
                    <a:pt x="109799" y="374095"/>
                    <a:pt x="114658" y="373123"/>
                    <a:pt x="120974" y="372637"/>
                  </a:cubicBezTo>
                  <a:cubicBezTo>
                    <a:pt x="129719" y="372637"/>
                    <a:pt x="138464" y="371180"/>
                    <a:pt x="146723" y="369236"/>
                  </a:cubicBezTo>
                  <a:cubicBezTo>
                    <a:pt x="149638" y="368751"/>
                    <a:pt x="150124" y="368265"/>
                    <a:pt x="150124" y="367779"/>
                  </a:cubicBezTo>
                  <a:cubicBezTo>
                    <a:pt x="151095" y="365836"/>
                    <a:pt x="152553" y="363892"/>
                    <a:pt x="155468" y="362435"/>
                  </a:cubicBezTo>
                  <a:cubicBezTo>
                    <a:pt x="151095" y="321138"/>
                    <a:pt x="159840" y="282271"/>
                    <a:pt x="181703" y="246320"/>
                  </a:cubicBezTo>
                  <a:cubicBezTo>
                    <a:pt x="180246" y="244376"/>
                    <a:pt x="179274" y="241947"/>
                    <a:pt x="179274" y="239518"/>
                  </a:cubicBezTo>
                  <a:cubicBezTo>
                    <a:pt x="179274" y="238546"/>
                    <a:pt x="179274" y="238060"/>
                    <a:pt x="175873" y="235631"/>
                  </a:cubicBezTo>
                  <a:cubicBezTo>
                    <a:pt x="170043" y="231259"/>
                    <a:pt x="163241" y="226886"/>
                    <a:pt x="155954" y="222999"/>
                  </a:cubicBezTo>
                  <a:cubicBezTo>
                    <a:pt x="151581" y="220570"/>
                    <a:pt x="146723" y="217655"/>
                    <a:pt x="142350" y="213283"/>
                  </a:cubicBezTo>
                  <a:cubicBezTo>
                    <a:pt x="134577" y="205509"/>
                    <a:pt x="133119" y="193363"/>
                    <a:pt x="139921" y="185104"/>
                  </a:cubicBezTo>
                  <a:cubicBezTo>
                    <a:pt x="146237" y="176359"/>
                    <a:pt x="158383" y="174416"/>
                    <a:pt x="168100" y="180246"/>
                  </a:cubicBezTo>
                  <a:cubicBezTo>
                    <a:pt x="173444" y="183161"/>
                    <a:pt x="177331" y="187533"/>
                    <a:pt x="181217" y="191906"/>
                  </a:cubicBezTo>
                  <a:cubicBezTo>
                    <a:pt x="187533" y="199193"/>
                    <a:pt x="193363" y="204538"/>
                    <a:pt x="199193" y="208910"/>
                  </a:cubicBezTo>
                  <a:cubicBezTo>
                    <a:pt x="199193" y="208910"/>
                    <a:pt x="200651" y="210368"/>
                    <a:pt x="201137" y="209882"/>
                  </a:cubicBezTo>
                  <a:cubicBezTo>
                    <a:pt x="204052" y="208910"/>
                    <a:pt x="206481" y="209882"/>
                    <a:pt x="208910" y="210853"/>
                  </a:cubicBezTo>
                  <a:cubicBezTo>
                    <a:pt x="239518" y="181217"/>
                    <a:pt x="274984" y="164213"/>
                    <a:pt x="316280" y="159355"/>
                  </a:cubicBezTo>
                  <a:cubicBezTo>
                    <a:pt x="316280" y="159355"/>
                    <a:pt x="316280" y="159355"/>
                    <a:pt x="316280" y="159355"/>
                  </a:cubicBezTo>
                  <a:cubicBezTo>
                    <a:pt x="316766" y="156925"/>
                    <a:pt x="318709" y="154010"/>
                    <a:pt x="320653" y="152067"/>
                  </a:cubicBezTo>
                  <a:cubicBezTo>
                    <a:pt x="320653" y="152067"/>
                    <a:pt x="320653" y="152067"/>
                    <a:pt x="320653" y="150610"/>
                  </a:cubicBezTo>
                  <a:cubicBezTo>
                    <a:pt x="320653" y="141379"/>
                    <a:pt x="319195" y="132148"/>
                    <a:pt x="317738" y="123889"/>
                  </a:cubicBezTo>
                  <a:cubicBezTo>
                    <a:pt x="316766" y="118058"/>
                    <a:pt x="316766" y="113200"/>
                    <a:pt x="317252" y="108828"/>
                  </a:cubicBezTo>
                  <a:cubicBezTo>
                    <a:pt x="318709" y="97167"/>
                    <a:pt x="327454" y="88908"/>
                    <a:pt x="339114" y="89394"/>
                  </a:cubicBezTo>
                  <a:cubicBezTo>
                    <a:pt x="348831" y="89394"/>
                    <a:pt x="357090" y="97653"/>
                    <a:pt x="358548" y="107370"/>
                  </a:cubicBezTo>
                  <a:lnTo>
                    <a:pt x="360977" y="107370"/>
                  </a:lnTo>
                  <a:lnTo>
                    <a:pt x="358062" y="122431"/>
                  </a:lnTo>
                  <a:cubicBezTo>
                    <a:pt x="357576" y="128261"/>
                    <a:pt x="356605" y="134091"/>
                    <a:pt x="355633" y="139921"/>
                  </a:cubicBezTo>
                  <a:cubicBezTo>
                    <a:pt x="355633" y="143322"/>
                    <a:pt x="355633" y="146723"/>
                    <a:pt x="355633" y="150124"/>
                  </a:cubicBezTo>
                  <a:lnTo>
                    <a:pt x="355633" y="152553"/>
                  </a:lnTo>
                  <a:cubicBezTo>
                    <a:pt x="355633" y="152553"/>
                    <a:pt x="359034" y="155954"/>
                    <a:pt x="360005" y="159840"/>
                  </a:cubicBezTo>
                  <a:cubicBezTo>
                    <a:pt x="374095" y="161784"/>
                    <a:pt x="385755" y="164213"/>
                    <a:pt x="396443" y="168100"/>
                  </a:cubicBezTo>
                  <a:cubicBezTo>
                    <a:pt x="423164" y="177331"/>
                    <a:pt x="446970" y="191906"/>
                    <a:pt x="467376" y="211339"/>
                  </a:cubicBezTo>
                  <a:cubicBezTo>
                    <a:pt x="469805" y="209882"/>
                    <a:pt x="472234" y="209396"/>
                    <a:pt x="475149" y="209882"/>
                  </a:cubicBezTo>
                  <a:cubicBezTo>
                    <a:pt x="475149" y="209882"/>
                    <a:pt x="476121" y="209882"/>
                    <a:pt x="478550" y="207938"/>
                  </a:cubicBezTo>
                  <a:cubicBezTo>
                    <a:pt x="484380" y="203080"/>
                    <a:pt x="490210" y="197250"/>
                    <a:pt x="496040" y="190934"/>
                  </a:cubicBezTo>
                  <a:cubicBezTo>
                    <a:pt x="499441" y="187047"/>
                    <a:pt x="503328" y="182675"/>
                    <a:pt x="508672" y="179760"/>
                  </a:cubicBezTo>
                  <a:cubicBezTo>
                    <a:pt x="514988" y="175873"/>
                    <a:pt x="522761" y="175387"/>
                    <a:pt x="529563" y="178302"/>
                  </a:cubicBezTo>
                  <a:cubicBezTo>
                    <a:pt x="535393" y="181217"/>
                    <a:pt x="539765" y="186562"/>
                    <a:pt x="541223" y="193363"/>
                  </a:cubicBezTo>
                  <a:cubicBezTo>
                    <a:pt x="542195" y="198707"/>
                    <a:pt x="541223" y="205995"/>
                    <a:pt x="533935" y="213768"/>
                  </a:cubicBezTo>
                  <a:cubicBezTo>
                    <a:pt x="530049" y="217655"/>
                    <a:pt x="525190" y="220570"/>
                    <a:pt x="520818" y="222513"/>
                  </a:cubicBezTo>
                  <a:cubicBezTo>
                    <a:pt x="512073" y="227372"/>
                    <a:pt x="505271" y="231744"/>
                    <a:pt x="499927" y="236603"/>
                  </a:cubicBezTo>
                  <a:cubicBezTo>
                    <a:pt x="498469" y="238060"/>
                    <a:pt x="498469" y="238546"/>
                    <a:pt x="498469" y="239032"/>
                  </a:cubicBezTo>
                  <a:cubicBezTo>
                    <a:pt x="498469" y="241947"/>
                    <a:pt x="497497" y="244376"/>
                    <a:pt x="495554" y="246320"/>
                  </a:cubicBezTo>
                  <a:cubicBezTo>
                    <a:pt x="512073" y="273526"/>
                    <a:pt x="521303" y="302677"/>
                    <a:pt x="523247" y="333770"/>
                  </a:cubicBezTo>
                  <a:cubicBezTo>
                    <a:pt x="523733" y="343001"/>
                    <a:pt x="523247" y="352232"/>
                    <a:pt x="522275" y="361949"/>
                  </a:cubicBezTo>
                  <a:cubicBezTo>
                    <a:pt x="525190" y="362921"/>
                    <a:pt x="526162" y="365350"/>
                    <a:pt x="527134" y="366321"/>
                  </a:cubicBezTo>
                  <a:cubicBezTo>
                    <a:pt x="528105" y="368265"/>
                    <a:pt x="529563" y="368751"/>
                    <a:pt x="534907" y="369236"/>
                  </a:cubicBezTo>
                  <a:cubicBezTo>
                    <a:pt x="541709" y="370208"/>
                    <a:pt x="546567" y="370694"/>
                    <a:pt x="551911" y="371180"/>
                  </a:cubicBezTo>
                  <a:cubicBezTo>
                    <a:pt x="556770" y="371666"/>
                    <a:pt x="561628" y="372151"/>
                    <a:pt x="566972" y="373123"/>
                  </a:cubicBezTo>
                  <a:cubicBezTo>
                    <a:pt x="575231" y="374095"/>
                    <a:pt x="581547" y="378953"/>
                    <a:pt x="584948" y="386241"/>
                  </a:cubicBezTo>
                  <a:lnTo>
                    <a:pt x="584948" y="386241"/>
                  </a:lnTo>
                  <a:cubicBezTo>
                    <a:pt x="588349" y="393528"/>
                    <a:pt x="587377" y="400816"/>
                    <a:pt x="582519" y="407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p86"/>
            <p:cNvSpPr/>
            <p:nvPr/>
          </p:nvSpPr>
          <p:spPr>
            <a:xfrm>
              <a:off x="1099094" y="1462359"/>
              <a:ext cx="7287" cy="485"/>
            </a:xfrm>
            <a:custGeom>
              <a:avLst/>
              <a:gdLst/>
              <a:ahLst/>
              <a:cxnLst/>
              <a:rect l="l" t="t" r="r" b="b"/>
              <a:pathLst>
                <a:path w="7287" h="485" extrusionOk="0">
                  <a:moveTo>
                    <a:pt x="0" y="0"/>
                  </a:moveTo>
                  <a:lnTo>
                    <a:pt x="7288" y="4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p86"/>
            <p:cNvSpPr/>
            <p:nvPr/>
          </p:nvSpPr>
          <p:spPr>
            <a:xfrm>
              <a:off x="952371" y="1440011"/>
              <a:ext cx="26235" cy="25749"/>
            </a:xfrm>
            <a:custGeom>
              <a:avLst/>
              <a:gdLst/>
              <a:ahLst/>
              <a:cxnLst/>
              <a:rect l="l" t="t" r="r" b="b"/>
              <a:pathLst>
                <a:path w="26235" h="25749" extrusionOk="0">
                  <a:moveTo>
                    <a:pt x="13118" y="25749"/>
                  </a:moveTo>
                  <a:lnTo>
                    <a:pt x="23806" y="20405"/>
                  </a:lnTo>
                  <a:lnTo>
                    <a:pt x="26235" y="9231"/>
                  </a:lnTo>
                  <a:lnTo>
                    <a:pt x="18948" y="0"/>
                  </a:lnTo>
                  <a:lnTo>
                    <a:pt x="7288" y="0"/>
                  </a:lnTo>
                  <a:lnTo>
                    <a:pt x="0" y="9231"/>
                  </a:lnTo>
                  <a:lnTo>
                    <a:pt x="2429" y="20405"/>
                  </a:lnTo>
                  <a:lnTo>
                    <a:pt x="13118" y="25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86"/>
            <p:cNvSpPr/>
            <p:nvPr/>
          </p:nvSpPr>
          <p:spPr>
            <a:xfrm>
              <a:off x="1035871" y="1388512"/>
              <a:ext cx="63708" cy="67045"/>
            </a:xfrm>
            <a:custGeom>
              <a:avLst/>
              <a:gdLst/>
              <a:ahLst/>
              <a:cxnLst/>
              <a:rect l="l" t="t" r="r" b="b"/>
              <a:pathLst>
                <a:path w="63708" h="67045" extrusionOk="0">
                  <a:moveTo>
                    <a:pt x="63709" y="63645"/>
                  </a:moveTo>
                  <a:cubicBezTo>
                    <a:pt x="63709" y="59758"/>
                    <a:pt x="63709" y="56357"/>
                    <a:pt x="63223" y="52956"/>
                  </a:cubicBezTo>
                  <a:cubicBezTo>
                    <a:pt x="61766" y="34009"/>
                    <a:pt x="56421" y="16518"/>
                    <a:pt x="48162" y="0"/>
                  </a:cubicBezTo>
                  <a:lnTo>
                    <a:pt x="2008" y="41296"/>
                  </a:lnTo>
                  <a:cubicBezTo>
                    <a:pt x="2008" y="41296"/>
                    <a:pt x="-422" y="44697"/>
                    <a:pt x="64" y="46155"/>
                  </a:cubicBezTo>
                  <a:cubicBezTo>
                    <a:pt x="64" y="47612"/>
                    <a:pt x="2008" y="49070"/>
                    <a:pt x="3951" y="49555"/>
                  </a:cubicBezTo>
                  <a:cubicBezTo>
                    <a:pt x="18526" y="53928"/>
                    <a:pt x="33587" y="58300"/>
                    <a:pt x="48162" y="62673"/>
                  </a:cubicBezTo>
                  <a:lnTo>
                    <a:pt x="63709" y="67046"/>
                  </a:lnTo>
                  <a:cubicBezTo>
                    <a:pt x="63709" y="67046"/>
                    <a:pt x="63709" y="64616"/>
                    <a:pt x="63709" y="63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6" name="Google Shape;3356;p86"/>
          <p:cNvSpPr/>
          <p:nvPr/>
        </p:nvSpPr>
        <p:spPr>
          <a:xfrm>
            <a:off x="5857721" y="3715304"/>
            <a:ext cx="939968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VKS Clusters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7" name="Google Shape;3357;p86"/>
          <p:cNvSpPr/>
          <p:nvPr/>
        </p:nvSpPr>
        <p:spPr>
          <a:xfrm>
            <a:off x="2875657" y="4375242"/>
            <a:ext cx="1839014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B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8" name="Google Shape;3358;p86"/>
          <p:cNvSpPr/>
          <p:nvPr/>
        </p:nvSpPr>
        <p:spPr>
          <a:xfrm>
            <a:off x="2976920" y="4612413"/>
            <a:ext cx="1659466" cy="4728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9" name="Google Shape;3359;p86"/>
          <p:cNvSpPr/>
          <p:nvPr/>
        </p:nvSpPr>
        <p:spPr>
          <a:xfrm>
            <a:off x="5286205" y="4377932"/>
            <a:ext cx="4176960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C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0" name="Google Shape;3360;p86"/>
          <p:cNvSpPr/>
          <p:nvPr/>
        </p:nvSpPr>
        <p:spPr>
          <a:xfrm>
            <a:off x="5387468" y="4612412"/>
            <a:ext cx="3965287" cy="4728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1" name="Google Shape;3361;p86"/>
          <p:cNvSpPr/>
          <p:nvPr/>
        </p:nvSpPr>
        <p:spPr>
          <a:xfrm>
            <a:off x="6953351" y="4622947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2" name="Google Shape;3362;p86"/>
          <p:cNvGrpSpPr/>
          <p:nvPr/>
        </p:nvGrpSpPr>
        <p:grpSpPr>
          <a:xfrm>
            <a:off x="6710606" y="4722222"/>
            <a:ext cx="274320" cy="274320"/>
            <a:chOff x="658852" y="4954224"/>
            <a:chExt cx="583799" cy="584209"/>
          </a:xfrm>
        </p:grpSpPr>
        <p:sp>
          <p:nvSpPr>
            <p:cNvPr id="3363" name="Google Shape;3363;p86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64" name="Google Shape;3364;p86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365" name="Google Shape;3365;p86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6" name="Google Shape;3366;p86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67" name="Google Shape;3367;p86"/>
          <p:cNvGrpSpPr/>
          <p:nvPr/>
        </p:nvGrpSpPr>
        <p:grpSpPr>
          <a:xfrm>
            <a:off x="3275218" y="4704021"/>
            <a:ext cx="314932" cy="306639"/>
            <a:chOff x="624431" y="1107698"/>
            <a:chExt cx="682601" cy="664625"/>
          </a:xfrm>
        </p:grpSpPr>
        <p:sp>
          <p:nvSpPr>
            <p:cNvPr id="3368" name="Google Shape;3368;p86"/>
            <p:cNvSpPr/>
            <p:nvPr/>
          </p:nvSpPr>
          <p:spPr>
            <a:xfrm>
              <a:off x="1004841" y="1579446"/>
              <a:ext cx="1943" cy="7287"/>
            </a:xfrm>
            <a:custGeom>
              <a:avLst/>
              <a:gdLst/>
              <a:ahLst/>
              <a:cxnLst/>
              <a:rect l="l" t="t" r="r" b="b"/>
              <a:pathLst>
                <a:path w="1943" h="7287" extrusionOk="0">
                  <a:moveTo>
                    <a:pt x="0" y="486"/>
                  </a:moveTo>
                  <a:lnTo>
                    <a:pt x="1943" y="7288"/>
                  </a:lnTo>
                  <a:lnTo>
                    <a:pt x="486" y="0"/>
                  </a:lnTo>
                  <a:cubicBezTo>
                    <a:pt x="486" y="0"/>
                    <a:pt x="48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p86"/>
            <p:cNvSpPr/>
            <p:nvPr/>
          </p:nvSpPr>
          <p:spPr>
            <a:xfrm>
              <a:off x="878038" y="1319523"/>
              <a:ext cx="62673" cy="67379"/>
            </a:xfrm>
            <a:custGeom>
              <a:avLst/>
              <a:gdLst/>
              <a:ahLst/>
              <a:cxnLst/>
              <a:rect l="l" t="t" r="r" b="b"/>
              <a:pathLst>
                <a:path w="62673" h="67379" extrusionOk="0">
                  <a:moveTo>
                    <a:pt x="51499" y="66560"/>
                  </a:moveTo>
                  <a:cubicBezTo>
                    <a:pt x="51499" y="66560"/>
                    <a:pt x="54900" y="68017"/>
                    <a:pt x="56357" y="67046"/>
                  </a:cubicBezTo>
                  <a:cubicBezTo>
                    <a:pt x="57815" y="66560"/>
                    <a:pt x="58786" y="65102"/>
                    <a:pt x="58786" y="63159"/>
                  </a:cubicBezTo>
                  <a:cubicBezTo>
                    <a:pt x="59758" y="47126"/>
                    <a:pt x="60730" y="30608"/>
                    <a:pt x="61701" y="14575"/>
                  </a:cubicBezTo>
                  <a:lnTo>
                    <a:pt x="62673" y="0"/>
                  </a:lnTo>
                  <a:cubicBezTo>
                    <a:pt x="38381" y="4858"/>
                    <a:pt x="17976" y="15061"/>
                    <a:pt x="0" y="30122"/>
                  </a:cubicBezTo>
                  <a:cubicBezTo>
                    <a:pt x="7773" y="35466"/>
                    <a:pt x="15547" y="41296"/>
                    <a:pt x="23320" y="46640"/>
                  </a:cubicBezTo>
                  <a:cubicBezTo>
                    <a:pt x="32551" y="53442"/>
                    <a:pt x="42268" y="59758"/>
                    <a:pt x="51499" y="66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p86"/>
            <p:cNvSpPr/>
            <p:nvPr/>
          </p:nvSpPr>
          <p:spPr>
            <a:xfrm>
              <a:off x="1014072" y="1494424"/>
              <a:ext cx="74333" cy="65102"/>
            </a:xfrm>
            <a:custGeom>
              <a:avLst/>
              <a:gdLst/>
              <a:ahLst/>
              <a:cxnLst/>
              <a:rect l="l" t="t" r="r" b="b"/>
              <a:pathLst>
                <a:path w="74333" h="65102" extrusionOk="0">
                  <a:moveTo>
                    <a:pt x="8259" y="972"/>
                  </a:moveTo>
                  <a:cubicBezTo>
                    <a:pt x="8259" y="972"/>
                    <a:pt x="6316" y="2915"/>
                    <a:pt x="6316" y="4858"/>
                  </a:cubicBezTo>
                  <a:lnTo>
                    <a:pt x="0" y="9717"/>
                  </a:lnTo>
                  <a:lnTo>
                    <a:pt x="6802" y="6802"/>
                  </a:lnTo>
                  <a:lnTo>
                    <a:pt x="12632" y="20891"/>
                  </a:lnTo>
                  <a:cubicBezTo>
                    <a:pt x="18948" y="35466"/>
                    <a:pt x="24778" y="50527"/>
                    <a:pt x="31094" y="65102"/>
                  </a:cubicBezTo>
                  <a:cubicBezTo>
                    <a:pt x="50527" y="50527"/>
                    <a:pt x="64616" y="32551"/>
                    <a:pt x="74333" y="10688"/>
                  </a:cubicBezTo>
                  <a:lnTo>
                    <a:pt x="12146" y="0"/>
                  </a:lnTo>
                  <a:cubicBezTo>
                    <a:pt x="12146" y="0"/>
                    <a:pt x="9231" y="486"/>
                    <a:pt x="8259" y="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p86"/>
            <p:cNvSpPr/>
            <p:nvPr/>
          </p:nvSpPr>
          <p:spPr>
            <a:xfrm>
              <a:off x="842572" y="1494424"/>
              <a:ext cx="67045" cy="64616"/>
            </a:xfrm>
            <a:custGeom>
              <a:avLst/>
              <a:gdLst/>
              <a:ahLst/>
              <a:cxnLst/>
              <a:rect l="l" t="t" r="r" b="b"/>
              <a:pathLst>
                <a:path w="67045" h="64616" extrusionOk="0">
                  <a:moveTo>
                    <a:pt x="62673" y="0"/>
                  </a:moveTo>
                  <a:lnTo>
                    <a:pt x="46155" y="2915"/>
                  </a:lnTo>
                  <a:cubicBezTo>
                    <a:pt x="30608" y="5344"/>
                    <a:pt x="15547" y="8259"/>
                    <a:pt x="0" y="10688"/>
                  </a:cubicBezTo>
                  <a:cubicBezTo>
                    <a:pt x="9717" y="32551"/>
                    <a:pt x="24292" y="50527"/>
                    <a:pt x="43240" y="64616"/>
                  </a:cubicBezTo>
                  <a:cubicBezTo>
                    <a:pt x="48584" y="51985"/>
                    <a:pt x="53442" y="39839"/>
                    <a:pt x="58300" y="27693"/>
                  </a:cubicBezTo>
                  <a:lnTo>
                    <a:pt x="65588" y="9717"/>
                  </a:lnTo>
                  <a:cubicBezTo>
                    <a:pt x="65588" y="9717"/>
                    <a:pt x="66560" y="6802"/>
                    <a:pt x="67046" y="5830"/>
                  </a:cubicBezTo>
                  <a:cubicBezTo>
                    <a:pt x="67046" y="4858"/>
                    <a:pt x="67046" y="3401"/>
                    <a:pt x="66074" y="2429"/>
                  </a:cubicBezTo>
                  <a:cubicBezTo>
                    <a:pt x="65102" y="1457"/>
                    <a:pt x="64131" y="972"/>
                    <a:pt x="62673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86"/>
            <p:cNvSpPr/>
            <p:nvPr/>
          </p:nvSpPr>
          <p:spPr>
            <a:xfrm>
              <a:off x="930994" y="1523575"/>
              <a:ext cx="68503" cy="62187"/>
            </a:xfrm>
            <a:custGeom>
              <a:avLst/>
              <a:gdLst/>
              <a:ahLst/>
              <a:cxnLst/>
              <a:rect l="l" t="t" r="r" b="b"/>
              <a:pathLst>
                <a:path w="68503" h="62187" extrusionOk="0">
                  <a:moveTo>
                    <a:pt x="55385" y="32551"/>
                  </a:moveTo>
                  <a:cubicBezTo>
                    <a:pt x="50041" y="22834"/>
                    <a:pt x="44697" y="12632"/>
                    <a:pt x="38867" y="2915"/>
                  </a:cubicBezTo>
                  <a:cubicBezTo>
                    <a:pt x="37895" y="972"/>
                    <a:pt x="35952" y="486"/>
                    <a:pt x="34494" y="0"/>
                  </a:cubicBezTo>
                  <a:cubicBezTo>
                    <a:pt x="33037" y="0"/>
                    <a:pt x="31094" y="972"/>
                    <a:pt x="30122" y="2915"/>
                  </a:cubicBezTo>
                  <a:lnTo>
                    <a:pt x="17490" y="25749"/>
                  </a:lnTo>
                  <a:cubicBezTo>
                    <a:pt x="11660" y="36438"/>
                    <a:pt x="5830" y="46640"/>
                    <a:pt x="0" y="57329"/>
                  </a:cubicBezTo>
                  <a:cubicBezTo>
                    <a:pt x="11660" y="60244"/>
                    <a:pt x="22834" y="61701"/>
                    <a:pt x="34494" y="62187"/>
                  </a:cubicBezTo>
                  <a:cubicBezTo>
                    <a:pt x="45669" y="62187"/>
                    <a:pt x="57329" y="60730"/>
                    <a:pt x="68503" y="57815"/>
                  </a:cubicBezTo>
                  <a:cubicBezTo>
                    <a:pt x="67046" y="54900"/>
                    <a:pt x="65588" y="52470"/>
                    <a:pt x="64131" y="50041"/>
                  </a:cubicBezTo>
                  <a:lnTo>
                    <a:pt x="54900" y="330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p86"/>
            <p:cNvSpPr/>
            <p:nvPr/>
          </p:nvSpPr>
          <p:spPr>
            <a:xfrm>
              <a:off x="1090835" y="1499768"/>
              <a:ext cx="6801" cy="2915"/>
            </a:xfrm>
            <a:custGeom>
              <a:avLst/>
              <a:gdLst/>
              <a:ahLst/>
              <a:cxnLst/>
              <a:rect l="l" t="t" r="r" b="b"/>
              <a:pathLst>
                <a:path w="6801" h="2915" extrusionOk="0">
                  <a:moveTo>
                    <a:pt x="0" y="0"/>
                  </a:moveTo>
                  <a:lnTo>
                    <a:pt x="6802" y="29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p86"/>
            <p:cNvSpPr/>
            <p:nvPr/>
          </p:nvSpPr>
          <p:spPr>
            <a:xfrm>
              <a:off x="831667" y="1388512"/>
              <a:ext cx="64346" cy="67531"/>
            </a:xfrm>
            <a:custGeom>
              <a:avLst/>
              <a:gdLst/>
              <a:ahLst/>
              <a:cxnLst/>
              <a:rect l="l" t="t" r="r" b="b"/>
              <a:pathLst>
                <a:path w="64346" h="67531" extrusionOk="0">
                  <a:moveTo>
                    <a:pt x="63375" y="47126"/>
                  </a:moveTo>
                  <a:cubicBezTo>
                    <a:pt x="63375" y="47126"/>
                    <a:pt x="63375" y="43725"/>
                    <a:pt x="60460" y="40810"/>
                  </a:cubicBezTo>
                  <a:cubicBezTo>
                    <a:pt x="45399" y="27207"/>
                    <a:pt x="30338" y="13603"/>
                    <a:pt x="15277" y="0"/>
                  </a:cubicBezTo>
                  <a:cubicBezTo>
                    <a:pt x="6532" y="17004"/>
                    <a:pt x="1673" y="34494"/>
                    <a:pt x="216" y="52956"/>
                  </a:cubicBezTo>
                  <a:cubicBezTo>
                    <a:pt x="216" y="57329"/>
                    <a:pt x="-270" y="62673"/>
                    <a:pt x="216" y="67531"/>
                  </a:cubicBezTo>
                  <a:lnTo>
                    <a:pt x="10419" y="64616"/>
                  </a:lnTo>
                  <a:cubicBezTo>
                    <a:pt x="26451" y="59758"/>
                    <a:pt x="42970" y="55385"/>
                    <a:pt x="59002" y="50527"/>
                  </a:cubicBezTo>
                  <a:cubicBezTo>
                    <a:pt x="63375" y="49070"/>
                    <a:pt x="63861" y="47612"/>
                    <a:pt x="64346" y="46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p86"/>
            <p:cNvSpPr/>
            <p:nvPr/>
          </p:nvSpPr>
          <p:spPr>
            <a:xfrm>
              <a:off x="990752" y="1319523"/>
              <a:ext cx="61701" cy="66751"/>
            </a:xfrm>
            <a:custGeom>
              <a:avLst/>
              <a:gdLst/>
              <a:ahLst/>
              <a:cxnLst/>
              <a:rect l="l" t="t" r="r" b="b"/>
              <a:pathLst>
                <a:path w="61701" h="66751" extrusionOk="0">
                  <a:moveTo>
                    <a:pt x="5830" y="66560"/>
                  </a:moveTo>
                  <a:cubicBezTo>
                    <a:pt x="5830" y="66560"/>
                    <a:pt x="8745" y="67531"/>
                    <a:pt x="12146" y="65102"/>
                  </a:cubicBezTo>
                  <a:cubicBezTo>
                    <a:pt x="28664" y="53442"/>
                    <a:pt x="45183" y="41782"/>
                    <a:pt x="61701" y="30122"/>
                  </a:cubicBezTo>
                  <a:cubicBezTo>
                    <a:pt x="42754" y="14575"/>
                    <a:pt x="22348" y="4373"/>
                    <a:pt x="0" y="0"/>
                  </a:cubicBezTo>
                  <a:lnTo>
                    <a:pt x="3401" y="60730"/>
                  </a:lnTo>
                  <a:cubicBezTo>
                    <a:pt x="3401" y="65102"/>
                    <a:pt x="4858" y="65588"/>
                    <a:pt x="5830" y="66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p86"/>
            <p:cNvSpPr/>
            <p:nvPr/>
          </p:nvSpPr>
          <p:spPr>
            <a:xfrm>
              <a:off x="732681" y="1210695"/>
              <a:ext cx="466686" cy="454812"/>
            </a:xfrm>
            <a:custGeom>
              <a:avLst/>
              <a:gdLst/>
              <a:ahLst/>
              <a:cxnLst/>
              <a:rect l="l" t="t" r="r" b="b"/>
              <a:pathLst>
                <a:path w="466686" h="454812" extrusionOk="0">
                  <a:moveTo>
                    <a:pt x="444146" y="283729"/>
                  </a:moveTo>
                  <a:cubicBezTo>
                    <a:pt x="438802" y="283243"/>
                    <a:pt x="433458" y="282757"/>
                    <a:pt x="428600" y="281786"/>
                  </a:cubicBezTo>
                  <a:cubicBezTo>
                    <a:pt x="421798" y="280814"/>
                    <a:pt x="414024" y="279842"/>
                    <a:pt x="409166" y="272555"/>
                  </a:cubicBezTo>
                  <a:cubicBezTo>
                    <a:pt x="406251" y="272069"/>
                    <a:pt x="404308" y="270611"/>
                    <a:pt x="403336" y="269154"/>
                  </a:cubicBezTo>
                  <a:cubicBezTo>
                    <a:pt x="400421" y="265753"/>
                    <a:pt x="400907" y="261866"/>
                    <a:pt x="401393" y="259923"/>
                  </a:cubicBezTo>
                  <a:cubicBezTo>
                    <a:pt x="402364" y="250206"/>
                    <a:pt x="402850" y="240975"/>
                    <a:pt x="402364" y="231744"/>
                  </a:cubicBezTo>
                  <a:cubicBezTo>
                    <a:pt x="400907" y="202108"/>
                    <a:pt x="391676" y="174416"/>
                    <a:pt x="376129" y="149152"/>
                  </a:cubicBezTo>
                  <a:cubicBezTo>
                    <a:pt x="375158" y="147695"/>
                    <a:pt x="373214" y="144294"/>
                    <a:pt x="374186" y="139921"/>
                  </a:cubicBezTo>
                  <a:cubicBezTo>
                    <a:pt x="374672" y="137492"/>
                    <a:pt x="376129" y="135549"/>
                    <a:pt x="378073" y="134091"/>
                  </a:cubicBezTo>
                  <a:cubicBezTo>
                    <a:pt x="378558" y="129719"/>
                    <a:pt x="380988" y="125832"/>
                    <a:pt x="384874" y="122431"/>
                  </a:cubicBezTo>
                  <a:cubicBezTo>
                    <a:pt x="391190" y="117087"/>
                    <a:pt x="398478" y="112228"/>
                    <a:pt x="408194" y="106884"/>
                  </a:cubicBezTo>
                  <a:cubicBezTo>
                    <a:pt x="412081" y="104941"/>
                    <a:pt x="415482" y="102998"/>
                    <a:pt x="417911" y="100083"/>
                  </a:cubicBezTo>
                  <a:cubicBezTo>
                    <a:pt x="421312" y="97167"/>
                    <a:pt x="421312" y="94738"/>
                    <a:pt x="420826" y="93281"/>
                  </a:cubicBezTo>
                  <a:cubicBezTo>
                    <a:pt x="420826" y="90852"/>
                    <a:pt x="418883" y="89394"/>
                    <a:pt x="417911" y="88908"/>
                  </a:cubicBezTo>
                  <a:cubicBezTo>
                    <a:pt x="415968" y="87937"/>
                    <a:pt x="413053" y="88422"/>
                    <a:pt x="410624" y="89880"/>
                  </a:cubicBezTo>
                  <a:cubicBezTo>
                    <a:pt x="407223" y="91823"/>
                    <a:pt x="404308" y="95224"/>
                    <a:pt x="401393" y="98139"/>
                  </a:cubicBezTo>
                  <a:cubicBezTo>
                    <a:pt x="395563" y="104941"/>
                    <a:pt x="389247" y="111257"/>
                    <a:pt x="382445" y="116601"/>
                  </a:cubicBezTo>
                  <a:cubicBezTo>
                    <a:pt x="380502" y="118058"/>
                    <a:pt x="375643" y="122431"/>
                    <a:pt x="368356" y="121459"/>
                  </a:cubicBezTo>
                  <a:cubicBezTo>
                    <a:pt x="366412" y="123403"/>
                    <a:pt x="363983" y="124374"/>
                    <a:pt x="361554" y="123889"/>
                  </a:cubicBezTo>
                  <a:cubicBezTo>
                    <a:pt x="357182" y="123889"/>
                    <a:pt x="354267" y="120974"/>
                    <a:pt x="352809" y="119516"/>
                  </a:cubicBezTo>
                  <a:cubicBezTo>
                    <a:pt x="333861" y="100568"/>
                    <a:pt x="311513" y="86965"/>
                    <a:pt x="286249" y="78220"/>
                  </a:cubicBezTo>
                  <a:cubicBezTo>
                    <a:pt x="275075" y="74333"/>
                    <a:pt x="263415" y="71904"/>
                    <a:pt x="249811" y="69961"/>
                  </a:cubicBezTo>
                  <a:cubicBezTo>
                    <a:pt x="248354" y="69961"/>
                    <a:pt x="244953" y="69961"/>
                    <a:pt x="242524" y="67046"/>
                  </a:cubicBezTo>
                  <a:lnTo>
                    <a:pt x="240581" y="64616"/>
                  </a:lnTo>
                  <a:lnTo>
                    <a:pt x="240581" y="60244"/>
                  </a:lnTo>
                  <a:cubicBezTo>
                    <a:pt x="237180" y="56357"/>
                    <a:pt x="235722" y="52956"/>
                    <a:pt x="235722" y="49070"/>
                  </a:cubicBezTo>
                  <a:lnTo>
                    <a:pt x="235722" y="47126"/>
                  </a:lnTo>
                  <a:cubicBezTo>
                    <a:pt x="235722" y="42754"/>
                    <a:pt x="235722" y="38867"/>
                    <a:pt x="236208" y="34494"/>
                  </a:cubicBezTo>
                  <a:cubicBezTo>
                    <a:pt x="237180" y="28664"/>
                    <a:pt x="237666" y="23320"/>
                    <a:pt x="238637" y="17490"/>
                  </a:cubicBezTo>
                  <a:lnTo>
                    <a:pt x="238637" y="11660"/>
                  </a:lnTo>
                  <a:cubicBezTo>
                    <a:pt x="238637" y="11660"/>
                    <a:pt x="239123" y="7288"/>
                    <a:pt x="239123" y="7288"/>
                  </a:cubicBezTo>
                  <a:cubicBezTo>
                    <a:pt x="239123" y="3401"/>
                    <a:pt x="236208" y="486"/>
                    <a:pt x="233293" y="0"/>
                  </a:cubicBezTo>
                  <a:cubicBezTo>
                    <a:pt x="229892" y="0"/>
                    <a:pt x="226977" y="2429"/>
                    <a:pt x="226491" y="6316"/>
                  </a:cubicBezTo>
                  <a:cubicBezTo>
                    <a:pt x="226491" y="9231"/>
                    <a:pt x="226491" y="12632"/>
                    <a:pt x="226977" y="17490"/>
                  </a:cubicBezTo>
                  <a:cubicBezTo>
                    <a:pt x="228435" y="26721"/>
                    <a:pt x="229892" y="36438"/>
                    <a:pt x="229892" y="46640"/>
                  </a:cubicBezTo>
                  <a:cubicBezTo>
                    <a:pt x="229892" y="49070"/>
                    <a:pt x="229892" y="54414"/>
                    <a:pt x="225520" y="58786"/>
                  </a:cubicBezTo>
                  <a:cubicBezTo>
                    <a:pt x="225520" y="62187"/>
                    <a:pt x="224548" y="64616"/>
                    <a:pt x="223090" y="66560"/>
                  </a:cubicBezTo>
                  <a:cubicBezTo>
                    <a:pt x="221633" y="68503"/>
                    <a:pt x="219204" y="69475"/>
                    <a:pt x="215803" y="69961"/>
                  </a:cubicBezTo>
                  <a:lnTo>
                    <a:pt x="212402" y="69961"/>
                  </a:lnTo>
                  <a:cubicBezTo>
                    <a:pt x="174021" y="75305"/>
                    <a:pt x="140012" y="91337"/>
                    <a:pt x="112805" y="119030"/>
                  </a:cubicBezTo>
                  <a:cubicBezTo>
                    <a:pt x="111348" y="120488"/>
                    <a:pt x="108433" y="124374"/>
                    <a:pt x="103574" y="123403"/>
                  </a:cubicBezTo>
                  <a:cubicBezTo>
                    <a:pt x="101631" y="123403"/>
                    <a:pt x="99202" y="122431"/>
                    <a:pt x="97259" y="121459"/>
                  </a:cubicBezTo>
                  <a:cubicBezTo>
                    <a:pt x="90943" y="121945"/>
                    <a:pt x="86570" y="118544"/>
                    <a:pt x="84627" y="117573"/>
                  </a:cubicBezTo>
                  <a:cubicBezTo>
                    <a:pt x="77825" y="112228"/>
                    <a:pt x="71509" y="106398"/>
                    <a:pt x="64707" y="98625"/>
                  </a:cubicBezTo>
                  <a:cubicBezTo>
                    <a:pt x="61307" y="94738"/>
                    <a:pt x="58392" y="91823"/>
                    <a:pt x="54991" y="89394"/>
                  </a:cubicBezTo>
                  <a:cubicBezTo>
                    <a:pt x="51590" y="87451"/>
                    <a:pt x="47703" y="87937"/>
                    <a:pt x="45760" y="90366"/>
                  </a:cubicBezTo>
                  <a:cubicBezTo>
                    <a:pt x="43816" y="92795"/>
                    <a:pt x="44302" y="96682"/>
                    <a:pt x="47217" y="99597"/>
                  </a:cubicBezTo>
                  <a:cubicBezTo>
                    <a:pt x="50132" y="102512"/>
                    <a:pt x="53533" y="104455"/>
                    <a:pt x="57420" y="106398"/>
                  </a:cubicBezTo>
                  <a:cubicBezTo>
                    <a:pt x="65193" y="110771"/>
                    <a:pt x="72481" y="115143"/>
                    <a:pt x="78797" y="120488"/>
                  </a:cubicBezTo>
                  <a:cubicBezTo>
                    <a:pt x="81712" y="122917"/>
                    <a:pt x="86570" y="126804"/>
                    <a:pt x="87542" y="133605"/>
                  </a:cubicBezTo>
                  <a:cubicBezTo>
                    <a:pt x="89485" y="135063"/>
                    <a:pt x="90457" y="137006"/>
                    <a:pt x="90943" y="138949"/>
                  </a:cubicBezTo>
                  <a:cubicBezTo>
                    <a:pt x="91914" y="143322"/>
                    <a:pt x="89971" y="147209"/>
                    <a:pt x="88514" y="149152"/>
                  </a:cubicBezTo>
                  <a:cubicBezTo>
                    <a:pt x="67622" y="183161"/>
                    <a:pt x="59363" y="220084"/>
                    <a:pt x="64222" y="258951"/>
                  </a:cubicBezTo>
                  <a:cubicBezTo>
                    <a:pt x="65193" y="268182"/>
                    <a:pt x="59363" y="271097"/>
                    <a:pt x="56448" y="271583"/>
                  </a:cubicBezTo>
                  <a:cubicBezTo>
                    <a:pt x="53047" y="276927"/>
                    <a:pt x="47703" y="278385"/>
                    <a:pt x="43816" y="279356"/>
                  </a:cubicBezTo>
                  <a:cubicBezTo>
                    <a:pt x="34586" y="281300"/>
                    <a:pt x="24869" y="282272"/>
                    <a:pt x="15638" y="282757"/>
                  </a:cubicBezTo>
                  <a:cubicBezTo>
                    <a:pt x="11265" y="282757"/>
                    <a:pt x="7864" y="283729"/>
                    <a:pt x="4464" y="284701"/>
                  </a:cubicBezTo>
                  <a:cubicBezTo>
                    <a:pt x="1063" y="286158"/>
                    <a:pt x="-395" y="289559"/>
                    <a:pt x="91" y="291988"/>
                  </a:cubicBezTo>
                  <a:cubicBezTo>
                    <a:pt x="577" y="294903"/>
                    <a:pt x="3978" y="297818"/>
                    <a:pt x="7379" y="296847"/>
                  </a:cubicBezTo>
                  <a:cubicBezTo>
                    <a:pt x="11265" y="296847"/>
                    <a:pt x="15152" y="295389"/>
                    <a:pt x="19525" y="293446"/>
                  </a:cubicBezTo>
                  <a:cubicBezTo>
                    <a:pt x="28755" y="289559"/>
                    <a:pt x="37015" y="286644"/>
                    <a:pt x="44788" y="284701"/>
                  </a:cubicBezTo>
                  <a:cubicBezTo>
                    <a:pt x="48675" y="283729"/>
                    <a:pt x="53533" y="282272"/>
                    <a:pt x="58392" y="285187"/>
                  </a:cubicBezTo>
                  <a:cubicBezTo>
                    <a:pt x="59849" y="286158"/>
                    <a:pt x="60335" y="286158"/>
                    <a:pt x="60335" y="286158"/>
                  </a:cubicBezTo>
                  <a:lnTo>
                    <a:pt x="63250" y="285187"/>
                  </a:lnTo>
                  <a:lnTo>
                    <a:pt x="67622" y="286644"/>
                  </a:lnTo>
                  <a:cubicBezTo>
                    <a:pt x="71023" y="288587"/>
                    <a:pt x="71995" y="291502"/>
                    <a:pt x="72481" y="292960"/>
                  </a:cubicBezTo>
                  <a:cubicBezTo>
                    <a:pt x="86084" y="331341"/>
                    <a:pt x="109890" y="361463"/>
                    <a:pt x="144385" y="382840"/>
                  </a:cubicBezTo>
                  <a:cubicBezTo>
                    <a:pt x="150701" y="386727"/>
                    <a:pt x="150701" y="392557"/>
                    <a:pt x="148271" y="396929"/>
                  </a:cubicBezTo>
                  <a:cubicBezTo>
                    <a:pt x="150701" y="403245"/>
                    <a:pt x="148271" y="408589"/>
                    <a:pt x="146814" y="410533"/>
                  </a:cubicBezTo>
                  <a:cubicBezTo>
                    <a:pt x="142927" y="418306"/>
                    <a:pt x="138555" y="426079"/>
                    <a:pt x="131753" y="435310"/>
                  </a:cubicBezTo>
                  <a:cubicBezTo>
                    <a:pt x="128838" y="439197"/>
                    <a:pt x="127380" y="442112"/>
                    <a:pt x="126409" y="445027"/>
                  </a:cubicBezTo>
                  <a:cubicBezTo>
                    <a:pt x="124951" y="448914"/>
                    <a:pt x="126409" y="452800"/>
                    <a:pt x="129324" y="454258"/>
                  </a:cubicBezTo>
                  <a:cubicBezTo>
                    <a:pt x="132239" y="455715"/>
                    <a:pt x="136126" y="454258"/>
                    <a:pt x="138069" y="450371"/>
                  </a:cubicBezTo>
                  <a:cubicBezTo>
                    <a:pt x="139526" y="447942"/>
                    <a:pt x="140984" y="444541"/>
                    <a:pt x="141956" y="440654"/>
                  </a:cubicBezTo>
                  <a:cubicBezTo>
                    <a:pt x="144871" y="430938"/>
                    <a:pt x="147786" y="422193"/>
                    <a:pt x="151672" y="414419"/>
                  </a:cubicBezTo>
                  <a:cubicBezTo>
                    <a:pt x="152644" y="411990"/>
                    <a:pt x="155559" y="406160"/>
                    <a:pt x="162361" y="403731"/>
                  </a:cubicBezTo>
                  <a:cubicBezTo>
                    <a:pt x="163818" y="400330"/>
                    <a:pt x="168191" y="395472"/>
                    <a:pt x="176936" y="398387"/>
                  </a:cubicBezTo>
                  <a:cubicBezTo>
                    <a:pt x="213860" y="411504"/>
                    <a:pt x="251269" y="411504"/>
                    <a:pt x="289164" y="398872"/>
                  </a:cubicBezTo>
                  <a:cubicBezTo>
                    <a:pt x="292079" y="397901"/>
                    <a:pt x="295966" y="396443"/>
                    <a:pt x="300339" y="398872"/>
                  </a:cubicBezTo>
                  <a:cubicBezTo>
                    <a:pt x="302282" y="399844"/>
                    <a:pt x="303739" y="401302"/>
                    <a:pt x="304711" y="403731"/>
                  </a:cubicBezTo>
                  <a:cubicBezTo>
                    <a:pt x="309084" y="405188"/>
                    <a:pt x="311999" y="408103"/>
                    <a:pt x="314428" y="412962"/>
                  </a:cubicBezTo>
                  <a:cubicBezTo>
                    <a:pt x="319286" y="422678"/>
                    <a:pt x="322201" y="432881"/>
                    <a:pt x="324630" y="441140"/>
                  </a:cubicBezTo>
                  <a:cubicBezTo>
                    <a:pt x="326088" y="445999"/>
                    <a:pt x="327545" y="449400"/>
                    <a:pt x="329975" y="451829"/>
                  </a:cubicBezTo>
                  <a:cubicBezTo>
                    <a:pt x="332404" y="454258"/>
                    <a:pt x="335319" y="454744"/>
                    <a:pt x="337748" y="453286"/>
                  </a:cubicBezTo>
                  <a:cubicBezTo>
                    <a:pt x="340177" y="451829"/>
                    <a:pt x="341149" y="448428"/>
                    <a:pt x="340177" y="445513"/>
                  </a:cubicBezTo>
                  <a:cubicBezTo>
                    <a:pt x="339206" y="441626"/>
                    <a:pt x="336776" y="438225"/>
                    <a:pt x="334347" y="434824"/>
                  </a:cubicBezTo>
                  <a:cubicBezTo>
                    <a:pt x="329003" y="427051"/>
                    <a:pt x="324145" y="419763"/>
                    <a:pt x="320258" y="412476"/>
                  </a:cubicBezTo>
                  <a:cubicBezTo>
                    <a:pt x="318800" y="409561"/>
                    <a:pt x="315400" y="403731"/>
                    <a:pt x="317829" y="396443"/>
                  </a:cubicBezTo>
                  <a:cubicBezTo>
                    <a:pt x="315885" y="392071"/>
                    <a:pt x="316371" y="386727"/>
                    <a:pt x="322687" y="382840"/>
                  </a:cubicBezTo>
                  <a:cubicBezTo>
                    <a:pt x="339691" y="372637"/>
                    <a:pt x="354752" y="359034"/>
                    <a:pt x="367384" y="343001"/>
                  </a:cubicBezTo>
                  <a:cubicBezTo>
                    <a:pt x="379044" y="327940"/>
                    <a:pt x="388275" y="311422"/>
                    <a:pt x="394105" y="293446"/>
                  </a:cubicBezTo>
                  <a:cubicBezTo>
                    <a:pt x="396534" y="285672"/>
                    <a:pt x="402850" y="284215"/>
                    <a:pt x="407709" y="285672"/>
                  </a:cubicBezTo>
                  <a:cubicBezTo>
                    <a:pt x="409652" y="283243"/>
                    <a:pt x="414510" y="282272"/>
                    <a:pt x="419369" y="283243"/>
                  </a:cubicBezTo>
                  <a:cubicBezTo>
                    <a:pt x="425199" y="284701"/>
                    <a:pt x="431029" y="286158"/>
                    <a:pt x="436373" y="288102"/>
                  </a:cubicBezTo>
                  <a:cubicBezTo>
                    <a:pt x="440260" y="289559"/>
                    <a:pt x="442689" y="290531"/>
                    <a:pt x="445118" y="291502"/>
                  </a:cubicBezTo>
                  <a:cubicBezTo>
                    <a:pt x="449491" y="293446"/>
                    <a:pt x="453377" y="294903"/>
                    <a:pt x="457750" y="295389"/>
                  </a:cubicBezTo>
                  <a:cubicBezTo>
                    <a:pt x="462122" y="296361"/>
                    <a:pt x="464066" y="294417"/>
                    <a:pt x="465523" y="292474"/>
                  </a:cubicBezTo>
                  <a:cubicBezTo>
                    <a:pt x="466981" y="290531"/>
                    <a:pt x="466981" y="289073"/>
                    <a:pt x="466009" y="287130"/>
                  </a:cubicBezTo>
                  <a:cubicBezTo>
                    <a:pt x="464552" y="284215"/>
                    <a:pt x="462608" y="282757"/>
                    <a:pt x="459207" y="282272"/>
                  </a:cubicBezTo>
                  <a:cubicBezTo>
                    <a:pt x="454349" y="281786"/>
                    <a:pt x="449491" y="281300"/>
                    <a:pt x="444632" y="280814"/>
                  </a:cubicBezTo>
                  <a:close/>
                  <a:moveTo>
                    <a:pt x="246411" y="95710"/>
                  </a:moveTo>
                  <a:cubicBezTo>
                    <a:pt x="249811" y="92795"/>
                    <a:pt x="254184" y="93281"/>
                    <a:pt x="259042" y="94252"/>
                  </a:cubicBezTo>
                  <a:lnTo>
                    <a:pt x="259042" y="94252"/>
                  </a:lnTo>
                  <a:cubicBezTo>
                    <a:pt x="286249" y="99111"/>
                    <a:pt x="311513" y="111743"/>
                    <a:pt x="332890" y="131176"/>
                  </a:cubicBezTo>
                  <a:cubicBezTo>
                    <a:pt x="334347" y="132634"/>
                    <a:pt x="337748" y="135549"/>
                    <a:pt x="337262" y="139921"/>
                  </a:cubicBezTo>
                  <a:cubicBezTo>
                    <a:pt x="337262" y="144294"/>
                    <a:pt x="333376" y="147209"/>
                    <a:pt x="331918" y="148180"/>
                  </a:cubicBezTo>
                  <a:cubicBezTo>
                    <a:pt x="313942" y="160812"/>
                    <a:pt x="296452" y="173444"/>
                    <a:pt x="278476" y="186076"/>
                  </a:cubicBezTo>
                  <a:cubicBezTo>
                    <a:pt x="274103" y="188991"/>
                    <a:pt x="269731" y="190448"/>
                    <a:pt x="265358" y="190448"/>
                  </a:cubicBezTo>
                  <a:cubicBezTo>
                    <a:pt x="262443" y="190448"/>
                    <a:pt x="260014" y="189962"/>
                    <a:pt x="257099" y="188505"/>
                  </a:cubicBezTo>
                  <a:cubicBezTo>
                    <a:pt x="250297" y="185590"/>
                    <a:pt x="246411" y="179274"/>
                    <a:pt x="245925" y="170529"/>
                  </a:cubicBezTo>
                  <a:lnTo>
                    <a:pt x="242524" y="108828"/>
                  </a:lnTo>
                  <a:cubicBezTo>
                    <a:pt x="242524" y="102998"/>
                    <a:pt x="242524" y="98625"/>
                    <a:pt x="245925" y="95710"/>
                  </a:cubicBezTo>
                  <a:close/>
                  <a:moveTo>
                    <a:pt x="249326" y="207938"/>
                  </a:moveTo>
                  <a:lnTo>
                    <a:pt x="269245" y="233202"/>
                  </a:lnTo>
                  <a:lnTo>
                    <a:pt x="262443" y="264781"/>
                  </a:lnTo>
                  <a:lnTo>
                    <a:pt x="233293" y="278871"/>
                  </a:lnTo>
                  <a:lnTo>
                    <a:pt x="204143" y="264781"/>
                  </a:lnTo>
                  <a:lnTo>
                    <a:pt x="196855" y="233202"/>
                  </a:lnTo>
                  <a:lnTo>
                    <a:pt x="216775" y="207938"/>
                  </a:lnTo>
                  <a:lnTo>
                    <a:pt x="249326" y="207938"/>
                  </a:lnTo>
                  <a:close/>
                  <a:moveTo>
                    <a:pt x="130781" y="132148"/>
                  </a:moveTo>
                  <a:lnTo>
                    <a:pt x="136126" y="137492"/>
                  </a:lnTo>
                  <a:lnTo>
                    <a:pt x="131267" y="132148"/>
                  </a:lnTo>
                  <a:cubicBezTo>
                    <a:pt x="152158" y="112714"/>
                    <a:pt x="176936" y="100568"/>
                    <a:pt x="204629" y="95224"/>
                  </a:cubicBezTo>
                  <a:cubicBezTo>
                    <a:pt x="206572" y="95224"/>
                    <a:pt x="208029" y="94738"/>
                    <a:pt x="209001" y="94252"/>
                  </a:cubicBezTo>
                  <a:cubicBezTo>
                    <a:pt x="212888" y="93767"/>
                    <a:pt x="216289" y="93281"/>
                    <a:pt x="219690" y="96196"/>
                  </a:cubicBezTo>
                  <a:cubicBezTo>
                    <a:pt x="223090" y="99111"/>
                    <a:pt x="222605" y="102998"/>
                    <a:pt x="222605" y="106398"/>
                  </a:cubicBezTo>
                  <a:lnTo>
                    <a:pt x="221633" y="124374"/>
                  </a:lnTo>
                  <a:cubicBezTo>
                    <a:pt x="220661" y="140407"/>
                    <a:pt x="219690" y="156925"/>
                    <a:pt x="218718" y="172958"/>
                  </a:cubicBezTo>
                  <a:cubicBezTo>
                    <a:pt x="218718" y="180246"/>
                    <a:pt x="214345" y="186076"/>
                    <a:pt x="208029" y="188991"/>
                  </a:cubicBezTo>
                  <a:cubicBezTo>
                    <a:pt x="205600" y="190448"/>
                    <a:pt x="202685" y="190934"/>
                    <a:pt x="199770" y="190934"/>
                  </a:cubicBezTo>
                  <a:cubicBezTo>
                    <a:pt x="195884" y="190934"/>
                    <a:pt x="191997" y="189477"/>
                    <a:pt x="188596" y="187533"/>
                  </a:cubicBezTo>
                  <a:cubicBezTo>
                    <a:pt x="179365" y="180731"/>
                    <a:pt x="169648" y="174416"/>
                    <a:pt x="160417" y="167614"/>
                  </a:cubicBezTo>
                  <a:cubicBezTo>
                    <a:pt x="151187" y="160812"/>
                    <a:pt x="141470" y="154496"/>
                    <a:pt x="132239" y="147695"/>
                  </a:cubicBezTo>
                  <a:cubicBezTo>
                    <a:pt x="129324" y="145751"/>
                    <a:pt x="127866" y="143322"/>
                    <a:pt x="127380" y="140407"/>
                  </a:cubicBezTo>
                  <a:cubicBezTo>
                    <a:pt x="127380" y="136034"/>
                    <a:pt x="129810" y="133605"/>
                    <a:pt x="131267" y="132634"/>
                  </a:cubicBezTo>
                  <a:close/>
                  <a:moveTo>
                    <a:pt x="85113" y="256522"/>
                  </a:moveTo>
                  <a:cubicBezTo>
                    <a:pt x="83169" y="246805"/>
                    <a:pt x="83655" y="237574"/>
                    <a:pt x="84141" y="229801"/>
                  </a:cubicBezTo>
                  <a:cubicBezTo>
                    <a:pt x="85598" y="206967"/>
                    <a:pt x="92400" y="185590"/>
                    <a:pt x="103574" y="166156"/>
                  </a:cubicBezTo>
                  <a:cubicBezTo>
                    <a:pt x="104546" y="164699"/>
                    <a:pt x="106489" y="160812"/>
                    <a:pt x="110862" y="160326"/>
                  </a:cubicBezTo>
                  <a:cubicBezTo>
                    <a:pt x="115235" y="159841"/>
                    <a:pt x="118150" y="162270"/>
                    <a:pt x="119607" y="163241"/>
                  </a:cubicBezTo>
                  <a:cubicBezTo>
                    <a:pt x="136126" y="178302"/>
                    <a:pt x="152644" y="192877"/>
                    <a:pt x="169162" y="207453"/>
                  </a:cubicBezTo>
                  <a:cubicBezTo>
                    <a:pt x="175964" y="213283"/>
                    <a:pt x="178393" y="220084"/>
                    <a:pt x="176450" y="227858"/>
                  </a:cubicBezTo>
                  <a:cubicBezTo>
                    <a:pt x="174021" y="239032"/>
                    <a:pt x="164304" y="241461"/>
                    <a:pt x="160903" y="242433"/>
                  </a:cubicBezTo>
                  <a:cubicBezTo>
                    <a:pt x="144871" y="246805"/>
                    <a:pt x="128838" y="251664"/>
                    <a:pt x="112320" y="256522"/>
                  </a:cubicBezTo>
                  <a:lnTo>
                    <a:pt x="86570" y="263810"/>
                  </a:lnTo>
                  <a:lnTo>
                    <a:pt x="85113" y="256036"/>
                  </a:lnTo>
                  <a:close/>
                  <a:moveTo>
                    <a:pt x="164790" y="358062"/>
                  </a:moveTo>
                  <a:cubicBezTo>
                    <a:pt x="164790" y="358062"/>
                    <a:pt x="162361" y="363892"/>
                    <a:pt x="157988" y="365350"/>
                  </a:cubicBezTo>
                  <a:cubicBezTo>
                    <a:pt x="157017" y="365350"/>
                    <a:pt x="156045" y="365350"/>
                    <a:pt x="155559" y="365350"/>
                  </a:cubicBezTo>
                  <a:cubicBezTo>
                    <a:pt x="152158" y="365350"/>
                    <a:pt x="149729" y="363406"/>
                    <a:pt x="148271" y="362435"/>
                  </a:cubicBezTo>
                  <a:cubicBezTo>
                    <a:pt x="123980" y="345430"/>
                    <a:pt x="105518" y="322596"/>
                    <a:pt x="94344" y="294903"/>
                  </a:cubicBezTo>
                  <a:cubicBezTo>
                    <a:pt x="93372" y="292960"/>
                    <a:pt x="91914" y="289073"/>
                    <a:pt x="94344" y="285672"/>
                  </a:cubicBezTo>
                  <a:cubicBezTo>
                    <a:pt x="95801" y="283243"/>
                    <a:pt x="98230" y="281300"/>
                    <a:pt x="102117" y="280814"/>
                  </a:cubicBezTo>
                  <a:cubicBezTo>
                    <a:pt x="119121" y="277899"/>
                    <a:pt x="136611" y="274984"/>
                    <a:pt x="153616" y="272069"/>
                  </a:cubicBezTo>
                  <a:lnTo>
                    <a:pt x="172563" y="269154"/>
                  </a:lnTo>
                  <a:cubicBezTo>
                    <a:pt x="178393" y="268668"/>
                    <a:pt x="183738" y="271583"/>
                    <a:pt x="187624" y="275956"/>
                  </a:cubicBezTo>
                  <a:cubicBezTo>
                    <a:pt x="191511" y="280328"/>
                    <a:pt x="192969" y="286158"/>
                    <a:pt x="191997" y="291988"/>
                  </a:cubicBezTo>
                  <a:lnTo>
                    <a:pt x="191997" y="291988"/>
                  </a:lnTo>
                  <a:cubicBezTo>
                    <a:pt x="191997" y="291988"/>
                    <a:pt x="190539" y="296361"/>
                    <a:pt x="190053" y="298790"/>
                  </a:cubicBezTo>
                  <a:lnTo>
                    <a:pt x="182766" y="316766"/>
                  </a:lnTo>
                  <a:cubicBezTo>
                    <a:pt x="176936" y="330369"/>
                    <a:pt x="171592" y="343973"/>
                    <a:pt x="165762" y="358062"/>
                  </a:cubicBezTo>
                  <a:close/>
                  <a:moveTo>
                    <a:pt x="283820" y="377010"/>
                  </a:moveTo>
                  <a:cubicBezTo>
                    <a:pt x="281877" y="381382"/>
                    <a:pt x="277504" y="382840"/>
                    <a:pt x="276047" y="383326"/>
                  </a:cubicBezTo>
                  <a:cubicBezTo>
                    <a:pt x="261472" y="387212"/>
                    <a:pt x="247382" y="389642"/>
                    <a:pt x="232807" y="389642"/>
                  </a:cubicBezTo>
                  <a:cubicBezTo>
                    <a:pt x="217746" y="389642"/>
                    <a:pt x="203171" y="387212"/>
                    <a:pt x="188596" y="382840"/>
                  </a:cubicBezTo>
                  <a:cubicBezTo>
                    <a:pt x="187138" y="382840"/>
                    <a:pt x="183252" y="381382"/>
                    <a:pt x="181308" y="377010"/>
                  </a:cubicBezTo>
                  <a:cubicBezTo>
                    <a:pt x="179851" y="373123"/>
                    <a:pt x="181308" y="369236"/>
                    <a:pt x="182280" y="367779"/>
                  </a:cubicBezTo>
                  <a:cubicBezTo>
                    <a:pt x="189082" y="355633"/>
                    <a:pt x="195398" y="343973"/>
                    <a:pt x="202199" y="331827"/>
                  </a:cubicBezTo>
                  <a:lnTo>
                    <a:pt x="214831" y="308993"/>
                  </a:lnTo>
                  <a:cubicBezTo>
                    <a:pt x="218718" y="302191"/>
                    <a:pt x="225034" y="298304"/>
                    <a:pt x="231836" y="298304"/>
                  </a:cubicBezTo>
                  <a:lnTo>
                    <a:pt x="231836" y="298304"/>
                  </a:lnTo>
                  <a:cubicBezTo>
                    <a:pt x="238637" y="298304"/>
                    <a:pt x="244953" y="302191"/>
                    <a:pt x="248840" y="308993"/>
                  </a:cubicBezTo>
                  <a:cubicBezTo>
                    <a:pt x="254670" y="318709"/>
                    <a:pt x="260014" y="328912"/>
                    <a:pt x="265358" y="338629"/>
                  </a:cubicBezTo>
                  <a:lnTo>
                    <a:pt x="274589" y="355633"/>
                  </a:lnTo>
                  <a:cubicBezTo>
                    <a:pt x="276533" y="359520"/>
                    <a:pt x="278962" y="363406"/>
                    <a:pt x="280905" y="367293"/>
                  </a:cubicBezTo>
                  <a:cubicBezTo>
                    <a:pt x="281877" y="368751"/>
                    <a:pt x="284306" y="372637"/>
                    <a:pt x="282363" y="377010"/>
                  </a:cubicBezTo>
                  <a:close/>
                  <a:moveTo>
                    <a:pt x="371757" y="294417"/>
                  </a:moveTo>
                  <a:cubicBezTo>
                    <a:pt x="360582" y="323082"/>
                    <a:pt x="341635" y="346402"/>
                    <a:pt x="316857" y="363892"/>
                  </a:cubicBezTo>
                  <a:cubicBezTo>
                    <a:pt x="315885" y="364378"/>
                    <a:pt x="313456" y="366321"/>
                    <a:pt x="310541" y="366321"/>
                  </a:cubicBezTo>
                  <a:cubicBezTo>
                    <a:pt x="309569" y="366321"/>
                    <a:pt x="309084" y="366321"/>
                    <a:pt x="308112" y="366321"/>
                  </a:cubicBezTo>
                  <a:cubicBezTo>
                    <a:pt x="303739" y="364864"/>
                    <a:pt x="302282" y="360977"/>
                    <a:pt x="301796" y="360005"/>
                  </a:cubicBezTo>
                  <a:cubicBezTo>
                    <a:pt x="294994" y="343487"/>
                    <a:pt x="288193" y="326969"/>
                    <a:pt x="281391" y="310450"/>
                  </a:cubicBezTo>
                  <a:lnTo>
                    <a:pt x="275561" y="296361"/>
                  </a:lnTo>
                  <a:cubicBezTo>
                    <a:pt x="275561" y="296361"/>
                    <a:pt x="273618" y="291017"/>
                    <a:pt x="274103" y="287616"/>
                  </a:cubicBezTo>
                  <a:cubicBezTo>
                    <a:pt x="274103" y="282757"/>
                    <a:pt x="276533" y="277413"/>
                    <a:pt x="280905" y="273526"/>
                  </a:cubicBezTo>
                  <a:cubicBezTo>
                    <a:pt x="285278" y="270126"/>
                    <a:pt x="290622" y="268668"/>
                    <a:pt x="296452" y="269640"/>
                  </a:cubicBezTo>
                  <a:lnTo>
                    <a:pt x="363983" y="281300"/>
                  </a:lnTo>
                  <a:cubicBezTo>
                    <a:pt x="363983" y="281300"/>
                    <a:pt x="369328" y="282272"/>
                    <a:pt x="371757" y="286158"/>
                  </a:cubicBezTo>
                  <a:cubicBezTo>
                    <a:pt x="373214" y="288587"/>
                    <a:pt x="373214" y="291502"/>
                    <a:pt x="371757" y="294903"/>
                  </a:cubicBezTo>
                  <a:lnTo>
                    <a:pt x="371757" y="294903"/>
                  </a:lnTo>
                  <a:close/>
                  <a:moveTo>
                    <a:pt x="380988" y="253121"/>
                  </a:moveTo>
                  <a:cubicBezTo>
                    <a:pt x="380988" y="256522"/>
                    <a:pt x="379530" y="258951"/>
                    <a:pt x="377101" y="260409"/>
                  </a:cubicBezTo>
                  <a:cubicBezTo>
                    <a:pt x="375643" y="261380"/>
                    <a:pt x="373700" y="261866"/>
                    <a:pt x="372242" y="261866"/>
                  </a:cubicBezTo>
                  <a:cubicBezTo>
                    <a:pt x="370785" y="261866"/>
                    <a:pt x="369328" y="261866"/>
                    <a:pt x="368842" y="261380"/>
                  </a:cubicBezTo>
                  <a:lnTo>
                    <a:pt x="347465" y="255065"/>
                  </a:lnTo>
                  <a:cubicBezTo>
                    <a:pt x="332404" y="250692"/>
                    <a:pt x="317829" y="246320"/>
                    <a:pt x="302768" y="241947"/>
                  </a:cubicBezTo>
                  <a:cubicBezTo>
                    <a:pt x="295480" y="240004"/>
                    <a:pt x="290136" y="234659"/>
                    <a:pt x="288678" y="227858"/>
                  </a:cubicBezTo>
                  <a:cubicBezTo>
                    <a:pt x="287221" y="221056"/>
                    <a:pt x="289650" y="213768"/>
                    <a:pt x="295480" y="208910"/>
                  </a:cubicBezTo>
                  <a:lnTo>
                    <a:pt x="346007" y="163727"/>
                  </a:lnTo>
                  <a:cubicBezTo>
                    <a:pt x="346007" y="163727"/>
                    <a:pt x="350380" y="159841"/>
                    <a:pt x="354752" y="160812"/>
                  </a:cubicBezTo>
                  <a:cubicBezTo>
                    <a:pt x="359125" y="161298"/>
                    <a:pt x="361068" y="165185"/>
                    <a:pt x="362040" y="166642"/>
                  </a:cubicBezTo>
                  <a:cubicBezTo>
                    <a:pt x="373214" y="186076"/>
                    <a:pt x="380016" y="206967"/>
                    <a:pt x="381473" y="228829"/>
                  </a:cubicBezTo>
                  <a:cubicBezTo>
                    <a:pt x="381473" y="234174"/>
                    <a:pt x="382445" y="238060"/>
                    <a:pt x="381959" y="241947"/>
                  </a:cubicBezTo>
                  <a:cubicBezTo>
                    <a:pt x="381959" y="246320"/>
                    <a:pt x="381959" y="249720"/>
                    <a:pt x="381473" y="253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p86"/>
            <p:cNvSpPr/>
            <p:nvPr/>
          </p:nvSpPr>
          <p:spPr>
            <a:xfrm>
              <a:off x="624431" y="1107698"/>
              <a:ext cx="682601" cy="664625"/>
            </a:xfrm>
            <a:custGeom>
              <a:avLst/>
              <a:gdLst/>
              <a:ahLst/>
              <a:cxnLst/>
              <a:rect l="l" t="t" r="r" b="b"/>
              <a:pathLst>
                <a:path w="682601" h="664625" extrusionOk="0">
                  <a:moveTo>
                    <a:pt x="614584" y="131662"/>
                  </a:moveTo>
                  <a:lnTo>
                    <a:pt x="341058" y="0"/>
                  </a:lnTo>
                  <a:lnTo>
                    <a:pt x="67531" y="131662"/>
                  </a:lnTo>
                  <a:lnTo>
                    <a:pt x="0" y="427537"/>
                  </a:lnTo>
                  <a:lnTo>
                    <a:pt x="189477" y="664626"/>
                  </a:lnTo>
                  <a:lnTo>
                    <a:pt x="493125" y="664626"/>
                  </a:lnTo>
                  <a:lnTo>
                    <a:pt x="682601" y="427537"/>
                  </a:lnTo>
                  <a:lnTo>
                    <a:pt x="615070" y="131662"/>
                  </a:lnTo>
                  <a:close/>
                  <a:moveTo>
                    <a:pt x="584462" y="407618"/>
                  </a:moveTo>
                  <a:cubicBezTo>
                    <a:pt x="579118" y="413933"/>
                    <a:pt x="571831" y="416848"/>
                    <a:pt x="563085" y="415877"/>
                  </a:cubicBezTo>
                  <a:cubicBezTo>
                    <a:pt x="557255" y="414905"/>
                    <a:pt x="551911" y="412962"/>
                    <a:pt x="547053" y="411018"/>
                  </a:cubicBezTo>
                  <a:cubicBezTo>
                    <a:pt x="544624" y="410047"/>
                    <a:pt x="542680" y="409075"/>
                    <a:pt x="540251" y="408103"/>
                  </a:cubicBezTo>
                  <a:cubicBezTo>
                    <a:pt x="533935" y="406160"/>
                    <a:pt x="529077" y="404217"/>
                    <a:pt x="523733" y="403245"/>
                  </a:cubicBezTo>
                  <a:cubicBezTo>
                    <a:pt x="519846" y="405188"/>
                    <a:pt x="516931" y="405674"/>
                    <a:pt x="514988" y="405674"/>
                  </a:cubicBezTo>
                  <a:cubicBezTo>
                    <a:pt x="508186" y="424136"/>
                    <a:pt x="498955" y="441626"/>
                    <a:pt x="486809" y="457173"/>
                  </a:cubicBezTo>
                  <a:cubicBezTo>
                    <a:pt x="473691" y="474177"/>
                    <a:pt x="458145" y="488267"/>
                    <a:pt x="440654" y="498955"/>
                  </a:cubicBezTo>
                  <a:cubicBezTo>
                    <a:pt x="441140" y="501870"/>
                    <a:pt x="440654" y="504299"/>
                    <a:pt x="440169" y="505757"/>
                  </a:cubicBezTo>
                  <a:cubicBezTo>
                    <a:pt x="440169" y="506728"/>
                    <a:pt x="439683" y="507700"/>
                    <a:pt x="441626" y="511101"/>
                  </a:cubicBezTo>
                  <a:cubicBezTo>
                    <a:pt x="445027" y="517903"/>
                    <a:pt x="449400" y="524704"/>
                    <a:pt x="454258" y="531992"/>
                  </a:cubicBezTo>
                  <a:cubicBezTo>
                    <a:pt x="457173" y="536364"/>
                    <a:pt x="460574" y="541223"/>
                    <a:pt x="462031" y="547539"/>
                  </a:cubicBezTo>
                  <a:cubicBezTo>
                    <a:pt x="464461" y="557255"/>
                    <a:pt x="460574" y="566972"/>
                    <a:pt x="452315" y="571831"/>
                  </a:cubicBezTo>
                  <a:cubicBezTo>
                    <a:pt x="444055" y="576689"/>
                    <a:pt x="433853" y="574746"/>
                    <a:pt x="426565" y="567458"/>
                  </a:cubicBezTo>
                  <a:cubicBezTo>
                    <a:pt x="421707" y="562114"/>
                    <a:pt x="419763" y="556284"/>
                    <a:pt x="417820" y="550454"/>
                  </a:cubicBezTo>
                  <a:cubicBezTo>
                    <a:pt x="415391" y="542680"/>
                    <a:pt x="412476" y="532964"/>
                    <a:pt x="408103" y="524218"/>
                  </a:cubicBezTo>
                  <a:cubicBezTo>
                    <a:pt x="407132" y="522275"/>
                    <a:pt x="406646" y="522275"/>
                    <a:pt x="406160" y="522275"/>
                  </a:cubicBezTo>
                  <a:cubicBezTo>
                    <a:pt x="402759" y="521303"/>
                    <a:pt x="400816" y="519846"/>
                    <a:pt x="399844" y="518388"/>
                  </a:cubicBezTo>
                  <a:cubicBezTo>
                    <a:pt x="360005" y="531506"/>
                    <a:pt x="320167" y="531506"/>
                    <a:pt x="280814" y="518388"/>
                  </a:cubicBezTo>
                  <a:cubicBezTo>
                    <a:pt x="278871" y="521303"/>
                    <a:pt x="275956" y="522275"/>
                    <a:pt x="274498" y="522761"/>
                  </a:cubicBezTo>
                  <a:cubicBezTo>
                    <a:pt x="274012" y="522761"/>
                    <a:pt x="273526" y="522761"/>
                    <a:pt x="272069" y="526162"/>
                  </a:cubicBezTo>
                  <a:cubicBezTo>
                    <a:pt x="268668" y="533449"/>
                    <a:pt x="265753" y="541709"/>
                    <a:pt x="263324" y="550454"/>
                  </a:cubicBezTo>
                  <a:cubicBezTo>
                    <a:pt x="261866" y="555312"/>
                    <a:pt x="259923" y="559685"/>
                    <a:pt x="257980" y="563571"/>
                  </a:cubicBezTo>
                  <a:cubicBezTo>
                    <a:pt x="253607" y="570859"/>
                    <a:pt x="246320" y="574746"/>
                    <a:pt x="239032" y="574746"/>
                  </a:cubicBezTo>
                  <a:cubicBezTo>
                    <a:pt x="236117" y="574746"/>
                    <a:pt x="233202" y="574260"/>
                    <a:pt x="230287" y="572802"/>
                  </a:cubicBezTo>
                  <a:cubicBezTo>
                    <a:pt x="220570" y="567944"/>
                    <a:pt x="216198" y="556284"/>
                    <a:pt x="220084" y="545595"/>
                  </a:cubicBezTo>
                  <a:cubicBezTo>
                    <a:pt x="222028" y="540251"/>
                    <a:pt x="224943" y="535879"/>
                    <a:pt x="227372" y="532478"/>
                  </a:cubicBezTo>
                  <a:cubicBezTo>
                    <a:pt x="233202" y="524218"/>
                    <a:pt x="237574" y="516931"/>
                    <a:pt x="240975" y="510129"/>
                  </a:cubicBezTo>
                  <a:cubicBezTo>
                    <a:pt x="241947" y="508186"/>
                    <a:pt x="241947" y="507700"/>
                    <a:pt x="241461" y="507214"/>
                  </a:cubicBezTo>
                  <a:cubicBezTo>
                    <a:pt x="240004" y="504299"/>
                    <a:pt x="240004" y="501384"/>
                    <a:pt x="240975" y="498955"/>
                  </a:cubicBezTo>
                  <a:cubicBezTo>
                    <a:pt x="205995" y="476121"/>
                    <a:pt x="181217" y="445027"/>
                    <a:pt x="166642" y="406160"/>
                  </a:cubicBezTo>
                  <a:cubicBezTo>
                    <a:pt x="163241" y="406160"/>
                    <a:pt x="160326" y="404703"/>
                    <a:pt x="157897" y="403245"/>
                  </a:cubicBezTo>
                  <a:cubicBezTo>
                    <a:pt x="157897" y="403245"/>
                    <a:pt x="156440" y="403245"/>
                    <a:pt x="155468" y="403731"/>
                  </a:cubicBezTo>
                  <a:cubicBezTo>
                    <a:pt x="147209" y="405674"/>
                    <a:pt x="139921" y="408103"/>
                    <a:pt x="131176" y="411990"/>
                  </a:cubicBezTo>
                  <a:cubicBezTo>
                    <a:pt x="125832" y="414419"/>
                    <a:pt x="120002" y="416363"/>
                    <a:pt x="113200" y="416363"/>
                  </a:cubicBezTo>
                  <a:cubicBezTo>
                    <a:pt x="102512" y="416363"/>
                    <a:pt x="93767" y="409561"/>
                    <a:pt x="91823" y="399844"/>
                  </a:cubicBezTo>
                  <a:cubicBezTo>
                    <a:pt x="89880" y="390127"/>
                    <a:pt x="95710" y="379925"/>
                    <a:pt x="104941" y="376038"/>
                  </a:cubicBezTo>
                  <a:cubicBezTo>
                    <a:pt x="109799" y="374095"/>
                    <a:pt x="114658" y="373123"/>
                    <a:pt x="120974" y="372637"/>
                  </a:cubicBezTo>
                  <a:cubicBezTo>
                    <a:pt x="129719" y="372637"/>
                    <a:pt x="138464" y="371180"/>
                    <a:pt x="146723" y="369236"/>
                  </a:cubicBezTo>
                  <a:cubicBezTo>
                    <a:pt x="149638" y="368751"/>
                    <a:pt x="150124" y="368265"/>
                    <a:pt x="150124" y="367779"/>
                  </a:cubicBezTo>
                  <a:cubicBezTo>
                    <a:pt x="151095" y="365836"/>
                    <a:pt x="152553" y="363892"/>
                    <a:pt x="155468" y="362435"/>
                  </a:cubicBezTo>
                  <a:cubicBezTo>
                    <a:pt x="151095" y="321138"/>
                    <a:pt x="159840" y="282271"/>
                    <a:pt x="181703" y="246320"/>
                  </a:cubicBezTo>
                  <a:cubicBezTo>
                    <a:pt x="180246" y="244376"/>
                    <a:pt x="179274" y="241947"/>
                    <a:pt x="179274" y="239518"/>
                  </a:cubicBezTo>
                  <a:cubicBezTo>
                    <a:pt x="179274" y="238546"/>
                    <a:pt x="179274" y="238060"/>
                    <a:pt x="175873" y="235631"/>
                  </a:cubicBezTo>
                  <a:cubicBezTo>
                    <a:pt x="170043" y="231259"/>
                    <a:pt x="163241" y="226886"/>
                    <a:pt x="155954" y="222999"/>
                  </a:cubicBezTo>
                  <a:cubicBezTo>
                    <a:pt x="151581" y="220570"/>
                    <a:pt x="146723" y="217655"/>
                    <a:pt x="142350" y="213283"/>
                  </a:cubicBezTo>
                  <a:cubicBezTo>
                    <a:pt x="134577" y="205509"/>
                    <a:pt x="133119" y="193363"/>
                    <a:pt x="139921" y="185104"/>
                  </a:cubicBezTo>
                  <a:cubicBezTo>
                    <a:pt x="146237" y="176359"/>
                    <a:pt x="158383" y="174416"/>
                    <a:pt x="168100" y="180246"/>
                  </a:cubicBezTo>
                  <a:cubicBezTo>
                    <a:pt x="173444" y="183161"/>
                    <a:pt x="177331" y="187533"/>
                    <a:pt x="181217" y="191906"/>
                  </a:cubicBezTo>
                  <a:cubicBezTo>
                    <a:pt x="187533" y="199193"/>
                    <a:pt x="193363" y="204538"/>
                    <a:pt x="199193" y="208910"/>
                  </a:cubicBezTo>
                  <a:cubicBezTo>
                    <a:pt x="199193" y="208910"/>
                    <a:pt x="200651" y="210368"/>
                    <a:pt x="201137" y="209882"/>
                  </a:cubicBezTo>
                  <a:cubicBezTo>
                    <a:pt x="204052" y="208910"/>
                    <a:pt x="206481" y="209882"/>
                    <a:pt x="208910" y="210853"/>
                  </a:cubicBezTo>
                  <a:cubicBezTo>
                    <a:pt x="239518" y="181217"/>
                    <a:pt x="274984" y="164213"/>
                    <a:pt x="316280" y="159355"/>
                  </a:cubicBezTo>
                  <a:cubicBezTo>
                    <a:pt x="316280" y="159355"/>
                    <a:pt x="316280" y="159355"/>
                    <a:pt x="316280" y="159355"/>
                  </a:cubicBezTo>
                  <a:cubicBezTo>
                    <a:pt x="316766" y="156925"/>
                    <a:pt x="318709" y="154010"/>
                    <a:pt x="320653" y="152067"/>
                  </a:cubicBezTo>
                  <a:cubicBezTo>
                    <a:pt x="320653" y="152067"/>
                    <a:pt x="320653" y="152067"/>
                    <a:pt x="320653" y="150610"/>
                  </a:cubicBezTo>
                  <a:cubicBezTo>
                    <a:pt x="320653" y="141379"/>
                    <a:pt x="319195" y="132148"/>
                    <a:pt x="317738" y="123889"/>
                  </a:cubicBezTo>
                  <a:cubicBezTo>
                    <a:pt x="316766" y="118058"/>
                    <a:pt x="316766" y="113200"/>
                    <a:pt x="317252" y="108828"/>
                  </a:cubicBezTo>
                  <a:cubicBezTo>
                    <a:pt x="318709" y="97167"/>
                    <a:pt x="327454" y="88908"/>
                    <a:pt x="339114" y="89394"/>
                  </a:cubicBezTo>
                  <a:cubicBezTo>
                    <a:pt x="348831" y="89394"/>
                    <a:pt x="357090" y="97653"/>
                    <a:pt x="358548" y="107370"/>
                  </a:cubicBezTo>
                  <a:lnTo>
                    <a:pt x="360977" y="107370"/>
                  </a:lnTo>
                  <a:lnTo>
                    <a:pt x="358062" y="122431"/>
                  </a:lnTo>
                  <a:cubicBezTo>
                    <a:pt x="357576" y="128261"/>
                    <a:pt x="356605" y="134091"/>
                    <a:pt x="355633" y="139921"/>
                  </a:cubicBezTo>
                  <a:cubicBezTo>
                    <a:pt x="355633" y="143322"/>
                    <a:pt x="355633" y="146723"/>
                    <a:pt x="355633" y="150124"/>
                  </a:cubicBezTo>
                  <a:lnTo>
                    <a:pt x="355633" y="152553"/>
                  </a:lnTo>
                  <a:cubicBezTo>
                    <a:pt x="355633" y="152553"/>
                    <a:pt x="359034" y="155954"/>
                    <a:pt x="360005" y="159840"/>
                  </a:cubicBezTo>
                  <a:cubicBezTo>
                    <a:pt x="374095" y="161784"/>
                    <a:pt x="385755" y="164213"/>
                    <a:pt x="396443" y="168100"/>
                  </a:cubicBezTo>
                  <a:cubicBezTo>
                    <a:pt x="423164" y="177331"/>
                    <a:pt x="446970" y="191906"/>
                    <a:pt x="467376" y="211339"/>
                  </a:cubicBezTo>
                  <a:cubicBezTo>
                    <a:pt x="469805" y="209882"/>
                    <a:pt x="472234" y="209396"/>
                    <a:pt x="475149" y="209882"/>
                  </a:cubicBezTo>
                  <a:cubicBezTo>
                    <a:pt x="475149" y="209882"/>
                    <a:pt x="476121" y="209882"/>
                    <a:pt x="478550" y="207938"/>
                  </a:cubicBezTo>
                  <a:cubicBezTo>
                    <a:pt x="484380" y="203080"/>
                    <a:pt x="490210" y="197250"/>
                    <a:pt x="496040" y="190934"/>
                  </a:cubicBezTo>
                  <a:cubicBezTo>
                    <a:pt x="499441" y="187047"/>
                    <a:pt x="503328" y="182675"/>
                    <a:pt x="508672" y="179760"/>
                  </a:cubicBezTo>
                  <a:cubicBezTo>
                    <a:pt x="514988" y="175873"/>
                    <a:pt x="522761" y="175387"/>
                    <a:pt x="529563" y="178302"/>
                  </a:cubicBezTo>
                  <a:cubicBezTo>
                    <a:pt x="535393" y="181217"/>
                    <a:pt x="539765" y="186562"/>
                    <a:pt x="541223" y="193363"/>
                  </a:cubicBezTo>
                  <a:cubicBezTo>
                    <a:pt x="542195" y="198707"/>
                    <a:pt x="541223" y="205995"/>
                    <a:pt x="533935" y="213768"/>
                  </a:cubicBezTo>
                  <a:cubicBezTo>
                    <a:pt x="530049" y="217655"/>
                    <a:pt x="525190" y="220570"/>
                    <a:pt x="520818" y="222513"/>
                  </a:cubicBezTo>
                  <a:cubicBezTo>
                    <a:pt x="512073" y="227372"/>
                    <a:pt x="505271" y="231744"/>
                    <a:pt x="499927" y="236603"/>
                  </a:cubicBezTo>
                  <a:cubicBezTo>
                    <a:pt x="498469" y="238060"/>
                    <a:pt x="498469" y="238546"/>
                    <a:pt x="498469" y="239032"/>
                  </a:cubicBezTo>
                  <a:cubicBezTo>
                    <a:pt x="498469" y="241947"/>
                    <a:pt x="497497" y="244376"/>
                    <a:pt x="495554" y="246320"/>
                  </a:cubicBezTo>
                  <a:cubicBezTo>
                    <a:pt x="512073" y="273526"/>
                    <a:pt x="521303" y="302677"/>
                    <a:pt x="523247" y="333770"/>
                  </a:cubicBezTo>
                  <a:cubicBezTo>
                    <a:pt x="523733" y="343001"/>
                    <a:pt x="523247" y="352232"/>
                    <a:pt x="522275" y="361949"/>
                  </a:cubicBezTo>
                  <a:cubicBezTo>
                    <a:pt x="525190" y="362921"/>
                    <a:pt x="526162" y="365350"/>
                    <a:pt x="527134" y="366321"/>
                  </a:cubicBezTo>
                  <a:cubicBezTo>
                    <a:pt x="528105" y="368265"/>
                    <a:pt x="529563" y="368751"/>
                    <a:pt x="534907" y="369236"/>
                  </a:cubicBezTo>
                  <a:cubicBezTo>
                    <a:pt x="541709" y="370208"/>
                    <a:pt x="546567" y="370694"/>
                    <a:pt x="551911" y="371180"/>
                  </a:cubicBezTo>
                  <a:cubicBezTo>
                    <a:pt x="556770" y="371666"/>
                    <a:pt x="561628" y="372151"/>
                    <a:pt x="566972" y="373123"/>
                  </a:cubicBezTo>
                  <a:cubicBezTo>
                    <a:pt x="575231" y="374095"/>
                    <a:pt x="581547" y="378953"/>
                    <a:pt x="584948" y="386241"/>
                  </a:cubicBezTo>
                  <a:lnTo>
                    <a:pt x="584948" y="386241"/>
                  </a:lnTo>
                  <a:cubicBezTo>
                    <a:pt x="588349" y="393528"/>
                    <a:pt x="587377" y="400816"/>
                    <a:pt x="582519" y="407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8" name="Google Shape;3378;p86"/>
            <p:cNvSpPr/>
            <p:nvPr/>
          </p:nvSpPr>
          <p:spPr>
            <a:xfrm>
              <a:off x="1099094" y="1462359"/>
              <a:ext cx="7287" cy="485"/>
            </a:xfrm>
            <a:custGeom>
              <a:avLst/>
              <a:gdLst/>
              <a:ahLst/>
              <a:cxnLst/>
              <a:rect l="l" t="t" r="r" b="b"/>
              <a:pathLst>
                <a:path w="7287" h="485" extrusionOk="0">
                  <a:moveTo>
                    <a:pt x="0" y="0"/>
                  </a:moveTo>
                  <a:lnTo>
                    <a:pt x="7288" y="4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9" name="Google Shape;3379;p86"/>
            <p:cNvSpPr/>
            <p:nvPr/>
          </p:nvSpPr>
          <p:spPr>
            <a:xfrm>
              <a:off x="952371" y="1440011"/>
              <a:ext cx="26235" cy="25749"/>
            </a:xfrm>
            <a:custGeom>
              <a:avLst/>
              <a:gdLst/>
              <a:ahLst/>
              <a:cxnLst/>
              <a:rect l="l" t="t" r="r" b="b"/>
              <a:pathLst>
                <a:path w="26235" h="25749" extrusionOk="0">
                  <a:moveTo>
                    <a:pt x="13118" y="25749"/>
                  </a:moveTo>
                  <a:lnTo>
                    <a:pt x="23806" y="20405"/>
                  </a:lnTo>
                  <a:lnTo>
                    <a:pt x="26235" y="9231"/>
                  </a:lnTo>
                  <a:lnTo>
                    <a:pt x="18948" y="0"/>
                  </a:lnTo>
                  <a:lnTo>
                    <a:pt x="7288" y="0"/>
                  </a:lnTo>
                  <a:lnTo>
                    <a:pt x="0" y="9231"/>
                  </a:lnTo>
                  <a:lnTo>
                    <a:pt x="2429" y="20405"/>
                  </a:lnTo>
                  <a:lnTo>
                    <a:pt x="13118" y="25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0" name="Google Shape;3380;p86"/>
            <p:cNvSpPr/>
            <p:nvPr/>
          </p:nvSpPr>
          <p:spPr>
            <a:xfrm>
              <a:off x="1035871" y="1388512"/>
              <a:ext cx="63708" cy="67045"/>
            </a:xfrm>
            <a:custGeom>
              <a:avLst/>
              <a:gdLst/>
              <a:ahLst/>
              <a:cxnLst/>
              <a:rect l="l" t="t" r="r" b="b"/>
              <a:pathLst>
                <a:path w="63708" h="67045" extrusionOk="0">
                  <a:moveTo>
                    <a:pt x="63709" y="63645"/>
                  </a:moveTo>
                  <a:cubicBezTo>
                    <a:pt x="63709" y="59758"/>
                    <a:pt x="63709" y="56357"/>
                    <a:pt x="63223" y="52956"/>
                  </a:cubicBezTo>
                  <a:cubicBezTo>
                    <a:pt x="61766" y="34009"/>
                    <a:pt x="56421" y="16518"/>
                    <a:pt x="48162" y="0"/>
                  </a:cubicBezTo>
                  <a:lnTo>
                    <a:pt x="2008" y="41296"/>
                  </a:lnTo>
                  <a:cubicBezTo>
                    <a:pt x="2008" y="41296"/>
                    <a:pt x="-422" y="44697"/>
                    <a:pt x="64" y="46155"/>
                  </a:cubicBezTo>
                  <a:cubicBezTo>
                    <a:pt x="64" y="47612"/>
                    <a:pt x="2008" y="49070"/>
                    <a:pt x="3951" y="49555"/>
                  </a:cubicBezTo>
                  <a:cubicBezTo>
                    <a:pt x="18526" y="53928"/>
                    <a:pt x="33587" y="58300"/>
                    <a:pt x="48162" y="62673"/>
                  </a:cubicBezTo>
                  <a:lnTo>
                    <a:pt x="63709" y="67046"/>
                  </a:lnTo>
                  <a:cubicBezTo>
                    <a:pt x="63709" y="67046"/>
                    <a:pt x="63709" y="64616"/>
                    <a:pt x="63709" y="63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81" name="Google Shape;3381;p86"/>
          <p:cNvSpPr/>
          <p:nvPr/>
        </p:nvSpPr>
        <p:spPr>
          <a:xfrm>
            <a:off x="3476092" y="4612412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Pods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2" name="Google Shape;3382;p86"/>
          <p:cNvSpPr/>
          <p:nvPr/>
        </p:nvSpPr>
        <p:spPr>
          <a:xfrm>
            <a:off x="2963516" y="5747730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3" name="Google Shape;3383;p86"/>
          <p:cNvCxnSpPr>
            <a:stCxn id="3309" idx="2"/>
            <a:endCxn id="3382" idx="0"/>
          </p:cNvCxnSpPr>
          <p:nvPr/>
        </p:nvCxnSpPr>
        <p:spPr>
          <a:xfrm>
            <a:off x="3757185" y="5569706"/>
            <a:ext cx="0" cy="1779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84" name="Google Shape;3384;p86"/>
          <p:cNvSpPr/>
          <p:nvPr/>
        </p:nvSpPr>
        <p:spPr>
          <a:xfrm>
            <a:off x="5403234" y="5746527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5" name="Google Shape;3385;p86"/>
          <p:cNvCxnSpPr>
            <a:stCxn id="3320" idx="2"/>
            <a:endCxn id="3384" idx="0"/>
          </p:cNvCxnSpPr>
          <p:nvPr/>
        </p:nvCxnSpPr>
        <p:spPr>
          <a:xfrm flipH="1">
            <a:off x="6196795" y="5569706"/>
            <a:ext cx="3300" cy="1767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86" name="Google Shape;3386;p86"/>
          <p:cNvSpPr/>
          <p:nvPr/>
        </p:nvSpPr>
        <p:spPr>
          <a:xfrm>
            <a:off x="7842952" y="5747804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7" name="Google Shape;3387;p86"/>
          <p:cNvCxnSpPr>
            <a:stCxn id="3322" idx="2"/>
            <a:endCxn id="3386" idx="0"/>
          </p:cNvCxnSpPr>
          <p:nvPr/>
        </p:nvCxnSpPr>
        <p:spPr>
          <a:xfrm>
            <a:off x="8636622" y="5569706"/>
            <a:ext cx="0" cy="1782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" name="Google Shape;3401;p88"/>
          <p:cNvSpPr/>
          <p:nvPr/>
        </p:nvSpPr>
        <p:spPr>
          <a:xfrm flipH="1">
            <a:off x="1644849" y="939383"/>
            <a:ext cx="10312445" cy="53773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2" name="Google Shape;3402;p88"/>
          <p:cNvSpPr/>
          <p:nvPr/>
        </p:nvSpPr>
        <p:spPr>
          <a:xfrm flipH="1">
            <a:off x="1788617" y="1622009"/>
            <a:ext cx="1587337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3" name="Google Shape;3403;p88"/>
          <p:cNvSpPr/>
          <p:nvPr/>
        </p:nvSpPr>
        <p:spPr>
          <a:xfrm>
            <a:off x="1908593" y="1925856"/>
            <a:ext cx="1347389" cy="3525042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1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4" name="Google Shape;3404;p88"/>
          <p:cNvSpPr/>
          <p:nvPr/>
        </p:nvSpPr>
        <p:spPr>
          <a:xfrm flipH="1">
            <a:off x="3468834" y="1622009"/>
            <a:ext cx="1587337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5" name="Google Shape;3405;p88"/>
          <p:cNvSpPr/>
          <p:nvPr/>
        </p:nvSpPr>
        <p:spPr>
          <a:xfrm>
            <a:off x="3593113" y="1925856"/>
            <a:ext cx="1338783" cy="3525042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2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6" name="Google Shape;3406;p88"/>
          <p:cNvSpPr/>
          <p:nvPr/>
        </p:nvSpPr>
        <p:spPr>
          <a:xfrm flipH="1">
            <a:off x="5149051" y="1622009"/>
            <a:ext cx="1589344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7" name="Google Shape;3407;p88"/>
          <p:cNvSpPr/>
          <p:nvPr/>
        </p:nvSpPr>
        <p:spPr>
          <a:xfrm>
            <a:off x="5275337" y="1925856"/>
            <a:ext cx="1338783" cy="3525042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3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8" name="Google Shape;3408;p88"/>
          <p:cNvSpPr/>
          <p:nvPr/>
        </p:nvSpPr>
        <p:spPr>
          <a:xfrm flipH="1">
            <a:off x="6844494" y="1622010"/>
            <a:ext cx="1587337" cy="3943384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4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9" name="Google Shape;3409;p88"/>
          <p:cNvSpPr/>
          <p:nvPr/>
        </p:nvSpPr>
        <p:spPr>
          <a:xfrm>
            <a:off x="6968775" y="1925856"/>
            <a:ext cx="1338783" cy="3525042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Zone 4</a:t>
            </a:r>
            <a:b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(Workload)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0" name="Google Shape;3410;p88"/>
          <p:cNvSpPr/>
          <p:nvPr/>
        </p:nvSpPr>
        <p:spPr>
          <a:xfrm flipH="1">
            <a:off x="8525923" y="1622009"/>
            <a:ext cx="1587337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5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1" name="Google Shape;3411;p88"/>
          <p:cNvSpPr/>
          <p:nvPr/>
        </p:nvSpPr>
        <p:spPr>
          <a:xfrm>
            <a:off x="8650202" y="1925856"/>
            <a:ext cx="1338783" cy="3525042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Zone 5</a:t>
            </a:r>
            <a:b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(Workload)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2" name="Google Shape;3412;p88"/>
          <p:cNvSpPr/>
          <p:nvPr/>
        </p:nvSpPr>
        <p:spPr>
          <a:xfrm flipH="1">
            <a:off x="10206945" y="1622009"/>
            <a:ext cx="1587337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3" name="Google Shape;3413;p88"/>
          <p:cNvSpPr/>
          <p:nvPr/>
        </p:nvSpPr>
        <p:spPr>
          <a:xfrm>
            <a:off x="10331224" y="1925856"/>
            <a:ext cx="1338783" cy="3525042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Zone 6</a:t>
            </a:r>
            <a:b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(Workload)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4" name="Google Shape;3414;p88"/>
          <p:cNvSpPr/>
          <p:nvPr/>
        </p:nvSpPr>
        <p:spPr>
          <a:xfrm flipH="1">
            <a:off x="2026070" y="2488784"/>
            <a:ext cx="9521476" cy="2817577"/>
          </a:xfrm>
          <a:prstGeom prst="rect">
            <a:avLst/>
          </a:prstGeom>
          <a:solidFill>
            <a:srgbClr val="005C8A">
              <a:alpha val="0"/>
            </a:srgbClr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5" name="Google Shape;3415;p88"/>
          <p:cNvSpPr/>
          <p:nvPr/>
        </p:nvSpPr>
        <p:spPr>
          <a:xfrm>
            <a:off x="7070402" y="2833091"/>
            <a:ext cx="4368569" cy="8590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A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6" name="Google Shape;3416;p88"/>
          <p:cNvSpPr/>
          <p:nvPr/>
        </p:nvSpPr>
        <p:spPr>
          <a:xfrm>
            <a:off x="7194678" y="3074464"/>
            <a:ext cx="4140493" cy="5126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VKS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7" name="Google Shape;3417;p88"/>
          <p:cNvSpPr/>
          <p:nvPr/>
        </p:nvSpPr>
        <p:spPr>
          <a:xfrm>
            <a:off x="8759538" y="3853393"/>
            <a:ext cx="2679434" cy="12831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C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8" name="Google Shape;3418;p88"/>
          <p:cNvSpPr/>
          <p:nvPr/>
        </p:nvSpPr>
        <p:spPr>
          <a:xfrm>
            <a:off x="8855742" y="4255042"/>
            <a:ext cx="2473589" cy="78383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9" name="Google Shape;3419;p88"/>
          <p:cNvSpPr txBox="1"/>
          <p:nvPr/>
        </p:nvSpPr>
        <p:spPr>
          <a:xfrm>
            <a:off x="5330957" y="3744475"/>
            <a:ext cx="12530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VM3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0" name="Google Shape;3420;p88"/>
          <p:cNvSpPr/>
          <p:nvPr/>
        </p:nvSpPr>
        <p:spPr>
          <a:xfrm>
            <a:off x="5731619" y="3220069"/>
            <a:ext cx="451699" cy="452016"/>
          </a:xfrm>
          <a:custGeom>
            <a:avLst/>
            <a:gdLst/>
            <a:ahLst/>
            <a:cxnLst/>
            <a:rect l="l" t="t" r="r" b="b"/>
            <a:pathLst>
              <a:path w="583799" h="584209" extrusionOk="0">
                <a:moveTo>
                  <a:pt x="491426" y="584210"/>
                </a:moveTo>
                <a:lnTo>
                  <a:pt x="0" y="584210"/>
                </a:lnTo>
                <a:lnTo>
                  <a:pt x="0" y="0"/>
                </a:lnTo>
                <a:lnTo>
                  <a:pt x="583799" y="0"/>
                </a:lnTo>
                <a:lnTo>
                  <a:pt x="583799" y="566146"/>
                </a:lnTo>
                <a:lnTo>
                  <a:pt x="542745" y="566146"/>
                </a:lnTo>
                <a:lnTo>
                  <a:pt x="542745" y="41055"/>
                </a:lnTo>
                <a:lnTo>
                  <a:pt x="41055" y="41055"/>
                </a:lnTo>
                <a:lnTo>
                  <a:pt x="41055" y="543155"/>
                </a:lnTo>
                <a:lnTo>
                  <a:pt x="491426" y="543155"/>
                </a:lnTo>
                <a:lnTo>
                  <a:pt x="491426" y="58421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21" name="Google Shape;3421;p88"/>
          <p:cNvGrpSpPr/>
          <p:nvPr/>
        </p:nvGrpSpPr>
        <p:grpSpPr>
          <a:xfrm>
            <a:off x="5867256" y="3419235"/>
            <a:ext cx="167402" cy="60353"/>
            <a:chOff x="834156" y="5211637"/>
            <a:chExt cx="216359" cy="78004"/>
          </a:xfrm>
        </p:grpSpPr>
        <p:sp>
          <p:nvSpPr>
            <p:cNvPr id="3422" name="Google Shape;3422;p88"/>
            <p:cNvSpPr/>
            <p:nvPr/>
          </p:nvSpPr>
          <p:spPr>
            <a:xfrm>
              <a:off x="834156" y="5213690"/>
              <a:ext cx="81699" cy="75951"/>
            </a:xfrm>
            <a:custGeom>
              <a:avLst/>
              <a:gdLst/>
              <a:ahLst/>
              <a:cxnLst/>
              <a:rect l="l" t="t" r="r" b="b"/>
              <a:pathLst>
                <a:path w="81699" h="75951" extrusionOk="0">
                  <a:moveTo>
                    <a:pt x="0" y="0"/>
                  </a:moveTo>
                  <a:lnTo>
                    <a:pt x="18885" y="0"/>
                  </a:lnTo>
                  <a:lnTo>
                    <a:pt x="41055" y="55013"/>
                  </a:lnTo>
                  <a:lnTo>
                    <a:pt x="62814" y="0"/>
                  </a:lnTo>
                  <a:lnTo>
                    <a:pt x="81699" y="0"/>
                  </a:lnTo>
                  <a:lnTo>
                    <a:pt x="49676" y="75951"/>
                  </a:lnTo>
                  <a:lnTo>
                    <a:pt x="32844" y="75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p88"/>
            <p:cNvSpPr/>
            <p:nvPr/>
          </p:nvSpPr>
          <p:spPr>
            <a:xfrm>
              <a:off x="935151" y="5211637"/>
              <a:ext cx="115364" cy="77593"/>
            </a:xfrm>
            <a:custGeom>
              <a:avLst/>
              <a:gdLst/>
              <a:ahLst/>
              <a:cxnLst/>
              <a:rect l="l" t="t" r="r" b="b"/>
              <a:pathLst>
                <a:path w="115364" h="77593" extrusionOk="0">
                  <a:moveTo>
                    <a:pt x="101816" y="3695"/>
                  </a:moveTo>
                  <a:cubicBezTo>
                    <a:pt x="105921" y="6158"/>
                    <a:pt x="109206" y="9853"/>
                    <a:pt x="111669" y="13959"/>
                  </a:cubicBezTo>
                  <a:cubicBezTo>
                    <a:pt x="114132" y="18475"/>
                    <a:pt x="115364" y="23401"/>
                    <a:pt x="115364" y="29149"/>
                  </a:cubicBezTo>
                  <a:lnTo>
                    <a:pt x="115364" y="77594"/>
                  </a:lnTo>
                  <a:lnTo>
                    <a:pt x="97710" y="77594"/>
                  </a:lnTo>
                  <a:lnTo>
                    <a:pt x="97710" y="32433"/>
                  </a:lnTo>
                  <a:cubicBezTo>
                    <a:pt x="97710" y="27507"/>
                    <a:pt x="96479" y="23401"/>
                    <a:pt x="93605" y="20117"/>
                  </a:cubicBezTo>
                  <a:cubicBezTo>
                    <a:pt x="90731" y="16832"/>
                    <a:pt x="87447" y="15190"/>
                    <a:pt x="82931" y="15190"/>
                  </a:cubicBezTo>
                  <a:cubicBezTo>
                    <a:pt x="78415" y="15190"/>
                    <a:pt x="73899" y="16832"/>
                    <a:pt x="71025" y="19706"/>
                  </a:cubicBezTo>
                  <a:cubicBezTo>
                    <a:pt x="67740" y="22580"/>
                    <a:pt x="66509" y="26686"/>
                    <a:pt x="66509" y="31202"/>
                  </a:cubicBezTo>
                  <a:lnTo>
                    <a:pt x="66509" y="77594"/>
                  </a:lnTo>
                  <a:lnTo>
                    <a:pt x="49266" y="77594"/>
                  </a:lnTo>
                  <a:lnTo>
                    <a:pt x="49266" y="32433"/>
                  </a:lnTo>
                  <a:cubicBezTo>
                    <a:pt x="49266" y="27507"/>
                    <a:pt x="48034" y="23401"/>
                    <a:pt x="45160" y="20117"/>
                  </a:cubicBezTo>
                  <a:cubicBezTo>
                    <a:pt x="42286" y="16832"/>
                    <a:pt x="39002" y="15190"/>
                    <a:pt x="34486" y="15190"/>
                  </a:cubicBezTo>
                  <a:cubicBezTo>
                    <a:pt x="29970" y="15190"/>
                    <a:pt x="25865" y="16832"/>
                    <a:pt x="22580" y="19706"/>
                  </a:cubicBezTo>
                  <a:cubicBezTo>
                    <a:pt x="19296" y="22580"/>
                    <a:pt x="18064" y="26686"/>
                    <a:pt x="18064" y="31202"/>
                  </a:cubicBezTo>
                  <a:lnTo>
                    <a:pt x="18064" y="77594"/>
                  </a:lnTo>
                  <a:lnTo>
                    <a:pt x="0" y="77594"/>
                  </a:lnTo>
                  <a:lnTo>
                    <a:pt x="0" y="1642"/>
                  </a:lnTo>
                  <a:lnTo>
                    <a:pt x="18064" y="1642"/>
                  </a:lnTo>
                  <a:lnTo>
                    <a:pt x="18064" y="11906"/>
                  </a:lnTo>
                  <a:cubicBezTo>
                    <a:pt x="20117" y="8211"/>
                    <a:pt x="22991" y="5337"/>
                    <a:pt x="26686" y="3284"/>
                  </a:cubicBezTo>
                  <a:cubicBezTo>
                    <a:pt x="30381" y="1232"/>
                    <a:pt x="34486" y="0"/>
                    <a:pt x="39413" y="0"/>
                  </a:cubicBezTo>
                  <a:cubicBezTo>
                    <a:pt x="44339" y="0"/>
                    <a:pt x="50497" y="1642"/>
                    <a:pt x="55424" y="4927"/>
                  </a:cubicBezTo>
                  <a:cubicBezTo>
                    <a:pt x="59940" y="8211"/>
                    <a:pt x="63224" y="12727"/>
                    <a:pt x="65277" y="18064"/>
                  </a:cubicBezTo>
                  <a:cubicBezTo>
                    <a:pt x="66509" y="12727"/>
                    <a:pt x="68972" y="8211"/>
                    <a:pt x="73078" y="4927"/>
                  </a:cubicBezTo>
                  <a:cubicBezTo>
                    <a:pt x="77183" y="1642"/>
                    <a:pt x="82110" y="0"/>
                    <a:pt x="88268" y="0"/>
                  </a:cubicBezTo>
                  <a:cubicBezTo>
                    <a:pt x="94426" y="0"/>
                    <a:pt x="98121" y="1232"/>
                    <a:pt x="102226" y="36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24" name="Google Shape;3424;p88"/>
          <p:cNvSpPr/>
          <p:nvPr/>
        </p:nvSpPr>
        <p:spPr>
          <a:xfrm>
            <a:off x="8722160" y="3400492"/>
            <a:ext cx="896" cy="3362"/>
          </a:xfrm>
          <a:custGeom>
            <a:avLst/>
            <a:gdLst/>
            <a:ahLst/>
            <a:cxnLst/>
            <a:rect l="l" t="t" r="r" b="b"/>
            <a:pathLst>
              <a:path w="1943" h="7287" extrusionOk="0">
                <a:moveTo>
                  <a:pt x="0" y="486"/>
                </a:moveTo>
                <a:lnTo>
                  <a:pt x="1943" y="7288"/>
                </a:lnTo>
                <a:lnTo>
                  <a:pt x="486" y="0"/>
                </a:lnTo>
                <a:cubicBezTo>
                  <a:pt x="486" y="0"/>
                  <a:pt x="486" y="0"/>
                  <a:pt x="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5" name="Google Shape;3425;p88"/>
          <p:cNvSpPr/>
          <p:nvPr/>
        </p:nvSpPr>
        <p:spPr>
          <a:xfrm>
            <a:off x="8663657" y="3280571"/>
            <a:ext cx="28915" cy="31087"/>
          </a:xfrm>
          <a:custGeom>
            <a:avLst/>
            <a:gdLst/>
            <a:ahLst/>
            <a:cxnLst/>
            <a:rect l="l" t="t" r="r" b="b"/>
            <a:pathLst>
              <a:path w="62673" h="67379" extrusionOk="0">
                <a:moveTo>
                  <a:pt x="51499" y="66560"/>
                </a:moveTo>
                <a:cubicBezTo>
                  <a:pt x="51499" y="66560"/>
                  <a:pt x="54900" y="68017"/>
                  <a:pt x="56357" y="67046"/>
                </a:cubicBezTo>
                <a:cubicBezTo>
                  <a:pt x="57815" y="66560"/>
                  <a:pt x="58786" y="65102"/>
                  <a:pt x="58786" y="63159"/>
                </a:cubicBezTo>
                <a:cubicBezTo>
                  <a:pt x="59758" y="47126"/>
                  <a:pt x="60730" y="30608"/>
                  <a:pt x="61701" y="14575"/>
                </a:cubicBezTo>
                <a:lnTo>
                  <a:pt x="62673" y="0"/>
                </a:lnTo>
                <a:cubicBezTo>
                  <a:pt x="38381" y="4858"/>
                  <a:pt x="17976" y="15061"/>
                  <a:pt x="0" y="30122"/>
                </a:cubicBezTo>
                <a:cubicBezTo>
                  <a:pt x="7773" y="35466"/>
                  <a:pt x="15547" y="41296"/>
                  <a:pt x="23320" y="46640"/>
                </a:cubicBezTo>
                <a:cubicBezTo>
                  <a:pt x="32551" y="53442"/>
                  <a:pt x="42268" y="59758"/>
                  <a:pt x="51499" y="6656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6" name="Google Shape;3426;p88"/>
          <p:cNvSpPr/>
          <p:nvPr/>
        </p:nvSpPr>
        <p:spPr>
          <a:xfrm>
            <a:off x="8726419" y="3361265"/>
            <a:ext cx="34295" cy="30036"/>
          </a:xfrm>
          <a:custGeom>
            <a:avLst/>
            <a:gdLst/>
            <a:ahLst/>
            <a:cxnLst/>
            <a:rect l="l" t="t" r="r" b="b"/>
            <a:pathLst>
              <a:path w="74333" h="65102" extrusionOk="0">
                <a:moveTo>
                  <a:pt x="8259" y="972"/>
                </a:moveTo>
                <a:cubicBezTo>
                  <a:pt x="8259" y="972"/>
                  <a:pt x="6316" y="2915"/>
                  <a:pt x="6316" y="4858"/>
                </a:cubicBezTo>
                <a:lnTo>
                  <a:pt x="0" y="9717"/>
                </a:lnTo>
                <a:lnTo>
                  <a:pt x="6802" y="6802"/>
                </a:lnTo>
                <a:lnTo>
                  <a:pt x="12632" y="20891"/>
                </a:lnTo>
                <a:cubicBezTo>
                  <a:pt x="18948" y="35466"/>
                  <a:pt x="24778" y="50527"/>
                  <a:pt x="31094" y="65102"/>
                </a:cubicBezTo>
                <a:cubicBezTo>
                  <a:pt x="50527" y="50527"/>
                  <a:pt x="64616" y="32551"/>
                  <a:pt x="74333" y="10688"/>
                </a:cubicBezTo>
                <a:lnTo>
                  <a:pt x="12146" y="0"/>
                </a:lnTo>
                <a:cubicBezTo>
                  <a:pt x="12146" y="0"/>
                  <a:pt x="9231" y="486"/>
                  <a:pt x="8259" y="9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7" name="Google Shape;3427;p88"/>
          <p:cNvSpPr/>
          <p:nvPr/>
        </p:nvSpPr>
        <p:spPr>
          <a:xfrm>
            <a:off x="8647294" y="3361265"/>
            <a:ext cx="30933" cy="29812"/>
          </a:xfrm>
          <a:custGeom>
            <a:avLst/>
            <a:gdLst/>
            <a:ahLst/>
            <a:cxnLst/>
            <a:rect l="l" t="t" r="r" b="b"/>
            <a:pathLst>
              <a:path w="67045" h="64616" extrusionOk="0">
                <a:moveTo>
                  <a:pt x="62673" y="0"/>
                </a:moveTo>
                <a:lnTo>
                  <a:pt x="46155" y="2915"/>
                </a:lnTo>
                <a:cubicBezTo>
                  <a:pt x="30608" y="5344"/>
                  <a:pt x="15547" y="8259"/>
                  <a:pt x="0" y="10688"/>
                </a:cubicBezTo>
                <a:cubicBezTo>
                  <a:pt x="9717" y="32551"/>
                  <a:pt x="24292" y="50527"/>
                  <a:pt x="43240" y="64616"/>
                </a:cubicBezTo>
                <a:cubicBezTo>
                  <a:pt x="48584" y="51985"/>
                  <a:pt x="53442" y="39839"/>
                  <a:pt x="58300" y="27693"/>
                </a:cubicBezTo>
                <a:lnTo>
                  <a:pt x="65588" y="9717"/>
                </a:lnTo>
                <a:cubicBezTo>
                  <a:pt x="65588" y="9717"/>
                  <a:pt x="66560" y="6802"/>
                  <a:pt x="67046" y="5830"/>
                </a:cubicBezTo>
                <a:cubicBezTo>
                  <a:pt x="67046" y="4858"/>
                  <a:pt x="67046" y="3401"/>
                  <a:pt x="66074" y="2429"/>
                </a:cubicBezTo>
                <a:cubicBezTo>
                  <a:pt x="65102" y="1457"/>
                  <a:pt x="64131" y="972"/>
                  <a:pt x="62673" y="4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8" name="Google Shape;3428;p88"/>
          <p:cNvSpPr/>
          <p:nvPr/>
        </p:nvSpPr>
        <p:spPr>
          <a:xfrm>
            <a:off x="8688089" y="3374715"/>
            <a:ext cx="31605" cy="28691"/>
          </a:xfrm>
          <a:custGeom>
            <a:avLst/>
            <a:gdLst/>
            <a:ahLst/>
            <a:cxnLst/>
            <a:rect l="l" t="t" r="r" b="b"/>
            <a:pathLst>
              <a:path w="68503" h="62187" extrusionOk="0">
                <a:moveTo>
                  <a:pt x="55385" y="32551"/>
                </a:moveTo>
                <a:cubicBezTo>
                  <a:pt x="50041" y="22834"/>
                  <a:pt x="44697" y="12632"/>
                  <a:pt x="38867" y="2915"/>
                </a:cubicBezTo>
                <a:cubicBezTo>
                  <a:pt x="37895" y="972"/>
                  <a:pt x="35952" y="486"/>
                  <a:pt x="34494" y="0"/>
                </a:cubicBezTo>
                <a:cubicBezTo>
                  <a:pt x="33037" y="0"/>
                  <a:pt x="31094" y="972"/>
                  <a:pt x="30122" y="2915"/>
                </a:cubicBezTo>
                <a:lnTo>
                  <a:pt x="17490" y="25749"/>
                </a:lnTo>
                <a:cubicBezTo>
                  <a:pt x="11660" y="36438"/>
                  <a:pt x="5830" y="46640"/>
                  <a:pt x="0" y="57329"/>
                </a:cubicBezTo>
                <a:cubicBezTo>
                  <a:pt x="11660" y="60244"/>
                  <a:pt x="22834" y="61701"/>
                  <a:pt x="34494" y="62187"/>
                </a:cubicBezTo>
                <a:cubicBezTo>
                  <a:pt x="45669" y="62187"/>
                  <a:pt x="57329" y="60730"/>
                  <a:pt x="68503" y="57815"/>
                </a:cubicBezTo>
                <a:cubicBezTo>
                  <a:pt x="67046" y="54900"/>
                  <a:pt x="65588" y="52470"/>
                  <a:pt x="64131" y="50041"/>
                </a:cubicBezTo>
                <a:lnTo>
                  <a:pt x="54900" y="3303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9" name="Google Shape;3429;p88"/>
          <p:cNvSpPr/>
          <p:nvPr/>
        </p:nvSpPr>
        <p:spPr>
          <a:xfrm>
            <a:off x="8761835" y="3363731"/>
            <a:ext cx="3138" cy="1345"/>
          </a:xfrm>
          <a:custGeom>
            <a:avLst/>
            <a:gdLst/>
            <a:ahLst/>
            <a:cxnLst/>
            <a:rect l="l" t="t" r="r" b="b"/>
            <a:pathLst>
              <a:path w="6801" h="2915" extrusionOk="0">
                <a:moveTo>
                  <a:pt x="0" y="0"/>
                </a:moveTo>
                <a:lnTo>
                  <a:pt x="6802" y="291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0" name="Google Shape;3430;p88"/>
          <p:cNvSpPr/>
          <p:nvPr/>
        </p:nvSpPr>
        <p:spPr>
          <a:xfrm>
            <a:off x="8642263" y="3312401"/>
            <a:ext cx="29687" cy="31157"/>
          </a:xfrm>
          <a:custGeom>
            <a:avLst/>
            <a:gdLst/>
            <a:ahLst/>
            <a:cxnLst/>
            <a:rect l="l" t="t" r="r" b="b"/>
            <a:pathLst>
              <a:path w="64346" h="67531" extrusionOk="0">
                <a:moveTo>
                  <a:pt x="63375" y="47126"/>
                </a:moveTo>
                <a:cubicBezTo>
                  <a:pt x="63375" y="47126"/>
                  <a:pt x="63375" y="43725"/>
                  <a:pt x="60460" y="40810"/>
                </a:cubicBezTo>
                <a:cubicBezTo>
                  <a:pt x="45399" y="27207"/>
                  <a:pt x="30338" y="13603"/>
                  <a:pt x="15277" y="0"/>
                </a:cubicBezTo>
                <a:cubicBezTo>
                  <a:pt x="6532" y="17004"/>
                  <a:pt x="1673" y="34494"/>
                  <a:pt x="216" y="52956"/>
                </a:cubicBezTo>
                <a:cubicBezTo>
                  <a:pt x="216" y="57329"/>
                  <a:pt x="-270" y="62673"/>
                  <a:pt x="216" y="67531"/>
                </a:cubicBezTo>
                <a:lnTo>
                  <a:pt x="10419" y="64616"/>
                </a:lnTo>
                <a:cubicBezTo>
                  <a:pt x="26451" y="59758"/>
                  <a:pt x="42970" y="55385"/>
                  <a:pt x="59002" y="50527"/>
                </a:cubicBezTo>
                <a:cubicBezTo>
                  <a:pt x="63375" y="49070"/>
                  <a:pt x="63861" y="47612"/>
                  <a:pt x="64346" y="466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1" name="Google Shape;3431;p88"/>
          <p:cNvSpPr/>
          <p:nvPr/>
        </p:nvSpPr>
        <p:spPr>
          <a:xfrm>
            <a:off x="8715660" y="3280571"/>
            <a:ext cx="28467" cy="30797"/>
          </a:xfrm>
          <a:custGeom>
            <a:avLst/>
            <a:gdLst/>
            <a:ahLst/>
            <a:cxnLst/>
            <a:rect l="l" t="t" r="r" b="b"/>
            <a:pathLst>
              <a:path w="61701" h="66751" extrusionOk="0">
                <a:moveTo>
                  <a:pt x="5830" y="66560"/>
                </a:moveTo>
                <a:cubicBezTo>
                  <a:pt x="5830" y="66560"/>
                  <a:pt x="8745" y="67531"/>
                  <a:pt x="12146" y="65102"/>
                </a:cubicBezTo>
                <a:cubicBezTo>
                  <a:pt x="28664" y="53442"/>
                  <a:pt x="45183" y="41782"/>
                  <a:pt x="61701" y="30122"/>
                </a:cubicBezTo>
                <a:cubicBezTo>
                  <a:pt x="42754" y="14575"/>
                  <a:pt x="22348" y="4373"/>
                  <a:pt x="0" y="0"/>
                </a:cubicBezTo>
                <a:lnTo>
                  <a:pt x="3401" y="60730"/>
                </a:lnTo>
                <a:cubicBezTo>
                  <a:pt x="3401" y="65102"/>
                  <a:pt x="4858" y="65588"/>
                  <a:pt x="5830" y="6607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2" name="Google Shape;3432;p88"/>
          <p:cNvSpPr/>
          <p:nvPr/>
        </p:nvSpPr>
        <p:spPr>
          <a:xfrm>
            <a:off x="8596593" y="3230361"/>
            <a:ext cx="215315" cy="209837"/>
          </a:xfrm>
          <a:custGeom>
            <a:avLst/>
            <a:gdLst/>
            <a:ahLst/>
            <a:cxnLst/>
            <a:rect l="l" t="t" r="r" b="b"/>
            <a:pathLst>
              <a:path w="466686" h="454812" extrusionOk="0">
                <a:moveTo>
                  <a:pt x="444146" y="283729"/>
                </a:moveTo>
                <a:cubicBezTo>
                  <a:pt x="438802" y="283243"/>
                  <a:pt x="433458" y="282757"/>
                  <a:pt x="428600" y="281786"/>
                </a:cubicBezTo>
                <a:cubicBezTo>
                  <a:pt x="421798" y="280814"/>
                  <a:pt x="414024" y="279842"/>
                  <a:pt x="409166" y="272555"/>
                </a:cubicBezTo>
                <a:cubicBezTo>
                  <a:pt x="406251" y="272069"/>
                  <a:pt x="404308" y="270611"/>
                  <a:pt x="403336" y="269154"/>
                </a:cubicBezTo>
                <a:cubicBezTo>
                  <a:pt x="400421" y="265753"/>
                  <a:pt x="400907" y="261866"/>
                  <a:pt x="401393" y="259923"/>
                </a:cubicBezTo>
                <a:cubicBezTo>
                  <a:pt x="402364" y="250206"/>
                  <a:pt x="402850" y="240975"/>
                  <a:pt x="402364" y="231744"/>
                </a:cubicBezTo>
                <a:cubicBezTo>
                  <a:pt x="400907" y="202108"/>
                  <a:pt x="391676" y="174416"/>
                  <a:pt x="376129" y="149152"/>
                </a:cubicBezTo>
                <a:cubicBezTo>
                  <a:pt x="375158" y="147695"/>
                  <a:pt x="373214" y="144294"/>
                  <a:pt x="374186" y="139921"/>
                </a:cubicBezTo>
                <a:cubicBezTo>
                  <a:pt x="374672" y="137492"/>
                  <a:pt x="376129" y="135549"/>
                  <a:pt x="378073" y="134091"/>
                </a:cubicBezTo>
                <a:cubicBezTo>
                  <a:pt x="378558" y="129719"/>
                  <a:pt x="380988" y="125832"/>
                  <a:pt x="384874" y="122431"/>
                </a:cubicBezTo>
                <a:cubicBezTo>
                  <a:pt x="391190" y="117087"/>
                  <a:pt x="398478" y="112228"/>
                  <a:pt x="408194" y="106884"/>
                </a:cubicBezTo>
                <a:cubicBezTo>
                  <a:pt x="412081" y="104941"/>
                  <a:pt x="415482" y="102998"/>
                  <a:pt x="417911" y="100083"/>
                </a:cubicBezTo>
                <a:cubicBezTo>
                  <a:pt x="421312" y="97167"/>
                  <a:pt x="421312" y="94738"/>
                  <a:pt x="420826" y="93281"/>
                </a:cubicBezTo>
                <a:cubicBezTo>
                  <a:pt x="420826" y="90852"/>
                  <a:pt x="418883" y="89394"/>
                  <a:pt x="417911" y="88908"/>
                </a:cubicBezTo>
                <a:cubicBezTo>
                  <a:pt x="415968" y="87937"/>
                  <a:pt x="413053" y="88422"/>
                  <a:pt x="410624" y="89880"/>
                </a:cubicBezTo>
                <a:cubicBezTo>
                  <a:pt x="407223" y="91823"/>
                  <a:pt x="404308" y="95224"/>
                  <a:pt x="401393" y="98139"/>
                </a:cubicBezTo>
                <a:cubicBezTo>
                  <a:pt x="395563" y="104941"/>
                  <a:pt x="389247" y="111257"/>
                  <a:pt x="382445" y="116601"/>
                </a:cubicBezTo>
                <a:cubicBezTo>
                  <a:pt x="380502" y="118058"/>
                  <a:pt x="375643" y="122431"/>
                  <a:pt x="368356" y="121459"/>
                </a:cubicBezTo>
                <a:cubicBezTo>
                  <a:pt x="366412" y="123403"/>
                  <a:pt x="363983" y="124374"/>
                  <a:pt x="361554" y="123889"/>
                </a:cubicBezTo>
                <a:cubicBezTo>
                  <a:pt x="357182" y="123889"/>
                  <a:pt x="354267" y="120974"/>
                  <a:pt x="352809" y="119516"/>
                </a:cubicBezTo>
                <a:cubicBezTo>
                  <a:pt x="333861" y="100568"/>
                  <a:pt x="311513" y="86965"/>
                  <a:pt x="286249" y="78220"/>
                </a:cubicBezTo>
                <a:cubicBezTo>
                  <a:pt x="275075" y="74333"/>
                  <a:pt x="263415" y="71904"/>
                  <a:pt x="249811" y="69961"/>
                </a:cubicBezTo>
                <a:cubicBezTo>
                  <a:pt x="248354" y="69961"/>
                  <a:pt x="244953" y="69961"/>
                  <a:pt x="242524" y="67046"/>
                </a:cubicBezTo>
                <a:lnTo>
                  <a:pt x="240581" y="64616"/>
                </a:lnTo>
                <a:lnTo>
                  <a:pt x="240581" y="60244"/>
                </a:lnTo>
                <a:cubicBezTo>
                  <a:pt x="237180" y="56357"/>
                  <a:pt x="235722" y="52956"/>
                  <a:pt x="235722" y="49070"/>
                </a:cubicBezTo>
                <a:lnTo>
                  <a:pt x="235722" y="47126"/>
                </a:lnTo>
                <a:cubicBezTo>
                  <a:pt x="235722" y="42754"/>
                  <a:pt x="235722" y="38867"/>
                  <a:pt x="236208" y="34494"/>
                </a:cubicBezTo>
                <a:cubicBezTo>
                  <a:pt x="237180" y="28664"/>
                  <a:pt x="237666" y="23320"/>
                  <a:pt x="238637" y="17490"/>
                </a:cubicBezTo>
                <a:lnTo>
                  <a:pt x="238637" y="11660"/>
                </a:lnTo>
                <a:cubicBezTo>
                  <a:pt x="238637" y="11660"/>
                  <a:pt x="239123" y="7288"/>
                  <a:pt x="239123" y="7288"/>
                </a:cubicBezTo>
                <a:cubicBezTo>
                  <a:pt x="239123" y="3401"/>
                  <a:pt x="236208" y="486"/>
                  <a:pt x="233293" y="0"/>
                </a:cubicBezTo>
                <a:cubicBezTo>
                  <a:pt x="229892" y="0"/>
                  <a:pt x="226977" y="2429"/>
                  <a:pt x="226491" y="6316"/>
                </a:cubicBezTo>
                <a:cubicBezTo>
                  <a:pt x="226491" y="9231"/>
                  <a:pt x="226491" y="12632"/>
                  <a:pt x="226977" y="17490"/>
                </a:cubicBezTo>
                <a:cubicBezTo>
                  <a:pt x="228435" y="26721"/>
                  <a:pt x="229892" y="36438"/>
                  <a:pt x="229892" y="46640"/>
                </a:cubicBezTo>
                <a:cubicBezTo>
                  <a:pt x="229892" y="49070"/>
                  <a:pt x="229892" y="54414"/>
                  <a:pt x="225520" y="58786"/>
                </a:cubicBezTo>
                <a:cubicBezTo>
                  <a:pt x="225520" y="62187"/>
                  <a:pt x="224548" y="64616"/>
                  <a:pt x="223090" y="66560"/>
                </a:cubicBezTo>
                <a:cubicBezTo>
                  <a:pt x="221633" y="68503"/>
                  <a:pt x="219204" y="69475"/>
                  <a:pt x="215803" y="69961"/>
                </a:cubicBezTo>
                <a:lnTo>
                  <a:pt x="212402" y="69961"/>
                </a:lnTo>
                <a:cubicBezTo>
                  <a:pt x="174021" y="75305"/>
                  <a:pt x="140012" y="91337"/>
                  <a:pt x="112805" y="119030"/>
                </a:cubicBezTo>
                <a:cubicBezTo>
                  <a:pt x="111348" y="120488"/>
                  <a:pt x="108433" y="124374"/>
                  <a:pt x="103574" y="123403"/>
                </a:cubicBezTo>
                <a:cubicBezTo>
                  <a:pt x="101631" y="123403"/>
                  <a:pt x="99202" y="122431"/>
                  <a:pt x="97259" y="121459"/>
                </a:cubicBezTo>
                <a:cubicBezTo>
                  <a:pt x="90943" y="121945"/>
                  <a:pt x="86570" y="118544"/>
                  <a:pt x="84627" y="117573"/>
                </a:cubicBezTo>
                <a:cubicBezTo>
                  <a:pt x="77825" y="112228"/>
                  <a:pt x="71509" y="106398"/>
                  <a:pt x="64707" y="98625"/>
                </a:cubicBezTo>
                <a:cubicBezTo>
                  <a:pt x="61307" y="94738"/>
                  <a:pt x="58392" y="91823"/>
                  <a:pt x="54991" y="89394"/>
                </a:cubicBezTo>
                <a:cubicBezTo>
                  <a:pt x="51590" y="87451"/>
                  <a:pt x="47703" y="87937"/>
                  <a:pt x="45760" y="90366"/>
                </a:cubicBezTo>
                <a:cubicBezTo>
                  <a:pt x="43816" y="92795"/>
                  <a:pt x="44302" y="96682"/>
                  <a:pt x="47217" y="99597"/>
                </a:cubicBezTo>
                <a:cubicBezTo>
                  <a:pt x="50132" y="102512"/>
                  <a:pt x="53533" y="104455"/>
                  <a:pt x="57420" y="106398"/>
                </a:cubicBezTo>
                <a:cubicBezTo>
                  <a:pt x="65193" y="110771"/>
                  <a:pt x="72481" y="115143"/>
                  <a:pt x="78797" y="120488"/>
                </a:cubicBezTo>
                <a:cubicBezTo>
                  <a:pt x="81712" y="122917"/>
                  <a:pt x="86570" y="126804"/>
                  <a:pt x="87542" y="133605"/>
                </a:cubicBezTo>
                <a:cubicBezTo>
                  <a:pt x="89485" y="135063"/>
                  <a:pt x="90457" y="137006"/>
                  <a:pt x="90943" y="138949"/>
                </a:cubicBezTo>
                <a:cubicBezTo>
                  <a:pt x="91914" y="143322"/>
                  <a:pt x="89971" y="147209"/>
                  <a:pt x="88514" y="149152"/>
                </a:cubicBezTo>
                <a:cubicBezTo>
                  <a:pt x="67622" y="183161"/>
                  <a:pt x="59363" y="220084"/>
                  <a:pt x="64222" y="258951"/>
                </a:cubicBezTo>
                <a:cubicBezTo>
                  <a:pt x="65193" y="268182"/>
                  <a:pt x="59363" y="271097"/>
                  <a:pt x="56448" y="271583"/>
                </a:cubicBezTo>
                <a:cubicBezTo>
                  <a:pt x="53047" y="276927"/>
                  <a:pt x="47703" y="278385"/>
                  <a:pt x="43816" y="279356"/>
                </a:cubicBezTo>
                <a:cubicBezTo>
                  <a:pt x="34586" y="281300"/>
                  <a:pt x="24869" y="282272"/>
                  <a:pt x="15638" y="282757"/>
                </a:cubicBezTo>
                <a:cubicBezTo>
                  <a:pt x="11265" y="282757"/>
                  <a:pt x="7864" y="283729"/>
                  <a:pt x="4464" y="284701"/>
                </a:cubicBezTo>
                <a:cubicBezTo>
                  <a:pt x="1063" y="286158"/>
                  <a:pt x="-395" y="289559"/>
                  <a:pt x="91" y="291988"/>
                </a:cubicBezTo>
                <a:cubicBezTo>
                  <a:pt x="577" y="294903"/>
                  <a:pt x="3978" y="297818"/>
                  <a:pt x="7379" y="296847"/>
                </a:cubicBezTo>
                <a:cubicBezTo>
                  <a:pt x="11265" y="296847"/>
                  <a:pt x="15152" y="295389"/>
                  <a:pt x="19525" y="293446"/>
                </a:cubicBezTo>
                <a:cubicBezTo>
                  <a:pt x="28755" y="289559"/>
                  <a:pt x="37015" y="286644"/>
                  <a:pt x="44788" y="284701"/>
                </a:cubicBezTo>
                <a:cubicBezTo>
                  <a:pt x="48675" y="283729"/>
                  <a:pt x="53533" y="282272"/>
                  <a:pt x="58392" y="285187"/>
                </a:cubicBezTo>
                <a:cubicBezTo>
                  <a:pt x="59849" y="286158"/>
                  <a:pt x="60335" y="286158"/>
                  <a:pt x="60335" y="286158"/>
                </a:cubicBezTo>
                <a:lnTo>
                  <a:pt x="63250" y="285187"/>
                </a:lnTo>
                <a:lnTo>
                  <a:pt x="67622" y="286644"/>
                </a:lnTo>
                <a:cubicBezTo>
                  <a:pt x="71023" y="288587"/>
                  <a:pt x="71995" y="291502"/>
                  <a:pt x="72481" y="292960"/>
                </a:cubicBezTo>
                <a:cubicBezTo>
                  <a:pt x="86084" y="331341"/>
                  <a:pt x="109890" y="361463"/>
                  <a:pt x="144385" y="382840"/>
                </a:cubicBezTo>
                <a:cubicBezTo>
                  <a:pt x="150701" y="386727"/>
                  <a:pt x="150701" y="392557"/>
                  <a:pt x="148271" y="396929"/>
                </a:cubicBezTo>
                <a:cubicBezTo>
                  <a:pt x="150701" y="403245"/>
                  <a:pt x="148271" y="408589"/>
                  <a:pt x="146814" y="410533"/>
                </a:cubicBezTo>
                <a:cubicBezTo>
                  <a:pt x="142927" y="418306"/>
                  <a:pt x="138555" y="426079"/>
                  <a:pt x="131753" y="435310"/>
                </a:cubicBezTo>
                <a:cubicBezTo>
                  <a:pt x="128838" y="439197"/>
                  <a:pt x="127380" y="442112"/>
                  <a:pt x="126409" y="445027"/>
                </a:cubicBezTo>
                <a:cubicBezTo>
                  <a:pt x="124951" y="448914"/>
                  <a:pt x="126409" y="452800"/>
                  <a:pt x="129324" y="454258"/>
                </a:cubicBezTo>
                <a:cubicBezTo>
                  <a:pt x="132239" y="455715"/>
                  <a:pt x="136126" y="454258"/>
                  <a:pt x="138069" y="450371"/>
                </a:cubicBezTo>
                <a:cubicBezTo>
                  <a:pt x="139526" y="447942"/>
                  <a:pt x="140984" y="444541"/>
                  <a:pt x="141956" y="440654"/>
                </a:cubicBezTo>
                <a:cubicBezTo>
                  <a:pt x="144871" y="430938"/>
                  <a:pt x="147786" y="422193"/>
                  <a:pt x="151672" y="414419"/>
                </a:cubicBezTo>
                <a:cubicBezTo>
                  <a:pt x="152644" y="411990"/>
                  <a:pt x="155559" y="406160"/>
                  <a:pt x="162361" y="403731"/>
                </a:cubicBezTo>
                <a:cubicBezTo>
                  <a:pt x="163818" y="400330"/>
                  <a:pt x="168191" y="395472"/>
                  <a:pt x="176936" y="398387"/>
                </a:cubicBezTo>
                <a:cubicBezTo>
                  <a:pt x="213860" y="411504"/>
                  <a:pt x="251269" y="411504"/>
                  <a:pt x="289164" y="398872"/>
                </a:cubicBezTo>
                <a:cubicBezTo>
                  <a:pt x="292079" y="397901"/>
                  <a:pt x="295966" y="396443"/>
                  <a:pt x="300339" y="398872"/>
                </a:cubicBezTo>
                <a:cubicBezTo>
                  <a:pt x="302282" y="399844"/>
                  <a:pt x="303739" y="401302"/>
                  <a:pt x="304711" y="403731"/>
                </a:cubicBezTo>
                <a:cubicBezTo>
                  <a:pt x="309084" y="405188"/>
                  <a:pt x="311999" y="408103"/>
                  <a:pt x="314428" y="412962"/>
                </a:cubicBezTo>
                <a:cubicBezTo>
                  <a:pt x="319286" y="422678"/>
                  <a:pt x="322201" y="432881"/>
                  <a:pt x="324630" y="441140"/>
                </a:cubicBezTo>
                <a:cubicBezTo>
                  <a:pt x="326088" y="445999"/>
                  <a:pt x="327545" y="449400"/>
                  <a:pt x="329975" y="451829"/>
                </a:cubicBezTo>
                <a:cubicBezTo>
                  <a:pt x="332404" y="454258"/>
                  <a:pt x="335319" y="454744"/>
                  <a:pt x="337748" y="453286"/>
                </a:cubicBezTo>
                <a:cubicBezTo>
                  <a:pt x="340177" y="451829"/>
                  <a:pt x="341149" y="448428"/>
                  <a:pt x="340177" y="445513"/>
                </a:cubicBezTo>
                <a:cubicBezTo>
                  <a:pt x="339206" y="441626"/>
                  <a:pt x="336776" y="438225"/>
                  <a:pt x="334347" y="434824"/>
                </a:cubicBezTo>
                <a:cubicBezTo>
                  <a:pt x="329003" y="427051"/>
                  <a:pt x="324145" y="419763"/>
                  <a:pt x="320258" y="412476"/>
                </a:cubicBezTo>
                <a:cubicBezTo>
                  <a:pt x="318800" y="409561"/>
                  <a:pt x="315400" y="403731"/>
                  <a:pt x="317829" y="396443"/>
                </a:cubicBezTo>
                <a:cubicBezTo>
                  <a:pt x="315885" y="392071"/>
                  <a:pt x="316371" y="386727"/>
                  <a:pt x="322687" y="382840"/>
                </a:cubicBezTo>
                <a:cubicBezTo>
                  <a:pt x="339691" y="372637"/>
                  <a:pt x="354752" y="359034"/>
                  <a:pt x="367384" y="343001"/>
                </a:cubicBezTo>
                <a:cubicBezTo>
                  <a:pt x="379044" y="327940"/>
                  <a:pt x="388275" y="311422"/>
                  <a:pt x="394105" y="293446"/>
                </a:cubicBezTo>
                <a:cubicBezTo>
                  <a:pt x="396534" y="285672"/>
                  <a:pt x="402850" y="284215"/>
                  <a:pt x="407709" y="285672"/>
                </a:cubicBezTo>
                <a:cubicBezTo>
                  <a:pt x="409652" y="283243"/>
                  <a:pt x="414510" y="282272"/>
                  <a:pt x="419369" y="283243"/>
                </a:cubicBezTo>
                <a:cubicBezTo>
                  <a:pt x="425199" y="284701"/>
                  <a:pt x="431029" y="286158"/>
                  <a:pt x="436373" y="288102"/>
                </a:cubicBezTo>
                <a:cubicBezTo>
                  <a:pt x="440260" y="289559"/>
                  <a:pt x="442689" y="290531"/>
                  <a:pt x="445118" y="291502"/>
                </a:cubicBezTo>
                <a:cubicBezTo>
                  <a:pt x="449491" y="293446"/>
                  <a:pt x="453377" y="294903"/>
                  <a:pt x="457750" y="295389"/>
                </a:cubicBezTo>
                <a:cubicBezTo>
                  <a:pt x="462122" y="296361"/>
                  <a:pt x="464066" y="294417"/>
                  <a:pt x="465523" y="292474"/>
                </a:cubicBezTo>
                <a:cubicBezTo>
                  <a:pt x="466981" y="290531"/>
                  <a:pt x="466981" y="289073"/>
                  <a:pt x="466009" y="287130"/>
                </a:cubicBezTo>
                <a:cubicBezTo>
                  <a:pt x="464552" y="284215"/>
                  <a:pt x="462608" y="282757"/>
                  <a:pt x="459207" y="282272"/>
                </a:cubicBezTo>
                <a:cubicBezTo>
                  <a:pt x="454349" y="281786"/>
                  <a:pt x="449491" y="281300"/>
                  <a:pt x="444632" y="280814"/>
                </a:cubicBezTo>
                <a:close/>
                <a:moveTo>
                  <a:pt x="246411" y="95710"/>
                </a:moveTo>
                <a:cubicBezTo>
                  <a:pt x="249811" y="92795"/>
                  <a:pt x="254184" y="93281"/>
                  <a:pt x="259042" y="94252"/>
                </a:cubicBezTo>
                <a:lnTo>
                  <a:pt x="259042" y="94252"/>
                </a:lnTo>
                <a:cubicBezTo>
                  <a:pt x="286249" y="99111"/>
                  <a:pt x="311513" y="111743"/>
                  <a:pt x="332890" y="131176"/>
                </a:cubicBezTo>
                <a:cubicBezTo>
                  <a:pt x="334347" y="132634"/>
                  <a:pt x="337748" y="135549"/>
                  <a:pt x="337262" y="139921"/>
                </a:cubicBezTo>
                <a:cubicBezTo>
                  <a:pt x="337262" y="144294"/>
                  <a:pt x="333376" y="147209"/>
                  <a:pt x="331918" y="148180"/>
                </a:cubicBezTo>
                <a:cubicBezTo>
                  <a:pt x="313942" y="160812"/>
                  <a:pt x="296452" y="173444"/>
                  <a:pt x="278476" y="186076"/>
                </a:cubicBezTo>
                <a:cubicBezTo>
                  <a:pt x="274103" y="188991"/>
                  <a:pt x="269731" y="190448"/>
                  <a:pt x="265358" y="190448"/>
                </a:cubicBezTo>
                <a:cubicBezTo>
                  <a:pt x="262443" y="190448"/>
                  <a:pt x="260014" y="189962"/>
                  <a:pt x="257099" y="188505"/>
                </a:cubicBezTo>
                <a:cubicBezTo>
                  <a:pt x="250297" y="185590"/>
                  <a:pt x="246411" y="179274"/>
                  <a:pt x="245925" y="170529"/>
                </a:cubicBezTo>
                <a:lnTo>
                  <a:pt x="242524" y="108828"/>
                </a:lnTo>
                <a:cubicBezTo>
                  <a:pt x="242524" y="102998"/>
                  <a:pt x="242524" y="98625"/>
                  <a:pt x="245925" y="95710"/>
                </a:cubicBezTo>
                <a:close/>
                <a:moveTo>
                  <a:pt x="249326" y="207938"/>
                </a:moveTo>
                <a:lnTo>
                  <a:pt x="269245" y="233202"/>
                </a:lnTo>
                <a:lnTo>
                  <a:pt x="262443" y="264781"/>
                </a:lnTo>
                <a:lnTo>
                  <a:pt x="233293" y="278871"/>
                </a:lnTo>
                <a:lnTo>
                  <a:pt x="204143" y="264781"/>
                </a:lnTo>
                <a:lnTo>
                  <a:pt x="196855" y="233202"/>
                </a:lnTo>
                <a:lnTo>
                  <a:pt x="216775" y="207938"/>
                </a:lnTo>
                <a:lnTo>
                  <a:pt x="249326" y="207938"/>
                </a:lnTo>
                <a:close/>
                <a:moveTo>
                  <a:pt x="130781" y="132148"/>
                </a:moveTo>
                <a:lnTo>
                  <a:pt x="136126" y="137492"/>
                </a:lnTo>
                <a:lnTo>
                  <a:pt x="131267" y="132148"/>
                </a:lnTo>
                <a:cubicBezTo>
                  <a:pt x="152158" y="112714"/>
                  <a:pt x="176936" y="100568"/>
                  <a:pt x="204629" y="95224"/>
                </a:cubicBezTo>
                <a:cubicBezTo>
                  <a:pt x="206572" y="95224"/>
                  <a:pt x="208029" y="94738"/>
                  <a:pt x="209001" y="94252"/>
                </a:cubicBezTo>
                <a:cubicBezTo>
                  <a:pt x="212888" y="93767"/>
                  <a:pt x="216289" y="93281"/>
                  <a:pt x="219690" y="96196"/>
                </a:cubicBezTo>
                <a:cubicBezTo>
                  <a:pt x="223090" y="99111"/>
                  <a:pt x="222605" y="102998"/>
                  <a:pt x="222605" y="106398"/>
                </a:cubicBezTo>
                <a:lnTo>
                  <a:pt x="221633" y="124374"/>
                </a:lnTo>
                <a:cubicBezTo>
                  <a:pt x="220661" y="140407"/>
                  <a:pt x="219690" y="156925"/>
                  <a:pt x="218718" y="172958"/>
                </a:cubicBezTo>
                <a:cubicBezTo>
                  <a:pt x="218718" y="180246"/>
                  <a:pt x="214345" y="186076"/>
                  <a:pt x="208029" y="188991"/>
                </a:cubicBezTo>
                <a:cubicBezTo>
                  <a:pt x="205600" y="190448"/>
                  <a:pt x="202685" y="190934"/>
                  <a:pt x="199770" y="190934"/>
                </a:cubicBezTo>
                <a:cubicBezTo>
                  <a:pt x="195884" y="190934"/>
                  <a:pt x="191997" y="189477"/>
                  <a:pt x="188596" y="187533"/>
                </a:cubicBezTo>
                <a:cubicBezTo>
                  <a:pt x="179365" y="180731"/>
                  <a:pt x="169648" y="174416"/>
                  <a:pt x="160417" y="167614"/>
                </a:cubicBezTo>
                <a:cubicBezTo>
                  <a:pt x="151187" y="160812"/>
                  <a:pt x="141470" y="154496"/>
                  <a:pt x="132239" y="147695"/>
                </a:cubicBezTo>
                <a:cubicBezTo>
                  <a:pt x="129324" y="145751"/>
                  <a:pt x="127866" y="143322"/>
                  <a:pt x="127380" y="140407"/>
                </a:cubicBezTo>
                <a:cubicBezTo>
                  <a:pt x="127380" y="136034"/>
                  <a:pt x="129810" y="133605"/>
                  <a:pt x="131267" y="132634"/>
                </a:cubicBezTo>
                <a:close/>
                <a:moveTo>
                  <a:pt x="85113" y="256522"/>
                </a:moveTo>
                <a:cubicBezTo>
                  <a:pt x="83169" y="246805"/>
                  <a:pt x="83655" y="237574"/>
                  <a:pt x="84141" y="229801"/>
                </a:cubicBezTo>
                <a:cubicBezTo>
                  <a:pt x="85598" y="206967"/>
                  <a:pt x="92400" y="185590"/>
                  <a:pt x="103574" y="166156"/>
                </a:cubicBezTo>
                <a:cubicBezTo>
                  <a:pt x="104546" y="164699"/>
                  <a:pt x="106489" y="160812"/>
                  <a:pt x="110862" y="160326"/>
                </a:cubicBezTo>
                <a:cubicBezTo>
                  <a:pt x="115235" y="159841"/>
                  <a:pt x="118150" y="162270"/>
                  <a:pt x="119607" y="163241"/>
                </a:cubicBezTo>
                <a:cubicBezTo>
                  <a:pt x="136126" y="178302"/>
                  <a:pt x="152644" y="192877"/>
                  <a:pt x="169162" y="207453"/>
                </a:cubicBezTo>
                <a:cubicBezTo>
                  <a:pt x="175964" y="213283"/>
                  <a:pt x="178393" y="220084"/>
                  <a:pt x="176450" y="227858"/>
                </a:cubicBezTo>
                <a:cubicBezTo>
                  <a:pt x="174021" y="239032"/>
                  <a:pt x="164304" y="241461"/>
                  <a:pt x="160903" y="242433"/>
                </a:cubicBezTo>
                <a:cubicBezTo>
                  <a:pt x="144871" y="246805"/>
                  <a:pt x="128838" y="251664"/>
                  <a:pt x="112320" y="256522"/>
                </a:cubicBezTo>
                <a:lnTo>
                  <a:pt x="86570" y="263810"/>
                </a:lnTo>
                <a:lnTo>
                  <a:pt x="85113" y="256036"/>
                </a:lnTo>
                <a:close/>
                <a:moveTo>
                  <a:pt x="164790" y="358062"/>
                </a:moveTo>
                <a:cubicBezTo>
                  <a:pt x="164790" y="358062"/>
                  <a:pt x="162361" y="363892"/>
                  <a:pt x="157988" y="365350"/>
                </a:cubicBezTo>
                <a:cubicBezTo>
                  <a:pt x="157017" y="365350"/>
                  <a:pt x="156045" y="365350"/>
                  <a:pt x="155559" y="365350"/>
                </a:cubicBezTo>
                <a:cubicBezTo>
                  <a:pt x="152158" y="365350"/>
                  <a:pt x="149729" y="363406"/>
                  <a:pt x="148271" y="362435"/>
                </a:cubicBezTo>
                <a:cubicBezTo>
                  <a:pt x="123980" y="345430"/>
                  <a:pt x="105518" y="322596"/>
                  <a:pt x="94344" y="294903"/>
                </a:cubicBezTo>
                <a:cubicBezTo>
                  <a:pt x="93372" y="292960"/>
                  <a:pt x="91914" y="289073"/>
                  <a:pt x="94344" y="285672"/>
                </a:cubicBezTo>
                <a:cubicBezTo>
                  <a:pt x="95801" y="283243"/>
                  <a:pt x="98230" y="281300"/>
                  <a:pt x="102117" y="280814"/>
                </a:cubicBezTo>
                <a:cubicBezTo>
                  <a:pt x="119121" y="277899"/>
                  <a:pt x="136611" y="274984"/>
                  <a:pt x="153616" y="272069"/>
                </a:cubicBezTo>
                <a:lnTo>
                  <a:pt x="172563" y="269154"/>
                </a:lnTo>
                <a:cubicBezTo>
                  <a:pt x="178393" y="268668"/>
                  <a:pt x="183738" y="271583"/>
                  <a:pt x="187624" y="275956"/>
                </a:cubicBezTo>
                <a:cubicBezTo>
                  <a:pt x="191511" y="280328"/>
                  <a:pt x="192969" y="286158"/>
                  <a:pt x="191997" y="291988"/>
                </a:cubicBezTo>
                <a:lnTo>
                  <a:pt x="191997" y="291988"/>
                </a:lnTo>
                <a:cubicBezTo>
                  <a:pt x="191997" y="291988"/>
                  <a:pt x="190539" y="296361"/>
                  <a:pt x="190053" y="298790"/>
                </a:cubicBezTo>
                <a:lnTo>
                  <a:pt x="182766" y="316766"/>
                </a:lnTo>
                <a:cubicBezTo>
                  <a:pt x="176936" y="330369"/>
                  <a:pt x="171592" y="343973"/>
                  <a:pt x="165762" y="358062"/>
                </a:cubicBezTo>
                <a:close/>
                <a:moveTo>
                  <a:pt x="283820" y="377010"/>
                </a:moveTo>
                <a:cubicBezTo>
                  <a:pt x="281877" y="381382"/>
                  <a:pt x="277504" y="382840"/>
                  <a:pt x="276047" y="383326"/>
                </a:cubicBezTo>
                <a:cubicBezTo>
                  <a:pt x="261472" y="387212"/>
                  <a:pt x="247382" y="389642"/>
                  <a:pt x="232807" y="389642"/>
                </a:cubicBezTo>
                <a:cubicBezTo>
                  <a:pt x="217746" y="389642"/>
                  <a:pt x="203171" y="387212"/>
                  <a:pt x="188596" y="382840"/>
                </a:cubicBezTo>
                <a:cubicBezTo>
                  <a:pt x="187138" y="382840"/>
                  <a:pt x="183252" y="381382"/>
                  <a:pt x="181308" y="377010"/>
                </a:cubicBezTo>
                <a:cubicBezTo>
                  <a:pt x="179851" y="373123"/>
                  <a:pt x="181308" y="369236"/>
                  <a:pt x="182280" y="367779"/>
                </a:cubicBezTo>
                <a:cubicBezTo>
                  <a:pt x="189082" y="355633"/>
                  <a:pt x="195398" y="343973"/>
                  <a:pt x="202199" y="331827"/>
                </a:cubicBezTo>
                <a:lnTo>
                  <a:pt x="214831" y="308993"/>
                </a:lnTo>
                <a:cubicBezTo>
                  <a:pt x="218718" y="302191"/>
                  <a:pt x="225034" y="298304"/>
                  <a:pt x="231836" y="298304"/>
                </a:cubicBezTo>
                <a:lnTo>
                  <a:pt x="231836" y="298304"/>
                </a:lnTo>
                <a:cubicBezTo>
                  <a:pt x="238637" y="298304"/>
                  <a:pt x="244953" y="302191"/>
                  <a:pt x="248840" y="308993"/>
                </a:cubicBezTo>
                <a:cubicBezTo>
                  <a:pt x="254670" y="318709"/>
                  <a:pt x="260014" y="328912"/>
                  <a:pt x="265358" y="338629"/>
                </a:cubicBezTo>
                <a:lnTo>
                  <a:pt x="274589" y="355633"/>
                </a:lnTo>
                <a:cubicBezTo>
                  <a:pt x="276533" y="359520"/>
                  <a:pt x="278962" y="363406"/>
                  <a:pt x="280905" y="367293"/>
                </a:cubicBezTo>
                <a:cubicBezTo>
                  <a:pt x="281877" y="368751"/>
                  <a:pt x="284306" y="372637"/>
                  <a:pt x="282363" y="377010"/>
                </a:cubicBezTo>
                <a:close/>
                <a:moveTo>
                  <a:pt x="371757" y="294417"/>
                </a:moveTo>
                <a:cubicBezTo>
                  <a:pt x="360582" y="323082"/>
                  <a:pt x="341635" y="346402"/>
                  <a:pt x="316857" y="363892"/>
                </a:cubicBezTo>
                <a:cubicBezTo>
                  <a:pt x="315885" y="364378"/>
                  <a:pt x="313456" y="366321"/>
                  <a:pt x="310541" y="366321"/>
                </a:cubicBezTo>
                <a:cubicBezTo>
                  <a:pt x="309569" y="366321"/>
                  <a:pt x="309084" y="366321"/>
                  <a:pt x="308112" y="366321"/>
                </a:cubicBezTo>
                <a:cubicBezTo>
                  <a:pt x="303739" y="364864"/>
                  <a:pt x="302282" y="360977"/>
                  <a:pt x="301796" y="360005"/>
                </a:cubicBezTo>
                <a:cubicBezTo>
                  <a:pt x="294994" y="343487"/>
                  <a:pt x="288193" y="326969"/>
                  <a:pt x="281391" y="310450"/>
                </a:cubicBezTo>
                <a:lnTo>
                  <a:pt x="275561" y="296361"/>
                </a:lnTo>
                <a:cubicBezTo>
                  <a:pt x="275561" y="296361"/>
                  <a:pt x="273618" y="291017"/>
                  <a:pt x="274103" y="287616"/>
                </a:cubicBezTo>
                <a:cubicBezTo>
                  <a:pt x="274103" y="282757"/>
                  <a:pt x="276533" y="277413"/>
                  <a:pt x="280905" y="273526"/>
                </a:cubicBezTo>
                <a:cubicBezTo>
                  <a:pt x="285278" y="270126"/>
                  <a:pt x="290622" y="268668"/>
                  <a:pt x="296452" y="269640"/>
                </a:cubicBezTo>
                <a:lnTo>
                  <a:pt x="363983" y="281300"/>
                </a:lnTo>
                <a:cubicBezTo>
                  <a:pt x="363983" y="281300"/>
                  <a:pt x="369328" y="282272"/>
                  <a:pt x="371757" y="286158"/>
                </a:cubicBezTo>
                <a:cubicBezTo>
                  <a:pt x="373214" y="288587"/>
                  <a:pt x="373214" y="291502"/>
                  <a:pt x="371757" y="294903"/>
                </a:cubicBezTo>
                <a:lnTo>
                  <a:pt x="371757" y="294903"/>
                </a:lnTo>
                <a:close/>
                <a:moveTo>
                  <a:pt x="380988" y="253121"/>
                </a:moveTo>
                <a:cubicBezTo>
                  <a:pt x="380988" y="256522"/>
                  <a:pt x="379530" y="258951"/>
                  <a:pt x="377101" y="260409"/>
                </a:cubicBezTo>
                <a:cubicBezTo>
                  <a:pt x="375643" y="261380"/>
                  <a:pt x="373700" y="261866"/>
                  <a:pt x="372242" y="261866"/>
                </a:cubicBezTo>
                <a:cubicBezTo>
                  <a:pt x="370785" y="261866"/>
                  <a:pt x="369328" y="261866"/>
                  <a:pt x="368842" y="261380"/>
                </a:cubicBezTo>
                <a:lnTo>
                  <a:pt x="347465" y="255065"/>
                </a:lnTo>
                <a:cubicBezTo>
                  <a:pt x="332404" y="250692"/>
                  <a:pt x="317829" y="246320"/>
                  <a:pt x="302768" y="241947"/>
                </a:cubicBezTo>
                <a:cubicBezTo>
                  <a:pt x="295480" y="240004"/>
                  <a:pt x="290136" y="234659"/>
                  <a:pt x="288678" y="227858"/>
                </a:cubicBezTo>
                <a:cubicBezTo>
                  <a:pt x="287221" y="221056"/>
                  <a:pt x="289650" y="213768"/>
                  <a:pt x="295480" y="208910"/>
                </a:cubicBezTo>
                <a:lnTo>
                  <a:pt x="346007" y="163727"/>
                </a:lnTo>
                <a:cubicBezTo>
                  <a:pt x="346007" y="163727"/>
                  <a:pt x="350380" y="159841"/>
                  <a:pt x="354752" y="160812"/>
                </a:cubicBezTo>
                <a:cubicBezTo>
                  <a:pt x="359125" y="161298"/>
                  <a:pt x="361068" y="165185"/>
                  <a:pt x="362040" y="166642"/>
                </a:cubicBezTo>
                <a:cubicBezTo>
                  <a:pt x="373214" y="186076"/>
                  <a:pt x="380016" y="206967"/>
                  <a:pt x="381473" y="228829"/>
                </a:cubicBezTo>
                <a:cubicBezTo>
                  <a:pt x="381473" y="234174"/>
                  <a:pt x="382445" y="238060"/>
                  <a:pt x="381959" y="241947"/>
                </a:cubicBezTo>
                <a:cubicBezTo>
                  <a:pt x="381959" y="246320"/>
                  <a:pt x="381959" y="249720"/>
                  <a:pt x="381473" y="25360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3" name="Google Shape;3433;p88"/>
          <p:cNvSpPr/>
          <p:nvPr/>
        </p:nvSpPr>
        <p:spPr>
          <a:xfrm>
            <a:off x="8546650" y="3182841"/>
            <a:ext cx="314932" cy="306639"/>
          </a:xfrm>
          <a:custGeom>
            <a:avLst/>
            <a:gdLst/>
            <a:ahLst/>
            <a:cxnLst/>
            <a:rect l="l" t="t" r="r" b="b"/>
            <a:pathLst>
              <a:path w="682601" h="664625" extrusionOk="0">
                <a:moveTo>
                  <a:pt x="614584" y="131662"/>
                </a:moveTo>
                <a:lnTo>
                  <a:pt x="341058" y="0"/>
                </a:lnTo>
                <a:lnTo>
                  <a:pt x="67531" y="131662"/>
                </a:lnTo>
                <a:lnTo>
                  <a:pt x="0" y="427537"/>
                </a:lnTo>
                <a:lnTo>
                  <a:pt x="189477" y="664626"/>
                </a:lnTo>
                <a:lnTo>
                  <a:pt x="493125" y="664626"/>
                </a:lnTo>
                <a:lnTo>
                  <a:pt x="682601" y="427537"/>
                </a:lnTo>
                <a:lnTo>
                  <a:pt x="615070" y="131662"/>
                </a:lnTo>
                <a:close/>
                <a:moveTo>
                  <a:pt x="584462" y="407618"/>
                </a:moveTo>
                <a:cubicBezTo>
                  <a:pt x="579118" y="413933"/>
                  <a:pt x="571831" y="416848"/>
                  <a:pt x="563085" y="415877"/>
                </a:cubicBezTo>
                <a:cubicBezTo>
                  <a:pt x="557255" y="414905"/>
                  <a:pt x="551911" y="412962"/>
                  <a:pt x="547053" y="411018"/>
                </a:cubicBezTo>
                <a:cubicBezTo>
                  <a:pt x="544624" y="410047"/>
                  <a:pt x="542680" y="409075"/>
                  <a:pt x="540251" y="408103"/>
                </a:cubicBezTo>
                <a:cubicBezTo>
                  <a:pt x="533935" y="406160"/>
                  <a:pt x="529077" y="404217"/>
                  <a:pt x="523733" y="403245"/>
                </a:cubicBezTo>
                <a:cubicBezTo>
                  <a:pt x="519846" y="405188"/>
                  <a:pt x="516931" y="405674"/>
                  <a:pt x="514988" y="405674"/>
                </a:cubicBezTo>
                <a:cubicBezTo>
                  <a:pt x="508186" y="424136"/>
                  <a:pt x="498955" y="441626"/>
                  <a:pt x="486809" y="457173"/>
                </a:cubicBezTo>
                <a:cubicBezTo>
                  <a:pt x="473691" y="474177"/>
                  <a:pt x="458145" y="488267"/>
                  <a:pt x="440654" y="498955"/>
                </a:cubicBezTo>
                <a:cubicBezTo>
                  <a:pt x="441140" y="501870"/>
                  <a:pt x="440654" y="504299"/>
                  <a:pt x="440169" y="505757"/>
                </a:cubicBezTo>
                <a:cubicBezTo>
                  <a:pt x="440169" y="506728"/>
                  <a:pt x="439683" y="507700"/>
                  <a:pt x="441626" y="511101"/>
                </a:cubicBezTo>
                <a:cubicBezTo>
                  <a:pt x="445027" y="517903"/>
                  <a:pt x="449400" y="524704"/>
                  <a:pt x="454258" y="531992"/>
                </a:cubicBezTo>
                <a:cubicBezTo>
                  <a:pt x="457173" y="536364"/>
                  <a:pt x="460574" y="541223"/>
                  <a:pt x="462031" y="547539"/>
                </a:cubicBezTo>
                <a:cubicBezTo>
                  <a:pt x="464461" y="557255"/>
                  <a:pt x="460574" y="566972"/>
                  <a:pt x="452315" y="571831"/>
                </a:cubicBezTo>
                <a:cubicBezTo>
                  <a:pt x="444055" y="576689"/>
                  <a:pt x="433853" y="574746"/>
                  <a:pt x="426565" y="567458"/>
                </a:cubicBezTo>
                <a:cubicBezTo>
                  <a:pt x="421707" y="562114"/>
                  <a:pt x="419763" y="556284"/>
                  <a:pt x="417820" y="550454"/>
                </a:cubicBezTo>
                <a:cubicBezTo>
                  <a:pt x="415391" y="542680"/>
                  <a:pt x="412476" y="532964"/>
                  <a:pt x="408103" y="524218"/>
                </a:cubicBezTo>
                <a:cubicBezTo>
                  <a:pt x="407132" y="522275"/>
                  <a:pt x="406646" y="522275"/>
                  <a:pt x="406160" y="522275"/>
                </a:cubicBezTo>
                <a:cubicBezTo>
                  <a:pt x="402759" y="521303"/>
                  <a:pt x="400816" y="519846"/>
                  <a:pt x="399844" y="518388"/>
                </a:cubicBezTo>
                <a:cubicBezTo>
                  <a:pt x="360005" y="531506"/>
                  <a:pt x="320167" y="531506"/>
                  <a:pt x="280814" y="518388"/>
                </a:cubicBezTo>
                <a:cubicBezTo>
                  <a:pt x="278871" y="521303"/>
                  <a:pt x="275956" y="522275"/>
                  <a:pt x="274498" y="522761"/>
                </a:cubicBezTo>
                <a:cubicBezTo>
                  <a:pt x="274012" y="522761"/>
                  <a:pt x="273526" y="522761"/>
                  <a:pt x="272069" y="526162"/>
                </a:cubicBezTo>
                <a:cubicBezTo>
                  <a:pt x="268668" y="533449"/>
                  <a:pt x="265753" y="541709"/>
                  <a:pt x="263324" y="550454"/>
                </a:cubicBezTo>
                <a:cubicBezTo>
                  <a:pt x="261866" y="555312"/>
                  <a:pt x="259923" y="559685"/>
                  <a:pt x="257980" y="563571"/>
                </a:cubicBezTo>
                <a:cubicBezTo>
                  <a:pt x="253607" y="570859"/>
                  <a:pt x="246320" y="574746"/>
                  <a:pt x="239032" y="574746"/>
                </a:cubicBezTo>
                <a:cubicBezTo>
                  <a:pt x="236117" y="574746"/>
                  <a:pt x="233202" y="574260"/>
                  <a:pt x="230287" y="572802"/>
                </a:cubicBezTo>
                <a:cubicBezTo>
                  <a:pt x="220570" y="567944"/>
                  <a:pt x="216198" y="556284"/>
                  <a:pt x="220084" y="545595"/>
                </a:cubicBezTo>
                <a:cubicBezTo>
                  <a:pt x="222028" y="540251"/>
                  <a:pt x="224943" y="535879"/>
                  <a:pt x="227372" y="532478"/>
                </a:cubicBezTo>
                <a:cubicBezTo>
                  <a:pt x="233202" y="524218"/>
                  <a:pt x="237574" y="516931"/>
                  <a:pt x="240975" y="510129"/>
                </a:cubicBezTo>
                <a:cubicBezTo>
                  <a:pt x="241947" y="508186"/>
                  <a:pt x="241947" y="507700"/>
                  <a:pt x="241461" y="507214"/>
                </a:cubicBezTo>
                <a:cubicBezTo>
                  <a:pt x="240004" y="504299"/>
                  <a:pt x="240004" y="501384"/>
                  <a:pt x="240975" y="498955"/>
                </a:cubicBezTo>
                <a:cubicBezTo>
                  <a:pt x="205995" y="476121"/>
                  <a:pt x="181217" y="445027"/>
                  <a:pt x="166642" y="406160"/>
                </a:cubicBezTo>
                <a:cubicBezTo>
                  <a:pt x="163241" y="406160"/>
                  <a:pt x="160326" y="404703"/>
                  <a:pt x="157897" y="403245"/>
                </a:cubicBezTo>
                <a:cubicBezTo>
                  <a:pt x="157897" y="403245"/>
                  <a:pt x="156440" y="403245"/>
                  <a:pt x="155468" y="403731"/>
                </a:cubicBezTo>
                <a:cubicBezTo>
                  <a:pt x="147209" y="405674"/>
                  <a:pt x="139921" y="408103"/>
                  <a:pt x="131176" y="411990"/>
                </a:cubicBezTo>
                <a:cubicBezTo>
                  <a:pt x="125832" y="414419"/>
                  <a:pt x="120002" y="416363"/>
                  <a:pt x="113200" y="416363"/>
                </a:cubicBezTo>
                <a:cubicBezTo>
                  <a:pt x="102512" y="416363"/>
                  <a:pt x="93767" y="409561"/>
                  <a:pt x="91823" y="399844"/>
                </a:cubicBezTo>
                <a:cubicBezTo>
                  <a:pt x="89880" y="390127"/>
                  <a:pt x="95710" y="379925"/>
                  <a:pt x="104941" y="376038"/>
                </a:cubicBezTo>
                <a:cubicBezTo>
                  <a:pt x="109799" y="374095"/>
                  <a:pt x="114658" y="373123"/>
                  <a:pt x="120974" y="372637"/>
                </a:cubicBezTo>
                <a:cubicBezTo>
                  <a:pt x="129719" y="372637"/>
                  <a:pt x="138464" y="371180"/>
                  <a:pt x="146723" y="369236"/>
                </a:cubicBezTo>
                <a:cubicBezTo>
                  <a:pt x="149638" y="368751"/>
                  <a:pt x="150124" y="368265"/>
                  <a:pt x="150124" y="367779"/>
                </a:cubicBezTo>
                <a:cubicBezTo>
                  <a:pt x="151095" y="365836"/>
                  <a:pt x="152553" y="363892"/>
                  <a:pt x="155468" y="362435"/>
                </a:cubicBezTo>
                <a:cubicBezTo>
                  <a:pt x="151095" y="321138"/>
                  <a:pt x="159840" y="282271"/>
                  <a:pt x="181703" y="246320"/>
                </a:cubicBezTo>
                <a:cubicBezTo>
                  <a:pt x="180246" y="244376"/>
                  <a:pt x="179274" y="241947"/>
                  <a:pt x="179274" y="239518"/>
                </a:cubicBezTo>
                <a:cubicBezTo>
                  <a:pt x="179274" y="238546"/>
                  <a:pt x="179274" y="238060"/>
                  <a:pt x="175873" y="235631"/>
                </a:cubicBezTo>
                <a:cubicBezTo>
                  <a:pt x="170043" y="231259"/>
                  <a:pt x="163241" y="226886"/>
                  <a:pt x="155954" y="222999"/>
                </a:cubicBezTo>
                <a:cubicBezTo>
                  <a:pt x="151581" y="220570"/>
                  <a:pt x="146723" y="217655"/>
                  <a:pt x="142350" y="213283"/>
                </a:cubicBezTo>
                <a:cubicBezTo>
                  <a:pt x="134577" y="205509"/>
                  <a:pt x="133119" y="193363"/>
                  <a:pt x="139921" y="185104"/>
                </a:cubicBezTo>
                <a:cubicBezTo>
                  <a:pt x="146237" y="176359"/>
                  <a:pt x="158383" y="174416"/>
                  <a:pt x="168100" y="180246"/>
                </a:cubicBezTo>
                <a:cubicBezTo>
                  <a:pt x="173444" y="183161"/>
                  <a:pt x="177331" y="187533"/>
                  <a:pt x="181217" y="191906"/>
                </a:cubicBezTo>
                <a:cubicBezTo>
                  <a:pt x="187533" y="199193"/>
                  <a:pt x="193363" y="204538"/>
                  <a:pt x="199193" y="208910"/>
                </a:cubicBezTo>
                <a:cubicBezTo>
                  <a:pt x="199193" y="208910"/>
                  <a:pt x="200651" y="210368"/>
                  <a:pt x="201137" y="209882"/>
                </a:cubicBezTo>
                <a:cubicBezTo>
                  <a:pt x="204052" y="208910"/>
                  <a:pt x="206481" y="209882"/>
                  <a:pt x="208910" y="210853"/>
                </a:cubicBezTo>
                <a:cubicBezTo>
                  <a:pt x="239518" y="181217"/>
                  <a:pt x="274984" y="164213"/>
                  <a:pt x="316280" y="159355"/>
                </a:cubicBezTo>
                <a:cubicBezTo>
                  <a:pt x="316280" y="159355"/>
                  <a:pt x="316280" y="159355"/>
                  <a:pt x="316280" y="159355"/>
                </a:cubicBezTo>
                <a:cubicBezTo>
                  <a:pt x="316766" y="156925"/>
                  <a:pt x="318709" y="154010"/>
                  <a:pt x="320653" y="152067"/>
                </a:cubicBezTo>
                <a:cubicBezTo>
                  <a:pt x="320653" y="152067"/>
                  <a:pt x="320653" y="152067"/>
                  <a:pt x="320653" y="150610"/>
                </a:cubicBezTo>
                <a:cubicBezTo>
                  <a:pt x="320653" y="141379"/>
                  <a:pt x="319195" y="132148"/>
                  <a:pt x="317738" y="123889"/>
                </a:cubicBezTo>
                <a:cubicBezTo>
                  <a:pt x="316766" y="118058"/>
                  <a:pt x="316766" y="113200"/>
                  <a:pt x="317252" y="108828"/>
                </a:cubicBezTo>
                <a:cubicBezTo>
                  <a:pt x="318709" y="97167"/>
                  <a:pt x="327454" y="88908"/>
                  <a:pt x="339114" y="89394"/>
                </a:cubicBezTo>
                <a:cubicBezTo>
                  <a:pt x="348831" y="89394"/>
                  <a:pt x="357090" y="97653"/>
                  <a:pt x="358548" y="107370"/>
                </a:cubicBezTo>
                <a:lnTo>
                  <a:pt x="360977" y="107370"/>
                </a:lnTo>
                <a:lnTo>
                  <a:pt x="358062" y="122431"/>
                </a:lnTo>
                <a:cubicBezTo>
                  <a:pt x="357576" y="128261"/>
                  <a:pt x="356605" y="134091"/>
                  <a:pt x="355633" y="139921"/>
                </a:cubicBezTo>
                <a:cubicBezTo>
                  <a:pt x="355633" y="143322"/>
                  <a:pt x="355633" y="146723"/>
                  <a:pt x="355633" y="150124"/>
                </a:cubicBezTo>
                <a:lnTo>
                  <a:pt x="355633" y="152553"/>
                </a:lnTo>
                <a:cubicBezTo>
                  <a:pt x="355633" y="152553"/>
                  <a:pt x="359034" y="155954"/>
                  <a:pt x="360005" y="159840"/>
                </a:cubicBezTo>
                <a:cubicBezTo>
                  <a:pt x="374095" y="161784"/>
                  <a:pt x="385755" y="164213"/>
                  <a:pt x="396443" y="168100"/>
                </a:cubicBezTo>
                <a:cubicBezTo>
                  <a:pt x="423164" y="177331"/>
                  <a:pt x="446970" y="191906"/>
                  <a:pt x="467376" y="211339"/>
                </a:cubicBezTo>
                <a:cubicBezTo>
                  <a:pt x="469805" y="209882"/>
                  <a:pt x="472234" y="209396"/>
                  <a:pt x="475149" y="209882"/>
                </a:cubicBezTo>
                <a:cubicBezTo>
                  <a:pt x="475149" y="209882"/>
                  <a:pt x="476121" y="209882"/>
                  <a:pt x="478550" y="207938"/>
                </a:cubicBezTo>
                <a:cubicBezTo>
                  <a:pt x="484380" y="203080"/>
                  <a:pt x="490210" y="197250"/>
                  <a:pt x="496040" y="190934"/>
                </a:cubicBezTo>
                <a:cubicBezTo>
                  <a:pt x="499441" y="187047"/>
                  <a:pt x="503328" y="182675"/>
                  <a:pt x="508672" y="179760"/>
                </a:cubicBezTo>
                <a:cubicBezTo>
                  <a:pt x="514988" y="175873"/>
                  <a:pt x="522761" y="175387"/>
                  <a:pt x="529563" y="178302"/>
                </a:cubicBezTo>
                <a:cubicBezTo>
                  <a:pt x="535393" y="181217"/>
                  <a:pt x="539765" y="186562"/>
                  <a:pt x="541223" y="193363"/>
                </a:cubicBezTo>
                <a:cubicBezTo>
                  <a:pt x="542195" y="198707"/>
                  <a:pt x="541223" y="205995"/>
                  <a:pt x="533935" y="213768"/>
                </a:cubicBezTo>
                <a:cubicBezTo>
                  <a:pt x="530049" y="217655"/>
                  <a:pt x="525190" y="220570"/>
                  <a:pt x="520818" y="222513"/>
                </a:cubicBezTo>
                <a:cubicBezTo>
                  <a:pt x="512073" y="227372"/>
                  <a:pt x="505271" y="231744"/>
                  <a:pt x="499927" y="236603"/>
                </a:cubicBezTo>
                <a:cubicBezTo>
                  <a:pt x="498469" y="238060"/>
                  <a:pt x="498469" y="238546"/>
                  <a:pt x="498469" y="239032"/>
                </a:cubicBezTo>
                <a:cubicBezTo>
                  <a:pt x="498469" y="241947"/>
                  <a:pt x="497497" y="244376"/>
                  <a:pt x="495554" y="246320"/>
                </a:cubicBezTo>
                <a:cubicBezTo>
                  <a:pt x="512073" y="273526"/>
                  <a:pt x="521303" y="302677"/>
                  <a:pt x="523247" y="333770"/>
                </a:cubicBezTo>
                <a:cubicBezTo>
                  <a:pt x="523733" y="343001"/>
                  <a:pt x="523247" y="352232"/>
                  <a:pt x="522275" y="361949"/>
                </a:cubicBezTo>
                <a:cubicBezTo>
                  <a:pt x="525190" y="362921"/>
                  <a:pt x="526162" y="365350"/>
                  <a:pt x="527134" y="366321"/>
                </a:cubicBezTo>
                <a:cubicBezTo>
                  <a:pt x="528105" y="368265"/>
                  <a:pt x="529563" y="368751"/>
                  <a:pt x="534907" y="369236"/>
                </a:cubicBezTo>
                <a:cubicBezTo>
                  <a:pt x="541709" y="370208"/>
                  <a:pt x="546567" y="370694"/>
                  <a:pt x="551911" y="371180"/>
                </a:cubicBezTo>
                <a:cubicBezTo>
                  <a:pt x="556770" y="371666"/>
                  <a:pt x="561628" y="372151"/>
                  <a:pt x="566972" y="373123"/>
                </a:cubicBezTo>
                <a:cubicBezTo>
                  <a:pt x="575231" y="374095"/>
                  <a:pt x="581547" y="378953"/>
                  <a:pt x="584948" y="386241"/>
                </a:cubicBezTo>
                <a:lnTo>
                  <a:pt x="584948" y="386241"/>
                </a:lnTo>
                <a:cubicBezTo>
                  <a:pt x="588349" y="393528"/>
                  <a:pt x="587377" y="400816"/>
                  <a:pt x="582519" y="4071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4" name="Google Shape;3434;p88"/>
          <p:cNvSpPr/>
          <p:nvPr/>
        </p:nvSpPr>
        <p:spPr>
          <a:xfrm>
            <a:off x="8765646" y="3346471"/>
            <a:ext cx="3362" cy="224"/>
          </a:xfrm>
          <a:custGeom>
            <a:avLst/>
            <a:gdLst/>
            <a:ahLst/>
            <a:cxnLst/>
            <a:rect l="l" t="t" r="r" b="b"/>
            <a:pathLst>
              <a:path w="7287" h="485" extrusionOk="0">
                <a:moveTo>
                  <a:pt x="0" y="0"/>
                </a:moveTo>
                <a:lnTo>
                  <a:pt x="7288" y="48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5" name="Google Shape;3435;p88"/>
          <p:cNvSpPr/>
          <p:nvPr/>
        </p:nvSpPr>
        <p:spPr>
          <a:xfrm>
            <a:off x="8697952" y="3336161"/>
            <a:ext cx="12104" cy="11880"/>
          </a:xfrm>
          <a:custGeom>
            <a:avLst/>
            <a:gdLst/>
            <a:ahLst/>
            <a:cxnLst/>
            <a:rect l="l" t="t" r="r" b="b"/>
            <a:pathLst>
              <a:path w="26235" h="25749" extrusionOk="0">
                <a:moveTo>
                  <a:pt x="13118" y="25749"/>
                </a:moveTo>
                <a:lnTo>
                  <a:pt x="23806" y="20405"/>
                </a:lnTo>
                <a:lnTo>
                  <a:pt x="26235" y="9231"/>
                </a:lnTo>
                <a:lnTo>
                  <a:pt x="18948" y="0"/>
                </a:lnTo>
                <a:lnTo>
                  <a:pt x="7288" y="0"/>
                </a:lnTo>
                <a:lnTo>
                  <a:pt x="0" y="9231"/>
                </a:lnTo>
                <a:lnTo>
                  <a:pt x="2429" y="20405"/>
                </a:lnTo>
                <a:lnTo>
                  <a:pt x="13118" y="2574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6" name="Google Shape;3436;p88"/>
          <p:cNvSpPr/>
          <p:nvPr/>
        </p:nvSpPr>
        <p:spPr>
          <a:xfrm>
            <a:off x="8736476" y="3312401"/>
            <a:ext cx="29393" cy="30933"/>
          </a:xfrm>
          <a:custGeom>
            <a:avLst/>
            <a:gdLst/>
            <a:ahLst/>
            <a:cxnLst/>
            <a:rect l="l" t="t" r="r" b="b"/>
            <a:pathLst>
              <a:path w="63708" h="67045" extrusionOk="0">
                <a:moveTo>
                  <a:pt x="63709" y="63645"/>
                </a:moveTo>
                <a:cubicBezTo>
                  <a:pt x="63709" y="59758"/>
                  <a:pt x="63709" y="56357"/>
                  <a:pt x="63223" y="52956"/>
                </a:cubicBezTo>
                <a:cubicBezTo>
                  <a:pt x="61766" y="34009"/>
                  <a:pt x="56421" y="16518"/>
                  <a:pt x="48162" y="0"/>
                </a:cubicBezTo>
                <a:lnTo>
                  <a:pt x="2008" y="41296"/>
                </a:lnTo>
                <a:cubicBezTo>
                  <a:pt x="2008" y="41296"/>
                  <a:pt x="-422" y="44697"/>
                  <a:pt x="64" y="46155"/>
                </a:cubicBezTo>
                <a:cubicBezTo>
                  <a:pt x="64" y="47612"/>
                  <a:pt x="2008" y="49070"/>
                  <a:pt x="3951" y="49555"/>
                </a:cubicBezTo>
                <a:cubicBezTo>
                  <a:pt x="18526" y="53928"/>
                  <a:pt x="33587" y="58300"/>
                  <a:pt x="48162" y="62673"/>
                </a:cubicBezTo>
                <a:lnTo>
                  <a:pt x="63709" y="67046"/>
                </a:lnTo>
                <a:cubicBezTo>
                  <a:pt x="63709" y="67046"/>
                  <a:pt x="63709" y="64616"/>
                  <a:pt x="63709" y="6315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7" name="Google Shape;3437;p88"/>
          <p:cNvSpPr txBox="1"/>
          <p:nvPr/>
        </p:nvSpPr>
        <p:spPr>
          <a:xfrm>
            <a:off x="10136982" y="2532607"/>
            <a:ext cx="158733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8" name="Google Shape;3438;p88"/>
          <p:cNvSpPr txBox="1"/>
          <p:nvPr/>
        </p:nvSpPr>
        <p:spPr>
          <a:xfrm>
            <a:off x="3653295" y="3735119"/>
            <a:ext cx="12530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VM2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9" name="Google Shape;3439;p88"/>
          <p:cNvSpPr/>
          <p:nvPr/>
        </p:nvSpPr>
        <p:spPr>
          <a:xfrm>
            <a:off x="4053957" y="3210713"/>
            <a:ext cx="451699" cy="452016"/>
          </a:xfrm>
          <a:custGeom>
            <a:avLst/>
            <a:gdLst/>
            <a:ahLst/>
            <a:cxnLst/>
            <a:rect l="l" t="t" r="r" b="b"/>
            <a:pathLst>
              <a:path w="583799" h="584209" extrusionOk="0">
                <a:moveTo>
                  <a:pt x="491426" y="584210"/>
                </a:moveTo>
                <a:lnTo>
                  <a:pt x="0" y="584210"/>
                </a:lnTo>
                <a:lnTo>
                  <a:pt x="0" y="0"/>
                </a:lnTo>
                <a:lnTo>
                  <a:pt x="583799" y="0"/>
                </a:lnTo>
                <a:lnTo>
                  <a:pt x="583799" y="566146"/>
                </a:lnTo>
                <a:lnTo>
                  <a:pt x="542745" y="566146"/>
                </a:lnTo>
                <a:lnTo>
                  <a:pt x="542745" y="41055"/>
                </a:lnTo>
                <a:lnTo>
                  <a:pt x="41055" y="41055"/>
                </a:lnTo>
                <a:lnTo>
                  <a:pt x="41055" y="543155"/>
                </a:lnTo>
                <a:lnTo>
                  <a:pt x="491426" y="543155"/>
                </a:lnTo>
                <a:lnTo>
                  <a:pt x="491426" y="58421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0" name="Google Shape;3440;p88"/>
          <p:cNvGrpSpPr/>
          <p:nvPr/>
        </p:nvGrpSpPr>
        <p:grpSpPr>
          <a:xfrm>
            <a:off x="4189594" y="3409879"/>
            <a:ext cx="167402" cy="60353"/>
            <a:chOff x="834156" y="5211637"/>
            <a:chExt cx="216359" cy="78004"/>
          </a:xfrm>
        </p:grpSpPr>
        <p:sp>
          <p:nvSpPr>
            <p:cNvPr id="3441" name="Google Shape;3441;p88"/>
            <p:cNvSpPr/>
            <p:nvPr/>
          </p:nvSpPr>
          <p:spPr>
            <a:xfrm>
              <a:off x="834156" y="5213690"/>
              <a:ext cx="81699" cy="75951"/>
            </a:xfrm>
            <a:custGeom>
              <a:avLst/>
              <a:gdLst/>
              <a:ahLst/>
              <a:cxnLst/>
              <a:rect l="l" t="t" r="r" b="b"/>
              <a:pathLst>
                <a:path w="81699" h="75951" extrusionOk="0">
                  <a:moveTo>
                    <a:pt x="0" y="0"/>
                  </a:moveTo>
                  <a:lnTo>
                    <a:pt x="18885" y="0"/>
                  </a:lnTo>
                  <a:lnTo>
                    <a:pt x="41055" y="55013"/>
                  </a:lnTo>
                  <a:lnTo>
                    <a:pt x="62814" y="0"/>
                  </a:lnTo>
                  <a:lnTo>
                    <a:pt x="81699" y="0"/>
                  </a:lnTo>
                  <a:lnTo>
                    <a:pt x="49676" y="75951"/>
                  </a:lnTo>
                  <a:lnTo>
                    <a:pt x="32844" y="75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2" name="Google Shape;3442;p88"/>
            <p:cNvSpPr/>
            <p:nvPr/>
          </p:nvSpPr>
          <p:spPr>
            <a:xfrm>
              <a:off x="935151" y="5211637"/>
              <a:ext cx="115364" cy="77593"/>
            </a:xfrm>
            <a:custGeom>
              <a:avLst/>
              <a:gdLst/>
              <a:ahLst/>
              <a:cxnLst/>
              <a:rect l="l" t="t" r="r" b="b"/>
              <a:pathLst>
                <a:path w="115364" h="77593" extrusionOk="0">
                  <a:moveTo>
                    <a:pt x="101816" y="3695"/>
                  </a:moveTo>
                  <a:cubicBezTo>
                    <a:pt x="105921" y="6158"/>
                    <a:pt x="109206" y="9853"/>
                    <a:pt x="111669" y="13959"/>
                  </a:cubicBezTo>
                  <a:cubicBezTo>
                    <a:pt x="114132" y="18475"/>
                    <a:pt x="115364" y="23401"/>
                    <a:pt x="115364" y="29149"/>
                  </a:cubicBezTo>
                  <a:lnTo>
                    <a:pt x="115364" y="77594"/>
                  </a:lnTo>
                  <a:lnTo>
                    <a:pt x="97710" y="77594"/>
                  </a:lnTo>
                  <a:lnTo>
                    <a:pt x="97710" y="32433"/>
                  </a:lnTo>
                  <a:cubicBezTo>
                    <a:pt x="97710" y="27507"/>
                    <a:pt x="96479" y="23401"/>
                    <a:pt x="93605" y="20117"/>
                  </a:cubicBezTo>
                  <a:cubicBezTo>
                    <a:pt x="90731" y="16832"/>
                    <a:pt x="87447" y="15190"/>
                    <a:pt x="82931" y="15190"/>
                  </a:cubicBezTo>
                  <a:cubicBezTo>
                    <a:pt x="78415" y="15190"/>
                    <a:pt x="73899" y="16832"/>
                    <a:pt x="71025" y="19706"/>
                  </a:cubicBezTo>
                  <a:cubicBezTo>
                    <a:pt x="67740" y="22580"/>
                    <a:pt x="66509" y="26686"/>
                    <a:pt x="66509" y="31202"/>
                  </a:cubicBezTo>
                  <a:lnTo>
                    <a:pt x="66509" y="77594"/>
                  </a:lnTo>
                  <a:lnTo>
                    <a:pt x="49266" y="77594"/>
                  </a:lnTo>
                  <a:lnTo>
                    <a:pt x="49266" y="32433"/>
                  </a:lnTo>
                  <a:cubicBezTo>
                    <a:pt x="49266" y="27507"/>
                    <a:pt x="48034" y="23401"/>
                    <a:pt x="45160" y="20117"/>
                  </a:cubicBezTo>
                  <a:cubicBezTo>
                    <a:pt x="42286" y="16832"/>
                    <a:pt x="39002" y="15190"/>
                    <a:pt x="34486" y="15190"/>
                  </a:cubicBezTo>
                  <a:cubicBezTo>
                    <a:pt x="29970" y="15190"/>
                    <a:pt x="25865" y="16832"/>
                    <a:pt x="22580" y="19706"/>
                  </a:cubicBezTo>
                  <a:cubicBezTo>
                    <a:pt x="19296" y="22580"/>
                    <a:pt x="18064" y="26686"/>
                    <a:pt x="18064" y="31202"/>
                  </a:cubicBezTo>
                  <a:lnTo>
                    <a:pt x="18064" y="77594"/>
                  </a:lnTo>
                  <a:lnTo>
                    <a:pt x="0" y="77594"/>
                  </a:lnTo>
                  <a:lnTo>
                    <a:pt x="0" y="1642"/>
                  </a:lnTo>
                  <a:lnTo>
                    <a:pt x="18064" y="1642"/>
                  </a:lnTo>
                  <a:lnTo>
                    <a:pt x="18064" y="11906"/>
                  </a:lnTo>
                  <a:cubicBezTo>
                    <a:pt x="20117" y="8211"/>
                    <a:pt x="22991" y="5337"/>
                    <a:pt x="26686" y="3284"/>
                  </a:cubicBezTo>
                  <a:cubicBezTo>
                    <a:pt x="30381" y="1232"/>
                    <a:pt x="34486" y="0"/>
                    <a:pt x="39413" y="0"/>
                  </a:cubicBezTo>
                  <a:cubicBezTo>
                    <a:pt x="44339" y="0"/>
                    <a:pt x="50497" y="1642"/>
                    <a:pt x="55424" y="4927"/>
                  </a:cubicBezTo>
                  <a:cubicBezTo>
                    <a:pt x="59940" y="8211"/>
                    <a:pt x="63224" y="12727"/>
                    <a:pt x="65277" y="18064"/>
                  </a:cubicBezTo>
                  <a:cubicBezTo>
                    <a:pt x="66509" y="12727"/>
                    <a:pt x="68972" y="8211"/>
                    <a:pt x="73078" y="4927"/>
                  </a:cubicBezTo>
                  <a:cubicBezTo>
                    <a:pt x="77183" y="1642"/>
                    <a:pt x="82110" y="0"/>
                    <a:pt x="88268" y="0"/>
                  </a:cubicBezTo>
                  <a:cubicBezTo>
                    <a:pt x="94426" y="0"/>
                    <a:pt x="98121" y="1232"/>
                    <a:pt x="102226" y="36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43" name="Google Shape;3443;p88"/>
          <p:cNvSpPr txBox="1"/>
          <p:nvPr/>
        </p:nvSpPr>
        <p:spPr>
          <a:xfrm>
            <a:off x="2026070" y="3725704"/>
            <a:ext cx="12530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VM1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4" name="Google Shape;3444;p88"/>
          <p:cNvSpPr/>
          <p:nvPr/>
        </p:nvSpPr>
        <p:spPr>
          <a:xfrm>
            <a:off x="2426732" y="3201298"/>
            <a:ext cx="451699" cy="452016"/>
          </a:xfrm>
          <a:custGeom>
            <a:avLst/>
            <a:gdLst/>
            <a:ahLst/>
            <a:cxnLst/>
            <a:rect l="l" t="t" r="r" b="b"/>
            <a:pathLst>
              <a:path w="583799" h="584209" extrusionOk="0">
                <a:moveTo>
                  <a:pt x="491426" y="584210"/>
                </a:moveTo>
                <a:lnTo>
                  <a:pt x="0" y="584210"/>
                </a:lnTo>
                <a:lnTo>
                  <a:pt x="0" y="0"/>
                </a:lnTo>
                <a:lnTo>
                  <a:pt x="583799" y="0"/>
                </a:lnTo>
                <a:lnTo>
                  <a:pt x="583799" y="566146"/>
                </a:lnTo>
                <a:lnTo>
                  <a:pt x="542745" y="566146"/>
                </a:lnTo>
                <a:lnTo>
                  <a:pt x="542745" y="41055"/>
                </a:lnTo>
                <a:lnTo>
                  <a:pt x="41055" y="41055"/>
                </a:lnTo>
                <a:lnTo>
                  <a:pt x="41055" y="543155"/>
                </a:lnTo>
                <a:lnTo>
                  <a:pt x="491426" y="543155"/>
                </a:lnTo>
                <a:lnTo>
                  <a:pt x="491426" y="58421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5" name="Google Shape;3445;p88"/>
          <p:cNvGrpSpPr/>
          <p:nvPr/>
        </p:nvGrpSpPr>
        <p:grpSpPr>
          <a:xfrm>
            <a:off x="2562369" y="3400464"/>
            <a:ext cx="167402" cy="60353"/>
            <a:chOff x="834156" y="5211637"/>
            <a:chExt cx="216359" cy="78004"/>
          </a:xfrm>
        </p:grpSpPr>
        <p:sp>
          <p:nvSpPr>
            <p:cNvPr id="3446" name="Google Shape;3446;p88"/>
            <p:cNvSpPr/>
            <p:nvPr/>
          </p:nvSpPr>
          <p:spPr>
            <a:xfrm>
              <a:off x="834156" y="5213690"/>
              <a:ext cx="81699" cy="75951"/>
            </a:xfrm>
            <a:custGeom>
              <a:avLst/>
              <a:gdLst/>
              <a:ahLst/>
              <a:cxnLst/>
              <a:rect l="l" t="t" r="r" b="b"/>
              <a:pathLst>
                <a:path w="81699" h="75951" extrusionOk="0">
                  <a:moveTo>
                    <a:pt x="0" y="0"/>
                  </a:moveTo>
                  <a:lnTo>
                    <a:pt x="18885" y="0"/>
                  </a:lnTo>
                  <a:lnTo>
                    <a:pt x="41055" y="55013"/>
                  </a:lnTo>
                  <a:lnTo>
                    <a:pt x="62814" y="0"/>
                  </a:lnTo>
                  <a:lnTo>
                    <a:pt x="81699" y="0"/>
                  </a:lnTo>
                  <a:lnTo>
                    <a:pt x="49676" y="75951"/>
                  </a:lnTo>
                  <a:lnTo>
                    <a:pt x="32844" y="75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7" name="Google Shape;3447;p88"/>
            <p:cNvSpPr/>
            <p:nvPr/>
          </p:nvSpPr>
          <p:spPr>
            <a:xfrm>
              <a:off x="935151" y="5211637"/>
              <a:ext cx="115364" cy="77593"/>
            </a:xfrm>
            <a:custGeom>
              <a:avLst/>
              <a:gdLst/>
              <a:ahLst/>
              <a:cxnLst/>
              <a:rect l="l" t="t" r="r" b="b"/>
              <a:pathLst>
                <a:path w="115364" h="77593" extrusionOk="0">
                  <a:moveTo>
                    <a:pt x="101816" y="3695"/>
                  </a:moveTo>
                  <a:cubicBezTo>
                    <a:pt x="105921" y="6158"/>
                    <a:pt x="109206" y="9853"/>
                    <a:pt x="111669" y="13959"/>
                  </a:cubicBezTo>
                  <a:cubicBezTo>
                    <a:pt x="114132" y="18475"/>
                    <a:pt x="115364" y="23401"/>
                    <a:pt x="115364" y="29149"/>
                  </a:cubicBezTo>
                  <a:lnTo>
                    <a:pt x="115364" y="77594"/>
                  </a:lnTo>
                  <a:lnTo>
                    <a:pt x="97710" y="77594"/>
                  </a:lnTo>
                  <a:lnTo>
                    <a:pt x="97710" y="32433"/>
                  </a:lnTo>
                  <a:cubicBezTo>
                    <a:pt x="97710" y="27507"/>
                    <a:pt x="96479" y="23401"/>
                    <a:pt x="93605" y="20117"/>
                  </a:cubicBezTo>
                  <a:cubicBezTo>
                    <a:pt x="90731" y="16832"/>
                    <a:pt x="87447" y="15190"/>
                    <a:pt x="82931" y="15190"/>
                  </a:cubicBezTo>
                  <a:cubicBezTo>
                    <a:pt x="78415" y="15190"/>
                    <a:pt x="73899" y="16832"/>
                    <a:pt x="71025" y="19706"/>
                  </a:cubicBezTo>
                  <a:cubicBezTo>
                    <a:pt x="67740" y="22580"/>
                    <a:pt x="66509" y="26686"/>
                    <a:pt x="66509" y="31202"/>
                  </a:cubicBezTo>
                  <a:lnTo>
                    <a:pt x="66509" y="77594"/>
                  </a:lnTo>
                  <a:lnTo>
                    <a:pt x="49266" y="77594"/>
                  </a:lnTo>
                  <a:lnTo>
                    <a:pt x="49266" y="32433"/>
                  </a:lnTo>
                  <a:cubicBezTo>
                    <a:pt x="49266" y="27507"/>
                    <a:pt x="48034" y="23401"/>
                    <a:pt x="45160" y="20117"/>
                  </a:cubicBezTo>
                  <a:cubicBezTo>
                    <a:pt x="42286" y="16832"/>
                    <a:pt x="39002" y="15190"/>
                    <a:pt x="34486" y="15190"/>
                  </a:cubicBezTo>
                  <a:cubicBezTo>
                    <a:pt x="29970" y="15190"/>
                    <a:pt x="25865" y="16832"/>
                    <a:pt x="22580" y="19706"/>
                  </a:cubicBezTo>
                  <a:cubicBezTo>
                    <a:pt x="19296" y="22580"/>
                    <a:pt x="18064" y="26686"/>
                    <a:pt x="18064" y="31202"/>
                  </a:cubicBezTo>
                  <a:lnTo>
                    <a:pt x="18064" y="77594"/>
                  </a:lnTo>
                  <a:lnTo>
                    <a:pt x="0" y="77594"/>
                  </a:lnTo>
                  <a:lnTo>
                    <a:pt x="0" y="1642"/>
                  </a:lnTo>
                  <a:lnTo>
                    <a:pt x="18064" y="1642"/>
                  </a:lnTo>
                  <a:lnTo>
                    <a:pt x="18064" y="11906"/>
                  </a:lnTo>
                  <a:cubicBezTo>
                    <a:pt x="20117" y="8211"/>
                    <a:pt x="22991" y="5337"/>
                    <a:pt x="26686" y="3284"/>
                  </a:cubicBezTo>
                  <a:cubicBezTo>
                    <a:pt x="30381" y="1232"/>
                    <a:pt x="34486" y="0"/>
                    <a:pt x="39413" y="0"/>
                  </a:cubicBezTo>
                  <a:cubicBezTo>
                    <a:pt x="44339" y="0"/>
                    <a:pt x="50497" y="1642"/>
                    <a:pt x="55424" y="4927"/>
                  </a:cubicBezTo>
                  <a:cubicBezTo>
                    <a:pt x="59940" y="8211"/>
                    <a:pt x="63224" y="12727"/>
                    <a:pt x="65277" y="18064"/>
                  </a:cubicBezTo>
                  <a:cubicBezTo>
                    <a:pt x="66509" y="12727"/>
                    <a:pt x="68972" y="8211"/>
                    <a:pt x="73078" y="4927"/>
                  </a:cubicBezTo>
                  <a:cubicBezTo>
                    <a:pt x="77183" y="1642"/>
                    <a:pt x="82110" y="0"/>
                    <a:pt x="88268" y="0"/>
                  </a:cubicBezTo>
                  <a:cubicBezTo>
                    <a:pt x="94426" y="0"/>
                    <a:pt x="98121" y="1232"/>
                    <a:pt x="102226" y="36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48" name="Google Shape;3448;p88"/>
          <p:cNvSpPr/>
          <p:nvPr/>
        </p:nvSpPr>
        <p:spPr>
          <a:xfrm>
            <a:off x="5147180" y="1208339"/>
            <a:ext cx="1587337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9" name="Google Shape;3449;p88"/>
          <p:cNvSpPr/>
          <p:nvPr/>
        </p:nvSpPr>
        <p:spPr>
          <a:xfrm>
            <a:off x="6832516" y="1208339"/>
            <a:ext cx="1587337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0" name="Google Shape;3450;p88"/>
          <p:cNvSpPr/>
          <p:nvPr/>
        </p:nvSpPr>
        <p:spPr>
          <a:xfrm>
            <a:off x="9698271" y="4408467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1" name="Google Shape;3451;p88"/>
          <p:cNvGrpSpPr/>
          <p:nvPr/>
        </p:nvGrpSpPr>
        <p:grpSpPr>
          <a:xfrm>
            <a:off x="9470385" y="4507742"/>
            <a:ext cx="274320" cy="274320"/>
            <a:chOff x="8818218" y="4793569"/>
            <a:chExt cx="274320" cy="274320"/>
          </a:xfrm>
        </p:grpSpPr>
        <p:sp>
          <p:nvSpPr>
            <p:cNvPr id="3452" name="Google Shape;3452;p88"/>
            <p:cNvSpPr/>
            <p:nvPr/>
          </p:nvSpPr>
          <p:spPr>
            <a:xfrm>
              <a:off x="8818218" y="4793569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53" name="Google Shape;3453;p88"/>
            <p:cNvGrpSpPr/>
            <p:nvPr/>
          </p:nvGrpSpPr>
          <p:grpSpPr>
            <a:xfrm>
              <a:off x="8900591" y="4914439"/>
              <a:ext cx="101664" cy="36627"/>
              <a:chOff x="834156" y="5211637"/>
              <a:chExt cx="216359" cy="78004"/>
            </a:xfrm>
          </p:grpSpPr>
          <p:sp>
            <p:nvSpPr>
              <p:cNvPr id="3454" name="Google Shape;3454;p88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5" name="Google Shape;3455;p88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56" name="Google Shape;3456;p88"/>
          <p:cNvSpPr/>
          <p:nvPr/>
        </p:nvSpPr>
        <p:spPr>
          <a:xfrm>
            <a:off x="7072831" y="3858793"/>
            <a:ext cx="1130662" cy="12777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B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7" name="Google Shape;3457;p88"/>
          <p:cNvSpPr/>
          <p:nvPr/>
        </p:nvSpPr>
        <p:spPr>
          <a:xfrm>
            <a:off x="7162649" y="4258214"/>
            <a:ext cx="951026" cy="78066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8" name="Google Shape;3458;p88"/>
          <p:cNvGrpSpPr/>
          <p:nvPr/>
        </p:nvGrpSpPr>
        <p:grpSpPr>
          <a:xfrm>
            <a:off x="7226929" y="4494952"/>
            <a:ext cx="314932" cy="306639"/>
            <a:chOff x="6662294" y="4803722"/>
            <a:chExt cx="314932" cy="306639"/>
          </a:xfrm>
        </p:grpSpPr>
        <p:sp>
          <p:nvSpPr>
            <p:cNvPr id="3459" name="Google Shape;3459;p88"/>
            <p:cNvSpPr/>
            <p:nvPr/>
          </p:nvSpPr>
          <p:spPr>
            <a:xfrm>
              <a:off x="6837804" y="5021373"/>
              <a:ext cx="896" cy="3362"/>
            </a:xfrm>
            <a:custGeom>
              <a:avLst/>
              <a:gdLst/>
              <a:ahLst/>
              <a:cxnLst/>
              <a:rect l="l" t="t" r="r" b="b"/>
              <a:pathLst>
                <a:path w="1943" h="7287" extrusionOk="0">
                  <a:moveTo>
                    <a:pt x="0" y="486"/>
                  </a:moveTo>
                  <a:lnTo>
                    <a:pt x="1943" y="7288"/>
                  </a:lnTo>
                  <a:lnTo>
                    <a:pt x="486" y="0"/>
                  </a:lnTo>
                  <a:cubicBezTo>
                    <a:pt x="486" y="0"/>
                    <a:pt x="48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0" name="Google Shape;3460;p88"/>
            <p:cNvSpPr/>
            <p:nvPr/>
          </p:nvSpPr>
          <p:spPr>
            <a:xfrm>
              <a:off x="6779301" y="4901452"/>
              <a:ext cx="28915" cy="31087"/>
            </a:xfrm>
            <a:custGeom>
              <a:avLst/>
              <a:gdLst/>
              <a:ahLst/>
              <a:cxnLst/>
              <a:rect l="l" t="t" r="r" b="b"/>
              <a:pathLst>
                <a:path w="62673" h="67379" extrusionOk="0">
                  <a:moveTo>
                    <a:pt x="51499" y="66560"/>
                  </a:moveTo>
                  <a:cubicBezTo>
                    <a:pt x="51499" y="66560"/>
                    <a:pt x="54900" y="68017"/>
                    <a:pt x="56357" y="67046"/>
                  </a:cubicBezTo>
                  <a:cubicBezTo>
                    <a:pt x="57815" y="66560"/>
                    <a:pt x="58786" y="65102"/>
                    <a:pt x="58786" y="63159"/>
                  </a:cubicBezTo>
                  <a:cubicBezTo>
                    <a:pt x="59758" y="47126"/>
                    <a:pt x="60730" y="30608"/>
                    <a:pt x="61701" y="14575"/>
                  </a:cubicBezTo>
                  <a:lnTo>
                    <a:pt x="62673" y="0"/>
                  </a:lnTo>
                  <a:cubicBezTo>
                    <a:pt x="38381" y="4858"/>
                    <a:pt x="17976" y="15061"/>
                    <a:pt x="0" y="30122"/>
                  </a:cubicBezTo>
                  <a:cubicBezTo>
                    <a:pt x="7773" y="35466"/>
                    <a:pt x="15547" y="41296"/>
                    <a:pt x="23320" y="46640"/>
                  </a:cubicBezTo>
                  <a:cubicBezTo>
                    <a:pt x="32551" y="53442"/>
                    <a:pt x="42268" y="59758"/>
                    <a:pt x="51499" y="66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1" name="Google Shape;3461;p88"/>
            <p:cNvSpPr/>
            <p:nvPr/>
          </p:nvSpPr>
          <p:spPr>
            <a:xfrm>
              <a:off x="6842063" y="4982146"/>
              <a:ext cx="34295" cy="30036"/>
            </a:xfrm>
            <a:custGeom>
              <a:avLst/>
              <a:gdLst/>
              <a:ahLst/>
              <a:cxnLst/>
              <a:rect l="l" t="t" r="r" b="b"/>
              <a:pathLst>
                <a:path w="74333" h="65102" extrusionOk="0">
                  <a:moveTo>
                    <a:pt x="8259" y="972"/>
                  </a:moveTo>
                  <a:cubicBezTo>
                    <a:pt x="8259" y="972"/>
                    <a:pt x="6316" y="2915"/>
                    <a:pt x="6316" y="4858"/>
                  </a:cubicBezTo>
                  <a:lnTo>
                    <a:pt x="0" y="9717"/>
                  </a:lnTo>
                  <a:lnTo>
                    <a:pt x="6802" y="6802"/>
                  </a:lnTo>
                  <a:lnTo>
                    <a:pt x="12632" y="20891"/>
                  </a:lnTo>
                  <a:cubicBezTo>
                    <a:pt x="18948" y="35466"/>
                    <a:pt x="24778" y="50527"/>
                    <a:pt x="31094" y="65102"/>
                  </a:cubicBezTo>
                  <a:cubicBezTo>
                    <a:pt x="50527" y="50527"/>
                    <a:pt x="64616" y="32551"/>
                    <a:pt x="74333" y="10688"/>
                  </a:cubicBezTo>
                  <a:lnTo>
                    <a:pt x="12146" y="0"/>
                  </a:lnTo>
                  <a:cubicBezTo>
                    <a:pt x="12146" y="0"/>
                    <a:pt x="9231" y="486"/>
                    <a:pt x="8259" y="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2" name="Google Shape;3462;p88"/>
            <p:cNvSpPr/>
            <p:nvPr/>
          </p:nvSpPr>
          <p:spPr>
            <a:xfrm>
              <a:off x="6762938" y="4982146"/>
              <a:ext cx="30933" cy="29812"/>
            </a:xfrm>
            <a:custGeom>
              <a:avLst/>
              <a:gdLst/>
              <a:ahLst/>
              <a:cxnLst/>
              <a:rect l="l" t="t" r="r" b="b"/>
              <a:pathLst>
                <a:path w="67045" h="64616" extrusionOk="0">
                  <a:moveTo>
                    <a:pt x="62673" y="0"/>
                  </a:moveTo>
                  <a:lnTo>
                    <a:pt x="46155" y="2915"/>
                  </a:lnTo>
                  <a:cubicBezTo>
                    <a:pt x="30608" y="5344"/>
                    <a:pt x="15547" y="8259"/>
                    <a:pt x="0" y="10688"/>
                  </a:cubicBezTo>
                  <a:cubicBezTo>
                    <a:pt x="9717" y="32551"/>
                    <a:pt x="24292" y="50527"/>
                    <a:pt x="43240" y="64616"/>
                  </a:cubicBezTo>
                  <a:cubicBezTo>
                    <a:pt x="48584" y="51985"/>
                    <a:pt x="53442" y="39839"/>
                    <a:pt x="58300" y="27693"/>
                  </a:cubicBezTo>
                  <a:lnTo>
                    <a:pt x="65588" y="9717"/>
                  </a:lnTo>
                  <a:cubicBezTo>
                    <a:pt x="65588" y="9717"/>
                    <a:pt x="66560" y="6802"/>
                    <a:pt x="67046" y="5830"/>
                  </a:cubicBezTo>
                  <a:cubicBezTo>
                    <a:pt x="67046" y="4858"/>
                    <a:pt x="67046" y="3401"/>
                    <a:pt x="66074" y="2429"/>
                  </a:cubicBezTo>
                  <a:cubicBezTo>
                    <a:pt x="65102" y="1457"/>
                    <a:pt x="64131" y="972"/>
                    <a:pt x="62673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3" name="Google Shape;3463;p88"/>
            <p:cNvSpPr/>
            <p:nvPr/>
          </p:nvSpPr>
          <p:spPr>
            <a:xfrm>
              <a:off x="6803733" y="4995596"/>
              <a:ext cx="31605" cy="28691"/>
            </a:xfrm>
            <a:custGeom>
              <a:avLst/>
              <a:gdLst/>
              <a:ahLst/>
              <a:cxnLst/>
              <a:rect l="l" t="t" r="r" b="b"/>
              <a:pathLst>
                <a:path w="68503" h="62187" extrusionOk="0">
                  <a:moveTo>
                    <a:pt x="55385" y="32551"/>
                  </a:moveTo>
                  <a:cubicBezTo>
                    <a:pt x="50041" y="22834"/>
                    <a:pt x="44697" y="12632"/>
                    <a:pt x="38867" y="2915"/>
                  </a:cubicBezTo>
                  <a:cubicBezTo>
                    <a:pt x="37895" y="972"/>
                    <a:pt x="35952" y="486"/>
                    <a:pt x="34494" y="0"/>
                  </a:cubicBezTo>
                  <a:cubicBezTo>
                    <a:pt x="33037" y="0"/>
                    <a:pt x="31094" y="972"/>
                    <a:pt x="30122" y="2915"/>
                  </a:cubicBezTo>
                  <a:lnTo>
                    <a:pt x="17490" y="25749"/>
                  </a:lnTo>
                  <a:cubicBezTo>
                    <a:pt x="11660" y="36438"/>
                    <a:pt x="5830" y="46640"/>
                    <a:pt x="0" y="57329"/>
                  </a:cubicBezTo>
                  <a:cubicBezTo>
                    <a:pt x="11660" y="60244"/>
                    <a:pt x="22834" y="61701"/>
                    <a:pt x="34494" y="62187"/>
                  </a:cubicBezTo>
                  <a:cubicBezTo>
                    <a:pt x="45669" y="62187"/>
                    <a:pt x="57329" y="60730"/>
                    <a:pt x="68503" y="57815"/>
                  </a:cubicBezTo>
                  <a:cubicBezTo>
                    <a:pt x="67046" y="54900"/>
                    <a:pt x="65588" y="52470"/>
                    <a:pt x="64131" y="50041"/>
                  </a:cubicBezTo>
                  <a:lnTo>
                    <a:pt x="54900" y="330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4" name="Google Shape;3464;p88"/>
            <p:cNvSpPr/>
            <p:nvPr/>
          </p:nvSpPr>
          <p:spPr>
            <a:xfrm>
              <a:off x="6877479" y="4984612"/>
              <a:ext cx="3138" cy="1345"/>
            </a:xfrm>
            <a:custGeom>
              <a:avLst/>
              <a:gdLst/>
              <a:ahLst/>
              <a:cxnLst/>
              <a:rect l="l" t="t" r="r" b="b"/>
              <a:pathLst>
                <a:path w="6801" h="2915" extrusionOk="0">
                  <a:moveTo>
                    <a:pt x="0" y="0"/>
                  </a:moveTo>
                  <a:lnTo>
                    <a:pt x="6802" y="29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5" name="Google Shape;3465;p88"/>
            <p:cNvSpPr/>
            <p:nvPr/>
          </p:nvSpPr>
          <p:spPr>
            <a:xfrm>
              <a:off x="6757907" y="4933282"/>
              <a:ext cx="29687" cy="31157"/>
            </a:xfrm>
            <a:custGeom>
              <a:avLst/>
              <a:gdLst/>
              <a:ahLst/>
              <a:cxnLst/>
              <a:rect l="l" t="t" r="r" b="b"/>
              <a:pathLst>
                <a:path w="64346" h="67531" extrusionOk="0">
                  <a:moveTo>
                    <a:pt x="63375" y="47126"/>
                  </a:moveTo>
                  <a:cubicBezTo>
                    <a:pt x="63375" y="47126"/>
                    <a:pt x="63375" y="43725"/>
                    <a:pt x="60460" y="40810"/>
                  </a:cubicBezTo>
                  <a:cubicBezTo>
                    <a:pt x="45399" y="27207"/>
                    <a:pt x="30338" y="13603"/>
                    <a:pt x="15277" y="0"/>
                  </a:cubicBezTo>
                  <a:cubicBezTo>
                    <a:pt x="6532" y="17004"/>
                    <a:pt x="1673" y="34494"/>
                    <a:pt x="216" y="52956"/>
                  </a:cubicBezTo>
                  <a:cubicBezTo>
                    <a:pt x="216" y="57329"/>
                    <a:pt x="-270" y="62673"/>
                    <a:pt x="216" y="67531"/>
                  </a:cubicBezTo>
                  <a:lnTo>
                    <a:pt x="10419" y="64616"/>
                  </a:lnTo>
                  <a:cubicBezTo>
                    <a:pt x="26451" y="59758"/>
                    <a:pt x="42970" y="55385"/>
                    <a:pt x="59002" y="50527"/>
                  </a:cubicBezTo>
                  <a:cubicBezTo>
                    <a:pt x="63375" y="49070"/>
                    <a:pt x="63861" y="47612"/>
                    <a:pt x="64346" y="46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6" name="Google Shape;3466;p88"/>
            <p:cNvSpPr/>
            <p:nvPr/>
          </p:nvSpPr>
          <p:spPr>
            <a:xfrm>
              <a:off x="6831304" y="4901452"/>
              <a:ext cx="28467" cy="30797"/>
            </a:xfrm>
            <a:custGeom>
              <a:avLst/>
              <a:gdLst/>
              <a:ahLst/>
              <a:cxnLst/>
              <a:rect l="l" t="t" r="r" b="b"/>
              <a:pathLst>
                <a:path w="61701" h="66751" extrusionOk="0">
                  <a:moveTo>
                    <a:pt x="5830" y="66560"/>
                  </a:moveTo>
                  <a:cubicBezTo>
                    <a:pt x="5830" y="66560"/>
                    <a:pt x="8745" y="67531"/>
                    <a:pt x="12146" y="65102"/>
                  </a:cubicBezTo>
                  <a:cubicBezTo>
                    <a:pt x="28664" y="53442"/>
                    <a:pt x="45183" y="41782"/>
                    <a:pt x="61701" y="30122"/>
                  </a:cubicBezTo>
                  <a:cubicBezTo>
                    <a:pt x="42754" y="14575"/>
                    <a:pt x="22348" y="4373"/>
                    <a:pt x="0" y="0"/>
                  </a:cubicBezTo>
                  <a:lnTo>
                    <a:pt x="3401" y="60730"/>
                  </a:lnTo>
                  <a:cubicBezTo>
                    <a:pt x="3401" y="65102"/>
                    <a:pt x="4858" y="65588"/>
                    <a:pt x="5830" y="66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7" name="Google Shape;3467;p88"/>
            <p:cNvSpPr/>
            <p:nvPr/>
          </p:nvSpPr>
          <p:spPr>
            <a:xfrm>
              <a:off x="6712237" y="4851242"/>
              <a:ext cx="215315" cy="209837"/>
            </a:xfrm>
            <a:custGeom>
              <a:avLst/>
              <a:gdLst/>
              <a:ahLst/>
              <a:cxnLst/>
              <a:rect l="l" t="t" r="r" b="b"/>
              <a:pathLst>
                <a:path w="466686" h="454812" extrusionOk="0">
                  <a:moveTo>
                    <a:pt x="444146" y="283729"/>
                  </a:moveTo>
                  <a:cubicBezTo>
                    <a:pt x="438802" y="283243"/>
                    <a:pt x="433458" y="282757"/>
                    <a:pt x="428600" y="281786"/>
                  </a:cubicBezTo>
                  <a:cubicBezTo>
                    <a:pt x="421798" y="280814"/>
                    <a:pt x="414024" y="279842"/>
                    <a:pt x="409166" y="272555"/>
                  </a:cubicBezTo>
                  <a:cubicBezTo>
                    <a:pt x="406251" y="272069"/>
                    <a:pt x="404308" y="270611"/>
                    <a:pt x="403336" y="269154"/>
                  </a:cubicBezTo>
                  <a:cubicBezTo>
                    <a:pt x="400421" y="265753"/>
                    <a:pt x="400907" y="261866"/>
                    <a:pt x="401393" y="259923"/>
                  </a:cubicBezTo>
                  <a:cubicBezTo>
                    <a:pt x="402364" y="250206"/>
                    <a:pt x="402850" y="240975"/>
                    <a:pt x="402364" y="231744"/>
                  </a:cubicBezTo>
                  <a:cubicBezTo>
                    <a:pt x="400907" y="202108"/>
                    <a:pt x="391676" y="174416"/>
                    <a:pt x="376129" y="149152"/>
                  </a:cubicBezTo>
                  <a:cubicBezTo>
                    <a:pt x="375158" y="147695"/>
                    <a:pt x="373214" y="144294"/>
                    <a:pt x="374186" y="139921"/>
                  </a:cubicBezTo>
                  <a:cubicBezTo>
                    <a:pt x="374672" y="137492"/>
                    <a:pt x="376129" y="135549"/>
                    <a:pt x="378073" y="134091"/>
                  </a:cubicBezTo>
                  <a:cubicBezTo>
                    <a:pt x="378558" y="129719"/>
                    <a:pt x="380988" y="125832"/>
                    <a:pt x="384874" y="122431"/>
                  </a:cubicBezTo>
                  <a:cubicBezTo>
                    <a:pt x="391190" y="117087"/>
                    <a:pt x="398478" y="112228"/>
                    <a:pt x="408194" y="106884"/>
                  </a:cubicBezTo>
                  <a:cubicBezTo>
                    <a:pt x="412081" y="104941"/>
                    <a:pt x="415482" y="102998"/>
                    <a:pt x="417911" y="100083"/>
                  </a:cubicBezTo>
                  <a:cubicBezTo>
                    <a:pt x="421312" y="97167"/>
                    <a:pt x="421312" y="94738"/>
                    <a:pt x="420826" y="93281"/>
                  </a:cubicBezTo>
                  <a:cubicBezTo>
                    <a:pt x="420826" y="90852"/>
                    <a:pt x="418883" y="89394"/>
                    <a:pt x="417911" y="88908"/>
                  </a:cubicBezTo>
                  <a:cubicBezTo>
                    <a:pt x="415968" y="87937"/>
                    <a:pt x="413053" y="88422"/>
                    <a:pt x="410624" y="89880"/>
                  </a:cubicBezTo>
                  <a:cubicBezTo>
                    <a:pt x="407223" y="91823"/>
                    <a:pt x="404308" y="95224"/>
                    <a:pt x="401393" y="98139"/>
                  </a:cubicBezTo>
                  <a:cubicBezTo>
                    <a:pt x="395563" y="104941"/>
                    <a:pt x="389247" y="111257"/>
                    <a:pt x="382445" y="116601"/>
                  </a:cubicBezTo>
                  <a:cubicBezTo>
                    <a:pt x="380502" y="118058"/>
                    <a:pt x="375643" y="122431"/>
                    <a:pt x="368356" y="121459"/>
                  </a:cubicBezTo>
                  <a:cubicBezTo>
                    <a:pt x="366412" y="123403"/>
                    <a:pt x="363983" y="124374"/>
                    <a:pt x="361554" y="123889"/>
                  </a:cubicBezTo>
                  <a:cubicBezTo>
                    <a:pt x="357182" y="123889"/>
                    <a:pt x="354267" y="120974"/>
                    <a:pt x="352809" y="119516"/>
                  </a:cubicBezTo>
                  <a:cubicBezTo>
                    <a:pt x="333861" y="100568"/>
                    <a:pt x="311513" y="86965"/>
                    <a:pt x="286249" y="78220"/>
                  </a:cubicBezTo>
                  <a:cubicBezTo>
                    <a:pt x="275075" y="74333"/>
                    <a:pt x="263415" y="71904"/>
                    <a:pt x="249811" y="69961"/>
                  </a:cubicBezTo>
                  <a:cubicBezTo>
                    <a:pt x="248354" y="69961"/>
                    <a:pt x="244953" y="69961"/>
                    <a:pt x="242524" y="67046"/>
                  </a:cubicBezTo>
                  <a:lnTo>
                    <a:pt x="240581" y="64616"/>
                  </a:lnTo>
                  <a:lnTo>
                    <a:pt x="240581" y="60244"/>
                  </a:lnTo>
                  <a:cubicBezTo>
                    <a:pt x="237180" y="56357"/>
                    <a:pt x="235722" y="52956"/>
                    <a:pt x="235722" y="49070"/>
                  </a:cubicBezTo>
                  <a:lnTo>
                    <a:pt x="235722" y="47126"/>
                  </a:lnTo>
                  <a:cubicBezTo>
                    <a:pt x="235722" y="42754"/>
                    <a:pt x="235722" y="38867"/>
                    <a:pt x="236208" y="34494"/>
                  </a:cubicBezTo>
                  <a:cubicBezTo>
                    <a:pt x="237180" y="28664"/>
                    <a:pt x="237666" y="23320"/>
                    <a:pt x="238637" y="17490"/>
                  </a:cubicBezTo>
                  <a:lnTo>
                    <a:pt x="238637" y="11660"/>
                  </a:lnTo>
                  <a:cubicBezTo>
                    <a:pt x="238637" y="11660"/>
                    <a:pt x="239123" y="7288"/>
                    <a:pt x="239123" y="7288"/>
                  </a:cubicBezTo>
                  <a:cubicBezTo>
                    <a:pt x="239123" y="3401"/>
                    <a:pt x="236208" y="486"/>
                    <a:pt x="233293" y="0"/>
                  </a:cubicBezTo>
                  <a:cubicBezTo>
                    <a:pt x="229892" y="0"/>
                    <a:pt x="226977" y="2429"/>
                    <a:pt x="226491" y="6316"/>
                  </a:cubicBezTo>
                  <a:cubicBezTo>
                    <a:pt x="226491" y="9231"/>
                    <a:pt x="226491" y="12632"/>
                    <a:pt x="226977" y="17490"/>
                  </a:cubicBezTo>
                  <a:cubicBezTo>
                    <a:pt x="228435" y="26721"/>
                    <a:pt x="229892" y="36438"/>
                    <a:pt x="229892" y="46640"/>
                  </a:cubicBezTo>
                  <a:cubicBezTo>
                    <a:pt x="229892" y="49070"/>
                    <a:pt x="229892" y="54414"/>
                    <a:pt x="225520" y="58786"/>
                  </a:cubicBezTo>
                  <a:cubicBezTo>
                    <a:pt x="225520" y="62187"/>
                    <a:pt x="224548" y="64616"/>
                    <a:pt x="223090" y="66560"/>
                  </a:cubicBezTo>
                  <a:cubicBezTo>
                    <a:pt x="221633" y="68503"/>
                    <a:pt x="219204" y="69475"/>
                    <a:pt x="215803" y="69961"/>
                  </a:cubicBezTo>
                  <a:lnTo>
                    <a:pt x="212402" y="69961"/>
                  </a:lnTo>
                  <a:cubicBezTo>
                    <a:pt x="174021" y="75305"/>
                    <a:pt x="140012" y="91337"/>
                    <a:pt x="112805" y="119030"/>
                  </a:cubicBezTo>
                  <a:cubicBezTo>
                    <a:pt x="111348" y="120488"/>
                    <a:pt x="108433" y="124374"/>
                    <a:pt x="103574" y="123403"/>
                  </a:cubicBezTo>
                  <a:cubicBezTo>
                    <a:pt x="101631" y="123403"/>
                    <a:pt x="99202" y="122431"/>
                    <a:pt x="97259" y="121459"/>
                  </a:cubicBezTo>
                  <a:cubicBezTo>
                    <a:pt x="90943" y="121945"/>
                    <a:pt x="86570" y="118544"/>
                    <a:pt x="84627" y="117573"/>
                  </a:cubicBezTo>
                  <a:cubicBezTo>
                    <a:pt x="77825" y="112228"/>
                    <a:pt x="71509" y="106398"/>
                    <a:pt x="64707" y="98625"/>
                  </a:cubicBezTo>
                  <a:cubicBezTo>
                    <a:pt x="61307" y="94738"/>
                    <a:pt x="58392" y="91823"/>
                    <a:pt x="54991" y="89394"/>
                  </a:cubicBezTo>
                  <a:cubicBezTo>
                    <a:pt x="51590" y="87451"/>
                    <a:pt x="47703" y="87937"/>
                    <a:pt x="45760" y="90366"/>
                  </a:cubicBezTo>
                  <a:cubicBezTo>
                    <a:pt x="43816" y="92795"/>
                    <a:pt x="44302" y="96682"/>
                    <a:pt x="47217" y="99597"/>
                  </a:cubicBezTo>
                  <a:cubicBezTo>
                    <a:pt x="50132" y="102512"/>
                    <a:pt x="53533" y="104455"/>
                    <a:pt x="57420" y="106398"/>
                  </a:cubicBezTo>
                  <a:cubicBezTo>
                    <a:pt x="65193" y="110771"/>
                    <a:pt x="72481" y="115143"/>
                    <a:pt x="78797" y="120488"/>
                  </a:cubicBezTo>
                  <a:cubicBezTo>
                    <a:pt x="81712" y="122917"/>
                    <a:pt x="86570" y="126804"/>
                    <a:pt x="87542" y="133605"/>
                  </a:cubicBezTo>
                  <a:cubicBezTo>
                    <a:pt x="89485" y="135063"/>
                    <a:pt x="90457" y="137006"/>
                    <a:pt x="90943" y="138949"/>
                  </a:cubicBezTo>
                  <a:cubicBezTo>
                    <a:pt x="91914" y="143322"/>
                    <a:pt x="89971" y="147209"/>
                    <a:pt x="88514" y="149152"/>
                  </a:cubicBezTo>
                  <a:cubicBezTo>
                    <a:pt x="67622" y="183161"/>
                    <a:pt x="59363" y="220084"/>
                    <a:pt x="64222" y="258951"/>
                  </a:cubicBezTo>
                  <a:cubicBezTo>
                    <a:pt x="65193" y="268182"/>
                    <a:pt x="59363" y="271097"/>
                    <a:pt x="56448" y="271583"/>
                  </a:cubicBezTo>
                  <a:cubicBezTo>
                    <a:pt x="53047" y="276927"/>
                    <a:pt x="47703" y="278385"/>
                    <a:pt x="43816" y="279356"/>
                  </a:cubicBezTo>
                  <a:cubicBezTo>
                    <a:pt x="34586" y="281300"/>
                    <a:pt x="24869" y="282272"/>
                    <a:pt x="15638" y="282757"/>
                  </a:cubicBezTo>
                  <a:cubicBezTo>
                    <a:pt x="11265" y="282757"/>
                    <a:pt x="7864" y="283729"/>
                    <a:pt x="4464" y="284701"/>
                  </a:cubicBezTo>
                  <a:cubicBezTo>
                    <a:pt x="1063" y="286158"/>
                    <a:pt x="-395" y="289559"/>
                    <a:pt x="91" y="291988"/>
                  </a:cubicBezTo>
                  <a:cubicBezTo>
                    <a:pt x="577" y="294903"/>
                    <a:pt x="3978" y="297818"/>
                    <a:pt x="7379" y="296847"/>
                  </a:cubicBezTo>
                  <a:cubicBezTo>
                    <a:pt x="11265" y="296847"/>
                    <a:pt x="15152" y="295389"/>
                    <a:pt x="19525" y="293446"/>
                  </a:cubicBezTo>
                  <a:cubicBezTo>
                    <a:pt x="28755" y="289559"/>
                    <a:pt x="37015" y="286644"/>
                    <a:pt x="44788" y="284701"/>
                  </a:cubicBezTo>
                  <a:cubicBezTo>
                    <a:pt x="48675" y="283729"/>
                    <a:pt x="53533" y="282272"/>
                    <a:pt x="58392" y="285187"/>
                  </a:cubicBezTo>
                  <a:cubicBezTo>
                    <a:pt x="59849" y="286158"/>
                    <a:pt x="60335" y="286158"/>
                    <a:pt x="60335" y="286158"/>
                  </a:cubicBezTo>
                  <a:lnTo>
                    <a:pt x="63250" y="285187"/>
                  </a:lnTo>
                  <a:lnTo>
                    <a:pt x="67622" y="286644"/>
                  </a:lnTo>
                  <a:cubicBezTo>
                    <a:pt x="71023" y="288587"/>
                    <a:pt x="71995" y="291502"/>
                    <a:pt x="72481" y="292960"/>
                  </a:cubicBezTo>
                  <a:cubicBezTo>
                    <a:pt x="86084" y="331341"/>
                    <a:pt x="109890" y="361463"/>
                    <a:pt x="144385" y="382840"/>
                  </a:cubicBezTo>
                  <a:cubicBezTo>
                    <a:pt x="150701" y="386727"/>
                    <a:pt x="150701" y="392557"/>
                    <a:pt x="148271" y="396929"/>
                  </a:cubicBezTo>
                  <a:cubicBezTo>
                    <a:pt x="150701" y="403245"/>
                    <a:pt x="148271" y="408589"/>
                    <a:pt x="146814" y="410533"/>
                  </a:cubicBezTo>
                  <a:cubicBezTo>
                    <a:pt x="142927" y="418306"/>
                    <a:pt x="138555" y="426079"/>
                    <a:pt x="131753" y="435310"/>
                  </a:cubicBezTo>
                  <a:cubicBezTo>
                    <a:pt x="128838" y="439197"/>
                    <a:pt x="127380" y="442112"/>
                    <a:pt x="126409" y="445027"/>
                  </a:cubicBezTo>
                  <a:cubicBezTo>
                    <a:pt x="124951" y="448914"/>
                    <a:pt x="126409" y="452800"/>
                    <a:pt x="129324" y="454258"/>
                  </a:cubicBezTo>
                  <a:cubicBezTo>
                    <a:pt x="132239" y="455715"/>
                    <a:pt x="136126" y="454258"/>
                    <a:pt x="138069" y="450371"/>
                  </a:cubicBezTo>
                  <a:cubicBezTo>
                    <a:pt x="139526" y="447942"/>
                    <a:pt x="140984" y="444541"/>
                    <a:pt x="141956" y="440654"/>
                  </a:cubicBezTo>
                  <a:cubicBezTo>
                    <a:pt x="144871" y="430938"/>
                    <a:pt x="147786" y="422193"/>
                    <a:pt x="151672" y="414419"/>
                  </a:cubicBezTo>
                  <a:cubicBezTo>
                    <a:pt x="152644" y="411990"/>
                    <a:pt x="155559" y="406160"/>
                    <a:pt x="162361" y="403731"/>
                  </a:cubicBezTo>
                  <a:cubicBezTo>
                    <a:pt x="163818" y="400330"/>
                    <a:pt x="168191" y="395472"/>
                    <a:pt x="176936" y="398387"/>
                  </a:cubicBezTo>
                  <a:cubicBezTo>
                    <a:pt x="213860" y="411504"/>
                    <a:pt x="251269" y="411504"/>
                    <a:pt x="289164" y="398872"/>
                  </a:cubicBezTo>
                  <a:cubicBezTo>
                    <a:pt x="292079" y="397901"/>
                    <a:pt x="295966" y="396443"/>
                    <a:pt x="300339" y="398872"/>
                  </a:cubicBezTo>
                  <a:cubicBezTo>
                    <a:pt x="302282" y="399844"/>
                    <a:pt x="303739" y="401302"/>
                    <a:pt x="304711" y="403731"/>
                  </a:cubicBezTo>
                  <a:cubicBezTo>
                    <a:pt x="309084" y="405188"/>
                    <a:pt x="311999" y="408103"/>
                    <a:pt x="314428" y="412962"/>
                  </a:cubicBezTo>
                  <a:cubicBezTo>
                    <a:pt x="319286" y="422678"/>
                    <a:pt x="322201" y="432881"/>
                    <a:pt x="324630" y="441140"/>
                  </a:cubicBezTo>
                  <a:cubicBezTo>
                    <a:pt x="326088" y="445999"/>
                    <a:pt x="327545" y="449400"/>
                    <a:pt x="329975" y="451829"/>
                  </a:cubicBezTo>
                  <a:cubicBezTo>
                    <a:pt x="332404" y="454258"/>
                    <a:pt x="335319" y="454744"/>
                    <a:pt x="337748" y="453286"/>
                  </a:cubicBezTo>
                  <a:cubicBezTo>
                    <a:pt x="340177" y="451829"/>
                    <a:pt x="341149" y="448428"/>
                    <a:pt x="340177" y="445513"/>
                  </a:cubicBezTo>
                  <a:cubicBezTo>
                    <a:pt x="339206" y="441626"/>
                    <a:pt x="336776" y="438225"/>
                    <a:pt x="334347" y="434824"/>
                  </a:cubicBezTo>
                  <a:cubicBezTo>
                    <a:pt x="329003" y="427051"/>
                    <a:pt x="324145" y="419763"/>
                    <a:pt x="320258" y="412476"/>
                  </a:cubicBezTo>
                  <a:cubicBezTo>
                    <a:pt x="318800" y="409561"/>
                    <a:pt x="315400" y="403731"/>
                    <a:pt x="317829" y="396443"/>
                  </a:cubicBezTo>
                  <a:cubicBezTo>
                    <a:pt x="315885" y="392071"/>
                    <a:pt x="316371" y="386727"/>
                    <a:pt x="322687" y="382840"/>
                  </a:cubicBezTo>
                  <a:cubicBezTo>
                    <a:pt x="339691" y="372637"/>
                    <a:pt x="354752" y="359034"/>
                    <a:pt x="367384" y="343001"/>
                  </a:cubicBezTo>
                  <a:cubicBezTo>
                    <a:pt x="379044" y="327940"/>
                    <a:pt x="388275" y="311422"/>
                    <a:pt x="394105" y="293446"/>
                  </a:cubicBezTo>
                  <a:cubicBezTo>
                    <a:pt x="396534" y="285672"/>
                    <a:pt x="402850" y="284215"/>
                    <a:pt x="407709" y="285672"/>
                  </a:cubicBezTo>
                  <a:cubicBezTo>
                    <a:pt x="409652" y="283243"/>
                    <a:pt x="414510" y="282272"/>
                    <a:pt x="419369" y="283243"/>
                  </a:cubicBezTo>
                  <a:cubicBezTo>
                    <a:pt x="425199" y="284701"/>
                    <a:pt x="431029" y="286158"/>
                    <a:pt x="436373" y="288102"/>
                  </a:cubicBezTo>
                  <a:cubicBezTo>
                    <a:pt x="440260" y="289559"/>
                    <a:pt x="442689" y="290531"/>
                    <a:pt x="445118" y="291502"/>
                  </a:cubicBezTo>
                  <a:cubicBezTo>
                    <a:pt x="449491" y="293446"/>
                    <a:pt x="453377" y="294903"/>
                    <a:pt x="457750" y="295389"/>
                  </a:cubicBezTo>
                  <a:cubicBezTo>
                    <a:pt x="462122" y="296361"/>
                    <a:pt x="464066" y="294417"/>
                    <a:pt x="465523" y="292474"/>
                  </a:cubicBezTo>
                  <a:cubicBezTo>
                    <a:pt x="466981" y="290531"/>
                    <a:pt x="466981" y="289073"/>
                    <a:pt x="466009" y="287130"/>
                  </a:cubicBezTo>
                  <a:cubicBezTo>
                    <a:pt x="464552" y="284215"/>
                    <a:pt x="462608" y="282757"/>
                    <a:pt x="459207" y="282272"/>
                  </a:cubicBezTo>
                  <a:cubicBezTo>
                    <a:pt x="454349" y="281786"/>
                    <a:pt x="449491" y="281300"/>
                    <a:pt x="444632" y="280814"/>
                  </a:cubicBezTo>
                  <a:close/>
                  <a:moveTo>
                    <a:pt x="246411" y="95710"/>
                  </a:moveTo>
                  <a:cubicBezTo>
                    <a:pt x="249811" y="92795"/>
                    <a:pt x="254184" y="93281"/>
                    <a:pt x="259042" y="94252"/>
                  </a:cubicBezTo>
                  <a:lnTo>
                    <a:pt x="259042" y="94252"/>
                  </a:lnTo>
                  <a:cubicBezTo>
                    <a:pt x="286249" y="99111"/>
                    <a:pt x="311513" y="111743"/>
                    <a:pt x="332890" y="131176"/>
                  </a:cubicBezTo>
                  <a:cubicBezTo>
                    <a:pt x="334347" y="132634"/>
                    <a:pt x="337748" y="135549"/>
                    <a:pt x="337262" y="139921"/>
                  </a:cubicBezTo>
                  <a:cubicBezTo>
                    <a:pt x="337262" y="144294"/>
                    <a:pt x="333376" y="147209"/>
                    <a:pt x="331918" y="148180"/>
                  </a:cubicBezTo>
                  <a:cubicBezTo>
                    <a:pt x="313942" y="160812"/>
                    <a:pt x="296452" y="173444"/>
                    <a:pt x="278476" y="186076"/>
                  </a:cubicBezTo>
                  <a:cubicBezTo>
                    <a:pt x="274103" y="188991"/>
                    <a:pt x="269731" y="190448"/>
                    <a:pt x="265358" y="190448"/>
                  </a:cubicBezTo>
                  <a:cubicBezTo>
                    <a:pt x="262443" y="190448"/>
                    <a:pt x="260014" y="189962"/>
                    <a:pt x="257099" y="188505"/>
                  </a:cubicBezTo>
                  <a:cubicBezTo>
                    <a:pt x="250297" y="185590"/>
                    <a:pt x="246411" y="179274"/>
                    <a:pt x="245925" y="170529"/>
                  </a:cubicBezTo>
                  <a:lnTo>
                    <a:pt x="242524" y="108828"/>
                  </a:lnTo>
                  <a:cubicBezTo>
                    <a:pt x="242524" y="102998"/>
                    <a:pt x="242524" y="98625"/>
                    <a:pt x="245925" y="95710"/>
                  </a:cubicBezTo>
                  <a:close/>
                  <a:moveTo>
                    <a:pt x="249326" y="207938"/>
                  </a:moveTo>
                  <a:lnTo>
                    <a:pt x="269245" y="233202"/>
                  </a:lnTo>
                  <a:lnTo>
                    <a:pt x="262443" y="264781"/>
                  </a:lnTo>
                  <a:lnTo>
                    <a:pt x="233293" y="278871"/>
                  </a:lnTo>
                  <a:lnTo>
                    <a:pt x="204143" y="264781"/>
                  </a:lnTo>
                  <a:lnTo>
                    <a:pt x="196855" y="233202"/>
                  </a:lnTo>
                  <a:lnTo>
                    <a:pt x="216775" y="207938"/>
                  </a:lnTo>
                  <a:lnTo>
                    <a:pt x="249326" y="207938"/>
                  </a:lnTo>
                  <a:close/>
                  <a:moveTo>
                    <a:pt x="130781" y="132148"/>
                  </a:moveTo>
                  <a:lnTo>
                    <a:pt x="136126" y="137492"/>
                  </a:lnTo>
                  <a:lnTo>
                    <a:pt x="131267" y="132148"/>
                  </a:lnTo>
                  <a:cubicBezTo>
                    <a:pt x="152158" y="112714"/>
                    <a:pt x="176936" y="100568"/>
                    <a:pt x="204629" y="95224"/>
                  </a:cubicBezTo>
                  <a:cubicBezTo>
                    <a:pt x="206572" y="95224"/>
                    <a:pt x="208029" y="94738"/>
                    <a:pt x="209001" y="94252"/>
                  </a:cubicBezTo>
                  <a:cubicBezTo>
                    <a:pt x="212888" y="93767"/>
                    <a:pt x="216289" y="93281"/>
                    <a:pt x="219690" y="96196"/>
                  </a:cubicBezTo>
                  <a:cubicBezTo>
                    <a:pt x="223090" y="99111"/>
                    <a:pt x="222605" y="102998"/>
                    <a:pt x="222605" y="106398"/>
                  </a:cubicBezTo>
                  <a:lnTo>
                    <a:pt x="221633" y="124374"/>
                  </a:lnTo>
                  <a:cubicBezTo>
                    <a:pt x="220661" y="140407"/>
                    <a:pt x="219690" y="156925"/>
                    <a:pt x="218718" y="172958"/>
                  </a:cubicBezTo>
                  <a:cubicBezTo>
                    <a:pt x="218718" y="180246"/>
                    <a:pt x="214345" y="186076"/>
                    <a:pt x="208029" y="188991"/>
                  </a:cubicBezTo>
                  <a:cubicBezTo>
                    <a:pt x="205600" y="190448"/>
                    <a:pt x="202685" y="190934"/>
                    <a:pt x="199770" y="190934"/>
                  </a:cubicBezTo>
                  <a:cubicBezTo>
                    <a:pt x="195884" y="190934"/>
                    <a:pt x="191997" y="189477"/>
                    <a:pt x="188596" y="187533"/>
                  </a:cubicBezTo>
                  <a:cubicBezTo>
                    <a:pt x="179365" y="180731"/>
                    <a:pt x="169648" y="174416"/>
                    <a:pt x="160417" y="167614"/>
                  </a:cubicBezTo>
                  <a:cubicBezTo>
                    <a:pt x="151187" y="160812"/>
                    <a:pt x="141470" y="154496"/>
                    <a:pt x="132239" y="147695"/>
                  </a:cubicBezTo>
                  <a:cubicBezTo>
                    <a:pt x="129324" y="145751"/>
                    <a:pt x="127866" y="143322"/>
                    <a:pt x="127380" y="140407"/>
                  </a:cubicBezTo>
                  <a:cubicBezTo>
                    <a:pt x="127380" y="136034"/>
                    <a:pt x="129810" y="133605"/>
                    <a:pt x="131267" y="132634"/>
                  </a:cubicBezTo>
                  <a:close/>
                  <a:moveTo>
                    <a:pt x="85113" y="256522"/>
                  </a:moveTo>
                  <a:cubicBezTo>
                    <a:pt x="83169" y="246805"/>
                    <a:pt x="83655" y="237574"/>
                    <a:pt x="84141" y="229801"/>
                  </a:cubicBezTo>
                  <a:cubicBezTo>
                    <a:pt x="85598" y="206967"/>
                    <a:pt x="92400" y="185590"/>
                    <a:pt x="103574" y="166156"/>
                  </a:cubicBezTo>
                  <a:cubicBezTo>
                    <a:pt x="104546" y="164699"/>
                    <a:pt x="106489" y="160812"/>
                    <a:pt x="110862" y="160326"/>
                  </a:cubicBezTo>
                  <a:cubicBezTo>
                    <a:pt x="115235" y="159841"/>
                    <a:pt x="118150" y="162270"/>
                    <a:pt x="119607" y="163241"/>
                  </a:cubicBezTo>
                  <a:cubicBezTo>
                    <a:pt x="136126" y="178302"/>
                    <a:pt x="152644" y="192877"/>
                    <a:pt x="169162" y="207453"/>
                  </a:cubicBezTo>
                  <a:cubicBezTo>
                    <a:pt x="175964" y="213283"/>
                    <a:pt x="178393" y="220084"/>
                    <a:pt x="176450" y="227858"/>
                  </a:cubicBezTo>
                  <a:cubicBezTo>
                    <a:pt x="174021" y="239032"/>
                    <a:pt x="164304" y="241461"/>
                    <a:pt x="160903" y="242433"/>
                  </a:cubicBezTo>
                  <a:cubicBezTo>
                    <a:pt x="144871" y="246805"/>
                    <a:pt x="128838" y="251664"/>
                    <a:pt x="112320" y="256522"/>
                  </a:cubicBezTo>
                  <a:lnTo>
                    <a:pt x="86570" y="263810"/>
                  </a:lnTo>
                  <a:lnTo>
                    <a:pt x="85113" y="256036"/>
                  </a:lnTo>
                  <a:close/>
                  <a:moveTo>
                    <a:pt x="164790" y="358062"/>
                  </a:moveTo>
                  <a:cubicBezTo>
                    <a:pt x="164790" y="358062"/>
                    <a:pt x="162361" y="363892"/>
                    <a:pt x="157988" y="365350"/>
                  </a:cubicBezTo>
                  <a:cubicBezTo>
                    <a:pt x="157017" y="365350"/>
                    <a:pt x="156045" y="365350"/>
                    <a:pt x="155559" y="365350"/>
                  </a:cubicBezTo>
                  <a:cubicBezTo>
                    <a:pt x="152158" y="365350"/>
                    <a:pt x="149729" y="363406"/>
                    <a:pt x="148271" y="362435"/>
                  </a:cubicBezTo>
                  <a:cubicBezTo>
                    <a:pt x="123980" y="345430"/>
                    <a:pt x="105518" y="322596"/>
                    <a:pt x="94344" y="294903"/>
                  </a:cubicBezTo>
                  <a:cubicBezTo>
                    <a:pt x="93372" y="292960"/>
                    <a:pt x="91914" y="289073"/>
                    <a:pt x="94344" y="285672"/>
                  </a:cubicBezTo>
                  <a:cubicBezTo>
                    <a:pt x="95801" y="283243"/>
                    <a:pt x="98230" y="281300"/>
                    <a:pt x="102117" y="280814"/>
                  </a:cubicBezTo>
                  <a:cubicBezTo>
                    <a:pt x="119121" y="277899"/>
                    <a:pt x="136611" y="274984"/>
                    <a:pt x="153616" y="272069"/>
                  </a:cubicBezTo>
                  <a:lnTo>
                    <a:pt x="172563" y="269154"/>
                  </a:lnTo>
                  <a:cubicBezTo>
                    <a:pt x="178393" y="268668"/>
                    <a:pt x="183738" y="271583"/>
                    <a:pt x="187624" y="275956"/>
                  </a:cubicBezTo>
                  <a:cubicBezTo>
                    <a:pt x="191511" y="280328"/>
                    <a:pt x="192969" y="286158"/>
                    <a:pt x="191997" y="291988"/>
                  </a:cubicBezTo>
                  <a:lnTo>
                    <a:pt x="191997" y="291988"/>
                  </a:lnTo>
                  <a:cubicBezTo>
                    <a:pt x="191997" y="291988"/>
                    <a:pt x="190539" y="296361"/>
                    <a:pt x="190053" y="298790"/>
                  </a:cubicBezTo>
                  <a:lnTo>
                    <a:pt x="182766" y="316766"/>
                  </a:lnTo>
                  <a:cubicBezTo>
                    <a:pt x="176936" y="330369"/>
                    <a:pt x="171592" y="343973"/>
                    <a:pt x="165762" y="358062"/>
                  </a:cubicBezTo>
                  <a:close/>
                  <a:moveTo>
                    <a:pt x="283820" y="377010"/>
                  </a:moveTo>
                  <a:cubicBezTo>
                    <a:pt x="281877" y="381382"/>
                    <a:pt x="277504" y="382840"/>
                    <a:pt x="276047" y="383326"/>
                  </a:cubicBezTo>
                  <a:cubicBezTo>
                    <a:pt x="261472" y="387212"/>
                    <a:pt x="247382" y="389642"/>
                    <a:pt x="232807" y="389642"/>
                  </a:cubicBezTo>
                  <a:cubicBezTo>
                    <a:pt x="217746" y="389642"/>
                    <a:pt x="203171" y="387212"/>
                    <a:pt x="188596" y="382840"/>
                  </a:cubicBezTo>
                  <a:cubicBezTo>
                    <a:pt x="187138" y="382840"/>
                    <a:pt x="183252" y="381382"/>
                    <a:pt x="181308" y="377010"/>
                  </a:cubicBezTo>
                  <a:cubicBezTo>
                    <a:pt x="179851" y="373123"/>
                    <a:pt x="181308" y="369236"/>
                    <a:pt x="182280" y="367779"/>
                  </a:cubicBezTo>
                  <a:cubicBezTo>
                    <a:pt x="189082" y="355633"/>
                    <a:pt x="195398" y="343973"/>
                    <a:pt x="202199" y="331827"/>
                  </a:cubicBezTo>
                  <a:lnTo>
                    <a:pt x="214831" y="308993"/>
                  </a:lnTo>
                  <a:cubicBezTo>
                    <a:pt x="218718" y="302191"/>
                    <a:pt x="225034" y="298304"/>
                    <a:pt x="231836" y="298304"/>
                  </a:cubicBezTo>
                  <a:lnTo>
                    <a:pt x="231836" y="298304"/>
                  </a:lnTo>
                  <a:cubicBezTo>
                    <a:pt x="238637" y="298304"/>
                    <a:pt x="244953" y="302191"/>
                    <a:pt x="248840" y="308993"/>
                  </a:cubicBezTo>
                  <a:cubicBezTo>
                    <a:pt x="254670" y="318709"/>
                    <a:pt x="260014" y="328912"/>
                    <a:pt x="265358" y="338629"/>
                  </a:cubicBezTo>
                  <a:lnTo>
                    <a:pt x="274589" y="355633"/>
                  </a:lnTo>
                  <a:cubicBezTo>
                    <a:pt x="276533" y="359520"/>
                    <a:pt x="278962" y="363406"/>
                    <a:pt x="280905" y="367293"/>
                  </a:cubicBezTo>
                  <a:cubicBezTo>
                    <a:pt x="281877" y="368751"/>
                    <a:pt x="284306" y="372637"/>
                    <a:pt x="282363" y="377010"/>
                  </a:cubicBezTo>
                  <a:close/>
                  <a:moveTo>
                    <a:pt x="371757" y="294417"/>
                  </a:moveTo>
                  <a:cubicBezTo>
                    <a:pt x="360582" y="323082"/>
                    <a:pt x="341635" y="346402"/>
                    <a:pt x="316857" y="363892"/>
                  </a:cubicBezTo>
                  <a:cubicBezTo>
                    <a:pt x="315885" y="364378"/>
                    <a:pt x="313456" y="366321"/>
                    <a:pt x="310541" y="366321"/>
                  </a:cubicBezTo>
                  <a:cubicBezTo>
                    <a:pt x="309569" y="366321"/>
                    <a:pt x="309084" y="366321"/>
                    <a:pt x="308112" y="366321"/>
                  </a:cubicBezTo>
                  <a:cubicBezTo>
                    <a:pt x="303739" y="364864"/>
                    <a:pt x="302282" y="360977"/>
                    <a:pt x="301796" y="360005"/>
                  </a:cubicBezTo>
                  <a:cubicBezTo>
                    <a:pt x="294994" y="343487"/>
                    <a:pt x="288193" y="326969"/>
                    <a:pt x="281391" y="310450"/>
                  </a:cubicBezTo>
                  <a:lnTo>
                    <a:pt x="275561" y="296361"/>
                  </a:lnTo>
                  <a:cubicBezTo>
                    <a:pt x="275561" y="296361"/>
                    <a:pt x="273618" y="291017"/>
                    <a:pt x="274103" y="287616"/>
                  </a:cubicBezTo>
                  <a:cubicBezTo>
                    <a:pt x="274103" y="282757"/>
                    <a:pt x="276533" y="277413"/>
                    <a:pt x="280905" y="273526"/>
                  </a:cubicBezTo>
                  <a:cubicBezTo>
                    <a:pt x="285278" y="270126"/>
                    <a:pt x="290622" y="268668"/>
                    <a:pt x="296452" y="269640"/>
                  </a:cubicBezTo>
                  <a:lnTo>
                    <a:pt x="363983" y="281300"/>
                  </a:lnTo>
                  <a:cubicBezTo>
                    <a:pt x="363983" y="281300"/>
                    <a:pt x="369328" y="282272"/>
                    <a:pt x="371757" y="286158"/>
                  </a:cubicBezTo>
                  <a:cubicBezTo>
                    <a:pt x="373214" y="288587"/>
                    <a:pt x="373214" y="291502"/>
                    <a:pt x="371757" y="294903"/>
                  </a:cubicBezTo>
                  <a:lnTo>
                    <a:pt x="371757" y="294903"/>
                  </a:lnTo>
                  <a:close/>
                  <a:moveTo>
                    <a:pt x="380988" y="253121"/>
                  </a:moveTo>
                  <a:cubicBezTo>
                    <a:pt x="380988" y="256522"/>
                    <a:pt x="379530" y="258951"/>
                    <a:pt x="377101" y="260409"/>
                  </a:cubicBezTo>
                  <a:cubicBezTo>
                    <a:pt x="375643" y="261380"/>
                    <a:pt x="373700" y="261866"/>
                    <a:pt x="372242" y="261866"/>
                  </a:cubicBezTo>
                  <a:cubicBezTo>
                    <a:pt x="370785" y="261866"/>
                    <a:pt x="369328" y="261866"/>
                    <a:pt x="368842" y="261380"/>
                  </a:cubicBezTo>
                  <a:lnTo>
                    <a:pt x="347465" y="255065"/>
                  </a:lnTo>
                  <a:cubicBezTo>
                    <a:pt x="332404" y="250692"/>
                    <a:pt x="317829" y="246320"/>
                    <a:pt x="302768" y="241947"/>
                  </a:cubicBezTo>
                  <a:cubicBezTo>
                    <a:pt x="295480" y="240004"/>
                    <a:pt x="290136" y="234659"/>
                    <a:pt x="288678" y="227858"/>
                  </a:cubicBezTo>
                  <a:cubicBezTo>
                    <a:pt x="287221" y="221056"/>
                    <a:pt x="289650" y="213768"/>
                    <a:pt x="295480" y="208910"/>
                  </a:cubicBezTo>
                  <a:lnTo>
                    <a:pt x="346007" y="163727"/>
                  </a:lnTo>
                  <a:cubicBezTo>
                    <a:pt x="346007" y="163727"/>
                    <a:pt x="350380" y="159841"/>
                    <a:pt x="354752" y="160812"/>
                  </a:cubicBezTo>
                  <a:cubicBezTo>
                    <a:pt x="359125" y="161298"/>
                    <a:pt x="361068" y="165185"/>
                    <a:pt x="362040" y="166642"/>
                  </a:cubicBezTo>
                  <a:cubicBezTo>
                    <a:pt x="373214" y="186076"/>
                    <a:pt x="380016" y="206967"/>
                    <a:pt x="381473" y="228829"/>
                  </a:cubicBezTo>
                  <a:cubicBezTo>
                    <a:pt x="381473" y="234174"/>
                    <a:pt x="382445" y="238060"/>
                    <a:pt x="381959" y="241947"/>
                  </a:cubicBezTo>
                  <a:cubicBezTo>
                    <a:pt x="381959" y="246320"/>
                    <a:pt x="381959" y="249720"/>
                    <a:pt x="381473" y="253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8" name="Google Shape;3468;p88"/>
            <p:cNvSpPr/>
            <p:nvPr/>
          </p:nvSpPr>
          <p:spPr>
            <a:xfrm>
              <a:off x="6662294" y="4803722"/>
              <a:ext cx="314932" cy="306639"/>
            </a:xfrm>
            <a:custGeom>
              <a:avLst/>
              <a:gdLst/>
              <a:ahLst/>
              <a:cxnLst/>
              <a:rect l="l" t="t" r="r" b="b"/>
              <a:pathLst>
                <a:path w="682601" h="664625" extrusionOk="0">
                  <a:moveTo>
                    <a:pt x="614584" y="131662"/>
                  </a:moveTo>
                  <a:lnTo>
                    <a:pt x="341058" y="0"/>
                  </a:lnTo>
                  <a:lnTo>
                    <a:pt x="67531" y="131662"/>
                  </a:lnTo>
                  <a:lnTo>
                    <a:pt x="0" y="427537"/>
                  </a:lnTo>
                  <a:lnTo>
                    <a:pt x="189477" y="664626"/>
                  </a:lnTo>
                  <a:lnTo>
                    <a:pt x="493125" y="664626"/>
                  </a:lnTo>
                  <a:lnTo>
                    <a:pt x="682601" y="427537"/>
                  </a:lnTo>
                  <a:lnTo>
                    <a:pt x="615070" y="131662"/>
                  </a:lnTo>
                  <a:close/>
                  <a:moveTo>
                    <a:pt x="584462" y="407618"/>
                  </a:moveTo>
                  <a:cubicBezTo>
                    <a:pt x="579118" y="413933"/>
                    <a:pt x="571831" y="416848"/>
                    <a:pt x="563085" y="415877"/>
                  </a:cubicBezTo>
                  <a:cubicBezTo>
                    <a:pt x="557255" y="414905"/>
                    <a:pt x="551911" y="412962"/>
                    <a:pt x="547053" y="411018"/>
                  </a:cubicBezTo>
                  <a:cubicBezTo>
                    <a:pt x="544624" y="410047"/>
                    <a:pt x="542680" y="409075"/>
                    <a:pt x="540251" y="408103"/>
                  </a:cubicBezTo>
                  <a:cubicBezTo>
                    <a:pt x="533935" y="406160"/>
                    <a:pt x="529077" y="404217"/>
                    <a:pt x="523733" y="403245"/>
                  </a:cubicBezTo>
                  <a:cubicBezTo>
                    <a:pt x="519846" y="405188"/>
                    <a:pt x="516931" y="405674"/>
                    <a:pt x="514988" y="405674"/>
                  </a:cubicBezTo>
                  <a:cubicBezTo>
                    <a:pt x="508186" y="424136"/>
                    <a:pt x="498955" y="441626"/>
                    <a:pt x="486809" y="457173"/>
                  </a:cubicBezTo>
                  <a:cubicBezTo>
                    <a:pt x="473691" y="474177"/>
                    <a:pt x="458145" y="488267"/>
                    <a:pt x="440654" y="498955"/>
                  </a:cubicBezTo>
                  <a:cubicBezTo>
                    <a:pt x="441140" y="501870"/>
                    <a:pt x="440654" y="504299"/>
                    <a:pt x="440169" y="505757"/>
                  </a:cubicBezTo>
                  <a:cubicBezTo>
                    <a:pt x="440169" y="506728"/>
                    <a:pt x="439683" y="507700"/>
                    <a:pt x="441626" y="511101"/>
                  </a:cubicBezTo>
                  <a:cubicBezTo>
                    <a:pt x="445027" y="517903"/>
                    <a:pt x="449400" y="524704"/>
                    <a:pt x="454258" y="531992"/>
                  </a:cubicBezTo>
                  <a:cubicBezTo>
                    <a:pt x="457173" y="536364"/>
                    <a:pt x="460574" y="541223"/>
                    <a:pt x="462031" y="547539"/>
                  </a:cubicBezTo>
                  <a:cubicBezTo>
                    <a:pt x="464461" y="557255"/>
                    <a:pt x="460574" y="566972"/>
                    <a:pt x="452315" y="571831"/>
                  </a:cubicBezTo>
                  <a:cubicBezTo>
                    <a:pt x="444055" y="576689"/>
                    <a:pt x="433853" y="574746"/>
                    <a:pt x="426565" y="567458"/>
                  </a:cubicBezTo>
                  <a:cubicBezTo>
                    <a:pt x="421707" y="562114"/>
                    <a:pt x="419763" y="556284"/>
                    <a:pt x="417820" y="550454"/>
                  </a:cubicBezTo>
                  <a:cubicBezTo>
                    <a:pt x="415391" y="542680"/>
                    <a:pt x="412476" y="532964"/>
                    <a:pt x="408103" y="524218"/>
                  </a:cubicBezTo>
                  <a:cubicBezTo>
                    <a:pt x="407132" y="522275"/>
                    <a:pt x="406646" y="522275"/>
                    <a:pt x="406160" y="522275"/>
                  </a:cubicBezTo>
                  <a:cubicBezTo>
                    <a:pt x="402759" y="521303"/>
                    <a:pt x="400816" y="519846"/>
                    <a:pt x="399844" y="518388"/>
                  </a:cubicBezTo>
                  <a:cubicBezTo>
                    <a:pt x="360005" y="531506"/>
                    <a:pt x="320167" y="531506"/>
                    <a:pt x="280814" y="518388"/>
                  </a:cubicBezTo>
                  <a:cubicBezTo>
                    <a:pt x="278871" y="521303"/>
                    <a:pt x="275956" y="522275"/>
                    <a:pt x="274498" y="522761"/>
                  </a:cubicBezTo>
                  <a:cubicBezTo>
                    <a:pt x="274012" y="522761"/>
                    <a:pt x="273526" y="522761"/>
                    <a:pt x="272069" y="526162"/>
                  </a:cubicBezTo>
                  <a:cubicBezTo>
                    <a:pt x="268668" y="533449"/>
                    <a:pt x="265753" y="541709"/>
                    <a:pt x="263324" y="550454"/>
                  </a:cubicBezTo>
                  <a:cubicBezTo>
                    <a:pt x="261866" y="555312"/>
                    <a:pt x="259923" y="559685"/>
                    <a:pt x="257980" y="563571"/>
                  </a:cubicBezTo>
                  <a:cubicBezTo>
                    <a:pt x="253607" y="570859"/>
                    <a:pt x="246320" y="574746"/>
                    <a:pt x="239032" y="574746"/>
                  </a:cubicBezTo>
                  <a:cubicBezTo>
                    <a:pt x="236117" y="574746"/>
                    <a:pt x="233202" y="574260"/>
                    <a:pt x="230287" y="572802"/>
                  </a:cubicBezTo>
                  <a:cubicBezTo>
                    <a:pt x="220570" y="567944"/>
                    <a:pt x="216198" y="556284"/>
                    <a:pt x="220084" y="545595"/>
                  </a:cubicBezTo>
                  <a:cubicBezTo>
                    <a:pt x="222028" y="540251"/>
                    <a:pt x="224943" y="535879"/>
                    <a:pt x="227372" y="532478"/>
                  </a:cubicBezTo>
                  <a:cubicBezTo>
                    <a:pt x="233202" y="524218"/>
                    <a:pt x="237574" y="516931"/>
                    <a:pt x="240975" y="510129"/>
                  </a:cubicBezTo>
                  <a:cubicBezTo>
                    <a:pt x="241947" y="508186"/>
                    <a:pt x="241947" y="507700"/>
                    <a:pt x="241461" y="507214"/>
                  </a:cubicBezTo>
                  <a:cubicBezTo>
                    <a:pt x="240004" y="504299"/>
                    <a:pt x="240004" y="501384"/>
                    <a:pt x="240975" y="498955"/>
                  </a:cubicBezTo>
                  <a:cubicBezTo>
                    <a:pt x="205995" y="476121"/>
                    <a:pt x="181217" y="445027"/>
                    <a:pt x="166642" y="406160"/>
                  </a:cubicBezTo>
                  <a:cubicBezTo>
                    <a:pt x="163241" y="406160"/>
                    <a:pt x="160326" y="404703"/>
                    <a:pt x="157897" y="403245"/>
                  </a:cubicBezTo>
                  <a:cubicBezTo>
                    <a:pt x="157897" y="403245"/>
                    <a:pt x="156440" y="403245"/>
                    <a:pt x="155468" y="403731"/>
                  </a:cubicBezTo>
                  <a:cubicBezTo>
                    <a:pt x="147209" y="405674"/>
                    <a:pt x="139921" y="408103"/>
                    <a:pt x="131176" y="411990"/>
                  </a:cubicBezTo>
                  <a:cubicBezTo>
                    <a:pt x="125832" y="414419"/>
                    <a:pt x="120002" y="416363"/>
                    <a:pt x="113200" y="416363"/>
                  </a:cubicBezTo>
                  <a:cubicBezTo>
                    <a:pt x="102512" y="416363"/>
                    <a:pt x="93767" y="409561"/>
                    <a:pt x="91823" y="399844"/>
                  </a:cubicBezTo>
                  <a:cubicBezTo>
                    <a:pt x="89880" y="390127"/>
                    <a:pt x="95710" y="379925"/>
                    <a:pt x="104941" y="376038"/>
                  </a:cubicBezTo>
                  <a:cubicBezTo>
                    <a:pt x="109799" y="374095"/>
                    <a:pt x="114658" y="373123"/>
                    <a:pt x="120974" y="372637"/>
                  </a:cubicBezTo>
                  <a:cubicBezTo>
                    <a:pt x="129719" y="372637"/>
                    <a:pt x="138464" y="371180"/>
                    <a:pt x="146723" y="369236"/>
                  </a:cubicBezTo>
                  <a:cubicBezTo>
                    <a:pt x="149638" y="368751"/>
                    <a:pt x="150124" y="368265"/>
                    <a:pt x="150124" y="367779"/>
                  </a:cubicBezTo>
                  <a:cubicBezTo>
                    <a:pt x="151095" y="365836"/>
                    <a:pt x="152553" y="363892"/>
                    <a:pt x="155468" y="362435"/>
                  </a:cubicBezTo>
                  <a:cubicBezTo>
                    <a:pt x="151095" y="321138"/>
                    <a:pt x="159840" y="282271"/>
                    <a:pt x="181703" y="246320"/>
                  </a:cubicBezTo>
                  <a:cubicBezTo>
                    <a:pt x="180246" y="244376"/>
                    <a:pt x="179274" y="241947"/>
                    <a:pt x="179274" y="239518"/>
                  </a:cubicBezTo>
                  <a:cubicBezTo>
                    <a:pt x="179274" y="238546"/>
                    <a:pt x="179274" y="238060"/>
                    <a:pt x="175873" y="235631"/>
                  </a:cubicBezTo>
                  <a:cubicBezTo>
                    <a:pt x="170043" y="231259"/>
                    <a:pt x="163241" y="226886"/>
                    <a:pt x="155954" y="222999"/>
                  </a:cubicBezTo>
                  <a:cubicBezTo>
                    <a:pt x="151581" y="220570"/>
                    <a:pt x="146723" y="217655"/>
                    <a:pt x="142350" y="213283"/>
                  </a:cubicBezTo>
                  <a:cubicBezTo>
                    <a:pt x="134577" y="205509"/>
                    <a:pt x="133119" y="193363"/>
                    <a:pt x="139921" y="185104"/>
                  </a:cubicBezTo>
                  <a:cubicBezTo>
                    <a:pt x="146237" y="176359"/>
                    <a:pt x="158383" y="174416"/>
                    <a:pt x="168100" y="180246"/>
                  </a:cubicBezTo>
                  <a:cubicBezTo>
                    <a:pt x="173444" y="183161"/>
                    <a:pt x="177331" y="187533"/>
                    <a:pt x="181217" y="191906"/>
                  </a:cubicBezTo>
                  <a:cubicBezTo>
                    <a:pt x="187533" y="199193"/>
                    <a:pt x="193363" y="204538"/>
                    <a:pt x="199193" y="208910"/>
                  </a:cubicBezTo>
                  <a:cubicBezTo>
                    <a:pt x="199193" y="208910"/>
                    <a:pt x="200651" y="210368"/>
                    <a:pt x="201137" y="209882"/>
                  </a:cubicBezTo>
                  <a:cubicBezTo>
                    <a:pt x="204052" y="208910"/>
                    <a:pt x="206481" y="209882"/>
                    <a:pt x="208910" y="210853"/>
                  </a:cubicBezTo>
                  <a:cubicBezTo>
                    <a:pt x="239518" y="181217"/>
                    <a:pt x="274984" y="164213"/>
                    <a:pt x="316280" y="159355"/>
                  </a:cubicBezTo>
                  <a:cubicBezTo>
                    <a:pt x="316280" y="159355"/>
                    <a:pt x="316280" y="159355"/>
                    <a:pt x="316280" y="159355"/>
                  </a:cubicBezTo>
                  <a:cubicBezTo>
                    <a:pt x="316766" y="156925"/>
                    <a:pt x="318709" y="154010"/>
                    <a:pt x="320653" y="152067"/>
                  </a:cubicBezTo>
                  <a:cubicBezTo>
                    <a:pt x="320653" y="152067"/>
                    <a:pt x="320653" y="152067"/>
                    <a:pt x="320653" y="150610"/>
                  </a:cubicBezTo>
                  <a:cubicBezTo>
                    <a:pt x="320653" y="141379"/>
                    <a:pt x="319195" y="132148"/>
                    <a:pt x="317738" y="123889"/>
                  </a:cubicBezTo>
                  <a:cubicBezTo>
                    <a:pt x="316766" y="118058"/>
                    <a:pt x="316766" y="113200"/>
                    <a:pt x="317252" y="108828"/>
                  </a:cubicBezTo>
                  <a:cubicBezTo>
                    <a:pt x="318709" y="97167"/>
                    <a:pt x="327454" y="88908"/>
                    <a:pt x="339114" y="89394"/>
                  </a:cubicBezTo>
                  <a:cubicBezTo>
                    <a:pt x="348831" y="89394"/>
                    <a:pt x="357090" y="97653"/>
                    <a:pt x="358548" y="107370"/>
                  </a:cubicBezTo>
                  <a:lnTo>
                    <a:pt x="360977" y="107370"/>
                  </a:lnTo>
                  <a:lnTo>
                    <a:pt x="358062" y="122431"/>
                  </a:lnTo>
                  <a:cubicBezTo>
                    <a:pt x="357576" y="128261"/>
                    <a:pt x="356605" y="134091"/>
                    <a:pt x="355633" y="139921"/>
                  </a:cubicBezTo>
                  <a:cubicBezTo>
                    <a:pt x="355633" y="143322"/>
                    <a:pt x="355633" y="146723"/>
                    <a:pt x="355633" y="150124"/>
                  </a:cubicBezTo>
                  <a:lnTo>
                    <a:pt x="355633" y="152553"/>
                  </a:lnTo>
                  <a:cubicBezTo>
                    <a:pt x="355633" y="152553"/>
                    <a:pt x="359034" y="155954"/>
                    <a:pt x="360005" y="159840"/>
                  </a:cubicBezTo>
                  <a:cubicBezTo>
                    <a:pt x="374095" y="161784"/>
                    <a:pt x="385755" y="164213"/>
                    <a:pt x="396443" y="168100"/>
                  </a:cubicBezTo>
                  <a:cubicBezTo>
                    <a:pt x="423164" y="177331"/>
                    <a:pt x="446970" y="191906"/>
                    <a:pt x="467376" y="211339"/>
                  </a:cubicBezTo>
                  <a:cubicBezTo>
                    <a:pt x="469805" y="209882"/>
                    <a:pt x="472234" y="209396"/>
                    <a:pt x="475149" y="209882"/>
                  </a:cubicBezTo>
                  <a:cubicBezTo>
                    <a:pt x="475149" y="209882"/>
                    <a:pt x="476121" y="209882"/>
                    <a:pt x="478550" y="207938"/>
                  </a:cubicBezTo>
                  <a:cubicBezTo>
                    <a:pt x="484380" y="203080"/>
                    <a:pt x="490210" y="197250"/>
                    <a:pt x="496040" y="190934"/>
                  </a:cubicBezTo>
                  <a:cubicBezTo>
                    <a:pt x="499441" y="187047"/>
                    <a:pt x="503328" y="182675"/>
                    <a:pt x="508672" y="179760"/>
                  </a:cubicBezTo>
                  <a:cubicBezTo>
                    <a:pt x="514988" y="175873"/>
                    <a:pt x="522761" y="175387"/>
                    <a:pt x="529563" y="178302"/>
                  </a:cubicBezTo>
                  <a:cubicBezTo>
                    <a:pt x="535393" y="181217"/>
                    <a:pt x="539765" y="186562"/>
                    <a:pt x="541223" y="193363"/>
                  </a:cubicBezTo>
                  <a:cubicBezTo>
                    <a:pt x="542195" y="198707"/>
                    <a:pt x="541223" y="205995"/>
                    <a:pt x="533935" y="213768"/>
                  </a:cubicBezTo>
                  <a:cubicBezTo>
                    <a:pt x="530049" y="217655"/>
                    <a:pt x="525190" y="220570"/>
                    <a:pt x="520818" y="222513"/>
                  </a:cubicBezTo>
                  <a:cubicBezTo>
                    <a:pt x="512073" y="227372"/>
                    <a:pt x="505271" y="231744"/>
                    <a:pt x="499927" y="236603"/>
                  </a:cubicBezTo>
                  <a:cubicBezTo>
                    <a:pt x="498469" y="238060"/>
                    <a:pt x="498469" y="238546"/>
                    <a:pt x="498469" y="239032"/>
                  </a:cubicBezTo>
                  <a:cubicBezTo>
                    <a:pt x="498469" y="241947"/>
                    <a:pt x="497497" y="244376"/>
                    <a:pt x="495554" y="246320"/>
                  </a:cubicBezTo>
                  <a:cubicBezTo>
                    <a:pt x="512073" y="273526"/>
                    <a:pt x="521303" y="302677"/>
                    <a:pt x="523247" y="333770"/>
                  </a:cubicBezTo>
                  <a:cubicBezTo>
                    <a:pt x="523733" y="343001"/>
                    <a:pt x="523247" y="352232"/>
                    <a:pt x="522275" y="361949"/>
                  </a:cubicBezTo>
                  <a:cubicBezTo>
                    <a:pt x="525190" y="362921"/>
                    <a:pt x="526162" y="365350"/>
                    <a:pt x="527134" y="366321"/>
                  </a:cubicBezTo>
                  <a:cubicBezTo>
                    <a:pt x="528105" y="368265"/>
                    <a:pt x="529563" y="368751"/>
                    <a:pt x="534907" y="369236"/>
                  </a:cubicBezTo>
                  <a:cubicBezTo>
                    <a:pt x="541709" y="370208"/>
                    <a:pt x="546567" y="370694"/>
                    <a:pt x="551911" y="371180"/>
                  </a:cubicBezTo>
                  <a:cubicBezTo>
                    <a:pt x="556770" y="371666"/>
                    <a:pt x="561628" y="372151"/>
                    <a:pt x="566972" y="373123"/>
                  </a:cubicBezTo>
                  <a:cubicBezTo>
                    <a:pt x="575231" y="374095"/>
                    <a:pt x="581547" y="378953"/>
                    <a:pt x="584948" y="386241"/>
                  </a:cubicBezTo>
                  <a:lnTo>
                    <a:pt x="584948" y="386241"/>
                  </a:lnTo>
                  <a:cubicBezTo>
                    <a:pt x="588349" y="393528"/>
                    <a:pt x="587377" y="400816"/>
                    <a:pt x="582519" y="407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9" name="Google Shape;3469;p88"/>
            <p:cNvSpPr/>
            <p:nvPr/>
          </p:nvSpPr>
          <p:spPr>
            <a:xfrm>
              <a:off x="6881290" y="4967352"/>
              <a:ext cx="3362" cy="224"/>
            </a:xfrm>
            <a:custGeom>
              <a:avLst/>
              <a:gdLst/>
              <a:ahLst/>
              <a:cxnLst/>
              <a:rect l="l" t="t" r="r" b="b"/>
              <a:pathLst>
                <a:path w="7287" h="485" extrusionOk="0">
                  <a:moveTo>
                    <a:pt x="0" y="0"/>
                  </a:moveTo>
                  <a:lnTo>
                    <a:pt x="7288" y="4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0" name="Google Shape;3470;p88"/>
            <p:cNvSpPr/>
            <p:nvPr/>
          </p:nvSpPr>
          <p:spPr>
            <a:xfrm>
              <a:off x="6813596" y="4957042"/>
              <a:ext cx="12104" cy="11880"/>
            </a:xfrm>
            <a:custGeom>
              <a:avLst/>
              <a:gdLst/>
              <a:ahLst/>
              <a:cxnLst/>
              <a:rect l="l" t="t" r="r" b="b"/>
              <a:pathLst>
                <a:path w="26235" h="25749" extrusionOk="0">
                  <a:moveTo>
                    <a:pt x="13118" y="25749"/>
                  </a:moveTo>
                  <a:lnTo>
                    <a:pt x="23806" y="20405"/>
                  </a:lnTo>
                  <a:lnTo>
                    <a:pt x="26235" y="9231"/>
                  </a:lnTo>
                  <a:lnTo>
                    <a:pt x="18948" y="0"/>
                  </a:lnTo>
                  <a:lnTo>
                    <a:pt x="7288" y="0"/>
                  </a:lnTo>
                  <a:lnTo>
                    <a:pt x="0" y="9231"/>
                  </a:lnTo>
                  <a:lnTo>
                    <a:pt x="2429" y="20405"/>
                  </a:lnTo>
                  <a:lnTo>
                    <a:pt x="13118" y="25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1" name="Google Shape;3471;p88"/>
            <p:cNvSpPr/>
            <p:nvPr/>
          </p:nvSpPr>
          <p:spPr>
            <a:xfrm>
              <a:off x="6852120" y="4933282"/>
              <a:ext cx="29393" cy="30933"/>
            </a:xfrm>
            <a:custGeom>
              <a:avLst/>
              <a:gdLst/>
              <a:ahLst/>
              <a:cxnLst/>
              <a:rect l="l" t="t" r="r" b="b"/>
              <a:pathLst>
                <a:path w="63708" h="67045" extrusionOk="0">
                  <a:moveTo>
                    <a:pt x="63709" y="63645"/>
                  </a:moveTo>
                  <a:cubicBezTo>
                    <a:pt x="63709" y="59758"/>
                    <a:pt x="63709" y="56357"/>
                    <a:pt x="63223" y="52956"/>
                  </a:cubicBezTo>
                  <a:cubicBezTo>
                    <a:pt x="61766" y="34009"/>
                    <a:pt x="56421" y="16518"/>
                    <a:pt x="48162" y="0"/>
                  </a:cubicBezTo>
                  <a:lnTo>
                    <a:pt x="2008" y="41296"/>
                  </a:lnTo>
                  <a:cubicBezTo>
                    <a:pt x="2008" y="41296"/>
                    <a:pt x="-422" y="44697"/>
                    <a:pt x="64" y="46155"/>
                  </a:cubicBezTo>
                  <a:cubicBezTo>
                    <a:pt x="64" y="47612"/>
                    <a:pt x="2008" y="49070"/>
                    <a:pt x="3951" y="49555"/>
                  </a:cubicBezTo>
                  <a:cubicBezTo>
                    <a:pt x="18526" y="53928"/>
                    <a:pt x="33587" y="58300"/>
                    <a:pt x="48162" y="62673"/>
                  </a:cubicBezTo>
                  <a:lnTo>
                    <a:pt x="63709" y="67046"/>
                  </a:lnTo>
                  <a:cubicBezTo>
                    <a:pt x="63709" y="67046"/>
                    <a:pt x="63709" y="64616"/>
                    <a:pt x="63709" y="63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2" name="Google Shape;3472;p88"/>
          <p:cNvSpPr/>
          <p:nvPr/>
        </p:nvSpPr>
        <p:spPr>
          <a:xfrm>
            <a:off x="7471209" y="4347893"/>
            <a:ext cx="663916" cy="58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3" name="Google Shape;3473;p88"/>
          <p:cNvSpPr/>
          <p:nvPr/>
        </p:nvSpPr>
        <p:spPr>
          <a:xfrm>
            <a:off x="1999090" y="5714223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4" name="Google Shape;3474;p88"/>
          <p:cNvSpPr/>
          <p:nvPr/>
        </p:nvSpPr>
        <p:spPr>
          <a:xfrm>
            <a:off x="3678371" y="5714223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5" name="Google Shape;3475;p88"/>
          <p:cNvSpPr/>
          <p:nvPr/>
        </p:nvSpPr>
        <p:spPr>
          <a:xfrm>
            <a:off x="5357652" y="5714223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6" name="Google Shape;3476;p88"/>
          <p:cNvSpPr/>
          <p:nvPr/>
        </p:nvSpPr>
        <p:spPr>
          <a:xfrm>
            <a:off x="7054967" y="5714249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4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7" name="Google Shape;3477;p88"/>
          <p:cNvCxnSpPr>
            <a:stCxn id="3402" idx="2"/>
            <a:endCxn id="3473" idx="0"/>
          </p:cNvCxnSpPr>
          <p:nvPr/>
        </p:nvCxnSpPr>
        <p:spPr>
          <a:xfrm>
            <a:off x="2582286" y="5565394"/>
            <a:ext cx="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8" name="Google Shape;3478;p88"/>
          <p:cNvCxnSpPr>
            <a:stCxn id="3404" idx="2"/>
            <a:endCxn id="3474" idx="0"/>
          </p:cNvCxnSpPr>
          <p:nvPr/>
        </p:nvCxnSpPr>
        <p:spPr>
          <a:xfrm flipH="1">
            <a:off x="4261603" y="5565394"/>
            <a:ext cx="90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9" name="Google Shape;3479;p88"/>
          <p:cNvCxnSpPr>
            <a:stCxn id="3406" idx="2"/>
            <a:endCxn id="3475" idx="0"/>
          </p:cNvCxnSpPr>
          <p:nvPr/>
        </p:nvCxnSpPr>
        <p:spPr>
          <a:xfrm flipH="1">
            <a:off x="5940723" y="5565394"/>
            <a:ext cx="300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80" name="Google Shape;3480;p88"/>
          <p:cNvCxnSpPr>
            <a:stCxn id="3408" idx="2"/>
            <a:endCxn id="3476" idx="0"/>
          </p:cNvCxnSpPr>
          <p:nvPr/>
        </p:nvCxnSpPr>
        <p:spPr>
          <a:xfrm>
            <a:off x="7638163" y="5565394"/>
            <a:ext cx="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1" name="Google Shape;3481;p88"/>
          <p:cNvSpPr/>
          <p:nvPr/>
        </p:nvSpPr>
        <p:spPr>
          <a:xfrm>
            <a:off x="8738606" y="5708010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5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2" name="Google Shape;3482;p88"/>
          <p:cNvCxnSpPr>
            <a:stCxn id="3410" idx="2"/>
            <a:endCxn id="3481" idx="0"/>
          </p:cNvCxnSpPr>
          <p:nvPr/>
        </p:nvCxnSpPr>
        <p:spPr>
          <a:xfrm>
            <a:off x="9319592" y="5565394"/>
            <a:ext cx="2100" cy="1425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3" name="Google Shape;3483;p88"/>
          <p:cNvSpPr/>
          <p:nvPr/>
        </p:nvSpPr>
        <p:spPr>
          <a:xfrm>
            <a:off x="10420035" y="5714223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4" name="Google Shape;3484;p88"/>
          <p:cNvCxnSpPr>
            <a:stCxn id="3412" idx="2"/>
            <a:endCxn id="3483" idx="0"/>
          </p:cNvCxnSpPr>
          <p:nvPr/>
        </p:nvCxnSpPr>
        <p:spPr>
          <a:xfrm>
            <a:off x="11000614" y="5565394"/>
            <a:ext cx="270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73E1DA5D-7547-ED06-1408-A4950F3B5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Three Management Zones with Isolated Workload Zones Model v1.0</a:t>
            </a:r>
            <a:endParaRPr lang="en-US" sz="24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Google Shape;3497;p90"/>
          <p:cNvSpPr/>
          <p:nvPr/>
        </p:nvSpPr>
        <p:spPr>
          <a:xfrm flipH="1">
            <a:off x="579809" y="1532591"/>
            <a:ext cx="3455894" cy="285115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8" name="Google Shape;3498;p90"/>
          <p:cNvSpPr/>
          <p:nvPr/>
        </p:nvSpPr>
        <p:spPr>
          <a:xfrm flipH="1">
            <a:off x="1171479" y="2230801"/>
            <a:ext cx="2272554" cy="201174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9" name="Google Shape;3499;p90"/>
          <p:cNvSpPr/>
          <p:nvPr/>
        </p:nvSpPr>
        <p:spPr>
          <a:xfrm>
            <a:off x="1289588" y="2529532"/>
            <a:ext cx="2076750" cy="1586753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0" name="Google Shape;3500;p90"/>
          <p:cNvSpPr/>
          <p:nvPr/>
        </p:nvSpPr>
        <p:spPr>
          <a:xfrm flipH="1">
            <a:off x="1362762" y="2862736"/>
            <a:ext cx="1930401" cy="1132527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1" name="Google Shape;3501;p90"/>
          <p:cNvSpPr/>
          <p:nvPr/>
        </p:nvSpPr>
        <p:spPr>
          <a:xfrm>
            <a:off x="671525" y="1821910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2" name="Google Shape;3502;p90"/>
          <p:cNvSpPr/>
          <p:nvPr/>
        </p:nvSpPr>
        <p:spPr>
          <a:xfrm>
            <a:off x="2354916" y="1821910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3" name="Google Shape;3503;p90"/>
          <p:cNvGrpSpPr/>
          <p:nvPr/>
        </p:nvGrpSpPr>
        <p:grpSpPr>
          <a:xfrm>
            <a:off x="2165315" y="3199757"/>
            <a:ext cx="325298" cy="325526"/>
            <a:chOff x="658852" y="4954224"/>
            <a:chExt cx="583799" cy="584209"/>
          </a:xfrm>
        </p:grpSpPr>
        <p:sp>
          <p:nvSpPr>
            <p:cNvPr id="3504" name="Google Shape;3504;p90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5" name="Google Shape;3505;p90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06" name="Google Shape;3506;p90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7" name="Google Shape;3507;p90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08" name="Google Shape;3508;p90"/>
          <p:cNvSpPr/>
          <p:nvPr/>
        </p:nvSpPr>
        <p:spPr>
          <a:xfrm>
            <a:off x="1695548" y="3427941"/>
            <a:ext cx="1274727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C3D01C-BF7D-5C62-683D-414F502F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Simple Control Plane Model v1.0</a:t>
            </a:r>
            <a:endParaRPr lang="en-US" sz="24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7" name="Google Shape;3517;p91"/>
          <p:cNvSpPr/>
          <p:nvPr/>
        </p:nvSpPr>
        <p:spPr>
          <a:xfrm flipH="1">
            <a:off x="468016" y="1905933"/>
            <a:ext cx="3455894" cy="277046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8" name="Google Shape;3518;p91"/>
          <p:cNvSpPr/>
          <p:nvPr/>
        </p:nvSpPr>
        <p:spPr>
          <a:xfrm flipH="1">
            <a:off x="1059686" y="2604143"/>
            <a:ext cx="2272554" cy="19512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9" name="Google Shape;3519;p91"/>
          <p:cNvSpPr/>
          <p:nvPr/>
        </p:nvSpPr>
        <p:spPr>
          <a:xfrm>
            <a:off x="1156718" y="2908465"/>
            <a:ext cx="2076750" cy="1510945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0" name="Google Shape;3520;p91"/>
          <p:cNvSpPr/>
          <p:nvPr/>
        </p:nvSpPr>
        <p:spPr>
          <a:xfrm flipH="1">
            <a:off x="1229892" y="3192765"/>
            <a:ext cx="1930401" cy="1132527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1" name="Google Shape;3521;p91"/>
          <p:cNvSpPr/>
          <p:nvPr/>
        </p:nvSpPr>
        <p:spPr>
          <a:xfrm>
            <a:off x="559732" y="219525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2" name="Google Shape;3522;p91"/>
          <p:cNvSpPr/>
          <p:nvPr/>
        </p:nvSpPr>
        <p:spPr>
          <a:xfrm>
            <a:off x="2243123" y="219525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3" name="Google Shape;3523;p91"/>
          <p:cNvSpPr/>
          <p:nvPr/>
        </p:nvSpPr>
        <p:spPr>
          <a:xfrm>
            <a:off x="1467652" y="3290622"/>
            <a:ext cx="1415994" cy="1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24" name="Google Shape;3524;p91"/>
          <p:cNvGrpSpPr/>
          <p:nvPr/>
        </p:nvGrpSpPr>
        <p:grpSpPr>
          <a:xfrm>
            <a:off x="2032445" y="3529786"/>
            <a:ext cx="325298" cy="325526"/>
            <a:chOff x="658852" y="4954224"/>
            <a:chExt cx="583799" cy="584209"/>
          </a:xfrm>
        </p:grpSpPr>
        <p:sp>
          <p:nvSpPr>
            <p:cNvPr id="3525" name="Google Shape;3525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26" name="Google Shape;3526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27" name="Google Shape;3527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8" name="Google Shape;3528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29" name="Google Shape;3529;p91"/>
          <p:cNvSpPr/>
          <p:nvPr/>
        </p:nvSpPr>
        <p:spPr>
          <a:xfrm>
            <a:off x="1562678" y="3757970"/>
            <a:ext cx="1274727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30" name="Google Shape;3530;p91"/>
          <p:cNvGrpSpPr/>
          <p:nvPr/>
        </p:nvGrpSpPr>
        <p:grpSpPr>
          <a:xfrm>
            <a:off x="2430917" y="3529786"/>
            <a:ext cx="325298" cy="325526"/>
            <a:chOff x="658852" y="4954224"/>
            <a:chExt cx="583799" cy="584209"/>
          </a:xfrm>
        </p:grpSpPr>
        <p:sp>
          <p:nvSpPr>
            <p:cNvPr id="3531" name="Google Shape;3531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2" name="Google Shape;3532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33" name="Google Shape;3533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4" name="Google Shape;3534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35" name="Google Shape;3535;p91"/>
          <p:cNvGrpSpPr/>
          <p:nvPr/>
        </p:nvGrpSpPr>
        <p:grpSpPr>
          <a:xfrm>
            <a:off x="1628367" y="3529786"/>
            <a:ext cx="325298" cy="325526"/>
            <a:chOff x="658852" y="4954224"/>
            <a:chExt cx="583799" cy="584209"/>
          </a:xfrm>
        </p:grpSpPr>
        <p:sp>
          <p:nvSpPr>
            <p:cNvPr id="3536" name="Google Shape;3536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7" name="Google Shape;3537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38" name="Google Shape;3538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9" name="Google Shape;3539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40" name="Google Shape;3540;p91"/>
          <p:cNvSpPr/>
          <p:nvPr/>
        </p:nvSpPr>
        <p:spPr>
          <a:xfrm flipH="1">
            <a:off x="5288443" y="1905933"/>
            <a:ext cx="4657258" cy="277046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1" name="Google Shape;3541;p91"/>
          <p:cNvSpPr/>
          <p:nvPr/>
        </p:nvSpPr>
        <p:spPr>
          <a:xfrm flipH="1">
            <a:off x="5422259" y="2604143"/>
            <a:ext cx="1399151" cy="19512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2" name="Google Shape;3542;p91"/>
          <p:cNvSpPr/>
          <p:nvPr/>
        </p:nvSpPr>
        <p:spPr>
          <a:xfrm>
            <a:off x="5519292" y="2908465"/>
            <a:ext cx="1187819" cy="1510945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1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3" name="Google Shape;3543;p91"/>
          <p:cNvSpPr/>
          <p:nvPr/>
        </p:nvSpPr>
        <p:spPr>
          <a:xfrm>
            <a:off x="5975456" y="219525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4" name="Google Shape;3544;p91"/>
          <p:cNvSpPr/>
          <p:nvPr/>
        </p:nvSpPr>
        <p:spPr>
          <a:xfrm>
            <a:off x="7658847" y="219525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45" name="Google Shape;3545;p91"/>
          <p:cNvGrpSpPr/>
          <p:nvPr/>
        </p:nvGrpSpPr>
        <p:grpSpPr>
          <a:xfrm>
            <a:off x="5950552" y="3501318"/>
            <a:ext cx="325298" cy="325526"/>
            <a:chOff x="658852" y="4954224"/>
            <a:chExt cx="583799" cy="584209"/>
          </a:xfrm>
        </p:grpSpPr>
        <p:sp>
          <p:nvSpPr>
            <p:cNvPr id="3546" name="Google Shape;3546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47" name="Google Shape;3547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48" name="Google Shape;3548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9" name="Google Shape;3549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50" name="Google Shape;3550;p91"/>
          <p:cNvSpPr/>
          <p:nvPr/>
        </p:nvSpPr>
        <p:spPr>
          <a:xfrm>
            <a:off x="5519292" y="3776533"/>
            <a:ext cx="1187819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VM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1" name="Google Shape;3551;p91"/>
          <p:cNvSpPr/>
          <p:nvPr/>
        </p:nvSpPr>
        <p:spPr>
          <a:xfrm flipH="1">
            <a:off x="6918442" y="2604143"/>
            <a:ext cx="1399151" cy="19512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2" name="Google Shape;3552;p91"/>
          <p:cNvSpPr/>
          <p:nvPr/>
        </p:nvSpPr>
        <p:spPr>
          <a:xfrm>
            <a:off x="7015475" y="2908465"/>
            <a:ext cx="1187819" cy="1510945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2 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53" name="Google Shape;3553;p91"/>
          <p:cNvGrpSpPr/>
          <p:nvPr/>
        </p:nvGrpSpPr>
        <p:grpSpPr>
          <a:xfrm>
            <a:off x="7446735" y="3501318"/>
            <a:ext cx="325298" cy="325526"/>
            <a:chOff x="658852" y="4954224"/>
            <a:chExt cx="583799" cy="584209"/>
          </a:xfrm>
        </p:grpSpPr>
        <p:sp>
          <p:nvSpPr>
            <p:cNvPr id="3554" name="Google Shape;3554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55" name="Google Shape;3555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56" name="Google Shape;3556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7" name="Google Shape;3557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58" name="Google Shape;3558;p91"/>
          <p:cNvSpPr/>
          <p:nvPr/>
        </p:nvSpPr>
        <p:spPr>
          <a:xfrm>
            <a:off x="7015475" y="3776533"/>
            <a:ext cx="1187819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VM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9" name="Google Shape;3559;p91"/>
          <p:cNvSpPr/>
          <p:nvPr/>
        </p:nvSpPr>
        <p:spPr>
          <a:xfrm flipH="1">
            <a:off x="8392594" y="2604143"/>
            <a:ext cx="1399151" cy="19512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0" name="Google Shape;3560;p91"/>
          <p:cNvSpPr/>
          <p:nvPr/>
        </p:nvSpPr>
        <p:spPr>
          <a:xfrm>
            <a:off x="8489627" y="2908465"/>
            <a:ext cx="1187819" cy="1510945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3 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1" name="Google Shape;3561;p91"/>
          <p:cNvGrpSpPr/>
          <p:nvPr/>
        </p:nvGrpSpPr>
        <p:grpSpPr>
          <a:xfrm>
            <a:off x="8920887" y="3501318"/>
            <a:ext cx="325298" cy="325526"/>
            <a:chOff x="658852" y="4954224"/>
            <a:chExt cx="583799" cy="584209"/>
          </a:xfrm>
        </p:grpSpPr>
        <p:sp>
          <p:nvSpPr>
            <p:cNvPr id="3562" name="Google Shape;3562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63" name="Google Shape;3563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64" name="Google Shape;3564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5" name="Google Shape;3565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66" name="Google Shape;3566;p91"/>
          <p:cNvSpPr/>
          <p:nvPr/>
        </p:nvSpPr>
        <p:spPr>
          <a:xfrm>
            <a:off x="8489627" y="3776533"/>
            <a:ext cx="1187819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VM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7" name="Google Shape;3567;p91"/>
          <p:cNvSpPr/>
          <p:nvPr/>
        </p:nvSpPr>
        <p:spPr>
          <a:xfrm flipH="1">
            <a:off x="5584277" y="3181859"/>
            <a:ext cx="4040844" cy="1067544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8" name="Google Shape;3568;p91"/>
          <p:cNvSpPr/>
          <p:nvPr/>
        </p:nvSpPr>
        <p:spPr>
          <a:xfrm>
            <a:off x="8356094" y="3245987"/>
            <a:ext cx="1415994" cy="1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9" name="Google Shape;3569;p91"/>
          <p:cNvSpPr txBox="1"/>
          <p:nvPr/>
        </p:nvSpPr>
        <p:spPr>
          <a:xfrm>
            <a:off x="467276" y="1524840"/>
            <a:ext cx="2322181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666666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Management Zone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0" name="Google Shape;3570;p91"/>
          <p:cNvSpPr txBox="1"/>
          <p:nvPr/>
        </p:nvSpPr>
        <p:spPr>
          <a:xfrm>
            <a:off x="5300808" y="1523661"/>
            <a:ext cx="2322181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666666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Management Zones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0E9D4A-4CCD-D499-6E96-5E5A4FB1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High Availability Control Plane Model v1.0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VMware">
  <a:themeElements>
    <a:clrScheme name="Custom 3">
      <a:dk1>
        <a:srgbClr val="000000"/>
      </a:dk1>
      <a:lt1>
        <a:srgbClr val="FFFFFF"/>
      </a:lt1>
      <a:dk2>
        <a:srgbClr val="1B1D36"/>
      </a:dk2>
      <a:lt2>
        <a:srgbClr val="F2F2F2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5C8A"/>
      </a:hlink>
      <a:folHlink>
        <a:srgbClr val="005C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rgbClr val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8D0C854358DC418D143DF91B0F9F69" ma:contentTypeVersion="25" ma:contentTypeDescription="Create a new document." ma:contentTypeScope="" ma:versionID="86d1ae78601d406bc59f7b48175c4925">
  <xsd:schema xmlns:xsd="http://www.w3.org/2001/XMLSchema" xmlns:xs="http://www.w3.org/2001/XMLSchema" xmlns:p="http://schemas.microsoft.com/office/2006/metadata/properties" xmlns:ns1="http://schemas.microsoft.com/sharepoint/v3" xmlns:ns2="ff83b573-1131-4ec9-87e0-8de43cb2141f" xmlns:ns3="b91cd729-8792-47cd-b03b-259374444807" xmlns:ns4="78c16552-cbf3-4f1f-97ed-388b5d2a083d" targetNamespace="http://schemas.microsoft.com/office/2006/metadata/properties" ma:root="true" ma:fieldsID="87232950fb7e83d3727f6e525efdb9c3" ns1:_="" ns2:_="" ns3:_="" ns4:_="">
    <xsd:import namespace="http://schemas.microsoft.com/sharepoint/v3"/>
    <xsd:import namespace="ff83b573-1131-4ec9-87e0-8de43cb2141f"/>
    <xsd:import namespace="b91cd729-8792-47cd-b03b-259374444807"/>
    <xsd:import namespace="78c16552-cbf3-4f1f-97ed-388b5d2a083d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83b573-1131-4ec9-87e0-8de43cb2141f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35e516c6-d7bc-4be5-8458-55365016f2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3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cd729-8792-47cd-b03b-25937444480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c16552-cbf3-4f1f-97ed-388b5d2a083d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62e8767f-5054-4ecc-a981-a992a2f0e90f}" ma:internalName="TaxCatchAll" ma:showField="CatchAllData" ma:web="78c16552-cbf3-4f1f-97ed-388b5d2a08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SecurityGroups xmlns="ff83b573-1131-4ec9-87e0-8de43cb2141f" xsi:nil="true"/>
    <_ip_UnifiedCompliancePolicyUIAction xmlns="http://schemas.microsoft.com/sharepoint/v3" xsi:nil="true"/>
    <MigrationWizIdPermissions xmlns="ff83b573-1131-4ec9-87e0-8de43cb2141f" xsi:nil="true"/>
    <MigrationWizId xmlns="ff83b573-1131-4ec9-87e0-8de43cb2141f" xsi:nil="true"/>
    <TaxCatchAll xmlns="78c16552-cbf3-4f1f-97ed-388b5d2a083d" xsi:nil="true"/>
    <MigrationWizIdDocumentLibraryPermissions xmlns="ff83b573-1131-4ec9-87e0-8de43cb2141f" xsi:nil="true"/>
    <_ip_UnifiedCompliancePolicyProperties xmlns="http://schemas.microsoft.com/sharepoint/v3" xsi:nil="true"/>
    <lcf76f155ced4ddcb4097134ff3c332f xmlns="ff83b573-1131-4ec9-87e0-8de43cb2141f">
      <Terms xmlns="http://schemas.microsoft.com/office/infopath/2007/PartnerControls"/>
    </lcf76f155ced4ddcb4097134ff3c332f>
    <MigrationWizIdPermissionLevels xmlns="ff83b573-1131-4ec9-87e0-8de43cb2141f" xsi:nil="true"/>
  </documentManagement>
</p:properties>
</file>

<file path=customXml/itemProps1.xml><?xml version="1.0" encoding="utf-8"?>
<ds:datastoreItem xmlns:ds="http://schemas.openxmlformats.org/officeDocument/2006/customXml" ds:itemID="{DA1908E9-4858-4A6B-9D72-D13EDCC16619}"/>
</file>

<file path=customXml/itemProps2.xml><?xml version="1.0" encoding="utf-8"?>
<ds:datastoreItem xmlns:ds="http://schemas.openxmlformats.org/officeDocument/2006/customXml" ds:itemID="{A1FD3441-8C36-4BC6-A302-1C018FC2FA1C}"/>
</file>

<file path=customXml/itemProps3.xml><?xml version="1.0" encoding="utf-8"?>
<ds:datastoreItem xmlns:ds="http://schemas.openxmlformats.org/officeDocument/2006/customXml" ds:itemID="{C5140D81-C4B5-4BEB-BE11-68CAEED5B645}"/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9272</Words>
  <Application>Microsoft Macintosh PowerPoint</Application>
  <PresentationFormat>Custom</PresentationFormat>
  <Paragraphs>3010</Paragraphs>
  <Slides>113</Slides>
  <Notes>108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19" baseType="lpstr">
      <vt:lpstr>Aptos</vt:lpstr>
      <vt:lpstr>Arial</vt:lpstr>
      <vt:lpstr>Metropolis</vt:lpstr>
      <vt:lpstr>NTR</vt:lpstr>
      <vt:lpstr>Open Sans</vt:lpstr>
      <vt:lpstr>1_VMware</vt:lpstr>
      <vt:lpstr>Colors</vt:lpstr>
      <vt:lpstr>Diagram Guidelines</vt:lpstr>
      <vt:lpstr>Design Blueprints</vt:lpstr>
      <vt:lpstr>VCF Fleet in a Single Site with Minimal Footprint v1.1</vt:lpstr>
      <vt:lpstr>VCF Fleet in a Single Site v1.1</vt:lpstr>
      <vt:lpstr>VCF Fleet with Multiple Sites in a Single Region v1.1</vt:lpstr>
      <vt:lpstr>VCF Fleet with Multiple Sites Across Multiple Regions v1.1</vt:lpstr>
      <vt:lpstr>VCF Fleet with Multiple Sites in a Single Region Additional Region(s) v1.1</vt:lpstr>
      <vt:lpstr>VCF Private Cloud Constructs</vt:lpstr>
      <vt:lpstr>VCF Private Cloud Construct v1.0</vt:lpstr>
      <vt:lpstr>VCF Operations Models</vt:lpstr>
      <vt:lpstr>VCF Operations Models v1.1</vt:lpstr>
      <vt:lpstr>VCF Operations Simple Model v1.0</vt:lpstr>
      <vt:lpstr>VCF Operations High Availability Model v1.0</vt:lpstr>
      <vt:lpstr>VCF Operations for Logs Models</vt:lpstr>
      <vt:lpstr>VCF Operations for Logs Models v1.1</vt:lpstr>
      <vt:lpstr>Simple VCF Operations for Logs Model v1.0</vt:lpstr>
      <vt:lpstr>High Availability VCF Operations for Logs Model v1.0</vt:lpstr>
      <vt:lpstr>VCF Operations for Networks Models</vt:lpstr>
      <vt:lpstr>VCF Operations for Networks Models v1.1</vt:lpstr>
      <vt:lpstr>Simple VCF Operations for Networks Model v1.0</vt:lpstr>
      <vt:lpstr>High Availability VCF Operations for Networks Model v1.0</vt:lpstr>
      <vt:lpstr>VCF Automation Models</vt:lpstr>
      <vt:lpstr>VCF Automation Models v1.0</vt:lpstr>
      <vt:lpstr>VCF Simple and HA Models Combined v2</vt:lpstr>
      <vt:lpstr>VCF Simple and HA Models Combined w/ External LB v2</vt:lpstr>
      <vt:lpstr>VCF Automation - Object Flow v2</vt:lpstr>
      <vt:lpstr>Org Hierarchy with VPC v2</vt:lpstr>
      <vt:lpstr>Provider Consumption Org v1</vt:lpstr>
      <vt:lpstr>Example – Supervisor to Organization Relationship v1</vt:lpstr>
      <vt:lpstr>VCF Automation Org Model v1</vt:lpstr>
      <vt:lpstr>Chargeback Integration with VCF Operation v1.1</vt:lpstr>
      <vt:lpstr>Workload Domain Models</vt:lpstr>
      <vt:lpstr>Workload Domain Models v1.1</vt:lpstr>
      <vt:lpstr>Management Domain Model v1.0</vt:lpstr>
      <vt:lpstr>Workload Domain Model v1.0</vt:lpstr>
      <vt:lpstr>vSphere Cluster Models</vt:lpstr>
      <vt:lpstr>vSphere Cluster Models v1.1</vt:lpstr>
      <vt:lpstr>vSphere Cluster Models v1.0</vt:lpstr>
      <vt:lpstr>Layer 2 Multi-Rack Cluster Model v1.0</vt:lpstr>
      <vt:lpstr>Layer 3 Multi-Rack Cluster Model v1.0</vt:lpstr>
      <vt:lpstr>VCF Edge</vt:lpstr>
      <vt:lpstr>TO BE ADDED</vt:lpstr>
      <vt:lpstr>Distributed Switch Models</vt:lpstr>
      <vt:lpstr>Distributed Switch Models v1.1</vt:lpstr>
      <vt:lpstr>Single Distributed Switch Model v1.1</vt:lpstr>
      <vt:lpstr>Storage Separation Distributed Switch Model v1.2</vt:lpstr>
      <vt:lpstr>Workload Separation Distributed Switch v1.2</vt:lpstr>
      <vt:lpstr>Storage and Workload Separation Distributed Switch v1.2</vt:lpstr>
      <vt:lpstr>Dedicated vSphere Cluster for NSX Edge Node Distributed Switch Model v1.2</vt:lpstr>
      <vt:lpstr>vSAN Storage Cluster Separation Distributed Switch Model v1.2</vt:lpstr>
      <vt:lpstr>Fleet Level Components Networking</vt:lpstr>
      <vt:lpstr>Fleet Level Management on Shared Management Network Model v1.1</vt:lpstr>
      <vt:lpstr>Fleet Level Components on Dedicated Management Network Model v1.1</vt:lpstr>
      <vt:lpstr>Fleet Level Components on NSX Overlay Segment Model v1.1</vt:lpstr>
      <vt:lpstr>Fleet Level Components on NSX VLAN Segment Model v1.1</vt:lpstr>
      <vt:lpstr>Fleet Level Components on NSX Overlay Stretched Segment Model v1.1</vt:lpstr>
      <vt:lpstr>vSAN Diagrams</vt:lpstr>
      <vt:lpstr>Standard vSAN Cluster v1.1</vt:lpstr>
      <vt:lpstr>Standard vSAN Cluster – ready for export 24% </vt:lpstr>
      <vt:lpstr>Standard vSAN ESA Cluster</vt:lpstr>
      <vt:lpstr>Standard vSAN ESA Cluster  – ready for export 24% </vt:lpstr>
      <vt:lpstr>Standard vSAN OSA Cluster</vt:lpstr>
      <vt:lpstr>Standard vSAN OSA Cluster  – ready for export 24% </vt:lpstr>
      <vt:lpstr>vSAN Compute Cluster original</vt:lpstr>
      <vt:lpstr>vSAN Compute Cluster  – ready for export 24% </vt:lpstr>
      <vt:lpstr>Choices original</vt:lpstr>
      <vt:lpstr>Choices  – ready for export 24% </vt:lpstr>
      <vt:lpstr>Single Distributed Switch Model (2-pNiC) v1.1</vt:lpstr>
      <vt:lpstr>Storage Separation Distributed Switch Model (4-pNiC) v1.1</vt:lpstr>
      <vt:lpstr>vSAN  Stretched Cluster original</vt:lpstr>
      <vt:lpstr>vSAN  Stretched Cluster import  – ready for export 24% </vt:lpstr>
      <vt:lpstr>vSAN Storage + Compute Clusters original</vt:lpstr>
      <vt:lpstr>vSAN Storage + Compute Clusters original</vt:lpstr>
      <vt:lpstr>vSAN Storage + Compute Clusters  – ready for export 24%  </vt:lpstr>
      <vt:lpstr>PowerPoint Presentation</vt:lpstr>
      <vt:lpstr>PowerPoint Presentation</vt:lpstr>
      <vt:lpstr>vSAN stretched-compute original</vt:lpstr>
      <vt:lpstr>vSAN stretched-compute  – ready for export 24% </vt:lpstr>
      <vt:lpstr>Multi-rack / vSAN Fault Domains original</vt:lpstr>
      <vt:lpstr>Multi-rack / vSAN Fault Domains  – ready for export 24% </vt:lpstr>
      <vt:lpstr>vSAN Datastore Sharing original</vt:lpstr>
      <vt:lpstr>vSAN Datastore Sharing – ready for export 24% </vt:lpstr>
      <vt:lpstr>Multi-rack / L3 vSAN compute cluster original</vt:lpstr>
      <vt:lpstr>Multi-rack / L3 vSAN compute cluster – ready for export 24% </vt:lpstr>
      <vt:lpstr>NFS Storage Model v1.0</vt:lpstr>
      <vt:lpstr>Fibre Channel Storage Model v1.0</vt:lpstr>
      <vt:lpstr>NSX Edge Cluster Models </vt:lpstr>
      <vt:lpstr>Host Fault Tolerant NSX Edge Cluster v1.0</vt:lpstr>
      <vt:lpstr>Rack Fault Tolerant Design Using Two or More Vertical Layer 2 vSphere Clusters in Separate Racks Model v1.0</vt:lpstr>
      <vt:lpstr>Rack Fault Tolerant Design Using a Single Layer 3 vSphere Cluster Deployed Across Multiple Racks Model v1.0</vt:lpstr>
      <vt:lpstr>Rack Fault Tolerant Design Using a Single Layer 2 vSphere Cluster Deployed Across Multiple Racks Model v1.0</vt:lpstr>
      <vt:lpstr>NSX Edge Cluster Models </vt:lpstr>
      <vt:lpstr>Dual Availability Zone Design based on NSX Edge Node HA - Dedicated vSphere Cluster v1.0</vt:lpstr>
      <vt:lpstr>Dual Availability Zone Design based on NSX Edge Node HA - Stretched vSAN Cluster v1.0</vt:lpstr>
      <vt:lpstr>Dual Availability Zone Design based on vSphere HA Recovery v1.0</vt:lpstr>
      <vt:lpstr>NSX Management and Control Plane</vt:lpstr>
      <vt:lpstr>Networking</vt:lpstr>
      <vt:lpstr>VCF Single Sign-On</vt:lpstr>
      <vt:lpstr>VCF Identity Broker Models v1.0</vt:lpstr>
      <vt:lpstr>VCF Identity Broker Models v1.0</vt:lpstr>
      <vt:lpstr>VCF Single Sign-on Design v1.0</vt:lpstr>
      <vt:lpstr>VCF Single Sign-on Design v1.0</vt:lpstr>
      <vt:lpstr>VCF Automation Enterprise Authentication Model v1.0</vt:lpstr>
      <vt:lpstr>VCF Automation Service Provider Authentication Model v1.0</vt:lpstr>
      <vt:lpstr>Supervisor Models</vt:lpstr>
      <vt:lpstr>Simplified Supervisor Model v1.0</vt:lpstr>
      <vt:lpstr>Single Management Zone with Combined Workload Zones Model v1.0</vt:lpstr>
      <vt:lpstr>Single Management Zone with Isolated Workload Zones Model v1.0</vt:lpstr>
      <vt:lpstr>Three Management Zones with Combined Workload Zones Model v1.0</vt:lpstr>
      <vt:lpstr>Three Management Zones with Isolated Workload Zones Model v1.0</vt:lpstr>
      <vt:lpstr>Simple Control Plane Model v1.0</vt:lpstr>
      <vt:lpstr>High Availability Control Plane Model v1.0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Eric Tom Lee</dc:creator>
  <cp:lastModifiedBy>Jonathan McDonald</cp:lastModifiedBy>
  <cp:revision>81</cp:revision>
  <dcterms:created xsi:type="dcterms:W3CDTF">2024-07-23T22:43:49Z</dcterms:created>
  <dcterms:modified xsi:type="dcterms:W3CDTF">2025-07-30T15:09:01Z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0x010100D88D0C854358DC418D143DF91B0F9F69</vt:lpwstr>
  </property>
  <property fmtid="{D5CDD505-2E9C-101B-9397-08002B2CF9AE}" pid="3" name="MediaServiceImageTags">
    <vt:lpwstr/>
  </property>
</Properties>
</file>