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slides/slide1.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slideLayouts/slideLayout49.xml" ContentType="application/vnd.openxmlformats-officedocument.presentationml.slideLayout+xml"/>
  <Override PartName="/ppt/slideLayouts/slideLayout48.xml" ContentType="application/vnd.openxmlformats-officedocument.presentationml.slideLayout+xml"/>
  <Override PartName="/ppt/slideLayouts/slideLayout47.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authors.xml" ContentType="application/vnd.ms-powerpoint.authors+xml"/>
  <Override PartName="/ppt/diagrams/drawing2.xml" ContentType="application/vnd.ms-office.drawingml.diagramDrawing+xml"/>
  <Override PartName="/ppt/diagrams/colors2.xml" ContentType="application/vnd.openxmlformats-officedocument.drawingml.diagramColors+xml"/>
  <Override PartName="/ppt/diagrams/quickStyle2.xml" ContentType="application/vnd.openxmlformats-officedocument.drawingml.diagramStyle+xml"/>
  <Override PartName="/ppt/diagrams/layout2.xml" ContentType="application/vnd.openxmlformats-officedocument.drawingml.diagramLayout+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318" r:id="rId13"/>
    <p:sldId id="268" r:id="rId14"/>
    <p:sldId id="269" r:id="rId15"/>
    <p:sldId id="270" r:id="rId16"/>
    <p:sldId id="271" r:id="rId17"/>
    <p:sldId id="272" r:id="rId18"/>
    <p:sldId id="273" r:id="rId19"/>
    <p:sldId id="274" r:id="rId20"/>
    <p:sldId id="275" r:id="rId21"/>
    <p:sldId id="276" r:id="rId22"/>
    <p:sldId id="317" r:id="rId23"/>
    <p:sldId id="418" r:id="rId24"/>
    <p:sldId id="2147483148" r:id="rId25"/>
    <p:sldId id="2147483174" r:id="rId26"/>
    <p:sldId id="2147483175" r:id="rId27"/>
    <p:sldId id="2147483176" r:id="rId28"/>
    <p:sldId id="2147483177" r:id="rId29"/>
    <p:sldId id="2147483178" r:id="rId30"/>
    <p:sldId id="278" r:id="rId31"/>
    <p:sldId id="292" r:id="rId32"/>
    <p:sldId id="293" r:id="rId33"/>
    <p:sldId id="294" r:id="rId34"/>
    <p:sldId id="2147483155" r:id="rId35"/>
    <p:sldId id="2147483156" r:id="rId36"/>
    <p:sldId id="2147483162" r:id="rId37"/>
    <p:sldId id="2147483163" r:id="rId38"/>
    <p:sldId id="2147483159" r:id="rId39"/>
    <p:sldId id="2147483164" r:id="rId40"/>
    <p:sldId id="2147483165" r:id="rId41"/>
    <p:sldId id="2147483166" r:id="rId42"/>
    <p:sldId id="295" r:id="rId43"/>
    <p:sldId id="296" r:id="rId44"/>
    <p:sldId id="2147483149" r:id="rId45"/>
    <p:sldId id="297" r:id="rId46"/>
    <p:sldId id="298" r:id="rId47"/>
    <p:sldId id="2147483150" r:id="rId48"/>
    <p:sldId id="2147483151" r:id="rId49"/>
    <p:sldId id="2147483152" r:id="rId50"/>
    <p:sldId id="299" r:id="rId51"/>
    <p:sldId id="300" r:id="rId52"/>
    <p:sldId id="302" r:id="rId53"/>
    <p:sldId id="303" r:id="rId54"/>
    <p:sldId id="2147483153" r:id="rId55"/>
    <p:sldId id="2147483154" r:id="rId56"/>
    <p:sldId id="2147483167" r:id="rId57"/>
    <p:sldId id="2147483168" r:id="rId58"/>
    <p:sldId id="2147483169" r:id="rId59"/>
    <p:sldId id="2147483170" r:id="rId60"/>
    <p:sldId id="2147483171" r:id="rId61"/>
    <p:sldId id="2147483172" r:id="rId62"/>
    <p:sldId id="2147483173" r:id="rId63"/>
    <p:sldId id="305" r:id="rId64"/>
    <p:sldId id="2147483576" r:id="rId65"/>
    <p:sldId id="2147483505" r:id="rId66"/>
    <p:sldId id="2147483388" r:id="rId67"/>
    <p:sldId id="2147483564" r:id="rId68"/>
    <p:sldId id="2147483566" r:id="rId69"/>
    <p:sldId id="2147483577" r:id="rId70"/>
    <p:sldId id="2147483390" r:id="rId71"/>
    <p:sldId id="311" r:id="rId72"/>
  </p:sldIdLst>
  <p:sldSz cx="12188825"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4" roundtripDataSignature="AMtx7miQUlXnkWhfW+Cf2od4zDJeqfmBY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9A4305-1763-CD73-9AC3-7D7D2B5B4CAF}" name="Jonathan McDonald" initials="" userId="S::jonathan.mcdonald@broadcom.com::4b125546-dcb3-4aeb-a85f-d65769bec12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729A05-A551-4054-A71F-B9C2155864BA}">
  <a:tblStyle styleId="{C4729A05-A551-4054-A71F-B9C2155864BA}" styleName="Table_0">
    <a:wholeTbl>
      <a:tcTxStyle b="off" i="off">
        <a:font>
          <a:latin typeface="Metropolis"/>
          <a:ea typeface="Metropolis"/>
          <a:cs typeface="Metropolis"/>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b="off" i="off"/>
      <a:tcStyle>
        <a:tcBdr/>
        <a:fill>
          <a:solidFill>
            <a:srgbClr val="EBEBEB"/>
          </a:solidFill>
        </a:fill>
      </a:tcStyle>
    </a:band1H>
    <a:band2H>
      <a:tcTxStyle b="off" i="off"/>
      <a:tcStyle>
        <a:tcBdr/>
      </a:tcStyle>
    </a:band2H>
    <a:band1V>
      <a:tcTxStyle b="off" i="off"/>
      <a:tcStyle>
        <a:tcBdr/>
        <a:fill>
          <a:solidFill>
            <a:srgbClr val="EBEBEB"/>
          </a:solidFill>
        </a:fill>
      </a:tcStyle>
    </a:band1V>
    <a:band2V>
      <a:tcTxStyle b="off" i="off"/>
      <a:tcStyle>
        <a:tcBdr/>
      </a:tcStyle>
    </a:band2V>
    <a:lastCol>
      <a:tcTxStyle b="on" i="off">
        <a:font>
          <a:latin typeface="Metropolis"/>
          <a:ea typeface="Metropolis"/>
          <a:cs typeface="Metropolis"/>
        </a:font>
        <a:schemeClr val="lt1"/>
      </a:tcTxStyle>
      <a:tcStyle>
        <a:tcBdr/>
        <a:fill>
          <a:solidFill>
            <a:schemeClr val="accent1"/>
          </a:solidFill>
        </a:fill>
      </a:tcStyle>
    </a:lastCol>
    <a:firstCol>
      <a:tcTxStyle b="on" i="off">
        <a:font>
          <a:latin typeface="Metropolis"/>
          <a:ea typeface="Metropolis"/>
          <a:cs typeface="Metropolis"/>
        </a:font>
        <a:schemeClr val="lt1"/>
      </a:tcTxStyle>
      <a:tcStyle>
        <a:tcBdr/>
        <a:fill>
          <a:solidFill>
            <a:schemeClr val="accent1"/>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Metropolis"/>
          <a:ea typeface="Metropolis"/>
          <a:cs typeface="Metropolis"/>
        </a:font>
        <a:schemeClr val="dk1"/>
      </a:tcTxStyle>
      <a:tcStyle>
        <a:tcBdr/>
      </a:tcStyle>
    </a:seCell>
    <a:swCell>
      <a:tcTxStyle b="on" i="off">
        <a:font>
          <a:latin typeface="Metropolis"/>
          <a:ea typeface="Metropolis"/>
          <a:cs typeface="Metropolis"/>
        </a:font>
        <a:schemeClr val="dk1"/>
      </a:tcTxStyle>
      <a:tcStyle>
        <a:tcBdr/>
      </a:tcStyle>
    </a:swCell>
    <a:firstRow>
      <a:tcTxStyle b="on" i="off">
        <a:font>
          <a:latin typeface="Metropolis"/>
          <a:ea typeface="Metropolis"/>
          <a:cs typeface="Metropolis"/>
        </a:font>
        <a:schemeClr val="lt1"/>
      </a:tcTxStyle>
      <a:tcStyle>
        <a:tcBdr>
          <a:bottom>
            <a:ln w="25400" cap="flat" cmpd="sng">
              <a:solidFill>
                <a:schemeClr val="dk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646"/>
    <p:restoredTop sz="94719"/>
  </p:normalViewPr>
  <p:slideViewPr>
    <p:cSldViewPr snapToGrid="0">
      <p:cViewPr varScale="1">
        <p:scale>
          <a:sx n="148" d="100"/>
          <a:sy n="148" d="100"/>
        </p:scale>
        <p:origin x="1584" y="192"/>
      </p:cViewPr>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customschemas.google.com/relationships/presentationmetadata" Target="metadata"/><Relationship Id="rId79" Type="http://schemas.microsoft.com/office/2018/10/relationships/authors" Targe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customXml" Target="../customXml/item3.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8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F48192-5375-4341-B8E2-A097460CBD5B}" type="doc">
      <dgm:prSet loTypeId="urn:microsoft.com/office/officeart/2005/8/layout/venn1" loCatId="relationship" qsTypeId="urn:microsoft.com/office/officeart/2005/8/quickstyle/simple2" qsCatId="simple" csTypeId="urn:microsoft.com/office/officeart/2005/8/colors/colorful4" csCatId="colorful" phldr="1"/>
      <dgm:spPr/>
    </dgm:pt>
    <dgm:pt modelId="{4E35AB81-6591-47C3-A8B9-C8F518FD5A7C}">
      <dgm:prSet phldrT="[Text]"/>
      <dgm:spPr>
        <a:solidFill>
          <a:schemeClr val="accent4">
            <a:hueOff val="5517457"/>
            <a:satOff val="-28512"/>
            <a:lumOff val="4705"/>
            <a:alpha val="25000"/>
          </a:schemeClr>
        </a:solidFill>
      </dgm:spPr>
      <dgm:t>
        <a:bodyPr/>
        <a:lstStyle/>
        <a:p>
          <a:r>
            <a:rPr lang="en-US"/>
            <a:t> </a:t>
          </a:r>
        </a:p>
      </dgm:t>
    </dgm:pt>
    <dgm:pt modelId="{5F48AF11-5187-44C7-B8A4-AE619CD27ADF}" type="parTrans" cxnId="{9EB36749-582A-4832-9083-300D8C9A17E4}">
      <dgm:prSet/>
      <dgm:spPr/>
      <dgm:t>
        <a:bodyPr/>
        <a:lstStyle/>
        <a:p>
          <a:endParaRPr lang="en-US"/>
        </a:p>
      </dgm:t>
    </dgm:pt>
    <dgm:pt modelId="{A114CB5A-5AF8-4DCE-85A0-2F0124F78505}" type="sibTrans" cxnId="{9EB36749-582A-4832-9083-300D8C9A17E4}">
      <dgm:prSet/>
      <dgm:spPr/>
      <dgm:t>
        <a:bodyPr/>
        <a:lstStyle/>
        <a:p>
          <a:endParaRPr lang="en-US"/>
        </a:p>
      </dgm:t>
    </dgm:pt>
    <dgm:pt modelId="{9A11D317-3FA9-4C26-8821-F2A2CAE92337}">
      <dgm:prSet phldrT="[Text]"/>
      <dgm:spPr>
        <a:solidFill>
          <a:schemeClr val="accent4">
            <a:hueOff val="11034913"/>
            <a:satOff val="-57025"/>
            <a:lumOff val="9409"/>
            <a:alpha val="25000"/>
          </a:schemeClr>
        </a:solidFill>
      </dgm:spPr>
      <dgm:t>
        <a:bodyPr/>
        <a:lstStyle/>
        <a:p>
          <a:r>
            <a:rPr lang="en-US"/>
            <a:t> </a:t>
          </a:r>
        </a:p>
      </dgm:t>
    </dgm:pt>
    <dgm:pt modelId="{CC632E25-7950-4D2A-A61F-B7BB6EED3850}" type="sibTrans" cxnId="{187013E1-DF1D-45FF-AEA0-78AC4E2D75B7}">
      <dgm:prSet/>
      <dgm:spPr/>
      <dgm:t>
        <a:bodyPr/>
        <a:lstStyle/>
        <a:p>
          <a:endParaRPr lang="en-US"/>
        </a:p>
      </dgm:t>
    </dgm:pt>
    <dgm:pt modelId="{098CF36B-C44E-4095-8250-5A0EF9475E1C}" type="parTrans" cxnId="{187013E1-DF1D-45FF-AEA0-78AC4E2D75B7}">
      <dgm:prSet/>
      <dgm:spPr/>
      <dgm:t>
        <a:bodyPr/>
        <a:lstStyle/>
        <a:p>
          <a:endParaRPr lang="en-US"/>
        </a:p>
      </dgm:t>
    </dgm:pt>
    <dgm:pt modelId="{A775094F-9665-4749-84CD-60457BDED61B}">
      <dgm:prSet phldrT="[Text]"/>
      <dgm:spPr>
        <a:solidFill>
          <a:schemeClr val="accent4">
            <a:hueOff val="0"/>
            <a:satOff val="0"/>
            <a:lumOff val="0"/>
            <a:alpha val="25000"/>
          </a:schemeClr>
        </a:solidFill>
      </dgm:spPr>
      <dgm:t>
        <a:bodyPr/>
        <a:lstStyle/>
        <a:p>
          <a:endParaRPr lang="en-US">
            <a:solidFill>
              <a:schemeClr val="bg2">
                <a:lumMod val="10000"/>
              </a:schemeClr>
            </a:solidFill>
          </a:endParaRPr>
        </a:p>
      </dgm:t>
    </dgm:pt>
    <dgm:pt modelId="{9AB01084-585F-4DF5-B159-8087BA9FEB04}" type="sibTrans" cxnId="{D8BB6BE9-1D88-4923-BB6A-117DD4176327}">
      <dgm:prSet/>
      <dgm:spPr/>
      <dgm:t>
        <a:bodyPr/>
        <a:lstStyle/>
        <a:p>
          <a:endParaRPr lang="en-US"/>
        </a:p>
      </dgm:t>
    </dgm:pt>
    <dgm:pt modelId="{8D335598-8E09-4300-9962-5975D0C432A5}" type="parTrans" cxnId="{D8BB6BE9-1D88-4923-BB6A-117DD4176327}">
      <dgm:prSet/>
      <dgm:spPr/>
      <dgm:t>
        <a:bodyPr/>
        <a:lstStyle/>
        <a:p>
          <a:endParaRPr lang="en-US"/>
        </a:p>
      </dgm:t>
    </dgm:pt>
    <dgm:pt modelId="{8AC5204F-DFDB-4298-8C79-4205E29F3D7D}" type="pres">
      <dgm:prSet presAssocID="{3AF48192-5375-4341-B8E2-A097460CBD5B}" presName="compositeShape" presStyleCnt="0">
        <dgm:presLayoutVars>
          <dgm:chMax val="7"/>
          <dgm:dir/>
          <dgm:resizeHandles val="exact"/>
        </dgm:presLayoutVars>
      </dgm:prSet>
      <dgm:spPr/>
    </dgm:pt>
    <dgm:pt modelId="{05141183-0C08-4384-806F-B55ECF27CF92}" type="pres">
      <dgm:prSet presAssocID="{A775094F-9665-4749-84CD-60457BDED61B}" presName="circ1" presStyleLbl="vennNode1" presStyleIdx="0" presStyleCnt="3"/>
      <dgm:spPr/>
    </dgm:pt>
    <dgm:pt modelId="{2124009B-D2AC-4DC4-9481-B1DA9CEB3D8C}" type="pres">
      <dgm:prSet presAssocID="{A775094F-9665-4749-84CD-60457BDED61B}" presName="circ1Tx" presStyleLbl="revTx" presStyleIdx="0" presStyleCnt="0">
        <dgm:presLayoutVars>
          <dgm:chMax val="0"/>
          <dgm:chPref val="0"/>
          <dgm:bulletEnabled val="1"/>
        </dgm:presLayoutVars>
      </dgm:prSet>
      <dgm:spPr/>
    </dgm:pt>
    <dgm:pt modelId="{8A5EBD17-96E2-423C-BBF1-B8D513D9F2F7}" type="pres">
      <dgm:prSet presAssocID="{4E35AB81-6591-47C3-A8B9-C8F518FD5A7C}" presName="circ2" presStyleLbl="vennNode1" presStyleIdx="1" presStyleCnt="3"/>
      <dgm:spPr/>
    </dgm:pt>
    <dgm:pt modelId="{6D138904-8A86-43F3-AFB9-F69F8AE80D66}" type="pres">
      <dgm:prSet presAssocID="{4E35AB81-6591-47C3-A8B9-C8F518FD5A7C}" presName="circ2Tx" presStyleLbl="revTx" presStyleIdx="0" presStyleCnt="0">
        <dgm:presLayoutVars>
          <dgm:chMax val="0"/>
          <dgm:chPref val="0"/>
          <dgm:bulletEnabled val="1"/>
        </dgm:presLayoutVars>
      </dgm:prSet>
      <dgm:spPr/>
    </dgm:pt>
    <dgm:pt modelId="{F200155A-6512-4D2C-92E8-53E7E8F78ABE}" type="pres">
      <dgm:prSet presAssocID="{9A11D317-3FA9-4C26-8821-F2A2CAE92337}" presName="circ3" presStyleLbl="vennNode1" presStyleIdx="2" presStyleCnt="3"/>
      <dgm:spPr/>
    </dgm:pt>
    <dgm:pt modelId="{09B1C9FF-927F-469B-A488-401C882AFB3E}" type="pres">
      <dgm:prSet presAssocID="{9A11D317-3FA9-4C26-8821-F2A2CAE92337}" presName="circ3Tx" presStyleLbl="revTx" presStyleIdx="0" presStyleCnt="0">
        <dgm:presLayoutVars>
          <dgm:chMax val="0"/>
          <dgm:chPref val="0"/>
          <dgm:bulletEnabled val="1"/>
        </dgm:presLayoutVars>
      </dgm:prSet>
      <dgm:spPr/>
    </dgm:pt>
  </dgm:ptLst>
  <dgm:cxnLst>
    <dgm:cxn modelId="{9EB36749-582A-4832-9083-300D8C9A17E4}" srcId="{3AF48192-5375-4341-B8E2-A097460CBD5B}" destId="{4E35AB81-6591-47C3-A8B9-C8F518FD5A7C}" srcOrd="1" destOrd="0" parTransId="{5F48AF11-5187-44C7-B8A4-AE619CD27ADF}" sibTransId="{A114CB5A-5AF8-4DCE-85A0-2F0124F78505}"/>
    <dgm:cxn modelId="{29C4854D-6C67-4BF0-BAE0-E08DDD5AF502}" type="presOf" srcId="{9A11D317-3FA9-4C26-8821-F2A2CAE92337}" destId="{F200155A-6512-4D2C-92E8-53E7E8F78ABE}" srcOrd="0" destOrd="0" presId="urn:microsoft.com/office/officeart/2005/8/layout/venn1"/>
    <dgm:cxn modelId="{73CEF656-DED8-4105-9247-1D5A6D1D5E00}" type="presOf" srcId="{4E35AB81-6591-47C3-A8B9-C8F518FD5A7C}" destId="{6D138904-8A86-43F3-AFB9-F69F8AE80D66}" srcOrd="1" destOrd="0" presId="urn:microsoft.com/office/officeart/2005/8/layout/venn1"/>
    <dgm:cxn modelId="{224CEA7B-8780-484D-A254-B277DFC25C8A}" type="presOf" srcId="{9A11D317-3FA9-4C26-8821-F2A2CAE92337}" destId="{09B1C9FF-927F-469B-A488-401C882AFB3E}" srcOrd="1" destOrd="0" presId="urn:microsoft.com/office/officeart/2005/8/layout/venn1"/>
    <dgm:cxn modelId="{B7BF1598-3A83-4B74-8B72-24D17B7602B2}" type="presOf" srcId="{4E35AB81-6591-47C3-A8B9-C8F518FD5A7C}" destId="{8A5EBD17-96E2-423C-BBF1-B8D513D9F2F7}" srcOrd="0" destOrd="0" presId="urn:microsoft.com/office/officeart/2005/8/layout/venn1"/>
    <dgm:cxn modelId="{8E539DB5-ADB6-434D-AEFA-E7C25430802D}" type="presOf" srcId="{A775094F-9665-4749-84CD-60457BDED61B}" destId="{2124009B-D2AC-4DC4-9481-B1DA9CEB3D8C}" srcOrd="1" destOrd="0" presId="urn:microsoft.com/office/officeart/2005/8/layout/venn1"/>
    <dgm:cxn modelId="{61F66DDF-D337-4A7E-819C-CF484FF6C2F9}" type="presOf" srcId="{A775094F-9665-4749-84CD-60457BDED61B}" destId="{05141183-0C08-4384-806F-B55ECF27CF92}" srcOrd="0" destOrd="0" presId="urn:microsoft.com/office/officeart/2005/8/layout/venn1"/>
    <dgm:cxn modelId="{187013E1-DF1D-45FF-AEA0-78AC4E2D75B7}" srcId="{3AF48192-5375-4341-B8E2-A097460CBD5B}" destId="{9A11D317-3FA9-4C26-8821-F2A2CAE92337}" srcOrd="2" destOrd="0" parTransId="{098CF36B-C44E-4095-8250-5A0EF9475E1C}" sibTransId="{CC632E25-7950-4D2A-A61F-B7BB6EED3850}"/>
    <dgm:cxn modelId="{D8BB6BE9-1D88-4923-BB6A-117DD4176327}" srcId="{3AF48192-5375-4341-B8E2-A097460CBD5B}" destId="{A775094F-9665-4749-84CD-60457BDED61B}" srcOrd="0" destOrd="0" parTransId="{8D335598-8E09-4300-9962-5975D0C432A5}" sibTransId="{9AB01084-585F-4DF5-B159-8087BA9FEB04}"/>
    <dgm:cxn modelId="{5B2D7EEE-76AF-476D-B5B5-4393A9380441}" type="presOf" srcId="{3AF48192-5375-4341-B8E2-A097460CBD5B}" destId="{8AC5204F-DFDB-4298-8C79-4205E29F3D7D}" srcOrd="0" destOrd="0" presId="urn:microsoft.com/office/officeart/2005/8/layout/venn1"/>
    <dgm:cxn modelId="{E58FF5AA-530B-4839-AC36-C36F635B8249}" type="presParOf" srcId="{8AC5204F-DFDB-4298-8C79-4205E29F3D7D}" destId="{05141183-0C08-4384-806F-B55ECF27CF92}" srcOrd="0" destOrd="0" presId="urn:microsoft.com/office/officeart/2005/8/layout/venn1"/>
    <dgm:cxn modelId="{6FD54D42-7E95-4AAE-B896-2D8C113D9331}" type="presParOf" srcId="{8AC5204F-DFDB-4298-8C79-4205E29F3D7D}" destId="{2124009B-D2AC-4DC4-9481-B1DA9CEB3D8C}" srcOrd="1" destOrd="0" presId="urn:microsoft.com/office/officeart/2005/8/layout/venn1"/>
    <dgm:cxn modelId="{DC4033D1-EA5B-4E95-9D30-CD9DE8FFBC3B}" type="presParOf" srcId="{8AC5204F-DFDB-4298-8C79-4205E29F3D7D}" destId="{8A5EBD17-96E2-423C-BBF1-B8D513D9F2F7}" srcOrd="2" destOrd="0" presId="urn:microsoft.com/office/officeart/2005/8/layout/venn1"/>
    <dgm:cxn modelId="{D616EEE3-2252-45B7-BEC3-5FE2CBBBC883}" type="presParOf" srcId="{8AC5204F-DFDB-4298-8C79-4205E29F3D7D}" destId="{6D138904-8A86-43F3-AFB9-F69F8AE80D66}" srcOrd="3" destOrd="0" presId="urn:microsoft.com/office/officeart/2005/8/layout/venn1"/>
    <dgm:cxn modelId="{C6446DDC-79E0-4E26-8BF6-280434C0373D}" type="presParOf" srcId="{8AC5204F-DFDB-4298-8C79-4205E29F3D7D}" destId="{F200155A-6512-4D2C-92E8-53E7E8F78ABE}" srcOrd="4" destOrd="0" presId="urn:microsoft.com/office/officeart/2005/8/layout/venn1"/>
    <dgm:cxn modelId="{912D7F3E-F2CF-4F9F-B954-666ADAACDA8E}" type="presParOf" srcId="{8AC5204F-DFDB-4298-8C79-4205E29F3D7D}" destId="{09B1C9FF-927F-469B-A488-401C882AFB3E}"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AF48192-5375-4341-B8E2-A097460CBD5B}" type="doc">
      <dgm:prSet loTypeId="urn:microsoft.com/office/officeart/2005/8/layout/venn1" loCatId="relationship" qsTypeId="urn:microsoft.com/office/officeart/2005/8/quickstyle/simple2" qsCatId="simple" csTypeId="urn:microsoft.com/office/officeart/2005/8/colors/colorful4" csCatId="colorful" phldr="1"/>
      <dgm:spPr/>
    </dgm:pt>
    <dgm:pt modelId="{4E35AB81-6591-47C3-A8B9-C8F518FD5A7C}">
      <dgm:prSet phldrT="[Text]"/>
      <dgm:spPr>
        <a:solidFill>
          <a:schemeClr val="accent4">
            <a:hueOff val="5517457"/>
            <a:satOff val="-28512"/>
            <a:lumOff val="4705"/>
            <a:alpha val="25000"/>
          </a:schemeClr>
        </a:solidFill>
      </dgm:spPr>
      <dgm:t>
        <a:bodyPr/>
        <a:lstStyle/>
        <a:p>
          <a:r>
            <a:rPr lang="en-US"/>
            <a:t> </a:t>
          </a:r>
        </a:p>
      </dgm:t>
    </dgm:pt>
    <dgm:pt modelId="{5F48AF11-5187-44C7-B8A4-AE619CD27ADF}" type="parTrans" cxnId="{9EB36749-582A-4832-9083-300D8C9A17E4}">
      <dgm:prSet/>
      <dgm:spPr/>
      <dgm:t>
        <a:bodyPr/>
        <a:lstStyle/>
        <a:p>
          <a:endParaRPr lang="en-US"/>
        </a:p>
      </dgm:t>
    </dgm:pt>
    <dgm:pt modelId="{A114CB5A-5AF8-4DCE-85A0-2F0124F78505}" type="sibTrans" cxnId="{9EB36749-582A-4832-9083-300D8C9A17E4}">
      <dgm:prSet/>
      <dgm:spPr/>
      <dgm:t>
        <a:bodyPr/>
        <a:lstStyle/>
        <a:p>
          <a:endParaRPr lang="en-US"/>
        </a:p>
      </dgm:t>
    </dgm:pt>
    <dgm:pt modelId="{9A11D317-3FA9-4C26-8821-F2A2CAE92337}">
      <dgm:prSet phldrT="[Text]"/>
      <dgm:spPr>
        <a:solidFill>
          <a:schemeClr val="accent4">
            <a:hueOff val="11034913"/>
            <a:satOff val="-57025"/>
            <a:lumOff val="9409"/>
            <a:alpha val="25000"/>
          </a:schemeClr>
        </a:solidFill>
      </dgm:spPr>
      <dgm:t>
        <a:bodyPr/>
        <a:lstStyle/>
        <a:p>
          <a:r>
            <a:rPr lang="en-US"/>
            <a:t> </a:t>
          </a:r>
        </a:p>
      </dgm:t>
    </dgm:pt>
    <dgm:pt modelId="{CC632E25-7950-4D2A-A61F-B7BB6EED3850}" type="sibTrans" cxnId="{187013E1-DF1D-45FF-AEA0-78AC4E2D75B7}">
      <dgm:prSet/>
      <dgm:spPr/>
      <dgm:t>
        <a:bodyPr/>
        <a:lstStyle/>
        <a:p>
          <a:endParaRPr lang="en-US"/>
        </a:p>
      </dgm:t>
    </dgm:pt>
    <dgm:pt modelId="{098CF36B-C44E-4095-8250-5A0EF9475E1C}" type="parTrans" cxnId="{187013E1-DF1D-45FF-AEA0-78AC4E2D75B7}">
      <dgm:prSet/>
      <dgm:spPr/>
      <dgm:t>
        <a:bodyPr/>
        <a:lstStyle/>
        <a:p>
          <a:endParaRPr lang="en-US"/>
        </a:p>
      </dgm:t>
    </dgm:pt>
    <dgm:pt modelId="{A775094F-9665-4749-84CD-60457BDED61B}">
      <dgm:prSet phldrT="[Text]"/>
      <dgm:spPr>
        <a:solidFill>
          <a:schemeClr val="accent4">
            <a:hueOff val="0"/>
            <a:satOff val="0"/>
            <a:lumOff val="0"/>
            <a:alpha val="25000"/>
          </a:schemeClr>
        </a:solidFill>
      </dgm:spPr>
      <dgm:t>
        <a:bodyPr/>
        <a:lstStyle/>
        <a:p>
          <a:endParaRPr lang="en-US">
            <a:solidFill>
              <a:schemeClr val="bg2">
                <a:lumMod val="10000"/>
              </a:schemeClr>
            </a:solidFill>
          </a:endParaRPr>
        </a:p>
      </dgm:t>
    </dgm:pt>
    <dgm:pt modelId="{9AB01084-585F-4DF5-B159-8087BA9FEB04}" type="sibTrans" cxnId="{D8BB6BE9-1D88-4923-BB6A-117DD4176327}">
      <dgm:prSet/>
      <dgm:spPr/>
      <dgm:t>
        <a:bodyPr/>
        <a:lstStyle/>
        <a:p>
          <a:endParaRPr lang="en-US"/>
        </a:p>
      </dgm:t>
    </dgm:pt>
    <dgm:pt modelId="{8D335598-8E09-4300-9962-5975D0C432A5}" type="parTrans" cxnId="{D8BB6BE9-1D88-4923-BB6A-117DD4176327}">
      <dgm:prSet/>
      <dgm:spPr/>
      <dgm:t>
        <a:bodyPr/>
        <a:lstStyle/>
        <a:p>
          <a:endParaRPr lang="en-US"/>
        </a:p>
      </dgm:t>
    </dgm:pt>
    <dgm:pt modelId="{8AC5204F-DFDB-4298-8C79-4205E29F3D7D}" type="pres">
      <dgm:prSet presAssocID="{3AF48192-5375-4341-B8E2-A097460CBD5B}" presName="compositeShape" presStyleCnt="0">
        <dgm:presLayoutVars>
          <dgm:chMax val="7"/>
          <dgm:dir/>
          <dgm:resizeHandles val="exact"/>
        </dgm:presLayoutVars>
      </dgm:prSet>
      <dgm:spPr/>
    </dgm:pt>
    <dgm:pt modelId="{05141183-0C08-4384-806F-B55ECF27CF92}" type="pres">
      <dgm:prSet presAssocID="{A775094F-9665-4749-84CD-60457BDED61B}" presName="circ1" presStyleLbl="vennNode1" presStyleIdx="0" presStyleCnt="3"/>
      <dgm:spPr/>
    </dgm:pt>
    <dgm:pt modelId="{2124009B-D2AC-4DC4-9481-B1DA9CEB3D8C}" type="pres">
      <dgm:prSet presAssocID="{A775094F-9665-4749-84CD-60457BDED61B}" presName="circ1Tx" presStyleLbl="revTx" presStyleIdx="0" presStyleCnt="0">
        <dgm:presLayoutVars>
          <dgm:chMax val="0"/>
          <dgm:chPref val="0"/>
          <dgm:bulletEnabled val="1"/>
        </dgm:presLayoutVars>
      </dgm:prSet>
      <dgm:spPr/>
    </dgm:pt>
    <dgm:pt modelId="{8A5EBD17-96E2-423C-BBF1-B8D513D9F2F7}" type="pres">
      <dgm:prSet presAssocID="{4E35AB81-6591-47C3-A8B9-C8F518FD5A7C}" presName="circ2" presStyleLbl="vennNode1" presStyleIdx="1" presStyleCnt="3"/>
      <dgm:spPr/>
    </dgm:pt>
    <dgm:pt modelId="{6D138904-8A86-43F3-AFB9-F69F8AE80D66}" type="pres">
      <dgm:prSet presAssocID="{4E35AB81-6591-47C3-A8B9-C8F518FD5A7C}" presName="circ2Tx" presStyleLbl="revTx" presStyleIdx="0" presStyleCnt="0">
        <dgm:presLayoutVars>
          <dgm:chMax val="0"/>
          <dgm:chPref val="0"/>
          <dgm:bulletEnabled val="1"/>
        </dgm:presLayoutVars>
      </dgm:prSet>
      <dgm:spPr/>
    </dgm:pt>
    <dgm:pt modelId="{F200155A-6512-4D2C-92E8-53E7E8F78ABE}" type="pres">
      <dgm:prSet presAssocID="{9A11D317-3FA9-4C26-8821-F2A2CAE92337}" presName="circ3" presStyleLbl="vennNode1" presStyleIdx="2" presStyleCnt="3"/>
      <dgm:spPr/>
    </dgm:pt>
    <dgm:pt modelId="{09B1C9FF-927F-469B-A488-401C882AFB3E}" type="pres">
      <dgm:prSet presAssocID="{9A11D317-3FA9-4C26-8821-F2A2CAE92337}" presName="circ3Tx" presStyleLbl="revTx" presStyleIdx="0" presStyleCnt="0">
        <dgm:presLayoutVars>
          <dgm:chMax val="0"/>
          <dgm:chPref val="0"/>
          <dgm:bulletEnabled val="1"/>
        </dgm:presLayoutVars>
      </dgm:prSet>
      <dgm:spPr/>
    </dgm:pt>
  </dgm:ptLst>
  <dgm:cxnLst>
    <dgm:cxn modelId="{9EB36749-582A-4832-9083-300D8C9A17E4}" srcId="{3AF48192-5375-4341-B8E2-A097460CBD5B}" destId="{4E35AB81-6591-47C3-A8B9-C8F518FD5A7C}" srcOrd="1" destOrd="0" parTransId="{5F48AF11-5187-44C7-B8A4-AE619CD27ADF}" sibTransId="{A114CB5A-5AF8-4DCE-85A0-2F0124F78505}"/>
    <dgm:cxn modelId="{29C4854D-6C67-4BF0-BAE0-E08DDD5AF502}" type="presOf" srcId="{9A11D317-3FA9-4C26-8821-F2A2CAE92337}" destId="{F200155A-6512-4D2C-92E8-53E7E8F78ABE}" srcOrd="0" destOrd="0" presId="urn:microsoft.com/office/officeart/2005/8/layout/venn1"/>
    <dgm:cxn modelId="{73CEF656-DED8-4105-9247-1D5A6D1D5E00}" type="presOf" srcId="{4E35AB81-6591-47C3-A8B9-C8F518FD5A7C}" destId="{6D138904-8A86-43F3-AFB9-F69F8AE80D66}" srcOrd="1" destOrd="0" presId="urn:microsoft.com/office/officeart/2005/8/layout/venn1"/>
    <dgm:cxn modelId="{224CEA7B-8780-484D-A254-B277DFC25C8A}" type="presOf" srcId="{9A11D317-3FA9-4C26-8821-F2A2CAE92337}" destId="{09B1C9FF-927F-469B-A488-401C882AFB3E}" srcOrd="1" destOrd="0" presId="urn:microsoft.com/office/officeart/2005/8/layout/venn1"/>
    <dgm:cxn modelId="{B7BF1598-3A83-4B74-8B72-24D17B7602B2}" type="presOf" srcId="{4E35AB81-6591-47C3-A8B9-C8F518FD5A7C}" destId="{8A5EBD17-96E2-423C-BBF1-B8D513D9F2F7}" srcOrd="0" destOrd="0" presId="urn:microsoft.com/office/officeart/2005/8/layout/venn1"/>
    <dgm:cxn modelId="{8E539DB5-ADB6-434D-AEFA-E7C25430802D}" type="presOf" srcId="{A775094F-9665-4749-84CD-60457BDED61B}" destId="{2124009B-D2AC-4DC4-9481-B1DA9CEB3D8C}" srcOrd="1" destOrd="0" presId="urn:microsoft.com/office/officeart/2005/8/layout/venn1"/>
    <dgm:cxn modelId="{61F66DDF-D337-4A7E-819C-CF484FF6C2F9}" type="presOf" srcId="{A775094F-9665-4749-84CD-60457BDED61B}" destId="{05141183-0C08-4384-806F-B55ECF27CF92}" srcOrd="0" destOrd="0" presId="urn:microsoft.com/office/officeart/2005/8/layout/venn1"/>
    <dgm:cxn modelId="{187013E1-DF1D-45FF-AEA0-78AC4E2D75B7}" srcId="{3AF48192-5375-4341-B8E2-A097460CBD5B}" destId="{9A11D317-3FA9-4C26-8821-F2A2CAE92337}" srcOrd="2" destOrd="0" parTransId="{098CF36B-C44E-4095-8250-5A0EF9475E1C}" sibTransId="{CC632E25-7950-4D2A-A61F-B7BB6EED3850}"/>
    <dgm:cxn modelId="{D8BB6BE9-1D88-4923-BB6A-117DD4176327}" srcId="{3AF48192-5375-4341-B8E2-A097460CBD5B}" destId="{A775094F-9665-4749-84CD-60457BDED61B}" srcOrd="0" destOrd="0" parTransId="{8D335598-8E09-4300-9962-5975D0C432A5}" sibTransId="{9AB01084-585F-4DF5-B159-8087BA9FEB04}"/>
    <dgm:cxn modelId="{5B2D7EEE-76AF-476D-B5B5-4393A9380441}" type="presOf" srcId="{3AF48192-5375-4341-B8E2-A097460CBD5B}" destId="{8AC5204F-DFDB-4298-8C79-4205E29F3D7D}" srcOrd="0" destOrd="0" presId="urn:microsoft.com/office/officeart/2005/8/layout/venn1"/>
    <dgm:cxn modelId="{E58FF5AA-530B-4839-AC36-C36F635B8249}" type="presParOf" srcId="{8AC5204F-DFDB-4298-8C79-4205E29F3D7D}" destId="{05141183-0C08-4384-806F-B55ECF27CF92}" srcOrd="0" destOrd="0" presId="urn:microsoft.com/office/officeart/2005/8/layout/venn1"/>
    <dgm:cxn modelId="{6FD54D42-7E95-4AAE-B896-2D8C113D9331}" type="presParOf" srcId="{8AC5204F-DFDB-4298-8C79-4205E29F3D7D}" destId="{2124009B-D2AC-4DC4-9481-B1DA9CEB3D8C}" srcOrd="1" destOrd="0" presId="urn:microsoft.com/office/officeart/2005/8/layout/venn1"/>
    <dgm:cxn modelId="{DC4033D1-EA5B-4E95-9D30-CD9DE8FFBC3B}" type="presParOf" srcId="{8AC5204F-DFDB-4298-8C79-4205E29F3D7D}" destId="{8A5EBD17-96E2-423C-BBF1-B8D513D9F2F7}" srcOrd="2" destOrd="0" presId="urn:microsoft.com/office/officeart/2005/8/layout/venn1"/>
    <dgm:cxn modelId="{D616EEE3-2252-45B7-BEC3-5FE2CBBBC883}" type="presParOf" srcId="{8AC5204F-DFDB-4298-8C79-4205E29F3D7D}" destId="{6D138904-8A86-43F3-AFB9-F69F8AE80D66}" srcOrd="3" destOrd="0" presId="urn:microsoft.com/office/officeart/2005/8/layout/venn1"/>
    <dgm:cxn modelId="{C6446DDC-79E0-4E26-8BF6-280434C0373D}" type="presParOf" srcId="{8AC5204F-DFDB-4298-8C79-4205E29F3D7D}" destId="{F200155A-6512-4D2C-92E8-53E7E8F78ABE}" srcOrd="4" destOrd="0" presId="urn:microsoft.com/office/officeart/2005/8/layout/venn1"/>
    <dgm:cxn modelId="{912D7F3E-F2CF-4F9F-B954-666ADAACDA8E}" type="presParOf" srcId="{8AC5204F-DFDB-4298-8C79-4205E29F3D7D}" destId="{09B1C9FF-927F-469B-A488-401C882AFB3E}"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41183-0C08-4384-806F-B55ECF27CF92}">
      <dsp:nvSpPr>
        <dsp:cNvPr id="0" name=""/>
        <dsp:cNvSpPr/>
      </dsp:nvSpPr>
      <dsp:spPr>
        <a:xfrm>
          <a:off x="2771465" y="73700"/>
          <a:ext cx="3537637" cy="3537637"/>
        </a:xfrm>
        <a:prstGeom prst="ellipse">
          <a:avLst/>
        </a:prstGeom>
        <a:solidFill>
          <a:schemeClr val="accent4">
            <a:hueOff val="0"/>
            <a:satOff val="0"/>
            <a:lumOff val="0"/>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en-US" sz="6500" kern="1200">
            <a:solidFill>
              <a:schemeClr val="bg2">
                <a:lumMod val="10000"/>
              </a:schemeClr>
            </a:solidFill>
          </a:endParaRPr>
        </a:p>
      </dsp:txBody>
      <dsp:txXfrm>
        <a:off x="3243150" y="692787"/>
        <a:ext cx="2594267" cy="1591936"/>
      </dsp:txXfrm>
    </dsp:sp>
    <dsp:sp modelId="{8A5EBD17-96E2-423C-BBF1-B8D513D9F2F7}">
      <dsp:nvSpPr>
        <dsp:cNvPr id="0" name=""/>
        <dsp:cNvSpPr/>
      </dsp:nvSpPr>
      <dsp:spPr>
        <a:xfrm>
          <a:off x="4047963" y="2284724"/>
          <a:ext cx="3537637" cy="3537637"/>
        </a:xfrm>
        <a:prstGeom prst="ellipse">
          <a:avLst/>
        </a:prstGeom>
        <a:solidFill>
          <a:schemeClr val="accent4">
            <a:hueOff val="5517457"/>
            <a:satOff val="-28512"/>
            <a:lumOff val="4705"/>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 </a:t>
          </a:r>
        </a:p>
      </dsp:txBody>
      <dsp:txXfrm>
        <a:off x="5129890" y="3198613"/>
        <a:ext cx="2122582" cy="1945700"/>
      </dsp:txXfrm>
    </dsp:sp>
    <dsp:sp modelId="{F200155A-6512-4D2C-92E8-53E7E8F78ABE}">
      <dsp:nvSpPr>
        <dsp:cNvPr id="0" name=""/>
        <dsp:cNvSpPr/>
      </dsp:nvSpPr>
      <dsp:spPr>
        <a:xfrm>
          <a:off x="1494968" y="2284724"/>
          <a:ext cx="3537637" cy="3537637"/>
        </a:xfrm>
        <a:prstGeom prst="ellipse">
          <a:avLst/>
        </a:prstGeom>
        <a:solidFill>
          <a:schemeClr val="accent4">
            <a:hueOff val="11034913"/>
            <a:satOff val="-57025"/>
            <a:lumOff val="9409"/>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 </a:t>
          </a:r>
        </a:p>
      </dsp:txBody>
      <dsp:txXfrm>
        <a:off x="1828095" y="3198613"/>
        <a:ext cx="2122582" cy="19457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41183-0C08-4384-806F-B55ECF27CF92}">
      <dsp:nvSpPr>
        <dsp:cNvPr id="0" name=""/>
        <dsp:cNvSpPr/>
      </dsp:nvSpPr>
      <dsp:spPr>
        <a:xfrm>
          <a:off x="2771465" y="73700"/>
          <a:ext cx="3537637" cy="3537637"/>
        </a:xfrm>
        <a:prstGeom prst="ellipse">
          <a:avLst/>
        </a:prstGeom>
        <a:solidFill>
          <a:schemeClr val="accent4">
            <a:hueOff val="0"/>
            <a:satOff val="0"/>
            <a:lumOff val="0"/>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en-US" sz="6500" kern="1200">
            <a:solidFill>
              <a:schemeClr val="bg2">
                <a:lumMod val="10000"/>
              </a:schemeClr>
            </a:solidFill>
          </a:endParaRPr>
        </a:p>
      </dsp:txBody>
      <dsp:txXfrm>
        <a:off x="3243150" y="692787"/>
        <a:ext cx="2594267" cy="1591936"/>
      </dsp:txXfrm>
    </dsp:sp>
    <dsp:sp modelId="{8A5EBD17-96E2-423C-BBF1-B8D513D9F2F7}">
      <dsp:nvSpPr>
        <dsp:cNvPr id="0" name=""/>
        <dsp:cNvSpPr/>
      </dsp:nvSpPr>
      <dsp:spPr>
        <a:xfrm>
          <a:off x="4047963" y="2284724"/>
          <a:ext cx="3537637" cy="3537637"/>
        </a:xfrm>
        <a:prstGeom prst="ellipse">
          <a:avLst/>
        </a:prstGeom>
        <a:solidFill>
          <a:schemeClr val="accent4">
            <a:hueOff val="5517457"/>
            <a:satOff val="-28512"/>
            <a:lumOff val="4705"/>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 </a:t>
          </a:r>
        </a:p>
      </dsp:txBody>
      <dsp:txXfrm>
        <a:off x="5129890" y="3198613"/>
        <a:ext cx="2122582" cy="1945700"/>
      </dsp:txXfrm>
    </dsp:sp>
    <dsp:sp modelId="{F200155A-6512-4D2C-92E8-53E7E8F78ABE}">
      <dsp:nvSpPr>
        <dsp:cNvPr id="0" name=""/>
        <dsp:cNvSpPr/>
      </dsp:nvSpPr>
      <dsp:spPr>
        <a:xfrm>
          <a:off x="1494968" y="2284724"/>
          <a:ext cx="3537637" cy="3537637"/>
        </a:xfrm>
        <a:prstGeom prst="ellipse">
          <a:avLst/>
        </a:prstGeom>
        <a:solidFill>
          <a:schemeClr val="accent4">
            <a:hueOff val="11034913"/>
            <a:satOff val="-57025"/>
            <a:lumOff val="9409"/>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 </a:t>
          </a:r>
        </a:p>
      </dsp:txBody>
      <dsp:txXfrm>
        <a:off x="1828095" y="3198613"/>
        <a:ext cx="2122582" cy="1945700"/>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aws.amazon.com/vpc/"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aws.amazon.com/ec2/"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vmware.com/docs/vcf-edge-considerations-white-paper"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docs.vmware.com/en/VMware-Cloud-Foundation/index.html"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p11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978" name="Google Shape;978;p11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11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985" name="Google Shape;985;p11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p115: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991" name="Google Shape;991;p115: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p11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p11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a:t>VMware Pro Cloud Services can help you achieve the benefits of your future state architecture faster, while freeing your IT resources to focus other priorities.  Our family of services leverage prescriptive reference architectures which we developed based on our breadth of customer deployments and best practices for a consistent, predictable and reliable solution.  A cross functional team of VMware experts brings together the rights skills at the right time for a coordinated effort focused on helping you achieve your objectives.  Our flexible delivery model is based on a standard approach for consistency and repeatability while allowing some customization options.</a:t>
            </a:r>
            <a:endParaRPr/>
          </a:p>
          <a:p>
            <a:pPr marL="457200" marR="0" lvl="0" indent="-228600" algn="l" rtl="0">
              <a:lnSpc>
                <a:spcPct val="100000"/>
              </a:lnSpc>
              <a:spcBef>
                <a:spcPts val="0"/>
              </a:spcBef>
              <a:spcAft>
                <a:spcPts val="0"/>
              </a:spcAft>
              <a:buSzPts val="1400"/>
              <a:buNone/>
            </a:pPr>
            <a:endParaRPr/>
          </a:p>
        </p:txBody>
      </p:sp>
      <p:sp>
        <p:nvSpPr>
          <p:cNvPr id="997" name="Google Shape;997;p1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4</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11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p11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457200" marR="0" lvl="0" indent="-228600" algn="l" rtl="0">
              <a:lnSpc>
                <a:spcPct val="100000"/>
              </a:lnSpc>
              <a:spcBef>
                <a:spcPts val="0"/>
              </a:spcBef>
              <a:spcAft>
                <a:spcPts val="0"/>
              </a:spcAft>
              <a:buSzPts val="1400"/>
              <a:buNone/>
            </a:pPr>
            <a:r>
              <a:rPr lang="en-US"/>
              <a:t>Our standardized, repeatable and prescriptive approach helps to reduce risk and complexity.  Our services combine the key components of delivery excellence such as proven VMware design patterns, implementation best practices, defined metrics for success, custom tools and delivery automation to deliver faster and more reliably.  We offer flexible sizing that will support your scalability and growth for your needs today and tomorrow.  Customizations include integrations with your existing and third-party solutions.</a:t>
            </a:r>
            <a:endParaRPr/>
          </a:p>
          <a:p>
            <a:pPr marL="457200" marR="0" lvl="0" indent="-228600" algn="l" rtl="0">
              <a:lnSpc>
                <a:spcPct val="100000"/>
              </a:lnSpc>
              <a:spcBef>
                <a:spcPts val="0"/>
              </a:spcBef>
              <a:spcAft>
                <a:spcPts val="0"/>
              </a:spcAft>
              <a:buSzPts val="1400"/>
              <a:buNone/>
            </a:pPr>
            <a:endParaRPr/>
          </a:p>
        </p:txBody>
      </p:sp>
      <p:sp>
        <p:nvSpPr>
          <p:cNvPr id="1012" name="Google Shape;1012;p1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5</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p11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p11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a:t>VMware Pro Cloud Services are delivered by</a:t>
            </a:r>
            <a:r>
              <a:rPr lang="en-US" sz="1200"/>
              <a:t> a team of VMware experts with specialized knowledge and skills across different technology, people, and process areas. This “pod” approach ensures you get</a:t>
            </a:r>
            <a:r>
              <a:rPr lang="en-US" sz="1200">
                <a:solidFill>
                  <a:schemeClr val="lt2"/>
                </a:solidFill>
              </a:rPr>
              <a:t> the right skills at the right time and a coordinated effort for improved communication and collaboration, and ultimately faster time to value.  </a:t>
            </a:r>
            <a:endParaRPr/>
          </a:p>
        </p:txBody>
      </p:sp>
      <p:sp>
        <p:nvSpPr>
          <p:cNvPr id="1082" name="Google Shape;1082;p1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6</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p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092" name="Google Shape;1092;p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11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134" name="Google Shape;1134;p11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p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9" name="Google Shape;1139;p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1200"/>
              <a:buFont typeface="Arial"/>
              <a:buNone/>
            </a:pPr>
            <a:endParaRPr/>
          </a:p>
        </p:txBody>
      </p:sp>
      <p:sp>
        <p:nvSpPr>
          <p:cNvPr id="1140" name="Google Shape;1140;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6"/>
        <p:cNvGrpSpPr/>
        <p:nvPr/>
      </p:nvGrpSpPr>
      <p:grpSpPr>
        <a:xfrm>
          <a:off x="0" y="0"/>
          <a:ext cx="0" cy="0"/>
          <a:chOff x="0" y="0"/>
          <a:chExt cx="0" cy="0"/>
        </a:xfrm>
      </p:grpSpPr>
      <p:sp>
        <p:nvSpPr>
          <p:cNvPr id="1157" name="Google Shape;1157;p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8" name="Google Shape;1158;p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chemeClr val="dk1"/>
              </a:buClr>
              <a:buSzPts val="1240"/>
              <a:buFont typeface="Arial"/>
              <a:buNone/>
            </a:pPr>
            <a:endParaRPr sz="1240" b="1">
              <a:solidFill>
                <a:schemeClr val="accent2"/>
              </a:solidFill>
              <a:latin typeface="Arial"/>
              <a:ea typeface="Arial"/>
              <a:cs typeface="Arial"/>
              <a:sym typeface="Arial"/>
            </a:endParaRPr>
          </a:p>
          <a:p>
            <a:pPr marL="0" lvl="0" indent="0" algn="l" rtl="0">
              <a:lnSpc>
                <a:spcPct val="80000"/>
              </a:lnSpc>
              <a:spcBef>
                <a:spcPts val="600"/>
              </a:spcBef>
              <a:spcAft>
                <a:spcPts val="0"/>
              </a:spcAft>
              <a:buClr>
                <a:schemeClr val="accent1"/>
              </a:buClr>
              <a:buSzPts val="1550"/>
              <a:buFont typeface="Arial"/>
              <a:buNone/>
            </a:pPr>
            <a:r>
              <a:rPr lang="en-US" sz="1550" b="1">
                <a:solidFill>
                  <a:schemeClr val="accent1"/>
                </a:solidFill>
                <a:latin typeface="Arial"/>
                <a:ea typeface="Arial"/>
                <a:cs typeface="Arial"/>
                <a:sym typeface="Arial"/>
              </a:rPr>
              <a:t>IaaS on VMware provides a prescriptive approach to:</a:t>
            </a:r>
            <a:endParaRPr/>
          </a:p>
          <a:p>
            <a:pPr marL="285750" lvl="0" indent="-285750" algn="l" rtl="0">
              <a:lnSpc>
                <a:spcPct val="80000"/>
              </a:lnSpc>
              <a:spcBef>
                <a:spcPts val="0"/>
              </a:spcBef>
              <a:spcAft>
                <a:spcPts val="0"/>
              </a:spcAft>
              <a:buClr>
                <a:schemeClr val="accent1"/>
              </a:buClr>
              <a:buSzPts val="1240"/>
              <a:buFont typeface="Arial"/>
              <a:buAutoNum type="arabicPeriod"/>
            </a:pPr>
            <a:r>
              <a:rPr lang="en-US" sz="1240">
                <a:solidFill>
                  <a:schemeClr val="accent1"/>
                </a:solidFill>
              </a:rPr>
              <a:t>D</a:t>
            </a:r>
            <a:r>
              <a:rPr lang="en-US" sz="1240">
                <a:solidFill>
                  <a:schemeClr val="accent1"/>
                </a:solidFill>
                <a:latin typeface="Arial"/>
                <a:ea typeface="Arial"/>
                <a:cs typeface="Arial"/>
                <a:sym typeface="Arial"/>
              </a:rPr>
              <a:t>evelop and operate the VMware Cloud with improved agility and cost efficiency.</a:t>
            </a:r>
            <a:endParaRPr/>
          </a:p>
          <a:p>
            <a:pPr marL="285750" lvl="0" indent="-285750" algn="l" rtl="0">
              <a:lnSpc>
                <a:spcPct val="80000"/>
              </a:lnSpc>
              <a:spcBef>
                <a:spcPts val="0"/>
              </a:spcBef>
              <a:spcAft>
                <a:spcPts val="0"/>
              </a:spcAft>
              <a:buClr>
                <a:schemeClr val="accent1"/>
              </a:buClr>
              <a:buSzPts val="1240"/>
              <a:buFont typeface="Arial"/>
              <a:buAutoNum type="arabicPeriod"/>
            </a:pPr>
            <a:r>
              <a:rPr lang="en-US" sz="1240">
                <a:solidFill>
                  <a:schemeClr val="accent1"/>
                </a:solidFill>
                <a:latin typeface="Arial"/>
                <a:ea typeface="Arial"/>
                <a:cs typeface="Arial"/>
                <a:sym typeface="Arial"/>
              </a:rPr>
              <a:t>Continuously improve a simplified marketplace experience for the consumer.</a:t>
            </a:r>
            <a:endParaRPr/>
          </a:p>
          <a:p>
            <a:pPr marL="0" lvl="0" indent="0" algn="l" rtl="0">
              <a:lnSpc>
                <a:spcPct val="80000"/>
              </a:lnSpc>
              <a:spcBef>
                <a:spcPts val="300"/>
              </a:spcBef>
              <a:spcAft>
                <a:spcPts val="0"/>
              </a:spcAft>
              <a:buClr>
                <a:schemeClr val="dk1"/>
              </a:buClr>
              <a:buSzPts val="1240"/>
              <a:buFont typeface="Arial"/>
              <a:buNone/>
            </a:pPr>
            <a:endParaRPr sz="1240" b="1">
              <a:solidFill>
                <a:schemeClr val="accent2"/>
              </a:solidFill>
              <a:latin typeface="Arial"/>
              <a:ea typeface="Arial"/>
              <a:cs typeface="Arial"/>
              <a:sym typeface="Arial"/>
            </a:endParaRPr>
          </a:p>
          <a:p>
            <a:pPr marL="0" lvl="0" indent="0" algn="l" rtl="0">
              <a:lnSpc>
                <a:spcPct val="80000"/>
              </a:lnSpc>
              <a:spcBef>
                <a:spcPts val="300"/>
              </a:spcBef>
              <a:spcAft>
                <a:spcPts val="0"/>
              </a:spcAft>
              <a:buClr>
                <a:schemeClr val="dk1"/>
              </a:buClr>
              <a:buSzPts val="1240"/>
              <a:buFont typeface="Arial"/>
              <a:buNone/>
            </a:pPr>
            <a:endParaRPr sz="1240" b="1">
              <a:solidFill>
                <a:schemeClr val="accent2"/>
              </a:solidFill>
              <a:latin typeface="Arial"/>
              <a:ea typeface="Arial"/>
              <a:cs typeface="Arial"/>
              <a:sym typeface="Arial"/>
            </a:endParaRPr>
          </a:p>
          <a:p>
            <a:pPr marL="0" lvl="0" indent="0" algn="l" rtl="0">
              <a:lnSpc>
                <a:spcPct val="80000"/>
              </a:lnSpc>
              <a:spcBef>
                <a:spcPts val="300"/>
              </a:spcBef>
              <a:spcAft>
                <a:spcPts val="0"/>
              </a:spcAft>
              <a:buClr>
                <a:schemeClr val="accent2"/>
              </a:buClr>
              <a:buSzPts val="1240"/>
              <a:buFont typeface="Arial"/>
              <a:buNone/>
            </a:pPr>
            <a:r>
              <a:rPr lang="en-US" sz="1240" b="1">
                <a:solidFill>
                  <a:schemeClr val="accent2"/>
                </a:solidFill>
                <a:latin typeface="Arial"/>
                <a:ea typeface="Arial"/>
                <a:cs typeface="Arial"/>
                <a:sym typeface="Arial"/>
              </a:rPr>
              <a:t>IaaS on VMware provides the tools and processes to build, operate, scale, and secure IaaS for the following roles:</a:t>
            </a:r>
            <a:endParaRPr/>
          </a:p>
          <a:p>
            <a:pPr marL="285750" lvl="0" indent="-285750" algn="l" rtl="0">
              <a:lnSpc>
                <a:spcPct val="80000"/>
              </a:lnSpc>
              <a:spcBef>
                <a:spcPts val="300"/>
              </a:spcBef>
              <a:spcAft>
                <a:spcPts val="0"/>
              </a:spcAft>
              <a:buClr>
                <a:schemeClr val="accent2"/>
              </a:buClr>
              <a:buSzPts val="930"/>
              <a:buFont typeface="Arial"/>
              <a:buAutoNum type="arabicPeriod"/>
            </a:pPr>
            <a:r>
              <a:rPr lang="en-US" sz="930" b="1">
                <a:solidFill>
                  <a:schemeClr val="accent2"/>
                </a:solidFill>
                <a:latin typeface="Arial"/>
                <a:ea typeface="Arial"/>
                <a:cs typeface="Arial"/>
                <a:sym typeface="Arial"/>
              </a:rPr>
              <a:t>IaaS Developer </a:t>
            </a:r>
            <a:r>
              <a:rPr lang="en-US" sz="930">
                <a:solidFill>
                  <a:schemeClr val="accent2"/>
                </a:solidFill>
                <a:latin typeface="Arial"/>
                <a:ea typeface="Arial"/>
                <a:cs typeface="Arial"/>
                <a:sym typeface="Arial"/>
              </a:rPr>
              <a:t>– needs the ability to develop and release new IaaS service offerings to the marketplace.</a:t>
            </a:r>
            <a:endParaRPr/>
          </a:p>
          <a:p>
            <a:pPr marL="285750" lvl="0" indent="-285750" algn="l" rtl="0">
              <a:lnSpc>
                <a:spcPct val="80000"/>
              </a:lnSpc>
              <a:spcBef>
                <a:spcPts val="300"/>
              </a:spcBef>
              <a:spcAft>
                <a:spcPts val="0"/>
              </a:spcAft>
              <a:buClr>
                <a:schemeClr val="accent2"/>
              </a:buClr>
              <a:buSzPts val="930"/>
              <a:buFont typeface="Arial"/>
              <a:buAutoNum type="arabicPeriod"/>
            </a:pPr>
            <a:r>
              <a:rPr lang="en-US" sz="930" b="1">
                <a:solidFill>
                  <a:schemeClr val="accent2"/>
                </a:solidFill>
                <a:latin typeface="Arial"/>
                <a:ea typeface="Arial"/>
                <a:cs typeface="Arial"/>
                <a:sym typeface="Arial"/>
              </a:rPr>
              <a:t>IaaS Administrator </a:t>
            </a:r>
            <a:r>
              <a:rPr lang="en-US" sz="930">
                <a:solidFill>
                  <a:schemeClr val="accent2"/>
                </a:solidFill>
                <a:latin typeface="Arial"/>
                <a:ea typeface="Arial"/>
                <a:cs typeface="Arial"/>
                <a:sym typeface="Arial"/>
              </a:rPr>
              <a:t>- needs the ability to guarantee the reliability of the marketplace.</a:t>
            </a:r>
            <a:endParaRPr/>
          </a:p>
          <a:p>
            <a:pPr marL="285750" lvl="0" indent="-285750" algn="l" rtl="0">
              <a:lnSpc>
                <a:spcPct val="80000"/>
              </a:lnSpc>
              <a:spcBef>
                <a:spcPts val="300"/>
              </a:spcBef>
              <a:spcAft>
                <a:spcPts val="0"/>
              </a:spcAft>
              <a:buClr>
                <a:schemeClr val="accent2"/>
              </a:buClr>
              <a:buSzPts val="930"/>
              <a:buFont typeface="Arial"/>
              <a:buAutoNum type="arabicPeriod"/>
            </a:pPr>
            <a:r>
              <a:rPr lang="en-US" sz="930" b="1">
                <a:solidFill>
                  <a:schemeClr val="accent2"/>
                </a:solidFill>
                <a:latin typeface="Arial"/>
                <a:ea typeface="Arial"/>
                <a:cs typeface="Arial"/>
                <a:sym typeface="Arial"/>
              </a:rPr>
              <a:t>IaaS Approver </a:t>
            </a:r>
            <a:r>
              <a:rPr lang="en-US" sz="930">
                <a:solidFill>
                  <a:schemeClr val="accent2"/>
                </a:solidFill>
                <a:latin typeface="Arial"/>
                <a:ea typeface="Arial"/>
                <a:cs typeface="Arial"/>
                <a:sym typeface="Arial"/>
              </a:rPr>
              <a:t>– needs the ability to govern the security, compliance, cost, and architecture of the marketplace.</a:t>
            </a:r>
            <a:endParaRPr/>
          </a:p>
          <a:p>
            <a:pPr marL="285750" lvl="0" indent="-285750" algn="l" rtl="0">
              <a:lnSpc>
                <a:spcPct val="80000"/>
              </a:lnSpc>
              <a:spcBef>
                <a:spcPts val="300"/>
              </a:spcBef>
              <a:spcAft>
                <a:spcPts val="0"/>
              </a:spcAft>
              <a:buClr>
                <a:schemeClr val="accent2"/>
              </a:buClr>
              <a:buSzPts val="930"/>
              <a:buFont typeface="Arial"/>
              <a:buAutoNum type="arabicPeriod"/>
            </a:pPr>
            <a:r>
              <a:rPr lang="en-US" sz="930" b="1">
                <a:solidFill>
                  <a:schemeClr val="accent2"/>
                </a:solidFill>
                <a:latin typeface="Arial"/>
                <a:ea typeface="Arial"/>
                <a:cs typeface="Arial"/>
                <a:sym typeface="Arial"/>
              </a:rPr>
              <a:t>IaaS Consumer </a:t>
            </a:r>
            <a:r>
              <a:rPr lang="en-US" sz="930">
                <a:solidFill>
                  <a:schemeClr val="accent2"/>
                </a:solidFill>
                <a:latin typeface="Arial"/>
                <a:ea typeface="Arial"/>
                <a:cs typeface="Arial"/>
                <a:sym typeface="Arial"/>
              </a:rPr>
              <a:t>– needs the ability to request a resource pool (compute, network, or storage) or operating system from the marketplace</a:t>
            </a:r>
            <a:endParaRPr/>
          </a:p>
          <a:p>
            <a:pPr marL="285750" lvl="0" indent="-226695" algn="l" rtl="0">
              <a:lnSpc>
                <a:spcPct val="80000"/>
              </a:lnSpc>
              <a:spcBef>
                <a:spcPts val="300"/>
              </a:spcBef>
              <a:spcAft>
                <a:spcPts val="0"/>
              </a:spcAft>
              <a:buClr>
                <a:schemeClr val="dk1"/>
              </a:buClr>
              <a:buSzPts val="930"/>
              <a:buFont typeface="Arial"/>
              <a:buNone/>
            </a:pPr>
            <a:endParaRPr sz="930">
              <a:solidFill>
                <a:schemeClr val="accent2"/>
              </a:solidFill>
              <a:latin typeface="Arial"/>
              <a:ea typeface="Arial"/>
              <a:cs typeface="Arial"/>
              <a:sym typeface="Arial"/>
            </a:endParaRPr>
          </a:p>
          <a:p>
            <a:pPr marL="0" lvl="0" indent="0" algn="l" rtl="0">
              <a:lnSpc>
                <a:spcPct val="80000"/>
              </a:lnSpc>
              <a:spcBef>
                <a:spcPts val="300"/>
              </a:spcBef>
              <a:spcAft>
                <a:spcPts val="0"/>
              </a:spcAft>
              <a:buClr>
                <a:schemeClr val="dk1"/>
              </a:buClr>
              <a:buSzPts val="930"/>
              <a:buFont typeface="Arial"/>
              <a:buNone/>
            </a:pPr>
            <a:endParaRPr sz="930">
              <a:solidFill>
                <a:schemeClr val="accent2"/>
              </a:solidFill>
              <a:latin typeface="Arial"/>
              <a:ea typeface="Arial"/>
              <a:cs typeface="Arial"/>
              <a:sym typeface="Arial"/>
            </a:endParaRPr>
          </a:p>
          <a:p>
            <a:pPr marL="0" lvl="0" indent="0" algn="l" rtl="0">
              <a:lnSpc>
                <a:spcPct val="80000"/>
              </a:lnSpc>
              <a:spcBef>
                <a:spcPts val="300"/>
              </a:spcBef>
              <a:spcAft>
                <a:spcPts val="0"/>
              </a:spcAft>
              <a:buClr>
                <a:schemeClr val="accent5"/>
              </a:buClr>
              <a:buSzPts val="930"/>
              <a:buFont typeface="Arial"/>
              <a:buNone/>
            </a:pPr>
            <a:r>
              <a:rPr lang="en-US" sz="930" b="1">
                <a:solidFill>
                  <a:schemeClr val="accent5"/>
                </a:solidFill>
              </a:rPr>
              <a:t>IaaS on VMware provides the following set of capabilities:</a:t>
            </a:r>
            <a:endParaRPr sz="930" b="1">
              <a:solidFill>
                <a:schemeClr val="accent5"/>
              </a:solidFill>
              <a:latin typeface="Arial"/>
              <a:ea typeface="Arial"/>
              <a:cs typeface="Arial"/>
              <a:sym typeface="Arial"/>
            </a:endParaRPr>
          </a:p>
          <a:p>
            <a:pPr marL="285750" lvl="0" indent="-285750" algn="l" rtl="0">
              <a:lnSpc>
                <a:spcPct val="80000"/>
              </a:lnSpc>
              <a:spcBef>
                <a:spcPts val="300"/>
              </a:spcBef>
              <a:spcAft>
                <a:spcPts val="0"/>
              </a:spcAft>
              <a:buClr>
                <a:schemeClr val="accent5"/>
              </a:buClr>
              <a:buSzPts val="813"/>
              <a:buFont typeface="Arial"/>
              <a:buChar char="•"/>
            </a:pPr>
            <a:r>
              <a:rPr lang="en-US" sz="813">
                <a:solidFill>
                  <a:schemeClr val="accent5"/>
                </a:solidFill>
                <a:latin typeface="Arial"/>
                <a:ea typeface="Arial"/>
                <a:cs typeface="Arial"/>
                <a:sym typeface="Arial"/>
              </a:rPr>
              <a:t>Two infrastructure service offerings:</a:t>
            </a:r>
            <a:endParaRPr/>
          </a:p>
          <a:p>
            <a:pPr marL="742950" lvl="1" indent="-285750" algn="l" rtl="0">
              <a:lnSpc>
                <a:spcPct val="80000"/>
              </a:lnSpc>
              <a:spcBef>
                <a:spcPts val="300"/>
              </a:spcBef>
              <a:spcAft>
                <a:spcPts val="0"/>
              </a:spcAft>
              <a:buClr>
                <a:schemeClr val="accent5"/>
              </a:buClr>
              <a:buSzPts val="813"/>
              <a:buFont typeface="Arial"/>
              <a:buAutoNum type="arabicPeriod"/>
            </a:pPr>
            <a:r>
              <a:rPr lang="en-US" sz="813">
                <a:solidFill>
                  <a:schemeClr val="accent5"/>
                </a:solidFill>
                <a:latin typeface="Arial"/>
                <a:ea typeface="Arial"/>
                <a:cs typeface="Arial"/>
                <a:sym typeface="Arial"/>
              </a:rPr>
              <a:t>Physical IaaS: a workload domain as a service (AWS equivalent: </a:t>
            </a:r>
            <a:r>
              <a:rPr lang="en-US" sz="813" u="sng">
                <a:solidFill>
                  <a:schemeClr val="accent5"/>
                </a:solidFill>
                <a:latin typeface="Arial"/>
                <a:ea typeface="Arial"/>
                <a:cs typeface="Arial"/>
                <a:sym typeface="Arial"/>
                <a:hlinkClick r:id="rId3">
                  <a:extLst>
                    <a:ext uri="{A12FA001-AC4F-418D-AE19-62706E023703}">
                      <ahyp:hlinkClr xmlns:ahyp="http://schemas.microsoft.com/office/drawing/2018/hyperlinkcolor" val="tx"/>
                    </a:ext>
                  </a:extLst>
                </a:hlinkClick>
              </a:rPr>
              <a:t>VPC</a:t>
            </a:r>
            <a:r>
              <a:rPr lang="en-US" sz="813">
                <a:solidFill>
                  <a:schemeClr val="accent5"/>
                </a:solidFill>
                <a:latin typeface="Arial"/>
                <a:ea typeface="Arial"/>
                <a:cs typeface="Arial"/>
                <a:sym typeface="Arial"/>
              </a:rPr>
              <a:t>)</a:t>
            </a:r>
            <a:endParaRPr/>
          </a:p>
          <a:p>
            <a:pPr marL="742950" lvl="1" indent="-285750" algn="l" rtl="0">
              <a:lnSpc>
                <a:spcPct val="80000"/>
              </a:lnSpc>
              <a:spcBef>
                <a:spcPts val="300"/>
              </a:spcBef>
              <a:spcAft>
                <a:spcPts val="0"/>
              </a:spcAft>
              <a:buClr>
                <a:schemeClr val="accent5"/>
              </a:buClr>
              <a:buSzPts val="813"/>
              <a:buFont typeface="Arial"/>
              <a:buAutoNum type="arabicPeriod"/>
            </a:pPr>
            <a:r>
              <a:rPr lang="en-US" sz="813">
                <a:solidFill>
                  <a:schemeClr val="accent5"/>
                </a:solidFill>
                <a:latin typeface="Arial"/>
                <a:ea typeface="Arial"/>
                <a:cs typeface="Arial"/>
                <a:sym typeface="Arial"/>
              </a:rPr>
              <a:t>Virtual IaaS: an operating system as a service (AWS equivalent: </a:t>
            </a:r>
            <a:r>
              <a:rPr lang="en-US" sz="813" u="sng">
                <a:solidFill>
                  <a:schemeClr val="accent5"/>
                </a:solidFill>
                <a:latin typeface="Arial"/>
                <a:ea typeface="Arial"/>
                <a:cs typeface="Arial"/>
                <a:sym typeface="Arial"/>
                <a:hlinkClick r:id="rId4">
                  <a:extLst>
                    <a:ext uri="{A12FA001-AC4F-418D-AE19-62706E023703}">
                      <ahyp:hlinkClr xmlns:ahyp="http://schemas.microsoft.com/office/drawing/2018/hyperlinkcolor" val="tx"/>
                    </a:ext>
                  </a:extLst>
                </a:hlinkClick>
              </a:rPr>
              <a:t>EC2</a:t>
            </a:r>
            <a:r>
              <a:rPr lang="en-US" sz="813">
                <a:solidFill>
                  <a:schemeClr val="accent5"/>
                </a:solidFill>
                <a:latin typeface="Arial"/>
                <a:ea typeface="Arial"/>
                <a:cs typeface="Arial"/>
                <a:sym typeface="Arial"/>
              </a:rPr>
              <a:t>)</a:t>
            </a:r>
            <a:endParaRPr/>
          </a:p>
          <a:p>
            <a:pPr marL="285750" lvl="0" indent="-285750" algn="l" rtl="0">
              <a:lnSpc>
                <a:spcPct val="80000"/>
              </a:lnSpc>
              <a:spcBef>
                <a:spcPts val="300"/>
              </a:spcBef>
              <a:spcAft>
                <a:spcPts val="0"/>
              </a:spcAft>
              <a:buClr>
                <a:schemeClr val="accent5"/>
              </a:buClr>
              <a:buSzPts val="813"/>
              <a:buFont typeface="Arial"/>
              <a:buChar char="•"/>
            </a:pPr>
            <a:r>
              <a:rPr lang="en-US" sz="813">
                <a:solidFill>
                  <a:schemeClr val="accent5"/>
                </a:solidFill>
                <a:latin typeface="Arial"/>
                <a:ea typeface="Arial"/>
                <a:cs typeface="Arial"/>
                <a:sym typeface="Arial"/>
              </a:rPr>
              <a:t>Ability for </a:t>
            </a:r>
            <a:r>
              <a:rPr lang="en-US" sz="813">
                <a:solidFill>
                  <a:schemeClr val="accent5"/>
                </a:solidFill>
              </a:rPr>
              <a:t>IaaS Consumers and IaaS Developers </a:t>
            </a:r>
            <a:r>
              <a:rPr lang="en-US" sz="813">
                <a:solidFill>
                  <a:schemeClr val="accent5"/>
                </a:solidFill>
                <a:latin typeface="Arial"/>
                <a:ea typeface="Arial"/>
                <a:cs typeface="Arial"/>
                <a:sym typeface="Arial"/>
              </a:rPr>
              <a:t>to build, destroy, and re-build the infrastructure through a self-service marketplace, where the marketplace is accessible through an IAM controlled interface. </a:t>
            </a:r>
            <a:endParaRPr/>
          </a:p>
          <a:p>
            <a:pPr marL="285750" lvl="0" indent="-285750" algn="l" rtl="0">
              <a:lnSpc>
                <a:spcPct val="80000"/>
              </a:lnSpc>
              <a:spcBef>
                <a:spcPts val="300"/>
              </a:spcBef>
              <a:spcAft>
                <a:spcPts val="0"/>
              </a:spcAft>
              <a:buClr>
                <a:schemeClr val="accent5"/>
              </a:buClr>
              <a:buSzPts val="813"/>
              <a:buFont typeface="Arial"/>
              <a:buChar char="•"/>
            </a:pPr>
            <a:r>
              <a:rPr lang="en-US" sz="813">
                <a:solidFill>
                  <a:schemeClr val="accent5"/>
                </a:solidFill>
                <a:latin typeface="Arial"/>
                <a:ea typeface="Arial"/>
                <a:cs typeface="Arial"/>
                <a:sym typeface="Arial"/>
              </a:rPr>
              <a:t>Ability to monitor and log each marketplace request, automatically alerting IaaS Administrators when there are problems.</a:t>
            </a:r>
            <a:endParaRPr/>
          </a:p>
          <a:p>
            <a:pPr marL="285750" lvl="0" indent="-285750" algn="l" rtl="0">
              <a:lnSpc>
                <a:spcPct val="80000"/>
              </a:lnSpc>
              <a:spcBef>
                <a:spcPts val="300"/>
              </a:spcBef>
              <a:spcAft>
                <a:spcPts val="0"/>
              </a:spcAft>
              <a:buClr>
                <a:schemeClr val="accent5"/>
              </a:buClr>
              <a:buSzPts val="813"/>
              <a:buFont typeface="Arial"/>
              <a:buChar char="•"/>
            </a:pPr>
            <a:r>
              <a:rPr lang="en-US" sz="813">
                <a:solidFill>
                  <a:schemeClr val="accent5"/>
                </a:solidFill>
                <a:latin typeface="Arial"/>
                <a:ea typeface="Arial"/>
                <a:cs typeface="Arial"/>
                <a:sym typeface="Arial"/>
              </a:rPr>
              <a:t>Ability for IaaS Administrators to manage capacity, availability, and performance of the underlying resources to ensure the IaaS service offering does not encounter single points of failure or degradation of the user experience.</a:t>
            </a:r>
            <a:endParaRPr/>
          </a:p>
          <a:p>
            <a:pPr marL="285750" lvl="0" indent="-285750" algn="l" rtl="0">
              <a:lnSpc>
                <a:spcPct val="80000"/>
              </a:lnSpc>
              <a:spcBef>
                <a:spcPts val="300"/>
              </a:spcBef>
              <a:spcAft>
                <a:spcPts val="0"/>
              </a:spcAft>
              <a:buClr>
                <a:schemeClr val="accent5"/>
              </a:buClr>
              <a:buSzPts val="813"/>
              <a:buFont typeface="Arial"/>
              <a:buChar char="•"/>
            </a:pPr>
            <a:r>
              <a:rPr lang="en-US" sz="813">
                <a:solidFill>
                  <a:schemeClr val="accent5"/>
                </a:solidFill>
                <a:latin typeface="Arial"/>
                <a:ea typeface="Arial"/>
                <a:cs typeface="Arial"/>
                <a:sym typeface="Arial"/>
              </a:rPr>
              <a:t>Ability to capture and present the operational cost to IaaS Approvers.</a:t>
            </a:r>
            <a:endParaRPr/>
          </a:p>
          <a:p>
            <a:pPr marL="285750" lvl="0" indent="-285750" algn="l" rtl="0">
              <a:lnSpc>
                <a:spcPct val="80000"/>
              </a:lnSpc>
              <a:spcBef>
                <a:spcPts val="300"/>
              </a:spcBef>
              <a:spcAft>
                <a:spcPts val="0"/>
              </a:spcAft>
              <a:buClr>
                <a:schemeClr val="accent5"/>
              </a:buClr>
              <a:buSzPts val="813"/>
              <a:buFont typeface="Arial"/>
              <a:buChar char="•"/>
            </a:pPr>
            <a:r>
              <a:rPr lang="en-US" sz="813">
                <a:solidFill>
                  <a:schemeClr val="accent5"/>
                </a:solidFill>
                <a:latin typeface="Arial"/>
                <a:ea typeface="Arial"/>
                <a:cs typeface="Arial"/>
                <a:sym typeface="Arial"/>
              </a:rPr>
              <a:t>Ability for IaaS Administrators to push compliance policies defined by the IaaS Approvers to assets under management. </a:t>
            </a:r>
            <a:endParaRPr/>
          </a:p>
          <a:p>
            <a:pPr marL="0" lvl="0" indent="0" algn="l" rtl="0">
              <a:lnSpc>
                <a:spcPct val="80000"/>
              </a:lnSpc>
              <a:spcBef>
                <a:spcPts val="0"/>
              </a:spcBef>
              <a:spcAft>
                <a:spcPts val="0"/>
              </a:spcAft>
              <a:buSzPts val="1400"/>
              <a:buNone/>
            </a:pPr>
            <a:endParaRPr sz="930"/>
          </a:p>
        </p:txBody>
      </p:sp>
      <p:sp>
        <p:nvSpPr>
          <p:cNvPr id="1159" name="Google Shape;1159;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p1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174" name="Google Shape;1174;p1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Google Shape;1577;g3604b1193ee_0_320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8" name="Google Shape;1578;g3604b1193ee_0_320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 b="1">
                <a:latin typeface="Arial"/>
                <a:ea typeface="Arial"/>
                <a:cs typeface="Arial"/>
                <a:sym typeface="Arial"/>
              </a:rPr>
              <a:t>Talk Track:</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This slide outlines the key elements that constitute a modern private cloud. The core pillars—Security Governance and Compliance, Management, Automated Operations, Data Protection and Recovery, and Virtualized Infrastructure—form the backbone of the private cloud. While the specific sub-components can be tailored to meet different needs, the general construct remains the same. This flexibility allows organizations to build a private cloud that is secure, efficient, and resilient, tailored to their specific requirements.</a:t>
            </a:r>
            <a:br>
              <a:rPr lang="en">
                <a:solidFill>
                  <a:srgbClr val="0E0E0E"/>
                </a:solidFill>
                <a:latin typeface="Arial"/>
                <a:ea typeface="Arial"/>
                <a:cs typeface="Arial"/>
                <a:sym typeface="Arial"/>
              </a:rPr>
            </a:br>
            <a:br>
              <a:rPr lang="en">
                <a:solidFill>
                  <a:srgbClr val="0E0E0E"/>
                </a:solidFill>
                <a:latin typeface="Arial"/>
                <a:ea typeface="Arial"/>
                <a:cs typeface="Arial"/>
                <a:sym typeface="Arial"/>
              </a:rPr>
            </a:br>
            <a:r>
              <a:rPr lang="en" b="1">
                <a:solidFill>
                  <a:srgbClr val="0E0E0E"/>
                </a:solidFill>
                <a:latin typeface="Arial"/>
                <a:ea typeface="Arial"/>
                <a:cs typeface="Arial"/>
                <a:sym typeface="Arial"/>
              </a:rPr>
              <a:t>Security Governance and Compliance</a:t>
            </a: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Identity and RBAC (Role-Based Access Control)</a:t>
            </a:r>
            <a:r>
              <a:rPr lang="en">
                <a:solidFill>
                  <a:srgbClr val="0E0E0E"/>
                </a:solidFill>
                <a:latin typeface="Arial"/>
                <a:ea typeface="Arial"/>
                <a:cs typeface="Arial"/>
                <a:sym typeface="Arial"/>
              </a:rPr>
              <a:t>: Ensures secure access management.</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Auditing and SIEM (Security Information and Event Management)</a:t>
            </a:r>
            <a:r>
              <a:rPr lang="en">
                <a:solidFill>
                  <a:srgbClr val="0E0E0E"/>
                </a:solidFill>
                <a:latin typeface="Arial"/>
                <a:ea typeface="Arial"/>
                <a:cs typeface="Arial"/>
                <a:sym typeface="Arial"/>
              </a:rPr>
              <a:t>: Provides monitoring and auditing capabilities.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Constraint-Based Management</a:t>
            </a:r>
            <a:r>
              <a:rPr lang="en">
                <a:solidFill>
                  <a:srgbClr val="0E0E0E"/>
                </a:solidFill>
                <a:latin typeface="Arial"/>
                <a:ea typeface="Arial"/>
                <a:cs typeface="Arial"/>
                <a:sym typeface="Arial"/>
              </a:rPr>
              <a:t>: Enforces policies and constraints for compliance.</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Data Governance</a:t>
            </a:r>
            <a:r>
              <a:rPr lang="en">
                <a:solidFill>
                  <a:srgbClr val="0E0E0E"/>
                </a:solidFill>
                <a:latin typeface="Arial"/>
                <a:ea typeface="Arial"/>
                <a:cs typeface="Arial"/>
                <a:sym typeface="Arial"/>
              </a:rPr>
              <a:t>: Manages data integrity and privacy.</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Compliance Enforcement</a:t>
            </a:r>
            <a:r>
              <a:rPr lang="en">
                <a:solidFill>
                  <a:srgbClr val="0E0E0E"/>
                </a:solidFill>
                <a:latin typeface="Arial"/>
                <a:ea typeface="Arial"/>
                <a:cs typeface="Arial"/>
                <a:sym typeface="Arial"/>
              </a:rPr>
              <a:t>: Ensures adherence to regulatory standards.</a:t>
            </a:r>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br>
              <a:rPr lang="en">
                <a:solidFill>
                  <a:srgbClr val="0E0E0E"/>
                </a:solidFill>
                <a:latin typeface="Arial"/>
                <a:ea typeface="Arial"/>
                <a:cs typeface="Arial"/>
                <a:sym typeface="Arial"/>
              </a:rPr>
            </a:br>
            <a:r>
              <a:rPr lang="en" b="1">
                <a:solidFill>
                  <a:srgbClr val="0E0E0E"/>
                </a:solidFill>
                <a:latin typeface="Arial"/>
                <a:ea typeface="Arial"/>
                <a:cs typeface="Arial"/>
                <a:sym typeface="Arial"/>
              </a:rPr>
              <a:t>Management</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Self-Service Portal</a:t>
            </a:r>
            <a:r>
              <a:rPr lang="en">
                <a:solidFill>
                  <a:srgbClr val="0E0E0E"/>
                </a:solidFill>
                <a:latin typeface="Arial"/>
                <a:ea typeface="Arial"/>
                <a:cs typeface="Arial"/>
                <a:sym typeface="Arial"/>
              </a:rPr>
              <a:t>: Allows users to access and manage resources independently.</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API | CLI | CI/CD</a:t>
            </a:r>
            <a:r>
              <a:rPr lang="en">
                <a:solidFill>
                  <a:srgbClr val="0E0E0E"/>
                </a:solidFill>
                <a:latin typeface="Arial"/>
                <a:ea typeface="Arial"/>
                <a:cs typeface="Arial"/>
                <a:sym typeface="Arial"/>
              </a:rPr>
              <a:t>: Facilitates automation and integration through various interfaces.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Infra-as-Code</a:t>
            </a:r>
            <a:r>
              <a:rPr lang="en">
                <a:solidFill>
                  <a:srgbClr val="0E0E0E"/>
                </a:solidFill>
                <a:latin typeface="Arial"/>
                <a:ea typeface="Arial"/>
                <a:cs typeface="Arial"/>
                <a:sym typeface="Arial"/>
              </a:rPr>
              <a:t>: Enables infrastructure management through code for consistency and repeatability.</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Data Services</a:t>
            </a:r>
            <a:r>
              <a:rPr lang="en">
                <a:solidFill>
                  <a:srgbClr val="0E0E0E"/>
                </a:solidFill>
                <a:latin typeface="Arial"/>
                <a:ea typeface="Arial"/>
                <a:cs typeface="Arial"/>
                <a:sym typeface="Arial"/>
              </a:rPr>
              <a:t>: Manages data storage and retrieval.</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App Runtime Services</a:t>
            </a:r>
            <a:r>
              <a:rPr lang="en">
                <a:solidFill>
                  <a:srgbClr val="0E0E0E"/>
                </a:solidFill>
                <a:latin typeface="Arial"/>
                <a:ea typeface="Arial"/>
                <a:cs typeface="Arial"/>
                <a:sym typeface="Arial"/>
              </a:rPr>
              <a:t>: Provides environments for running applications.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AI/ML Services</a:t>
            </a:r>
            <a:r>
              <a:rPr lang="en">
                <a:solidFill>
                  <a:srgbClr val="0E0E0E"/>
                </a:solidFill>
                <a:latin typeface="Arial"/>
                <a:ea typeface="Arial"/>
                <a:cs typeface="Arial"/>
                <a:sym typeface="Arial"/>
              </a:rPr>
              <a:t>: Supports artificial intelligence and machine learning workloads.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LBaaS Services</a:t>
            </a:r>
            <a:r>
              <a:rPr lang="en">
                <a:solidFill>
                  <a:srgbClr val="0E0E0E"/>
                </a:solidFill>
                <a:latin typeface="Arial"/>
                <a:ea typeface="Arial"/>
                <a:cs typeface="Arial"/>
                <a:sym typeface="Arial"/>
              </a:rPr>
              <a:t>: Offers Load Balancer as a Service for optimal traffic distribution.</a:t>
            </a:r>
            <a:endParaRPr/>
          </a:p>
          <a:p>
            <a:pPr marL="0" lvl="0" indent="0" algn="l" rtl="0">
              <a:spcBef>
                <a:spcPts val="0"/>
              </a:spcBef>
              <a:spcAft>
                <a:spcPts val="0"/>
              </a:spcAft>
              <a:buNone/>
            </a:pP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b="1">
                <a:solidFill>
                  <a:srgbClr val="0E0E0E"/>
                </a:solidFill>
                <a:latin typeface="Arial"/>
                <a:ea typeface="Arial"/>
                <a:cs typeface="Arial"/>
                <a:sym typeface="Arial"/>
              </a:rPr>
              <a:t>Automated Operations</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Performance Optimization</a:t>
            </a:r>
            <a:r>
              <a:rPr lang="en">
                <a:solidFill>
                  <a:srgbClr val="0E0E0E"/>
                </a:solidFill>
                <a:latin typeface="Arial"/>
                <a:ea typeface="Arial"/>
                <a:cs typeface="Arial"/>
                <a:sym typeface="Arial"/>
              </a:rPr>
              <a:t>: Enhances system performance.</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Visibility and Observability</a:t>
            </a:r>
            <a:r>
              <a:rPr lang="en">
                <a:solidFill>
                  <a:srgbClr val="0E0E0E"/>
                </a:solidFill>
                <a:latin typeface="Arial"/>
                <a:ea typeface="Arial"/>
                <a:cs typeface="Arial"/>
                <a:sym typeface="Arial"/>
              </a:rPr>
              <a:t>: Provides insights into system health and operations.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Analytics and Reporting</a:t>
            </a:r>
            <a:r>
              <a:rPr lang="en">
                <a:solidFill>
                  <a:srgbClr val="0E0E0E"/>
                </a:solidFill>
                <a:latin typeface="Arial"/>
                <a:ea typeface="Arial"/>
                <a:cs typeface="Arial"/>
                <a:sym typeface="Arial"/>
              </a:rPr>
              <a:t>: Delivers actionable data insights.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Cost Efficiency Management</a:t>
            </a:r>
            <a:r>
              <a:rPr lang="en">
                <a:solidFill>
                  <a:srgbClr val="0E0E0E"/>
                </a:solidFill>
                <a:latin typeface="Arial"/>
                <a:ea typeface="Arial"/>
                <a:cs typeface="Arial"/>
                <a:sym typeface="Arial"/>
              </a:rPr>
              <a:t>: Controls and reduces operational costs.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Capacity Management</a:t>
            </a:r>
            <a:r>
              <a:rPr lang="en">
                <a:solidFill>
                  <a:srgbClr val="0E0E0E"/>
                </a:solidFill>
                <a:latin typeface="Arial"/>
                <a:ea typeface="Arial"/>
                <a:cs typeface="Arial"/>
                <a:sym typeface="Arial"/>
              </a:rPr>
              <a:t>: Ensures adequate resource provisioning.</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Configuration Management</a:t>
            </a:r>
            <a:r>
              <a:rPr lang="en">
                <a:solidFill>
                  <a:srgbClr val="0E0E0E"/>
                </a:solidFill>
                <a:latin typeface="Arial"/>
                <a:ea typeface="Arial"/>
                <a:cs typeface="Arial"/>
                <a:sym typeface="Arial"/>
              </a:rPr>
              <a:t>: Maintains and manages system configurations.</a:t>
            </a:r>
            <a:endParaRPr/>
          </a:p>
          <a:p>
            <a:pPr marL="0" lvl="0" indent="0" algn="l" rtl="0">
              <a:spcBef>
                <a:spcPts val="0"/>
              </a:spcBef>
              <a:spcAft>
                <a:spcPts val="0"/>
              </a:spcAft>
              <a:buNone/>
            </a:pP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b="1">
                <a:solidFill>
                  <a:srgbClr val="0E0E0E"/>
                </a:solidFill>
                <a:latin typeface="Arial"/>
                <a:ea typeface="Arial"/>
                <a:cs typeface="Arial"/>
                <a:sym typeface="Arial"/>
              </a:rPr>
              <a:t>Data Protection and Recovery</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Data Protection</a:t>
            </a:r>
            <a:r>
              <a:rPr lang="en">
                <a:solidFill>
                  <a:srgbClr val="0E0E0E"/>
                </a:solidFill>
                <a:latin typeface="Arial"/>
                <a:ea typeface="Arial"/>
                <a:cs typeface="Arial"/>
                <a:sym typeface="Arial"/>
              </a:rPr>
              <a:t>: Safeguards data against loss and breaches.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Disaster Recovery</a:t>
            </a:r>
            <a:r>
              <a:rPr lang="en">
                <a:solidFill>
                  <a:srgbClr val="0E0E0E"/>
                </a:solidFill>
                <a:latin typeface="Arial"/>
                <a:ea typeface="Arial"/>
                <a:cs typeface="Arial"/>
                <a:sym typeface="Arial"/>
              </a:rPr>
              <a:t>: Plans for quick recovery from disruptions.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Disaster Avoidance</a:t>
            </a:r>
            <a:r>
              <a:rPr lang="en">
                <a:solidFill>
                  <a:srgbClr val="0E0E0E"/>
                </a:solidFill>
                <a:latin typeface="Arial"/>
                <a:ea typeface="Arial"/>
                <a:cs typeface="Arial"/>
                <a:sym typeface="Arial"/>
              </a:rPr>
              <a:t>: Proactively prevents potential disasters.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Ransomware Recovery</a:t>
            </a:r>
            <a:r>
              <a:rPr lang="en">
                <a:solidFill>
                  <a:srgbClr val="0E0E0E"/>
                </a:solidFill>
                <a:latin typeface="Arial"/>
                <a:ea typeface="Arial"/>
                <a:cs typeface="Arial"/>
                <a:sym typeface="Arial"/>
              </a:rPr>
              <a:t>: Specialized recovery procedures for ransomware attacks.</a:t>
            </a:r>
            <a:endParaRPr/>
          </a:p>
          <a:p>
            <a:pPr marL="0" lvl="0" indent="0" algn="l" rtl="0">
              <a:spcBef>
                <a:spcPts val="0"/>
              </a:spcBef>
              <a:spcAft>
                <a:spcPts val="0"/>
              </a:spcAft>
              <a:buNone/>
            </a:pP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b="1">
                <a:solidFill>
                  <a:srgbClr val="0E0E0E"/>
                </a:solidFill>
                <a:latin typeface="Arial"/>
                <a:ea typeface="Arial"/>
                <a:cs typeface="Arial"/>
                <a:sym typeface="Arial"/>
              </a:rPr>
              <a:t>Virtualized Infrastructure</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Compute (vSphere)</a:t>
            </a:r>
            <a:r>
              <a:rPr lang="en">
                <a:solidFill>
                  <a:srgbClr val="0E0E0E"/>
                </a:solidFill>
                <a:latin typeface="Arial"/>
                <a:ea typeface="Arial"/>
                <a:cs typeface="Arial"/>
                <a:sym typeface="Arial"/>
              </a:rPr>
              <a:t>: Provides virtualized computing resources.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Storage (vSAN)</a:t>
            </a:r>
            <a:r>
              <a:rPr lang="en">
                <a:solidFill>
                  <a:srgbClr val="0E0E0E"/>
                </a:solidFill>
                <a:latin typeface="Arial"/>
                <a:ea typeface="Arial"/>
                <a:cs typeface="Arial"/>
                <a:sym typeface="Arial"/>
              </a:rPr>
              <a:t>: Offers scalable storage solutions.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Network (NSX)</a:t>
            </a:r>
            <a:r>
              <a:rPr lang="en">
                <a:solidFill>
                  <a:srgbClr val="0E0E0E"/>
                </a:solidFill>
                <a:latin typeface="Arial"/>
                <a:ea typeface="Arial"/>
                <a:cs typeface="Arial"/>
                <a:sym typeface="Arial"/>
              </a:rPr>
              <a:t>: Delivers comprehensive network virtualization and security.</a:t>
            </a:r>
            <a:endParaRPr/>
          </a:p>
          <a:p>
            <a:pPr marL="0" lvl="0" indent="0" algn="l" rtl="0">
              <a:spcBef>
                <a:spcPts val="0"/>
              </a:spcBef>
              <a:spcAft>
                <a:spcPts val="0"/>
              </a:spcAft>
              <a:buNone/>
            </a:pPr>
            <a:endParaRPr>
              <a:solidFill>
                <a:srgbClr val="0E0E0E"/>
              </a:solidFill>
              <a:latin typeface="Arial"/>
              <a:ea typeface="Arial"/>
              <a:cs typeface="Arial"/>
              <a:sym typeface="Arial"/>
            </a:endParaRPr>
          </a:p>
        </p:txBody>
      </p:sp>
      <p:sp>
        <p:nvSpPr>
          <p:cNvPr id="1579" name="Google Shape;1579;g3604b1193ee_0_320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8"/>
        <p:cNvGrpSpPr/>
        <p:nvPr/>
      </p:nvGrpSpPr>
      <p:grpSpPr>
        <a:xfrm>
          <a:off x="0" y="0"/>
          <a:ext cx="0" cy="0"/>
          <a:chOff x="0" y="0"/>
          <a:chExt cx="0" cy="0"/>
        </a:xfrm>
      </p:grpSpPr>
      <p:sp>
        <p:nvSpPr>
          <p:cNvPr id="1219" name="Google Shape;1219;p1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220" name="Google Shape;1220;p1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5"/>
        <p:cNvGrpSpPr/>
        <p:nvPr/>
      </p:nvGrpSpPr>
      <p:grpSpPr>
        <a:xfrm>
          <a:off x="0" y="0"/>
          <a:ext cx="0" cy="0"/>
          <a:chOff x="0" y="0"/>
          <a:chExt cx="0" cy="0"/>
        </a:xfrm>
      </p:grpSpPr>
      <p:sp>
        <p:nvSpPr>
          <p:cNvPr id="1226" name="Google Shape;1226;p12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227" name="Google Shape;1227;p12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0"/>
        <p:cNvGrpSpPr/>
        <p:nvPr/>
      </p:nvGrpSpPr>
      <p:grpSpPr>
        <a:xfrm>
          <a:off x="0" y="0"/>
          <a:ext cx="0" cy="0"/>
          <a:chOff x="0" y="0"/>
          <a:chExt cx="0" cy="0"/>
        </a:xfrm>
      </p:grpSpPr>
      <p:sp>
        <p:nvSpPr>
          <p:cNvPr id="1231" name="Google Shape;1231;p1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232" name="Google Shape;1232;p1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
        <p:cNvGrpSpPr/>
        <p:nvPr/>
      </p:nvGrpSpPr>
      <p:grpSpPr>
        <a:xfrm>
          <a:off x="0" y="0"/>
          <a:ext cx="0" cy="0"/>
          <a:chOff x="0" y="0"/>
          <a:chExt cx="0" cy="0"/>
        </a:xfrm>
      </p:grpSpPr>
      <p:sp>
        <p:nvSpPr>
          <p:cNvPr id="1238" name="Google Shape;1238;p15: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9" name="Google Shape;1239;p15: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SzPts val="1400"/>
              <a:buNone/>
            </a:pPr>
            <a:endParaRPr/>
          </a:p>
        </p:txBody>
      </p:sp>
      <p:sp>
        <p:nvSpPr>
          <p:cNvPr id="1240" name="Google Shape;1240;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
        <p:cNvGrpSpPr/>
        <p:nvPr/>
      </p:nvGrpSpPr>
      <p:grpSpPr>
        <a:xfrm>
          <a:off x="0" y="0"/>
          <a:ext cx="0" cy="0"/>
          <a:chOff x="0" y="0"/>
          <a:chExt cx="0" cy="0"/>
        </a:xfrm>
      </p:grpSpPr>
      <p:sp>
        <p:nvSpPr>
          <p:cNvPr id="1246" name="Google Shape;1246;p12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7" name="Google Shape;1247;p12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SzPts val="1400"/>
              <a:buNone/>
            </a:pPr>
            <a:endParaRPr/>
          </a:p>
        </p:txBody>
      </p:sp>
      <p:sp>
        <p:nvSpPr>
          <p:cNvPr id="1248" name="Google Shape;1248;p1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p1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5" name="Google Shape;1265;p1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SzPts val="1400"/>
              <a:buNone/>
            </a:pPr>
            <a:r>
              <a:rPr lang="en-US"/>
              <a:t># NSX Private-Cloud Model - Rack Layout - Three (3) Compute racks - Edge-Cluster Model - Two (2) rack/fault-domain topology, with a minimum of two (2) hosts for edge compute resources </a:t>
            </a:r>
            <a:br>
              <a:rPr lang="en-US"/>
            </a:br>
            <a:endParaRPr/>
          </a:p>
        </p:txBody>
      </p:sp>
      <p:sp>
        <p:nvSpPr>
          <p:cNvPr id="1266" name="Google Shape;1266;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p1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8" name="Google Shape;1278;p1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SzPts val="1400"/>
              <a:buNone/>
            </a:pPr>
            <a:endParaRPr/>
          </a:p>
        </p:txBody>
      </p:sp>
      <p:sp>
        <p:nvSpPr>
          <p:cNvPr id="1279" name="Google Shape;1279;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p12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294" name="Google Shape;1294;p12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p1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299" name="Google Shape;1299;p1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31F3C-4898-9D39-EC06-38D105165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3304A-84DE-BBC9-48D1-624AD1A64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8C938-09AC-039A-3800-FEE0536C930D}"/>
              </a:ext>
            </a:extLst>
          </p:cNvPr>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Presenter Note – this slide contains animation.</a:t>
            </a:r>
          </a:p>
          <a:p>
            <a:pPr marL="0" indent="0">
              <a:buNone/>
            </a:pPr>
            <a:endParaRPr lang="en-US" sz="1200" b="1" dirty="0">
              <a:solidFill>
                <a:schemeClr val="tx1"/>
              </a:solidFill>
              <a:latin typeface="Arial" panose="020B0604020202020204" pitchFamily="34" charset="0"/>
            </a:endParaRPr>
          </a:p>
          <a:p>
            <a:r>
              <a:rPr lang="en-US" b="1" dirty="0"/>
              <a:t>Key Message:</a:t>
            </a:r>
            <a:br>
              <a:rPr lang="en-US" dirty="0"/>
            </a:br>
            <a:r>
              <a:rPr lang="en-US" dirty="0"/>
              <a:t>VCF Architecture can be defined following three (3) private cloud constructs.</a:t>
            </a:r>
            <a:br>
              <a:rPr lang="en-US" dirty="0"/>
            </a:br>
            <a:br>
              <a:rPr lang="en-US" dirty="0"/>
            </a:br>
            <a:r>
              <a:rPr lang="en-US" b="1" dirty="0"/>
              <a:t>Talk Track:</a:t>
            </a:r>
            <a:br>
              <a:rPr lang="en-US" dirty="0"/>
            </a:br>
            <a:r>
              <a:rPr lang="en-US" dirty="0"/>
              <a:t>In order to understand the constructs of a VCF Private Cloud, you need to be familiar with VCF Instances and VCF Fleets.</a:t>
            </a:r>
            <a:br>
              <a:rPr lang="en-US" dirty="0"/>
            </a:br>
            <a:br>
              <a:rPr lang="en-US" dirty="0"/>
            </a:br>
            <a:r>
              <a:rPr lang="en-US" dirty="0"/>
              <a:t>The first vSphere cluster of a VCF instance is configured as part of a management domain and is used to host the management components. The SDDC Manager appliance is deployed to the management domain.</a:t>
            </a:r>
          </a:p>
          <a:p>
            <a:endParaRPr lang="en-US" dirty="0"/>
          </a:p>
          <a:p>
            <a:r>
              <a:rPr lang="en-US" dirty="0"/>
              <a:t>&lt;click 1&gt;</a:t>
            </a:r>
          </a:p>
          <a:p>
            <a:r>
              <a:rPr lang="en-US" dirty="0"/>
              <a:t>Additional workload domains can be created to scale a deployment which are each configured with their own vCenter server and a single or shared NSX instance.  </a:t>
            </a:r>
          </a:p>
          <a:p>
            <a:endParaRPr lang="en-US" dirty="0"/>
          </a:p>
          <a:p>
            <a:r>
              <a:rPr lang="en-US" dirty="0"/>
              <a:t>&lt;click 2&gt;</a:t>
            </a:r>
          </a:p>
          <a:p>
            <a:r>
              <a:rPr lang="en-US" dirty="0"/>
              <a:t>A VCF Fleet can be comprised of one of more VCF instances and is managed by a single set of fleet-level management components. Fleet management components comprise of a single instance of VCF Operations and a single instance of VCF Automation.  The VCF Operations and VCF Automation instances can be used across all domains within a VCF instance and across one or more VCF instances.  A VCF Fleet can be deployed across a single region or a dual region deployment.</a:t>
            </a:r>
          </a:p>
          <a:p>
            <a:endParaRPr lang="en-US" dirty="0"/>
          </a:p>
          <a:p>
            <a:r>
              <a:rPr lang="en-US" dirty="0"/>
              <a:t>&lt;click 3&gt;</a:t>
            </a:r>
          </a:p>
          <a:p>
            <a:r>
              <a:rPr lang="en-US" dirty="0"/>
              <a:t>A VCF Private Cloud is the highest level of management and consumption for the underlying software defined data center resources.  A VCF Private Cloud can contain one of more VCF Fleets.</a:t>
            </a:r>
            <a:br>
              <a:rPr lang="en-US" dirty="0"/>
            </a:br>
            <a:br>
              <a:rPr lang="en-US" dirty="0"/>
            </a:br>
            <a:r>
              <a:rPr lang="en-US" b="1" dirty="0"/>
              <a:t>Notes:</a:t>
            </a:r>
          </a:p>
          <a:p>
            <a:endParaRPr lang="en-US" dirty="0"/>
          </a:p>
          <a:p>
            <a:r>
              <a:rPr lang="en-US" b="1" dirty="0"/>
              <a:t>Resources: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Arial" panose="020B0604020202020204" pitchFamily="34" charset="0"/>
                <a:ea typeface="+mn-ea"/>
                <a:cs typeface="+mn-cs"/>
              </a:rPr>
              <a:t>Refer to the VMware Cloud Foundation Design Guide for further information</a:t>
            </a:r>
            <a:br>
              <a:rPr lang="en-US" sz="1200" b="0" u="none" strike="noStrike" kern="1200" dirty="0">
                <a:solidFill>
                  <a:schemeClr val="tx1"/>
                </a:solidFill>
                <a:effectLst/>
                <a:latin typeface="Arial" panose="020B0604020202020204" pitchFamily="34" charset="0"/>
                <a:ea typeface="+mn-ea"/>
                <a:cs typeface="+mn-cs"/>
              </a:rPr>
            </a:br>
            <a:r>
              <a:rPr lang="en-AU"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endParaRPr lang="en-US" b="1" dirty="0"/>
          </a:p>
        </p:txBody>
      </p:sp>
      <p:sp>
        <p:nvSpPr>
          <p:cNvPr id="4" name="Slide Number Placeholder 3">
            <a:extLst>
              <a:ext uri="{FF2B5EF4-FFF2-40B4-BE49-F238E27FC236}">
                <a16:creationId xmlns:a16="http://schemas.microsoft.com/office/drawing/2014/main" id="{FE9301D1-A843-E81E-8475-B4357528A6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069550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80AA4-5310-6381-1380-7BC06AA54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DB2D7-57BD-8255-4763-283B298E5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5682C-263F-CC60-C55C-258394F73496}"/>
              </a:ext>
            </a:extLst>
          </p:cNvPr>
          <p:cNvSpPr>
            <a:spLocks noGrp="1"/>
          </p:cNvSpPr>
          <p:nvPr>
            <p:ph type="body" idx="1"/>
          </p:nvPr>
        </p:nvSpPr>
        <p:spPr/>
        <p:txBody>
          <a:bodyPr>
            <a:normAutofit fontScale="4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strike="noStrike" kern="1200" baseline="0" dirty="0">
                <a:solidFill>
                  <a:schemeClr val="tx1"/>
                </a:solidFill>
                <a:effectLst/>
                <a:latin typeface="Arial" panose="020B0604020202020204" pitchFamily="34" charset="0"/>
                <a:ea typeface="+mn-ea"/>
                <a:cs typeface="+mn-cs"/>
              </a:rPr>
              <a:t>Key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strike="noStrike" kern="1200" baseline="0" dirty="0">
                <a:solidFill>
                  <a:schemeClr val="tx1"/>
                </a:solidFill>
                <a:effectLst/>
                <a:latin typeface="Arial" panose="020B0604020202020204" pitchFamily="34" charset="0"/>
                <a:ea typeface="+mn-ea"/>
                <a:cs typeface="+mn-cs"/>
              </a:rPr>
              <a:t>Cloud F</a:t>
            </a:r>
            <a:r>
              <a:rPr lang="en-US" sz="1200" u="none" kern="1200" dirty="0" err="1">
                <a:solidFill>
                  <a:schemeClr val="tx1"/>
                </a:solidFill>
                <a:effectLst/>
                <a:latin typeface="Arial" panose="020B0604020202020204" pitchFamily="34" charset="0"/>
                <a:ea typeface="+mn-ea"/>
                <a:cs typeface="+mn-cs"/>
              </a:rPr>
              <a:t>oundation</a:t>
            </a:r>
            <a:r>
              <a:rPr lang="en-US" sz="1200" u="none" kern="1200" dirty="0">
                <a:solidFill>
                  <a:schemeClr val="tx1"/>
                </a:solidFill>
                <a:effectLst/>
                <a:latin typeface="Arial" panose="020B0604020202020204" pitchFamily="34" charset="0"/>
                <a:ea typeface="+mn-ea"/>
                <a:cs typeface="+mn-cs"/>
              </a:rPr>
              <a:t> workload domains and clusters can be deployed and configured in different ways.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kern="1200" dirty="0">
                <a:solidFill>
                  <a:schemeClr val="tx1"/>
                </a:solidFill>
                <a:effectLst/>
                <a:latin typeface="Arial" panose="020B0604020202020204" pitchFamily="34" charset="0"/>
                <a:ea typeface="+mn-ea"/>
                <a:cs typeface="+mn-cs"/>
              </a:rPr>
              <a:t>Talk Track:</a:t>
            </a: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kern="1200" dirty="0">
                <a:solidFill>
                  <a:schemeClr val="tx1"/>
                </a:solidFill>
                <a:effectLst/>
                <a:latin typeface="Arial" panose="020B0604020202020204" pitchFamily="34" charset="0"/>
                <a:ea typeface="+mn-ea"/>
                <a:cs typeface="+mn-cs"/>
              </a:rPr>
              <a:t>Cloud </a:t>
            </a:r>
            <a:r>
              <a:rPr lang="en-US" sz="1200" kern="1200" dirty="0">
                <a:solidFill>
                  <a:schemeClr val="tx1"/>
                </a:solidFill>
                <a:effectLst/>
                <a:latin typeface="Arial" panose="020B0604020202020204" pitchFamily="34" charset="0"/>
                <a:ea typeface="+mn-ea"/>
                <a:cs typeface="+mn-cs"/>
              </a:rPr>
              <a:t>Foundation caters to a mix of different deployment options to support a large variety of customer scenarios.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kern="1200" dirty="0">
                <a:solidFill>
                  <a:schemeClr val="tx1"/>
                </a:solidFill>
                <a:effectLst/>
                <a:latin typeface="Arial" panose="020B0604020202020204" pitchFamily="34" charset="0"/>
                <a:ea typeface="+mn-ea"/>
                <a:cs typeface="+mn-cs"/>
              </a:rPr>
              <a:t>A</a:t>
            </a:r>
            <a:r>
              <a:rPr lang="en-US" sz="1200" kern="1200" dirty="0">
                <a:solidFill>
                  <a:schemeClr val="tx1"/>
                </a:solidFill>
                <a:effectLst/>
                <a:latin typeface="Arial" panose="020B0604020202020204" pitchFamily="34" charset="0"/>
                <a:ea typeface="+mn-ea"/>
                <a:cs typeface="+mn-cs"/>
              </a:rPr>
              <a:t> standardized architecture caters to customers who wish to separate their workloads from management components.  Workload domains are deployed to separate hardware running their own separate vCenter server and NSX Manager instances.  Workload domains are each configured with their own SSO instance.  Once a domain is created vCenter Linking can later be configured from VCF Operations.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&lt;click 1&gt;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Arial" panose="020B0604020202020204" pitchFamily="34" charset="0"/>
                <a:ea typeface="+mn-ea"/>
                <a:cs typeface="+mn-cs"/>
              </a:rPr>
              <a:t>For smaller deployments, VCF c</a:t>
            </a:r>
            <a:r>
              <a:rPr lang="en-US" sz="1200" kern="1200" dirty="0">
                <a:solidFill>
                  <a:schemeClr val="tx1"/>
                </a:solidFill>
                <a:effectLst/>
                <a:latin typeface="Arial" panose="020B0604020202020204" pitchFamily="34" charset="0"/>
                <a:ea typeface="+mn-ea"/>
                <a:cs typeface="+mn-cs"/>
              </a:rPr>
              <a:t>an be deployed with just a single management domain.  A consolidated deployment contains the management components and is also used to run customer workloads which can be configured on separate clusters.  Resource pools are configured to separate host resources for management and customer workloads.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&lt;click 2&gt;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Workload domains can be deployed across one or more racks within an availability zone.  Clusters can be configured as standard clusters within a single rack…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&lt;click 3&gt;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 or across multiple racks when layer 3 networking is in-place between the racks.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&lt;click 4&gt;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vSAN </a:t>
            </a:r>
            <a:r>
              <a:rPr lang="en-AU" sz="1200" kern="1200" dirty="0">
                <a:solidFill>
                  <a:schemeClr val="tx1"/>
                </a:solidFill>
                <a:effectLst/>
                <a:latin typeface="Arial" panose="020B0604020202020204" pitchFamily="34" charset="0"/>
                <a:ea typeface="+mn-ea"/>
                <a:cs typeface="+mn-cs"/>
              </a:rPr>
              <a:t>stretched clusters can be configured across </a:t>
            </a:r>
            <a:r>
              <a:rPr lang="en-AU" dirty="0">
                <a:effectLst/>
                <a:latin typeface="Arial" panose="020B0604020202020204" pitchFamily="34" charset="0"/>
              </a:rPr>
              <a:t>two (2) sites for active-active availability.   </a:t>
            </a:r>
            <a:r>
              <a:rPr lang="en-US" sz="1200" dirty="0">
                <a:solidFill>
                  <a:schemeClr val="dk2"/>
                </a:solidFill>
                <a:latin typeface="Arial" panose="020B0604020202020204" pitchFamily="34" charset="0"/>
              </a:rPr>
              <a:t>Availability Zones are configured as fault domains that protects VMs in a vSphere cluster leveraging vSAN replication.  vSAN Stretched cluster protects VMs against partial host failures within the clusters, within a single data center and can be used to extend to multiple nearby facilities or buildings.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effectLst/>
                <a:latin typeface="Arial" panose="020B0604020202020204" pitchFamily="34" charset="0"/>
              </a:rPr>
              <a:t>vSAN</a:t>
            </a:r>
            <a:r>
              <a:rPr lang="en-AU" dirty="0">
                <a:effectLst/>
                <a:latin typeface="Arial" panose="020B0604020202020204" pitchFamily="34" charset="0"/>
              </a:rPr>
              <a:t> stretched clusters can be useful for: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AU" dirty="0">
                <a:effectLst/>
                <a:latin typeface="Arial" panose="020B0604020202020204" pitchFamily="34" charset="0"/>
              </a:rPr>
              <a:t>Performing planned maintenance on an availability zone without any downtime.  Each availability zone is configured as a fault domain.  Applications can be migrated back after the maintenance is completed.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AU" dirty="0">
                <a:effectLst/>
                <a:latin typeface="Arial" panose="020B0604020202020204" pitchFamily="34" charset="0"/>
              </a:rPr>
              <a:t>Stretching a cluster automatically initiates VM restart and recovery in the case of unplanned failures in either site.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AU" dirty="0">
                <a:effectLst/>
                <a:latin typeface="Arial" panose="020B0604020202020204" pitchFamily="34" charset="0"/>
              </a:rPr>
              <a:t>Disaster avoidance by preventing service outages before an impending disaster.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AU"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effectLst/>
                <a:latin typeface="Arial" panose="020B0604020202020204" pitchFamily="34" charset="0"/>
              </a:rPr>
              <a:t>&lt;click 5&gt;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effectLst/>
                <a:latin typeface="Arial" panose="020B0604020202020204" pitchFamily="34" charset="0"/>
              </a:rPr>
              <a:t>vSAN</a:t>
            </a:r>
            <a:r>
              <a:rPr lang="en-AU" dirty="0">
                <a:effectLst/>
                <a:latin typeface="Arial" panose="020B0604020202020204" pitchFamily="34" charset="0"/>
              </a:rPr>
              <a:t> Storage clusters (formerly </a:t>
            </a:r>
            <a:r>
              <a:rPr lang="en-AU" dirty="0" err="1">
                <a:effectLst/>
                <a:latin typeface="Arial" panose="020B0604020202020204" pitchFamily="34" charset="0"/>
              </a:rPr>
              <a:t>vSAN</a:t>
            </a:r>
            <a:r>
              <a:rPr lang="en-AU" dirty="0">
                <a:effectLst/>
                <a:latin typeface="Arial" panose="020B0604020202020204" pitchFamily="34" charset="0"/>
              </a:rPr>
              <a:t> Max) can also be used to </a:t>
            </a:r>
            <a:r>
              <a:rPr lang="en-AU" b="0" i="0" dirty="0">
                <a:solidFill>
                  <a:srgbClr val="545D7E"/>
                </a:solidFill>
                <a:effectLst/>
                <a:latin typeface="Google Sans"/>
              </a:rPr>
              <a:t>provide highly scalable and flexible disaggregated storage for vSphere clusters, either as primary storage or to augment traditional </a:t>
            </a:r>
            <a:r>
              <a:rPr lang="en-AU" b="0" i="0" dirty="0" err="1">
                <a:solidFill>
                  <a:srgbClr val="545D7E"/>
                </a:solidFill>
                <a:effectLst/>
                <a:latin typeface="Google Sans"/>
              </a:rPr>
              <a:t>vSAN</a:t>
            </a:r>
            <a:r>
              <a:rPr lang="en-AU" b="0" i="0" dirty="0">
                <a:solidFill>
                  <a:srgbClr val="545D7E"/>
                </a:solidFill>
                <a:effectLst/>
                <a:latin typeface="Google Sans"/>
              </a:rPr>
              <a:t> HCI clusters.  </a:t>
            </a:r>
            <a:r>
              <a:rPr lang="en-AU" b="0" i="0" dirty="0" err="1">
                <a:solidFill>
                  <a:srgbClr val="545D7E"/>
                </a:solidFill>
                <a:effectLst/>
                <a:latin typeface="Google Sans"/>
              </a:rPr>
              <a:t>vSAN</a:t>
            </a:r>
            <a:r>
              <a:rPr lang="en-AU" b="0" i="0" dirty="0">
                <a:solidFill>
                  <a:srgbClr val="545D7E"/>
                </a:solidFill>
                <a:effectLst/>
                <a:latin typeface="Google Sans"/>
              </a:rPr>
              <a:t> Compute clusters </a:t>
            </a:r>
            <a:r>
              <a:rPr lang="en-AU" b="0" i="0" dirty="0" err="1">
                <a:solidFill>
                  <a:srgbClr val="545D7E"/>
                </a:solidFill>
                <a:effectLst/>
                <a:latin typeface="Google Sans"/>
              </a:rPr>
              <a:t>caan</a:t>
            </a:r>
            <a:r>
              <a:rPr lang="en-AU" b="0" i="0" dirty="0">
                <a:solidFill>
                  <a:srgbClr val="545D7E"/>
                </a:solidFill>
                <a:effectLst/>
                <a:latin typeface="Google Sans"/>
              </a:rPr>
              <a:t> also be configured to enable vSphere clusters (including non-</a:t>
            </a:r>
            <a:r>
              <a:rPr lang="en-AU" b="0" i="0" dirty="0" err="1">
                <a:solidFill>
                  <a:srgbClr val="545D7E"/>
                </a:solidFill>
                <a:effectLst/>
                <a:latin typeface="Google Sans"/>
              </a:rPr>
              <a:t>vSAN</a:t>
            </a:r>
            <a:r>
              <a:rPr lang="en-AU" b="0" i="0" dirty="0">
                <a:solidFill>
                  <a:srgbClr val="545D7E"/>
                </a:solidFill>
                <a:effectLst/>
                <a:latin typeface="Google Sans"/>
              </a:rPr>
              <a:t> clusters) to consume storage resources from a remote </a:t>
            </a:r>
            <a:r>
              <a:rPr lang="en-AU" b="0" i="0" dirty="0" err="1">
                <a:solidFill>
                  <a:srgbClr val="545D7E"/>
                </a:solidFill>
                <a:effectLst/>
                <a:latin typeface="Google Sans"/>
              </a:rPr>
              <a:t>vSAN</a:t>
            </a:r>
            <a:r>
              <a:rPr lang="en-AU" b="0" i="0" dirty="0">
                <a:solidFill>
                  <a:srgbClr val="545D7E"/>
                </a:solidFill>
                <a:effectLst/>
                <a:latin typeface="Google Sans"/>
              </a:rPr>
              <a:t> cluster.</a:t>
            </a: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Arial" panose="020B0604020202020204" pitchFamily="34" charset="0"/>
                <a:ea typeface="+mn-ea"/>
                <a:cs typeface="+mn-cs"/>
              </a:rPr>
              <a:t>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u="sng" dirty="0">
                <a:effectLst/>
                <a:latin typeface="Arial" panose="020B0604020202020204" pitchFamily="34" charset="0"/>
              </a:rPr>
              <a:t>Additional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dk2"/>
                </a:solidFill>
                <a:latin typeface="Arial" panose="020B0604020202020204" pitchFamily="34" charset="0"/>
              </a:rPr>
              <a:t>A Multi-Availability Zone Deployment Architecture adds additional layer of protections as hosts can stretch among multiple Availability Zone and which provides workload protection if a single Availability Zone is compromised. At the heart of the Multi Availability Zone Deployment is NSX’s ability to create distributed logical networks that seamlessly extend across AZs. By abstracting network functions from underlying hardware, NSX enables organizations to establish consistent network policies and configurations regardless of the physical infrastructure’s location. This allows for the creation of virtual network segments that span multiple AZs.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kern="1200" dirty="0">
                <a:solidFill>
                  <a:schemeClr val="tx1"/>
                </a:solidFill>
                <a:effectLst/>
                <a:latin typeface="Arial" panose="020B0604020202020204" pitchFamily="34" charset="0"/>
                <a:ea typeface="+mn-ea"/>
                <a:cs typeface="+mn-cs"/>
              </a:rPr>
              <a:t>For further information on vCenter Linking please refer to Identity and Access Management section of this presentation.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vSAN</a:t>
            </a:r>
            <a:r>
              <a:rPr lang="en-US" sz="1200" u="none" kern="1200" dirty="0">
                <a:solidFill>
                  <a:schemeClr val="tx1"/>
                </a:solidFill>
                <a:effectLst/>
                <a:latin typeface="Arial" panose="020B0604020202020204" pitchFamily="34" charset="0"/>
                <a:ea typeface="+mn-ea"/>
                <a:cs typeface="+mn-cs"/>
              </a:rPr>
              <a:t> Stretched Cluster will be discussed in more detail in the Stretched Cluster section of this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kern="1200" dirty="0">
                <a:solidFill>
                  <a:schemeClr val="tx1"/>
                </a:solidFill>
                <a:effectLst/>
                <a:latin typeface="Arial" panose="020B0604020202020204" pitchFamily="34" charset="0"/>
                <a:ea typeface="+mn-ea"/>
                <a:cs typeface="+mn-cs"/>
              </a:rPr>
              <a:t>Resources:</a:t>
            </a:r>
            <a:endParaRPr lang="en-AU" sz="1200" b="1" strike="noStrike" kern="1200" baseline="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strike="noStrike" kern="1200" baseline="0" dirty="0">
                <a:solidFill>
                  <a:schemeClr val="tx1"/>
                </a:solidFill>
                <a:effectLst/>
                <a:latin typeface="Arial" panose="020B0604020202020204" pitchFamily="34" charset="0"/>
                <a:ea typeface="+mn-ea"/>
                <a:cs typeface="+mn-cs"/>
              </a:rPr>
              <a:t>Further detail on Cloud Foundation deployment options is covered in the </a:t>
            </a:r>
            <a:r>
              <a:rPr lang="en-US" sz="1200" baseline="0" dirty="0">
                <a:latin typeface="Arial" panose="020B0604020202020204" pitchFamily="34" charset="0"/>
              </a:rPr>
              <a:t>VMware Cloud Foundation Product Documentation – VMware Cloud Foundation Administration Guide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u="sng" kern="100"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3"/>
              </a:rPr>
              <a:t>https://docs.vmware.com/en/VMware-Cloud-Foundation/index.html</a:t>
            </a:r>
            <a:r>
              <a:rPr lang="en-US" sz="1800" kern="100" dirty="0">
                <a:effectLst/>
                <a:latin typeface="Arial" panose="020B0604020202020204" pitchFamily="34" charset="0"/>
                <a:ea typeface="Calibri" panose="020F0502020204030204" pitchFamily="34" charset="0"/>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spcBef>
                <a:spcPts val="0"/>
              </a:spcBef>
              <a:spcAft>
                <a:spcPts val="0"/>
              </a:spcAft>
            </a:pPr>
            <a:r>
              <a:rPr lang="en-AU" sz="1800" u="none" strike="noStrike" dirty="0">
                <a:solidFill>
                  <a:srgbClr val="000000"/>
                </a:solidFill>
                <a:effectLst/>
                <a:latin typeface="Arial" panose="020B0604020202020204" pitchFamily="34" charset="0"/>
              </a:rPr>
              <a:t>For further information on Cloud Foundation Deployment Options please refer to the VCF Design Guide</a:t>
            </a:r>
          </a:p>
          <a:p>
            <a:pPr marL="0" marR="0" algn="l">
              <a:spcBef>
                <a:spcPts val="0"/>
              </a:spcBef>
              <a:spcAft>
                <a:spcPts val="0"/>
              </a:spcAft>
            </a:pPr>
            <a:r>
              <a:rPr lang="en-AU" sz="1800" u="none" strike="noStrike" dirty="0">
                <a:solidFill>
                  <a:srgbClr val="000000"/>
                </a:solidFill>
                <a:effectLst/>
                <a:latin typeface="Arial" panose="020B0604020202020204" pitchFamily="34" charset="0"/>
                <a:ea typeface="Times New Roman" panose="02020603050405020304" pitchFamily="18" charset="0"/>
                <a:hlinkClick r:id="rId3"/>
              </a:rPr>
              <a:t>https://docs.vmware.com/en/VMware-Cloud-Foundation/index.html</a:t>
            </a:r>
            <a:r>
              <a:rPr lang="en-AU" sz="1800" dirty="0">
                <a:solidFill>
                  <a:srgbClr val="000000"/>
                </a:solidFill>
                <a:effectLst/>
                <a:latin typeface="Arial" panose="020B0604020202020204" pitchFamily="34" charset="0"/>
                <a:ea typeface="Times New Roman" panose="02020603050405020304" pitchFamily="18" charset="0"/>
              </a:rPr>
              <a:t> </a:t>
            </a:r>
            <a:endParaRPr lang="en-AU" sz="1800" u="none" strike="noStrike"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kern="100" dirty="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r>
              <a:rPr lang="en-US" sz="1000" kern="1200" dirty="0">
                <a:solidFill>
                  <a:schemeClr val="tx1"/>
                </a:solidFill>
                <a:effectLst/>
                <a:latin typeface="Arial" panose="020B0604020202020204" pitchFamily="34" charset="0"/>
                <a:ea typeface="+mn-ea"/>
                <a:cs typeface="+mn-cs"/>
              </a:rPr>
              <a:t> </a:t>
            </a:r>
            <a:endParaRPr lang="en-US" sz="1000" u="none" kern="1200" dirty="0">
              <a:solidFill>
                <a:schemeClr val="tx1"/>
              </a:solidFill>
              <a:effectLst/>
              <a:latin typeface="Arial" panose="020B0604020202020204" pitchFamily="34" charset="0"/>
              <a:ea typeface="+mn-ea"/>
              <a:cs typeface="+mn-cs"/>
            </a:endParaRPr>
          </a:p>
          <a:p>
            <a:endParaRPr lang="en-US" dirty="0">
              <a:latin typeface="Arial" panose="020B0604020202020204" pitchFamily="34" charset="0"/>
            </a:endParaRPr>
          </a:p>
          <a:p>
            <a:endParaRPr lang="en-US" dirty="0">
              <a:latin typeface="Arial" panose="020B0604020202020204" pitchFamily="34" charset="0"/>
            </a:endParaRPr>
          </a:p>
          <a:p>
            <a:endParaRPr lang="en-US" dirty="0">
              <a:latin typeface="Arial" panose="020B0604020202020204" pitchFamily="34" charset="0"/>
            </a:endParaRPr>
          </a:p>
          <a:p>
            <a:endParaRPr lang="en-US" dirty="0">
              <a:latin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578397B0-332C-DE57-9A1E-48310DDC2A95}"/>
              </a:ext>
            </a:extLst>
          </p:cNvPr>
          <p:cNvSpPr>
            <a:spLocks noGrp="1"/>
          </p:cNvSpPr>
          <p:nvPr>
            <p:ph type="sldNum" sz="quarter" idx="5"/>
          </p:nvPr>
        </p:nvSpPr>
        <p:spPr/>
        <p:txBody>
          <a:bodyPr/>
          <a:lstStyle/>
          <a:p>
            <a:fld id="{9F4FBC3A-A12C-40F9-BB8D-BC30C7901396}" type="slidenum">
              <a:rPr lang="en-US" smtClean="0"/>
              <a:pPr/>
              <a:t>23</a:t>
            </a:fld>
            <a:endParaRPr lang="en-US" dirty="0"/>
          </a:p>
        </p:txBody>
      </p:sp>
    </p:spTree>
    <p:extLst>
      <p:ext uri="{BB962C8B-B14F-4D97-AF65-F5344CB8AC3E}">
        <p14:creationId xmlns:p14="http://schemas.microsoft.com/office/powerpoint/2010/main" val="201450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68E13-0275-4E41-35F8-F22FE16B4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6E588-7504-0EB9-10F6-BB06693B5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425B1-4272-616D-FE8F-858925136A3B}"/>
              </a:ext>
            </a:extLst>
          </p:cNvPr>
          <p:cNvSpPr>
            <a:spLocks noGrp="1"/>
          </p:cNvSpPr>
          <p:nvPr>
            <p:ph type="body" idx="1"/>
          </p:nvPr>
        </p:nvSpPr>
        <p:spPr/>
        <p:txBody>
          <a:bodyPr>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b="1" kern="100" dirty="0">
                <a:effectLst/>
                <a:latin typeface="Arial" panose="020B0604020202020204" pitchFamily="34" charset="0"/>
                <a:ea typeface="Calibri" panose="020F0502020204030204" pitchFamily="34" charset="0"/>
                <a:cs typeface="Arial" panose="020B0604020202020204" pitchFamily="34" charset="0"/>
              </a:rPr>
              <a:t>Key Message: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000" kern="100" dirty="0">
                <a:effectLst/>
                <a:latin typeface="Arial" panose="020B0604020202020204" pitchFamily="34" charset="0"/>
                <a:ea typeface="Calibri" panose="020F0502020204030204" pitchFamily="34" charset="0"/>
                <a:cs typeface="Arial" panose="020B0604020202020204" pitchFamily="34" charset="0"/>
              </a:rPr>
              <a:t>Remote site topologies for VMware Cloud Foundation.</a:t>
            </a:r>
            <a:endParaRPr lang="en-US" sz="1000" u="none" kern="1200" dirty="0">
              <a:solidFill>
                <a:schemeClr val="tx1"/>
              </a:solidFill>
              <a:effectLst/>
              <a:latin typeface="Arial" panose="020B0604020202020204" pitchFamily="34" charset="0"/>
              <a:ea typeface="+mn-ea"/>
              <a:cs typeface="+mn-cs"/>
            </a:endParaRPr>
          </a:p>
          <a:p>
            <a:endParaRPr lang="en-US" sz="1000" b="0" i="0" u="none" strike="noStrike" kern="1200" dirty="0">
              <a:solidFill>
                <a:schemeClr val="tx1"/>
              </a:solidFill>
              <a:effectLst/>
              <a:latin typeface="Metropolis" panose="00000500000000000000" pitchFamily="50" charset="0"/>
              <a:ea typeface="+mn-ea"/>
              <a:cs typeface="+mn-cs"/>
            </a:endParaRPr>
          </a:p>
          <a:p>
            <a:r>
              <a:rPr lang="en-US" sz="1000" b="1" i="0" u="none" strike="noStrike" kern="1200" dirty="0">
                <a:solidFill>
                  <a:schemeClr val="tx1"/>
                </a:solidFill>
                <a:effectLst/>
                <a:latin typeface="Metropolis" panose="00000500000000000000" pitchFamily="50" charset="0"/>
                <a:ea typeface="+mn-ea"/>
                <a:cs typeface="+mn-cs"/>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Cloud Foundation supports the deployment of small workload domains or clusters to remote sites.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This allows customers to </a:t>
            </a:r>
            <a:r>
              <a:rPr kumimoji="0" lang="en-AU" sz="1000" b="0" i="0" u="none" strike="noStrike" kern="1200" cap="none" spc="0" normalizeH="0" baseline="0" noProof="0" dirty="0">
                <a:ln>
                  <a:noFill/>
                </a:ln>
                <a:solidFill>
                  <a:srgbClr val="717074"/>
                </a:solidFill>
                <a:effectLst/>
                <a:uLnTx/>
                <a:uFillTx/>
                <a:latin typeface="Metropolis"/>
                <a:ea typeface="+mn-ea"/>
                <a:cs typeface="+mn-cs"/>
              </a:rPr>
              <a:t>extend their compute processing from their centralized data </a:t>
            </a:r>
            <a:r>
              <a:rPr kumimoji="0" lang="en-AU" sz="1000" b="0" i="0" u="none" strike="noStrike" kern="1200" cap="none" spc="0" normalizeH="0" baseline="0" noProof="0" dirty="0" err="1">
                <a:ln>
                  <a:noFill/>
                </a:ln>
                <a:solidFill>
                  <a:srgbClr val="717074"/>
                </a:solidFill>
                <a:effectLst/>
                <a:uLnTx/>
                <a:uFillTx/>
                <a:latin typeface="Metropolis"/>
                <a:ea typeface="+mn-ea"/>
                <a:cs typeface="+mn-cs"/>
              </a:rPr>
              <a:t>center</a:t>
            </a:r>
            <a:r>
              <a:rPr kumimoji="0" lang="en-AU" sz="1000" b="0" i="0" u="none" strike="noStrike" kern="1200" cap="none" spc="0" normalizeH="0" baseline="0" noProof="0" dirty="0">
                <a:ln>
                  <a:noFill/>
                </a:ln>
                <a:solidFill>
                  <a:srgbClr val="717074"/>
                </a:solidFill>
                <a:effectLst/>
                <a:uLnTx/>
                <a:uFillTx/>
                <a:latin typeface="Metropolis"/>
                <a:ea typeface="+mn-ea"/>
                <a:cs typeface="+mn-cs"/>
              </a:rPr>
              <a:t> to support remote locations/offices.  </a:t>
            </a:r>
            <a:r>
              <a:rPr lang="en-US" sz="1000" dirty="0"/>
              <a:t>The management infrastructure to run these edge sites is shared and runs in the central data center.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Remote sites </a:t>
            </a:r>
            <a:r>
              <a:rPr kumimoji="0" lang="en-AU" sz="1000" b="0" i="0" u="none" strike="noStrike" kern="1200" cap="none" spc="0" normalizeH="0" baseline="0" noProof="0" dirty="0">
                <a:ln>
                  <a:noFill/>
                </a:ln>
                <a:solidFill>
                  <a:srgbClr val="717074"/>
                </a:solidFill>
                <a:effectLst/>
                <a:uLnTx/>
                <a:uFillTx/>
                <a:latin typeface="Metropolis"/>
                <a:ea typeface="+mn-ea"/>
                <a:cs typeface="+mn-cs"/>
              </a:rPr>
              <a:t>provide IT presence through centralized management without extra staffing. </a:t>
            </a:r>
            <a:r>
              <a:rPr kumimoji="0" lang="en-US" sz="1000" b="0" i="0" u="none" strike="noStrike" kern="1200" cap="none" spc="0" normalizeH="0" baseline="0" noProof="0" dirty="0">
                <a:ln>
                  <a:noFill/>
                </a:ln>
                <a:solidFill>
                  <a:srgbClr val="717074"/>
                </a:solidFill>
                <a:effectLst/>
                <a:uLnTx/>
                <a:uFillTx/>
                <a:latin typeface="Metropolis"/>
                <a:ea typeface="+mn-ea"/>
                <a:cs typeface="+mn-cs"/>
              </a:rPr>
              <a:t>Customers can position infrastructure close to remote applications to minimize latency and overheads.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dirty="0">
              <a:solidFill>
                <a:srgbClr val="717074"/>
              </a:solidFill>
              <a:effectLst/>
              <a:latin typeface="Metropoli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With each approach, VCF Operations is used at the central site to perform fleet management operations which includes password &amp; certificate management and lifecycle management/upgrade and patching operations for each remote site.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&lt;click&gt;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sng" noProof="0" dirty="0">
                <a:solidFill>
                  <a:srgbClr val="1B1E35"/>
                </a:solidFill>
                <a:latin typeface="Arial" panose="020B0604020202020204" pitchFamily="34" charset="0"/>
              </a:rPr>
              <a:t>C</a:t>
            </a:r>
            <a:r>
              <a:rPr lang="en-US" sz="1000" b="0" u="sng" dirty="0" err="1">
                <a:solidFill>
                  <a:srgbClr val="1B1E35"/>
                </a:solidFill>
                <a:latin typeface="Arial" panose="020B0604020202020204" pitchFamily="34" charset="0"/>
              </a:rPr>
              <a:t>onfigure</a:t>
            </a:r>
            <a:r>
              <a:rPr lang="en-US" sz="1000" b="0" u="sng" dirty="0">
                <a:solidFill>
                  <a:srgbClr val="1B1E35"/>
                </a:solidFill>
                <a:latin typeface="Arial" panose="020B0604020202020204" pitchFamily="34" charset="0"/>
              </a:rPr>
              <a:t> a Remote Workload Domain:</a:t>
            </a:r>
            <a:endParaRPr lang="en-US" sz="1000" b="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Initially the remote domain is composed with the vCenter Server located at the remote site.  When configuring vCenter Linking the vCenter Server can be managed from the central data center.  This can be handy for organizations which don’t have remote IT resources.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Each remote site is configured with a domain and a single vSphere cluster.</a:t>
            </a:r>
            <a:br>
              <a:rPr lang="en-US" sz="1000" b="0" dirty="0">
                <a:latin typeface="Arial" panose="020B0604020202020204" pitchFamily="34" charset="0"/>
              </a:rPr>
            </a:br>
            <a:r>
              <a:rPr lang="en-US" sz="1000" b="0" dirty="0">
                <a:latin typeface="Arial" panose="020B0604020202020204" pitchFamily="34" charset="0"/>
              </a:rPr>
              <a:t>A separate NSX instance is deployed per domain providing a full SDN solution with overlay networking.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dirty="0">
              <a:solidFill>
                <a:srgbClr val="717074"/>
              </a:solidFill>
              <a:effectLst/>
              <a:latin typeface="Metropoli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&lt;click&gt;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sng" kern="1200" cap="none" spc="0" normalizeH="0" baseline="0" noProof="0" dirty="0">
                <a:ln>
                  <a:noFill/>
                </a:ln>
                <a:solidFill>
                  <a:srgbClr val="1B1E35"/>
                </a:solidFill>
                <a:effectLst/>
                <a:uLnTx/>
                <a:uFillTx/>
                <a:latin typeface="Arial" panose="020B0604020202020204" pitchFamily="34" charset="0"/>
              </a:rPr>
              <a:t>Configure at remote Cluster.</a:t>
            </a:r>
            <a:br>
              <a:rPr lang="en-US" sz="1000" b="0" dirty="0">
                <a:latin typeface="Arial" panose="020B0604020202020204" pitchFamily="34" charset="0"/>
              </a:rPr>
            </a:br>
            <a:r>
              <a:rPr lang="en-US" sz="1000" b="0" dirty="0">
                <a:latin typeface="Arial" panose="020B0604020202020204" pitchFamily="34" charset="0"/>
              </a:rPr>
              <a:t>With this approach the vCenter Server is co-located with the cluster at the remote site where it can be managed remotely.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Each domain can be composed with multiple clusters per site and each domain can consist of clusters configured across multiple sites.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When configuring a remote cluster in this way vSphere Networking is used.</a:t>
            </a:r>
            <a:br>
              <a:rPr lang="en-US" sz="1000" b="0" dirty="0">
                <a:latin typeface="Arial" panose="020B0604020202020204" pitchFamily="34" charset="0"/>
              </a:rPr>
            </a:br>
            <a:endParaRPr lang="en-US" sz="1000" b="1" i="0" u="none" strike="noStrike" kern="1200" dirty="0">
              <a:solidFill>
                <a:schemeClr val="tx1"/>
              </a:solidFill>
              <a:effectLst/>
              <a:latin typeface="Metropolis" panose="00000500000000000000" pitchFamily="50" charset="0"/>
              <a:ea typeface="+mn-ea"/>
              <a:cs typeface="+mn-cs"/>
            </a:endParaRPr>
          </a:p>
          <a:p>
            <a:r>
              <a:rPr lang="en-US" sz="1000" b="1" i="0" u="none" strike="noStrike" kern="1200" dirty="0">
                <a:solidFill>
                  <a:schemeClr val="tx1"/>
                </a:solidFill>
                <a:effectLst/>
                <a:latin typeface="Metropolis" panose="00000500000000000000" pitchFamily="50" charset="0"/>
                <a:ea typeface="+mn-ea"/>
                <a:cs typeface="+mn-cs"/>
              </a:rPr>
              <a:t>Additional Information:</a:t>
            </a:r>
          </a:p>
          <a:p>
            <a:r>
              <a:rPr lang="en-US" sz="1000" b="0" i="0" u="none" strike="noStrike" kern="1200" dirty="0">
                <a:solidFill>
                  <a:schemeClr val="tx1"/>
                </a:solidFill>
                <a:effectLst/>
                <a:latin typeface="Metropolis" panose="00000500000000000000" pitchFamily="50" charset="0"/>
                <a:ea typeface="+mn-ea"/>
                <a:cs typeface="+mn-cs"/>
              </a:rPr>
              <a:t>Example use cases:</a:t>
            </a:r>
          </a:p>
          <a:p>
            <a:r>
              <a:rPr lang="en-US" sz="1000" dirty="0"/>
              <a:t>o   Video Surveillance</a:t>
            </a:r>
          </a:p>
          <a:p>
            <a:r>
              <a:rPr lang="en-US" sz="1000" dirty="0"/>
              <a:t>o   Point of Sales Retail</a:t>
            </a:r>
          </a:p>
          <a:p>
            <a:r>
              <a:rPr lang="en-US" sz="1000" dirty="0"/>
              <a:t>o   Federal: mobile battlefield</a:t>
            </a:r>
          </a:p>
          <a:p>
            <a:r>
              <a:rPr lang="en-US" sz="1000" dirty="0"/>
              <a:t>o   SLED: distributed citizen engagement </a:t>
            </a:r>
          </a:p>
          <a:p>
            <a:pPr>
              <a:buNone/>
            </a:pPr>
            <a:r>
              <a:rPr lang="en-US" sz="1000" dirty="0"/>
              <a:t>o   Distributed Healthcare </a:t>
            </a:r>
          </a:p>
          <a:p>
            <a:r>
              <a:rPr lang="en-US" sz="1000" dirty="0"/>
              <a:t>o   Oil and Gas Exploration</a:t>
            </a:r>
          </a:p>
          <a:p>
            <a:r>
              <a:rPr lang="en-US" sz="1000" dirty="0"/>
              <a:t>o   Academic: Distributed Education and Research Computing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u="non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u="none" kern="1200" dirty="0">
                <a:solidFill>
                  <a:schemeClr val="tx1"/>
                </a:solidFill>
                <a:effectLst/>
                <a:latin typeface="Arial" panose="020B0604020202020204" pitchFamily="34" charset="0"/>
                <a:ea typeface="+mn-ea"/>
                <a:cs typeface="+mn-cs"/>
              </a:rPr>
              <a:t>Notes: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AU" sz="1000" b="0" dirty="0"/>
              <a:t>Remote sites are not initially configured using VCF Operations / SDDC Manager.  Follow the VCF documentation to deploy a remote cluster or workload domain.</a:t>
            </a:r>
            <a:endParaRPr lang="en-US" sz="800" b="0" kern="1200" dirty="0">
              <a:solidFill>
                <a:schemeClr val="tx1"/>
              </a:solidFill>
              <a:effectLst/>
              <a:latin typeface="Arial" panose="020B0604020202020204" pitchFamily="34" charset="0"/>
              <a:ea typeface="+mn-ea"/>
              <a:cs typeface="+mn-cs"/>
            </a:endParaRPr>
          </a:p>
          <a:p>
            <a:pPr marL="171450" indent="-171450">
              <a:buFontTx/>
              <a:buChar char="-"/>
            </a:pPr>
            <a:r>
              <a:rPr lang="en-US" sz="1000" dirty="0">
                <a:latin typeface="Arial" panose="020B0604020202020204" pitchFamily="34" charset="0"/>
              </a:rPr>
              <a:t>VCF remote site topology connectivity requirements:</a:t>
            </a:r>
            <a:br>
              <a:rPr lang="en-US" sz="1000" dirty="0">
                <a:latin typeface="Arial" panose="020B0604020202020204" pitchFamily="34" charset="0"/>
              </a:rPr>
            </a:br>
            <a:r>
              <a:rPr lang="en-US" sz="1000" dirty="0">
                <a:latin typeface="Arial" panose="020B0604020202020204" pitchFamily="34" charset="0"/>
              </a:rPr>
              <a:t>- 10MBps min connectivity between sites</a:t>
            </a:r>
            <a:br>
              <a:rPr lang="en-US" sz="1000" dirty="0">
                <a:latin typeface="Arial" panose="020B0604020202020204" pitchFamily="34" charset="0"/>
              </a:rPr>
            </a:br>
            <a:r>
              <a:rPr lang="en-US" sz="1000" dirty="0">
                <a:latin typeface="Arial" panose="020B0604020202020204" pitchFamily="34" charset="0"/>
              </a:rPr>
              <a:t>- Less than 100ms latency between sites. </a:t>
            </a:r>
            <a:br>
              <a:rPr lang="en-US" sz="1000" dirty="0">
                <a:latin typeface="Arial" panose="020B0604020202020204" pitchFamily="34" charset="0"/>
              </a:rPr>
            </a:br>
            <a:r>
              <a:rPr lang="en-US" sz="1000" dirty="0">
                <a:latin typeface="Arial" panose="020B0604020202020204" pitchFamily="34" charset="0"/>
              </a:rPr>
              <a:t>- Two (2) connections between each site is also recommended.</a:t>
            </a:r>
            <a:endParaRPr lang="en-US" sz="1000" u="none" kern="1200" dirty="0">
              <a:solidFill>
                <a:schemeClr val="tx1"/>
              </a:solidFill>
              <a:effectLst/>
              <a:latin typeface="Arial" panose="020B0604020202020204" pitchFamily="34" charset="0"/>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000" u="none" strike="noStrike" kern="1200" dirty="0">
                <a:solidFill>
                  <a:schemeClr val="tx1"/>
                </a:solidFill>
                <a:effectLst/>
                <a:latin typeface="Arial" panose="020B0604020202020204" pitchFamily="34" charset="0"/>
                <a:ea typeface="+mn-ea"/>
                <a:cs typeface="+mn-cs"/>
              </a:rPr>
              <a:t>- A remote cluster configured with vSAN can be configured using 3 - 16 nodes.</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000" u="none" strike="noStrike" kern="1200" dirty="0">
                <a:solidFill>
                  <a:schemeClr val="tx1"/>
                </a:solidFill>
                <a:effectLst/>
                <a:latin typeface="Arial" panose="020B0604020202020204" pitchFamily="34" charset="0"/>
                <a:ea typeface="+mn-ea"/>
                <a:cs typeface="+mn-cs"/>
              </a:rPr>
              <a:t>- A remote cluster can be configured with NFS or VMFS on FC as Principal storage with 2 - 16 nodes.</a:t>
            </a:r>
            <a:endParaRPr lang="en-US" sz="800" u="none" strike="noStrike" kern="1200" dirty="0">
              <a:solidFill>
                <a:schemeClr val="tx1"/>
              </a:solidFill>
              <a:effectLst/>
              <a:latin typeface="Arial" panose="020B0604020202020204" pitchFamily="34" charset="0"/>
              <a:ea typeface="+mn-ea"/>
              <a:cs typeface="+mn-cs"/>
            </a:endParaRPr>
          </a:p>
          <a:p>
            <a:pPr marL="171450" marR="0" lvl="0" indent="-171450" algn="l" defTabSz="914400" rtl="0" eaLnBrk="1" fontAlgn="base" latinLnBrk="0" hangingPunct="1">
              <a:lnSpc>
                <a:spcPct val="100000"/>
              </a:lnSpc>
              <a:spcBef>
                <a:spcPts val="0"/>
              </a:spcBef>
              <a:spcAft>
                <a:spcPts val="0"/>
              </a:spcAft>
              <a:buClrTx/>
              <a:buSzTx/>
              <a:buFontTx/>
              <a:buChar char="-"/>
              <a:tabLst/>
              <a:defRPr/>
            </a:pPr>
            <a:r>
              <a:rPr lang="en-AU" sz="1000" dirty="0">
                <a:solidFill>
                  <a:srgbClr val="565656"/>
                </a:solidFill>
                <a:effectLst/>
                <a:latin typeface="Arial" panose="020B0604020202020204" pitchFamily="34" charset="0"/>
              </a:rPr>
              <a:t>VMware Kubernetes Service (VKS) can be configured on a cluster deployed at a remote site. </a:t>
            </a:r>
            <a:r>
              <a:rPr lang="en-US" sz="800" u="none" kern="1200" dirty="0">
                <a:solidFill>
                  <a:schemeClr val="tx1"/>
                </a:solidFill>
                <a:effectLst/>
                <a:latin typeface="Arial" panose="020B0604020202020204" pitchFamily="34" charset="0"/>
                <a:ea typeface="+mn-ea"/>
                <a:cs typeface="+mn-cs"/>
              </a:rPr>
              <a:t> </a:t>
            </a:r>
            <a:br>
              <a:rPr lang="en-US" sz="800" u="none" kern="1200" dirty="0">
                <a:solidFill>
                  <a:schemeClr val="tx1"/>
                </a:solidFill>
                <a:effectLst/>
                <a:latin typeface="Arial" panose="020B0604020202020204" pitchFamily="34" charset="0"/>
                <a:ea typeface="+mn-ea"/>
                <a:cs typeface="+mn-cs"/>
              </a:rPr>
            </a:br>
            <a:r>
              <a:rPr lang="en-US" sz="800" u="none" kern="1200" dirty="0">
                <a:solidFill>
                  <a:schemeClr val="tx1"/>
                </a:solidFill>
                <a:effectLst/>
                <a:latin typeface="Arial" panose="020B0604020202020204" pitchFamily="34" charset="0"/>
                <a:ea typeface="+mn-ea"/>
                <a:cs typeface="+mn-cs"/>
              </a:rPr>
              <a:t>- </a:t>
            </a:r>
            <a:r>
              <a:rPr lang="en-US" sz="800" dirty="0">
                <a:latin typeface="Arial" panose="020B0604020202020204" pitchFamily="34" charset="0"/>
              </a:rPr>
              <a:t>vCenter Server is used to perform scaling operations for remote workload domains and remote clusters.</a:t>
            </a:r>
          </a:p>
          <a:p>
            <a:pPr marL="171450" marR="0" lvl="0" indent="-171450" algn="l" defTabSz="914400" rtl="0" eaLnBrk="1" fontAlgn="base" latinLnBrk="0" hangingPunct="1">
              <a:lnSpc>
                <a:spcPct val="100000"/>
              </a:lnSpc>
              <a:spcBef>
                <a:spcPts val="0"/>
              </a:spcBef>
              <a:spcAft>
                <a:spcPts val="0"/>
              </a:spcAft>
              <a:buClrTx/>
              <a:buSzTx/>
              <a:buFontTx/>
              <a:buChar char="-"/>
              <a:tabLst/>
              <a:defRPr/>
            </a:pPr>
            <a:r>
              <a:rPr lang="en-US" sz="800" dirty="0">
                <a:latin typeface="Arial" panose="020B0604020202020204" pitchFamily="34" charset="0"/>
              </a:rPr>
              <a:t>Customers can choose to use </a:t>
            </a:r>
            <a:r>
              <a:rPr lang="en-US" sz="1000" dirty="0"/>
              <a:t>VCF Edge licensing with 10 or more sites.</a:t>
            </a:r>
          </a:p>
          <a:p>
            <a:pPr marL="171450" marR="0" lvl="0" indent="-171450" algn="l" defTabSz="914400" rtl="0" eaLnBrk="1" fontAlgn="base" latinLnBrk="0" hangingPunct="1">
              <a:lnSpc>
                <a:spcPct val="100000"/>
              </a:lnSpc>
              <a:spcBef>
                <a:spcPts val="0"/>
              </a:spcBef>
              <a:spcAft>
                <a:spcPts val="0"/>
              </a:spcAft>
              <a:buClrTx/>
              <a:buSzTx/>
              <a:buFontTx/>
              <a:buChar char="-"/>
              <a:tabLst/>
              <a:defRPr/>
            </a:pPr>
            <a:r>
              <a:rPr lang="en-US" sz="1000" dirty="0"/>
              <a:t>A remote cluster or workload domain is not to be confused with VCF Edge (see appendix)</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000" u="none" kern="1200" dirty="0">
              <a:solidFill>
                <a:schemeClr val="tx1"/>
              </a:solidFill>
              <a:effectLst/>
              <a:latin typeface="Arial" panose="020B0604020202020204" pitchFamily="34" charset="0"/>
              <a:ea typeface="+mn-ea"/>
              <a:cs typeface="+mn-cs"/>
            </a:endParaRPr>
          </a:p>
          <a:p>
            <a:r>
              <a:rPr lang="en-US" sz="1000" b="1" u="none" strike="noStrike" kern="1200" dirty="0">
                <a:solidFill>
                  <a:schemeClr val="tx1"/>
                </a:solidFill>
                <a:effectLst/>
                <a:latin typeface="Arial" panose="020B0604020202020204" pitchFamily="34" charset="0"/>
                <a:ea typeface="+mn-ea"/>
                <a:cs typeface="+mn-cs"/>
              </a:rPr>
              <a:t>Resources:</a:t>
            </a:r>
            <a:endParaRPr lang="en-US" sz="10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000" strike="noStrike" kern="1200" baseline="0" dirty="0">
                <a:solidFill>
                  <a:schemeClr val="tx1"/>
                </a:solidFill>
                <a:effectLst/>
                <a:latin typeface="Arial" panose="020B0604020202020204" pitchFamily="34" charset="0"/>
                <a:ea typeface="+mn-ea"/>
                <a:cs typeface="+mn-cs"/>
              </a:rPr>
              <a:t>Further detail on VCF deployment topologies and additional deployment scenarios are discussed in this whitepaper:</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DCA10D"/>
                </a:solidFill>
                <a:effectLst/>
                <a:latin typeface="Arial" panose="020B0604020202020204" pitchFamily="34" charset="0"/>
                <a:hlinkClick r:id="rId3"/>
              </a:rPr>
              <a:t>ttps://www.vmware.com/docs/vcf-edge-considerations-white-paper</a:t>
            </a:r>
            <a:r>
              <a:rPr lang="en-AU" sz="1200" dirty="0">
                <a:solidFill>
                  <a:srgbClr val="000000"/>
                </a:solidFill>
                <a:effectLst/>
                <a:latin typeface="Arial" panose="020B0604020202020204" pitchFamily="34" charset="0"/>
              </a:rPr>
              <a:t> </a:t>
            </a:r>
            <a:endParaRPr lang="en-AU" sz="1200" dirty="0">
              <a:solidFill>
                <a:srgbClr val="DCA10D"/>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spcBef>
                <a:spcPts val="0"/>
              </a:spcBef>
              <a:spcAft>
                <a:spcPts val="0"/>
              </a:spcAft>
            </a:pPr>
            <a:r>
              <a:rPr lang="en-AU" sz="1000" u="none" strike="noStrike" dirty="0">
                <a:solidFill>
                  <a:srgbClr val="000000"/>
                </a:solidFill>
                <a:effectLst/>
                <a:latin typeface="Arial" panose="020B0604020202020204" pitchFamily="34" charset="0"/>
              </a:rPr>
              <a:t>For further information on Cloud Foundation Deployment Options please refer to the VCF Design Guide</a:t>
            </a:r>
          </a:p>
          <a:p>
            <a:pPr marL="0" marR="0" algn="l">
              <a:spcBef>
                <a:spcPts val="0"/>
              </a:spcBef>
              <a:spcAft>
                <a:spcPts val="0"/>
              </a:spcAft>
            </a:pPr>
            <a:r>
              <a:rPr lang="en-AU" sz="1000" u="none" strike="noStrike" dirty="0">
                <a:solidFill>
                  <a:srgbClr val="000000"/>
                </a:solidFill>
                <a:effectLst/>
                <a:latin typeface="Arial" panose="020B0604020202020204" pitchFamily="34" charset="0"/>
                <a:ea typeface="Times New Roman" panose="02020603050405020304" pitchFamily="18" charset="0"/>
                <a:hlinkClick r:id="rId4"/>
              </a:rPr>
              <a:t>https://docs.vmware.com/en/VMware-Cloud-Foundation/index.html</a:t>
            </a:r>
            <a:r>
              <a:rPr lang="en-AU" sz="1000" dirty="0">
                <a:solidFill>
                  <a:srgbClr val="000000"/>
                </a:solidFill>
                <a:effectLst/>
                <a:latin typeface="Arial" panose="020B0604020202020204" pitchFamily="34" charset="0"/>
                <a:ea typeface="Times New Roman" panose="02020603050405020304" pitchFamily="18" charset="0"/>
              </a:rPr>
              <a:t> </a:t>
            </a:r>
          </a:p>
          <a:p>
            <a:pPr marL="0" marR="0" algn="l">
              <a:spcBef>
                <a:spcPts val="0"/>
              </a:spcBef>
              <a:spcAft>
                <a:spcPts val="0"/>
              </a:spcAft>
            </a:pPr>
            <a:endParaRPr lang="en-AU" sz="1000" u="none" strike="noStrike"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800" strike="noStrike" kern="1200" baseline="0" dirty="0">
                <a:solidFill>
                  <a:schemeClr val="tx1"/>
                </a:solidFill>
                <a:effectLst/>
                <a:latin typeface="Arial" panose="020B0604020202020204" pitchFamily="34" charset="0"/>
                <a:ea typeface="+mn-ea"/>
                <a:cs typeface="+mn-cs"/>
              </a:rPr>
              <a:t>Further detail on Cloud Foundation deployment options is covered in the </a:t>
            </a:r>
            <a:r>
              <a:rPr lang="en-US" sz="1000" baseline="0" dirty="0">
                <a:latin typeface="Arial" panose="020B0604020202020204" pitchFamily="34" charset="0"/>
              </a:rPr>
              <a:t>VMware Cloud Foundation Product Documentation – VMware Cloud Foundation Administration Guide.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u="sng" kern="100"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4"/>
              </a:rPr>
              <a:t>https://docs.vmware.com/en/VMware-Cloud-Foundation/index.html</a:t>
            </a:r>
            <a:r>
              <a:rPr lang="en-US" sz="1000" kern="100" dirty="0">
                <a:effectLst/>
                <a:latin typeface="Arial" panose="020B0604020202020204" pitchFamily="34" charset="0"/>
                <a:ea typeface="Calibri" panose="020F0502020204030204" pitchFamily="34" charset="0"/>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spcBef>
                <a:spcPts val="0"/>
              </a:spcBef>
              <a:spcAft>
                <a:spcPts val="0"/>
              </a:spcAft>
            </a:pPr>
            <a:endParaRPr lang="en-AU" sz="100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424F8DF9-0A13-8092-A7A0-86729BC5B7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770776E-22B7-5A48-A822-6E197F7DC09D}" type="slidenum">
              <a:rPr kumimoji="0" lang="en-US" sz="1200" u="none" strike="noStrike" kern="1200" cap="none" spc="0" normalizeH="0" baseline="0" noProof="0" smtClean="0">
                <a:ln>
                  <a:noFill/>
                </a:ln>
                <a:solidFill>
                  <a:srgbClr val="717074"/>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648340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7"/>
        <p:cNvGrpSpPr/>
        <p:nvPr/>
      </p:nvGrpSpPr>
      <p:grpSpPr>
        <a:xfrm>
          <a:off x="0" y="0"/>
          <a:ext cx="0" cy="0"/>
          <a:chOff x="0" y="0"/>
          <a:chExt cx="0" cy="0"/>
        </a:xfrm>
      </p:grpSpPr>
      <p:sp>
        <p:nvSpPr>
          <p:cNvPr id="1338" name="Google Shape;1338;p12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339" name="Google Shape;1339;p12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5"/>
        <p:cNvGrpSpPr/>
        <p:nvPr/>
      </p:nvGrpSpPr>
      <p:grpSpPr>
        <a:xfrm>
          <a:off x="0" y="0"/>
          <a:ext cx="0" cy="0"/>
          <a:chOff x="0" y="0"/>
          <a:chExt cx="0" cy="0"/>
        </a:xfrm>
      </p:grpSpPr>
      <p:sp>
        <p:nvSpPr>
          <p:cNvPr id="1886" name="Google Shape;1886;p7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887" name="Google Shape;1887;p7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1"/>
        <p:cNvGrpSpPr/>
        <p:nvPr/>
      </p:nvGrpSpPr>
      <p:grpSpPr>
        <a:xfrm>
          <a:off x="0" y="0"/>
          <a:ext cx="0" cy="0"/>
          <a:chOff x="0" y="0"/>
          <a:chExt cx="0" cy="0"/>
        </a:xfrm>
      </p:grpSpPr>
      <p:sp>
        <p:nvSpPr>
          <p:cNvPr id="1892" name="Google Shape;1892;p7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893" name="Google Shape;1893;p7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p:cNvGrpSpPr/>
        <p:nvPr/>
      </p:nvGrpSpPr>
      <p:grpSpPr>
        <a:xfrm>
          <a:off x="0" y="0"/>
          <a:ext cx="0" cy="0"/>
          <a:chOff x="0" y="0"/>
          <a:chExt cx="0" cy="0"/>
        </a:xfrm>
      </p:grpSpPr>
      <p:sp>
        <p:nvSpPr>
          <p:cNvPr id="2061" name="Google Shape;2061;g35c6e7e29b5_0_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062" name="Google Shape;2062;g35c6e7e29b5_0_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6"/>
        <p:cNvGrpSpPr/>
        <p:nvPr/>
      </p:nvGrpSpPr>
      <p:grpSpPr>
        <a:xfrm>
          <a:off x="0" y="0"/>
          <a:ext cx="0" cy="0"/>
          <a:chOff x="0" y="0"/>
          <a:chExt cx="0" cy="0"/>
        </a:xfrm>
      </p:grpSpPr>
      <p:sp>
        <p:nvSpPr>
          <p:cNvPr id="2067" name="Google Shape;2067;g35c6e7e29b5_0_1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068" name="Google Shape;2068;g35c6e7e29b5_0_1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2"/>
        <p:cNvGrpSpPr/>
        <p:nvPr/>
      </p:nvGrpSpPr>
      <p:grpSpPr>
        <a:xfrm>
          <a:off x="0" y="0"/>
          <a:ext cx="0" cy="0"/>
          <a:chOff x="0" y="0"/>
          <a:chExt cx="0" cy="0"/>
        </a:xfrm>
      </p:grpSpPr>
      <p:sp>
        <p:nvSpPr>
          <p:cNvPr id="2073" name="Google Shape;2073;g35c6e7e29b5_0_2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074" name="Google Shape;2074;g35c6e7e29b5_0_2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2">
          <a:extLst>
            <a:ext uri="{FF2B5EF4-FFF2-40B4-BE49-F238E27FC236}">
              <a16:creationId xmlns:a16="http://schemas.microsoft.com/office/drawing/2014/main" id="{6EE8AA1E-1347-48C4-950D-C14FB51C0B5C}"/>
            </a:ext>
          </a:extLst>
        </p:cNvPr>
        <p:cNvGrpSpPr/>
        <p:nvPr/>
      </p:nvGrpSpPr>
      <p:grpSpPr>
        <a:xfrm>
          <a:off x="0" y="0"/>
          <a:ext cx="0" cy="0"/>
          <a:chOff x="0" y="0"/>
          <a:chExt cx="0" cy="0"/>
        </a:xfrm>
      </p:grpSpPr>
      <p:sp>
        <p:nvSpPr>
          <p:cNvPr id="2073" name="Google Shape;2073;g35c6e7e29b5_0_20:notes">
            <a:extLst>
              <a:ext uri="{FF2B5EF4-FFF2-40B4-BE49-F238E27FC236}">
                <a16:creationId xmlns:a16="http://schemas.microsoft.com/office/drawing/2014/main" id="{4FDA09B2-1E0C-A050-FCDF-96495E2B5532}"/>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074" name="Google Shape;2074;g35c6e7e29b5_0_20:notes">
            <a:extLst>
              <a:ext uri="{FF2B5EF4-FFF2-40B4-BE49-F238E27FC236}">
                <a16:creationId xmlns:a16="http://schemas.microsoft.com/office/drawing/2014/main" id="{F10C421D-82EE-333E-C05F-B23F28238D5F}"/>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36905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2">
          <a:extLst>
            <a:ext uri="{FF2B5EF4-FFF2-40B4-BE49-F238E27FC236}">
              <a16:creationId xmlns:a16="http://schemas.microsoft.com/office/drawing/2014/main" id="{DE91C81B-7F6C-D0E2-0344-4868C1C897E6}"/>
            </a:ext>
          </a:extLst>
        </p:cNvPr>
        <p:cNvGrpSpPr/>
        <p:nvPr/>
      </p:nvGrpSpPr>
      <p:grpSpPr>
        <a:xfrm>
          <a:off x="0" y="0"/>
          <a:ext cx="0" cy="0"/>
          <a:chOff x="0" y="0"/>
          <a:chExt cx="0" cy="0"/>
        </a:xfrm>
      </p:grpSpPr>
      <p:sp>
        <p:nvSpPr>
          <p:cNvPr id="2073" name="Google Shape;2073;g35c6e7e29b5_0_20:notes">
            <a:extLst>
              <a:ext uri="{FF2B5EF4-FFF2-40B4-BE49-F238E27FC236}">
                <a16:creationId xmlns:a16="http://schemas.microsoft.com/office/drawing/2014/main" id="{D2A8B11F-79F9-C3AC-173E-0595B6D5B037}"/>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074" name="Google Shape;2074;g35c6e7e29b5_0_20:notes">
            <a:extLst>
              <a:ext uri="{FF2B5EF4-FFF2-40B4-BE49-F238E27FC236}">
                <a16:creationId xmlns:a16="http://schemas.microsoft.com/office/drawing/2014/main" id="{418C1D8D-744C-D330-20AA-FC5485A2449A}"/>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08737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0"/>
        <p:cNvGrpSpPr/>
        <p:nvPr/>
      </p:nvGrpSpPr>
      <p:grpSpPr>
        <a:xfrm>
          <a:off x="0" y="0"/>
          <a:ext cx="0" cy="0"/>
          <a:chOff x="0" y="0"/>
          <a:chExt cx="0" cy="0"/>
        </a:xfrm>
      </p:grpSpPr>
      <p:sp>
        <p:nvSpPr>
          <p:cNvPr id="2091" name="Google Shape;2091;g35c6e7e29b5_0_4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092" name="Google Shape;2092;g35c6e7e29b5_0_4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6">
          <a:extLst>
            <a:ext uri="{FF2B5EF4-FFF2-40B4-BE49-F238E27FC236}">
              <a16:creationId xmlns:a16="http://schemas.microsoft.com/office/drawing/2014/main" id="{A612F946-B0B2-B75F-C797-4FBEB86B0531}"/>
            </a:ext>
          </a:extLst>
        </p:cNvPr>
        <p:cNvGrpSpPr/>
        <p:nvPr/>
      </p:nvGrpSpPr>
      <p:grpSpPr>
        <a:xfrm>
          <a:off x="0" y="0"/>
          <a:ext cx="0" cy="0"/>
          <a:chOff x="0" y="0"/>
          <a:chExt cx="0" cy="0"/>
        </a:xfrm>
      </p:grpSpPr>
      <p:sp>
        <p:nvSpPr>
          <p:cNvPr id="2067" name="Google Shape;2067;g35c6e7e29b5_0_16:notes">
            <a:extLst>
              <a:ext uri="{FF2B5EF4-FFF2-40B4-BE49-F238E27FC236}">
                <a16:creationId xmlns:a16="http://schemas.microsoft.com/office/drawing/2014/main" id="{8C888AFC-DF69-C04A-0210-6EB2C1A26194}"/>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068" name="Google Shape;2068;g35c6e7e29b5_0_16:notes">
            <a:extLst>
              <a:ext uri="{FF2B5EF4-FFF2-40B4-BE49-F238E27FC236}">
                <a16:creationId xmlns:a16="http://schemas.microsoft.com/office/drawing/2014/main" id="{1BB94078-A488-74E3-B6DF-0EE2250AC5BB}"/>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20174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6">
          <a:extLst>
            <a:ext uri="{FF2B5EF4-FFF2-40B4-BE49-F238E27FC236}">
              <a16:creationId xmlns:a16="http://schemas.microsoft.com/office/drawing/2014/main" id="{9BECEBB1-AB03-2A97-EE0D-B40407786147}"/>
            </a:ext>
          </a:extLst>
        </p:cNvPr>
        <p:cNvGrpSpPr/>
        <p:nvPr/>
      </p:nvGrpSpPr>
      <p:grpSpPr>
        <a:xfrm>
          <a:off x="0" y="0"/>
          <a:ext cx="0" cy="0"/>
          <a:chOff x="0" y="0"/>
          <a:chExt cx="0" cy="0"/>
        </a:xfrm>
      </p:grpSpPr>
      <p:sp>
        <p:nvSpPr>
          <p:cNvPr id="2067" name="Google Shape;2067;g35c6e7e29b5_0_16:notes">
            <a:extLst>
              <a:ext uri="{FF2B5EF4-FFF2-40B4-BE49-F238E27FC236}">
                <a16:creationId xmlns:a16="http://schemas.microsoft.com/office/drawing/2014/main" id="{130641AD-EC6B-8B4A-26E1-4466055CFD82}"/>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068" name="Google Shape;2068;g35c6e7e29b5_0_16:notes">
            <a:extLst>
              <a:ext uri="{FF2B5EF4-FFF2-40B4-BE49-F238E27FC236}">
                <a16:creationId xmlns:a16="http://schemas.microsoft.com/office/drawing/2014/main" id="{D744A5ED-D5FC-D699-931F-D93844FFF9BC}"/>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19153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6">
          <a:extLst>
            <a:ext uri="{FF2B5EF4-FFF2-40B4-BE49-F238E27FC236}">
              <a16:creationId xmlns:a16="http://schemas.microsoft.com/office/drawing/2014/main" id="{ACFEB359-15C7-0654-B6CC-EB54D3D68C5E}"/>
            </a:ext>
          </a:extLst>
        </p:cNvPr>
        <p:cNvGrpSpPr/>
        <p:nvPr/>
      </p:nvGrpSpPr>
      <p:grpSpPr>
        <a:xfrm>
          <a:off x="0" y="0"/>
          <a:ext cx="0" cy="0"/>
          <a:chOff x="0" y="0"/>
          <a:chExt cx="0" cy="0"/>
        </a:xfrm>
      </p:grpSpPr>
      <p:sp>
        <p:nvSpPr>
          <p:cNvPr id="2067" name="Google Shape;2067;g35c6e7e29b5_0_16:notes">
            <a:extLst>
              <a:ext uri="{FF2B5EF4-FFF2-40B4-BE49-F238E27FC236}">
                <a16:creationId xmlns:a16="http://schemas.microsoft.com/office/drawing/2014/main" id="{DBC6860E-9B75-CD51-DD9F-137242A3A0F1}"/>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068" name="Google Shape;2068;g35c6e7e29b5_0_16:notes">
            <a:extLst>
              <a:ext uri="{FF2B5EF4-FFF2-40B4-BE49-F238E27FC236}">
                <a16:creationId xmlns:a16="http://schemas.microsoft.com/office/drawing/2014/main" id="{15250558-038D-E038-0D04-B5BA5B6723A9}"/>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72040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p13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40" name="Google Shape;1440;p13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3"/>
        <p:cNvGrpSpPr/>
        <p:nvPr/>
      </p:nvGrpSpPr>
      <p:grpSpPr>
        <a:xfrm>
          <a:off x="0" y="0"/>
          <a:ext cx="0" cy="0"/>
          <a:chOff x="0" y="0"/>
          <a:chExt cx="0" cy="0"/>
        </a:xfrm>
      </p:grpSpPr>
      <p:sp>
        <p:nvSpPr>
          <p:cNvPr id="1444" name="Google Shape;1444;p3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45" name="Google Shape;1445;p3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p46:notes"/>
          <p:cNvSpPr txBox="1">
            <a:spLocks noGrp="1"/>
          </p:cNvSpPr>
          <p:nvPr>
            <p:ph type="body" idx="1"/>
          </p:nvPr>
        </p:nvSpPr>
        <p:spPr>
          <a:xfrm>
            <a:off x="457200" y="3810000"/>
            <a:ext cx="5943600" cy="4876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89" name="Google Shape;1589;p4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0"/>
        <p:cNvGrpSpPr/>
        <p:nvPr/>
      </p:nvGrpSpPr>
      <p:grpSpPr>
        <a:xfrm>
          <a:off x="0" y="0"/>
          <a:ext cx="0" cy="0"/>
          <a:chOff x="0" y="0"/>
          <a:chExt cx="0" cy="0"/>
        </a:xfrm>
      </p:grpSpPr>
      <p:sp>
        <p:nvSpPr>
          <p:cNvPr id="1451" name="Google Shape;1451;p4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52" name="Google Shape;1452;p4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7"/>
        <p:cNvGrpSpPr/>
        <p:nvPr/>
      </p:nvGrpSpPr>
      <p:grpSpPr>
        <a:xfrm>
          <a:off x="0" y="0"/>
          <a:ext cx="0" cy="0"/>
          <a:chOff x="0" y="0"/>
          <a:chExt cx="0" cy="0"/>
        </a:xfrm>
      </p:grpSpPr>
      <p:sp>
        <p:nvSpPr>
          <p:cNvPr id="1458" name="Google Shape;1458;p4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59" name="Google Shape;1459;p4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7">
          <a:extLst>
            <a:ext uri="{FF2B5EF4-FFF2-40B4-BE49-F238E27FC236}">
              <a16:creationId xmlns:a16="http://schemas.microsoft.com/office/drawing/2014/main" id="{17395AE9-2584-18F0-8A14-75BCDFEC03A3}"/>
            </a:ext>
          </a:extLst>
        </p:cNvPr>
        <p:cNvGrpSpPr/>
        <p:nvPr/>
      </p:nvGrpSpPr>
      <p:grpSpPr>
        <a:xfrm>
          <a:off x="0" y="0"/>
          <a:ext cx="0" cy="0"/>
          <a:chOff x="0" y="0"/>
          <a:chExt cx="0" cy="0"/>
        </a:xfrm>
      </p:grpSpPr>
      <p:sp>
        <p:nvSpPr>
          <p:cNvPr id="1458" name="Google Shape;1458;p41:notes">
            <a:extLst>
              <a:ext uri="{FF2B5EF4-FFF2-40B4-BE49-F238E27FC236}">
                <a16:creationId xmlns:a16="http://schemas.microsoft.com/office/drawing/2014/main" id="{DF007D98-D7A4-3EE8-4553-197A70FF7EC9}"/>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59" name="Google Shape;1459;p41:notes">
            <a:extLst>
              <a:ext uri="{FF2B5EF4-FFF2-40B4-BE49-F238E27FC236}">
                <a16:creationId xmlns:a16="http://schemas.microsoft.com/office/drawing/2014/main" id="{51C0C134-90F2-D763-F2D5-7E1D8C05DA9C}"/>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79772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7">
          <a:extLst>
            <a:ext uri="{FF2B5EF4-FFF2-40B4-BE49-F238E27FC236}">
              <a16:creationId xmlns:a16="http://schemas.microsoft.com/office/drawing/2014/main" id="{D4EB6486-AB6F-7ABB-2E52-D0148F11922C}"/>
            </a:ext>
          </a:extLst>
        </p:cNvPr>
        <p:cNvGrpSpPr/>
        <p:nvPr/>
      </p:nvGrpSpPr>
      <p:grpSpPr>
        <a:xfrm>
          <a:off x="0" y="0"/>
          <a:ext cx="0" cy="0"/>
          <a:chOff x="0" y="0"/>
          <a:chExt cx="0" cy="0"/>
        </a:xfrm>
      </p:grpSpPr>
      <p:sp>
        <p:nvSpPr>
          <p:cNvPr id="1458" name="Google Shape;1458;p41:notes">
            <a:extLst>
              <a:ext uri="{FF2B5EF4-FFF2-40B4-BE49-F238E27FC236}">
                <a16:creationId xmlns:a16="http://schemas.microsoft.com/office/drawing/2014/main" id="{29C3340C-89DB-4E15-57FD-AFCD452C0886}"/>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59" name="Google Shape;1459;p41:notes">
            <a:extLst>
              <a:ext uri="{FF2B5EF4-FFF2-40B4-BE49-F238E27FC236}">
                <a16:creationId xmlns:a16="http://schemas.microsoft.com/office/drawing/2014/main" id="{54EFD09B-E2E0-3409-3006-7BFD71CB49BF}"/>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89596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7">
          <a:extLst>
            <a:ext uri="{FF2B5EF4-FFF2-40B4-BE49-F238E27FC236}">
              <a16:creationId xmlns:a16="http://schemas.microsoft.com/office/drawing/2014/main" id="{26A82D56-11D4-2988-5B7F-EE9965CDB7E5}"/>
            </a:ext>
          </a:extLst>
        </p:cNvPr>
        <p:cNvGrpSpPr/>
        <p:nvPr/>
      </p:nvGrpSpPr>
      <p:grpSpPr>
        <a:xfrm>
          <a:off x="0" y="0"/>
          <a:ext cx="0" cy="0"/>
          <a:chOff x="0" y="0"/>
          <a:chExt cx="0" cy="0"/>
        </a:xfrm>
      </p:grpSpPr>
      <p:sp>
        <p:nvSpPr>
          <p:cNvPr id="1458" name="Google Shape;1458;p41:notes">
            <a:extLst>
              <a:ext uri="{FF2B5EF4-FFF2-40B4-BE49-F238E27FC236}">
                <a16:creationId xmlns:a16="http://schemas.microsoft.com/office/drawing/2014/main" id="{EE6C62AE-4E3F-DEE8-A650-EE670E32CDDB}"/>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59" name="Google Shape;1459;p41:notes">
            <a:extLst>
              <a:ext uri="{FF2B5EF4-FFF2-40B4-BE49-F238E27FC236}">
                <a16:creationId xmlns:a16="http://schemas.microsoft.com/office/drawing/2014/main" id="{E054D973-965F-6B2B-0153-93549BB91D0D}"/>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818987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4"/>
        <p:cNvGrpSpPr/>
        <p:nvPr/>
      </p:nvGrpSpPr>
      <p:grpSpPr>
        <a:xfrm>
          <a:off x="0" y="0"/>
          <a:ext cx="0" cy="0"/>
          <a:chOff x="0" y="0"/>
          <a:chExt cx="0" cy="0"/>
        </a:xfrm>
      </p:grpSpPr>
      <p:sp>
        <p:nvSpPr>
          <p:cNvPr id="1465" name="Google Shape;1465;p13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66" name="Google Shape;1466;p13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9"/>
        <p:cNvGrpSpPr/>
        <p:nvPr/>
      </p:nvGrpSpPr>
      <p:grpSpPr>
        <a:xfrm>
          <a:off x="0" y="0"/>
          <a:ext cx="0" cy="0"/>
          <a:chOff x="0" y="0"/>
          <a:chExt cx="0" cy="0"/>
        </a:xfrm>
      </p:grpSpPr>
      <p:sp>
        <p:nvSpPr>
          <p:cNvPr id="1470" name="Google Shape;1470;p4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71" name="Google Shape;1471;p4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3"/>
        <p:cNvGrpSpPr/>
        <p:nvPr/>
      </p:nvGrpSpPr>
      <p:grpSpPr>
        <a:xfrm>
          <a:off x="0" y="0"/>
          <a:ext cx="0" cy="0"/>
          <a:chOff x="0" y="0"/>
          <a:chExt cx="0" cy="0"/>
        </a:xfrm>
      </p:grpSpPr>
      <p:sp>
        <p:nvSpPr>
          <p:cNvPr id="1484" name="Google Shape;1484;p13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85" name="Google Shape;1485;p13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p:cNvGrpSpPr/>
        <p:nvPr/>
      </p:nvGrpSpPr>
      <p:grpSpPr>
        <a:xfrm>
          <a:off x="0" y="0"/>
          <a:ext cx="0" cy="0"/>
          <a:chOff x="0" y="0"/>
          <a:chExt cx="0" cy="0"/>
        </a:xfrm>
      </p:grpSpPr>
      <p:sp>
        <p:nvSpPr>
          <p:cNvPr id="1489" name="Google Shape;1489;p4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90" name="Google Shape;1490;p4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3">
          <a:extLst>
            <a:ext uri="{FF2B5EF4-FFF2-40B4-BE49-F238E27FC236}">
              <a16:creationId xmlns:a16="http://schemas.microsoft.com/office/drawing/2014/main" id="{3E161EE4-6932-436C-3ECD-D57D5649BC0B}"/>
            </a:ext>
          </a:extLst>
        </p:cNvPr>
        <p:cNvGrpSpPr/>
        <p:nvPr/>
      </p:nvGrpSpPr>
      <p:grpSpPr>
        <a:xfrm>
          <a:off x="0" y="0"/>
          <a:ext cx="0" cy="0"/>
          <a:chOff x="0" y="0"/>
          <a:chExt cx="0" cy="0"/>
        </a:xfrm>
      </p:grpSpPr>
      <p:sp>
        <p:nvSpPr>
          <p:cNvPr id="1484" name="Google Shape;1484;p133:notes">
            <a:extLst>
              <a:ext uri="{FF2B5EF4-FFF2-40B4-BE49-F238E27FC236}">
                <a16:creationId xmlns:a16="http://schemas.microsoft.com/office/drawing/2014/main" id="{2671B3D6-6AFA-1269-2DD3-98A06322B7B9}"/>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85" name="Google Shape;1485;p133:notes">
            <a:extLst>
              <a:ext uri="{FF2B5EF4-FFF2-40B4-BE49-F238E27FC236}">
                <a16:creationId xmlns:a16="http://schemas.microsoft.com/office/drawing/2014/main" id="{C92319CD-E0D1-CE1F-7712-FCD799447F27}"/>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91527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a:extLst>
            <a:ext uri="{FF2B5EF4-FFF2-40B4-BE49-F238E27FC236}">
              <a16:creationId xmlns:a16="http://schemas.microsoft.com/office/drawing/2014/main" id="{6BB25958-4D1E-11F5-E933-F6C8F129C460}"/>
            </a:ext>
          </a:extLst>
        </p:cNvPr>
        <p:cNvGrpSpPr/>
        <p:nvPr/>
      </p:nvGrpSpPr>
      <p:grpSpPr>
        <a:xfrm>
          <a:off x="0" y="0"/>
          <a:ext cx="0" cy="0"/>
          <a:chOff x="0" y="0"/>
          <a:chExt cx="0" cy="0"/>
        </a:xfrm>
      </p:grpSpPr>
      <p:sp>
        <p:nvSpPr>
          <p:cNvPr id="1489" name="Google Shape;1489;p46:notes">
            <a:extLst>
              <a:ext uri="{FF2B5EF4-FFF2-40B4-BE49-F238E27FC236}">
                <a16:creationId xmlns:a16="http://schemas.microsoft.com/office/drawing/2014/main" id="{4558119E-F1D3-EE32-072C-9ED72C6AB4A6}"/>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90" name="Google Shape;1490;p46:notes">
            <a:extLst>
              <a:ext uri="{FF2B5EF4-FFF2-40B4-BE49-F238E27FC236}">
                <a16:creationId xmlns:a16="http://schemas.microsoft.com/office/drawing/2014/main" id="{DE7F2506-7003-1A9D-EA9C-E46758B027FD}"/>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10110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3">
          <a:extLst>
            <a:ext uri="{FF2B5EF4-FFF2-40B4-BE49-F238E27FC236}">
              <a16:creationId xmlns:a16="http://schemas.microsoft.com/office/drawing/2014/main" id="{5A0FEE09-94A7-22E4-41D1-7F0C000FCC4E}"/>
            </a:ext>
          </a:extLst>
        </p:cNvPr>
        <p:cNvGrpSpPr/>
        <p:nvPr/>
      </p:nvGrpSpPr>
      <p:grpSpPr>
        <a:xfrm>
          <a:off x="0" y="0"/>
          <a:ext cx="0" cy="0"/>
          <a:chOff x="0" y="0"/>
          <a:chExt cx="0" cy="0"/>
        </a:xfrm>
      </p:grpSpPr>
      <p:sp>
        <p:nvSpPr>
          <p:cNvPr id="1484" name="Google Shape;1484;p133:notes">
            <a:extLst>
              <a:ext uri="{FF2B5EF4-FFF2-40B4-BE49-F238E27FC236}">
                <a16:creationId xmlns:a16="http://schemas.microsoft.com/office/drawing/2014/main" id="{7FD1ABB9-0EBA-704E-6015-96AA48E0A1B0}"/>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85" name="Google Shape;1485;p133:notes">
            <a:extLst>
              <a:ext uri="{FF2B5EF4-FFF2-40B4-BE49-F238E27FC236}">
                <a16:creationId xmlns:a16="http://schemas.microsoft.com/office/drawing/2014/main" id="{FFE6E98C-6CF7-B483-5C95-01184A2B75EA}"/>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97257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a:extLst>
            <a:ext uri="{FF2B5EF4-FFF2-40B4-BE49-F238E27FC236}">
              <a16:creationId xmlns:a16="http://schemas.microsoft.com/office/drawing/2014/main" id="{53DAFDC5-F44F-2017-88BF-29EBCABFF9FE}"/>
            </a:ext>
          </a:extLst>
        </p:cNvPr>
        <p:cNvGrpSpPr/>
        <p:nvPr/>
      </p:nvGrpSpPr>
      <p:grpSpPr>
        <a:xfrm>
          <a:off x="0" y="0"/>
          <a:ext cx="0" cy="0"/>
          <a:chOff x="0" y="0"/>
          <a:chExt cx="0" cy="0"/>
        </a:xfrm>
      </p:grpSpPr>
      <p:sp>
        <p:nvSpPr>
          <p:cNvPr id="1489" name="Google Shape;1489;p46:notes">
            <a:extLst>
              <a:ext uri="{FF2B5EF4-FFF2-40B4-BE49-F238E27FC236}">
                <a16:creationId xmlns:a16="http://schemas.microsoft.com/office/drawing/2014/main" id="{69C86FF4-5433-94AD-B96A-017C6F309C7C}"/>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90" name="Google Shape;1490;p46:notes">
            <a:extLst>
              <a:ext uri="{FF2B5EF4-FFF2-40B4-BE49-F238E27FC236}">
                <a16:creationId xmlns:a16="http://schemas.microsoft.com/office/drawing/2014/main" id="{167A338E-5EB9-1489-5D90-A39F23D23170}"/>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16344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a:extLst>
            <a:ext uri="{FF2B5EF4-FFF2-40B4-BE49-F238E27FC236}">
              <a16:creationId xmlns:a16="http://schemas.microsoft.com/office/drawing/2014/main" id="{2F93D7C2-4956-63D1-A180-E0E6D712916C}"/>
            </a:ext>
          </a:extLst>
        </p:cNvPr>
        <p:cNvGrpSpPr/>
        <p:nvPr/>
      </p:nvGrpSpPr>
      <p:grpSpPr>
        <a:xfrm>
          <a:off x="0" y="0"/>
          <a:ext cx="0" cy="0"/>
          <a:chOff x="0" y="0"/>
          <a:chExt cx="0" cy="0"/>
        </a:xfrm>
      </p:grpSpPr>
      <p:sp>
        <p:nvSpPr>
          <p:cNvPr id="1489" name="Google Shape;1489;p46:notes">
            <a:extLst>
              <a:ext uri="{FF2B5EF4-FFF2-40B4-BE49-F238E27FC236}">
                <a16:creationId xmlns:a16="http://schemas.microsoft.com/office/drawing/2014/main" id="{A234CD4B-912D-14E5-1E54-282AE6DF01DC}"/>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90" name="Google Shape;1490;p46:notes">
            <a:extLst>
              <a:ext uri="{FF2B5EF4-FFF2-40B4-BE49-F238E27FC236}">
                <a16:creationId xmlns:a16="http://schemas.microsoft.com/office/drawing/2014/main" id="{965EFF3C-DA0B-9994-2E83-77C6A4AB7B8A}"/>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53748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a:extLst>
            <a:ext uri="{FF2B5EF4-FFF2-40B4-BE49-F238E27FC236}">
              <a16:creationId xmlns:a16="http://schemas.microsoft.com/office/drawing/2014/main" id="{F870F417-D4E6-0E12-CBBE-35387AA66106}"/>
            </a:ext>
          </a:extLst>
        </p:cNvPr>
        <p:cNvGrpSpPr/>
        <p:nvPr/>
      </p:nvGrpSpPr>
      <p:grpSpPr>
        <a:xfrm>
          <a:off x="0" y="0"/>
          <a:ext cx="0" cy="0"/>
          <a:chOff x="0" y="0"/>
          <a:chExt cx="0" cy="0"/>
        </a:xfrm>
      </p:grpSpPr>
      <p:sp>
        <p:nvSpPr>
          <p:cNvPr id="1489" name="Google Shape;1489;p46:notes">
            <a:extLst>
              <a:ext uri="{FF2B5EF4-FFF2-40B4-BE49-F238E27FC236}">
                <a16:creationId xmlns:a16="http://schemas.microsoft.com/office/drawing/2014/main" id="{ABA9D12B-7995-A151-3BD0-83DB6F75F5C9}"/>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90" name="Google Shape;1490;p46:notes">
            <a:extLst>
              <a:ext uri="{FF2B5EF4-FFF2-40B4-BE49-F238E27FC236}">
                <a16:creationId xmlns:a16="http://schemas.microsoft.com/office/drawing/2014/main" id="{5E4B887E-B8AF-AA84-AA3D-C63F2EFB17B0}"/>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676617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a:extLst>
            <a:ext uri="{FF2B5EF4-FFF2-40B4-BE49-F238E27FC236}">
              <a16:creationId xmlns:a16="http://schemas.microsoft.com/office/drawing/2014/main" id="{43F0ABB3-A0A3-223D-C54F-D5A278E60236}"/>
            </a:ext>
          </a:extLst>
        </p:cNvPr>
        <p:cNvGrpSpPr/>
        <p:nvPr/>
      </p:nvGrpSpPr>
      <p:grpSpPr>
        <a:xfrm>
          <a:off x="0" y="0"/>
          <a:ext cx="0" cy="0"/>
          <a:chOff x="0" y="0"/>
          <a:chExt cx="0" cy="0"/>
        </a:xfrm>
      </p:grpSpPr>
      <p:sp>
        <p:nvSpPr>
          <p:cNvPr id="1489" name="Google Shape;1489;p46:notes">
            <a:extLst>
              <a:ext uri="{FF2B5EF4-FFF2-40B4-BE49-F238E27FC236}">
                <a16:creationId xmlns:a16="http://schemas.microsoft.com/office/drawing/2014/main" id="{B2EB01B1-0C71-7E4A-9A88-1D6110F4C621}"/>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90" name="Google Shape;1490;p46:notes">
            <a:extLst>
              <a:ext uri="{FF2B5EF4-FFF2-40B4-BE49-F238E27FC236}">
                <a16:creationId xmlns:a16="http://schemas.microsoft.com/office/drawing/2014/main" id="{04B8A704-1BDB-97F9-6D15-B77C73F6753C}"/>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45290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a:extLst>
            <a:ext uri="{FF2B5EF4-FFF2-40B4-BE49-F238E27FC236}">
              <a16:creationId xmlns:a16="http://schemas.microsoft.com/office/drawing/2014/main" id="{FFD93A5E-4B9D-6D39-57BD-18D54E7158B5}"/>
            </a:ext>
          </a:extLst>
        </p:cNvPr>
        <p:cNvGrpSpPr/>
        <p:nvPr/>
      </p:nvGrpSpPr>
      <p:grpSpPr>
        <a:xfrm>
          <a:off x="0" y="0"/>
          <a:ext cx="0" cy="0"/>
          <a:chOff x="0" y="0"/>
          <a:chExt cx="0" cy="0"/>
        </a:xfrm>
      </p:grpSpPr>
      <p:sp>
        <p:nvSpPr>
          <p:cNvPr id="1489" name="Google Shape;1489;p46:notes">
            <a:extLst>
              <a:ext uri="{FF2B5EF4-FFF2-40B4-BE49-F238E27FC236}">
                <a16:creationId xmlns:a16="http://schemas.microsoft.com/office/drawing/2014/main" id="{14062D22-7CC5-2E12-9BC5-DA896B771339}"/>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90" name="Google Shape;1490;p46:notes">
            <a:extLst>
              <a:ext uri="{FF2B5EF4-FFF2-40B4-BE49-F238E27FC236}">
                <a16:creationId xmlns:a16="http://schemas.microsoft.com/office/drawing/2014/main" id="{2CEAF555-1F6C-656D-CE37-5A258A66BE16}"/>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55974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a:extLst>
            <a:ext uri="{FF2B5EF4-FFF2-40B4-BE49-F238E27FC236}">
              <a16:creationId xmlns:a16="http://schemas.microsoft.com/office/drawing/2014/main" id="{0B6318E0-16BE-A12B-8C40-D77F55F8E02A}"/>
            </a:ext>
          </a:extLst>
        </p:cNvPr>
        <p:cNvGrpSpPr/>
        <p:nvPr/>
      </p:nvGrpSpPr>
      <p:grpSpPr>
        <a:xfrm>
          <a:off x="0" y="0"/>
          <a:ext cx="0" cy="0"/>
          <a:chOff x="0" y="0"/>
          <a:chExt cx="0" cy="0"/>
        </a:xfrm>
      </p:grpSpPr>
      <p:sp>
        <p:nvSpPr>
          <p:cNvPr id="1489" name="Google Shape;1489;p46:notes">
            <a:extLst>
              <a:ext uri="{FF2B5EF4-FFF2-40B4-BE49-F238E27FC236}">
                <a16:creationId xmlns:a16="http://schemas.microsoft.com/office/drawing/2014/main" id="{8280E84D-A9E8-473B-0070-14D4D98CC0A4}"/>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90" name="Google Shape;1490;p46:notes">
            <a:extLst>
              <a:ext uri="{FF2B5EF4-FFF2-40B4-BE49-F238E27FC236}">
                <a16:creationId xmlns:a16="http://schemas.microsoft.com/office/drawing/2014/main" id="{773B9CD9-F7FF-2930-0AA4-A5A1117EB517}"/>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111121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p:cNvGrpSpPr/>
        <p:nvPr/>
      </p:nvGrpSpPr>
      <p:grpSpPr>
        <a:xfrm>
          <a:off x="0" y="0"/>
          <a:ext cx="0" cy="0"/>
          <a:chOff x="0" y="0"/>
          <a:chExt cx="0" cy="0"/>
        </a:xfrm>
      </p:grpSpPr>
      <p:sp>
        <p:nvSpPr>
          <p:cNvPr id="1503" name="Google Shape;1503;p13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504" name="Google Shape;1504;p13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2441E-AFB7-4F80-01BF-7B9E9C2B1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76709-6AC3-7C03-17FF-C0195EB62F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A45CF-3F49-CA68-6C15-434FDCD9A55C}"/>
              </a:ext>
            </a:extLst>
          </p:cNvPr>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Let’s look at some of what’s new in VMware Cloud Foundation 9.0.</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p:txBody>
      </p:sp>
      <p:sp>
        <p:nvSpPr>
          <p:cNvPr id="4" name="Slide Number Placeholder 3">
            <a:extLst>
              <a:ext uri="{FF2B5EF4-FFF2-40B4-BE49-F238E27FC236}">
                <a16:creationId xmlns:a16="http://schemas.microsoft.com/office/drawing/2014/main" id="{A1D27903-6701-8DCA-5DC0-0A642361F335}"/>
              </a:ext>
            </a:extLst>
          </p:cNvPr>
          <p:cNvSpPr>
            <a:spLocks noGrp="1"/>
          </p:cNvSpPr>
          <p:nvPr>
            <p:ph type="sldNum" sz="quarter" idx="5"/>
          </p:nvPr>
        </p:nvSpPr>
        <p:spPr/>
        <p:txBody>
          <a:bodyPr/>
          <a:lstStyle/>
          <a:p>
            <a:fld id="{9F4FBC3A-A12C-40F9-BB8D-BC30C7901396}" type="slidenum">
              <a:rPr lang="en-US" smtClean="0"/>
              <a:pPr/>
              <a:t>64</a:t>
            </a:fld>
            <a:endParaRPr lang="en-US" dirty="0"/>
          </a:p>
        </p:txBody>
      </p:sp>
    </p:spTree>
    <p:extLst>
      <p:ext uri="{BB962C8B-B14F-4D97-AF65-F5344CB8AC3E}">
        <p14:creationId xmlns:p14="http://schemas.microsoft.com/office/powerpoint/2010/main" val="18327161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Understand the three main goals of VCF security that make us different (and better) than the public cloud and other on-premises vendors.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endParaRPr lang="en-US" sz="1200" b="0"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***ANIMATED***</a:t>
            </a:r>
          </a:p>
          <a:p>
            <a:endParaRPr lang="en-US" dirty="0"/>
          </a:p>
          <a:p>
            <a:r>
              <a:rPr lang="en-US" dirty="0"/>
              <a:t>When we think about cloud infrastructure security there are three main goals we are trying to achieve. First, we want you to be secure quickly, and stay that way. We provide all the capabilities you will need and turn them on by default, but also remain flexible to meet the needs of any workload. No security or compliance effort ever survives contact with real workloads, especially older ones, and having flexibility to meet their needs in a bespoke, tailored fashion is important. One size does not fit all with security.</a:t>
            </a:r>
          </a:p>
          <a:p>
            <a:endParaRPr lang="en-US" dirty="0"/>
          </a:p>
          <a:p>
            <a:r>
              <a:rPr lang="en-US" dirty="0"/>
              <a:t>**CLICK** The second thing we strive for is to drive trust in your infrastructure. And actually, one of the ways to do that is to replace trust with verification and validation, so that you know what the state of your environment is at any given time. You don’t have to take someone else’s word for it, because you control the situation from the ground up.</a:t>
            </a:r>
          </a:p>
          <a:p>
            <a:endParaRPr lang="en-US" dirty="0"/>
          </a:p>
          <a:p>
            <a:r>
              <a:rPr lang="en-US" dirty="0"/>
              <a:t>**CLICK** Third thing is to enable you to be resilient, easily. Resilience has been the primary feature of VMware products since 2005 when vMotion first shipped, and it’s finally getting attention with some of the new compliance standards, like DORA and NIS2. Being resilient to small problems, big problems, ransomware, hurricanes, system failures, disk failures, human error, and more is important, and with VCF you are well-equipped to deal with all of those situations.</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This is important to understand our approach to security. This space is large and talking about specific features can take days, so we approach it from the high level and drill in.</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384990697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Understand the three main pillars of information security as a foundation for our approach to security.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endParaRPr lang="en-US" sz="1200" b="0" i="0" u="none" strike="noStrike" dirty="0">
              <a:solidFill>
                <a:schemeClr val="dk1"/>
              </a:solidFill>
              <a:ea typeface="Arial"/>
              <a:cs typeface="Arial"/>
              <a:sym typeface="Arial"/>
            </a:endParaRPr>
          </a:p>
          <a:p>
            <a:r>
              <a:rPr lang="en-US" dirty="0"/>
              <a:t>One of the other ways we think about security in VCF is through the core tenets to information security, known as the CIA Triad.</a:t>
            </a:r>
          </a:p>
          <a:p>
            <a:endParaRPr lang="en-US" dirty="0"/>
          </a:p>
          <a:p>
            <a:r>
              <a:rPr lang="en-US" dirty="0"/>
              <a:t>Confidentiality means that unauthorized people don’t have access to your data. This is traditionally what people consider security, but there’s actually two other pillars that are really important, too…</a:t>
            </a:r>
          </a:p>
          <a:p>
            <a:endParaRPr lang="en-US" dirty="0"/>
          </a:p>
          <a:p>
            <a:r>
              <a:rPr lang="en-US" dirty="0"/>
              <a:t>…like integrity. Integrity means that our data doesn’t change on us, like if an attacker is able to deposit malware on systems. It also means that we have protections from things that aren’t an attack, per se, like a failing storage device which corrupts data while it fails.</a:t>
            </a:r>
          </a:p>
          <a:p>
            <a:endParaRPr lang="en-US" dirty="0"/>
          </a:p>
          <a:p>
            <a:r>
              <a:rPr lang="en-US" dirty="0"/>
              <a:t>Last is availability. If our data isn’t available to us when we need it, what’s the point of these systems? Availability problems can come from things like ransomware, or even from day-to-day work going on, and we can </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This is important to understand our approach to security. Many IT practitioners do not actually think in this way, and a short overview is helpful as a foundation for both security and compliance.</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7958410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EA172-3381-5263-2F8E-42CA49A01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871D0-8C75-C3A0-B518-59581E3D39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76BD5F-2C16-2693-4602-039181BFEB47}"/>
              </a:ext>
            </a:extLst>
          </p:cNvPr>
          <p:cNvSpPr>
            <a:spLocks noGrp="1"/>
          </p:cNvSpPr>
          <p:nvPr>
            <p:ph type="body" idx="1"/>
          </p:nvPr>
        </p:nvSpPr>
        <p:spPr/>
        <p:txBody>
          <a:bodyPr>
            <a:norm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Understand how the three main pillars of information security inform the VCF feature set itself.</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***ANIMATED***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a:cs typeface="Arial"/>
              <a:sym typeface="Arial"/>
            </a:endParaRPr>
          </a:p>
          <a:p>
            <a:r>
              <a:rPr lang="en-US" dirty="0"/>
              <a:t>Seen through the lenses of the CIA triad, every feature in Cloud Foundation can be mapped to one or more of those pillars.</a:t>
            </a:r>
          </a:p>
          <a:p>
            <a:endParaRPr lang="en-US" dirty="0"/>
          </a:p>
          <a:p>
            <a:r>
              <a:rPr lang="en-US" dirty="0"/>
              <a:t>**CLICK** This certainly isn’t a complete list of features, but you get the idea here – every feature is, in some way, a security feature, and even more importantly…</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Not a complete list of features and functionality. Wouldn’t fit on the slide.</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pPr marL="0" marR="0">
              <a:lnSpc>
                <a:spcPct val="107000"/>
              </a:lnSpc>
              <a:spcBef>
                <a:spcPts val="0"/>
              </a:spcBef>
              <a:spcAft>
                <a:spcPts val="800"/>
              </a:spcAft>
            </a:pPr>
            <a:endParaRPr lang="en-US" dirty="0"/>
          </a:p>
        </p:txBody>
      </p:sp>
      <p:sp>
        <p:nvSpPr>
          <p:cNvPr id="4" name="Slide Number Placeholder 3">
            <a:extLst>
              <a:ext uri="{FF2B5EF4-FFF2-40B4-BE49-F238E27FC236}">
                <a16:creationId xmlns:a16="http://schemas.microsoft.com/office/drawing/2014/main" id="{1BEE5146-0A5F-00C9-898A-306DD668DB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33661559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65958-EDC0-79DC-1F84-0EBD32191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55355-1789-038C-BD2E-3AC6B0A07E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E7A747-9CCB-2950-3D81-FF2A1C9F40E4}"/>
              </a:ext>
            </a:extLst>
          </p:cNvPr>
          <p:cNvSpPr>
            <a:spLocks noGrp="1"/>
          </p:cNvSpPr>
          <p:nvPr>
            <p:ph type="body" idx="1"/>
          </p:nvPr>
        </p:nvSpPr>
        <p:spPr/>
        <p:txBody>
          <a:bodyPr>
            <a:norm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Understand how the three main pillars of information security inform the VCF feature set itself.</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a:cs typeface="Arial"/>
                <a:sym typeface="Arial"/>
              </a:rPr>
              <a:t>Put another way, security is an inherent property of Cloud Foundation. It’s baked in and not bolted on after the fact.</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Not a complete list of features and functionality. Wouldn’t fit on the slide.</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pPr marL="0" marR="0">
              <a:lnSpc>
                <a:spcPct val="107000"/>
              </a:lnSpc>
              <a:spcBef>
                <a:spcPts val="0"/>
              </a:spcBef>
              <a:spcAft>
                <a:spcPts val="800"/>
              </a:spcAft>
            </a:pPr>
            <a:endParaRPr lang="en-US" dirty="0"/>
          </a:p>
        </p:txBody>
      </p:sp>
      <p:sp>
        <p:nvSpPr>
          <p:cNvPr id="4" name="Slide Number Placeholder 3">
            <a:extLst>
              <a:ext uri="{FF2B5EF4-FFF2-40B4-BE49-F238E27FC236}">
                <a16:creationId xmlns:a16="http://schemas.microsoft.com/office/drawing/2014/main" id="{BC984C77-3E7B-B05C-FC17-78EDEE49A0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25899463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69EE7-EA02-C246-BB98-A2BABEDE2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6D153-30B8-B3E8-68D9-EAD409B7B7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0C338-6CE0-0497-54EA-96EE428DA047}"/>
              </a:ext>
            </a:extLst>
          </p:cNvPr>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isn’t bolted on to VCF, it’s baked in at every layer of the stack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every feature in VCF is a security feature we could spend days talking about it (and if you’d like that, let us know!). But you get the idea, though – good security is in every layer of the stack, from the hardware itself, up to the hypervisor, through storage and vCenter, protecting workloads, and enabling ease of management at the Cloud Foundation level. We do this because threats exist at all those levels, and each level – both above and below – can help their neighbors out.</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Again, not a complete list of features and functionality.</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pPr marL="0" marR="0">
              <a:lnSpc>
                <a:spcPct val="107000"/>
              </a:lnSpc>
              <a:spcBef>
                <a:spcPts val="0"/>
              </a:spcBef>
              <a:spcAft>
                <a:spcPts val="800"/>
              </a:spcAft>
            </a:pPr>
            <a:endParaRPr lang="en-US" dirty="0"/>
          </a:p>
        </p:txBody>
      </p:sp>
      <p:sp>
        <p:nvSpPr>
          <p:cNvPr id="4" name="Slide Number Placeholder 3">
            <a:extLst>
              <a:ext uri="{FF2B5EF4-FFF2-40B4-BE49-F238E27FC236}">
                <a16:creationId xmlns:a16="http://schemas.microsoft.com/office/drawing/2014/main" id="{0DD95C68-2CA1-2409-F5B5-1662D2480F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14461740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normAutofit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is important but resilience is the thing organizations really want, in the face of any sort of issue.</a:t>
            </a:r>
            <a:r>
              <a:rPr lang="en-US" sz="1200" b="0" i="0" u="none" strike="noStrike" dirty="0">
                <a:solidFill>
                  <a:schemeClr val="tx1"/>
                </a:solidFill>
                <a:cs typeface="+mn-cs"/>
                <a:sym typeface="Arial"/>
              </a:rPr>
              <a:t> </a:t>
            </a:r>
            <a:r>
              <a:rPr lang="en-US" sz="1200" b="0" i="0" u="none" strike="noStrike" dirty="0">
                <a:solidFill>
                  <a:schemeClr val="dk1"/>
                </a:solidFill>
                <a:cs typeface="Arial"/>
                <a:sym typeface="Arial"/>
              </a:rPr>
              <a:t>The idea of resilience is woven into our platforms, and not an afterthought.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this all ties back to operational resilience, which is really what most organizations want. The ability to use the platform to avoid, prevent, and recover quickly from issues, whether they are a failed application update, human error, ransomware attack, or a hurricane, with predictable results and costs, has been a hallmark of VMware products for decades.</a:t>
            </a:r>
          </a:p>
          <a:p>
            <a:endParaRPr lang="en-US" dirty="0"/>
          </a:p>
          <a:p>
            <a:r>
              <a:rPr lang="en-US" dirty="0"/>
              <a:t>This is the US National Institute of Standards and Technology’s Cybersecurity Framework 2.0, which does a good job of enumerating the idea of resilience, and again mapping Cloud Foundation functionality to the different parts. The latest version of the cybersecurity framework depicts this as a circle, with one more concept that applies to everything: governance. Governance is very important in an organization, to make sure that what the organization is doing aligns with its mission, ensure that processes are followed, inventory is kept, and so on. Doubly so now with AI technology. Not only does Cloud Foundation have all these deep resilience features, but it also has powerful governance tools through components like Aria Automation.</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Again, not a complete list of features and functionality.</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pPr marL="0" marR="0">
              <a:lnSpc>
                <a:spcPct val="107000"/>
              </a:lnSpc>
              <a:spcBef>
                <a:spcPts val="0"/>
              </a:spcBef>
              <a:spcAft>
                <a:spcPts val="800"/>
              </a:spcAft>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3940788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3"/>
        <p:cNvGrpSpPr/>
        <p:nvPr/>
      </p:nvGrpSpPr>
      <p:grpSpPr>
        <a:xfrm>
          <a:off x="0" y="0"/>
          <a:ext cx="0" cy="0"/>
          <a:chOff x="0" y="0"/>
          <a:chExt cx="0" cy="0"/>
        </a:xfrm>
      </p:grpSpPr>
      <p:sp>
        <p:nvSpPr>
          <p:cNvPr id="1724" name="Google Shape;1724;p5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725" name="Google Shape;1725;p5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Leaf">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63566C-1D56-8289-7F75-41D4029A8414}"/>
              </a:ext>
            </a:extLst>
          </p:cNvPr>
          <p:cNvSpPr/>
          <p:nvPr userDrawn="1"/>
        </p:nvSpPr>
        <p:spPr>
          <a:xfrm>
            <a:off x="0" y="0"/>
            <a:ext cx="12188825" cy="52754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pic>
        <p:nvPicPr>
          <p:cNvPr id="8" name="Graphic 7">
            <a:extLst>
              <a:ext uri="{FF2B5EF4-FFF2-40B4-BE49-F238E27FC236}">
                <a16:creationId xmlns:a16="http://schemas.microsoft.com/office/drawing/2014/main" id="{29B0E6FF-3F6A-94D2-D9F9-BBD4E35C0DCE}"/>
              </a:ext>
            </a:extLst>
          </p:cNvPr>
          <p:cNvPicPr>
            <a:picLocks noChangeAspect="1"/>
          </p:cNvPicPr>
          <p:nvPr userDrawn="1"/>
        </p:nvPicPr>
        <p:blipFill>
          <a:blip r:embed="rId2"/>
          <a:srcRect t="14" b="14"/>
          <a:stretch/>
        </p:blipFill>
        <p:spPr>
          <a:xfrm>
            <a:off x="0" y="0"/>
            <a:ext cx="12187345" cy="6856212"/>
          </a:xfrm>
          <a:prstGeom prst="rect">
            <a:avLst/>
          </a:prstGeom>
          <a:noFill/>
        </p:spPr>
      </p:pic>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1"/>
                </a:solidFill>
              </a:defRPr>
            </a:lvl1pPr>
          </a:lstStyle>
          <a:p>
            <a:r>
              <a:rPr lang="en-US" dirty="0"/>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bg2">
                    <a:lumMod val="25000"/>
                  </a:schemeClr>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bg2">
                    <a:lumMod val="25000"/>
                  </a:schemeClr>
                </a:solidFill>
              </a:defRPr>
            </a:lvl1pPr>
          </a:lstStyle>
          <a:p>
            <a:pPr lvl="0"/>
            <a:r>
              <a:rPr lang="en-US" dirty="0"/>
              <a:t>Role / Division at VMware</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bg2">
                    <a:lumMod val="25000"/>
                  </a:schemeClr>
                </a:solidFill>
              </a:defRPr>
            </a:lvl1pPr>
          </a:lstStyle>
          <a:p>
            <a:pPr lvl="0"/>
            <a:r>
              <a:rPr lang="en-US" dirty="0"/>
              <a:t>Date</a:t>
            </a:r>
          </a:p>
        </p:txBody>
      </p:sp>
      <p:sp>
        <p:nvSpPr>
          <p:cNvPr id="53" name="TextBox 52">
            <a:extLst>
              <a:ext uri="{FF2B5EF4-FFF2-40B4-BE49-F238E27FC236}">
                <a16:creationId xmlns:a16="http://schemas.microsoft.com/office/drawing/2014/main" id="{E7C16DC6-55CF-F240-9C11-02E1D9563D27}"/>
              </a:ext>
            </a:extLst>
          </p:cNvPr>
          <p:cNvSpPr txBox="1"/>
          <p:nvPr userDrawn="1"/>
        </p:nvSpPr>
        <p:spPr>
          <a:xfrm>
            <a:off x="1645084" y="6461498"/>
            <a:ext cx="2590453" cy="128753"/>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2025 Broadcom.  </a:t>
            </a:r>
          </a:p>
        </p:txBody>
      </p:sp>
      <p:sp>
        <p:nvSpPr>
          <p:cNvPr id="54" name="TextBox 53">
            <a:extLst>
              <a:ext uri="{FF2B5EF4-FFF2-40B4-BE49-F238E27FC236}">
                <a16:creationId xmlns:a16="http://schemas.microsoft.com/office/drawing/2014/main" id="{D9A55828-AA74-CBA4-45C7-70A0A1FC747D}"/>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55"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406095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Plu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DD1ED0-F259-D990-98DE-E834C142D27D}"/>
              </a:ext>
            </a:extLst>
          </p:cNvPr>
          <p:cNvPicPr>
            <a:picLocks noChangeAspect="1"/>
          </p:cNvPicPr>
          <p:nvPr userDrawn="1"/>
        </p:nvPicPr>
        <p:blipFill>
          <a:blip r:embed="rId2"/>
          <a:srcRect l="3" r="3"/>
          <a:stretch/>
        </p:blipFill>
        <p:spPr>
          <a:xfrm>
            <a:off x="879" y="0"/>
            <a:ext cx="12187312" cy="6858495"/>
          </a:xfrm>
          <a:prstGeom prst="rect">
            <a:avLst/>
          </a:prstGeom>
        </p:spPr>
      </p:pic>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bg2">
                    <a:lumMod val="25000"/>
                  </a:schemeClr>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bg2">
                    <a:lumMod val="25000"/>
                  </a:schemeClr>
                </a:solidFill>
              </a:defRPr>
            </a:lvl1pPr>
          </a:lstStyle>
          <a:p>
            <a:pPr lvl="0"/>
            <a:r>
              <a:rPr lang="en-US" dirty="0"/>
              <a:t>Role / Division at VMware</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bg2">
                    <a:lumMod val="25000"/>
                  </a:schemeClr>
                </a:solidFill>
              </a:defRPr>
            </a:lvl1pPr>
          </a:lstStyle>
          <a:p>
            <a:pPr lvl="0"/>
            <a:r>
              <a:rPr lang="en-US" dirty="0"/>
              <a:t>Date</a:t>
            </a:r>
          </a:p>
        </p:txBody>
      </p:sp>
      <p:sp>
        <p:nvSpPr>
          <p:cNvPr id="6" name="TextBox 5">
            <a:extLst>
              <a:ext uri="{FF2B5EF4-FFF2-40B4-BE49-F238E27FC236}">
                <a16:creationId xmlns:a16="http://schemas.microsoft.com/office/drawing/2014/main" id="{637374D7-31CF-09EC-1E50-C790A2982A03}"/>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7" name="TextBox 6">
            <a:extLst>
              <a:ext uri="{FF2B5EF4-FFF2-40B4-BE49-F238E27FC236}">
                <a16:creationId xmlns:a16="http://schemas.microsoft.com/office/drawing/2014/main" id="{925D27B8-C502-D24A-3610-CE98C41942CF}"/>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1"/>
                </a:solidFill>
              </a:defRPr>
            </a:lvl1pPr>
          </a:lstStyle>
          <a:p>
            <a:r>
              <a:rPr lang="en-US" dirty="0"/>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Tree>
    <p:extLst>
      <p:ext uri="{BB962C8B-B14F-4D97-AF65-F5344CB8AC3E}">
        <p14:creationId xmlns:p14="http://schemas.microsoft.com/office/powerpoint/2010/main" val="2458864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Aqu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3EB0B5-B2A6-95B2-868B-ED25E08E48B7}"/>
              </a:ext>
            </a:extLst>
          </p:cNvPr>
          <p:cNvPicPr>
            <a:picLocks noChangeAspect="1"/>
          </p:cNvPicPr>
          <p:nvPr userDrawn="1"/>
        </p:nvPicPr>
        <p:blipFill>
          <a:blip r:embed="rId2"/>
          <a:srcRect l="3" r="3"/>
          <a:stretch/>
        </p:blipFill>
        <p:spPr>
          <a:xfrm>
            <a:off x="879" y="0"/>
            <a:ext cx="12187312" cy="6858495"/>
          </a:xfrm>
          <a:prstGeom prst="rect">
            <a:avLst/>
          </a:prstGeom>
        </p:spPr>
      </p:pic>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bg2">
                    <a:lumMod val="25000"/>
                  </a:schemeClr>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bg2">
                    <a:lumMod val="25000"/>
                  </a:schemeClr>
                </a:solidFill>
              </a:defRPr>
            </a:lvl1pPr>
          </a:lstStyle>
          <a:p>
            <a:pPr lvl="0"/>
            <a:r>
              <a:rPr lang="en-US" dirty="0"/>
              <a:t>Role / Division at VMware</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bg2">
                    <a:lumMod val="25000"/>
                  </a:schemeClr>
                </a:solidFill>
              </a:defRPr>
            </a:lvl1pPr>
          </a:lstStyle>
          <a:p>
            <a:pPr lvl="0"/>
            <a:r>
              <a:rPr lang="en-US" dirty="0"/>
              <a:t>Date</a:t>
            </a:r>
          </a:p>
        </p:txBody>
      </p:sp>
      <p:sp>
        <p:nvSpPr>
          <p:cNvPr id="6" name="TextBox 5">
            <a:extLst>
              <a:ext uri="{FF2B5EF4-FFF2-40B4-BE49-F238E27FC236}">
                <a16:creationId xmlns:a16="http://schemas.microsoft.com/office/drawing/2014/main" id="{C55FCA4A-3F9C-7DAB-9369-0176B268F0A9}"/>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7" name="TextBox 6">
            <a:extLst>
              <a:ext uri="{FF2B5EF4-FFF2-40B4-BE49-F238E27FC236}">
                <a16:creationId xmlns:a16="http://schemas.microsoft.com/office/drawing/2014/main" id="{AECAC63A-E3D8-A8A4-C8D7-BDB9E6B0021F}"/>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8"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1"/>
                </a:solidFill>
              </a:defRPr>
            </a:lvl1pPr>
          </a:lstStyle>
          <a:p>
            <a:r>
              <a:rPr lang="en-US" dirty="0"/>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Tree>
    <p:extLst>
      <p:ext uri="{BB962C8B-B14F-4D97-AF65-F5344CB8AC3E}">
        <p14:creationId xmlns:p14="http://schemas.microsoft.com/office/powerpoint/2010/main" val="2065303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Click to edit text">
            <a:extLst>
              <a:ext uri="{FF2B5EF4-FFF2-40B4-BE49-F238E27FC236}">
                <a16:creationId xmlns:a16="http://schemas.microsoft.com/office/drawing/2014/main" id="{B29EB907-51A5-4D60-B03A-85DECB7627F9}"/>
              </a:ext>
            </a:extLst>
          </p:cNvPr>
          <p:cNvSpPr>
            <a:spLocks noGrp="1"/>
          </p:cNvSpPr>
          <p:nvPr>
            <p:ph type="body" sz="quarter" idx="23" hasCustomPrompt="1"/>
          </p:nvPr>
        </p:nvSpPr>
        <p:spPr>
          <a:xfrm>
            <a:off x="2894013" y="1359907"/>
            <a:ext cx="7315200" cy="4322783"/>
          </a:xfrm>
        </p:spPr>
        <p:txBody>
          <a:bodyPr anchor="t"/>
          <a:lstStyle>
            <a:lvl1pPr marL="0" indent="0">
              <a:spcBef>
                <a:spcPts val="1800"/>
              </a:spcBef>
              <a:buClr>
                <a:schemeClr val="accent2"/>
              </a:buClr>
              <a:buFont typeface="Open Sans" panose="020B0606030504020204" pitchFamily="34" charset="0"/>
              <a:buChar char="​"/>
              <a:defRPr>
                <a:solidFill>
                  <a:schemeClr val="bg2">
                    <a:lumMod val="25000"/>
                  </a:schemeClr>
                </a:solidFill>
              </a:defRPr>
            </a:lvl1pPr>
            <a:lvl2pPr marL="0" indent="0">
              <a:spcBef>
                <a:spcPts val="600"/>
              </a:spcBef>
              <a:buFont typeface="Open Sans" panose="020B0606030504020204" pitchFamily="34" charset="0"/>
              <a:buChar char="​"/>
              <a:defRPr/>
            </a:lvl2pPr>
            <a:lvl3pPr marL="342900" indent="0">
              <a:buFont typeface="Open Sans" panose="020B0606030504020204" pitchFamily="34" charset="0"/>
              <a:buNone/>
              <a:defRPr sz="1800"/>
            </a:lvl3pPr>
            <a:lvl4pPr marL="342900" indent="0">
              <a:buFont typeface="Open Sans" panose="020B0606030504020204" pitchFamily="34" charset="0"/>
              <a:buChar char="​"/>
              <a:tabLst/>
              <a:defRPr sz="1800">
                <a:solidFill>
                  <a:schemeClr val="tx2"/>
                </a:solidFill>
              </a:defRPr>
            </a:lvl4pPr>
            <a:lvl5pPr marL="342900" indent="0">
              <a:buFont typeface="Open Sans" panose="020B0606030504020204" pitchFamily="34" charset="0"/>
              <a:buChar char="​"/>
              <a:tabLst/>
              <a:defRPr sz="1800">
                <a:solidFill>
                  <a:schemeClr val="tx2"/>
                </a:solidFill>
              </a:defRPr>
            </a:lvl5pPr>
            <a:lvl6pPr marL="342900" indent="0">
              <a:buFont typeface="Open Sans" panose="020B0606030504020204" pitchFamily="34" charset="0"/>
              <a:buChar char="​"/>
              <a:defRPr sz="1800">
                <a:solidFill>
                  <a:schemeClr val="tx2"/>
                </a:solidFill>
              </a:defRPr>
            </a:lvl6pPr>
            <a:lvl7pPr marL="342900" indent="0">
              <a:buFont typeface="Open Sans" panose="020B0606030504020204" pitchFamily="34" charset="0"/>
              <a:buChar char="​"/>
              <a:defRPr sz="1800">
                <a:solidFill>
                  <a:schemeClr val="tx2"/>
                </a:solidFill>
              </a:defRPr>
            </a:lvl7pPr>
            <a:lvl8pPr marL="342900" indent="0">
              <a:buFont typeface="Open Sans" panose="020B0606030504020204" pitchFamily="34" charset="0"/>
              <a:buChar char="​"/>
              <a:defRPr sz="1800">
                <a:solidFill>
                  <a:schemeClr val="tx2"/>
                </a:solidFill>
              </a:defRPr>
            </a:lvl8pPr>
            <a:lvl9pPr marL="342900" indent="0">
              <a:buFont typeface="Open Sans" panose="020B0606030504020204" pitchFamily="34" charset="0"/>
              <a:buChar char="​"/>
              <a:defRPr sz="1800">
                <a:solidFill>
                  <a:schemeClr val="tx2"/>
                </a:solidFill>
              </a:defRPr>
            </a:lvl9pPr>
          </a:lstStyle>
          <a:p>
            <a:pPr lvl="0"/>
            <a:r>
              <a:rPr lang="en-US" dirty="0"/>
              <a:t>Edit text</a:t>
            </a:r>
          </a:p>
        </p:txBody>
      </p:sp>
      <p:sp>
        <p:nvSpPr>
          <p:cNvPr id="730"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EFAB009F-8C77-4345-BB40-5C6D1F329C80}"/>
              </a:ext>
            </a:extLst>
          </p:cNvPr>
          <p:cNvSpPr txBox="1"/>
          <p:nvPr userDrawn="1"/>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dirty="0">
                <a:solidFill>
                  <a:schemeClr val="accent1"/>
                </a:solidFill>
              </a:rPr>
              <a:t>Agenda</a:t>
            </a:r>
          </a:p>
        </p:txBody>
      </p:sp>
    </p:spTree>
    <p:extLst>
      <p:ext uri="{BB962C8B-B14F-4D97-AF65-F5344CB8AC3E}">
        <p14:creationId xmlns:p14="http://schemas.microsoft.com/office/powerpoint/2010/main" val="2328419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 Leaf">
    <p:spTree>
      <p:nvGrpSpPr>
        <p:cNvPr id="1" name=""/>
        <p:cNvGrpSpPr/>
        <p:nvPr/>
      </p:nvGrpSpPr>
      <p:grpSpPr>
        <a:xfrm>
          <a:off x="0" y="0"/>
          <a:ext cx="0" cy="0"/>
          <a:chOff x="0" y="0"/>
          <a:chExt cx="0" cy="0"/>
        </a:xfrm>
      </p:grpSpPr>
      <p:pic>
        <p:nvPicPr>
          <p:cNvPr id="5" name="Picture 4" descr="A green and blue arrow&#10;&#10;Description automatically generated">
            <a:extLst>
              <a:ext uri="{FF2B5EF4-FFF2-40B4-BE49-F238E27FC236}">
                <a16:creationId xmlns:a16="http://schemas.microsoft.com/office/drawing/2014/main" id="{F2CCAA17-F653-EBAB-FA83-415B02C3DF22}"/>
              </a:ext>
            </a:extLst>
          </p:cNvPr>
          <p:cNvPicPr>
            <a:picLocks noChangeAspect="1"/>
          </p:cNvPicPr>
          <p:nvPr userDrawn="1"/>
        </p:nvPicPr>
        <p:blipFill rotWithShape="1">
          <a:blip r:embed="rId2"/>
          <a:srcRect b="11162"/>
          <a:stretch/>
        </p:blipFill>
        <p:spPr>
          <a:xfrm>
            <a:off x="0" y="-495"/>
            <a:ext cx="12187946" cy="6092951"/>
          </a:xfrm>
          <a:prstGeom prst="rect">
            <a:avLst/>
          </a:prstGeom>
        </p:spPr>
      </p:pic>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1"/>
                </a:solidFill>
              </a:defRPr>
            </a:lvl1pPr>
          </a:lstStyle>
          <a:p>
            <a:r>
              <a:rPr lang="en-US" dirty="0"/>
              <a:t>Section Title Option 1</a:t>
            </a:r>
            <a:br>
              <a:rPr lang="en-US" dirty="0"/>
            </a:br>
            <a:r>
              <a:rPr lang="en-US" dirty="0"/>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4"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76128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 Plum">
    <p:spTree>
      <p:nvGrpSpPr>
        <p:cNvPr id="1" name=""/>
        <p:cNvGrpSpPr/>
        <p:nvPr/>
      </p:nvGrpSpPr>
      <p:grpSpPr>
        <a:xfrm>
          <a:off x="0" y="0"/>
          <a:ext cx="0" cy="0"/>
          <a:chOff x="0" y="0"/>
          <a:chExt cx="0" cy="0"/>
        </a:xfrm>
      </p:grpSpPr>
      <p:pic>
        <p:nvPicPr>
          <p:cNvPr id="3" name="Picture 2" descr="A blue and purple triangle&#10;&#10;Description automatically generated">
            <a:extLst>
              <a:ext uri="{FF2B5EF4-FFF2-40B4-BE49-F238E27FC236}">
                <a16:creationId xmlns:a16="http://schemas.microsoft.com/office/drawing/2014/main" id="{11182B8D-481E-5FAB-C747-EB3C91ECDF51}"/>
              </a:ext>
            </a:extLst>
          </p:cNvPr>
          <p:cNvPicPr>
            <a:picLocks noChangeAspect="1"/>
          </p:cNvPicPr>
          <p:nvPr userDrawn="1"/>
        </p:nvPicPr>
        <p:blipFill rotWithShape="1">
          <a:blip r:embed="rId2"/>
          <a:srcRect b="11170"/>
          <a:stretch/>
        </p:blipFill>
        <p:spPr>
          <a:xfrm>
            <a:off x="879" y="1"/>
            <a:ext cx="12187946" cy="6092456"/>
          </a:xfrm>
          <a:prstGeom prst="rect">
            <a:avLst/>
          </a:prstGeom>
        </p:spPr>
      </p:pic>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1"/>
                </a:solidFill>
              </a:defRPr>
            </a:lvl1pPr>
          </a:lstStyle>
          <a:p>
            <a:r>
              <a:rPr lang="en-US" dirty="0"/>
              <a:t>Section Title Option 2 </a:t>
            </a:r>
            <a:br>
              <a:rPr lang="en-US" dirty="0"/>
            </a:br>
            <a:r>
              <a:rPr lang="en-US" dirty="0"/>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5"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83148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 Aqua">
    <p:spTree>
      <p:nvGrpSpPr>
        <p:cNvPr id="1" name=""/>
        <p:cNvGrpSpPr/>
        <p:nvPr/>
      </p:nvGrpSpPr>
      <p:grpSpPr>
        <a:xfrm>
          <a:off x="0" y="0"/>
          <a:ext cx="0" cy="0"/>
          <a:chOff x="0" y="0"/>
          <a:chExt cx="0" cy="0"/>
        </a:xfrm>
      </p:grpSpPr>
      <p:pic>
        <p:nvPicPr>
          <p:cNvPr id="3" name="Picture 2" descr="A blue and white triangle&#10;&#10;Description automatically generated">
            <a:extLst>
              <a:ext uri="{FF2B5EF4-FFF2-40B4-BE49-F238E27FC236}">
                <a16:creationId xmlns:a16="http://schemas.microsoft.com/office/drawing/2014/main" id="{1851FFCF-C0D0-C215-743B-B4160C1C93A5}"/>
              </a:ext>
            </a:extLst>
          </p:cNvPr>
          <p:cNvPicPr>
            <a:picLocks noChangeAspect="1"/>
          </p:cNvPicPr>
          <p:nvPr userDrawn="1"/>
        </p:nvPicPr>
        <p:blipFill rotWithShape="1">
          <a:blip r:embed="rId2"/>
          <a:srcRect b="11170"/>
          <a:stretch/>
        </p:blipFill>
        <p:spPr>
          <a:xfrm>
            <a:off x="879" y="1"/>
            <a:ext cx="12187946" cy="6092456"/>
          </a:xfrm>
          <a:prstGeom prst="rect">
            <a:avLst/>
          </a:prstGeom>
        </p:spPr>
      </p:pic>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1"/>
                </a:solidFill>
              </a:defRPr>
            </a:lvl1pPr>
          </a:lstStyle>
          <a:p>
            <a:r>
              <a:rPr lang="en-US" dirty="0"/>
              <a:t>Section Title Option 3</a:t>
            </a:r>
            <a:br>
              <a:rPr lang="en-US" dirty="0"/>
            </a:br>
            <a:r>
              <a:rPr lang="en-US" dirty="0"/>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5"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580554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Quote – Leaf">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1822C6-83CF-4F3D-E1D8-C25AE43B9C04}"/>
              </a:ext>
            </a:extLst>
          </p:cNvPr>
          <p:cNvPicPr>
            <a:picLocks noChangeAspect="1"/>
          </p:cNvPicPr>
          <p:nvPr userDrawn="1"/>
        </p:nvPicPr>
        <p:blipFill>
          <a:blip r:embed="rId2"/>
          <a:srcRect l="3" r="3"/>
          <a:stretch/>
        </p:blipFill>
        <p:spPr>
          <a:xfrm>
            <a:off x="879" y="0"/>
            <a:ext cx="12187312" cy="6858495"/>
          </a:xfrm>
          <a:prstGeom prst="rect">
            <a:avLst/>
          </a:prstGeom>
        </p:spPr>
      </p:pic>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Metropolis" panose="00000500000000000000" pitchFamily="2" charset="0"/>
              <a:buChar char="“"/>
              <a:defRPr sz="2800">
                <a:solidFill>
                  <a:schemeClr val="accent1"/>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bg2">
                    <a:lumMod val="25000"/>
                  </a:schemeClr>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TextBox 4">
            <a:extLst>
              <a:ext uri="{FF2B5EF4-FFF2-40B4-BE49-F238E27FC236}">
                <a16:creationId xmlns:a16="http://schemas.microsoft.com/office/drawing/2014/main" id="{91B2B909-6AFC-67F8-A43A-0F91CF8F226A}"/>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6" name="TextBox 5">
            <a:extLst>
              <a:ext uri="{FF2B5EF4-FFF2-40B4-BE49-F238E27FC236}">
                <a16:creationId xmlns:a16="http://schemas.microsoft.com/office/drawing/2014/main" id="{B877F5C2-7597-7700-E156-8857900FCFC6}"/>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7" name="Graphic 8">
            <a:extLst>
              <a:ext uri="{FF2B5EF4-FFF2-40B4-BE49-F238E27FC236}">
                <a16:creationId xmlns:a16="http://schemas.microsoft.com/office/drawing/2014/main" id="{47818FA4-8AE2-A4B0-1EE8-9FE4A6BDD41B}"/>
              </a:ext>
            </a:extLst>
          </p:cNvPr>
          <p:cNvGrpSpPr/>
          <p:nvPr userDrawn="1"/>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160765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Quote – Plum">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357842E3-E5C7-7B4F-DC6A-816AB579D2E6}"/>
              </a:ext>
            </a:extLst>
          </p:cNvPr>
          <p:cNvPicPr>
            <a:picLocks noChangeAspect="1"/>
          </p:cNvPicPr>
          <p:nvPr userDrawn="1"/>
        </p:nvPicPr>
        <p:blipFill>
          <a:blip r:embed="rId2"/>
          <a:srcRect l="3" r="3"/>
          <a:stretch/>
        </p:blipFill>
        <p:spPr>
          <a:xfrm>
            <a:off x="879" y="0"/>
            <a:ext cx="12187312" cy="6858495"/>
          </a:xfrm>
          <a:prstGeom prst="rect">
            <a:avLst/>
          </a:prstGeom>
        </p:spPr>
      </p:pic>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1"/>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bg2">
                    <a:lumMod val="25000"/>
                  </a:schemeClr>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TextBox 2">
            <a:extLst>
              <a:ext uri="{FF2B5EF4-FFF2-40B4-BE49-F238E27FC236}">
                <a16:creationId xmlns:a16="http://schemas.microsoft.com/office/drawing/2014/main" id="{59598E93-E03B-70E2-BB59-475BA07A754E}"/>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675C1E07-8402-D44B-5136-098C215A914E}"/>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B4758132-41E7-3AF2-6888-E57AAB57C2D4}"/>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596727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Quote – Aqua">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89C585F7-54EA-73DC-A9E7-E6EDC04697A8}"/>
              </a:ext>
            </a:extLst>
          </p:cNvPr>
          <p:cNvPicPr>
            <a:picLocks noChangeAspect="1"/>
          </p:cNvPicPr>
          <p:nvPr userDrawn="1"/>
        </p:nvPicPr>
        <p:blipFill>
          <a:blip r:embed="rId2"/>
          <a:srcRect l="3" r="3"/>
          <a:stretch/>
        </p:blipFill>
        <p:spPr>
          <a:xfrm>
            <a:off x="879" y="0"/>
            <a:ext cx="12187312" cy="6858495"/>
          </a:xfrm>
          <a:prstGeom prst="rect">
            <a:avLst/>
          </a:prstGeom>
        </p:spPr>
      </p:pic>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1"/>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bg2">
                    <a:lumMod val="25000"/>
                  </a:schemeClr>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TextBox 2">
            <a:extLst>
              <a:ext uri="{FF2B5EF4-FFF2-40B4-BE49-F238E27FC236}">
                <a16:creationId xmlns:a16="http://schemas.microsoft.com/office/drawing/2014/main" id="{B42BA5B6-138A-D661-2D48-C6B1A42AC4ED}"/>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79538799-F081-D113-D0D1-5470EAF4336E}"/>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C621A2F7-988C-ED6D-1AAA-CEAF06253999}"/>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9125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1"/>
                </a:solidFill>
              </a:defRPr>
            </a:lvl1pPr>
          </a:lstStyle>
          <a:p>
            <a:r>
              <a:rPr lang="en-US" dirty="0"/>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1200"/>
              </a:spcBef>
              <a:defRPr>
                <a:solidFill>
                  <a:schemeClr val="bg2">
                    <a:lumMod val="25000"/>
                  </a:schemeClr>
                </a:solidFill>
              </a:defRPr>
            </a:lvl1pPr>
            <a:lvl2pPr>
              <a:spcBef>
                <a:spcPts val="1200"/>
              </a:spcBef>
              <a:defRPr>
                <a:solidFill>
                  <a:schemeClr val="bg2">
                    <a:lumMod val="25000"/>
                  </a:schemeClr>
                </a:solidFill>
              </a:defRPr>
            </a:lvl2pPr>
            <a:lvl3pPr>
              <a:spcBef>
                <a:spcPts val="1200"/>
              </a:spcBef>
              <a:defRPr>
                <a:solidFill>
                  <a:schemeClr val="bg2">
                    <a:lumMod val="25000"/>
                  </a:schemeClr>
                </a:solidFill>
              </a:defRPr>
            </a:lvl3pPr>
            <a:lvl4pPr>
              <a:spcBef>
                <a:spcPts val="1200"/>
              </a:spcBef>
              <a:defRPr>
                <a:solidFill>
                  <a:schemeClr val="bg2">
                    <a:lumMod val="25000"/>
                  </a:schemeClr>
                </a:solidFill>
              </a:defRPr>
            </a:lvl4pPr>
            <a:lvl5pPr>
              <a:spcBef>
                <a:spcPts val="1200"/>
              </a:spcBef>
              <a:defRPr>
                <a:solidFill>
                  <a:schemeClr val="bg2">
                    <a:lumMod val="25000"/>
                  </a:schemeClr>
                </a:solidFill>
              </a:defRPr>
            </a:lvl5pPr>
            <a:lvl6pPr>
              <a:defRPr/>
            </a:lvl6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492019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1"/>
                </a:solidFill>
              </a:defRPr>
            </a:lvl1pPr>
          </a:lstStyle>
          <a:p>
            <a:r>
              <a:rPr lang="en-US" dirty="0"/>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11885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1"/>
                </a:solidFill>
              </a:defRPr>
            </a:lvl1pPr>
          </a:lstStyle>
          <a:p>
            <a:r>
              <a:rPr lang="en-US" dirty="0"/>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579809" y="1600200"/>
            <a:ext cx="5313783" cy="4572000"/>
          </a:xfrm>
        </p:spPr>
        <p:txBody>
          <a:bodyPr vert="horz" lIns="0" tIns="0" rIns="0" bIns="0" rtlCol="0">
            <a:noAutofit/>
          </a:bodyPr>
          <a:lstStyle>
            <a:lvl1pPr>
              <a:defRPr lang="en-US" sz="1800" dirty="0">
                <a:solidFill>
                  <a:schemeClr val="bg2">
                    <a:lumMod val="25000"/>
                  </a:schemeClr>
                </a:solidFill>
              </a:defRPr>
            </a:lvl1pPr>
            <a:lvl2pPr>
              <a:defRPr lang="en-US" sz="1600" dirty="0">
                <a:solidFill>
                  <a:schemeClr val="bg2">
                    <a:lumMod val="25000"/>
                  </a:schemeClr>
                </a:solidFill>
              </a:defRPr>
            </a:lvl2pPr>
            <a:lvl3pPr>
              <a:defRPr lang="en-US" sz="1400" dirty="0">
                <a:solidFill>
                  <a:schemeClr val="bg2">
                    <a:lumMod val="25000"/>
                  </a:schemeClr>
                </a:solidFill>
              </a:defRPr>
            </a:lvl3pPr>
            <a:lvl4pPr>
              <a:defRPr lang="en-US" sz="1200" dirty="0">
                <a:solidFill>
                  <a:schemeClr val="bg2">
                    <a:lumMod val="25000"/>
                  </a:schemeClr>
                </a:solidFill>
              </a:defRPr>
            </a:lvl4pPr>
            <a:lvl5pPr>
              <a:defRPr lang="en-US" sz="1200" dirty="0">
                <a:solidFill>
                  <a:schemeClr val="bg2">
                    <a:lumMod val="25000"/>
                  </a:schemeClr>
                </a:solidFill>
              </a:defRPr>
            </a:lvl5pPr>
            <a:lvl6pPr>
              <a:defRPr lang="en-US" sz="1200" dirty="0">
                <a:solidFill>
                  <a:schemeClr val="bg2">
                    <a:lumMod val="25000"/>
                  </a:schemeClr>
                </a:solidFill>
              </a:defRPr>
            </a:lvl6pPr>
            <a:lvl7pPr>
              <a:defRPr lang="en-US" sz="1200" dirty="0">
                <a:solidFill>
                  <a:schemeClr val="bg2">
                    <a:lumMod val="25000"/>
                  </a:schemeClr>
                </a:solidFill>
              </a:defRPr>
            </a:lvl7pPr>
            <a:lvl8pPr>
              <a:defRPr lang="en-US" sz="1200" dirty="0">
                <a:solidFill>
                  <a:schemeClr val="bg2">
                    <a:lumMod val="25000"/>
                  </a:schemeClr>
                </a:solidFill>
              </a:defRPr>
            </a:lvl8pPr>
            <a:lvl9pPr>
              <a:defRPr lang="en-US" sz="1200" dirty="0">
                <a:solidFill>
                  <a:schemeClr val="bg2">
                    <a:lumMod val="25000"/>
                  </a:schemeClr>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867538" cy="4572000"/>
          </a:xfrm>
        </p:spPr>
        <p:txBody>
          <a:bodyPr vert="horz" lIns="0" tIns="0" rIns="457200" bIns="0" rtlCol="0">
            <a:noAutofit/>
          </a:bodyPr>
          <a:lstStyle>
            <a:lvl1pPr>
              <a:defRPr lang="en-US" sz="1800" dirty="0">
                <a:solidFill>
                  <a:schemeClr val="bg2">
                    <a:lumMod val="25000"/>
                  </a:schemeClr>
                </a:solidFill>
              </a:defRPr>
            </a:lvl1pPr>
            <a:lvl2pPr>
              <a:defRPr lang="en-US" sz="1600" dirty="0">
                <a:solidFill>
                  <a:schemeClr val="bg2">
                    <a:lumMod val="25000"/>
                  </a:schemeClr>
                </a:solidFill>
              </a:defRPr>
            </a:lvl2pPr>
            <a:lvl3pPr>
              <a:defRPr lang="en-US" sz="1400" dirty="0">
                <a:solidFill>
                  <a:schemeClr val="bg2">
                    <a:lumMod val="25000"/>
                  </a:schemeClr>
                </a:solidFill>
              </a:defRPr>
            </a:lvl3pPr>
            <a:lvl4pPr>
              <a:defRPr lang="en-US" sz="1200" dirty="0">
                <a:solidFill>
                  <a:schemeClr val="bg2">
                    <a:lumMod val="25000"/>
                  </a:schemeClr>
                </a:solidFill>
              </a:defRPr>
            </a:lvl4pPr>
            <a:lvl5pPr>
              <a:defRPr lang="en-US" sz="1200" dirty="0">
                <a:solidFill>
                  <a:schemeClr val="bg2">
                    <a:lumMod val="25000"/>
                  </a:schemeClr>
                </a:solidFill>
              </a:defRPr>
            </a:lvl5pPr>
            <a:lvl6pPr>
              <a:defRPr lang="en-US" sz="1200" dirty="0">
                <a:solidFill>
                  <a:schemeClr val="bg2">
                    <a:lumMod val="25000"/>
                  </a:schemeClr>
                </a:solidFill>
              </a:defRPr>
            </a:lvl6pPr>
            <a:lvl7pPr>
              <a:defRPr lang="en-US" sz="1200" dirty="0">
                <a:solidFill>
                  <a:schemeClr val="bg2">
                    <a:lumMod val="25000"/>
                  </a:schemeClr>
                </a:solidFill>
              </a:defRPr>
            </a:lvl7pPr>
            <a:lvl8pPr>
              <a:defRPr lang="en-US" sz="1200" dirty="0">
                <a:solidFill>
                  <a:schemeClr val="bg2">
                    <a:lumMod val="25000"/>
                  </a:schemeClr>
                </a:solidFill>
              </a:defRPr>
            </a:lvl8pPr>
            <a:lvl9pPr>
              <a:defRPr lang="en-US" sz="1200" dirty="0">
                <a:solidFill>
                  <a:schemeClr val="bg2">
                    <a:lumMod val="25000"/>
                  </a:schemeClr>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7"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906509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bg2">
                    <a:lumMod val="25000"/>
                  </a:schemeClr>
                </a:solidFill>
              </a:defRPr>
            </a:lvl1pPr>
            <a:lvl2pPr>
              <a:defRPr lang="en-US" sz="1600" dirty="0">
                <a:solidFill>
                  <a:schemeClr val="bg2">
                    <a:lumMod val="25000"/>
                  </a:schemeClr>
                </a:solidFill>
              </a:defRPr>
            </a:lvl2pPr>
            <a:lvl3pPr>
              <a:defRPr lang="en-US" sz="1400" dirty="0">
                <a:solidFill>
                  <a:schemeClr val="bg2">
                    <a:lumMod val="25000"/>
                  </a:schemeClr>
                </a:solidFill>
              </a:defRPr>
            </a:lvl3pPr>
            <a:lvl4pPr>
              <a:defRPr lang="en-US" sz="1200" dirty="0">
                <a:solidFill>
                  <a:schemeClr val="bg2">
                    <a:lumMod val="25000"/>
                  </a:schemeClr>
                </a:solidFill>
              </a:defRPr>
            </a:lvl4pPr>
            <a:lvl5pPr>
              <a:defRPr lang="en-US" sz="1200" dirty="0">
                <a:solidFill>
                  <a:schemeClr val="bg2">
                    <a:lumMod val="25000"/>
                  </a:schemeClr>
                </a:solidFill>
              </a:defRPr>
            </a:lvl5pPr>
            <a:lvl6pPr>
              <a:defRPr>
                <a:solidFill>
                  <a:schemeClr val="bg2">
                    <a:lumMod val="25000"/>
                  </a:schemeClr>
                </a:solidFill>
              </a:defRPr>
            </a:lvl6pPr>
            <a:lvl7pPr>
              <a:defRPr>
                <a:solidFill>
                  <a:schemeClr val="bg2">
                    <a:lumMod val="25000"/>
                  </a:schemeClr>
                </a:solidFill>
              </a:defRPr>
            </a:lvl7pPr>
            <a:lvl8pPr>
              <a:defRPr>
                <a:solidFill>
                  <a:schemeClr val="bg2">
                    <a:lumMod val="25000"/>
                  </a:schemeClr>
                </a:solidFill>
              </a:defRPr>
            </a:lvl8pPr>
            <a:lvl9pPr>
              <a:defRPr>
                <a:solidFill>
                  <a:schemeClr val="bg2">
                    <a:lumMod val="25000"/>
                  </a:schemeClr>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p:nvPr>
        </p:nvSpPr>
        <p:spPr bwMode="ltGray">
          <a:xfrm>
            <a:off x="0" y="1600201"/>
            <a:ext cx="5893593" cy="4572000"/>
          </a:xfrm>
          <a:noFill/>
        </p:spPr>
        <p:txBody>
          <a:bodyPr vert="horz" lIns="594360" tIns="457200" rIns="457200" bIns="457200" rtlCol="0">
            <a:noAutofit/>
          </a:bodyPr>
          <a:lstStyle>
            <a:lvl1pPr>
              <a:spcBef>
                <a:spcPts val="1200"/>
              </a:spcBef>
              <a:defRPr lang="en-US" sz="1800" dirty="0">
                <a:solidFill>
                  <a:schemeClr val="bg2">
                    <a:lumMod val="25000"/>
                  </a:schemeClr>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edit Master text styles</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1"/>
                </a:solidFill>
              </a:defRPr>
            </a:lvl1pPr>
          </a:lstStyle>
          <a:p>
            <a:r>
              <a:rPr lang="en-US" dirty="0"/>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208435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1"/>
                </a:solidFill>
              </a:defRPr>
            </a:lvl1pPr>
          </a:lstStyle>
          <a:p>
            <a:r>
              <a:rPr lang="en-US" dirty="0"/>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Content Placeholder 17">
            <a:extLst>
              <a:ext uri="{FF2B5EF4-FFF2-40B4-BE49-F238E27FC236}">
                <a16:creationId xmlns:a16="http://schemas.microsoft.com/office/drawing/2014/main" id="{E4143250-D1B5-E54B-9FA1-AB95D634DBC6}"/>
              </a:ext>
            </a:extLst>
          </p:cNvPr>
          <p:cNvSpPr>
            <a:spLocks noGrp="1"/>
          </p:cNvSpPr>
          <p:nvPr>
            <p:ph sz="quarter" idx="16" hasCustomPrompt="1"/>
          </p:nvPr>
        </p:nvSpPr>
        <p:spPr bwMode="ltGray">
          <a:xfrm>
            <a:off x="0" y="1600201"/>
            <a:ext cx="5865445" cy="4572000"/>
          </a:xfrm>
          <a:solidFill>
            <a:srgbClr val="F4F8FA"/>
          </a:solidFill>
        </p:spPr>
        <p:txBody>
          <a:bodyPr vert="horz" lIns="457200" tIns="457200" rIns="457200" bIns="457200" rtlCol="0">
            <a:noAutofit/>
          </a:bodyPr>
          <a:lstStyle>
            <a:lvl1pPr>
              <a:defRPr lang="en-US" sz="1800" dirty="0">
                <a:solidFill>
                  <a:schemeClr val="bg2">
                    <a:lumMod val="25000"/>
                  </a:schemeClr>
                </a:solidFill>
              </a:defRPr>
            </a:lvl1pPr>
            <a:lvl2pPr>
              <a:defRPr lang="en-US" sz="1600" dirty="0">
                <a:solidFill>
                  <a:schemeClr val="bg2">
                    <a:lumMod val="25000"/>
                  </a:schemeClr>
                </a:solidFill>
              </a:defRPr>
            </a:lvl2pPr>
            <a:lvl3pPr>
              <a:defRPr lang="en-US" sz="1400" dirty="0">
                <a:solidFill>
                  <a:schemeClr val="bg2">
                    <a:lumMod val="25000"/>
                  </a:schemeClr>
                </a:solidFill>
              </a:defRPr>
            </a:lvl3pPr>
            <a:lvl4pPr>
              <a:defRPr lang="en-US" sz="1200" dirty="0">
                <a:solidFill>
                  <a:schemeClr val="bg2">
                    <a:lumMod val="25000"/>
                  </a:schemeClr>
                </a:solidFill>
              </a:defRPr>
            </a:lvl4pPr>
            <a:lvl5pPr>
              <a:defRPr lang="en-US" sz="1200" dirty="0">
                <a:solidFill>
                  <a:schemeClr val="bg2">
                    <a:lumMod val="25000"/>
                  </a:schemeClr>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p:nvPr>
        </p:nvSpPr>
        <p:spPr bwMode="ltGray">
          <a:xfrm>
            <a:off x="6295232" y="1600201"/>
            <a:ext cx="5893593" cy="4572000"/>
          </a:xfrm>
          <a:noFill/>
        </p:spPr>
        <p:txBody>
          <a:bodyPr vert="horz" lIns="594360" tIns="457200" rIns="457200" bIns="457200" rtlCol="0">
            <a:noAutofit/>
          </a:bodyPr>
          <a:lstStyle>
            <a:lvl1pPr>
              <a:spcBef>
                <a:spcPts val="1200"/>
              </a:spcBef>
              <a:defRPr lang="en-US" sz="1800" dirty="0">
                <a:solidFill>
                  <a:srgbClr val="F4F8FA"/>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edit Master text styles</a:t>
            </a:r>
          </a:p>
        </p:txBody>
      </p:sp>
      <p:sp>
        <p:nvSpPr>
          <p:cNvPr id="10"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0814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1"/>
                </a:solidFill>
              </a:defRPr>
            </a:lvl1pPr>
          </a:lstStyle>
          <a:p>
            <a:r>
              <a:rPr lang="en-US" dirty="0"/>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044347" cy="875370"/>
          </a:xfrm>
          <a:noFill/>
        </p:spPr>
        <p:txBody>
          <a:bodyPr vert="horz" lIns="0" tIns="91440" rIns="457200" bIns="91440" rtlCol="0" anchor="b">
            <a:noAutofit/>
          </a:bodyPr>
          <a:lstStyle>
            <a:lvl1pPr>
              <a:defRPr lang="en-US" dirty="0">
                <a:solidFill>
                  <a:schemeClr val="accent1"/>
                </a:solidFill>
              </a:defRPr>
            </a:lvl1pPr>
          </a:lstStyle>
          <a:p>
            <a:pPr lvl="0"/>
            <a:r>
              <a:rPr lang="en-US" dirty="0"/>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6" y="2484176"/>
            <a:ext cx="5044347"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79808" y="2621020"/>
            <a:ext cx="5071595" cy="3544027"/>
          </a:xfrm>
        </p:spPr>
        <p:txBody>
          <a:bodyPr vert="horz" lIns="0" tIns="0" rIns="0" bIns="0" rtlCol="0">
            <a:noAutofit/>
          </a:bodyPr>
          <a:lstStyle>
            <a:lvl1pPr>
              <a:defRPr lang="en-US" sz="1800" dirty="0">
                <a:solidFill>
                  <a:schemeClr val="bg2">
                    <a:lumMod val="25000"/>
                  </a:schemeClr>
                </a:solidFill>
              </a:defRPr>
            </a:lvl1pPr>
            <a:lvl2pPr>
              <a:defRPr lang="en-US" sz="1600" dirty="0">
                <a:solidFill>
                  <a:schemeClr val="bg2">
                    <a:lumMod val="25000"/>
                  </a:schemeClr>
                </a:solidFill>
              </a:defRPr>
            </a:lvl2pPr>
            <a:lvl3pPr>
              <a:defRPr lang="en-US" sz="1400" dirty="0">
                <a:solidFill>
                  <a:schemeClr val="bg2">
                    <a:lumMod val="25000"/>
                  </a:schemeClr>
                </a:solidFill>
              </a:defRPr>
            </a:lvl3pPr>
            <a:lvl4pPr>
              <a:defRPr lang="en-US" sz="1200" dirty="0">
                <a:solidFill>
                  <a:schemeClr val="bg2">
                    <a:lumMod val="25000"/>
                  </a:schemeClr>
                </a:solidFill>
              </a:defRPr>
            </a:lvl4pPr>
            <a:lvl5pPr>
              <a:defRPr lang="en-US" sz="1200" dirty="0">
                <a:solidFill>
                  <a:schemeClr val="bg2">
                    <a:lumMod val="25000"/>
                  </a:schemeClr>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556832" y="1600202"/>
            <a:ext cx="5372100" cy="875370"/>
          </a:xfrm>
          <a:noFill/>
        </p:spPr>
        <p:txBody>
          <a:bodyPr vert="horz" lIns="0" tIns="91440" rIns="457200" bIns="91440" rtlCol="0" anchor="b">
            <a:noAutofit/>
          </a:bodyPr>
          <a:lstStyle>
            <a:lvl1pPr>
              <a:defRPr lang="en-US" sz="2000">
                <a:solidFill>
                  <a:schemeClr val="accent1"/>
                </a:solidFill>
              </a:defRPr>
            </a:lvl1pPr>
          </a:lstStyle>
          <a:p>
            <a:pPr lvl="0"/>
            <a:r>
              <a:rPr lang="en-US" dirty="0"/>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551981" y="2484176"/>
            <a:ext cx="5044347" cy="45719"/>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556249" y="2621280"/>
            <a:ext cx="5372682" cy="3575124"/>
          </a:xfrm>
        </p:spPr>
        <p:txBody>
          <a:bodyPr vert="horz" lIns="0" tIns="0" rIns="0" bIns="0" rtlCol="0">
            <a:noAutofit/>
          </a:bodyPr>
          <a:lstStyle>
            <a:lvl1pPr>
              <a:defRPr lang="en-US" sz="1800" dirty="0">
                <a:solidFill>
                  <a:schemeClr val="bg2">
                    <a:lumMod val="25000"/>
                  </a:schemeClr>
                </a:solidFill>
              </a:defRPr>
            </a:lvl1pPr>
            <a:lvl2pPr>
              <a:defRPr lang="en-US" sz="1600" dirty="0">
                <a:solidFill>
                  <a:schemeClr val="bg2">
                    <a:lumMod val="25000"/>
                  </a:schemeClr>
                </a:solidFill>
              </a:defRPr>
            </a:lvl2pPr>
            <a:lvl3pPr>
              <a:defRPr lang="en-US" sz="1400" dirty="0">
                <a:solidFill>
                  <a:schemeClr val="bg2">
                    <a:lumMod val="25000"/>
                  </a:schemeClr>
                </a:solidFill>
              </a:defRPr>
            </a:lvl3pPr>
            <a:lvl4pPr>
              <a:defRPr lang="en-US" sz="1200" dirty="0">
                <a:solidFill>
                  <a:schemeClr val="bg2">
                    <a:lumMod val="25000"/>
                  </a:schemeClr>
                </a:solidFill>
              </a:defRPr>
            </a:lvl4pPr>
            <a:lvl5pPr>
              <a:defRPr lang="en-US" sz="1200" dirty="0">
                <a:solidFill>
                  <a:schemeClr val="bg2">
                    <a:lumMod val="25000"/>
                  </a:schemeClr>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043602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1"/>
                </a:solidFill>
              </a:defRPr>
            </a:lvl1pPr>
          </a:lstStyle>
          <a:p>
            <a:r>
              <a:rPr lang="en-US" dirty="0"/>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582754"/>
            <a:ext cx="3593592" cy="914400"/>
          </a:xfrm>
          <a:noFill/>
        </p:spPr>
        <p:txBody>
          <a:bodyPr lIns="0" tIns="91440" rIns="182880" bIns="91440" anchor="b"/>
          <a:lstStyle>
            <a:lvl1pPr>
              <a:defRPr sz="1800">
                <a:solidFill>
                  <a:schemeClr val="accent1"/>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0" name="Text Placeholder 15">
            <a:extLst>
              <a:ext uri="{FF2B5EF4-FFF2-40B4-BE49-F238E27FC236}">
                <a16:creationId xmlns:a16="http://schemas.microsoft.com/office/drawing/2014/main" id="{088F3A7B-ECB7-0E49-B754-464BE3E44868}"/>
              </a:ext>
            </a:extLst>
          </p:cNvPr>
          <p:cNvSpPr>
            <a:spLocks noGrp="1"/>
          </p:cNvSpPr>
          <p:nvPr>
            <p:ph type="body" sz="quarter" idx="27" hasCustomPrompt="1"/>
          </p:nvPr>
        </p:nvSpPr>
        <p:spPr>
          <a:xfrm>
            <a:off x="592866" y="2546329"/>
            <a:ext cx="3593592" cy="3619363"/>
          </a:xfrm>
          <a:noFill/>
          <a:ln>
            <a:noFill/>
          </a:ln>
        </p:spPr>
        <p:txBody>
          <a:bodyPr lIns="0" tIns="182880" rIns="182880" bIns="182880"/>
          <a:lstStyle>
            <a:lvl1pPr>
              <a:defRPr sz="1600">
                <a:solidFill>
                  <a:schemeClr val="bg2">
                    <a:lumMod val="25000"/>
                  </a:schemeClr>
                </a:solidFill>
              </a:defRPr>
            </a:lvl1pPr>
          </a:lstStyle>
          <a:p>
            <a:r>
              <a:rPr lang="en-US" dirty="0"/>
              <a:t>Click to add text</a:t>
            </a:r>
          </a:p>
          <a:p>
            <a:r>
              <a:rPr lang="en-US" dirty="0"/>
              <a:t>Click to add text</a:t>
            </a:r>
          </a:p>
          <a:p>
            <a:r>
              <a:rPr lang="en-US" dirty="0"/>
              <a:t>Click to add text</a:t>
            </a:r>
          </a:p>
          <a:p>
            <a:r>
              <a:rPr lang="en-US" dirty="0"/>
              <a:t>Click to add text</a:t>
            </a:r>
          </a:p>
          <a:p>
            <a:endParaRPr lang="en-US" dirty="0"/>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415154" y="1599646"/>
            <a:ext cx="3593592" cy="914400"/>
          </a:xfrm>
          <a:noFill/>
        </p:spPr>
        <p:txBody>
          <a:bodyPr lIns="0" tIns="91440" rIns="182880" bIns="91440" anchor="b"/>
          <a:lstStyle>
            <a:lvl1pPr>
              <a:defRPr sz="1800">
                <a:solidFill>
                  <a:schemeClr val="accent1"/>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header</a:t>
            </a:r>
          </a:p>
        </p:txBody>
      </p:sp>
      <p:sp>
        <p:nvSpPr>
          <p:cNvPr id="28" name="Rectangle 27">
            <a:extLst>
              <a:ext uri="{FF2B5EF4-FFF2-40B4-BE49-F238E27FC236}">
                <a16:creationId xmlns:a16="http://schemas.microsoft.com/office/drawing/2014/main" id="{53DE0F89-6066-984A-B5C6-BC57894C3396}"/>
              </a:ext>
              <a:ext uri="{C183D7F6-B498-43B3-948B-1728B52AA6E4}">
                <adec:decorative xmlns:adec="http://schemas.microsoft.com/office/drawing/2017/decorative" val="1"/>
              </a:ext>
            </a:extLst>
          </p:cNvPr>
          <p:cNvSpPr/>
          <p:nvPr userDrawn="1"/>
        </p:nvSpPr>
        <p:spPr>
          <a:xfrm>
            <a:off x="4415154" y="2509480"/>
            <a:ext cx="3593592" cy="45719"/>
          </a:xfrm>
          <a:prstGeom prst="rect">
            <a:avLst/>
          </a:prstGeom>
          <a:gradFill>
            <a:gsLst>
              <a:gs pos="99000">
                <a:schemeClr val="accent1"/>
              </a:gs>
              <a:gs pos="23000">
                <a:schemeClr val="accent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Text Placeholder 13">
            <a:extLst>
              <a:ext uri="{FF2B5EF4-FFF2-40B4-BE49-F238E27FC236}">
                <a16:creationId xmlns:a16="http://schemas.microsoft.com/office/drawing/2014/main" id="{44EE5778-B7AD-374C-B107-63971E570839}"/>
              </a:ext>
            </a:extLst>
          </p:cNvPr>
          <p:cNvSpPr>
            <a:spLocks noGrp="1"/>
          </p:cNvSpPr>
          <p:nvPr>
            <p:ph type="body" sz="quarter" idx="25" hasCustomPrompt="1"/>
          </p:nvPr>
        </p:nvSpPr>
        <p:spPr>
          <a:xfrm>
            <a:off x="4415154" y="2546329"/>
            <a:ext cx="3593592" cy="3627562"/>
          </a:xfrm>
          <a:noFill/>
          <a:ln>
            <a:noFill/>
          </a:ln>
        </p:spPr>
        <p:txBody>
          <a:bodyPr lIns="0" tIns="182880" rIns="182880" bIns="182880"/>
          <a:lstStyle>
            <a:lvl1pPr>
              <a:defRPr sz="1600">
                <a:solidFill>
                  <a:schemeClr val="bg2">
                    <a:lumMod val="25000"/>
                  </a:schemeClr>
                </a:solidFill>
              </a:defRPr>
            </a:lvl1pPr>
          </a:lstStyle>
          <a:p>
            <a:r>
              <a:rPr lang="en-US" dirty="0"/>
              <a:t>Click to add text</a:t>
            </a:r>
          </a:p>
          <a:p>
            <a:r>
              <a:rPr lang="en-US" dirty="0"/>
              <a:t>Click to add text</a:t>
            </a:r>
          </a:p>
          <a:p>
            <a:r>
              <a:rPr lang="en-US" dirty="0"/>
              <a:t>Click to add text</a:t>
            </a:r>
          </a:p>
          <a:p>
            <a:r>
              <a:rPr lang="en-US" dirty="0"/>
              <a:t>Click to add text</a:t>
            </a:r>
          </a:p>
          <a:p>
            <a:endParaRPr lang="en-US" dirty="0"/>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237442" y="1600200"/>
            <a:ext cx="3593592" cy="914400"/>
          </a:xfrm>
          <a:noFill/>
        </p:spPr>
        <p:txBody>
          <a:bodyPr lIns="0" tIns="91440" rIns="182880" bIns="91440" anchor="b"/>
          <a:lstStyle>
            <a:lvl1pPr>
              <a:defRPr sz="1800">
                <a:solidFill>
                  <a:schemeClr val="accent1"/>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237442" y="2509480"/>
            <a:ext cx="3593592" cy="50246"/>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2" name="Text Placeholder 12">
            <a:extLst>
              <a:ext uri="{FF2B5EF4-FFF2-40B4-BE49-F238E27FC236}">
                <a16:creationId xmlns:a16="http://schemas.microsoft.com/office/drawing/2014/main" id="{7C6F38D2-AD30-AE4E-B0AD-4BAFB463F8B5}"/>
              </a:ext>
            </a:extLst>
          </p:cNvPr>
          <p:cNvSpPr>
            <a:spLocks noGrp="1"/>
          </p:cNvSpPr>
          <p:nvPr>
            <p:ph type="body" sz="quarter" idx="24" hasCustomPrompt="1"/>
          </p:nvPr>
        </p:nvSpPr>
        <p:spPr>
          <a:xfrm>
            <a:off x="8237442" y="2568632"/>
            <a:ext cx="3593592" cy="3627773"/>
          </a:xfrm>
          <a:noFill/>
          <a:ln>
            <a:noFill/>
          </a:ln>
        </p:spPr>
        <p:txBody>
          <a:bodyPr lIns="0" tIns="182880" rIns="182880" bIns="182880"/>
          <a:lstStyle>
            <a:lvl1pPr>
              <a:defRPr sz="1600">
                <a:solidFill>
                  <a:schemeClr val="bg2">
                    <a:lumMod val="25000"/>
                  </a:schemeClr>
                </a:solidFill>
              </a:defRPr>
            </a:lvl1pPr>
          </a:lstStyle>
          <a:p>
            <a:r>
              <a:rPr lang="en-US" dirty="0"/>
              <a:t>Click to add text</a:t>
            </a:r>
          </a:p>
          <a:p>
            <a:r>
              <a:rPr lang="en-US" dirty="0"/>
              <a:t>Click to add text</a:t>
            </a:r>
          </a:p>
          <a:p>
            <a:r>
              <a:rPr lang="en-US" dirty="0"/>
              <a:t>Click to add text</a:t>
            </a:r>
          </a:p>
          <a:p>
            <a:r>
              <a:rPr lang="en-US" dirty="0"/>
              <a:t>Click to add text</a:t>
            </a:r>
          </a:p>
          <a:p>
            <a:endParaRPr lang="en-US" dirty="0"/>
          </a:p>
        </p:txBody>
      </p:sp>
      <p:sp>
        <p:nvSpPr>
          <p:cNvPr id="15"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410485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Dynamic –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1"/>
                </a:solidFill>
              </a:defRPr>
            </a:lvl1pPr>
          </a:lstStyle>
          <a:p>
            <a:r>
              <a:rPr lang="en-US" dirty="0"/>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89925"/>
            <a:ext cx="289401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44788"/>
            <a:ext cx="2894013" cy="4527411"/>
          </a:xfrm>
          <a:solidFill>
            <a:srgbClr val="F4F8FA"/>
          </a:solidFill>
        </p:spPr>
        <p:txBody>
          <a:bodyPr vert="horz" lIns="457200" tIns="457200" rIns="457200" bIns="457200" rtlCol="0">
            <a:noAutofit/>
          </a:bodyPr>
          <a:lstStyle>
            <a:lvl1pPr>
              <a:defRPr lang="en-US" sz="1800" dirty="0">
                <a:solidFill>
                  <a:schemeClr val="accent1"/>
                </a:solidFill>
              </a:defRPr>
            </a:lvl1pPr>
            <a:lvl2pPr>
              <a:defRPr lang="en-US" sz="1600" dirty="0" smtClean="0">
                <a:solidFill>
                  <a:schemeClr val="accent1"/>
                </a:solidFill>
              </a:defRPr>
            </a:lvl2pPr>
            <a:lvl3pPr>
              <a:defRPr lang="en-US" sz="1400" dirty="0" smtClean="0">
                <a:solidFill>
                  <a:schemeClr val="accent1"/>
                </a:solidFill>
              </a:defRPr>
            </a:lvl3pPr>
            <a:lvl4pPr>
              <a:defRPr lang="en-US" sz="1200" dirty="0" smtClean="0">
                <a:solidFill>
                  <a:schemeClr val="accent1"/>
                </a:solidFill>
              </a:defRPr>
            </a:lvl4pPr>
            <a:lvl5pPr>
              <a:defRPr lang="en-US" sz="1200" dirty="0">
                <a:solidFill>
                  <a:schemeClr val="accent1"/>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0200"/>
            <a:ext cx="8229600" cy="4572000"/>
          </a:xfrm>
        </p:spPr>
        <p:txBody>
          <a:bodyPr vert="horz" lIns="0" tIns="457200" rIns="0" bIns="0" rtlCol="0">
            <a:noAutofit/>
          </a:bodyPr>
          <a:lstStyle>
            <a:lvl1pPr>
              <a:defRPr lang="en-US" dirty="0" smtClean="0">
                <a:solidFill>
                  <a:schemeClr val="bg2">
                    <a:lumMod val="25000"/>
                  </a:schemeClr>
                </a:solidFill>
              </a:defRPr>
            </a:lvl1pPr>
            <a:lvl2pPr>
              <a:defRPr lang="en-US" dirty="0" smtClean="0">
                <a:solidFill>
                  <a:schemeClr val="bg2">
                    <a:lumMod val="25000"/>
                  </a:schemeClr>
                </a:solidFill>
              </a:defRPr>
            </a:lvl2pPr>
            <a:lvl3pPr>
              <a:defRPr lang="en-US" dirty="0" smtClean="0">
                <a:solidFill>
                  <a:schemeClr val="bg2">
                    <a:lumMod val="25000"/>
                  </a:schemeClr>
                </a:solidFill>
              </a:defRPr>
            </a:lvl3pPr>
            <a:lvl4pPr>
              <a:defRPr lang="en-US" dirty="0" smtClean="0">
                <a:solidFill>
                  <a:schemeClr val="bg2">
                    <a:lumMod val="25000"/>
                  </a:schemeClr>
                </a:solidFill>
              </a:defRPr>
            </a:lvl4pPr>
            <a:lvl5pPr>
              <a:defRPr lang="en-US" dirty="0" smtClean="0">
                <a:solidFill>
                  <a:schemeClr val="bg2">
                    <a:lumMod val="25000"/>
                  </a:schemeClr>
                </a:solidFill>
              </a:defRPr>
            </a:lvl5pPr>
            <a:lvl6pPr>
              <a:defRPr lang="en-US" dirty="0" smtClean="0">
                <a:solidFill>
                  <a:schemeClr val="bg2">
                    <a:lumMod val="25000"/>
                  </a:schemeClr>
                </a:solidFill>
              </a:defRPr>
            </a:lvl6pPr>
            <a:lvl7pPr>
              <a:defRPr lang="en-US" dirty="0" smtClean="0">
                <a:solidFill>
                  <a:schemeClr val="bg2">
                    <a:lumMod val="25000"/>
                  </a:schemeClr>
                </a:solidFill>
              </a:defRPr>
            </a:lvl7pPr>
            <a:lvl8pPr>
              <a:defRPr lang="en-US" dirty="0">
                <a:solidFill>
                  <a:schemeClr val="bg2">
                    <a:lumMod val="25000"/>
                  </a:schemeClr>
                </a:solidFill>
              </a:defRPr>
            </a:lvl8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Nineth level</a:t>
            </a:r>
          </a:p>
        </p:txBody>
      </p:sp>
      <p:sp>
        <p:nvSpPr>
          <p:cNvPr id="8"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51909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1"/>
                </a:solidFill>
              </a:defRPr>
            </a:lvl1pPr>
          </a:lstStyle>
          <a:p>
            <a:r>
              <a:rPr lang="en-US" dirty="0"/>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8" name="Content Placeholder 7">
            <a:extLst>
              <a:ext uri="{FF2B5EF4-FFF2-40B4-BE49-F238E27FC236}">
                <a16:creationId xmlns:a16="http://schemas.microsoft.com/office/drawing/2014/main" id="{7460DEEA-0331-45ED-8943-6F9E74884092}"/>
              </a:ext>
            </a:extLst>
          </p:cNvPr>
          <p:cNvSpPr>
            <a:spLocks noGrp="1"/>
          </p:cNvSpPr>
          <p:nvPr>
            <p:ph sz="quarter" idx="19" hasCustomPrompt="1"/>
          </p:nvPr>
        </p:nvSpPr>
        <p:spPr>
          <a:xfrm>
            <a:off x="608013" y="1600200"/>
            <a:ext cx="8229600" cy="4572000"/>
          </a:xfrm>
        </p:spPr>
        <p:txBody>
          <a:bodyPr/>
          <a:lstStyle>
            <a:lvl1pPr>
              <a:defRPr>
                <a:solidFill>
                  <a:schemeClr val="bg2">
                    <a:lumMod val="25000"/>
                  </a:schemeClr>
                </a:solidFill>
              </a:defRPr>
            </a:lvl1pPr>
            <a:lvl2pPr>
              <a:defRPr>
                <a:solidFill>
                  <a:schemeClr val="bg2">
                    <a:lumMod val="25000"/>
                  </a:schemeClr>
                </a:solidFill>
              </a:defRPr>
            </a:lvl2pPr>
            <a:lvl3pPr>
              <a:defRPr>
                <a:solidFill>
                  <a:schemeClr val="bg2">
                    <a:lumMod val="25000"/>
                  </a:schemeClr>
                </a:solidFill>
              </a:defRPr>
            </a:lvl3pPr>
            <a:lvl4pPr>
              <a:defRPr>
                <a:solidFill>
                  <a:schemeClr val="bg2">
                    <a:lumMod val="25000"/>
                  </a:schemeClr>
                </a:solidFill>
              </a:defRPr>
            </a:lvl4pPr>
            <a:lvl5pPr>
              <a:defRPr>
                <a:solidFill>
                  <a:schemeClr val="bg2">
                    <a:lumMod val="25000"/>
                  </a:schemeClr>
                </a:solidFill>
              </a:defRPr>
            </a:lvl5pPr>
            <a:lvl6pPr>
              <a:defRPr>
                <a:solidFill>
                  <a:schemeClr val="bg2">
                    <a:lumMod val="25000"/>
                  </a:schemeClr>
                </a:solidFill>
              </a:defRPr>
            </a:lvl6pPr>
            <a:lvl7pPr>
              <a:defRPr>
                <a:solidFill>
                  <a:schemeClr val="bg2">
                    <a:lumMod val="25000"/>
                  </a:schemeClr>
                </a:solidFill>
              </a:defRPr>
            </a:lvl7pPr>
            <a:lvl8pPr>
              <a:defRPr>
                <a:solidFill>
                  <a:schemeClr val="bg2">
                    <a:lumMod val="25000"/>
                  </a:schemeClr>
                </a:solidFill>
              </a:defRPr>
            </a:lvl8pPr>
            <a:lvl9pPr>
              <a:defRPr>
                <a:solidFill>
                  <a:schemeClr val="bg2">
                    <a:lumMod val="25000"/>
                  </a:schemeClr>
                </a:solidFill>
              </a:defRPr>
            </a:lvl9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7" name="Rectangle 6">
            <a:extLst>
              <a:ext uri="{FF2B5EF4-FFF2-40B4-BE49-F238E27FC236}">
                <a16:creationId xmlns:a16="http://schemas.microsoft.com/office/drawing/2014/main" id="{B12C22B1-5B53-F148-8D4A-31CCDD16E170}"/>
              </a:ext>
              <a:ext uri="{C183D7F6-B498-43B3-948B-1728B52AA6E4}">
                <adec:decorative xmlns:adec="http://schemas.microsoft.com/office/drawing/2017/decorative" val="1"/>
              </a:ext>
            </a:extLst>
          </p:cNvPr>
          <p:cNvSpPr/>
          <p:nvPr userDrawn="1"/>
        </p:nvSpPr>
        <p:spPr>
          <a:xfrm flipV="1">
            <a:off x="9285149" y="1589924"/>
            <a:ext cx="2903676" cy="609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8197ED16-D162-4BF7-B635-2F70E10855A0}"/>
              </a:ext>
            </a:extLst>
          </p:cNvPr>
          <p:cNvSpPr>
            <a:spLocks noGrp="1"/>
          </p:cNvSpPr>
          <p:nvPr>
            <p:ph type="body" sz="quarter" idx="20" hasCustomPrompt="1"/>
          </p:nvPr>
        </p:nvSpPr>
        <p:spPr>
          <a:xfrm>
            <a:off x="9294813" y="1644788"/>
            <a:ext cx="2894012" cy="4527411"/>
          </a:xfrm>
          <a:solidFill>
            <a:srgbClr val="F4F8FA"/>
          </a:solidFill>
        </p:spPr>
        <p:txBody>
          <a:bodyPr vert="horz" lIns="457200" tIns="457200" rIns="457200" bIns="457200" rtlCol="0">
            <a:noAutofit/>
          </a:bodyPr>
          <a:lstStyle>
            <a:lvl1pPr>
              <a:defRPr lang="en-US" sz="1800" dirty="0">
                <a:solidFill>
                  <a:schemeClr val="accent1"/>
                </a:solidFill>
              </a:defRPr>
            </a:lvl1pPr>
            <a:lvl2pPr>
              <a:defRPr lang="en-US" sz="1600" dirty="0">
                <a:solidFill>
                  <a:schemeClr val="accent1"/>
                </a:solidFill>
              </a:defRPr>
            </a:lvl2pPr>
            <a:lvl3pPr>
              <a:defRPr lang="en-US" sz="1400" dirty="0">
                <a:solidFill>
                  <a:schemeClr val="accent1"/>
                </a:solidFill>
              </a:defRPr>
            </a:lvl3pPr>
            <a:lvl4pPr>
              <a:defRPr lang="en-US" sz="1200" dirty="0">
                <a:solidFill>
                  <a:schemeClr val="accent1"/>
                </a:solidFill>
              </a:defRPr>
            </a:lvl4pPr>
            <a:lvl5pPr>
              <a:defRPr lang="en-US" sz="1200" dirty="0">
                <a:solidFill>
                  <a:schemeClr val="accent1"/>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31695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1"/>
                </a:solidFill>
              </a:defRPr>
            </a:lvl1pPr>
          </a:lstStyle>
          <a:p>
            <a:r>
              <a:rPr lang="en-US" dirty="0"/>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8" name="Content Placeholder 17">
            <a:extLst>
              <a:ext uri="{FF2B5EF4-FFF2-40B4-BE49-F238E27FC236}">
                <a16:creationId xmlns:a16="http://schemas.microsoft.com/office/drawing/2014/main" id="{73A8AFF7-683B-9045-8B6E-5867DABAE588}"/>
              </a:ext>
            </a:extLst>
          </p:cNvPr>
          <p:cNvSpPr>
            <a:spLocks noGrp="1"/>
          </p:cNvSpPr>
          <p:nvPr>
            <p:ph sz="quarter" idx="14"/>
          </p:nvPr>
        </p:nvSpPr>
        <p:spPr bwMode="ltGray">
          <a:xfrm>
            <a:off x="595424" y="1600201"/>
            <a:ext cx="7410892" cy="4572000"/>
          </a:xfrm>
          <a:noFill/>
        </p:spPr>
        <p:txBody>
          <a:bodyPr vert="horz" lIns="594360" tIns="457200" rIns="457200" bIns="457200" rtlCol="0">
            <a:noAutofit/>
          </a:bodyPr>
          <a:lstStyle>
            <a:lvl1pPr>
              <a:spcBef>
                <a:spcPts val="1200"/>
              </a:spcBef>
              <a:defRPr lang="en-US" sz="1800" dirty="0">
                <a:solidFill>
                  <a:srgbClr val="F4F8FA"/>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edit Master text styles</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1"/>
                </a:solidFill>
              </a:defRPr>
            </a:lvl1pPr>
            <a:lvl2pPr>
              <a:defRPr sz="1400">
                <a:solidFill>
                  <a:schemeClr val="accent1"/>
                </a:solidFill>
              </a:defRPr>
            </a:lvl2pPr>
            <a:lvl3pPr>
              <a:defRPr sz="1200">
                <a:solidFill>
                  <a:schemeClr val="accent1"/>
                </a:solidFill>
              </a:defRPr>
            </a:lvl3pPr>
            <a:lvl4pPr>
              <a:defRPr sz="1100">
                <a:solidFill>
                  <a:schemeClr val="accent1"/>
                </a:solidFill>
              </a:defRPr>
            </a:lvl4pPr>
            <a:lvl5pPr>
              <a:defRPr sz="1100">
                <a:solidFill>
                  <a:schemeClr val="accent1"/>
                </a:solidFill>
              </a:defRPr>
            </a:lvl5pPr>
            <a:lvl6pPr>
              <a:defRPr sz="1100">
                <a:solidFill>
                  <a:schemeClr val="accent1"/>
                </a:solidFill>
              </a:defRPr>
            </a:lvl6pPr>
            <a:lvl7pPr>
              <a:defRPr sz="1100">
                <a:solidFill>
                  <a:schemeClr val="accent1"/>
                </a:solidFill>
              </a:defRPr>
            </a:lvl7pPr>
            <a:lvl8pPr>
              <a:defRPr sz="1100">
                <a:solidFill>
                  <a:schemeClr val="accent1"/>
                </a:solidFill>
              </a:defRPr>
            </a:lvl8pPr>
            <a:lvl9pPr>
              <a:defRPr sz="1100">
                <a:solidFill>
                  <a:schemeClr val="accent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2218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1"/>
                </a:solidFill>
              </a:defRPr>
            </a:lvl1pPr>
          </a:lstStyle>
          <a:p>
            <a:r>
              <a:rPr lang="en-US" dirty="0"/>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Content Placeholder 17">
            <a:extLst>
              <a:ext uri="{FF2B5EF4-FFF2-40B4-BE49-F238E27FC236}">
                <a16:creationId xmlns:a16="http://schemas.microsoft.com/office/drawing/2014/main" id="{DAEEA46F-682F-5A4F-8E4D-B4CA754E0724}"/>
              </a:ext>
            </a:extLst>
          </p:cNvPr>
          <p:cNvSpPr>
            <a:spLocks noGrp="1"/>
          </p:cNvSpPr>
          <p:nvPr>
            <p:ph sz="quarter" idx="14"/>
          </p:nvPr>
        </p:nvSpPr>
        <p:spPr bwMode="ltGray">
          <a:xfrm>
            <a:off x="595424" y="1600201"/>
            <a:ext cx="7410892" cy="4572000"/>
          </a:xfrm>
          <a:noFill/>
        </p:spPr>
        <p:txBody>
          <a:bodyPr vert="horz" lIns="594360" tIns="457200" rIns="457200" bIns="457200" rtlCol="0">
            <a:noAutofit/>
          </a:bodyPr>
          <a:lstStyle>
            <a:lvl1pPr>
              <a:spcBef>
                <a:spcPts val="1200"/>
              </a:spcBef>
              <a:defRPr lang="en-US" sz="1800" dirty="0">
                <a:solidFill>
                  <a:srgbClr val="F4F8FA"/>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edit Master text styles</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2006600" cy="298450"/>
          </a:xfrm>
        </p:spPr>
        <p:txBody>
          <a:bodyPr anchor="b"/>
          <a:lstStyle>
            <a:lvl1pPr>
              <a:defRPr sz="1800">
                <a:solidFill>
                  <a:schemeClr val="accent1"/>
                </a:solidFill>
              </a:defRPr>
            </a:lvl1pPr>
            <a:lvl5pPr>
              <a:defRPr/>
            </a:lvl5pPr>
          </a:lstStyle>
          <a:p>
            <a:pPr lvl="0"/>
            <a:r>
              <a:rPr lang="en-US" dirty="0"/>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bg2">
                    <a:lumMod val="25000"/>
                  </a:schemeClr>
                </a:solidFill>
              </a:defRPr>
            </a:lvl1pPr>
            <a:lvl2pPr>
              <a:defRPr sz="1400">
                <a:solidFill>
                  <a:schemeClr val="bg2">
                    <a:lumMod val="25000"/>
                  </a:schemeClr>
                </a:solidFill>
              </a:defRPr>
            </a:lvl2pPr>
            <a:lvl3pPr>
              <a:defRPr sz="1400">
                <a:solidFill>
                  <a:schemeClr val="bg2">
                    <a:lumMod val="25000"/>
                  </a:schemeClr>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5"/>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2006600" cy="298450"/>
          </a:xfrm>
        </p:spPr>
        <p:txBody>
          <a:bodyPr anchor="b"/>
          <a:lstStyle>
            <a:lvl1pPr>
              <a:defRPr sz="1800">
                <a:solidFill>
                  <a:schemeClr val="accent5"/>
                </a:solidFill>
              </a:defRPr>
            </a:lvl1pPr>
            <a:lvl5pPr>
              <a:defRPr/>
            </a:lvl5pPr>
          </a:lstStyle>
          <a:p>
            <a:pPr lvl="0"/>
            <a:r>
              <a:rPr lang="en-US" dirty="0"/>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bg2">
                    <a:lumMod val="25000"/>
                  </a:schemeClr>
                </a:solidFill>
              </a:defRPr>
            </a:lvl1pPr>
            <a:lvl2pPr>
              <a:defRPr sz="1400">
                <a:solidFill>
                  <a:schemeClr val="bg2">
                    <a:lumMod val="25000"/>
                  </a:schemeClr>
                </a:solidFill>
              </a:defRPr>
            </a:lvl2pPr>
            <a:lvl3pPr>
              <a:defRPr sz="1400">
                <a:solidFill>
                  <a:schemeClr val="bg2">
                    <a:lumMod val="25000"/>
                  </a:schemeClr>
                </a:solidFill>
              </a:defRPr>
            </a:lvl3pPr>
          </a:lstStyle>
          <a:p>
            <a:pPr lvl="0"/>
            <a:r>
              <a:rPr lang="en-US" dirty="0"/>
              <a:t>Click to add text</a:t>
            </a:r>
          </a:p>
          <a:p>
            <a:pPr lvl="1"/>
            <a:r>
              <a:rPr lang="en-US" dirty="0"/>
              <a:t>Second level</a:t>
            </a:r>
          </a:p>
          <a:p>
            <a:pPr lvl="2"/>
            <a:r>
              <a:rPr lang="en-US" dirty="0"/>
              <a:t>Third level</a:t>
            </a:r>
          </a:p>
        </p:txBody>
      </p:sp>
      <p:sp>
        <p:nvSpPr>
          <p:cNvPr id="13"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137302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1"/>
                </a:solidFill>
              </a:defRPr>
            </a:lvl1pPr>
          </a:lstStyle>
          <a:p>
            <a:r>
              <a:rPr lang="en-US" dirty="0"/>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5"/>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Text Placeholder 6">
            <a:extLst>
              <a:ext uri="{FF2B5EF4-FFF2-40B4-BE49-F238E27FC236}">
                <a16:creationId xmlns:a16="http://schemas.microsoft.com/office/drawing/2014/main" id="{40CB7868-5ADF-4E42-9BA5-758DD5ADEBC0}"/>
              </a:ext>
            </a:extLst>
          </p:cNvPr>
          <p:cNvSpPr>
            <a:spLocks noGrp="1"/>
          </p:cNvSpPr>
          <p:nvPr>
            <p:ph type="body" sz="quarter" idx="17" hasCustomPrompt="1"/>
          </p:nvPr>
        </p:nvSpPr>
        <p:spPr>
          <a:xfrm>
            <a:off x="613093" y="1564006"/>
            <a:ext cx="2006600" cy="227454"/>
          </a:xfrm>
        </p:spPr>
        <p:txBody>
          <a:bodyPr anchor="b"/>
          <a:lstStyle>
            <a:lvl1pPr>
              <a:lnSpc>
                <a:spcPct val="100000"/>
              </a:lnSpc>
              <a:spcBef>
                <a:spcPts val="0"/>
              </a:spcBef>
              <a:defRPr sz="1200">
                <a:solidFill>
                  <a:schemeClr val="accent5"/>
                </a:solidFill>
              </a:defRPr>
            </a:lvl1pPr>
            <a:lvl5pPr>
              <a:defRPr/>
            </a:lvl5pPr>
          </a:lstStyle>
          <a:p>
            <a:pPr lvl="0"/>
            <a:r>
              <a:rPr lang="en-US" dirty="0"/>
              <a:t>ABOUT</a:t>
            </a:r>
          </a:p>
        </p:txBody>
      </p: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defRPr lang="en-US" sz="1050" dirty="0">
                <a:solidFill>
                  <a:schemeClr val="bg2">
                    <a:lumMod val="25000"/>
                  </a:schemeClr>
                </a:solidFill>
              </a:defRPr>
            </a:lvl1pPr>
            <a:lvl2pPr marL="114300" indent="-114300">
              <a:lnSpc>
                <a:spcPct val="100000"/>
              </a:lnSpc>
              <a:spcBef>
                <a:spcPts val="0"/>
              </a:spcBef>
              <a:defRPr lang="en-US" sz="1000" dirty="0">
                <a:solidFill>
                  <a:schemeClr val="bg2">
                    <a:lumMod val="25000"/>
                  </a:schemeClr>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5"/>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Text Placeholder 6">
            <a:extLst>
              <a:ext uri="{FF2B5EF4-FFF2-40B4-BE49-F238E27FC236}">
                <a16:creationId xmlns:a16="http://schemas.microsoft.com/office/drawing/2014/main" id="{5A3D06D5-FD3F-BA4E-8627-B3D253D001EB}"/>
              </a:ext>
            </a:extLst>
          </p:cNvPr>
          <p:cNvSpPr>
            <a:spLocks noGrp="1"/>
          </p:cNvSpPr>
          <p:nvPr>
            <p:ph type="body" sz="quarter" idx="39" hasCustomPrompt="1"/>
          </p:nvPr>
        </p:nvSpPr>
        <p:spPr>
          <a:xfrm>
            <a:off x="4418012" y="1564006"/>
            <a:ext cx="2006600" cy="227454"/>
          </a:xfrm>
        </p:spPr>
        <p:txBody>
          <a:bodyPr anchor="b"/>
          <a:lstStyle>
            <a:lvl1pPr>
              <a:lnSpc>
                <a:spcPct val="100000"/>
              </a:lnSpc>
              <a:spcBef>
                <a:spcPts val="0"/>
              </a:spcBef>
              <a:defRPr sz="1200">
                <a:solidFill>
                  <a:schemeClr val="accent5"/>
                </a:solidFill>
              </a:defRPr>
            </a:lvl1pPr>
            <a:lvl5pPr>
              <a:defRPr/>
            </a:lvl5pPr>
          </a:lstStyle>
          <a:p>
            <a:pPr lvl="0"/>
            <a:r>
              <a:rPr lang="en-US" dirty="0"/>
              <a:t>SOLUTION</a:t>
            </a:r>
          </a:p>
        </p:txBody>
      </p: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defRPr lang="en-US" sz="1050" dirty="0">
                <a:solidFill>
                  <a:schemeClr val="bg2">
                    <a:lumMod val="25000"/>
                  </a:schemeClr>
                </a:solidFill>
              </a:defRPr>
            </a:lvl1pPr>
            <a:lvl2pPr marL="114300" indent="-114300">
              <a:lnSpc>
                <a:spcPct val="100000"/>
              </a:lnSpc>
              <a:spcBef>
                <a:spcPts val="0"/>
              </a:spcBef>
              <a:defRPr lang="en-US" sz="1000" dirty="0">
                <a:solidFill>
                  <a:schemeClr val="bg2">
                    <a:lumMod val="25000"/>
                  </a:schemeClr>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Text Placeholder 6">
            <a:extLst>
              <a:ext uri="{FF2B5EF4-FFF2-40B4-BE49-F238E27FC236}">
                <a16:creationId xmlns:a16="http://schemas.microsoft.com/office/drawing/2014/main" id="{68B03587-93C7-A44F-A27D-84877C6A912A}"/>
              </a:ext>
            </a:extLst>
          </p:cNvPr>
          <p:cNvSpPr>
            <a:spLocks noGrp="1"/>
          </p:cNvSpPr>
          <p:nvPr>
            <p:ph type="body" sz="quarter" idx="19" hasCustomPrompt="1"/>
          </p:nvPr>
        </p:nvSpPr>
        <p:spPr>
          <a:xfrm>
            <a:off x="613093" y="3345364"/>
            <a:ext cx="2006600" cy="227454"/>
          </a:xfrm>
        </p:spPr>
        <p:txBody>
          <a:bodyPr anchor="b"/>
          <a:lstStyle>
            <a:lvl1pPr>
              <a:lnSpc>
                <a:spcPct val="100000"/>
              </a:lnSpc>
              <a:spcBef>
                <a:spcPts val="0"/>
              </a:spcBef>
              <a:defRPr sz="1200">
                <a:solidFill>
                  <a:schemeClr val="accent2"/>
                </a:solidFill>
              </a:defRPr>
            </a:lvl1pPr>
            <a:lvl5pPr>
              <a:defRPr/>
            </a:lvl5pPr>
          </a:lstStyle>
          <a:p>
            <a:pPr lvl="0"/>
            <a:r>
              <a:rPr lang="en-US" dirty="0"/>
              <a:t>CHALLENGES</a:t>
            </a:r>
          </a:p>
        </p:txBody>
      </p: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defRPr lang="en-US" sz="1050" dirty="0">
                <a:solidFill>
                  <a:schemeClr val="bg2">
                    <a:lumMod val="25000"/>
                  </a:schemeClr>
                </a:solidFill>
              </a:defRPr>
            </a:lvl1pPr>
            <a:lvl2pPr marL="114300" indent="-114300">
              <a:lnSpc>
                <a:spcPct val="100000"/>
              </a:lnSpc>
              <a:spcBef>
                <a:spcPts val="0"/>
              </a:spcBef>
              <a:defRPr lang="en-US" sz="1000" dirty="0">
                <a:solidFill>
                  <a:schemeClr val="bg2">
                    <a:lumMod val="25000"/>
                  </a:schemeClr>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9" name="Text Placeholder 33">
            <a:extLst>
              <a:ext uri="{FF2B5EF4-FFF2-40B4-BE49-F238E27FC236}">
                <a16:creationId xmlns:a16="http://schemas.microsoft.com/office/drawing/2014/main" id="{12DEAF9A-D0A2-3A4B-B37B-FD530909C5D1}"/>
              </a:ext>
            </a:extLst>
          </p:cNvPr>
          <p:cNvSpPr>
            <a:spLocks noGrp="1"/>
          </p:cNvSpPr>
          <p:nvPr>
            <p:ph type="body" sz="quarter" idx="23" hasCustomPrompt="1"/>
          </p:nvPr>
        </p:nvSpPr>
        <p:spPr>
          <a:xfrm>
            <a:off x="4426811" y="3345364"/>
            <a:ext cx="2006600" cy="227454"/>
          </a:xfrm>
        </p:spPr>
        <p:txBody>
          <a:bodyPr anchor="b" anchorCtr="0"/>
          <a:lstStyle>
            <a:lvl1pPr>
              <a:defRPr sz="1200">
                <a:solidFill>
                  <a:schemeClr val="accent2"/>
                </a:solidFill>
              </a:defRPr>
            </a:lvl1pPr>
          </a:lstStyle>
          <a:p>
            <a:r>
              <a:rPr lang="en-US" dirty="0"/>
              <a:t>IMPACT</a:t>
            </a:r>
          </a:p>
        </p:txBody>
      </p: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defRPr lang="en-US" sz="1050" dirty="0">
                <a:solidFill>
                  <a:schemeClr val="bg2">
                    <a:lumMod val="25000"/>
                  </a:schemeClr>
                </a:solidFill>
              </a:defRPr>
            </a:lvl1pPr>
            <a:lvl2pPr marL="114300" indent="-114300">
              <a:lnSpc>
                <a:spcPct val="100000"/>
              </a:lnSpc>
              <a:spcBef>
                <a:spcPts val="0"/>
              </a:spcBef>
              <a:defRPr lang="en-US" sz="1000" dirty="0">
                <a:solidFill>
                  <a:schemeClr val="bg2">
                    <a:lumMod val="25000"/>
                  </a:schemeClr>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3689"/>
            <a:ext cx="7319778" cy="0"/>
          </a:xfrm>
          <a:prstGeom prst="line">
            <a:avLst/>
          </a:prstGeom>
          <a:ln w="2222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Text Placeholder 6">
            <a:extLst>
              <a:ext uri="{FF2B5EF4-FFF2-40B4-BE49-F238E27FC236}">
                <a16:creationId xmlns:a16="http://schemas.microsoft.com/office/drawing/2014/main" id="{EF15C3B0-3307-FF46-8C6D-169079865548}"/>
              </a:ext>
            </a:extLst>
          </p:cNvPr>
          <p:cNvSpPr>
            <a:spLocks noGrp="1"/>
          </p:cNvSpPr>
          <p:nvPr>
            <p:ph type="body" sz="quarter" idx="29" hasCustomPrompt="1"/>
          </p:nvPr>
        </p:nvSpPr>
        <p:spPr>
          <a:xfrm>
            <a:off x="613093" y="5026984"/>
            <a:ext cx="3200400" cy="227454"/>
          </a:xfrm>
        </p:spPr>
        <p:txBody>
          <a:bodyPr anchor="b"/>
          <a:lstStyle>
            <a:lvl1pPr algn="l">
              <a:lnSpc>
                <a:spcPct val="100000"/>
              </a:lnSpc>
              <a:spcBef>
                <a:spcPts val="0"/>
              </a:spcBef>
              <a:defRPr sz="1050">
                <a:solidFill>
                  <a:schemeClr val="bg2">
                    <a:lumMod val="25000"/>
                  </a:schemeClr>
                </a:solidFill>
              </a:defRPr>
            </a:lvl1pPr>
            <a:lvl5pPr>
              <a:defRPr/>
            </a:lvl5pPr>
          </a:lstStyle>
          <a:p>
            <a:pPr lvl="0"/>
            <a:r>
              <a:rPr lang="en-US" dirty="0"/>
              <a:t>PRODUCTS</a:t>
            </a:r>
          </a:p>
        </p:txBody>
      </p: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6736"/>
            <a:ext cx="3200400" cy="227454"/>
          </a:xfrm>
        </p:spPr>
        <p:txBody>
          <a:bodyPr anchor="b"/>
          <a:lstStyle>
            <a:lvl1pPr algn="l">
              <a:lnSpc>
                <a:spcPct val="100000"/>
              </a:lnSpc>
              <a:spcBef>
                <a:spcPts val="0"/>
              </a:spcBef>
              <a:defRPr sz="1000">
                <a:solidFill>
                  <a:schemeClr val="bg2">
                    <a:lumMod val="25000"/>
                  </a:schemeClr>
                </a:solidFill>
              </a:defRPr>
            </a:lvl1pPr>
            <a:lvl5pPr>
              <a:defRPr/>
            </a:lvl5pPr>
          </a:lstStyle>
          <a:p>
            <a:pPr lvl="0"/>
            <a:r>
              <a:rPr lang="en-US" dirty="0"/>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76118"/>
            <a:ext cx="3200400" cy="227454"/>
          </a:xfrm>
        </p:spPr>
        <p:txBody>
          <a:bodyPr anchor="b"/>
          <a:lstStyle>
            <a:lvl1pPr algn="l">
              <a:lnSpc>
                <a:spcPct val="100000"/>
              </a:lnSpc>
              <a:spcBef>
                <a:spcPts val="0"/>
              </a:spcBef>
              <a:defRPr sz="1000">
                <a:solidFill>
                  <a:schemeClr val="bg2">
                    <a:lumMod val="25000"/>
                  </a:schemeClr>
                </a:solidFill>
              </a:defRPr>
            </a:lvl1pPr>
            <a:lvl5pPr>
              <a:defRPr/>
            </a:lvl5pPr>
          </a:lstStyle>
          <a:p>
            <a:pPr lvl="0"/>
            <a:r>
              <a:rPr lang="en-US" dirty="0"/>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07027"/>
            <a:ext cx="3200400" cy="227454"/>
          </a:xfrm>
        </p:spPr>
        <p:txBody>
          <a:bodyPr anchor="b"/>
          <a:lstStyle>
            <a:lvl1pPr algn="l">
              <a:lnSpc>
                <a:spcPct val="100000"/>
              </a:lnSpc>
              <a:spcBef>
                <a:spcPts val="0"/>
              </a:spcBef>
              <a:defRPr sz="1000">
                <a:solidFill>
                  <a:schemeClr val="bg2">
                    <a:lumMod val="25000"/>
                  </a:schemeClr>
                </a:solidFill>
              </a:defRPr>
            </a:lvl1pPr>
            <a:lvl5pPr>
              <a:defRPr/>
            </a:lvl5pPr>
          </a:lstStyle>
          <a:p>
            <a:pPr lvl="0"/>
            <a:r>
              <a:rPr lang="en-US" dirty="0"/>
              <a:t>Product Three</a:t>
            </a:r>
          </a:p>
        </p:txBody>
      </p:sp>
      <p:sp>
        <p:nvSpPr>
          <p:cNvPr id="65" name="Text Placeholder 6">
            <a:extLst>
              <a:ext uri="{FF2B5EF4-FFF2-40B4-BE49-F238E27FC236}">
                <a16:creationId xmlns:a16="http://schemas.microsoft.com/office/drawing/2014/main" id="{715C6E1C-FC70-6A4E-8F12-8EFEDFF99F5A}"/>
              </a:ext>
            </a:extLst>
          </p:cNvPr>
          <p:cNvSpPr>
            <a:spLocks noGrp="1"/>
          </p:cNvSpPr>
          <p:nvPr>
            <p:ph type="body" sz="quarter" idx="40" hasCustomPrompt="1"/>
          </p:nvPr>
        </p:nvSpPr>
        <p:spPr>
          <a:xfrm>
            <a:off x="4393597" y="5039274"/>
            <a:ext cx="3200400" cy="227454"/>
          </a:xfrm>
        </p:spPr>
        <p:txBody>
          <a:bodyPr anchor="b"/>
          <a:lstStyle>
            <a:lvl1pPr algn="l">
              <a:lnSpc>
                <a:spcPct val="100000"/>
              </a:lnSpc>
              <a:spcBef>
                <a:spcPts val="0"/>
              </a:spcBef>
              <a:defRPr sz="1050">
                <a:solidFill>
                  <a:schemeClr val="bg2">
                    <a:lumMod val="25000"/>
                  </a:schemeClr>
                </a:solidFill>
              </a:defRPr>
            </a:lvl1pPr>
            <a:lvl5pPr>
              <a:defRPr/>
            </a:lvl5pPr>
          </a:lstStyle>
          <a:p>
            <a:pPr lvl="0"/>
            <a:r>
              <a:rPr lang="en-US" dirty="0"/>
              <a:t>STRATEGIC PRIORITIES</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00400" cy="227454"/>
          </a:xfrm>
        </p:spPr>
        <p:txBody>
          <a:bodyPr anchor="b"/>
          <a:lstStyle>
            <a:lvl1pPr algn="l">
              <a:lnSpc>
                <a:spcPct val="100000"/>
              </a:lnSpc>
              <a:spcBef>
                <a:spcPts val="0"/>
              </a:spcBef>
              <a:defRPr sz="1000">
                <a:solidFill>
                  <a:schemeClr val="bg2">
                    <a:lumMod val="25000"/>
                  </a:schemeClr>
                </a:solidFill>
              </a:defRPr>
            </a:lvl1pPr>
            <a:lvl5pPr>
              <a:defRPr/>
            </a:lvl5pPr>
          </a:lstStyle>
          <a:p>
            <a:pPr lvl="0"/>
            <a:r>
              <a:rPr lang="en-US" dirty="0"/>
              <a:t>Product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76718"/>
            <a:ext cx="3200400" cy="227454"/>
          </a:xfrm>
        </p:spPr>
        <p:txBody>
          <a:bodyPr anchor="b"/>
          <a:lstStyle>
            <a:lvl1pPr algn="l">
              <a:lnSpc>
                <a:spcPct val="100000"/>
              </a:lnSpc>
              <a:spcBef>
                <a:spcPts val="0"/>
              </a:spcBef>
              <a:defRPr sz="1000">
                <a:solidFill>
                  <a:schemeClr val="bg2">
                    <a:lumMod val="25000"/>
                  </a:schemeClr>
                </a:solidFill>
              </a:defRPr>
            </a:lvl1pPr>
            <a:lvl5pPr>
              <a:defRPr/>
            </a:lvl5pPr>
          </a:lstStyle>
          <a:p>
            <a:pPr lvl="0"/>
            <a:r>
              <a:rPr lang="en-US" dirty="0"/>
              <a:t>Product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07627"/>
            <a:ext cx="3200400" cy="227454"/>
          </a:xfrm>
        </p:spPr>
        <p:txBody>
          <a:bodyPr anchor="b"/>
          <a:lstStyle>
            <a:lvl1pPr algn="l">
              <a:lnSpc>
                <a:spcPct val="100000"/>
              </a:lnSpc>
              <a:spcBef>
                <a:spcPts val="0"/>
              </a:spcBef>
              <a:defRPr sz="1000">
                <a:solidFill>
                  <a:schemeClr val="bg2">
                    <a:lumMod val="25000"/>
                  </a:schemeClr>
                </a:solidFill>
              </a:defRPr>
            </a:lvl1pPr>
            <a:lvl5pPr>
              <a:defRPr/>
            </a:lvl5pPr>
          </a:lstStyle>
          <a:p>
            <a:pPr lvl="0"/>
            <a:r>
              <a:rPr lang="en-US" dirty="0"/>
              <a:t>Product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bg2">
                    <a:lumMod val="25000"/>
                  </a:schemeClr>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bg2">
                    <a:lumMod val="25000"/>
                  </a:schemeClr>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dirty="0"/>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bg2">
                    <a:lumMod val="25000"/>
                  </a:schemeClr>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dirty="0"/>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bg2">
                    <a:lumMod val="25000"/>
                  </a:schemeClr>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bg2">
                    <a:lumMod val="25000"/>
                  </a:schemeClr>
                </a:solidFill>
              </a:defRPr>
            </a:lvl1pPr>
            <a:lvl2pPr marL="0" indent="0" algn="ctr">
              <a:lnSpc>
                <a:spcPct val="100000"/>
              </a:lnSpc>
              <a:spcBef>
                <a:spcPts val="0"/>
              </a:spcBef>
              <a:buFont typeface="Open Sans" panose="020B0606030504020204" pitchFamily="34" charset="0"/>
              <a:buChar char="​"/>
              <a:defRPr sz="1200">
                <a:solidFill>
                  <a:schemeClr val="bg2">
                    <a:lumMod val="25000"/>
                  </a:schemeClr>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dirty="0"/>
              <a:t>Click to add text</a:t>
            </a:r>
          </a:p>
          <a:p>
            <a:pPr lvl="1"/>
            <a:r>
              <a:rPr lang="en-US" dirty="0"/>
              <a:t>Second level</a:t>
            </a:r>
          </a:p>
        </p:txBody>
      </p:sp>
      <p:sp>
        <p:nvSpPr>
          <p:cNvPr id="33"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131042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1"/>
                </a:solidFill>
              </a:defRPr>
            </a:lvl1pPr>
          </a:lstStyle>
          <a:p>
            <a:r>
              <a:rPr lang="en-US" dirty="0"/>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5"/>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1"/>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1"/>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 here</a:t>
            </a:r>
          </a:p>
          <a:p>
            <a:pPr lvl="1"/>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 here</a:t>
            </a:r>
          </a:p>
          <a:p>
            <a:pPr lvl="1"/>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13990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1"/>
                </a:solidFill>
              </a:defRPr>
            </a:lvl1pPr>
          </a:lstStyle>
          <a:p>
            <a:r>
              <a:rPr lang="en-US" dirty="0"/>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5"/>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a:t>
            </a:r>
          </a:p>
          <a:p>
            <a:pPr lvl="1"/>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1"/>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1"/>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a:t>
            </a:r>
          </a:p>
          <a:p>
            <a:pPr lvl="1"/>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a:t>
            </a:r>
          </a:p>
          <a:p>
            <a:pPr lvl="1"/>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3"/>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a:t>
            </a:r>
          </a:p>
          <a:p>
            <a:pPr lvl="1"/>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545277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1"/>
                </a:solidFill>
              </a:defRPr>
            </a:lvl1pPr>
          </a:lstStyle>
          <a:p>
            <a:r>
              <a:rPr lang="en-US" dirty="0"/>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5"/>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dirty="0"/>
              <a:t>Click to add text</a:t>
            </a:r>
          </a:p>
          <a:p>
            <a:pPr lvl="1"/>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3110473" y="2428884"/>
            <a:ext cx="1396669" cy="1100516"/>
          </a:xfrm>
        </p:spPr>
        <p:txBody>
          <a:bodyPr anchor="ctr" anchorCtr="0"/>
          <a:lstStyle>
            <a:lvl1pPr algn="ctr">
              <a:lnSpc>
                <a:spcPct val="100000"/>
              </a:lnSpc>
              <a:spcBef>
                <a:spcPts val="600"/>
              </a:spcBef>
              <a:defRPr sz="1800">
                <a:solidFill>
                  <a:schemeClr val="accent1"/>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2894013" y="4282873"/>
            <a:ext cx="1828800" cy="1458912"/>
          </a:xfrm>
        </p:spPr>
        <p:txBody>
          <a:bodyPr/>
          <a:lstStyle>
            <a:lvl1pPr algn="ctr">
              <a:lnSpc>
                <a:spcPct val="100000"/>
              </a:lnSpc>
              <a:spcBef>
                <a:spcPts val="600"/>
              </a:spcBef>
              <a:defRPr sz="2000">
                <a:solidFill>
                  <a:schemeClr val="accent1"/>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dirty="0"/>
              <a:t>Click to add text</a:t>
            </a:r>
          </a:p>
          <a:p>
            <a:pPr lvl="1"/>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6"/>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6"/>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dirty="0"/>
              <a:t>Click to add text</a:t>
            </a:r>
          </a:p>
          <a:p>
            <a:pPr lvl="1"/>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accent3"/>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dirty="0"/>
              <a:t>Click to add text</a:t>
            </a:r>
          </a:p>
          <a:p>
            <a:pPr lvl="1"/>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144972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ive Numbered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1"/>
                </a:solidFill>
              </a:defRPr>
            </a:lvl1pPr>
          </a:lstStyle>
          <a:p>
            <a:r>
              <a:rPr lang="en-US" dirty="0"/>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userDrawn="1"/>
        </p:nvCxnSpPr>
        <p:spPr bwMode="gray">
          <a:xfrm>
            <a:off x="598206"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p:nvPr>
        </p:nvSpPr>
        <p:spPr>
          <a:xfrm>
            <a:off x="610850" y="2529075"/>
            <a:ext cx="1828800" cy="2871263"/>
          </a:xfrm>
          <a:solidFill>
            <a:srgbClr val="F4F8FA"/>
          </a:solidFill>
          <a:ln>
            <a:noFill/>
          </a:ln>
        </p:spPr>
        <p:txBody>
          <a:bodyPr/>
          <a:lstStyle>
            <a:lvl1pPr algn="ctr">
              <a:lnSpc>
                <a:spcPct val="100000"/>
              </a:lnSpc>
              <a:spcBef>
                <a:spcPts val="600"/>
              </a:spcBef>
              <a:defRPr sz="2000">
                <a:solidFill>
                  <a:schemeClr val="accent5"/>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a:t>Click to edit Master text styles</a:t>
            </a:r>
          </a:p>
          <a:p>
            <a:pPr lvl="1"/>
            <a:r>
              <a:rPr lang="en-US"/>
              <a:t>Second level</a:t>
            </a:r>
          </a:p>
          <a:p>
            <a:pPr lvl="2"/>
            <a:r>
              <a:rPr lang="en-US"/>
              <a:t>Third level</a:t>
            </a:r>
          </a:p>
        </p:txBody>
      </p:sp>
      <p:cxnSp>
        <p:nvCxnSpPr>
          <p:cNvPr id="18" name="Straight Connector 17">
            <a:extLst>
              <a:ext uri="{FF2B5EF4-FFF2-40B4-BE49-F238E27FC236}">
                <a16:creationId xmlns:a16="http://schemas.microsoft.com/office/drawing/2014/main" id="{903341DC-DE80-5E4C-A4C9-C984D7074760}"/>
              </a:ext>
            </a:extLst>
          </p:cNvPr>
          <p:cNvCxnSpPr/>
          <p:nvPr userDrawn="1"/>
        </p:nvCxnSpPr>
        <p:spPr bwMode="gray">
          <a:xfrm>
            <a:off x="2894012" y="2512464"/>
            <a:ext cx="1828800" cy="0"/>
          </a:xfrm>
          <a:prstGeom prst="line">
            <a:avLst/>
          </a:prstGeom>
          <a:ln w="2540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p:nvPr>
        </p:nvSpPr>
        <p:spPr>
          <a:xfrm>
            <a:off x="2894013" y="2529075"/>
            <a:ext cx="1828800" cy="2871263"/>
          </a:xfrm>
          <a:solidFill>
            <a:srgbClr val="F4F8FA"/>
          </a:solidFill>
          <a:ln>
            <a:noFill/>
          </a:ln>
        </p:spPr>
        <p:txBody>
          <a:bodyPr/>
          <a:lstStyle>
            <a:lvl1pPr algn="ctr">
              <a:lnSpc>
                <a:spcPct val="100000"/>
              </a:lnSpc>
              <a:spcBef>
                <a:spcPts val="600"/>
              </a:spcBef>
              <a:defRPr sz="2000">
                <a:solidFill>
                  <a:schemeClr val="accent1"/>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a:t>Click to edit Master text styles</a:t>
            </a:r>
          </a:p>
          <a:p>
            <a:pPr lvl="1"/>
            <a:r>
              <a:rPr lang="en-US"/>
              <a:t>Second level</a:t>
            </a:r>
          </a:p>
          <a:p>
            <a:pPr lvl="2"/>
            <a:r>
              <a:rPr lang="en-US"/>
              <a:t>Third level</a:t>
            </a:r>
          </a:p>
        </p:txBody>
      </p:sp>
      <p:cxnSp>
        <p:nvCxnSpPr>
          <p:cNvPr id="19" name="Straight Connector 18">
            <a:extLst>
              <a:ext uri="{FF2B5EF4-FFF2-40B4-BE49-F238E27FC236}">
                <a16:creationId xmlns:a16="http://schemas.microsoft.com/office/drawing/2014/main" id="{662FF207-1B75-1940-91E1-2692254C727F}"/>
              </a:ext>
            </a:extLst>
          </p:cNvPr>
          <p:cNvCxnSpPr/>
          <p:nvPr userDrawn="1"/>
        </p:nvCxnSpPr>
        <p:spPr bwMode="gray">
          <a:xfrm>
            <a:off x="5180012"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p:nvPr>
        </p:nvSpPr>
        <p:spPr>
          <a:xfrm>
            <a:off x="5185093" y="2529075"/>
            <a:ext cx="1828800" cy="2871263"/>
          </a:xfrm>
          <a:solidFill>
            <a:srgbClr val="F4F8FA"/>
          </a:solidFill>
          <a:ln>
            <a:noFill/>
          </a:ln>
        </p:spPr>
        <p:txBody>
          <a:bodyPr/>
          <a:lstStyle>
            <a:lvl1pPr algn="ctr">
              <a:lnSpc>
                <a:spcPct val="100000"/>
              </a:lnSpc>
              <a:spcBef>
                <a:spcPts val="600"/>
              </a:spcBef>
              <a:defRPr sz="2000">
                <a:solidFill>
                  <a:schemeClr val="accent2"/>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a:t>Click to edit Master text styles</a:t>
            </a:r>
          </a:p>
          <a:p>
            <a:pPr lvl="1"/>
            <a:r>
              <a:rPr lang="en-US"/>
              <a:t>Second level</a:t>
            </a:r>
          </a:p>
          <a:p>
            <a:pPr lvl="2"/>
            <a:r>
              <a:rPr lang="en-US"/>
              <a:t>Third level</a:t>
            </a:r>
          </a:p>
        </p:txBody>
      </p:sp>
      <p:cxnSp>
        <p:nvCxnSpPr>
          <p:cNvPr id="20" name="Straight Connector 19">
            <a:extLst>
              <a:ext uri="{FF2B5EF4-FFF2-40B4-BE49-F238E27FC236}">
                <a16:creationId xmlns:a16="http://schemas.microsoft.com/office/drawing/2014/main" id="{128E238A-DE09-DD4F-A6F3-2F244E7301C3}"/>
              </a:ext>
            </a:extLst>
          </p:cNvPr>
          <p:cNvCxnSpPr/>
          <p:nvPr userDrawn="1"/>
        </p:nvCxnSpPr>
        <p:spPr bwMode="gray">
          <a:xfrm>
            <a:off x="7466012" y="2512464"/>
            <a:ext cx="1828800"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p:nvPr>
        </p:nvSpPr>
        <p:spPr>
          <a:xfrm>
            <a:off x="7470001" y="2529075"/>
            <a:ext cx="1828800" cy="2871263"/>
          </a:xfrm>
          <a:solidFill>
            <a:srgbClr val="F4F8FA"/>
          </a:solidFill>
          <a:ln>
            <a:noFill/>
          </a:ln>
        </p:spPr>
        <p:txBody>
          <a:bodyPr/>
          <a:lstStyle>
            <a:lvl1pPr algn="ctr">
              <a:lnSpc>
                <a:spcPct val="100000"/>
              </a:lnSpc>
              <a:spcBef>
                <a:spcPts val="600"/>
              </a:spcBef>
              <a:defRPr sz="2000">
                <a:solidFill>
                  <a:schemeClr val="accent6"/>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a:t>Click to edit Master text styles</a:t>
            </a:r>
          </a:p>
          <a:p>
            <a:pPr lvl="1"/>
            <a:r>
              <a:rPr lang="en-US"/>
              <a:t>Second level</a:t>
            </a:r>
          </a:p>
          <a:p>
            <a:pPr lvl="2"/>
            <a:r>
              <a:rPr lang="en-US"/>
              <a:t>Third level</a:t>
            </a:r>
          </a:p>
        </p:txBody>
      </p:sp>
      <p:cxnSp>
        <p:nvCxnSpPr>
          <p:cNvPr id="21" name="Straight Connector 20">
            <a:extLst>
              <a:ext uri="{FF2B5EF4-FFF2-40B4-BE49-F238E27FC236}">
                <a16:creationId xmlns:a16="http://schemas.microsoft.com/office/drawing/2014/main" id="{E8B64954-CA3A-494E-B70D-3405C9F592D8}"/>
              </a:ext>
            </a:extLst>
          </p:cNvPr>
          <p:cNvCxnSpPr/>
          <p:nvPr userDrawn="1"/>
        </p:nvCxnSpPr>
        <p:spPr bwMode="gray">
          <a:xfrm>
            <a:off x="9752012"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p:nvPr>
        </p:nvSpPr>
        <p:spPr>
          <a:xfrm>
            <a:off x="9752013" y="2529075"/>
            <a:ext cx="1828800" cy="2871263"/>
          </a:xfrm>
          <a:solidFill>
            <a:srgbClr val="F4F8FA"/>
          </a:solidFill>
          <a:ln>
            <a:noFill/>
          </a:ln>
        </p:spPr>
        <p:txBody>
          <a:bodyPr/>
          <a:lstStyle>
            <a:lvl1pPr algn="ctr">
              <a:lnSpc>
                <a:spcPct val="100000"/>
              </a:lnSpc>
              <a:spcBef>
                <a:spcPts val="600"/>
              </a:spcBef>
              <a:defRPr sz="2000">
                <a:solidFill>
                  <a:schemeClr val="accent3"/>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a:t>Click to edit Master text styles</a:t>
            </a:r>
          </a:p>
          <a:p>
            <a:pPr lvl="1"/>
            <a:r>
              <a:rPr lang="en-US"/>
              <a:t>Second level</a:t>
            </a:r>
          </a:p>
          <a:p>
            <a:pPr lvl="2"/>
            <a:r>
              <a:rPr lang="en-US"/>
              <a:t>Third level</a:t>
            </a:r>
          </a:p>
        </p:txBody>
      </p:sp>
      <p:sp>
        <p:nvSpPr>
          <p:cNvPr id="23"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1131007" y="200679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5"/>
                </a:solidFill>
              </a:rPr>
              <a:t>1</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3414170" y="2006791"/>
            <a:ext cx="788487" cy="788487"/>
          </a:xfrm>
          <a:prstGeom prst="ellipse">
            <a:avLst/>
          </a:prstGeom>
          <a:solidFill>
            <a:schemeClr val="bg1"/>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1"/>
                </a:solidFill>
              </a:rPr>
              <a:t>2</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5705250" y="2006791"/>
            <a:ext cx="788487" cy="788487"/>
          </a:xfrm>
          <a:prstGeom prst="ellipse">
            <a:avLst/>
          </a:prstGeom>
          <a:solidFill>
            <a:schemeClr val="bg1"/>
          </a:solidFill>
          <a:ln w="25400">
            <a:solidFill>
              <a:schemeClr val="accent2"/>
            </a:solidFill>
          </a:ln>
          <a:effectLst/>
        </p:spPr>
        <p:txBody>
          <a:bodyPr vert="horz" wrap="square" lIns="0" tIns="0" rIns="0" bIns="0" numCol="1" anchor="ctr" anchorCtr="0" compatLnSpc="1">
            <a:prstTxWarp prst="textNoShape">
              <a:avLst/>
            </a:prstTxWarp>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006791"/>
            <a:ext cx="788487" cy="788487"/>
          </a:xfrm>
          <a:prstGeom prst="ellipse">
            <a:avLst/>
          </a:prstGeom>
          <a:solidFill>
            <a:schemeClr val="bg1"/>
          </a:solid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6"/>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006791"/>
            <a:ext cx="788487" cy="788487"/>
          </a:xfrm>
          <a:prstGeom prst="ellipse">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3"/>
                </a:solidFill>
              </a:rPr>
              <a:t>5</a:t>
            </a:r>
          </a:p>
        </p:txBody>
      </p:sp>
    </p:spTree>
    <p:extLst>
      <p:ext uri="{BB962C8B-B14F-4D97-AF65-F5344CB8AC3E}">
        <p14:creationId xmlns:p14="http://schemas.microsoft.com/office/powerpoint/2010/main" val="2594102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1"/>
                </a:solidFill>
              </a:defRPr>
            </a:lvl1pPr>
          </a:lstStyle>
          <a:p>
            <a:r>
              <a:rPr lang="en-US" dirty="0"/>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2">
                <a:alpha val="25000"/>
              </a:schemeClr>
            </a:solidFill>
          </a:ln>
        </p:spPr>
        <p:txBody>
          <a:bodyPr tIns="91440"/>
          <a:lstStyle>
            <a:lvl1pPr algn="ctr">
              <a:lnSpc>
                <a:spcPct val="100000"/>
              </a:lnSpc>
              <a:spcBef>
                <a:spcPts val="600"/>
              </a:spcBef>
              <a:buNone/>
              <a:defRPr sz="16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30126" cy="1949198"/>
          </a:xfrm>
          <a:noFill/>
          <a:ln w="15875">
            <a:noFill/>
          </a:ln>
        </p:spPr>
        <p:txBody>
          <a:bodyPr tIns="365760"/>
          <a:lstStyle>
            <a:lvl1pPr algn="ctr">
              <a:lnSpc>
                <a:spcPct val="100000"/>
              </a:lnSpc>
              <a:spcBef>
                <a:spcPts val="600"/>
              </a:spcBef>
              <a:buNone/>
              <a:defRPr sz="1800">
                <a:solidFill>
                  <a:schemeClr val="accent5"/>
                </a:solidFill>
              </a:defRPr>
            </a:lvl1pPr>
            <a:lvl2pPr marL="0" indent="0" algn="ctr">
              <a:lnSpc>
                <a:spcPct val="100000"/>
              </a:lnSpc>
              <a:spcBef>
                <a:spcPts val="600"/>
              </a:spcBef>
              <a:buFont typeface="Open Sans" panose="020B0606030504020204" pitchFamily="34" charset="0"/>
              <a:buChar char="​"/>
              <a:defRPr sz="1400">
                <a:solidFill>
                  <a:schemeClr val="bg2">
                    <a:lumMod val="25000"/>
                  </a:schemeClr>
                </a:solidFill>
              </a:defRPr>
            </a:lvl2pPr>
          </a:lstStyle>
          <a:p>
            <a:pPr lvl="0"/>
            <a:r>
              <a:rPr lang="en-US" dirty="0"/>
              <a:t>Click to add text</a:t>
            </a:r>
          </a:p>
          <a:p>
            <a:pPr lvl="1"/>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3808412" y="2680138"/>
            <a:ext cx="2459421" cy="0"/>
          </a:xfrm>
          <a:prstGeom prst="line">
            <a:avLst/>
          </a:prstGeom>
          <a:ln w="2540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3816081" y="2699834"/>
            <a:ext cx="2430126" cy="1949198"/>
          </a:xfrm>
          <a:noFill/>
          <a:ln w="15875">
            <a:noFill/>
          </a:ln>
        </p:spPr>
        <p:txBody>
          <a:bodyPr tIns="365760"/>
          <a:lstStyle>
            <a:lvl1pPr algn="ctr">
              <a:lnSpc>
                <a:spcPct val="100000"/>
              </a:lnSpc>
              <a:spcBef>
                <a:spcPts val="600"/>
              </a:spcBef>
              <a:buNone/>
              <a:defRPr sz="1800">
                <a:solidFill>
                  <a:schemeClr val="accent1"/>
                </a:solidFill>
              </a:defRPr>
            </a:lvl1pPr>
            <a:lvl2pPr marL="0" indent="0" algn="ctr">
              <a:lnSpc>
                <a:spcPct val="100000"/>
              </a:lnSpc>
              <a:spcBef>
                <a:spcPts val="600"/>
              </a:spcBef>
              <a:buFont typeface="Open Sans" panose="020B0606030504020204" pitchFamily="34" charset="0"/>
              <a:buChar char="​"/>
              <a:defRPr sz="1400">
                <a:solidFill>
                  <a:schemeClr val="bg2">
                    <a:lumMod val="25000"/>
                  </a:schemeClr>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6551612"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6529754" y="2699834"/>
            <a:ext cx="2477611" cy="1949198"/>
          </a:xfrm>
          <a:noFill/>
          <a:ln w="15875">
            <a:noFill/>
          </a:ln>
        </p:spPr>
        <p:txBody>
          <a:bodyPr tIns="36576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sz="1400">
                <a:solidFill>
                  <a:schemeClr val="bg2">
                    <a:lumMod val="25000"/>
                  </a:schemeClr>
                </a:solidFill>
              </a:defRPr>
            </a:lvl2pPr>
          </a:lstStyle>
          <a:p>
            <a:pPr lvl="0"/>
            <a:r>
              <a:rPr lang="en-US" dirty="0"/>
              <a:t>Click to add text</a:t>
            </a:r>
          </a:p>
          <a:p>
            <a:pPr lvl="1"/>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4586" cy="1949198"/>
          </a:xfrm>
          <a:noFill/>
          <a:ln w="15875">
            <a:noFill/>
          </a:ln>
        </p:spPr>
        <p:txBody>
          <a:bodyPr tIns="365760"/>
          <a:lstStyle>
            <a:lvl1pPr algn="ctr">
              <a:lnSpc>
                <a:spcPct val="100000"/>
              </a:lnSpc>
              <a:spcBef>
                <a:spcPts val="600"/>
              </a:spcBef>
              <a:buNone/>
              <a:defRPr sz="1800">
                <a:solidFill>
                  <a:schemeClr val="accent3"/>
                </a:solidFill>
              </a:defRPr>
            </a:lvl1pPr>
            <a:lvl2pPr marL="0" indent="0" algn="ctr">
              <a:lnSpc>
                <a:spcPct val="100000"/>
              </a:lnSpc>
              <a:spcBef>
                <a:spcPts val="600"/>
              </a:spcBef>
              <a:buFont typeface="Open Sans" panose="020B0606030504020204" pitchFamily="34" charset="0"/>
              <a:buChar char="​"/>
              <a:defRPr sz="1400">
                <a:solidFill>
                  <a:schemeClr val="bg2">
                    <a:lumMod val="25000"/>
                  </a:schemeClr>
                </a:solidFill>
              </a:defRPr>
            </a:lvl2pPr>
          </a:lstStyle>
          <a:p>
            <a:pPr lvl="0"/>
            <a:r>
              <a:rPr lang="en-US" dirty="0"/>
              <a:t>Click to add text</a:t>
            </a:r>
          </a:p>
          <a:p>
            <a:pPr lvl="1"/>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2">
                <a:alpha val="25000"/>
              </a:schemeClr>
            </a:solidFill>
          </a:ln>
        </p:spPr>
        <p:txBody>
          <a:bodyPr wrap="square" tIns="182880"/>
          <a:lstStyle>
            <a:lvl1pPr algn="ctr">
              <a:lnSpc>
                <a:spcPct val="100000"/>
              </a:lnSpc>
              <a:spcBef>
                <a:spcPts val="600"/>
              </a:spcBef>
              <a:defRPr sz="12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000">
                <a:solidFill>
                  <a:schemeClr val="bg2">
                    <a:lumMod val="25000"/>
                  </a:schemeClr>
                </a:solidFill>
              </a:defRPr>
            </a:lvl2pPr>
          </a:lstStyle>
          <a:p>
            <a:pPr lvl="0"/>
            <a:r>
              <a:rPr lang="en-US" dirty="0"/>
              <a:t>Click to add text</a:t>
            </a:r>
          </a:p>
          <a:p>
            <a:pPr lvl="1"/>
            <a:r>
              <a:rPr lang="en-US" dirty="0"/>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2">
                <a:alpha val="25000"/>
              </a:schemeClr>
            </a:solidFill>
          </a:ln>
        </p:spPr>
        <p:txBody>
          <a:bodyPr wrap="square" tIns="182880"/>
          <a:lstStyle>
            <a:lvl1pPr algn="ctr">
              <a:lnSpc>
                <a:spcPct val="100000"/>
              </a:lnSpc>
              <a:spcBef>
                <a:spcPts val="600"/>
              </a:spcBef>
              <a:defRPr sz="12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000">
                <a:solidFill>
                  <a:schemeClr val="bg2">
                    <a:lumMod val="25000"/>
                  </a:schemeClr>
                </a:solidFill>
              </a:defRPr>
            </a:lvl2pPr>
          </a:lstStyle>
          <a:p>
            <a:pPr lvl="0"/>
            <a:r>
              <a:rPr lang="en-US" dirty="0"/>
              <a:t>Click to add text</a:t>
            </a:r>
          </a:p>
          <a:p>
            <a:pPr lvl="1"/>
            <a:r>
              <a:rPr lang="en-US" dirty="0"/>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2">
                <a:alpha val="25000"/>
              </a:schemeClr>
            </a:solidFill>
          </a:ln>
        </p:spPr>
        <p:txBody>
          <a:bodyPr wrap="square" tIns="182880"/>
          <a:lstStyle>
            <a:lvl1pPr algn="ctr">
              <a:lnSpc>
                <a:spcPct val="100000"/>
              </a:lnSpc>
              <a:spcBef>
                <a:spcPts val="600"/>
              </a:spcBef>
              <a:defRPr sz="12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000">
                <a:solidFill>
                  <a:schemeClr val="bg2">
                    <a:lumMod val="25000"/>
                  </a:schemeClr>
                </a:solidFill>
              </a:defRPr>
            </a:lvl2pPr>
          </a:lstStyle>
          <a:p>
            <a:pPr lvl="0"/>
            <a:r>
              <a:rPr lang="en-US" dirty="0"/>
              <a:t>Click to add text</a:t>
            </a:r>
          </a:p>
          <a:p>
            <a:pPr lvl="1"/>
            <a:r>
              <a:rPr lang="en-US" dirty="0"/>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2">
                <a:alpha val="25000"/>
              </a:schemeClr>
            </a:solidFill>
          </a:ln>
        </p:spPr>
        <p:txBody>
          <a:bodyPr wrap="square" tIns="182880"/>
          <a:lstStyle>
            <a:lvl1pPr algn="ctr">
              <a:lnSpc>
                <a:spcPct val="100000"/>
              </a:lnSpc>
              <a:spcBef>
                <a:spcPts val="600"/>
              </a:spcBef>
              <a:defRPr sz="12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000">
                <a:solidFill>
                  <a:schemeClr val="bg2">
                    <a:lumMod val="25000"/>
                  </a:schemeClr>
                </a:solidFill>
              </a:defRPr>
            </a:lvl2pPr>
          </a:lstStyle>
          <a:p>
            <a:pPr lvl="0"/>
            <a:r>
              <a:rPr lang="en-US" dirty="0"/>
              <a:t>Click to add text</a:t>
            </a:r>
          </a:p>
          <a:p>
            <a:pPr lvl="1"/>
            <a:r>
              <a:rPr lang="en-US" dirty="0"/>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2">
                <a:alpha val="25000"/>
              </a:schemeClr>
            </a:solidFill>
          </a:ln>
        </p:spPr>
        <p:txBody>
          <a:bodyPr wrap="square" tIns="182880"/>
          <a:lstStyle>
            <a:lvl1pPr algn="ctr">
              <a:lnSpc>
                <a:spcPct val="100000"/>
              </a:lnSpc>
              <a:spcBef>
                <a:spcPts val="600"/>
              </a:spcBef>
              <a:defRPr sz="12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000">
                <a:solidFill>
                  <a:schemeClr val="bg2">
                    <a:lumMod val="25000"/>
                  </a:schemeClr>
                </a:solidFill>
              </a:defRPr>
            </a:lvl2pPr>
          </a:lstStyle>
          <a:p>
            <a:pPr lvl="0"/>
            <a:r>
              <a:rPr lang="en-US" dirty="0"/>
              <a:t>Click to add text</a:t>
            </a:r>
          </a:p>
          <a:p>
            <a:pPr lvl="1"/>
            <a:r>
              <a:rPr lang="en-US" dirty="0"/>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2">
                <a:alpha val="25000"/>
              </a:schemeClr>
            </a:solidFill>
          </a:ln>
        </p:spPr>
        <p:txBody>
          <a:bodyPr wrap="square" tIns="182880"/>
          <a:lstStyle>
            <a:lvl1pPr algn="ctr">
              <a:lnSpc>
                <a:spcPct val="100000"/>
              </a:lnSpc>
              <a:spcBef>
                <a:spcPts val="600"/>
              </a:spcBef>
              <a:defRPr sz="12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000">
                <a:solidFill>
                  <a:schemeClr val="bg2">
                    <a:lumMod val="25000"/>
                  </a:schemeClr>
                </a:solidFill>
              </a:defRPr>
            </a:lvl2pPr>
          </a:lstStyle>
          <a:p>
            <a:pPr lvl="0"/>
            <a:r>
              <a:rPr lang="en-US" dirty="0"/>
              <a:t>Click to add text</a:t>
            </a:r>
          </a:p>
          <a:p>
            <a:pPr lvl="1"/>
            <a:r>
              <a:rPr lang="en-US" dirty="0"/>
              <a:t>Second level</a:t>
            </a:r>
          </a:p>
        </p:txBody>
      </p:sp>
      <p:sp>
        <p:nvSpPr>
          <p:cNvPr id="24"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7959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ig Statement - Leaf">
    <p:spTree>
      <p:nvGrpSpPr>
        <p:cNvPr id="1" name=""/>
        <p:cNvGrpSpPr/>
        <p:nvPr/>
      </p:nvGrpSpPr>
      <p:grpSpPr>
        <a:xfrm>
          <a:off x="0" y="0"/>
          <a:ext cx="0" cy="0"/>
          <a:chOff x="0" y="0"/>
          <a:chExt cx="0" cy="0"/>
        </a:xfrm>
      </p:grpSpPr>
      <p:pic>
        <p:nvPicPr>
          <p:cNvPr id="31" name="Picture 30" descr="A logo with a blue and green gradient&#10;&#10;Description automatically generated">
            <a:extLst>
              <a:ext uri="{FF2B5EF4-FFF2-40B4-BE49-F238E27FC236}">
                <a16:creationId xmlns:a16="http://schemas.microsoft.com/office/drawing/2014/main" id="{2F5DD625-ACBA-5254-F78D-CE3126E0D4C6}"/>
              </a:ext>
            </a:extLst>
          </p:cNvPr>
          <p:cNvPicPr>
            <a:picLocks noChangeAspect="1"/>
          </p:cNvPicPr>
          <p:nvPr userDrawn="1"/>
        </p:nvPicPr>
        <p:blipFill>
          <a:blip r:embed="rId2"/>
          <a:stretch>
            <a:fillRect/>
          </a:stretch>
        </p:blipFill>
        <p:spPr>
          <a:xfrm>
            <a:off x="879" y="0"/>
            <a:ext cx="12187946" cy="6858495"/>
          </a:xfrm>
          <a:prstGeom prst="rect">
            <a:avLst/>
          </a:prstGeom>
        </p:spPr>
      </p:pic>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TextBox 2">
            <a:extLst>
              <a:ext uri="{FF2B5EF4-FFF2-40B4-BE49-F238E27FC236}">
                <a16:creationId xmlns:a16="http://schemas.microsoft.com/office/drawing/2014/main" id="{E4032F90-D6DB-ABBB-7CBA-705BD651CFE3}"/>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577248C3-E598-081D-1266-A19B21EE93FC}"/>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36BC0503-0E5F-3FC2-C33B-40F0FC9D5C59}"/>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27D34E3-DFBA-F785-13EB-D0DFBBDA35BF}"/>
                </a:ext>
              </a:extLst>
            </p:cNvPr>
            <p:cNvGrpSpPr/>
            <p:nvPr/>
          </p:nvGrpSpPr>
          <p:grpSpPr>
            <a:xfrm>
              <a:off x="745455" y="6594444"/>
              <a:ext cx="722662" cy="98475"/>
              <a:chOff x="745455" y="6594444"/>
              <a:chExt cx="722662" cy="98475"/>
            </a:xfrm>
            <a:solidFill>
              <a:srgbClr val="000000"/>
            </a:solidFill>
          </p:grpSpPr>
          <p:sp>
            <p:nvSpPr>
              <p:cNvPr id="19" name="Freeform 18">
                <a:extLst>
                  <a:ext uri="{FF2B5EF4-FFF2-40B4-BE49-F238E27FC236}">
                    <a16:creationId xmlns:a16="http://schemas.microsoft.com/office/drawing/2014/main" id="{1A0A59D6-2334-C4A3-2714-783D9396205B}"/>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1017023F-D8B1-2DD9-05B6-FEF644BF73A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17F86678-1425-04D1-35E1-10619FFBFEB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10958DC0-257E-6B7D-17C0-1061C4A26112}"/>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E67D21AA-5D7E-8DAA-3E34-54DEB942AA6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A3F6ADA0-05AE-1C0C-9475-06BA1F0A1A2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218BC619-C09F-F5B1-F2E3-7FD3AD677E6B}"/>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920DDE96-E19F-E46B-4031-1395C9ADFFE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C0D94988-234E-A57D-DFA2-52425317890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3C50C48-D470-2057-DE04-8F6C2A37CE5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020D35E6-2048-F449-527D-73415FA607DA}"/>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78190F23-EDE3-C8F4-46D2-40E38C66891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D3D2B466-275E-E281-A3F2-889C23F1D7D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38A860D8-610A-FB5F-210F-8736F9A5078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767849B6-2269-1544-6AB8-9164920F20EB}"/>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1217D899-BFDC-8547-0B15-CF01D73FE44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6C5A7838-659F-923D-FA4A-F7FDFF82189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FB2508CD-EFBC-2585-2318-F0ADC34D56B6}"/>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66302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Big Statement - Plum">
    <p:spTree>
      <p:nvGrpSpPr>
        <p:cNvPr id="1" name=""/>
        <p:cNvGrpSpPr/>
        <p:nvPr/>
      </p:nvGrpSpPr>
      <p:grpSpPr>
        <a:xfrm>
          <a:off x="0" y="0"/>
          <a:ext cx="0" cy="0"/>
          <a:chOff x="0" y="0"/>
          <a:chExt cx="0" cy="0"/>
        </a:xfrm>
      </p:grpSpPr>
      <p:pic>
        <p:nvPicPr>
          <p:cNvPr id="32" name="Picture 31" descr="A logo with a blue and purple gradient&#10;&#10;Description automatically generated">
            <a:extLst>
              <a:ext uri="{FF2B5EF4-FFF2-40B4-BE49-F238E27FC236}">
                <a16:creationId xmlns:a16="http://schemas.microsoft.com/office/drawing/2014/main" id="{E2B4E417-DAAE-40D3-5DE7-D50EC4869ECF}"/>
              </a:ext>
            </a:extLst>
          </p:cNvPr>
          <p:cNvPicPr>
            <a:picLocks noChangeAspect="1"/>
          </p:cNvPicPr>
          <p:nvPr userDrawn="1"/>
        </p:nvPicPr>
        <p:blipFill>
          <a:blip r:embed="rId2"/>
          <a:stretch>
            <a:fillRect/>
          </a:stretch>
        </p:blipFill>
        <p:spPr>
          <a:xfrm>
            <a:off x="879" y="0"/>
            <a:ext cx="12187946" cy="6858495"/>
          </a:xfrm>
          <a:prstGeom prst="rect">
            <a:avLst/>
          </a:prstGeom>
        </p:spPr>
      </p:pic>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accent3"/>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TextBox 2">
            <a:extLst>
              <a:ext uri="{FF2B5EF4-FFF2-40B4-BE49-F238E27FC236}">
                <a16:creationId xmlns:a16="http://schemas.microsoft.com/office/drawing/2014/main" id="{941A3809-88F3-4BB3-2910-1E331F3F7BE1}"/>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27945E12-433F-51F2-CE43-2615EB8C60D0}"/>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B31E0E11-BDB5-8D16-D511-B790FBD7A127}"/>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A86A4262-B4A6-F58D-92FB-4A930F460073}"/>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5E43CE95-E77A-B8D9-C615-12185D0C4AFB}"/>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E5EBFC18-A5D6-0A5A-FCB9-9B705CB285F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9E3EFB7A-43E3-A3E9-7A58-126834F625F2}"/>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A5A7D539-C737-948D-65EE-344D8E5A919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3734D0A4-8174-8F99-66E2-7DEA536A56A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70FC4366-4CDE-397E-52D5-76E32777C27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9849DDB2-774C-8F19-272D-76F7712EF75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23B6B046-0EBE-D507-CBB0-399094AC1A7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050E0132-2A9B-E6A4-5105-7E8AD9C4D950}"/>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7CEE976B-ADD7-6B01-D1BB-9174AF688883}"/>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B628E6F3-0FF5-CD70-83DD-C49E5D85722B}"/>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58DE4FBA-FF2B-2C6C-E26F-4C1EFD486FD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9AA4C36E-958D-841F-2645-D371CC38F65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5DBA5537-F60A-7EAB-305B-C742C552FF1B}"/>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6B8C2B59-4347-C239-5AB7-9592FFF7543B}"/>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FF17752D-4EAD-EF63-A468-FEBF4E3BD14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08C3B82E-A939-4167-EEBB-BA03086D5C9D}"/>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B83B94B5-542C-4CFE-3E83-0CEC3BFE6BB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636671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ig Statement - Aqua">
    <p:spTree>
      <p:nvGrpSpPr>
        <p:cNvPr id="1" name=""/>
        <p:cNvGrpSpPr/>
        <p:nvPr/>
      </p:nvGrpSpPr>
      <p:grpSpPr>
        <a:xfrm>
          <a:off x="0" y="0"/>
          <a:ext cx="0" cy="0"/>
          <a:chOff x="0" y="0"/>
          <a:chExt cx="0" cy="0"/>
        </a:xfrm>
      </p:grpSpPr>
      <p:pic>
        <p:nvPicPr>
          <p:cNvPr id="4" name="Picture 3" descr="A blue and white logo&#10;&#10;Description automatically generated">
            <a:extLst>
              <a:ext uri="{FF2B5EF4-FFF2-40B4-BE49-F238E27FC236}">
                <a16:creationId xmlns:a16="http://schemas.microsoft.com/office/drawing/2014/main" id="{0C226285-FC13-4B96-20E1-7BFE775E0B23}"/>
              </a:ext>
            </a:extLst>
          </p:cNvPr>
          <p:cNvPicPr>
            <a:picLocks noChangeAspect="1"/>
          </p:cNvPicPr>
          <p:nvPr userDrawn="1"/>
        </p:nvPicPr>
        <p:blipFill>
          <a:blip r:embed="rId2"/>
          <a:stretch>
            <a:fillRect/>
          </a:stretch>
        </p:blipFill>
        <p:spPr>
          <a:xfrm>
            <a:off x="879" y="0"/>
            <a:ext cx="12187946" cy="6858495"/>
          </a:xfrm>
          <a:prstGeom prst="rect">
            <a:avLst/>
          </a:prstGeom>
        </p:spPr>
      </p:pic>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accent1"/>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TextBox 4">
            <a:extLst>
              <a:ext uri="{FF2B5EF4-FFF2-40B4-BE49-F238E27FC236}">
                <a16:creationId xmlns:a16="http://schemas.microsoft.com/office/drawing/2014/main" id="{D2562CDE-80F5-4683-CBAE-12C1F42BFC0A}"/>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6" name="TextBox 5">
            <a:extLst>
              <a:ext uri="{FF2B5EF4-FFF2-40B4-BE49-F238E27FC236}">
                <a16:creationId xmlns:a16="http://schemas.microsoft.com/office/drawing/2014/main" id="{F181F862-D885-2827-E599-19FAB2ED7F75}"/>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7" name="Graphic 8">
            <a:extLst>
              <a:ext uri="{FF2B5EF4-FFF2-40B4-BE49-F238E27FC236}">
                <a16:creationId xmlns:a16="http://schemas.microsoft.com/office/drawing/2014/main" id="{3544CA32-7A4E-E24C-0B16-84415A57EFA6}"/>
              </a:ext>
            </a:extLst>
          </p:cNvPr>
          <p:cNvGrpSpPr/>
          <p:nvPr userDrawn="1"/>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20943B12-85F0-58B5-F16F-E10FB08F33F0}"/>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6535C51D-722A-8DBB-5190-482C3F58433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1AB17255-34FF-F4CC-B176-03A021BAF6C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3E5B4A1D-6A55-5588-BD97-B48D3F778952}"/>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7372D965-2AC9-B755-E3BE-824FAF91F05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AF200068-07D6-6935-E44F-B51D4133263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DE23B39D-3A51-28F8-2DD1-BFD792AEA5C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2AB5E269-BED0-0002-A07A-ABB81065130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8599CECC-8792-FC50-8A2B-D9C15E28CB7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B5543A7E-ADB4-BF55-22FD-581E67E7E90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216F7E0F-7C25-70ED-C24A-CC3C0339E6D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B63C4A71-7BE0-C6DC-8D4B-F244EE30CF7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43E5047-5960-5FDA-1D91-B1F57D3A26DB}"/>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39B0A1C7-F440-8EAE-3D26-0106825A9893}"/>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B7C94D60-75AA-6628-90D2-98518C45F87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52694C1E-C1A2-7E03-15CA-27EEA1EA9DB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5F7E65CD-B16C-A2B0-1A3A-5FE837711E52}"/>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BFA784D7-1400-0B2B-37E0-22CEACC221C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328E03F9-0825-A33A-DCB6-D51610E5C4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30835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ig Statement - Ocea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CD907A-DE54-8E95-E227-8384A9979B83}"/>
              </a:ext>
            </a:extLst>
          </p:cNvPr>
          <p:cNvPicPr>
            <a:picLocks noChangeAspect="1"/>
          </p:cNvPicPr>
          <p:nvPr userDrawn="1"/>
        </p:nvPicPr>
        <p:blipFill>
          <a:blip r:embed="rId2"/>
          <a:srcRect l="3" r="3"/>
          <a:stretch/>
        </p:blipFill>
        <p:spPr>
          <a:xfrm>
            <a:off x="879" y="0"/>
            <a:ext cx="12187312" cy="6858495"/>
          </a:xfrm>
          <a:prstGeom prst="rect">
            <a:avLst/>
          </a:prstGeom>
        </p:spPr>
      </p:pic>
      <p:sp>
        <p:nvSpPr>
          <p:cNvPr id="8"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Box 3">
            <a:extLst>
              <a:ext uri="{FF2B5EF4-FFF2-40B4-BE49-F238E27FC236}">
                <a16:creationId xmlns:a16="http://schemas.microsoft.com/office/drawing/2014/main" id="{D8EE269B-2864-BA4F-E33F-7C34C205519A}"/>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5" name="TextBox 4">
            <a:extLst>
              <a:ext uri="{FF2B5EF4-FFF2-40B4-BE49-F238E27FC236}">
                <a16:creationId xmlns:a16="http://schemas.microsoft.com/office/drawing/2014/main" id="{61F96468-ACD3-798C-15C0-C369E48ADD75}"/>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7" name="Graphic 8">
            <a:extLst>
              <a:ext uri="{FF2B5EF4-FFF2-40B4-BE49-F238E27FC236}">
                <a16:creationId xmlns:a16="http://schemas.microsoft.com/office/drawing/2014/main" id="{106070BB-3C7A-AF1C-E50B-2796B660CD6B}"/>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9BD6EE57-DA66-6753-4158-20BAECCB1867}"/>
                </a:ext>
              </a:extLst>
            </p:cNvPr>
            <p:cNvGrpSpPr/>
            <p:nvPr/>
          </p:nvGrpSpPr>
          <p:grpSpPr>
            <a:xfrm>
              <a:off x="745455" y="6594444"/>
              <a:ext cx="722662" cy="98475"/>
              <a:chOff x="745455" y="6594444"/>
              <a:chExt cx="722662" cy="98475"/>
            </a:xfrm>
            <a:solidFill>
              <a:srgbClr val="000000"/>
            </a:solidFill>
          </p:grpSpPr>
          <p:sp>
            <p:nvSpPr>
              <p:cNvPr id="19" name="Freeform 18">
                <a:extLst>
                  <a:ext uri="{FF2B5EF4-FFF2-40B4-BE49-F238E27FC236}">
                    <a16:creationId xmlns:a16="http://schemas.microsoft.com/office/drawing/2014/main" id="{EC125135-07A9-0E05-C4CD-05391487911A}"/>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47590859-ED39-9C44-5A86-D119394B78D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58924690-694F-6296-C1F9-D82A81C6BD7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57B79F88-46C9-7986-5B28-58FA3ED65B1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E0B88D50-BF2B-CA6D-0718-8FC5DD3E0BC5}"/>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024CD3F9-D7D6-7EB9-64BC-1DFB4435FDA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9536C181-AFDE-4F6E-8EB1-A00E7618962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3E6E7505-D965-ED74-6DBB-9452FF6BE8F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0B45A178-C545-73DC-8720-0D291C70DA4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A8BC3AD7-B333-CC91-0CB5-79B261298B7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7FE3B364-284C-AB01-1861-D5310518E736}"/>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E5203EAF-88BB-29CE-1148-F0566CC57936}"/>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E0045D23-F316-0A4A-AC43-060B19A3698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EBA07085-D5E4-246A-489E-52DF859B4EE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EF950DA-4073-97DF-F790-3AAA0500519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191EF5E-4559-1073-E18A-DC183258AA6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5216A726-6B47-8847-ED76-0AF92E74AA94}"/>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2C04193F-8238-E8BC-01B2-223E3347848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1"/>
                </a:solidFill>
              </a:defRPr>
            </a:lvl1pPr>
          </a:lstStyle>
          <a:p>
            <a:r>
              <a:rPr lang="en-US" dirty="0"/>
              <a:t>Big Statement – 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1070488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ig Statement - Indigo">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22C9E3-4DB2-2C27-14FB-CE1AF9DAD04C}"/>
              </a:ext>
            </a:extLst>
          </p:cNvPr>
          <p:cNvPicPr>
            <a:picLocks noChangeAspect="1"/>
          </p:cNvPicPr>
          <p:nvPr userDrawn="1"/>
        </p:nvPicPr>
        <p:blipFill>
          <a:blip r:embed="rId2"/>
          <a:srcRect l="3" r="3"/>
          <a:stretch/>
        </p:blipFill>
        <p:spPr>
          <a:xfrm>
            <a:off x="879" y="0"/>
            <a:ext cx="12187312" cy="6858495"/>
          </a:xfrm>
          <a:prstGeom prst="rect">
            <a:avLst/>
          </a:prstGeom>
        </p:spPr>
      </p:pic>
      <p:sp>
        <p:nvSpPr>
          <p:cNvPr id="7"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1"/>
                </a:solidFill>
              </a:defRPr>
            </a:lvl1pPr>
          </a:lstStyle>
          <a:p>
            <a:r>
              <a:rPr lang="en-US" dirty="0"/>
              <a:t>Big Statement – 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6" name="TextBox 5">
            <a:extLst>
              <a:ext uri="{FF2B5EF4-FFF2-40B4-BE49-F238E27FC236}">
                <a16:creationId xmlns:a16="http://schemas.microsoft.com/office/drawing/2014/main" id="{5A5F00F9-49FE-C20A-ECAA-0104F1A64097}"/>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9" name="TextBox 8">
            <a:extLst>
              <a:ext uri="{FF2B5EF4-FFF2-40B4-BE49-F238E27FC236}">
                <a16:creationId xmlns:a16="http://schemas.microsoft.com/office/drawing/2014/main" id="{DC535A40-740D-9DB9-3054-151E5D507192}"/>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10" name="Graphic 8">
            <a:extLst>
              <a:ext uri="{FF2B5EF4-FFF2-40B4-BE49-F238E27FC236}">
                <a16:creationId xmlns:a16="http://schemas.microsoft.com/office/drawing/2014/main" id="{3D360F8E-0337-095D-9115-502569552338}"/>
              </a:ext>
            </a:extLst>
          </p:cNvPr>
          <p:cNvGrpSpPr/>
          <p:nvPr userDrawn="1"/>
        </p:nvGrpSpPr>
        <p:grpSpPr>
          <a:xfrm>
            <a:off x="265625" y="6323271"/>
            <a:ext cx="1249223" cy="369648"/>
            <a:chOff x="265625" y="6323271"/>
            <a:chExt cx="1249223" cy="369648"/>
          </a:xfrm>
          <a:solidFill>
            <a:srgbClr val="000000"/>
          </a:solidFill>
        </p:grpSpPr>
        <p:grpSp>
          <p:nvGrpSpPr>
            <p:cNvPr id="11" name="Graphic 8">
              <a:extLst>
                <a:ext uri="{FF2B5EF4-FFF2-40B4-BE49-F238E27FC236}">
                  <a16:creationId xmlns:a16="http://schemas.microsoft.com/office/drawing/2014/main" id="{D232296A-3792-8919-9C91-DCF4467EF207}"/>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959CAC61-58D6-C7E9-DC31-ED858BD5DEE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0D20326D-2A57-5538-66B5-4FA92B284FF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523D5FCB-B6E4-C285-B126-C7AA0B9541D2}"/>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3C9EEE26-0E5E-0EA2-294C-E93E933780F5}"/>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7603ED56-F1A7-FC2F-E0AD-33D5A4B1A82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C99340F6-6C3F-F2E6-3F12-4A017853011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91788F2A-17CA-410C-2CA1-0D5B2A8593B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613C8560-6D89-7EF5-227E-95C90043EDBB}"/>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2E593A7C-B00D-02C0-AD6A-DCC0AF8D948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8F3DC2C2-27E8-F48E-3694-31C51132A18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2" name="Graphic 8">
              <a:extLst>
                <a:ext uri="{FF2B5EF4-FFF2-40B4-BE49-F238E27FC236}">
                  <a16:creationId xmlns:a16="http://schemas.microsoft.com/office/drawing/2014/main" id="{8CE9F28D-E280-3337-7E3C-57954D739C6D}"/>
                </a:ext>
              </a:extLst>
            </p:cNvPr>
            <p:cNvGrpSpPr/>
            <p:nvPr/>
          </p:nvGrpSpPr>
          <p:grpSpPr>
            <a:xfrm>
              <a:off x="265625" y="6323271"/>
              <a:ext cx="1249223" cy="190348"/>
              <a:chOff x="265625" y="6323271"/>
              <a:chExt cx="1249223" cy="190348"/>
            </a:xfrm>
            <a:solidFill>
              <a:srgbClr val="000000"/>
            </a:solidFill>
          </p:grpSpPr>
          <p:sp>
            <p:nvSpPr>
              <p:cNvPr id="13" name="Freeform 12">
                <a:extLst>
                  <a:ext uri="{FF2B5EF4-FFF2-40B4-BE49-F238E27FC236}">
                    <a16:creationId xmlns:a16="http://schemas.microsoft.com/office/drawing/2014/main" id="{7B504552-DFCA-DB1F-9CE9-C23EAC01EEC6}"/>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8DD4E43-F479-780B-8862-7D3BD550D2CF}"/>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E1C2F571-A12E-E4A9-EBD4-8DB67C1168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3FE2395-5DFC-136C-FA42-B0CB36EA67E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2656E447-F978-0AF9-FB35-CA520D1C70C8}"/>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2156E7C0-9616-F893-F8B1-19172F1FD0B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5AF5F293-18F7-4682-68D7-291E7E58DD0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2690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ig Statement - Green">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BF36CF68-B9DA-3BAE-CB89-E359AADAD9B6}"/>
              </a:ext>
            </a:extLst>
          </p:cNvPr>
          <p:cNvPicPr>
            <a:picLocks noChangeAspect="1"/>
          </p:cNvPicPr>
          <p:nvPr userDrawn="1"/>
        </p:nvPicPr>
        <p:blipFill>
          <a:blip r:embed="rId2"/>
          <a:srcRect l="4" r="4"/>
          <a:stretch/>
        </p:blipFill>
        <p:spPr>
          <a:xfrm>
            <a:off x="879" y="0"/>
            <a:ext cx="12187044" cy="6858495"/>
          </a:xfrm>
          <a:prstGeom prst="rect">
            <a:avLst/>
          </a:prstGeom>
        </p:spPr>
      </p:pic>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1"/>
                </a:solidFill>
              </a:defRPr>
            </a:lvl1pPr>
          </a:lstStyle>
          <a:p>
            <a:r>
              <a:rPr lang="en-US" dirty="0"/>
              <a:t>Big Statement – 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AE21ABEE-6BAC-C34C-5404-7BD67525FAD9}"/>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1A4946F5-69DE-D9E2-BF93-5F5E95B619EE}"/>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4BB1AF78-D766-CFC1-DA23-8B3A36428AA6}"/>
              </a:ext>
            </a:extLst>
          </p:cNvPr>
          <p:cNvGrpSpPr/>
          <p:nvPr userDrawn="1"/>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8C73EE1-3105-F8C3-3452-A28CD0603B30}"/>
                </a:ext>
              </a:extLst>
            </p:cNvPr>
            <p:cNvGrpSpPr/>
            <p:nvPr/>
          </p:nvGrpSpPr>
          <p:grpSpPr>
            <a:xfrm>
              <a:off x="745455" y="6594444"/>
              <a:ext cx="722662" cy="98475"/>
              <a:chOff x="745455" y="6594444"/>
              <a:chExt cx="722662" cy="98475"/>
            </a:xfrm>
            <a:solidFill>
              <a:srgbClr val="000000"/>
            </a:solidFill>
          </p:grpSpPr>
          <p:sp>
            <p:nvSpPr>
              <p:cNvPr id="17" name="Freeform 16">
                <a:extLst>
                  <a:ext uri="{FF2B5EF4-FFF2-40B4-BE49-F238E27FC236}">
                    <a16:creationId xmlns:a16="http://schemas.microsoft.com/office/drawing/2014/main" id="{61A4A683-4B45-D9E6-0090-CB9453F2D41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A73007C-D2A3-EA60-C19C-07FD6E0E794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94587156-3851-CC5F-9D05-6153B55603B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40473044-D73D-429A-BD8C-A940FF93F69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0A708797-DB51-B4D7-A5BD-898FDA1FAA39}"/>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2F74A8D-603A-A09A-877B-7C9A39434254}"/>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BFB69D16-0AF9-72C8-224F-E48C6CC35BB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D25CBC64-30A0-425D-14A2-3B06AB00C0A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3212566-8336-9F8E-CA4D-E150086210C0}"/>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0A831B30-85CD-6967-4FA9-0A45E9CB1B7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 name="Graphic 8">
              <a:extLst>
                <a:ext uri="{FF2B5EF4-FFF2-40B4-BE49-F238E27FC236}">
                  <a16:creationId xmlns:a16="http://schemas.microsoft.com/office/drawing/2014/main" id="{F2827068-70AA-4D4A-F30B-926331832A9C}"/>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76AC9C25-B57F-C604-F56D-96B9E76902D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6BE71AB3-DA22-347D-777A-64CFE3EC33B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BE8F43D7-F5C8-6832-D322-FB1EF9210B04}"/>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5E23250D-7DA6-3278-9A87-F4F7DF58AFF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E4C762A4-F23D-1A6A-D3F7-5A167520FF8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B639BDF0-2952-AF67-8B92-90473400DA8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99CBC4E6-9C87-C509-AF88-EDD34944B96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563104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1"/>
                </a:solidFill>
              </a:defRPr>
            </a:lvl1pPr>
            <a:lvl2pPr marL="273050" indent="0">
              <a:buNone/>
              <a:defRPr/>
            </a:lvl2pPr>
          </a:lstStyle>
          <a:p>
            <a:pPr lvl="0"/>
            <a:r>
              <a:rPr lang="en-US" dirty="0"/>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93202"/>
            <a:ext cx="5403138" cy="6764798"/>
          </a:xfrm>
        </p:spPr>
        <p:txBody>
          <a:bodyPr lIns="640080" tIns="0" rIns="640080" anchor="ctr"/>
          <a:lstStyle>
            <a:lvl1pPr algn="ctr">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316105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Statistic">
    <p:bg>
      <p:bgPr>
        <a:solidFill>
          <a:srgbClr val="F4F8FA"/>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B2561DF-30FD-6C49-A8A6-D040520C9F89}"/>
              </a:ext>
              <a:ext uri="{C183D7F6-B498-43B3-948B-1728B52AA6E4}">
                <adec:decorative xmlns:adec="http://schemas.microsoft.com/office/drawing/2017/decorative" val="1"/>
              </a:ext>
            </a:extLst>
          </p:cNvPr>
          <p:cNvGrpSpPr/>
          <p:nvPr userDrawn="1"/>
        </p:nvGrpSpPr>
        <p:grpSpPr>
          <a:xfrm>
            <a:off x="0" y="99392"/>
            <a:ext cx="12188822" cy="5094005"/>
            <a:chOff x="0" y="99392"/>
            <a:chExt cx="12188822" cy="5094005"/>
          </a:xfrm>
        </p:grpSpPr>
        <p:sp>
          <p:nvSpPr>
            <p:cNvPr id="5" name="Rectangle 4">
              <a:extLst>
                <a:ext uri="{FF2B5EF4-FFF2-40B4-BE49-F238E27FC236}">
                  <a16:creationId xmlns:a16="http://schemas.microsoft.com/office/drawing/2014/main" id="{80F1D41E-848B-4178-A0D2-2A18C6921400}"/>
                </a:ext>
                <a:ext uri="{C183D7F6-B498-43B3-948B-1728B52AA6E4}">
                  <adec:decorative xmlns:adec="http://schemas.microsoft.com/office/drawing/2017/decorative" val="1"/>
                </a:ext>
              </a:extLst>
            </p:cNvPr>
            <p:cNvSpPr/>
            <p:nvPr userDrawn="1"/>
          </p:nvSpPr>
          <p:spPr bwMode="hidden">
            <a:xfrm>
              <a:off x="0" y="99392"/>
              <a:ext cx="12188822" cy="423289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7" name="Oval 6">
              <a:extLst>
                <a:ext uri="{FF2B5EF4-FFF2-40B4-BE49-F238E27FC236}">
                  <a16:creationId xmlns:a16="http://schemas.microsoft.com/office/drawing/2014/main" id="{F1ED419A-30D8-44AB-9256-156B54D449CD}"/>
                </a:ext>
                <a:ext uri="{C183D7F6-B498-43B3-948B-1728B52AA6E4}">
                  <adec:decorative xmlns:adec="http://schemas.microsoft.com/office/drawing/2017/decorative" val="1"/>
                </a:ext>
              </a:extLst>
            </p:cNvPr>
            <p:cNvSpPr/>
            <p:nvPr userDrawn="1"/>
          </p:nvSpPr>
          <p:spPr bwMode="white">
            <a:xfrm>
              <a:off x="672527"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1"/>
                </a:solidFill>
              </a:defRPr>
            </a:lvl1pPr>
          </a:lstStyle>
          <a:p>
            <a:pPr lvl="0"/>
            <a:r>
              <a:rPr lang="en-US" dirty="0"/>
              <a:t>Doughnut Chart slide, click to add text here</a:t>
            </a:r>
          </a:p>
        </p:txBody>
      </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a:xfrm>
            <a:off x="662672" y="722997"/>
            <a:ext cx="4480256" cy="4480256"/>
          </a:xfrm>
        </p:spPr>
        <p:txBody>
          <a:bodyPr anchor="ctr"/>
          <a:lstStyle>
            <a:lvl1pPr algn="ctr">
              <a:defRPr/>
            </a:lvl1pPr>
          </a:lstStyle>
          <a:p>
            <a:r>
              <a:rPr lang="en-US" dirty="0"/>
              <a:t>Click to insert a </a:t>
            </a:r>
            <a:br>
              <a:rPr lang="en-US" dirty="0"/>
            </a:br>
            <a:r>
              <a:rPr lang="en-US" dirty="0"/>
              <a:t>Doughnut chart</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2"/>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2"/>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2"/>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2"/>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2"/>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023736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863133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hank You / Closing - Leaf">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A0D1F-E4FC-BE38-C39E-D706D91B04B5}"/>
              </a:ext>
            </a:extLst>
          </p:cNvPr>
          <p:cNvPicPr>
            <a:picLocks noChangeAspect="1"/>
          </p:cNvPicPr>
          <p:nvPr userDrawn="1"/>
        </p:nvPicPr>
        <p:blipFill>
          <a:blip r:embed="rId2"/>
          <a:srcRect l="3" r="3"/>
          <a:stretch/>
        </p:blipFill>
        <p:spPr>
          <a:xfrm>
            <a:off x="1513" y="0"/>
            <a:ext cx="12187312" cy="6858495"/>
          </a:xfrm>
          <a:prstGeom prst="rect">
            <a:avLst/>
          </a:prstGeom>
        </p:spPr>
      </p:pic>
      <p:sp>
        <p:nvSpPr>
          <p:cNvPr id="10" name="TextBox 9">
            <a:extLst>
              <a:ext uri="{FF2B5EF4-FFF2-40B4-BE49-F238E27FC236}">
                <a16:creationId xmlns:a16="http://schemas.microsoft.com/office/drawing/2014/main" id="{01F07DE2-A4BE-3B43-A385-D616B948566C}"/>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5" name="TextBox 4">
            <a:extLst>
              <a:ext uri="{FF2B5EF4-FFF2-40B4-BE49-F238E27FC236}">
                <a16:creationId xmlns:a16="http://schemas.microsoft.com/office/drawing/2014/main" id="{62760942-310B-BF00-89B7-7109DBFD3B1E}"/>
              </a:ext>
            </a:extLst>
          </p:cNvPr>
          <p:cNvSpPr txBox="1"/>
          <p:nvPr userDrawn="1"/>
        </p:nvSpPr>
        <p:spPr>
          <a:xfrm>
            <a:off x="1645084" y="6461498"/>
            <a:ext cx="2590453" cy="128753"/>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2025 Broadcom.  </a:t>
            </a:r>
          </a:p>
        </p:txBody>
      </p:sp>
      <p:sp>
        <p:nvSpPr>
          <p:cNvPr id="6" name="TextBox 5">
            <a:extLst>
              <a:ext uri="{FF2B5EF4-FFF2-40B4-BE49-F238E27FC236}">
                <a16:creationId xmlns:a16="http://schemas.microsoft.com/office/drawing/2014/main" id="{93D2826E-D97E-250A-75F6-336A1D7547BD}"/>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11" name="Graphic 8">
            <a:extLst>
              <a:ext uri="{FF2B5EF4-FFF2-40B4-BE49-F238E27FC236}">
                <a16:creationId xmlns:a16="http://schemas.microsoft.com/office/drawing/2014/main" id="{6CCAFF07-C864-65F7-E8B7-2C5633311999}"/>
              </a:ext>
            </a:extLst>
          </p:cNvPr>
          <p:cNvGrpSpPr/>
          <p:nvPr userDrawn="1"/>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584815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hank You / Closing - Plum">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EF0DB2D4-D49E-C131-7996-AD581FB4E7C2}"/>
              </a:ext>
            </a:extLst>
          </p:cNvPr>
          <p:cNvPicPr>
            <a:picLocks noChangeAspect="1"/>
          </p:cNvPicPr>
          <p:nvPr userDrawn="1"/>
        </p:nvPicPr>
        <p:blipFill>
          <a:blip r:embed="rId2"/>
          <a:srcRect l="3" r="3"/>
          <a:stretch/>
        </p:blipFill>
        <p:spPr>
          <a:xfrm>
            <a:off x="879" y="0"/>
            <a:ext cx="12187312" cy="6858495"/>
          </a:xfrm>
          <a:prstGeom prst="rect">
            <a:avLst/>
          </a:prstGeom>
        </p:spPr>
      </p:pic>
      <p:sp>
        <p:nvSpPr>
          <p:cNvPr id="10" name="TextBox 9">
            <a:extLst>
              <a:ext uri="{FF2B5EF4-FFF2-40B4-BE49-F238E27FC236}">
                <a16:creationId xmlns:a16="http://schemas.microsoft.com/office/drawing/2014/main" id="{53EB9DBD-7EC8-8749-8D2B-52C66972D46E}"/>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BD199895-20CD-709C-3907-26845A30404E}"/>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8112DCCF-A410-8E64-BF5C-1AED8279B1FF}"/>
              </a:ext>
            </a:extLst>
          </p:cNvPr>
          <p:cNvGrpSpPr/>
          <p:nvPr userDrawn="1"/>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643419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hank You / Closing - Aqua">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2E44290E-E445-9BA8-5C2C-7466B263CE87}"/>
              </a:ext>
            </a:extLst>
          </p:cNvPr>
          <p:cNvPicPr>
            <a:picLocks noChangeAspect="1"/>
          </p:cNvPicPr>
          <p:nvPr userDrawn="1"/>
        </p:nvPicPr>
        <p:blipFill>
          <a:blip r:embed="rId2"/>
          <a:srcRect l="3" r="3"/>
          <a:stretch/>
        </p:blipFill>
        <p:spPr>
          <a:xfrm>
            <a:off x="879" y="0"/>
            <a:ext cx="12187312" cy="6858495"/>
          </a:xfrm>
          <a:prstGeom prst="rect">
            <a:avLst/>
          </a:prstGeom>
        </p:spPr>
      </p:pic>
      <p:sp>
        <p:nvSpPr>
          <p:cNvPr id="13" name="TextBox 12">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26F24270-F144-4E34-E75B-7BF480C1A43F}"/>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51193D83-E1DC-D884-497D-C36876692E8C}"/>
              </a:ext>
            </a:extLst>
          </p:cNvPr>
          <p:cNvGrpSpPr/>
          <p:nvPr userDrawn="1"/>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314322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ont Check">
    <p:bg>
      <p:bgPr>
        <a:solidFill>
          <a:schemeClr val="accent3"/>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29BE03A-21B0-4196-A033-4E90957BA156}"/>
              </a:ext>
            </a:extLst>
          </p:cNvPr>
          <p:cNvSpPr>
            <a:spLocks noGrp="1"/>
          </p:cNvSpPr>
          <p:nvPr>
            <p:ph type="title" hasCustomPrompt="1"/>
          </p:nvPr>
        </p:nvSpPr>
        <p:spPr/>
        <p:txBody>
          <a:bodyPr/>
          <a:lstStyle>
            <a:lvl1pPr>
              <a:defRPr>
                <a:solidFill>
                  <a:schemeClr val="bg1"/>
                </a:solidFill>
              </a:defRPr>
            </a:lvl1pPr>
          </a:lstStyle>
          <a:p>
            <a:r>
              <a:rPr lang="en-US" sz="2800" dirty="0">
                <a:solidFill>
                  <a:schemeClr val="bg1"/>
                </a:solidFill>
              </a:rPr>
              <a:t>Metropolis Font Check</a:t>
            </a:r>
          </a:p>
        </p:txBody>
      </p:sp>
      <p:sp>
        <p:nvSpPr>
          <p:cNvPr id="51" name="Subtitle 2">
            <a:extLst>
              <a:ext uri="{FF2B5EF4-FFF2-40B4-BE49-F238E27FC236}">
                <a16:creationId xmlns:a16="http://schemas.microsoft.com/office/drawing/2014/main" id="{CB049186-CC25-4BD3-8410-4DE62ED4B08B}"/>
              </a:ext>
            </a:extLst>
          </p:cNvPr>
          <p:cNvSpPr>
            <a:spLocks noGrp="1"/>
          </p:cNvSpPr>
          <p:nvPr>
            <p:ph type="subTitle" idx="10" hasCustomPrompt="1"/>
          </p:nvPr>
        </p:nvSpPr>
        <p:spPr>
          <a:xfrm>
            <a:off x="592866" y="838105"/>
            <a:ext cx="10962687" cy="247743"/>
          </a:xfrm>
        </p:spPr>
        <p:txBody>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Is the Metropolis font installed on my computer?</a:t>
            </a:r>
          </a:p>
        </p:txBody>
      </p:sp>
      <p:sp>
        <p:nvSpPr>
          <p:cNvPr id="43" name="Rectangle 42" descr="Do the fonts in the words below match on your screen?">
            <a:extLst>
              <a:ext uri="{FF2B5EF4-FFF2-40B4-BE49-F238E27FC236}">
                <a16:creationId xmlns:a16="http://schemas.microsoft.com/office/drawing/2014/main" id="{51A92F24-FC82-4FA9-9362-801284731CC8}"/>
              </a:ext>
            </a:extLst>
          </p:cNvPr>
          <p:cNvSpPr/>
          <p:nvPr userDrawn="1"/>
        </p:nvSpPr>
        <p:spPr bwMode="gray">
          <a:xfrm>
            <a:off x="623364" y="1613035"/>
            <a:ext cx="2884608" cy="24774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dirty="0">
                <a:solidFill>
                  <a:schemeClr val="accent3"/>
                </a:solidFill>
              </a:rPr>
              <a:t>Do the fonts in the words below match?</a:t>
            </a:r>
          </a:p>
        </p:txBody>
      </p:sp>
      <p:cxnSp>
        <p:nvCxnSpPr>
          <p:cNvPr id="45" name="Straight Connector 44">
            <a:extLst>
              <a:ext uri="{FF2B5EF4-FFF2-40B4-BE49-F238E27FC236}">
                <a16:creationId xmlns:a16="http://schemas.microsoft.com/office/drawing/2014/main" id="{B59E37DB-3217-4772-AE8E-E9673A139975}"/>
              </a:ext>
              <a:ext uri="{C183D7F6-B498-43B3-948B-1728B52AA6E4}">
                <adec:decorative xmlns:adec="http://schemas.microsoft.com/office/drawing/2017/decorative" val="1"/>
              </a:ext>
            </a:extLst>
          </p:cNvPr>
          <p:cNvCxnSpPr>
            <a:cxnSpLocks/>
          </p:cNvCxnSpPr>
          <p:nvPr userDrawn="1"/>
        </p:nvCxnSpPr>
        <p:spPr>
          <a:xfrm>
            <a:off x="623364" y="1860778"/>
            <a:ext cx="10150654" cy="0"/>
          </a:xfrm>
          <a:prstGeom prst="line">
            <a:avLst/>
          </a:prstGeom>
          <a:ln w="25400">
            <a:solidFill>
              <a:schemeClr val="bg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F0DFE264-D676-EA48-BBA7-F4F0331FA26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657155" y="2219739"/>
            <a:ext cx="3088310" cy="557972"/>
          </a:xfrm>
          <a:prstGeom prst="rect">
            <a:avLst/>
          </a:prstGeom>
        </p:spPr>
      </p:pic>
      <p:sp>
        <p:nvSpPr>
          <p:cNvPr id="44" name="Text Placeholder 43">
            <a:extLst>
              <a:ext uri="{FF2B5EF4-FFF2-40B4-BE49-F238E27FC236}">
                <a16:creationId xmlns:a16="http://schemas.microsoft.com/office/drawing/2014/main" id="{DDDC76C1-EE98-469A-A6AD-21148374D6C8}"/>
              </a:ext>
            </a:extLst>
          </p:cNvPr>
          <p:cNvSpPr>
            <a:spLocks noGrp="1"/>
          </p:cNvSpPr>
          <p:nvPr>
            <p:ph type="body" sz="quarter" idx="12" hasCustomPrompt="1"/>
          </p:nvPr>
        </p:nvSpPr>
        <p:spPr>
          <a:xfrm>
            <a:off x="598114" y="2908233"/>
            <a:ext cx="5354637" cy="895350"/>
          </a:xfrm>
        </p:spPr>
        <p:txBody>
          <a:bodyPr/>
          <a:lstStyle>
            <a:lvl1pPr>
              <a:defRPr sz="4900">
                <a:solidFill>
                  <a:schemeClr val="bg1"/>
                </a:solidFill>
              </a:defRPr>
            </a:lvl1pPr>
            <a:lvl2pPr>
              <a:defRPr sz="3600">
                <a:solidFill>
                  <a:schemeClr val="bg1"/>
                </a:solidFill>
              </a:defRPr>
            </a:lvl2pPr>
            <a:lvl3pPr>
              <a:defRPr sz="3200">
                <a:solidFill>
                  <a:schemeClr val="bg1"/>
                </a:solidFill>
              </a:defRPr>
            </a:lvl3pPr>
            <a:lvl4pPr>
              <a:defRPr sz="2800">
                <a:solidFill>
                  <a:schemeClr val="bg1"/>
                </a:solidFill>
              </a:defRPr>
            </a:lvl4pPr>
            <a:lvl5pPr>
              <a:defRPr sz="2800">
                <a:solidFill>
                  <a:schemeClr val="bg1"/>
                </a:solidFill>
              </a:defRPr>
            </a:lvl5pPr>
          </a:lstStyle>
          <a:p>
            <a:pPr lvl="0"/>
            <a:r>
              <a:rPr lang="en-US" dirty="0"/>
              <a:t>Metropolis</a:t>
            </a:r>
          </a:p>
        </p:txBody>
      </p:sp>
      <p:pic>
        <p:nvPicPr>
          <p:cNvPr id="5" name="Picture 4">
            <a:extLst>
              <a:ext uri="{FF2B5EF4-FFF2-40B4-BE49-F238E27FC236}">
                <a16:creationId xmlns:a16="http://schemas.microsoft.com/office/drawing/2014/main" id="{A0BB7D6E-2488-A644-A910-415B17221FB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6030912" y="2242892"/>
            <a:ext cx="4743106" cy="538407"/>
          </a:xfrm>
          <a:prstGeom prst="rect">
            <a:avLst/>
          </a:prstGeom>
        </p:spPr>
      </p:pic>
      <p:sp>
        <p:nvSpPr>
          <p:cNvPr id="63" name="Text Placeholder 43">
            <a:extLst>
              <a:ext uri="{FF2B5EF4-FFF2-40B4-BE49-F238E27FC236}">
                <a16:creationId xmlns:a16="http://schemas.microsoft.com/office/drawing/2014/main" id="{6C28CB3F-7257-499E-B2F6-B9B1B38D820E}"/>
              </a:ext>
            </a:extLst>
          </p:cNvPr>
          <p:cNvSpPr>
            <a:spLocks noGrp="1"/>
          </p:cNvSpPr>
          <p:nvPr>
            <p:ph type="body" sz="quarter" idx="13" hasCustomPrompt="1"/>
          </p:nvPr>
        </p:nvSpPr>
        <p:spPr>
          <a:xfrm>
            <a:off x="5983683" y="2908233"/>
            <a:ext cx="5354637" cy="895350"/>
          </a:xfrm>
        </p:spPr>
        <p:txBody>
          <a:bodyPr/>
          <a:lstStyle>
            <a:lvl1pPr>
              <a:defRPr sz="4900">
                <a:solidFill>
                  <a:schemeClr val="bg1"/>
                </a:solidFill>
                <a:latin typeface="+mj-lt"/>
              </a:defRPr>
            </a:lvl1pPr>
            <a:lvl2pPr>
              <a:defRPr sz="3600">
                <a:solidFill>
                  <a:schemeClr val="bg1"/>
                </a:solidFill>
              </a:defRPr>
            </a:lvl2pPr>
            <a:lvl3pPr>
              <a:defRPr sz="3200">
                <a:solidFill>
                  <a:schemeClr val="bg1"/>
                </a:solidFill>
              </a:defRPr>
            </a:lvl3pPr>
            <a:lvl4pPr>
              <a:defRPr sz="2800">
                <a:solidFill>
                  <a:schemeClr val="bg1"/>
                </a:solidFill>
              </a:defRPr>
            </a:lvl4pPr>
            <a:lvl5pPr>
              <a:defRPr sz="2800">
                <a:solidFill>
                  <a:schemeClr val="bg1"/>
                </a:solidFill>
              </a:defRPr>
            </a:lvl5pPr>
          </a:lstStyle>
          <a:p>
            <a:pPr lvl="0"/>
            <a:r>
              <a:rPr lang="en-US" dirty="0"/>
              <a:t>Metropolis Light</a:t>
            </a:r>
          </a:p>
        </p:txBody>
      </p:sp>
    </p:spTree>
    <p:extLst>
      <p:ext uri="{BB962C8B-B14F-4D97-AF65-F5344CB8AC3E}">
        <p14:creationId xmlns:p14="http://schemas.microsoft.com/office/powerpoint/2010/main" val="398471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rid">
    <p:spTree>
      <p:nvGrpSpPr>
        <p:cNvPr id="1" name=""/>
        <p:cNvGrpSpPr/>
        <p:nvPr/>
      </p:nvGrpSpPr>
      <p:grpSpPr>
        <a:xfrm>
          <a:off x="0" y="0"/>
          <a:ext cx="0" cy="0"/>
          <a:chOff x="0" y="0"/>
          <a:chExt cx="0" cy="0"/>
        </a:xfrm>
      </p:grpSpPr>
      <p:grpSp>
        <p:nvGrpSpPr>
          <p:cNvPr id="61" name="grey boxes">
            <a:extLst>
              <a:ext uri="{FF2B5EF4-FFF2-40B4-BE49-F238E27FC236}">
                <a16:creationId xmlns:a16="http://schemas.microsoft.com/office/drawing/2014/main" id="{E2F285D2-B641-461F-87F0-20A9C65B2EF7}"/>
              </a:ext>
              <a:ext uri="{C183D7F6-B498-43B3-948B-1728B52AA6E4}">
                <adec:decorative xmlns:adec="http://schemas.microsoft.com/office/drawing/2017/decorative" val="1"/>
              </a:ext>
            </a:extLst>
          </p:cNvPr>
          <p:cNvGrpSpPr/>
          <p:nvPr userDrawn="1"/>
        </p:nvGrpSpPr>
        <p:grpSpPr bwMode="gray">
          <a:xfrm>
            <a:off x="609441" y="1600202"/>
            <a:ext cx="10055941" cy="4580469"/>
            <a:chOff x="609441" y="1600198"/>
            <a:chExt cx="10055941" cy="4580469"/>
          </a:xfrm>
        </p:grpSpPr>
        <p:sp>
          <p:nvSpPr>
            <p:cNvPr id="110" name="Rectangle 109">
              <a:extLst>
                <a:ext uri="{FF2B5EF4-FFF2-40B4-BE49-F238E27FC236}">
                  <a16:creationId xmlns:a16="http://schemas.microsoft.com/office/drawing/2014/main" id="{115EE1AC-AAA1-4CAF-886B-474B1A0C95C4}"/>
                </a:ext>
                <a:ext uri="{C183D7F6-B498-43B3-948B-1728B52AA6E4}">
                  <adec:decorative xmlns:adec="http://schemas.microsoft.com/office/drawing/2017/decorative" val="1"/>
                </a:ext>
              </a:extLst>
            </p:cNvPr>
            <p:cNvSpPr/>
            <p:nvPr/>
          </p:nvSpPr>
          <p:spPr bwMode="gray">
            <a:xfrm>
              <a:off x="609441" y="1600199"/>
              <a:ext cx="914203"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1" name="Rectangle 110">
              <a:extLst>
                <a:ext uri="{FF2B5EF4-FFF2-40B4-BE49-F238E27FC236}">
                  <a16:creationId xmlns:a16="http://schemas.microsoft.com/office/drawing/2014/main" id="{7037B7F2-249C-4DB7-A4FF-AD7E08892A0F}"/>
                </a:ext>
                <a:ext uri="{C183D7F6-B498-43B3-948B-1728B52AA6E4}">
                  <adec:decorative xmlns:adec="http://schemas.microsoft.com/office/drawing/2017/decorative" val="1"/>
                </a:ext>
              </a:extLst>
            </p:cNvPr>
            <p:cNvSpPr/>
            <p:nvPr/>
          </p:nvSpPr>
          <p:spPr bwMode="gray">
            <a:xfrm>
              <a:off x="2436448" y="1600198"/>
              <a:ext cx="915282"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2" name="Rectangle 111">
              <a:extLst>
                <a:ext uri="{FF2B5EF4-FFF2-40B4-BE49-F238E27FC236}">
                  <a16:creationId xmlns:a16="http://schemas.microsoft.com/office/drawing/2014/main" id="{6B02FE08-2379-4E6C-AE27-D7D2ECAB18B8}"/>
                </a:ext>
                <a:ext uri="{C183D7F6-B498-43B3-948B-1728B52AA6E4}">
                  <adec:decorative xmlns:adec="http://schemas.microsoft.com/office/drawing/2017/decorative" val="1"/>
                </a:ext>
              </a:extLst>
            </p:cNvPr>
            <p:cNvSpPr/>
            <p:nvPr/>
          </p:nvSpPr>
          <p:spPr bwMode="gray">
            <a:xfrm>
              <a:off x="4263453" y="1600198"/>
              <a:ext cx="920909"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3" name="Rectangle 112">
              <a:extLst>
                <a:ext uri="{FF2B5EF4-FFF2-40B4-BE49-F238E27FC236}">
                  <a16:creationId xmlns:a16="http://schemas.microsoft.com/office/drawing/2014/main" id="{D7C17E9A-3B70-4668-8EAE-9C7D73BACCA1}"/>
                </a:ext>
                <a:ext uri="{C183D7F6-B498-43B3-948B-1728B52AA6E4}">
                  <adec:decorative xmlns:adec="http://schemas.microsoft.com/office/drawing/2017/decorative" val="1"/>
                </a:ext>
              </a:extLst>
            </p:cNvPr>
            <p:cNvSpPr/>
            <p:nvPr/>
          </p:nvSpPr>
          <p:spPr bwMode="gray">
            <a:xfrm>
              <a:off x="6090459" y="1600198"/>
              <a:ext cx="920909"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4" name="Rectangle 113">
              <a:extLst>
                <a:ext uri="{FF2B5EF4-FFF2-40B4-BE49-F238E27FC236}">
                  <a16:creationId xmlns:a16="http://schemas.microsoft.com/office/drawing/2014/main" id="{E02751E5-34AD-4357-BC67-2269F668FD57}"/>
                </a:ext>
                <a:ext uri="{C183D7F6-B498-43B3-948B-1728B52AA6E4}">
                  <adec:decorative xmlns:adec="http://schemas.microsoft.com/office/drawing/2017/decorative" val="1"/>
                </a:ext>
              </a:extLst>
            </p:cNvPr>
            <p:cNvSpPr/>
            <p:nvPr/>
          </p:nvSpPr>
          <p:spPr bwMode="gray">
            <a:xfrm>
              <a:off x="7921943" y="1600198"/>
              <a:ext cx="916431"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5" name="Rectangle 114">
              <a:extLst>
                <a:ext uri="{FF2B5EF4-FFF2-40B4-BE49-F238E27FC236}">
                  <a16:creationId xmlns:a16="http://schemas.microsoft.com/office/drawing/2014/main" id="{452A85DA-B39F-40AB-B423-9F7CCB3D0D63}"/>
                </a:ext>
                <a:ext uri="{C183D7F6-B498-43B3-948B-1728B52AA6E4}">
                  <adec:decorative xmlns:adec="http://schemas.microsoft.com/office/drawing/2017/decorative" val="1"/>
                </a:ext>
              </a:extLst>
            </p:cNvPr>
            <p:cNvSpPr/>
            <p:nvPr/>
          </p:nvSpPr>
          <p:spPr bwMode="gray">
            <a:xfrm>
              <a:off x="9750028" y="1600198"/>
              <a:ext cx="915354"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2" name="Group 1">
            <a:extLst>
              <a:ext uri="{FF2B5EF4-FFF2-40B4-BE49-F238E27FC236}">
                <a16:creationId xmlns:a16="http://schemas.microsoft.com/office/drawing/2014/main" id="{FEACC7A9-0E02-EC44-8212-DCAA966470C0}"/>
              </a:ext>
              <a:ext uri="{C183D7F6-B498-43B3-948B-1728B52AA6E4}">
                <adec:decorative xmlns:adec="http://schemas.microsoft.com/office/drawing/2017/decorative" val="1"/>
              </a:ext>
            </a:extLst>
          </p:cNvPr>
          <p:cNvGrpSpPr/>
          <p:nvPr userDrawn="1"/>
        </p:nvGrpSpPr>
        <p:grpSpPr>
          <a:xfrm>
            <a:off x="0" y="0"/>
            <a:ext cx="12188826" cy="6858004"/>
            <a:chOff x="0" y="0"/>
            <a:chExt cx="12188826" cy="6858004"/>
          </a:xfrm>
        </p:grpSpPr>
        <p:cxnSp>
          <p:nvCxnSpPr>
            <p:cNvPr id="85" name="Straight Connector 84">
              <a:extLst>
                <a:ext uri="{FF2B5EF4-FFF2-40B4-BE49-F238E27FC236}">
                  <a16:creationId xmlns:a16="http://schemas.microsoft.com/office/drawing/2014/main" id="{5B6B4CFD-041A-4081-89A4-C2B194E6465E}"/>
                </a:ext>
                <a:ext uri="{C183D7F6-B498-43B3-948B-1728B52AA6E4}">
                  <adec:decorative xmlns:adec="http://schemas.microsoft.com/office/drawing/2017/decorative" val="1"/>
                </a:ext>
              </a:extLst>
            </p:cNvPr>
            <p:cNvCxnSpPr/>
            <p:nvPr/>
          </p:nvCxnSpPr>
          <p:spPr bwMode="gray">
            <a:xfrm>
              <a:off x="609601"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63B978F-4215-434A-A0BE-E77776CE37B1}"/>
                </a:ext>
                <a:ext uri="{C183D7F6-B498-43B3-948B-1728B52AA6E4}">
                  <adec:decorative xmlns:adec="http://schemas.microsoft.com/office/drawing/2017/decorative" val="1"/>
                </a:ext>
              </a:extLst>
            </p:cNvPr>
            <p:cNvCxnSpPr/>
            <p:nvPr/>
          </p:nvCxnSpPr>
          <p:spPr bwMode="gray">
            <a:xfrm>
              <a:off x="1523644"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9EEB78C-3DA9-4AD7-BFB1-207EDE403F9D}"/>
                </a:ext>
                <a:ext uri="{C183D7F6-B498-43B3-948B-1728B52AA6E4}">
                  <adec:decorative xmlns:adec="http://schemas.microsoft.com/office/drawing/2017/decorative" val="1"/>
                </a:ext>
              </a:extLst>
            </p:cNvPr>
            <p:cNvCxnSpPr/>
            <p:nvPr/>
          </p:nvCxnSpPr>
          <p:spPr bwMode="gray">
            <a:xfrm>
              <a:off x="1980665"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062D7CE-4A4A-4C41-833F-B30B3E74AEAC}"/>
                </a:ext>
                <a:ext uri="{C183D7F6-B498-43B3-948B-1728B52AA6E4}">
                  <adec:decorative xmlns:adec="http://schemas.microsoft.com/office/drawing/2017/decorative" val="1"/>
                </a:ext>
              </a:extLst>
            </p:cNvPr>
            <p:cNvCxnSpPr/>
            <p:nvPr/>
          </p:nvCxnSpPr>
          <p:spPr bwMode="gray">
            <a:xfrm>
              <a:off x="2437686"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9C628EF-969E-4429-A992-9AD0AFECF81E}"/>
                </a:ext>
                <a:ext uri="{C183D7F6-B498-43B3-948B-1728B52AA6E4}">
                  <adec:decorative xmlns:adec="http://schemas.microsoft.com/office/drawing/2017/decorative" val="1"/>
                </a:ext>
              </a:extLst>
            </p:cNvPr>
            <p:cNvCxnSpPr/>
            <p:nvPr/>
          </p:nvCxnSpPr>
          <p:spPr bwMode="gray">
            <a:xfrm>
              <a:off x="2894708"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C7BD383-0D5C-4E3A-99F7-4DC5A51DF948}"/>
                </a:ext>
                <a:ext uri="{C183D7F6-B498-43B3-948B-1728B52AA6E4}">
                  <adec:decorative xmlns:adec="http://schemas.microsoft.com/office/drawing/2017/decorative" val="1"/>
                </a:ext>
              </a:extLst>
            </p:cNvPr>
            <p:cNvCxnSpPr/>
            <p:nvPr/>
          </p:nvCxnSpPr>
          <p:spPr bwMode="gray">
            <a:xfrm>
              <a:off x="3351729"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AA2EE63-4F24-4A26-9268-D15D92D5B068}"/>
                </a:ext>
                <a:ext uri="{C183D7F6-B498-43B3-948B-1728B52AA6E4}">
                  <adec:decorative xmlns:adec="http://schemas.microsoft.com/office/drawing/2017/decorative" val="1"/>
                </a:ext>
              </a:extLst>
            </p:cNvPr>
            <p:cNvCxnSpPr/>
            <p:nvPr/>
          </p:nvCxnSpPr>
          <p:spPr bwMode="gray">
            <a:xfrm>
              <a:off x="3808750"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F64BB08D-864A-44D4-88F6-679DBAE518B7}"/>
                </a:ext>
                <a:ext uri="{C183D7F6-B498-43B3-948B-1728B52AA6E4}">
                  <adec:decorative xmlns:adec="http://schemas.microsoft.com/office/drawing/2017/decorative" val="1"/>
                </a:ext>
              </a:extLst>
            </p:cNvPr>
            <p:cNvCxnSpPr/>
            <p:nvPr/>
          </p:nvCxnSpPr>
          <p:spPr bwMode="gray">
            <a:xfrm>
              <a:off x="4265772"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FA3F8A1-60DA-47E1-92DD-967475B2DF58}"/>
                </a:ext>
                <a:ext uri="{C183D7F6-B498-43B3-948B-1728B52AA6E4}">
                  <adec:decorative xmlns:adec="http://schemas.microsoft.com/office/drawing/2017/decorative" val="1"/>
                </a:ext>
              </a:extLst>
            </p:cNvPr>
            <p:cNvCxnSpPr/>
            <p:nvPr/>
          </p:nvCxnSpPr>
          <p:spPr bwMode="gray">
            <a:xfrm>
              <a:off x="4722793"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DECF40D-CC60-45F8-B236-F9FAC1F3E8CF}"/>
                </a:ext>
                <a:ext uri="{C183D7F6-B498-43B3-948B-1728B52AA6E4}">
                  <adec:decorative xmlns:adec="http://schemas.microsoft.com/office/drawing/2017/decorative" val="1"/>
                </a:ext>
              </a:extLst>
            </p:cNvPr>
            <p:cNvCxnSpPr/>
            <p:nvPr/>
          </p:nvCxnSpPr>
          <p:spPr bwMode="gray">
            <a:xfrm>
              <a:off x="5179814"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23BAEC6-A3C2-4892-9093-BD8EA8A7E0F6}"/>
                </a:ext>
                <a:ext uri="{C183D7F6-B498-43B3-948B-1728B52AA6E4}">
                  <adec:decorative xmlns:adec="http://schemas.microsoft.com/office/drawing/2017/decorative" val="1"/>
                </a:ext>
              </a:extLst>
            </p:cNvPr>
            <p:cNvCxnSpPr/>
            <p:nvPr/>
          </p:nvCxnSpPr>
          <p:spPr bwMode="gray">
            <a:xfrm>
              <a:off x="5636836"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D4E16FB9-EDCA-4CA6-9212-0AEBFCE175D7}"/>
                </a:ext>
                <a:ext uri="{C183D7F6-B498-43B3-948B-1728B52AA6E4}">
                  <adec:decorative xmlns:adec="http://schemas.microsoft.com/office/drawing/2017/decorative" val="1"/>
                </a:ext>
              </a:extLst>
            </p:cNvPr>
            <p:cNvCxnSpPr/>
            <p:nvPr/>
          </p:nvCxnSpPr>
          <p:spPr bwMode="gray">
            <a:xfrm>
              <a:off x="6093857"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3AE637F-804F-4244-9AA9-FF4A629A143C}"/>
                </a:ext>
                <a:ext uri="{C183D7F6-B498-43B3-948B-1728B52AA6E4}">
                  <adec:decorative xmlns:adec="http://schemas.microsoft.com/office/drawing/2017/decorative" val="1"/>
                </a:ext>
              </a:extLst>
            </p:cNvPr>
            <p:cNvCxnSpPr/>
            <p:nvPr/>
          </p:nvCxnSpPr>
          <p:spPr bwMode="gray">
            <a:xfrm>
              <a:off x="6550878"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5EFB8414-3949-428A-B700-7C38A44425B2}"/>
                </a:ext>
                <a:ext uri="{C183D7F6-B498-43B3-948B-1728B52AA6E4}">
                  <adec:decorative xmlns:adec="http://schemas.microsoft.com/office/drawing/2017/decorative" val="1"/>
                </a:ext>
              </a:extLst>
            </p:cNvPr>
            <p:cNvCxnSpPr/>
            <p:nvPr/>
          </p:nvCxnSpPr>
          <p:spPr bwMode="gray">
            <a:xfrm>
              <a:off x="7007900"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BA61D1AB-B7D2-4169-B38F-56371D50E1DA}"/>
                </a:ext>
                <a:ext uri="{C183D7F6-B498-43B3-948B-1728B52AA6E4}">
                  <adec:decorative xmlns:adec="http://schemas.microsoft.com/office/drawing/2017/decorative" val="1"/>
                </a:ext>
              </a:extLst>
            </p:cNvPr>
            <p:cNvCxnSpPr/>
            <p:nvPr/>
          </p:nvCxnSpPr>
          <p:spPr bwMode="gray">
            <a:xfrm>
              <a:off x="7464921"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00C4593-A442-4B6C-8E9D-80BFEB1746D6}"/>
                </a:ext>
                <a:ext uri="{C183D7F6-B498-43B3-948B-1728B52AA6E4}">
                  <adec:decorative xmlns:adec="http://schemas.microsoft.com/office/drawing/2017/decorative" val="1"/>
                </a:ext>
              </a:extLst>
            </p:cNvPr>
            <p:cNvCxnSpPr/>
            <p:nvPr/>
          </p:nvCxnSpPr>
          <p:spPr bwMode="gray">
            <a:xfrm>
              <a:off x="7921943"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5B5E413-FAFF-430F-B105-4D122D50AEE1}"/>
                </a:ext>
                <a:ext uri="{C183D7F6-B498-43B3-948B-1728B52AA6E4}">
                  <adec:decorative xmlns:adec="http://schemas.microsoft.com/office/drawing/2017/decorative" val="1"/>
                </a:ext>
              </a:extLst>
            </p:cNvPr>
            <p:cNvCxnSpPr/>
            <p:nvPr/>
          </p:nvCxnSpPr>
          <p:spPr bwMode="gray">
            <a:xfrm>
              <a:off x="8378964"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845328-662D-4D12-A209-6A0B1E78DF14}"/>
                </a:ext>
                <a:ext uri="{C183D7F6-B498-43B3-948B-1728B52AA6E4}">
                  <adec:decorative xmlns:adec="http://schemas.microsoft.com/office/drawing/2017/decorative" val="1"/>
                </a:ext>
              </a:extLst>
            </p:cNvPr>
            <p:cNvCxnSpPr/>
            <p:nvPr/>
          </p:nvCxnSpPr>
          <p:spPr bwMode="gray">
            <a:xfrm>
              <a:off x="8835985"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2AC19B5D-D919-4A48-953C-03994329E19B}"/>
                </a:ext>
                <a:ext uri="{C183D7F6-B498-43B3-948B-1728B52AA6E4}">
                  <adec:decorative xmlns:adec="http://schemas.microsoft.com/office/drawing/2017/decorative" val="1"/>
                </a:ext>
              </a:extLst>
            </p:cNvPr>
            <p:cNvCxnSpPr/>
            <p:nvPr/>
          </p:nvCxnSpPr>
          <p:spPr bwMode="gray">
            <a:xfrm>
              <a:off x="9750028"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AC81C8DC-CB2F-445A-8F7B-5A864393B553}"/>
                </a:ext>
                <a:ext uri="{C183D7F6-B498-43B3-948B-1728B52AA6E4}">
                  <adec:decorative xmlns:adec="http://schemas.microsoft.com/office/drawing/2017/decorative" val="1"/>
                </a:ext>
              </a:extLst>
            </p:cNvPr>
            <p:cNvCxnSpPr/>
            <p:nvPr/>
          </p:nvCxnSpPr>
          <p:spPr bwMode="gray">
            <a:xfrm>
              <a:off x="9293007"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3CD9F68-6C35-4B43-B8E1-1ABF75D8D588}"/>
                </a:ext>
                <a:ext uri="{C183D7F6-B498-43B3-948B-1728B52AA6E4}">
                  <adec:decorative xmlns:adec="http://schemas.microsoft.com/office/drawing/2017/decorative" val="1"/>
                </a:ext>
              </a:extLst>
            </p:cNvPr>
            <p:cNvCxnSpPr/>
            <p:nvPr/>
          </p:nvCxnSpPr>
          <p:spPr bwMode="gray">
            <a:xfrm>
              <a:off x="10207049"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BBCE95B-721C-44A5-8B94-8F0E42FF53FE}"/>
                </a:ext>
                <a:ext uri="{C183D7F6-B498-43B3-948B-1728B52AA6E4}">
                  <adec:decorative xmlns:adec="http://schemas.microsoft.com/office/drawing/2017/decorative" val="1"/>
                </a:ext>
              </a:extLst>
            </p:cNvPr>
            <p:cNvCxnSpPr/>
            <p:nvPr/>
          </p:nvCxnSpPr>
          <p:spPr bwMode="gray">
            <a:xfrm>
              <a:off x="10664071"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B934F61-1ED7-4209-A1E3-04C68085B10E}"/>
                </a:ext>
                <a:ext uri="{C183D7F6-B498-43B3-948B-1728B52AA6E4}">
                  <adec:decorative xmlns:adec="http://schemas.microsoft.com/office/drawing/2017/decorative" val="1"/>
                </a:ext>
              </a:extLst>
            </p:cNvPr>
            <p:cNvCxnSpPr/>
            <p:nvPr/>
          </p:nvCxnSpPr>
          <p:spPr bwMode="gray">
            <a:xfrm>
              <a:off x="11121092"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8F636E46-095E-439D-B78B-EBC72DB23290}"/>
                </a:ext>
                <a:ext uri="{C183D7F6-B498-43B3-948B-1728B52AA6E4}">
                  <adec:decorative xmlns:adec="http://schemas.microsoft.com/office/drawing/2017/decorative" val="1"/>
                </a:ext>
              </a:extLst>
            </p:cNvPr>
            <p:cNvCxnSpPr/>
            <p:nvPr/>
          </p:nvCxnSpPr>
          <p:spPr bwMode="gray">
            <a:xfrm>
              <a:off x="1066622"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1497272-E949-488B-B9F6-FD10BA6526BF}"/>
                </a:ext>
                <a:ext uri="{C183D7F6-B498-43B3-948B-1728B52AA6E4}">
                  <adec:decorative xmlns:adec="http://schemas.microsoft.com/office/drawing/2017/decorative" val="1"/>
                </a:ext>
              </a:extLst>
            </p:cNvPr>
            <p:cNvCxnSpPr/>
            <p:nvPr/>
          </p:nvCxnSpPr>
          <p:spPr bwMode="gray">
            <a:xfrm>
              <a:off x="11572105"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34689D4-9BAE-40BF-B953-E1A0CA4F5C15}"/>
                </a:ext>
                <a:ext uri="{C183D7F6-B498-43B3-948B-1728B52AA6E4}">
                  <adec:decorative xmlns:adec="http://schemas.microsoft.com/office/drawing/2017/decorative" val="1"/>
                </a:ext>
              </a:extLst>
            </p:cNvPr>
            <p:cNvCxnSpPr/>
            <p:nvPr/>
          </p:nvCxnSpPr>
          <p:spPr bwMode="gray">
            <a:xfrm rot="5400000">
              <a:off x="6094413" y="-6094413"/>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74A3364-6F4C-4749-A110-B336801330E0}"/>
                </a:ext>
                <a:ext uri="{C183D7F6-B498-43B3-948B-1728B52AA6E4}">
                  <adec:decorative xmlns:adec="http://schemas.microsoft.com/office/drawing/2017/decorative" val="1"/>
                </a:ext>
              </a:extLst>
            </p:cNvPr>
            <p:cNvCxnSpPr/>
            <p:nvPr/>
          </p:nvCxnSpPr>
          <p:spPr bwMode="gray">
            <a:xfrm rot="5400000">
              <a:off x="6094413" y="-5637212"/>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0EC6B6-039D-4549-B1B1-8FF8A3FC2F66}"/>
                </a:ext>
                <a:ext uri="{C183D7F6-B498-43B3-948B-1728B52AA6E4}">
                  <adec:decorative xmlns:adec="http://schemas.microsoft.com/office/drawing/2017/decorative" val="1"/>
                </a:ext>
              </a:extLst>
            </p:cNvPr>
            <p:cNvCxnSpPr/>
            <p:nvPr/>
          </p:nvCxnSpPr>
          <p:spPr bwMode="gray">
            <a:xfrm rot="5400000">
              <a:off x="6094413" y="-5180012"/>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55F4FAC-9412-45E9-99EC-FDC351D60453}"/>
                </a:ext>
                <a:ext uri="{C183D7F6-B498-43B3-948B-1728B52AA6E4}">
                  <adec:decorative xmlns:adec="http://schemas.microsoft.com/office/drawing/2017/decorative" val="1"/>
                </a:ext>
              </a:extLst>
            </p:cNvPr>
            <p:cNvCxnSpPr/>
            <p:nvPr/>
          </p:nvCxnSpPr>
          <p:spPr bwMode="gray">
            <a:xfrm rot="5400000">
              <a:off x="6094413" y="-3120239"/>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A0C0A33-67B3-48C9-9B83-C39DFDEF5E0A}"/>
                </a:ext>
                <a:ext uri="{C183D7F6-B498-43B3-948B-1728B52AA6E4}">
                  <adec:decorative xmlns:adec="http://schemas.microsoft.com/office/drawing/2017/decorative" val="1"/>
                </a:ext>
              </a:extLst>
            </p:cNvPr>
            <p:cNvCxnSpPr/>
            <p:nvPr/>
          </p:nvCxnSpPr>
          <p:spPr bwMode="gray">
            <a:xfrm rot="5400000">
              <a:off x="6094413" y="-2663039"/>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87FF284-D960-4A05-8053-9886608C6599}"/>
                </a:ext>
                <a:ext uri="{C183D7F6-B498-43B3-948B-1728B52AA6E4}">
                  <adec:decorative xmlns:adec="http://schemas.microsoft.com/office/drawing/2017/decorative" val="1"/>
                </a:ext>
              </a:extLst>
            </p:cNvPr>
            <p:cNvCxnSpPr/>
            <p:nvPr/>
          </p:nvCxnSpPr>
          <p:spPr bwMode="gray">
            <a:xfrm rot="5400000">
              <a:off x="6094413" y="-2205839"/>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BA61019-342C-4EDD-97C6-EDA59774644E}"/>
                </a:ext>
                <a:ext uri="{C183D7F6-B498-43B3-948B-1728B52AA6E4}">
                  <adec:decorative xmlns:adec="http://schemas.microsoft.com/office/drawing/2017/decorative" val="1"/>
                </a:ext>
              </a:extLst>
            </p:cNvPr>
            <p:cNvCxnSpPr/>
            <p:nvPr/>
          </p:nvCxnSpPr>
          <p:spPr bwMode="gray">
            <a:xfrm rot="5400000">
              <a:off x="6094413" y="-1748639"/>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34785CB-17D0-49DD-8DC9-3C93626DC776}"/>
                </a:ext>
                <a:ext uri="{C183D7F6-B498-43B3-948B-1728B52AA6E4}">
                  <adec:decorative xmlns:adec="http://schemas.microsoft.com/office/drawing/2017/decorative" val="1"/>
                </a:ext>
              </a:extLst>
            </p:cNvPr>
            <p:cNvCxnSpPr/>
            <p:nvPr/>
          </p:nvCxnSpPr>
          <p:spPr bwMode="gray">
            <a:xfrm rot="5400000">
              <a:off x="6094413" y="-1291438"/>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25DB222-E3A0-48A3-BBD5-FD2616577D2D}"/>
                </a:ext>
                <a:ext uri="{C183D7F6-B498-43B3-948B-1728B52AA6E4}">
                  <adec:decorative xmlns:adec="http://schemas.microsoft.com/office/drawing/2017/decorative" val="1"/>
                </a:ext>
              </a:extLst>
            </p:cNvPr>
            <p:cNvCxnSpPr/>
            <p:nvPr/>
          </p:nvCxnSpPr>
          <p:spPr bwMode="gray">
            <a:xfrm rot="5400000">
              <a:off x="6094413" y="-834238"/>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433E4E5-A945-4652-B574-37C6580344B0}"/>
                </a:ext>
                <a:ext uri="{C183D7F6-B498-43B3-948B-1728B52AA6E4}">
                  <adec:decorative xmlns:adec="http://schemas.microsoft.com/office/drawing/2017/decorative" val="1"/>
                </a:ext>
              </a:extLst>
            </p:cNvPr>
            <p:cNvCxnSpPr>
              <a:cxnSpLocks/>
            </p:cNvCxnSpPr>
            <p:nvPr/>
          </p:nvCxnSpPr>
          <p:spPr bwMode="gray">
            <a:xfrm flipH="1">
              <a:off x="1" y="5717375"/>
              <a:ext cx="12188825" cy="0"/>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52A597B-2B35-4BD4-B07E-D8CEF25A597D}"/>
                </a:ext>
                <a:ext uri="{C183D7F6-B498-43B3-948B-1728B52AA6E4}">
                  <adec:decorative xmlns:adec="http://schemas.microsoft.com/office/drawing/2017/decorative" val="1"/>
                </a:ext>
              </a:extLst>
            </p:cNvPr>
            <p:cNvCxnSpPr/>
            <p:nvPr/>
          </p:nvCxnSpPr>
          <p:spPr bwMode="gray">
            <a:xfrm rot="5400000">
              <a:off x="6094413" y="763591"/>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351C336-9D65-42C9-A33F-6971E6322E46}"/>
                </a:ext>
                <a:ext uri="{C183D7F6-B498-43B3-948B-1728B52AA6E4}">
                  <adec:decorative xmlns:adec="http://schemas.microsoft.com/office/drawing/2017/decorative" val="1"/>
                </a:ext>
              </a:extLst>
            </p:cNvPr>
            <p:cNvCxnSpPr/>
            <p:nvPr/>
          </p:nvCxnSpPr>
          <p:spPr bwMode="gray">
            <a:xfrm rot="5400000">
              <a:off x="6094413" y="-5637213"/>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CAD9518-36D4-43F7-839D-D8FE389DF1F1}"/>
                </a:ext>
                <a:ext uri="{C183D7F6-B498-43B3-948B-1728B52AA6E4}">
                  <adec:decorative xmlns:adec="http://schemas.microsoft.com/office/drawing/2017/decorative" val="1"/>
                </a:ext>
              </a:extLst>
            </p:cNvPr>
            <p:cNvCxnSpPr/>
            <p:nvPr/>
          </p:nvCxnSpPr>
          <p:spPr bwMode="gray">
            <a:xfrm rot="5400000">
              <a:off x="6094413" y="-4951412"/>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5575B3F-2A8B-4175-B6A5-D60652B87ED0}"/>
                </a:ext>
                <a:ext uri="{C183D7F6-B498-43B3-948B-1728B52AA6E4}">
                  <adec:decorative xmlns:adec="http://schemas.microsoft.com/office/drawing/2017/decorative" val="1"/>
                </a:ext>
              </a:extLst>
            </p:cNvPr>
            <p:cNvCxnSpPr/>
            <p:nvPr/>
          </p:nvCxnSpPr>
          <p:spPr bwMode="gray">
            <a:xfrm rot="5400000">
              <a:off x="6094413" y="86256"/>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1CCC90FC-8476-4A2A-8DF1-ECAB053A24FD}"/>
                </a:ext>
                <a:ext uri="{C183D7F6-B498-43B3-948B-1728B52AA6E4}">
                  <adec:decorative xmlns:adec="http://schemas.microsoft.com/office/drawing/2017/decorative" val="1"/>
                </a:ext>
              </a:extLst>
            </p:cNvPr>
            <p:cNvCxnSpPr/>
            <p:nvPr/>
          </p:nvCxnSpPr>
          <p:spPr bwMode="gray">
            <a:xfrm rot="5400000">
              <a:off x="6094413" y="306387"/>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DFB03C8E-4661-465A-B25F-147D497525A0}"/>
                </a:ext>
                <a:ext uri="{C183D7F6-B498-43B3-948B-1728B52AA6E4}">
                  <adec:decorative xmlns:adec="http://schemas.microsoft.com/office/drawing/2017/decorative" val="1"/>
                </a:ext>
              </a:extLst>
            </p:cNvPr>
            <p:cNvCxnSpPr/>
            <p:nvPr/>
          </p:nvCxnSpPr>
          <p:spPr bwMode="gray">
            <a:xfrm rot="5400000">
              <a:off x="6094413" y="-4034639"/>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8C8E030-5491-4C40-9E10-B197BD5CD587}"/>
                </a:ext>
                <a:ext uri="{C183D7F6-B498-43B3-948B-1728B52AA6E4}">
                  <adec:decorative xmlns:adec="http://schemas.microsoft.com/office/drawing/2017/decorative" val="1"/>
                </a:ext>
              </a:extLst>
            </p:cNvPr>
            <p:cNvCxnSpPr/>
            <p:nvPr/>
          </p:nvCxnSpPr>
          <p:spPr bwMode="gray">
            <a:xfrm rot="5400000">
              <a:off x="6094413" y="-3577439"/>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0EBA261-0409-41DC-98E2-4BF8173333E9}"/>
                </a:ext>
                <a:ext uri="{C183D7F6-B498-43B3-948B-1728B52AA6E4}">
                  <adec:decorative xmlns:adec="http://schemas.microsoft.com/office/drawing/2017/decorative" val="1"/>
                </a:ext>
              </a:extLst>
            </p:cNvPr>
            <p:cNvCxnSpPr>
              <a:cxnSpLocks/>
            </p:cNvCxnSpPr>
            <p:nvPr/>
          </p:nvCxnSpPr>
          <p:spPr bwMode="gray">
            <a:xfrm rot="5400000">
              <a:off x="6094413" y="-4494212"/>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48616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117"/>
        <p:cNvGrpSpPr/>
        <p:nvPr/>
      </p:nvGrpSpPr>
      <p:grpSpPr>
        <a:xfrm>
          <a:off x="0" y="0"/>
          <a:ext cx="0" cy="0"/>
          <a:chOff x="0" y="0"/>
          <a:chExt cx="0" cy="0"/>
        </a:xfrm>
      </p:grpSpPr>
      <p:sp>
        <p:nvSpPr>
          <p:cNvPr id="118" name="Google Shape;118;p17"/>
          <p:cNvSpPr txBox="1">
            <a:spLocks noGrp="1"/>
          </p:cNvSpPr>
          <p:nvPr>
            <p:ph type="title"/>
          </p:nvPr>
        </p:nvSpPr>
        <p:spPr>
          <a:xfrm>
            <a:off x="579809" y="412751"/>
            <a:ext cx="11001134" cy="3812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100"/>
              <a:buFont typeface="Arial"/>
              <a:buNone/>
              <a:defRPr>
                <a:solidFill>
                  <a:schemeClr val="accent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9" name="Google Shape;119;p17"/>
          <p:cNvSpPr txBox="1">
            <a:spLocks noGrp="1"/>
          </p:cNvSpPr>
          <p:nvPr>
            <p:ph type="subTitle" idx="1"/>
          </p:nvPr>
        </p:nvSpPr>
        <p:spPr>
          <a:xfrm>
            <a:off x="592866" y="811831"/>
            <a:ext cx="10962744" cy="248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400"/>
              <a:buNone/>
              <a:defRPr sz="2000"/>
            </a:lvl2pPr>
            <a:lvl3pPr lvl="2" algn="ctr">
              <a:lnSpc>
                <a:spcPct val="100000"/>
              </a:lnSpc>
              <a:spcBef>
                <a:spcPts val="1200"/>
              </a:spcBef>
              <a:spcAft>
                <a:spcPts val="0"/>
              </a:spcAft>
              <a:buSzPts val="1200"/>
              <a:buNone/>
              <a:defRPr sz="1866"/>
            </a:lvl3pPr>
            <a:lvl4pPr lvl="3" algn="ctr">
              <a:lnSpc>
                <a:spcPct val="100000"/>
              </a:lnSpc>
              <a:spcBef>
                <a:spcPts val="1200"/>
              </a:spcBef>
              <a:spcAft>
                <a:spcPts val="0"/>
              </a:spcAft>
              <a:buSzPts val="1100"/>
              <a:buNone/>
              <a:defRPr sz="1600"/>
            </a:lvl4pPr>
            <a:lvl5pPr lvl="4" algn="ctr">
              <a:lnSpc>
                <a:spcPct val="100000"/>
              </a:lnSpc>
              <a:spcBef>
                <a:spcPts val="1200"/>
              </a:spcBef>
              <a:spcAft>
                <a:spcPts val="0"/>
              </a:spcAft>
              <a:buSzPts val="1100"/>
              <a:buNone/>
              <a:defRPr sz="1600"/>
            </a:lvl5pPr>
            <a:lvl6pPr lvl="5" algn="ctr">
              <a:lnSpc>
                <a:spcPct val="100000"/>
              </a:lnSpc>
              <a:spcBef>
                <a:spcPts val="1200"/>
              </a:spcBef>
              <a:spcAft>
                <a:spcPts val="0"/>
              </a:spcAft>
              <a:buSzPts val="1100"/>
              <a:buNone/>
              <a:defRPr sz="1600"/>
            </a:lvl6pPr>
            <a:lvl7pPr lvl="6" algn="ctr">
              <a:lnSpc>
                <a:spcPct val="100000"/>
              </a:lnSpc>
              <a:spcBef>
                <a:spcPts val="1200"/>
              </a:spcBef>
              <a:spcAft>
                <a:spcPts val="0"/>
              </a:spcAft>
              <a:buSzPts val="1100"/>
              <a:buNone/>
              <a:defRPr sz="1600"/>
            </a:lvl7pPr>
            <a:lvl8pPr lvl="7" algn="ctr">
              <a:lnSpc>
                <a:spcPct val="100000"/>
              </a:lnSpc>
              <a:spcBef>
                <a:spcPts val="1200"/>
              </a:spcBef>
              <a:spcAft>
                <a:spcPts val="0"/>
              </a:spcAft>
              <a:buSzPts val="1100"/>
              <a:buNone/>
              <a:defRPr sz="1600"/>
            </a:lvl8pPr>
            <a:lvl9pPr lvl="8" algn="ctr">
              <a:lnSpc>
                <a:spcPct val="100000"/>
              </a:lnSpc>
              <a:spcBef>
                <a:spcPts val="1200"/>
              </a:spcBef>
              <a:spcAft>
                <a:spcPts val="1200"/>
              </a:spcAft>
              <a:buSzPts val="1100"/>
              <a:buNone/>
              <a:defRPr sz="1600"/>
            </a:lvl9pPr>
          </a:lstStyle>
          <a:p>
            <a:endParaRPr/>
          </a:p>
        </p:txBody>
      </p:sp>
      <p:sp>
        <p:nvSpPr>
          <p:cNvPr id="120" name="Google Shape;120;p17"/>
          <p:cNvSpPr txBox="1"/>
          <p:nvPr/>
        </p:nvSpPr>
        <p:spPr>
          <a:xfrm>
            <a:off x="11490941" y="6464808"/>
            <a:ext cx="437886" cy="1832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600"/>
              <a:buFont typeface="Arial"/>
              <a:buNone/>
            </a:pPr>
            <a:fld id="{00000000-1234-1234-1234-123412341234}" type="slidenum">
              <a:rPr lang="en" sz="800" b="0" i="0" u="none" strike="noStrike" cap="none">
                <a:solidFill>
                  <a:schemeClr val="dk2"/>
                </a:solidFill>
                <a:latin typeface="Arial"/>
                <a:ea typeface="Arial"/>
                <a:cs typeface="Arial"/>
                <a:sym typeface="Arial"/>
              </a:rPr>
              <a:pPr marL="0" marR="0" lvl="0" indent="0" algn="r" rtl="0">
                <a:lnSpc>
                  <a:spcPct val="90000"/>
                </a:lnSpc>
                <a:spcBef>
                  <a:spcPts val="0"/>
                </a:spcBef>
                <a:spcAft>
                  <a:spcPts val="0"/>
                </a:spcAft>
                <a:buClr>
                  <a:schemeClr val="dk2"/>
                </a:buClr>
                <a:buSzPts val="600"/>
                <a:buFont typeface="Arial"/>
                <a:buNone/>
              </a:pPr>
              <a:t>‹#›</a:t>
            </a:fld>
            <a:endParaRPr sz="8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1116633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wo-Content Balanced">
  <p:cSld name="1_Two-Content Balanced">
    <p:spTree>
      <p:nvGrpSpPr>
        <p:cNvPr id="1" name="Shape 2139"/>
        <p:cNvGrpSpPr/>
        <p:nvPr/>
      </p:nvGrpSpPr>
      <p:grpSpPr>
        <a:xfrm>
          <a:off x="0" y="0"/>
          <a:ext cx="0" cy="0"/>
          <a:chOff x="0" y="0"/>
          <a:chExt cx="0" cy="0"/>
        </a:xfrm>
      </p:grpSpPr>
      <p:sp>
        <p:nvSpPr>
          <p:cNvPr id="2140" name="Google Shape;2140;p111"/>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41" name="Google Shape;2141;p111"/>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6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2142" name="Google Shape;2142;p111"/>
          <p:cNvSpPr txBox="1">
            <a:spLocks noGrp="1"/>
          </p:cNvSpPr>
          <p:nvPr>
            <p:ph type="body" idx="2"/>
          </p:nvPr>
        </p:nvSpPr>
        <p:spPr>
          <a:xfrm>
            <a:off x="608013" y="1600200"/>
            <a:ext cx="5313900"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6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2143" name="Google Shape;2143;p111"/>
          <p:cNvSpPr txBox="1">
            <a:spLocks noGrp="1"/>
          </p:cNvSpPr>
          <p:nvPr>
            <p:ph type="body" idx="3"/>
          </p:nvPr>
        </p:nvSpPr>
        <p:spPr>
          <a:xfrm>
            <a:off x="6321287" y="1600200"/>
            <a:ext cx="5313900"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6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2144" name="Google Shape;2144;p111"/>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942134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1_Title, Subtitle and Content">
  <p:cSld name="1_Title, Subtitle and Content">
    <p:spTree>
      <p:nvGrpSpPr>
        <p:cNvPr id="1" name="Shape 54"/>
        <p:cNvGrpSpPr/>
        <p:nvPr/>
      </p:nvGrpSpPr>
      <p:grpSpPr>
        <a:xfrm>
          <a:off x="0" y="0"/>
          <a:ext cx="0" cy="0"/>
          <a:chOff x="0" y="0"/>
          <a:chExt cx="0" cy="0"/>
        </a:xfrm>
      </p:grpSpPr>
      <p:sp>
        <p:nvSpPr>
          <p:cNvPr id="55" name="Google Shape;55;p107"/>
          <p:cNvSpPr txBox="1">
            <a:spLocks noGrp="1"/>
          </p:cNvSpPr>
          <p:nvPr>
            <p:ph type="title"/>
          </p:nvPr>
        </p:nvSpPr>
        <p:spPr>
          <a:xfrm>
            <a:off x="579809" y="412751"/>
            <a:ext cx="11001134" cy="3812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2100"/>
              <a:buNone/>
              <a:defRPr>
                <a:solidFill>
                  <a:schemeClr val="accent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 name="Google Shape;56;p107"/>
          <p:cNvSpPr txBox="1">
            <a:spLocks noGrp="1"/>
          </p:cNvSpPr>
          <p:nvPr>
            <p:ph type="subTitle" idx="1"/>
          </p:nvPr>
        </p:nvSpPr>
        <p:spPr>
          <a:xfrm>
            <a:off x="592868" y="811831"/>
            <a:ext cx="1098794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200"/>
              <a:buNone/>
              <a:defRPr sz="2000"/>
            </a:lvl2pPr>
            <a:lvl3pPr lvl="2" algn="ctr">
              <a:lnSpc>
                <a:spcPct val="100000"/>
              </a:lnSpc>
              <a:spcBef>
                <a:spcPts val="1200"/>
              </a:spcBef>
              <a:spcAft>
                <a:spcPts val="0"/>
              </a:spcAft>
              <a:buSzPts val="1100"/>
              <a:buNone/>
              <a:defRPr sz="1800"/>
            </a:lvl3pPr>
            <a:lvl4pPr lvl="3" algn="ctr">
              <a:lnSpc>
                <a:spcPct val="100000"/>
              </a:lnSpc>
              <a:spcBef>
                <a:spcPts val="1200"/>
              </a:spcBef>
              <a:spcAft>
                <a:spcPts val="0"/>
              </a:spcAft>
              <a:buSzPts val="900"/>
              <a:buNone/>
              <a:defRPr sz="1600"/>
            </a:lvl4pPr>
            <a:lvl5pPr lvl="4" algn="ctr">
              <a:lnSpc>
                <a:spcPct val="100000"/>
              </a:lnSpc>
              <a:spcBef>
                <a:spcPts val="1200"/>
              </a:spcBef>
              <a:spcAft>
                <a:spcPts val="0"/>
              </a:spcAft>
              <a:buSzPts val="900"/>
              <a:buNone/>
              <a:defRPr sz="1600"/>
            </a:lvl5pPr>
            <a:lvl6pPr lvl="5" algn="ctr">
              <a:lnSpc>
                <a:spcPct val="100000"/>
              </a:lnSpc>
              <a:spcBef>
                <a:spcPts val="1200"/>
              </a:spcBef>
              <a:spcAft>
                <a:spcPts val="0"/>
              </a:spcAft>
              <a:buSzPts val="900"/>
              <a:buNone/>
              <a:defRPr sz="1600"/>
            </a:lvl6pPr>
            <a:lvl7pPr lvl="6" algn="ctr">
              <a:lnSpc>
                <a:spcPct val="100000"/>
              </a:lnSpc>
              <a:spcBef>
                <a:spcPts val="1200"/>
              </a:spcBef>
              <a:spcAft>
                <a:spcPts val="0"/>
              </a:spcAft>
              <a:buSzPts val="900"/>
              <a:buNone/>
              <a:defRPr sz="1600"/>
            </a:lvl7pPr>
            <a:lvl8pPr lvl="7" algn="ctr">
              <a:lnSpc>
                <a:spcPct val="100000"/>
              </a:lnSpc>
              <a:spcBef>
                <a:spcPts val="1200"/>
              </a:spcBef>
              <a:spcAft>
                <a:spcPts val="0"/>
              </a:spcAft>
              <a:buSzPts val="900"/>
              <a:buNone/>
              <a:defRPr sz="1600"/>
            </a:lvl8pPr>
            <a:lvl9pPr lvl="8" algn="ctr">
              <a:lnSpc>
                <a:spcPct val="100000"/>
              </a:lnSpc>
              <a:spcBef>
                <a:spcPts val="1200"/>
              </a:spcBef>
              <a:spcAft>
                <a:spcPts val="0"/>
              </a:spcAft>
              <a:buSzPts val="900"/>
              <a:buNone/>
              <a:defRPr sz="1600"/>
            </a:lvl9pPr>
          </a:lstStyle>
          <a:p>
            <a:endParaRPr/>
          </a:p>
        </p:txBody>
      </p:sp>
      <p:sp>
        <p:nvSpPr>
          <p:cNvPr id="57" name="Google Shape;57;p107"/>
          <p:cNvSpPr txBox="1">
            <a:spLocks noGrp="1"/>
          </p:cNvSpPr>
          <p:nvPr>
            <p:ph type="body" idx="2"/>
          </p:nvPr>
        </p:nvSpPr>
        <p:spPr>
          <a:xfrm>
            <a:off x="616505" y="1600201"/>
            <a:ext cx="10972800" cy="4572000"/>
          </a:xfrm>
          <a:prstGeom prst="rect">
            <a:avLst/>
          </a:prstGeom>
          <a:noFill/>
          <a:ln>
            <a:noFill/>
          </a:ln>
        </p:spPr>
        <p:txBody>
          <a:bodyPr spcFirstLastPara="1" wrap="square" lIns="0" tIns="0" rIns="0" bIns="0" anchor="t" anchorCtr="0">
            <a:noAutofit/>
          </a:bodyPr>
          <a:lstStyle>
            <a:lvl1pPr marL="457200" lvl="0" indent="-317500" algn="l">
              <a:lnSpc>
                <a:spcPct val="100000"/>
              </a:lnSpc>
              <a:spcBef>
                <a:spcPts val="0"/>
              </a:spcBef>
              <a:spcAft>
                <a:spcPts val="0"/>
              </a:spcAft>
              <a:buSzPts val="1400"/>
              <a:buChar char="​"/>
              <a:defRPr>
                <a:solidFill>
                  <a:schemeClr val="dk1"/>
                </a:solidFill>
              </a:defRPr>
            </a:lvl1pPr>
            <a:lvl2pPr marL="914400" lvl="1" indent="-304800" algn="l">
              <a:lnSpc>
                <a:spcPct val="100000"/>
              </a:lnSpc>
              <a:spcBef>
                <a:spcPts val="0"/>
              </a:spcBef>
              <a:spcAft>
                <a:spcPts val="0"/>
              </a:spcAft>
              <a:buClr>
                <a:srgbClr val="06070D"/>
              </a:buClr>
              <a:buSzPts val="1200"/>
              <a:buChar char="•"/>
              <a:defRPr>
                <a:solidFill>
                  <a:schemeClr val="dk1"/>
                </a:solidFill>
              </a:defRPr>
            </a:lvl2pPr>
            <a:lvl3pPr marL="1371600" lvl="2" indent="-298450" algn="l">
              <a:lnSpc>
                <a:spcPct val="100000"/>
              </a:lnSpc>
              <a:spcBef>
                <a:spcPts val="0"/>
              </a:spcBef>
              <a:spcAft>
                <a:spcPts val="0"/>
              </a:spcAft>
              <a:buClr>
                <a:srgbClr val="06070D"/>
              </a:buClr>
              <a:buSzPts val="1100"/>
              <a:buChar char="–"/>
              <a:defRPr>
                <a:solidFill>
                  <a:schemeClr val="dk1"/>
                </a:solidFill>
              </a:defRPr>
            </a:lvl3pPr>
            <a:lvl4pPr marL="1828800" lvl="3" indent="-285750" algn="l">
              <a:lnSpc>
                <a:spcPct val="100000"/>
              </a:lnSpc>
              <a:spcBef>
                <a:spcPts val="0"/>
              </a:spcBef>
              <a:spcAft>
                <a:spcPts val="0"/>
              </a:spcAft>
              <a:buClr>
                <a:srgbClr val="06070D"/>
              </a:buClr>
              <a:buSzPts val="900"/>
              <a:buChar char="•"/>
              <a:defRPr>
                <a:solidFill>
                  <a:schemeClr val="dk1"/>
                </a:solidFill>
              </a:defRPr>
            </a:lvl4pPr>
            <a:lvl5pPr marL="2286000" lvl="4" indent="-285750" algn="l">
              <a:lnSpc>
                <a:spcPct val="100000"/>
              </a:lnSpc>
              <a:spcBef>
                <a:spcPts val="0"/>
              </a:spcBef>
              <a:spcAft>
                <a:spcPts val="0"/>
              </a:spcAft>
              <a:buClr>
                <a:srgbClr val="06070D"/>
              </a:buClr>
              <a:buSzPts val="900"/>
              <a:buChar char="–"/>
              <a:defRPr>
                <a:solidFill>
                  <a:schemeClr val="dk1"/>
                </a:solidFill>
              </a:defRPr>
            </a:lvl5pPr>
            <a:lvl6pPr marL="2743200" lvl="5" indent="-285750" algn="l">
              <a:lnSpc>
                <a:spcPct val="100000"/>
              </a:lnSpc>
              <a:spcBef>
                <a:spcPts val="1200"/>
              </a:spcBef>
              <a:spcAft>
                <a:spcPts val="0"/>
              </a:spcAft>
              <a:buClr>
                <a:srgbClr val="06070D"/>
              </a:buClr>
              <a:buSzPts val="900"/>
              <a:buChar char="•"/>
              <a:defRPr>
                <a:solidFill>
                  <a:srgbClr val="06070D"/>
                </a:solidFill>
              </a:defRPr>
            </a:lvl6pPr>
            <a:lvl7pPr marL="3200400" lvl="6" indent="-285750" algn="l">
              <a:lnSpc>
                <a:spcPct val="100000"/>
              </a:lnSpc>
              <a:spcBef>
                <a:spcPts val="1200"/>
              </a:spcBef>
              <a:spcAft>
                <a:spcPts val="0"/>
              </a:spcAft>
              <a:buSzPts val="900"/>
              <a:buChar char="-"/>
              <a:defRPr/>
            </a:lvl7pPr>
            <a:lvl8pPr marL="3657600" lvl="7" indent="-285750" algn="l">
              <a:lnSpc>
                <a:spcPct val="100000"/>
              </a:lnSpc>
              <a:spcBef>
                <a:spcPts val="1200"/>
              </a:spcBef>
              <a:spcAft>
                <a:spcPts val="0"/>
              </a:spcAft>
              <a:buSzPts val="900"/>
              <a:buChar char="•"/>
              <a:defRPr/>
            </a:lvl8pPr>
            <a:lvl9pPr marL="4114800" lvl="8" indent="-285750" algn="l">
              <a:lnSpc>
                <a:spcPct val="100000"/>
              </a:lnSpc>
              <a:spcBef>
                <a:spcPts val="1200"/>
              </a:spcBef>
              <a:spcAft>
                <a:spcPts val="0"/>
              </a:spcAft>
              <a:buSzPts val="900"/>
              <a:buChar char="-"/>
              <a:defRPr/>
            </a:lvl9pPr>
          </a:lstStyle>
          <a:p>
            <a:endParaRPr/>
          </a:p>
        </p:txBody>
      </p:sp>
      <p:sp>
        <p:nvSpPr>
          <p:cNvPr id="58" name="Google Shape;58;p10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lt2"/>
                </a:solidFill>
                <a:latin typeface="Arial"/>
                <a:ea typeface="Arial"/>
                <a:cs typeface="Arial"/>
                <a:sym typeface="Arial"/>
              </a:rPr>
              <a:t>‹#›</a:t>
            </a:fld>
            <a:endParaRPr sz="800" b="0" i="0" u="none" strike="noStrike" cap="none">
              <a:solidFill>
                <a:schemeClr val="lt2"/>
              </a:solidFill>
              <a:latin typeface="Arial"/>
              <a:ea typeface="Arial"/>
              <a:cs typeface="Arial"/>
              <a:sym typeface="Arial"/>
            </a:endParaRPr>
          </a:p>
        </p:txBody>
      </p:sp>
      <p:sp>
        <p:nvSpPr>
          <p:cNvPr id="59" name="Google Shape;59;p10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lt2"/>
                </a:solidFill>
                <a:latin typeface="Arial"/>
                <a:ea typeface="Arial"/>
                <a:cs typeface="Arial"/>
                <a:sym typeface="Arial"/>
              </a:rPr>
              <a:t>‹#›</a:t>
            </a:fld>
            <a:endParaRPr sz="800" b="0" i="0" u="none" strike="noStrike" cap="none">
              <a:solidFill>
                <a:schemeClr val="lt2"/>
              </a:solidFill>
              <a:latin typeface="Arial"/>
              <a:ea typeface="Arial"/>
              <a:cs typeface="Arial"/>
              <a:sym typeface="Arial"/>
            </a:endParaRPr>
          </a:p>
        </p:txBody>
      </p:sp>
    </p:spTree>
    <p:extLst>
      <p:ext uri="{BB962C8B-B14F-4D97-AF65-F5344CB8AC3E}">
        <p14:creationId xmlns:p14="http://schemas.microsoft.com/office/powerpoint/2010/main" val="2501427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ection Header – Plum">
  <p:cSld name="1_Section Header – Plum">
    <p:spTree>
      <p:nvGrpSpPr>
        <p:cNvPr id="1" name="Shape 41"/>
        <p:cNvGrpSpPr/>
        <p:nvPr/>
      </p:nvGrpSpPr>
      <p:grpSpPr>
        <a:xfrm>
          <a:off x="0" y="0"/>
          <a:ext cx="0" cy="0"/>
          <a:chOff x="0" y="0"/>
          <a:chExt cx="0" cy="0"/>
        </a:xfrm>
      </p:grpSpPr>
      <p:sp>
        <p:nvSpPr>
          <p:cNvPr id="42" name="Google Shape;42;p16"/>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6"/>
          <p:cNvSpPr txBox="1">
            <a:spLocks noGrp="1"/>
          </p:cNvSpPr>
          <p:nvPr>
            <p:ph type="subTitle" idx="1"/>
          </p:nvPr>
        </p:nvSpPr>
        <p:spPr>
          <a:xfrm>
            <a:off x="602966" y="2267712"/>
            <a:ext cx="654211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6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44" name="Google Shape;44;p1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45" name="Google Shape;45;p16"/>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5"/>
              </a:gs>
              <a:gs pos="21000">
                <a:schemeClr val="accent5"/>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47" name="Google Shape;47;p16"/>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5"/>
              </a:gs>
              <a:gs pos="21000">
                <a:schemeClr val="accent5"/>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22617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40" name="Google Shape;40;p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81330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Section Header – Aqua - RBLF">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Freeform 17">
            <a:extLst>
              <a:ext uri="{FF2B5EF4-FFF2-40B4-BE49-F238E27FC236}">
                <a16:creationId xmlns:a16="http://schemas.microsoft.com/office/drawing/2014/main" id="{AA8AB603-8151-B92A-7BB6-D43CB0D7CBEC}"/>
              </a:ext>
            </a:extLst>
          </p:cNvPr>
          <p:cNvSpPr/>
          <p:nvPr userDrawn="1"/>
        </p:nvSpPr>
        <p:spPr>
          <a:xfrm>
            <a:off x="804256" y="1630700"/>
            <a:ext cx="5930781" cy="1234713"/>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 name="Freeform 8">
            <a:extLst>
              <a:ext uri="{FF2B5EF4-FFF2-40B4-BE49-F238E27FC236}">
                <a16:creationId xmlns:a16="http://schemas.microsoft.com/office/drawing/2014/main" id="{A985BF41-1393-853F-6DDF-DD489DE2FE8F}"/>
              </a:ext>
            </a:extLst>
          </p:cNvPr>
          <p:cNvSpPr/>
          <p:nvPr userDrawn="1"/>
        </p:nvSpPr>
        <p:spPr>
          <a:xfrm>
            <a:off x="0" y="1322675"/>
            <a:ext cx="6667828" cy="1645919"/>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3"/>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bg1"/>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1680597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Three Icon - Horizontal - Green - RBLF">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4">
              <a:lumMod val="20000"/>
              <a:lumOff val="80000"/>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4">
                    <a:lumMod val="50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91E9769B-8BED-31C2-BCC5-5ED788A8862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Verdana" panose="020B060403050404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Verdana" panose="020B0604030504040204" pitchFamily="34" charset="0"/>
            </a:endParaRPr>
          </a:p>
        </p:txBody>
      </p:sp>
      <p:sp>
        <p:nvSpPr>
          <p:cNvPr id="3" name="TextBox 2">
            <a:extLst>
              <a:ext uri="{FF2B5EF4-FFF2-40B4-BE49-F238E27FC236}">
                <a16:creationId xmlns:a16="http://schemas.microsoft.com/office/drawing/2014/main" id="{E5BD7664-B488-7E4F-4D3B-ABAB755733E7}"/>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Metropolis-Regular"/>
                <a:rtl val="0"/>
              </a:rPr>
              <a:t>.  </a:t>
            </a:r>
          </a:p>
        </p:txBody>
      </p:sp>
      <p:grpSp>
        <p:nvGrpSpPr>
          <p:cNvPr id="5" name="Graphic 8">
            <a:extLst>
              <a:ext uri="{FF2B5EF4-FFF2-40B4-BE49-F238E27FC236}">
                <a16:creationId xmlns:a16="http://schemas.microsoft.com/office/drawing/2014/main" id="{D0F9EA36-BB70-5313-044B-80807DA9CCD3}"/>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C2685E30-24AA-7761-80C0-48E5848DA42B}"/>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E99FBFD3-FC96-695C-66D3-862CB40AC30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6CDEBF1C-4273-612B-EE4B-68FA2CD80F6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0AFBAC62-9E83-6584-B456-AD66A2F1363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7AE67FF2-752E-D8BD-6B17-68A624B2764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F274C2D8-E9AD-F8CF-758D-E76DE4236F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8D25EEE2-4428-09D0-2C2E-A4671B9BE44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F812BB8E-233F-3979-A51B-8634E7DB54C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AAA3E88A-2807-2D3B-8F46-54C67622DCB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04F62A2C-C883-D52B-C7F2-32F5EF8E781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D399ED2E-7F86-EDD9-F686-2BD5A307732C}"/>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65D35B2-5C93-A6A0-129B-3451010F0999}"/>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E0FFA6EF-56B4-D322-134D-C0560EC0235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5E208487-B1C7-8686-5965-DD8E1AF8ABB5}"/>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40722565-B854-AEC2-6FDD-4F8379CDFC6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AD2CAD7B-FFD3-87BD-81A9-89308D8D353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2E1E1374-E627-8B13-838C-C8E843CA72B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3D1EB2FF-6096-0636-BB9E-03CEF2B07E8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A9F2620B-E7EA-2199-0614-41C3DC49F39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D509BAC9-1014-CADB-5852-96D2DBA9D8F9}"/>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487495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hree Icon - Fancy - RBLF">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01F6BC8-890F-E2DA-3AF7-13EDFB2F57AD}"/>
              </a:ext>
            </a:extLst>
          </p:cNvPr>
          <p:cNvSpPr>
            <a:spLocks/>
          </p:cNvSpPr>
          <p:nvPr userDrawn="1"/>
        </p:nvSpPr>
        <p:spPr>
          <a:xfrm>
            <a:off x="8226351" y="1899065"/>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5" name="Oval 4">
            <a:extLst>
              <a:ext uri="{FF2B5EF4-FFF2-40B4-BE49-F238E27FC236}">
                <a16:creationId xmlns:a16="http://schemas.microsoft.com/office/drawing/2014/main" id="{CAD2CE7C-A738-5DAC-E359-C64BB0405D4D}"/>
              </a:ext>
            </a:extLst>
          </p:cNvPr>
          <p:cNvSpPr>
            <a:spLocks/>
          </p:cNvSpPr>
          <p:nvPr userDrawn="1"/>
        </p:nvSpPr>
        <p:spPr>
          <a:xfrm>
            <a:off x="5023569" y="1899065"/>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2" name="Oval 1">
            <a:extLst>
              <a:ext uri="{FF2B5EF4-FFF2-40B4-BE49-F238E27FC236}">
                <a16:creationId xmlns:a16="http://schemas.microsoft.com/office/drawing/2014/main" id="{D8410044-EE97-EC7C-9316-78E9B303D358}"/>
              </a:ext>
            </a:extLst>
          </p:cNvPr>
          <p:cNvSpPr>
            <a:spLocks/>
          </p:cNvSpPr>
          <p:nvPr userDrawn="1"/>
        </p:nvSpPr>
        <p:spPr>
          <a:xfrm>
            <a:off x="1820788" y="1899065"/>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latin typeface="Arial" panose="020B0604020202020204" pitchFamily="34" charset="0"/>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dirty="0"/>
              <a:t>add icon</a:t>
            </a:r>
            <a:br>
              <a:rPr lang="en-US" dirty="0"/>
            </a:br>
            <a:r>
              <a:rPr lang="en-US" dirty="0"/>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Metropoli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solidFill>
            <a:schemeClr val="accent3"/>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dirty="0"/>
              <a:t>add icon</a:t>
            </a:r>
            <a:br>
              <a:rPr lang="en-US" dirty="0"/>
            </a:br>
            <a:r>
              <a:rPr lang="en-US" dirty="0"/>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Metropolis" panose="020B0606030504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Metropoli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Metropolis" panose="020B0606030504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Metropoli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latin typeface="Arial" panose="020B0604020202020204" pitchFamily="34" charset="0"/>
              </a:rPr>
              <a:pPr lvl="0" algn="r"/>
              <a:t>‹#›</a:t>
            </a:fld>
            <a:endParaRPr lang="en-US" dirty="0">
              <a:latin typeface="Arial" panose="020B0604020202020204" pitchFamily="34" charset="0"/>
            </a:endParaRPr>
          </a:p>
        </p:txBody>
      </p:sp>
    </p:spTree>
    <p:extLst>
      <p:ext uri="{BB962C8B-B14F-4D97-AF65-F5344CB8AC3E}">
        <p14:creationId xmlns:p14="http://schemas.microsoft.com/office/powerpoint/2010/main" val="2703140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AA6C16E6-5A1F-46F7-8642-A7F025A5BDCF}"/>
              </a:ext>
            </a:extLst>
          </p:cNvPr>
          <p:cNvSpPr>
            <a:spLocks noGrp="1"/>
          </p:cNvSpPr>
          <p:nvPr>
            <p:ph type="ftr" sz="quarter" idx="3"/>
          </p:nvPr>
        </p:nvSpPr>
        <p:spPr>
          <a:xfrm>
            <a:off x="4037013" y="735203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5" name="Slide Number Placeholder 4">
            <a:extLst>
              <a:ext uri="{FF2B5EF4-FFF2-40B4-BE49-F238E27FC236}">
                <a16:creationId xmlns:a16="http://schemas.microsoft.com/office/drawing/2014/main" id="{3E586C86-F823-4766-9B10-773EDC51CC66}"/>
              </a:ext>
            </a:extLst>
          </p:cNvPr>
          <p:cNvSpPr>
            <a:spLocks noGrp="1"/>
          </p:cNvSpPr>
          <p:nvPr>
            <p:ph type="sldNum" sz="quarter" idx="4"/>
          </p:nvPr>
        </p:nvSpPr>
        <p:spPr>
          <a:xfrm>
            <a:off x="8609013" y="735203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D295A3-96FB-4E80-91AF-4225D266C57B}" type="slidenum">
              <a:rPr lang="en-US" smtClean="0"/>
              <a:t>‹#›</a:t>
            </a:fld>
            <a:endParaRPr lang="en-US" dirty="0"/>
          </a:p>
        </p:txBody>
      </p:sp>
      <p:sp>
        <p:nvSpPr>
          <p:cNvPr id="46" name="TextBox 45">
            <a:extLst>
              <a:ext uri="{FF2B5EF4-FFF2-40B4-BE49-F238E27FC236}">
                <a16:creationId xmlns:a16="http://schemas.microsoft.com/office/drawing/2014/main" id="{CD85138C-BA05-506A-37F6-E09D7B567181}"/>
              </a:ext>
            </a:extLst>
          </p:cNvPr>
          <p:cNvSpPr txBox="1"/>
          <p:nvPr/>
        </p:nvSpPr>
        <p:spPr>
          <a:xfrm>
            <a:off x="1645084" y="6461498"/>
            <a:ext cx="2590453" cy="128753"/>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2025 Broadcom.  </a:t>
            </a:r>
          </a:p>
        </p:txBody>
      </p:sp>
      <p:sp>
        <p:nvSpPr>
          <p:cNvPr id="47" name="TextBox 46">
            <a:extLst>
              <a:ext uri="{FF2B5EF4-FFF2-40B4-BE49-F238E27FC236}">
                <a16:creationId xmlns:a16="http://schemas.microsoft.com/office/drawing/2014/main" id="{102AAF9C-F1AC-4843-6875-135CA87C5B2B}"/>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pic>
        <p:nvPicPr>
          <p:cNvPr id="74" name="Picture 73" descr="A green and blue arrow&#10;&#10;Description automatically generated">
            <a:extLst>
              <a:ext uri="{FF2B5EF4-FFF2-40B4-BE49-F238E27FC236}">
                <a16:creationId xmlns:a16="http://schemas.microsoft.com/office/drawing/2014/main" id="{C967C0A9-A69C-82AD-D33C-3AF05EB07560}"/>
              </a:ext>
            </a:extLst>
          </p:cNvPr>
          <p:cNvPicPr>
            <a:picLocks noChangeAspect="1"/>
          </p:cNvPicPr>
          <p:nvPr userDrawn="1"/>
        </p:nvPicPr>
        <p:blipFill rotWithShape="1">
          <a:blip r:embed="rId51"/>
          <a:srcRect b="97344"/>
          <a:stretch/>
        </p:blipFill>
        <p:spPr>
          <a:xfrm>
            <a:off x="0" y="-494"/>
            <a:ext cx="12187946" cy="182146"/>
          </a:xfrm>
          <a:prstGeom prst="rect">
            <a:avLst/>
          </a:prstGeom>
        </p:spPr>
      </p:pic>
    </p:spTree>
    <p:extLst>
      <p:ext uri="{BB962C8B-B14F-4D97-AF65-F5344CB8AC3E}">
        <p14:creationId xmlns:p14="http://schemas.microsoft.com/office/powerpoint/2010/main" val="314398929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www.dynatrace.com/news/blog/what-is-shift-left-and-what-is-shift-right/" TargetMode="External"/><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57.svg"/></Relationships>
</file>

<file path=ppt/slides/_rels/slide4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59.sv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7.xml"/><Relationship Id="rId1" Type="http://schemas.openxmlformats.org/officeDocument/2006/relationships/slideLayout" Target="../slideLayouts/slideLayout12.xml"/><Relationship Id="rId5" Type="http://schemas.openxmlformats.org/officeDocument/2006/relationships/image" Target="../media/image70.png"/><Relationship Id="rId4" Type="http://schemas.openxmlformats.org/officeDocument/2006/relationships/image" Target="../media/image69.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9.xml"/></Relationships>
</file>

<file path=ppt/slides/_rels/slide67.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2.xml"/><Relationship Id="rId1" Type="http://schemas.openxmlformats.org/officeDocument/2006/relationships/slideLayout" Target="../slideLayouts/slideLayout3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72.svg"/></Relationships>
</file>

<file path=ppt/slides/_rels/slide68.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3.xml"/><Relationship Id="rId1" Type="http://schemas.openxmlformats.org/officeDocument/2006/relationships/slideLayout" Target="../slideLayouts/slideLayout3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72.sv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6.xml"/></Relationships>
</file>

<file path=ppt/slides/_rels/slide70.xml.rels><?xml version="1.0" encoding="UTF-8" standalone="yes"?>
<Relationships xmlns="http://schemas.openxmlformats.org/package/2006/relationships"><Relationship Id="rId8" Type="http://schemas.openxmlformats.org/officeDocument/2006/relationships/image" Target="../media/image78.svg"/><Relationship Id="rId13" Type="http://schemas.openxmlformats.org/officeDocument/2006/relationships/image" Target="../media/image83.png"/><Relationship Id="rId18" Type="http://schemas.openxmlformats.org/officeDocument/2006/relationships/image" Target="../media/image88.svg"/><Relationship Id="rId3" Type="http://schemas.openxmlformats.org/officeDocument/2006/relationships/image" Target="../media/image73.png"/><Relationship Id="rId21" Type="http://schemas.openxmlformats.org/officeDocument/2006/relationships/image" Target="../media/image91.png"/><Relationship Id="rId7" Type="http://schemas.openxmlformats.org/officeDocument/2006/relationships/image" Target="../media/image77.png"/><Relationship Id="rId12" Type="http://schemas.openxmlformats.org/officeDocument/2006/relationships/image" Target="../media/image82.svg"/><Relationship Id="rId17" Type="http://schemas.openxmlformats.org/officeDocument/2006/relationships/image" Target="../media/image87.png"/><Relationship Id="rId2" Type="http://schemas.openxmlformats.org/officeDocument/2006/relationships/notesSlide" Target="../notesSlides/notesSlide65.xml"/><Relationship Id="rId16" Type="http://schemas.openxmlformats.org/officeDocument/2006/relationships/image" Target="../media/image86.svg"/><Relationship Id="rId20" Type="http://schemas.openxmlformats.org/officeDocument/2006/relationships/image" Target="../media/image90.svg"/><Relationship Id="rId1" Type="http://schemas.openxmlformats.org/officeDocument/2006/relationships/slideLayout" Target="../slideLayouts/slideLayout46.xml"/><Relationship Id="rId6" Type="http://schemas.openxmlformats.org/officeDocument/2006/relationships/image" Target="../media/image76.svg"/><Relationship Id="rId11" Type="http://schemas.openxmlformats.org/officeDocument/2006/relationships/image" Target="../media/image81.png"/><Relationship Id="rId5" Type="http://schemas.openxmlformats.org/officeDocument/2006/relationships/image" Target="../media/image75.png"/><Relationship Id="rId15" Type="http://schemas.openxmlformats.org/officeDocument/2006/relationships/image" Target="../media/image85.png"/><Relationship Id="rId10" Type="http://schemas.openxmlformats.org/officeDocument/2006/relationships/image" Target="../media/image80.svg"/><Relationship Id="rId19" Type="http://schemas.openxmlformats.org/officeDocument/2006/relationships/image" Target="../media/image89.png"/><Relationship Id="rId4" Type="http://schemas.openxmlformats.org/officeDocument/2006/relationships/image" Target="../media/image74.svg"/><Relationship Id="rId9" Type="http://schemas.openxmlformats.org/officeDocument/2006/relationships/image" Target="../media/image79.png"/><Relationship Id="rId14" Type="http://schemas.openxmlformats.org/officeDocument/2006/relationships/image" Target="../media/image84.svg"/><Relationship Id="rId22" Type="http://schemas.openxmlformats.org/officeDocument/2006/relationships/image" Target="../media/image92.sv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6" name="Title 5">
            <a:extLst>
              <a:ext uri="{FF2B5EF4-FFF2-40B4-BE49-F238E27FC236}">
                <a16:creationId xmlns:a16="http://schemas.microsoft.com/office/drawing/2014/main" id="{63B6048B-2D26-DAA7-86DA-18449B1B66ED}"/>
              </a:ext>
            </a:extLst>
          </p:cNvPr>
          <p:cNvSpPr>
            <a:spLocks noGrp="1"/>
          </p:cNvSpPr>
          <p:nvPr>
            <p:ph type="title"/>
          </p:nvPr>
        </p:nvSpPr>
        <p:spPr/>
        <p:txBody>
          <a:bodyPr/>
          <a:lstStyle/>
          <a:p>
            <a:r>
              <a:rPr lang="en-US" dirty="0"/>
              <a:t>VMware Pro Cloud Services for Private Cloud</a:t>
            </a:r>
          </a:p>
        </p:txBody>
      </p:sp>
      <p:sp>
        <p:nvSpPr>
          <p:cNvPr id="7" name="Subtitle 6">
            <a:extLst>
              <a:ext uri="{FF2B5EF4-FFF2-40B4-BE49-F238E27FC236}">
                <a16:creationId xmlns:a16="http://schemas.microsoft.com/office/drawing/2014/main" id="{2E5B10C8-FEA7-1F59-E9C0-272561D9D8F5}"/>
              </a:ext>
            </a:extLst>
          </p:cNvPr>
          <p:cNvSpPr>
            <a:spLocks noGrp="1"/>
          </p:cNvSpPr>
          <p:nvPr>
            <p:ph type="subTitle" idx="10"/>
          </p:nvPr>
        </p:nvSpPr>
        <p:spPr/>
        <p:txBody>
          <a:bodyPr/>
          <a:lstStyle/>
          <a:p>
            <a:pPr marL="0" lvl="0" indent="0" algn="l" rtl="0">
              <a:lnSpc>
                <a:spcPct val="95000"/>
              </a:lnSpc>
              <a:spcBef>
                <a:spcPts val="0"/>
              </a:spcBef>
              <a:spcAft>
                <a:spcPts val="0"/>
              </a:spcAft>
              <a:buSzPct val="93906"/>
              <a:buNone/>
            </a:pPr>
            <a:r>
              <a:rPr lang="en-CA" dirty="0">
                <a:solidFill>
                  <a:schemeClr val="dk2"/>
                </a:solidFill>
              </a:rPr>
              <a:t>Design Workshop</a:t>
            </a:r>
            <a:endParaRPr lang="en-CA" dirty="0"/>
          </a:p>
        </p:txBody>
      </p:sp>
      <p:sp>
        <p:nvSpPr>
          <p:cNvPr id="980" name="Google Shape;980;p113"/>
          <p:cNvSpPr txBox="1">
            <a:spLocks noGrp="1"/>
          </p:cNvSpPr>
          <p:nvPr>
            <p:ph type="body" sz="quarter" idx="11"/>
          </p:nvPr>
        </p:nvSpPr>
        <p:spPr>
          <a:prstGeom prst="rect">
            <a:avLst/>
          </a:prstGeom>
          <a:noFill/>
          <a:ln>
            <a:noFill/>
          </a:ln>
        </p:spPr>
        <p:txBody>
          <a:bodyPr spcFirstLastPara="1" wrap="square" lIns="0" tIns="0" rIns="0" bIns="0" anchor="b" anchorCtr="0">
            <a:normAutofit/>
          </a:bodyPr>
          <a:lstStyle/>
          <a:p>
            <a:pPr marL="0" lvl="0" indent="0" algn="l" rtl="0">
              <a:lnSpc>
                <a:spcPct val="95000"/>
              </a:lnSpc>
              <a:spcBef>
                <a:spcPts val="0"/>
              </a:spcBef>
              <a:spcAft>
                <a:spcPts val="0"/>
              </a:spcAft>
              <a:buSzPct val="93906"/>
              <a:buNone/>
            </a:pPr>
            <a:endParaRPr dirty="0"/>
          </a:p>
        </p:txBody>
      </p:sp>
      <p:sp>
        <p:nvSpPr>
          <p:cNvPr id="8" name="Text Placeholder 7">
            <a:extLst>
              <a:ext uri="{FF2B5EF4-FFF2-40B4-BE49-F238E27FC236}">
                <a16:creationId xmlns:a16="http://schemas.microsoft.com/office/drawing/2014/main" id="{B71E8D89-2372-0EE6-EEAF-781B0AFDF950}"/>
              </a:ext>
            </a:extLst>
          </p:cNvPr>
          <p:cNvSpPr>
            <a:spLocks noGrp="1"/>
          </p:cNvSpPr>
          <p:nvPr>
            <p:ph type="body" sz="quarter" idx="12"/>
          </p:nvPr>
        </p:nvSpPr>
        <p:spPr/>
        <p:txBody>
          <a:bodyPr/>
          <a:lstStyle/>
          <a:p>
            <a:endParaRPr lang="en-US"/>
          </a:p>
        </p:txBody>
      </p:sp>
      <p:sp>
        <p:nvSpPr>
          <p:cNvPr id="9" name="Text Placeholder 8">
            <a:extLst>
              <a:ext uri="{FF2B5EF4-FFF2-40B4-BE49-F238E27FC236}">
                <a16:creationId xmlns:a16="http://schemas.microsoft.com/office/drawing/2014/main" id="{D4B58385-D0CE-F5B3-1294-44795175CCE0}"/>
              </a:ext>
            </a:extLst>
          </p:cNvPr>
          <p:cNvSpPr>
            <a:spLocks noGrp="1"/>
          </p:cNvSpPr>
          <p:nvPr>
            <p:ph type="body" sz="quarter" idx="14"/>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114"/>
          <p:cNvSpPr txBox="1">
            <a:spLocks noGrp="1"/>
          </p:cNvSpPr>
          <p:nvPr>
            <p:ph type="body" sz="quarter" idx="23"/>
          </p:nvPr>
        </p:nvSpPr>
        <p:spPr>
          <a:xfrm>
            <a:off x="2894013" y="1359907"/>
            <a:ext cx="7315200" cy="4201150"/>
          </a:xfrm>
          <a:noFill/>
          <a:ln>
            <a:noFill/>
          </a:ln>
        </p:spPr>
        <p:txBody>
          <a:bodyPr spcFirstLastPara="1" wrap="square" lIns="0" tIns="0" rIns="0" bIns="0" anchor="t" anchorCtr="0">
            <a:spAutoFit/>
          </a:bodyPr>
          <a:lstStyle/>
          <a:p>
            <a:pPr lvl="0"/>
            <a:r>
              <a:rPr lang="en-US" dirty="0"/>
              <a:t>VMware Pro Cloud Services Overview and Definitions</a:t>
            </a:r>
          </a:p>
          <a:p>
            <a:pPr lvl="0"/>
            <a:r>
              <a:rPr lang="en-US" dirty="0"/>
              <a:t>Private Cloud Conceptual and Logical Design</a:t>
            </a:r>
          </a:p>
          <a:p>
            <a:pPr marL="628650" lvl="2" indent="-285750">
              <a:buFont typeface="Arial" panose="020B0604020202020204" pitchFamily="34" charset="0"/>
              <a:buChar char="•"/>
            </a:pPr>
            <a:r>
              <a:rPr lang="en-US" dirty="0"/>
              <a:t>VMware Cloud Foundation Design Details</a:t>
            </a:r>
          </a:p>
          <a:p>
            <a:pPr marL="628650" lvl="2" indent="-285750">
              <a:buFont typeface="Arial" panose="020B0604020202020204" pitchFamily="34" charset="0"/>
              <a:buChar char="•"/>
            </a:pPr>
            <a:r>
              <a:rPr lang="en-US" dirty="0"/>
              <a:t>Networking Design Details</a:t>
            </a:r>
          </a:p>
          <a:p>
            <a:pPr marL="628650" lvl="2" indent="-285750">
              <a:buFont typeface="Arial" panose="020B0604020202020204" pitchFamily="34" charset="0"/>
              <a:buChar char="•"/>
            </a:pPr>
            <a:r>
              <a:rPr lang="en-US" dirty="0"/>
              <a:t>VCF Operations Design Details</a:t>
            </a:r>
          </a:p>
          <a:p>
            <a:pPr marL="628650" lvl="2" indent="-285750">
              <a:buFont typeface="Arial" panose="020B0604020202020204" pitchFamily="34" charset="0"/>
              <a:buChar char="•"/>
            </a:pPr>
            <a:r>
              <a:rPr lang="en-US" dirty="0"/>
              <a:t>VCF Automation Design Details</a:t>
            </a:r>
          </a:p>
          <a:p>
            <a:pPr marL="628650" lvl="2" indent="-285750">
              <a:buFont typeface="Arial" panose="020B0604020202020204" pitchFamily="34" charset="0"/>
              <a:buChar char="•"/>
            </a:pPr>
            <a:r>
              <a:rPr lang="en-US" dirty="0"/>
              <a:t>vSphere Kubernetes Service</a:t>
            </a:r>
          </a:p>
          <a:p>
            <a:pPr marL="628650" lvl="2" indent="-285750">
              <a:buFont typeface="Arial" panose="020B0604020202020204" pitchFamily="34" charset="0"/>
              <a:buChar char="•"/>
            </a:pPr>
            <a:r>
              <a:rPr lang="en-US" dirty="0"/>
              <a:t>Security Design</a:t>
            </a:r>
          </a:p>
          <a:p>
            <a:pPr lvl="0"/>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2" name="Title 1">
            <a:extLst>
              <a:ext uri="{FF2B5EF4-FFF2-40B4-BE49-F238E27FC236}">
                <a16:creationId xmlns:a16="http://schemas.microsoft.com/office/drawing/2014/main" id="{B3E2B0D6-1910-85E8-C929-13CC581AD8C3}"/>
              </a:ext>
            </a:extLst>
          </p:cNvPr>
          <p:cNvSpPr>
            <a:spLocks noGrp="1"/>
          </p:cNvSpPr>
          <p:nvPr>
            <p:ph type="title"/>
          </p:nvPr>
        </p:nvSpPr>
        <p:spPr>
          <a:xfrm>
            <a:off x="589108" y="938794"/>
            <a:ext cx="6427626" cy="1229360"/>
          </a:xfrm>
        </p:spPr>
        <p:txBody>
          <a:bodyPr/>
          <a:lstStyle/>
          <a:p>
            <a:r>
              <a:rPr lang="en-US" dirty="0"/>
              <a:t>VMware Pro Cloud Services</a:t>
            </a:r>
          </a:p>
        </p:txBody>
      </p:sp>
      <p:sp>
        <p:nvSpPr>
          <p:cNvPr id="993" name="Google Shape;993;p115"/>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US" dirty="0"/>
              <a:t>Overview and Definitions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pic>
        <p:nvPicPr>
          <p:cNvPr id="999" name="Google Shape;999;p116"/>
          <p:cNvPicPr preferRelativeResize="0"/>
          <p:nvPr/>
        </p:nvPicPr>
        <p:blipFill rotWithShape="1">
          <a:blip r:embed="rId3">
            <a:alphaModFix/>
          </a:blip>
          <a:srcRect/>
          <a:stretch/>
        </p:blipFill>
        <p:spPr>
          <a:xfrm>
            <a:off x="358444" y="2534500"/>
            <a:ext cx="3227933" cy="2593772"/>
          </a:xfrm>
          <a:prstGeom prst="rect">
            <a:avLst/>
          </a:prstGeom>
          <a:noFill/>
          <a:ln>
            <a:noFill/>
          </a:ln>
        </p:spPr>
      </p:pic>
      <p:pic>
        <p:nvPicPr>
          <p:cNvPr id="1000" name="Google Shape;1000;p116"/>
          <p:cNvPicPr preferRelativeResize="0"/>
          <p:nvPr/>
        </p:nvPicPr>
        <p:blipFill rotWithShape="1">
          <a:blip r:embed="rId4">
            <a:alphaModFix/>
          </a:blip>
          <a:srcRect/>
          <a:stretch/>
        </p:blipFill>
        <p:spPr>
          <a:xfrm>
            <a:off x="8551333" y="2668398"/>
            <a:ext cx="3125942" cy="2150063"/>
          </a:xfrm>
          <a:prstGeom prst="rect">
            <a:avLst/>
          </a:prstGeom>
          <a:noFill/>
          <a:ln>
            <a:noFill/>
          </a:ln>
        </p:spPr>
      </p:pic>
      <p:pic>
        <p:nvPicPr>
          <p:cNvPr id="1001" name="Google Shape;1001;p116"/>
          <p:cNvPicPr preferRelativeResize="0"/>
          <p:nvPr/>
        </p:nvPicPr>
        <p:blipFill rotWithShape="1">
          <a:blip r:embed="rId5">
            <a:alphaModFix/>
          </a:blip>
          <a:srcRect/>
          <a:stretch/>
        </p:blipFill>
        <p:spPr>
          <a:xfrm>
            <a:off x="4240500" y="2573395"/>
            <a:ext cx="4437303" cy="2243032"/>
          </a:xfrm>
          <a:prstGeom prst="rect">
            <a:avLst/>
          </a:prstGeom>
          <a:noFill/>
          <a:ln>
            <a:noFill/>
          </a:ln>
        </p:spPr>
      </p:pic>
      <p:sp>
        <p:nvSpPr>
          <p:cNvPr id="1002" name="Google Shape;1002;p116"/>
          <p:cNvSpPr/>
          <p:nvPr/>
        </p:nvSpPr>
        <p:spPr>
          <a:xfrm>
            <a:off x="1588" y="1545801"/>
            <a:ext cx="12185651" cy="678298"/>
          </a:xfrm>
          <a:prstGeom prst="rect">
            <a:avLst/>
          </a:prstGeom>
          <a:solidFill>
            <a:schemeClr val="accent1"/>
          </a:solidFill>
          <a:ln>
            <a:noFill/>
          </a:ln>
        </p:spPr>
        <p:txBody>
          <a:bodyPr spcFirstLastPara="1" wrap="square" lIns="457075" tIns="45700" rIns="457075" bIns="45700" anchor="ctr" anchorCtr="0">
            <a:noAutofit/>
          </a:bodyPr>
          <a:lstStyle/>
          <a:p>
            <a:pPr marL="0" marR="0" lvl="0" indent="0" algn="ctr" rtl="0">
              <a:lnSpc>
                <a:spcPct val="100000"/>
              </a:lnSpc>
              <a:spcBef>
                <a:spcPts val="0"/>
              </a:spcBef>
              <a:spcAft>
                <a:spcPts val="0"/>
              </a:spcAft>
              <a:buClr>
                <a:srgbClr val="000000"/>
              </a:buClr>
              <a:buSzPts val="1999"/>
              <a:buFont typeface="Arial"/>
              <a:buNone/>
            </a:pPr>
            <a:r>
              <a:rPr lang="en-US" sz="1999" b="1" i="0" u="none" strike="noStrike" cap="none">
                <a:solidFill>
                  <a:srgbClr val="FFFFFF"/>
                </a:solidFill>
                <a:latin typeface="Arial"/>
                <a:ea typeface="Arial"/>
                <a:cs typeface="Arial"/>
                <a:sym typeface="Arial"/>
              </a:rPr>
              <a:t>Providing a well-architected solution encompassing technology, people and processes</a:t>
            </a:r>
            <a:endParaRPr sz="1999" b="1" i="0" u="none" strike="noStrike" cap="none">
              <a:solidFill>
                <a:srgbClr val="FFFFFF"/>
              </a:solidFill>
              <a:latin typeface="Arial"/>
              <a:ea typeface="Arial"/>
              <a:cs typeface="Arial"/>
              <a:sym typeface="Arial"/>
            </a:endParaRPr>
          </a:p>
        </p:txBody>
      </p:sp>
      <p:sp>
        <p:nvSpPr>
          <p:cNvPr id="1003" name="Google Shape;1003;p116"/>
          <p:cNvSpPr/>
          <p:nvPr/>
        </p:nvSpPr>
        <p:spPr>
          <a:xfrm>
            <a:off x="0" y="4818461"/>
            <a:ext cx="12185651" cy="1441991"/>
          </a:xfrm>
          <a:prstGeom prst="rect">
            <a:avLst/>
          </a:prstGeom>
          <a:solidFill>
            <a:schemeClr val="l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004" name="Google Shape;1004;p116"/>
          <p:cNvSpPr txBox="1">
            <a:spLocks noGrp="1"/>
          </p:cNvSpPr>
          <p:nvPr>
            <p:ph type="title"/>
          </p:nvPr>
        </p:nvSpPr>
        <p:spPr>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700"/>
              <a:buFont typeface="Arial"/>
              <a:buNone/>
            </a:pPr>
            <a:r>
              <a:rPr lang="en-US"/>
              <a:t>VMware Pro Cloud Services</a:t>
            </a:r>
            <a:endParaRPr/>
          </a:p>
        </p:txBody>
      </p:sp>
      <p:sp>
        <p:nvSpPr>
          <p:cNvPr id="1005" name="Google Shape;1005;p116"/>
          <p:cNvSpPr txBox="1">
            <a:spLocks noGrp="1"/>
          </p:cNvSpPr>
          <p:nvPr>
            <p:ph type="subTitle" idx="10"/>
          </p:nvPr>
        </p:nvSpPr>
        <p:spPr>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SzPts val="2300"/>
              <a:buNone/>
            </a:pPr>
            <a:r>
              <a:rPr lang="en-US"/>
              <a:t>Achieve the benefits of your future state architecture faster</a:t>
            </a:r>
            <a:endParaRPr/>
          </a:p>
          <a:p>
            <a:pPr marL="0" marR="0" lvl="0" indent="0" algn="l" rtl="0">
              <a:lnSpc>
                <a:spcPct val="90000"/>
              </a:lnSpc>
              <a:spcBef>
                <a:spcPts val="0"/>
              </a:spcBef>
              <a:spcAft>
                <a:spcPts val="0"/>
              </a:spcAft>
              <a:buSzPts val="2399"/>
              <a:buNone/>
            </a:pPr>
            <a:endParaRPr/>
          </a:p>
        </p:txBody>
      </p:sp>
      <p:sp>
        <p:nvSpPr>
          <p:cNvPr id="1006" name="Google Shape;1006;p116"/>
          <p:cNvSpPr/>
          <p:nvPr/>
        </p:nvSpPr>
        <p:spPr>
          <a:xfrm>
            <a:off x="460555" y="4776302"/>
            <a:ext cx="3227933" cy="1736908"/>
          </a:xfrm>
          <a:prstGeom prst="rect">
            <a:avLst/>
          </a:prstGeom>
          <a:noFill/>
          <a:ln>
            <a:noFill/>
          </a:ln>
        </p:spPr>
        <p:txBody>
          <a:bodyPr spcFirstLastPara="1" wrap="square" lIns="274225" tIns="274225" rIns="274225" bIns="1828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98C7"/>
                </a:solidFill>
                <a:latin typeface="Arial"/>
                <a:ea typeface="Arial"/>
                <a:cs typeface="Arial"/>
                <a:sym typeface="Arial"/>
              </a:rPr>
              <a:t>Prescriptive Reference Architectures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Built from our breadth of customer deployments and best practices</a:t>
            </a:r>
            <a:endParaRPr sz="1400" b="0" i="0" u="none" strike="noStrike" cap="none">
              <a:solidFill>
                <a:srgbClr val="000000"/>
              </a:solidFill>
              <a:latin typeface="Arial"/>
              <a:ea typeface="Arial"/>
              <a:cs typeface="Arial"/>
              <a:sym typeface="Arial"/>
            </a:endParaRPr>
          </a:p>
        </p:txBody>
      </p:sp>
      <p:sp>
        <p:nvSpPr>
          <p:cNvPr id="1007" name="Google Shape;1007;p116"/>
          <p:cNvSpPr/>
          <p:nvPr/>
        </p:nvSpPr>
        <p:spPr>
          <a:xfrm>
            <a:off x="4480446" y="4773729"/>
            <a:ext cx="3227933" cy="1736908"/>
          </a:xfrm>
          <a:prstGeom prst="rect">
            <a:avLst/>
          </a:prstGeom>
          <a:noFill/>
          <a:ln>
            <a:noFill/>
          </a:ln>
        </p:spPr>
        <p:txBody>
          <a:bodyPr spcFirstLastPara="1" wrap="square" lIns="274225" tIns="274225" rIns="274225" bIns="1828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98C7"/>
                </a:solidFill>
                <a:latin typeface="Arial"/>
                <a:ea typeface="Arial"/>
                <a:cs typeface="Arial"/>
                <a:sym typeface="Arial"/>
              </a:rPr>
              <a:t>Cross-Functional Team of VMware Experts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Brings the right skills at the right time for a coordinated effort</a:t>
            </a:r>
            <a:endParaRPr sz="1400" b="0" i="0" u="none" strike="noStrike" cap="none">
              <a:solidFill>
                <a:srgbClr val="000000"/>
              </a:solidFill>
              <a:latin typeface="Arial"/>
              <a:ea typeface="Arial"/>
              <a:cs typeface="Arial"/>
              <a:sym typeface="Arial"/>
            </a:endParaRPr>
          </a:p>
        </p:txBody>
      </p:sp>
      <p:sp>
        <p:nvSpPr>
          <p:cNvPr id="1008" name="Google Shape;1008;p116"/>
          <p:cNvSpPr/>
          <p:nvPr/>
        </p:nvSpPr>
        <p:spPr>
          <a:xfrm>
            <a:off x="8500337" y="4754768"/>
            <a:ext cx="3227933" cy="1736908"/>
          </a:xfrm>
          <a:prstGeom prst="rect">
            <a:avLst/>
          </a:prstGeom>
          <a:noFill/>
          <a:ln>
            <a:noFill/>
          </a:ln>
        </p:spPr>
        <p:txBody>
          <a:bodyPr spcFirstLastPara="1" wrap="square" lIns="274225" tIns="274225" rIns="274225" bIns="1828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98C7"/>
                </a:solidFill>
                <a:latin typeface="Arial"/>
                <a:ea typeface="Arial"/>
                <a:cs typeface="Arial"/>
                <a:sym typeface="Arial"/>
              </a:rPr>
              <a:t>Flexible Delivery                             Model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Combines a standardized approach with customization options</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117"/>
          <p:cNvSpPr/>
          <p:nvPr/>
        </p:nvSpPr>
        <p:spPr>
          <a:xfrm rot="-5400000">
            <a:off x="7392246" y="1382823"/>
            <a:ext cx="4604454" cy="4985535"/>
          </a:xfrm>
          <a:prstGeom prst="snip2SameRect">
            <a:avLst>
              <a:gd name="adj1" fmla="val 35183"/>
              <a:gd name="adj2" fmla="val 0"/>
            </a:avLst>
          </a:prstGeom>
          <a:solidFill>
            <a:srgbClr val="F2F2F2">
              <a:alpha val="69411"/>
            </a:srgb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015" name="Google Shape;1015;p117"/>
          <p:cNvSpPr/>
          <p:nvPr/>
        </p:nvSpPr>
        <p:spPr>
          <a:xfrm rot="5400000">
            <a:off x="246589" y="1328367"/>
            <a:ext cx="4604454" cy="5094454"/>
          </a:xfrm>
          <a:prstGeom prst="snip2SameRect">
            <a:avLst>
              <a:gd name="adj1" fmla="val 31295"/>
              <a:gd name="adj2" fmla="val 0"/>
            </a:avLst>
          </a:prstGeom>
          <a:solidFill>
            <a:srgbClr val="F2F2F2">
              <a:alpha val="69411"/>
            </a:srgb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016" name="Google Shape;1016;p117"/>
          <p:cNvSpPr txBox="1">
            <a:spLocks noGrp="1"/>
          </p:cNvSpPr>
          <p:nvPr>
            <p:ph type="title"/>
          </p:nvPr>
        </p:nvSpPr>
        <p:spPr>
          <a:xfrm>
            <a:off x="579809" y="412751"/>
            <a:ext cx="11001004" cy="381000"/>
          </a:xfrm>
          <a:noFill/>
          <a:ln>
            <a:noFill/>
          </a:ln>
        </p:spPr>
        <p:txBody>
          <a:bodyPr spcFirstLastPara="1" wrap="square" lIns="0" tIns="0" rIns="0" bIns="0" anchor="ctr" anchorCtr="0">
            <a:spAutoFit/>
          </a:bodyPr>
          <a:lstStyle/>
          <a:p>
            <a:pPr lvl="0"/>
            <a:r>
              <a:rPr lang="en-US"/>
              <a:t>A Standardized, Repeatable and Prescriptive Approach</a:t>
            </a:r>
          </a:p>
        </p:txBody>
      </p:sp>
      <p:sp>
        <p:nvSpPr>
          <p:cNvPr id="1017" name="Google Shape;1017;p117"/>
          <p:cNvSpPr txBox="1">
            <a:spLocks noGrp="1"/>
          </p:cNvSpPr>
          <p:nvPr>
            <p:ph type="subTitle" idx="10"/>
          </p:nvPr>
        </p:nvSpPr>
        <p:spPr>
          <a:xfrm>
            <a:off x="592866" y="811830"/>
            <a:ext cx="10962687" cy="247743"/>
          </a:xfrm>
          <a:noFill/>
          <a:ln>
            <a:noFill/>
          </a:ln>
        </p:spPr>
        <p:txBody>
          <a:bodyPr spcFirstLastPara="1" wrap="square" lIns="0" tIns="0" rIns="0" bIns="0" anchor="t" anchorCtr="0">
            <a:spAutoFit/>
          </a:bodyPr>
          <a:lstStyle/>
          <a:p>
            <a:pPr lvl="0"/>
            <a:r>
              <a:rPr lang="en-US"/>
              <a:t>Reduces risk and complexity</a:t>
            </a:r>
          </a:p>
        </p:txBody>
      </p:sp>
      <p:sp>
        <p:nvSpPr>
          <p:cNvPr id="1018" name="Google Shape;1018;p117"/>
          <p:cNvSpPr txBox="1"/>
          <p:nvPr/>
        </p:nvSpPr>
        <p:spPr>
          <a:xfrm>
            <a:off x="1052352" y="2406592"/>
            <a:ext cx="2103887" cy="610457"/>
          </a:xfrm>
          <a:prstGeom prst="rect">
            <a:avLst/>
          </a:prstGeom>
          <a:noFill/>
          <a:ln>
            <a:noFill/>
          </a:ln>
        </p:spPr>
        <p:txBody>
          <a:bodyPr spcFirstLastPara="1" wrap="square" lIns="0" tIns="0" rIns="0" bIns="0" anchor="t" anchorCtr="0">
            <a:spAutoFit/>
          </a:bodyPr>
          <a:lstStyle/>
          <a:p>
            <a:pPr marL="0" marR="0" lvl="0" indent="0" algn="r" rtl="0">
              <a:lnSpc>
                <a:spcPct val="13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Proven VMware design patterns</a:t>
            </a:r>
            <a:endParaRPr sz="1400" b="0" i="0" u="none" strike="noStrike" cap="none">
              <a:solidFill>
                <a:srgbClr val="000000"/>
              </a:solidFill>
              <a:latin typeface="Arial"/>
              <a:ea typeface="Arial"/>
              <a:cs typeface="Arial"/>
              <a:sym typeface="Arial"/>
            </a:endParaRPr>
          </a:p>
        </p:txBody>
      </p:sp>
      <p:sp>
        <p:nvSpPr>
          <p:cNvPr id="1019" name="Google Shape;1019;p117"/>
          <p:cNvSpPr/>
          <p:nvPr/>
        </p:nvSpPr>
        <p:spPr>
          <a:xfrm>
            <a:off x="3314146" y="2393627"/>
            <a:ext cx="636388" cy="636388"/>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020" name="Google Shape;1020;p117"/>
          <p:cNvSpPr txBox="1"/>
          <p:nvPr/>
        </p:nvSpPr>
        <p:spPr>
          <a:xfrm>
            <a:off x="608848" y="3497434"/>
            <a:ext cx="2547391" cy="610457"/>
          </a:xfrm>
          <a:prstGeom prst="rect">
            <a:avLst/>
          </a:prstGeom>
          <a:noFill/>
          <a:ln>
            <a:noFill/>
          </a:ln>
        </p:spPr>
        <p:txBody>
          <a:bodyPr spcFirstLastPara="1" wrap="square" lIns="0" tIns="0" rIns="0" bIns="0" anchor="t" anchorCtr="0">
            <a:spAutoFit/>
          </a:bodyPr>
          <a:lstStyle/>
          <a:p>
            <a:pPr marL="0" marR="0" lvl="0" indent="0" algn="r" rtl="0">
              <a:lnSpc>
                <a:spcPct val="13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Implementation best practices</a:t>
            </a:r>
            <a:endParaRPr sz="1400" b="0" i="0" u="none" strike="noStrike" cap="none">
              <a:solidFill>
                <a:srgbClr val="000000"/>
              </a:solidFill>
              <a:latin typeface="Arial"/>
              <a:ea typeface="Arial"/>
              <a:cs typeface="Arial"/>
              <a:sym typeface="Arial"/>
            </a:endParaRPr>
          </a:p>
        </p:txBody>
      </p:sp>
      <p:sp>
        <p:nvSpPr>
          <p:cNvPr id="1021" name="Google Shape;1021;p117"/>
          <p:cNvSpPr/>
          <p:nvPr/>
        </p:nvSpPr>
        <p:spPr>
          <a:xfrm>
            <a:off x="3314146" y="3484469"/>
            <a:ext cx="636388" cy="636388"/>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022" name="Google Shape;1022;p117"/>
          <p:cNvSpPr txBox="1"/>
          <p:nvPr/>
        </p:nvSpPr>
        <p:spPr>
          <a:xfrm>
            <a:off x="206977" y="4588275"/>
            <a:ext cx="2949260" cy="610457"/>
          </a:xfrm>
          <a:prstGeom prst="rect">
            <a:avLst/>
          </a:prstGeom>
          <a:noFill/>
          <a:ln>
            <a:noFill/>
          </a:ln>
        </p:spPr>
        <p:txBody>
          <a:bodyPr spcFirstLastPara="1" wrap="square" lIns="0" tIns="0" rIns="0" bIns="0" anchor="t" anchorCtr="0">
            <a:spAutoFit/>
          </a:bodyPr>
          <a:lstStyle/>
          <a:p>
            <a:pPr marL="0" marR="0" lvl="0" indent="0" algn="r" rtl="0">
              <a:lnSpc>
                <a:spcPct val="13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Flexible sizing to support scalability and growth</a:t>
            </a:r>
            <a:endParaRPr sz="1400" b="0" i="0" u="none" strike="noStrike" cap="none">
              <a:solidFill>
                <a:srgbClr val="000000"/>
              </a:solidFill>
              <a:latin typeface="Arial"/>
              <a:ea typeface="Arial"/>
              <a:cs typeface="Arial"/>
              <a:sym typeface="Arial"/>
            </a:endParaRPr>
          </a:p>
        </p:txBody>
      </p:sp>
      <p:sp>
        <p:nvSpPr>
          <p:cNvPr id="1023" name="Google Shape;1023;p117"/>
          <p:cNvSpPr txBox="1"/>
          <p:nvPr/>
        </p:nvSpPr>
        <p:spPr>
          <a:xfrm>
            <a:off x="9473556" y="2406592"/>
            <a:ext cx="1782286" cy="610457"/>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Defined metrics for success</a:t>
            </a:r>
            <a:endParaRPr sz="1400" b="0" i="0" u="none" strike="noStrike" cap="none">
              <a:solidFill>
                <a:srgbClr val="000000"/>
              </a:solidFill>
              <a:latin typeface="Arial"/>
              <a:ea typeface="Arial"/>
              <a:cs typeface="Arial"/>
              <a:sym typeface="Arial"/>
            </a:endParaRPr>
          </a:p>
        </p:txBody>
      </p:sp>
      <p:sp>
        <p:nvSpPr>
          <p:cNvPr id="1024" name="Google Shape;1024;p117"/>
          <p:cNvSpPr txBox="1"/>
          <p:nvPr/>
        </p:nvSpPr>
        <p:spPr>
          <a:xfrm>
            <a:off x="9473556" y="3497434"/>
            <a:ext cx="2381517" cy="610457"/>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Custom tools and delivery automation</a:t>
            </a:r>
            <a:endParaRPr sz="1400" b="0" i="0" u="none" strike="noStrike" cap="none">
              <a:solidFill>
                <a:srgbClr val="000000"/>
              </a:solidFill>
              <a:latin typeface="Arial"/>
              <a:ea typeface="Arial"/>
              <a:cs typeface="Arial"/>
              <a:sym typeface="Arial"/>
            </a:endParaRPr>
          </a:p>
        </p:txBody>
      </p:sp>
      <p:sp>
        <p:nvSpPr>
          <p:cNvPr id="1025" name="Google Shape;1025;p117"/>
          <p:cNvSpPr txBox="1"/>
          <p:nvPr/>
        </p:nvSpPr>
        <p:spPr>
          <a:xfrm>
            <a:off x="9473556" y="4588275"/>
            <a:ext cx="2381517" cy="610457"/>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Integration with existing and 3</a:t>
            </a:r>
            <a:r>
              <a:rPr lang="en-US" sz="1600" b="0" i="0" u="none" strike="noStrike" cap="none" baseline="30000">
                <a:solidFill>
                  <a:srgbClr val="000000"/>
                </a:solidFill>
                <a:latin typeface="Arial"/>
                <a:ea typeface="Arial"/>
                <a:cs typeface="Arial"/>
                <a:sym typeface="Arial"/>
              </a:rPr>
              <a:t>rd</a:t>
            </a:r>
            <a:r>
              <a:rPr lang="en-US" sz="1600" b="0" i="0" u="none" strike="noStrike" cap="none">
                <a:solidFill>
                  <a:srgbClr val="000000"/>
                </a:solidFill>
                <a:latin typeface="Arial"/>
                <a:ea typeface="Arial"/>
                <a:cs typeface="Arial"/>
                <a:sym typeface="Arial"/>
              </a:rPr>
              <a:t> party solutions </a:t>
            </a:r>
            <a:endParaRPr sz="1400" b="0" i="0" u="none" strike="noStrike" cap="none">
              <a:solidFill>
                <a:srgbClr val="000000"/>
              </a:solidFill>
              <a:latin typeface="Arial"/>
              <a:ea typeface="Arial"/>
              <a:cs typeface="Arial"/>
              <a:sym typeface="Arial"/>
            </a:endParaRPr>
          </a:p>
        </p:txBody>
      </p:sp>
      <p:sp>
        <p:nvSpPr>
          <p:cNvPr id="1026" name="Google Shape;1026;p117"/>
          <p:cNvSpPr/>
          <p:nvPr/>
        </p:nvSpPr>
        <p:spPr>
          <a:xfrm>
            <a:off x="4307126" y="1906821"/>
            <a:ext cx="4022312" cy="4022312"/>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cxnSp>
        <p:nvCxnSpPr>
          <p:cNvPr id="1027" name="Google Shape;1027;p117"/>
          <p:cNvCxnSpPr>
            <a:stCxn id="1019" idx="6"/>
          </p:cNvCxnSpPr>
          <p:nvPr/>
        </p:nvCxnSpPr>
        <p:spPr>
          <a:xfrm>
            <a:off x="3950534" y="2711821"/>
            <a:ext cx="761700" cy="338100"/>
          </a:xfrm>
          <a:prstGeom prst="bentConnector3">
            <a:avLst>
              <a:gd name="adj1" fmla="val 50000"/>
            </a:avLst>
          </a:prstGeom>
          <a:noFill/>
          <a:ln w="19050" cap="flat" cmpd="sng">
            <a:solidFill>
              <a:schemeClr val="accent1"/>
            </a:solidFill>
            <a:prstDash val="solid"/>
            <a:miter lim="800000"/>
            <a:headEnd type="none" w="sm" len="sm"/>
            <a:tailEnd type="none" w="sm" len="sm"/>
          </a:ln>
        </p:spPr>
      </p:cxnSp>
      <p:grpSp>
        <p:nvGrpSpPr>
          <p:cNvPr id="1028" name="Google Shape;1028;p117" descr="Apps Design&#10;"/>
          <p:cNvGrpSpPr/>
          <p:nvPr/>
        </p:nvGrpSpPr>
        <p:grpSpPr>
          <a:xfrm>
            <a:off x="3402120" y="2481600"/>
            <a:ext cx="460445" cy="460445"/>
            <a:chOff x="528631" y="3174355"/>
            <a:chExt cx="600836" cy="600836"/>
          </a:xfrm>
        </p:grpSpPr>
        <p:grpSp>
          <p:nvGrpSpPr>
            <p:cNvPr id="1029" name="Google Shape;1029;p117"/>
            <p:cNvGrpSpPr/>
            <p:nvPr/>
          </p:nvGrpSpPr>
          <p:grpSpPr>
            <a:xfrm>
              <a:off x="612749" y="3270489"/>
              <a:ext cx="442721" cy="379475"/>
              <a:chOff x="612749" y="3270489"/>
              <a:chExt cx="442721" cy="379475"/>
            </a:xfrm>
          </p:grpSpPr>
          <p:sp>
            <p:nvSpPr>
              <p:cNvPr id="1030" name="Google Shape;1030;p117"/>
              <p:cNvSpPr/>
              <p:nvPr/>
            </p:nvSpPr>
            <p:spPr>
              <a:xfrm>
                <a:off x="703190" y="3373580"/>
                <a:ext cx="103723" cy="159379"/>
              </a:xfrm>
              <a:custGeom>
                <a:avLst/>
                <a:gdLst/>
                <a:ahLst/>
                <a:cxnLst/>
                <a:rect l="l" t="t" r="r" b="b"/>
                <a:pathLst>
                  <a:path w="103723" h="159379" extrusionOk="0">
                    <a:moveTo>
                      <a:pt x="17076" y="159380"/>
                    </a:moveTo>
                    <a:lnTo>
                      <a:pt x="103723" y="16444"/>
                    </a:lnTo>
                    <a:lnTo>
                      <a:pt x="95501" y="0"/>
                    </a:lnTo>
                    <a:lnTo>
                      <a:pt x="0" y="15685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1" name="Google Shape;1031;p117"/>
              <p:cNvSpPr/>
              <p:nvPr/>
            </p:nvSpPr>
            <p:spPr>
              <a:xfrm>
                <a:off x="837904" y="3270489"/>
                <a:ext cx="77476" cy="98663"/>
              </a:xfrm>
              <a:custGeom>
                <a:avLst/>
                <a:gdLst/>
                <a:ahLst/>
                <a:cxnLst/>
                <a:rect l="l" t="t" r="r" b="b"/>
                <a:pathLst>
                  <a:path w="77476" h="98663" extrusionOk="0">
                    <a:moveTo>
                      <a:pt x="29093" y="80322"/>
                    </a:moveTo>
                    <a:lnTo>
                      <a:pt x="32255" y="82220"/>
                    </a:lnTo>
                    <a:lnTo>
                      <a:pt x="30991" y="84117"/>
                    </a:lnTo>
                    <a:lnTo>
                      <a:pt x="40477" y="98664"/>
                    </a:lnTo>
                    <a:lnTo>
                      <a:pt x="49332" y="83485"/>
                    </a:lnTo>
                    <a:cubicBezTo>
                      <a:pt x="49332" y="83485"/>
                      <a:pt x="49332" y="83485"/>
                      <a:pt x="49332" y="83485"/>
                    </a:cubicBezTo>
                    <a:lnTo>
                      <a:pt x="76528" y="38580"/>
                    </a:lnTo>
                    <a:cubicBezTo>
                      <a:pt x="77793" y="36050"/>
                      <a:pt x="77793" y="32888"/>
                      <a:pt x="76528" y="30358"/>
                    </a:cubicBezTo>
                    <a:cubicBezTo>
                      <a:pt x="75895" y="29093"/>
                      <a:pt x="60084" y="2530"/>
                      <a:pt x="27196" y="0"/>
                    </a:cubicBezTo>
                    <a:cubicBezTo>
                      <a:pt x="24034" y="0"/>
                      <a:pt x="21504" y="1265"/>
                      <a:pt x="19606" y="3795"/>
                    </a:cubicBezTo>
                    <a:lnTo>
                      <a:pt x="0" y="36050"/>
                    </a:lnTo>
                    <a:lnTo>
                      <a:pt x="29093" y="80322"/>
                    </a:lnTo>
                    <a:close/>
                    <a:moveTo>
                      <a:pt x="30991" y="17076"/>
                    </a:moveTo>
                    <a:cubicBezTo>
                      <a:pt x="46170" y="19606"/>
                      <a:pt x="56289" y="29726"/>
                      <a:pt x="60716" y="35418"/>
                    </a:cubicBezTo>
                    <a:lnTo>
                      <a:pt x="40477" y="68938"/>
                    </a:lnTo>
                    <a:lnTo>
                      <a:pt x="10752" y="50597"/>
                    </a:lnTo>
                    <a:lnTo>
                      <a:pt x="30991" y="1707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2" name="Google Shape;1032;p117"/>
              <p:cNvSpPr/>
              <p:nvPr/>
            </p:nvSpPr>
            <p:spPr>
              <a:xfrm>
                <a:off x="977045" y="3499439"/>
                <a:ext cx="15811" cy="25930"/>
              </a:xfrm>
              <a:custGeom>
                <a:avLst/>
                <a:gdLst/>
                <a:ahLst/>
                <a:cxnLst/>
                <a:rect l="l" t="t" r="r" b="b"/>
                <a:pathLst>
                  <a:path w="15811" h="25930" extrusionOk="0">
                    <a:moveTo>
                      <a:pt x="0" y="14547"/>
                    </a:moveTo>
                    <a:cubicBezTo>
                      <a:pt x="5692" y="17709"/>
                      <a:pt x="11384" y="22136"/>
                      <a:pt x="15812" y="25931"/>
                    </a:cubicBezTo>
                    <a:lnTo>
                      <a:pt x="15812" y="0"/>
                    </a:lnTo>
                    <a:lnTo>
                      <a:pt x="0" y="0"/>
                    </a:lnTo>
                    <a:lnTo>
                      <a:pt x="0" y="1454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3" name="Google Shape;1033;p117"/>
              <p:cNvSpPr/>
              <p:nvPr/>
            </p:nvSpPr>
            <p:spPr>
              <a:xfrm>
                <a:off x="797427" y="3499439"/>
                <a:ext cx="90441" cy="43639"/>
              </a:xfrm>
              <a:custGeom>
                <a:avLst/>
                <a:gdLst/>
                <a:ahLst/>
                <a:cxnLst/>
                <a:rect l="l" t="t" r="r" b="b"/>
                <a:pathLst>
                  <a:path w="90441" h="43639" extrusionOk="0">
                    <a:moveTo>
                      <a:pt x="82220" y="27828"/>
                    </a:moveTo>
                    <a:lnTo>
                      <a:pt x="44272" y="27828"/>
                    </a:lnTo>
                    <a:lnTo>
                      <a:pt x="44272" y="0"/>
                    </a:lnTo>
                    <a:lnTo>
                      <a:pt x="28461" y="0"/>
                    </a:lnTo>
                    <a:lnTo>
                      <a:pt x="28461" y="27828"/>
                    </a:lnTo>
                    <a:lnTo>
                      <a:pt x="9487" y="27828"/>
                    </a:lnTo>
                    <a:lnTo>
                      <a:pt x="0" y="43640"/>
                    </a:lnTo>
                    <a:lnTo>
                      <a:pt x="90442" y="4364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4" name="Google Shape;1034;p117"/>
              <p:cNvSpPr/>
              <p:nvPr/>
            </p:nvSpPr>
            <p:spPr>
              <a:xfrm>
                <a:off x="929611" y="3448210"/>
                <a:ext cx="125859" cy="94869"/>
              </a:xfrm>
              <a:custGeom>
                <a:avLst/>
                <a:gdLst/>
                <a:ahLst/>
                <a:cxnLst/>
                <a:rect l="l" t="t" r="r" b="b"/>
                <a:pathLst>
                  <a:path w="125859" h="94869" extrusionOk="0">
                    <a:moveTo>
                      <a:pt x="0" y="0"/>
                    </a:moveTo>
                    <a:lnTo>
                      <a:pt x="10119" y="15812"/>
                    </a:lnTo>
                    <a:lnTo>
                      <a:pt x="110048" y="15812"/>
                    </a:lnTo>
                    <a:lnTo>
                      <a:pt x="110048" y="79058"/>
                    </a:lnTo>
                    <a:lnTo>
                      <a:pt x="65143" y="79058"/>
                    </a:lnTo>
                    <a:cubicBezTo>
                      <a:pt x="70203" y="84117"/>
                      <a:pt x="74630" y="89177"/>
                      <a:pt x="77793" y="94869"/>
                    </a:cubicBezTo>
                    <a:lnTo>
                      <a:pt x="125860" y="94869"/>
                    </a:lnTo>
                    <a:lnTo>
                      <a:pt x="125860" y="0"/>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5" name="Google Shape;1035;p117"/>
              <p:cNvSpPr/>
              <p:nvPr/>
            </p:nvSpPr>
            <p:spPr>
              <a:xfrm>
                <a:off x="612749" y="3448210"/>
                <a:ext cx="116372" cy="94869"/>
              </a:xfrm>
              <a:custGeom>
                <a:avLst/>
                <a:gdLst/>
                <a:ahLst/>
                <a:cxnLst/>
                <a:rect l="l" t="t" r="r" b="b"/>
                <a:pathLst>
                  <a:path w="116372" h="94869" extrusionOk="0">
                    <a:moveTo>
                      <a:pt x="77793" y="63878"/>
                    </a:moveTo>
                    <a:lnTo>
                      <a:pt x="77793" y="51229"/>
                    </a:lnTo>
                    <a:lnTo>
                      <a:pt x="61981" y="51229"/>
                    </a:lnTo>
                    <a:lnTo>
                      <a:pt x="61981" y="79058"/>
                    </a:lnTo>
                    <a:lnTo>
                      <a:pt x="15812" y="79058"/>
                    </a:lnTo>
                    <a:lnTo>
                      <a:pt x="15812" y="15812"/>
                    </a:lnTo>
                    <a:lnTo>
                      <a:pt x="106886" y="15812"/>
                    </a:lnTo>
                    <a:lnTo>
                      <a:pt x="116373" y="0"/>
                    </a:lnTo>
                    <a:lnTo>
                      <a:pt x="0" y="0"/>
                    </a:lnTo>
                    <a:lnTo>
                      <a:pt x="0" y="94869"/>
                    </a:lnTo>
                    <a:lnTo>
                      <a:pt x="58819" y="9486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6" name="Google Shape;1036;p117"/>
              <p:cNvSpPr/>
              <p:nvPr/>
            </p:nvSpPr>
            <p:spPr>
              <a:xfrm>
                <a:off x="666349" y="3425441"/>
                <a:ext cx="168392" cy="224523"/>
              </a:xfrm>
              <a:custGeom>
                <a:avLst/>
                <a:gdLst/>
                <a:ahLst/>
                <a:cxnLst/>
                <a:rect l="l" t="t" r="r" b="b"/>
                <a:pathLst>
                  <a:path w="168392" h="224523" extrusionOk="0">
                    <a:moveTo>
                      <a:pt x="159538" y="0"/>
                    </a:moveTo>
                    <a:lnTo>
                      <a:pt x="72259" y="144201"/>
                    </a:lnTo>
                    <a:cubicBezTo>
                      <a:pt x="64037" y="135346"/>
                      <a:pt x="49490" y="122697"/>
                      <a:pt x="29251" y="123962"/>
                    </a:cubicBezTo>
                    <a:cubicBezTo>
                      <a:pt x="26089" y="123962"/>
                      <a:pt x="22927" y="126492"/>
                      <a:pt x="22294" y="129654"/>
                    </a:cubicBezTo>
                    <a:lnTo>
                      <a:pt x="158" y="214404"/>
                    </a:lnTo>
                    <a:cubicBezTo>
                      <a:pt x="-474" y="217566"/>
                      <a:pt x="791" y="221361"/>
                      <a:pt x="3953" y="223258"/>
                    </a:cubicBezTo>
                    <a:cubicBezTo>
                      <a:pt x="5218" y="223891"/>
                      <a:pt x="6483" y="224523"/>
                      <a:pt x="7748" y="224523"/>
                    </a:cubicBezTo>
                    <a:cubicBezTo>
                      <a:pt x="9645" y="224523"/>
                      <a:pt x="11542" y="223891"/>
                      <a:pt x="12807" y="222626"/>
                    </a:cubicBezTo>
                    <a:lnTo>
                      <a:pt x="77951" y="163807"/>
                    </a:lnTo>
                    <a:cubicBezTo>
                      <a:pt x="78583" y="163175"/>
                      <a:pt x="79216" y="162542"/>
                      <a:pt x="79848" y="161277"/>
                    </a:cubicBezTo>
                    <a:lnTo>
                      <a:pt x="79848" y="161277"/>
                    </a:lnTo>
                    <a:lnTo>
                      <a:pt x="168392" y="15812"/>
                    </a:lnTo>
                    <a:lnTo>
                      <a:pt x="159538" y="0"/>
                    </a:lnTo>
                    <a:close/>
                    <a:moveTo>
                      <a:pt x="21662" y="193533"/>
                    </a:moveTo>
                    <a:lnTo>
                      <a:pt x="35576" y="140406"/>
                    </a:lnTo>
                    <a:cubicBezTo>
                      <a:pt x="47593" y="142304"/>
                      <a:pt x="57080" y="151158"/>
                      <a:pt x="62139" y="157483"/>
                    </a:cubicBezTo>
                    <a:lnTo>
                      <a:pt x="21662" y="19353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grpSp>
        <p:sp>
          <p:nvSpPr>
            <p:cNvPr id="1037" name="Google Shape;1037;p117"/>
            <p:cNvSpPr/>
            <p:nvPr/>
          </p:nvSpPr>
          <p:spPr>
            <a:xfrm>
              <a:off x="763428" y="3256090"/>
              <a:ext cx="190216" cy="284458"/>
            </a:xfrm>
            <a:custGeom>
              <a:avLst/>
              <a:gdLst/>
              <a:ahLst/>
              <a:cxnLst/>
              <a:rect l="l" t="t" r="r" b="b"/>
              <a:pathLst>
                <a:path w="190216" h="284458" extrusionOk="0">
                  <a:moveTo>
                    <a:pt x="152269" y="275604"/>
                  </a:moveTo>
                  <a:lnTo>
                    <a:pt x="15658" y="16296"/>
                  </a:lnTo>
                  <a:cubicBezTo>
                    <a:pt x="15658" y="16296"/>
                    <a:pt x="16290" y="15663"/>
                    <a:pt x="16290" y="15663"/>
                  </a:cubicBezTo>
                  <a:cubicBezTo>
                    <a:pt x="16290" y="15663"/>
                    <a:pt x="16290" y="15663"/>
                    <a:pt x="16290" y="15663"/>
                  </a:cubicBezTo>
                  <a:lnTo>
                    <a:pt x="175670" y="261690"/>
                  </a:lnTo>
                  <a:lnTo>
                    <a:pt x="183892" y="257263"/>
                  </a:lnTo>
                  <a:cubicBezTo>
                    <a:pt x="185789" y="255998"/>
                    <a:pt x="187687" y="255366"/>
                    <a:pt x="190217" y="254733"/>
                  </a:cubicBezTo>
                  <a:lnTo>
                    <a:pt x="29572" y="6809"/>
                  </a:lnTo>
                  <a:cubicBezTo>
                    <a:pt x="24512" y="-148"/>
                    <a:pt x="15658" y="-2046"/>
                    <a:pt x="8068" y="2382"/>
                  </a:cubicBezTo>
                  <a:cubicBezTo>
                    <a:pt x="479" y="6809"/>
                    <a:pt x="-2051" y="15663"/>
                    <a:pt x="1743" y="23885"/>
                  </a:cubicBezTo>
                  <a:lnTo>
                    <a:pt x="138987" y="284459"/>
                  </a:lnTo>
                  <a:cubicBezTo>
                    <a:pt x="140885" y="283194"/>
                    <a:pt x="142150" y="281296"/>
                    <a:pt x="144047" y="280664"/>
                  </a:cubicBezTo>
                  <a:lnTo>
                    <a:pt x="152269" y="27560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8" name="Google Shape;1038;p117"/>
            <p:cNvSpPr/>
            <p:nvPr/>
          </p:nvSpPr>
          <p:spPr>
            <a:xfrm>
              <a:off x="913799" y="3530746"/>
              <a:ext cx="91822" cy="132500"/>
            </a:xfrm>
            <a:custGeom>
              <a:avLst/>
              <a:gdLst/>
              <a:ahLst/>
              <a:cxnLst/>
              <a:rect l="l" t="t" r="r" b="b"/>
              <a:pathLst>
                <a:path w="91822" h="132500" extrusionOk="0">
                  <a:moveTo>
                    <a:pt x="80955" y="132500"/>
                  </a:moveTo>
                  <a:cubicBezTo>
                    <a:pt x="77793" y="132500"/>
                    <a:pt x="74630" y="130603"/>
                    <a:pt x="73365" y="127441"/>
                  </a:cubicBezTo>
                  <a:cubicBezTo>
                    <a:pt x="66408" y="107202"/>
                    <a:pt x="51862" y="100245"/>
                    <a:pt x="37948" y="93288"/>
                  </a:cubicBezTo>
                  <a:cubicBezTo>
                    <a:pt x="29726" y="89493"/>
                    <a:pt x="22136" y="85698"/>
                    <a:pt x="17076" y="80006"/>
                  </a:cubicBezTo>
                  <a:cubicBezTo>
                    <a:pt x="3162" y="64195"/>
                    <a:pt x="632" y="34469"/>
                    <a:pt x="0" y="31307"/>
                  </a:cubicBezTo>
                  <a:cubicBezTo>
                    <a:pt x="0" y="28144"/>
                    <a:pt x="1265" y="25615"/>
                    <a:pt x="3795" y="23717"/>
                  </a:cubicBezTo>
                  <a:lnTo>
                    <a:pt x="43007" y="949"/>
                  </a:lnTo>
                  <a:cubicBezTo>
                    <a:pt x="45537" y="-316"/>
                    <a:pt x="48067" y="-316"/>
                    <a:pt x="50597" y="949"/>
                  </a:cubicBezTo>
                  <a:cubicBezTo>
                    <a:pt x="108783" y="33204"/>
                    <a:pt x="88544" y="123013"/>
                    <a:pt x="87912" y="126808"/>
                  </a:cubicBezTo>
                  <a:cubicBezTo>
                    <a:pt x="87912" y="129338"/>
                    <a:pt x="84750" y="131868"/>
                    <a:pt x="80955" y="132500"/>
                  </a:cubicBezTo>
                  <a:cubicBezTo>
                    <a:pt x="80955" y="131868"/>
                    <a:pt x="80955" y="132500"/>
                    <a:pt x="80955" y="132500"/>
                  </a:cubicBezTo>
                  <a:close/>
                  <a:moveTo>
                    <a:pt x="16444" y="34469"/>
                  </a:moveTo>
                  <a:cubicBezTo>
                    <a:pt x="17709" y="43956"/>
                    <a:pt x="21504" y="61032"/>
                    <a:pt x="28461" y="69254"/>
                  </a:cubicBezTo>
                  <a:cubicBezTo>
                    <a:pt x="31623" y="73049"/>
                    <a:pt x="37315" y="75579"/>
                    <a:pt x="44272" y="78741"/>
                  </a:cubicBezTo>
                  <a:cubicBezTo>
                    <a:pt x="53759" y="83168"/>
                    <a:pt x="65776" y="88861"/>
                    <a:pt x="75895" y="100245"/>
                  </a:cubicBezTo>
                  <a:cubicBezTo>
                    <a:pt x="77793" y="74947"/>
                    <a:pt x="75263" y="35102"/>
                    <a:pt x="47435" y="16760"/>
                  </a:cubicBezTo>
                  <a:lnTo>
                    <a:pt x="16444" y="3446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9" name="Google Shape;1039;p117"/>
            <p:cNvSpPr/>
            <p:nvPr/>
          </p:nvSpPr>
          <p:spPr>
            <a:xfrm>
              <a:off x="528631" y="3174355"/>
              <a:ext cx="600836" cy="600836"/>
            </a:xfrm>
            <a:custGeom>
              <a:avLst/>
              <a:gdLst/>
              <a:ahLst/>
              <a:cxnLst/>
              <a:rect l="l" t="t" r="r" b="b"/>
              <a:pathLst>
                <a:path w="600836" h="600836" extrusionOk="0">
                  <a:moveTo>
                    <a:pt x="300419" y="600837"/>
                  </a:moveTo>
                  <a:cubicBezTo>
                    <a:pt x="134714" y="600837"/>
                    <a:pt x="0" y="466123"/>
                    <a:pt x="0" y="300419"/>
                  </a:cubicBezTo>
                  <a:cubicBezTo>
                    <a:pt x="0" y="134714"/>
                    <a:pt x="134714" y="0"/>
                    <a:pt x="300419" y="0"/>
                  </a:cubicBezTo>
                  <a:cubicBezTo>
                    <a:pt x="466123" y="0"/>
                    <a:pt x="600837" y="134714"/>
                    <a:pt x="600837" y="300419"/>
                  </a:cubicBezTo>
                  <a:cubicBezTo>
                    <a:pt x="600837" y="466123"/>
                    <a:pt x="466123" y="600837"/>
                    <a:pt x="300419" y="600837"/>
                  </a:cubicBezTo>
                  <a:close/>
                  <a:moveTo>
                    <a:pt x="300419" y="15812"/>
                  </a:moveTo>
                  <a:cubicBezTo>
                    <a:pt x="143568" y="15812"/>
                    <a:pt x="15812" y="143568"/>
                    <a:pt x="15812" y="300419"/>
                  </a:cubicBezTo>
                  <a:cubicBezTo>
                    <a:pt x="15812" y="457269"/>
                    <a:pt x="143568" y="585026"/>
                    <a:pt x="300419" y="585026"/>
                  </a:cubicBezTo>
                  <a:cubicBezTo>
                    <a:pt x="457269" y="585026"/>
                    <a:pt x="585026" y="457269"/>
                    <a:pt x="585026" y="300419"/>
                  </a:cubicBezTo>
                  <a:cubicBezTo>
                    <a:pt x="585026" y="143568"/>
                    <a:pt x="457269" y="15812"/>
                    <a:pt x="300419" y="1581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grpSp>
      <p:grpSp>
        <p:nvGrpSpPr>
          <p:cNvPr id="1040" name="Google Shape;1040;p117"/>
          <p:cNvGrpSpPr/>
          <p:nvPr/>
        </p:nvGrpSpPr>
        <p:grpSpPr>
          <a:xfrm>
            <a:off x="3314146" y="4575310"/>
            <a:ext cx="636388" cy="636388"/>
            <a:chOff x="3313421" y="4413558"/>
            <a:chExt cx="636554" cy="636554"/>
          </a:xfrm>
        </p:grpSpPr>
        <p:sp>
          <p:nvSpPr>
            <p:cNvPr id="1041" name="Google Shape;1041;p117"/>
            <p:cNvSpPr/>
            <p:nvPr/>
          </p:nvSpPr>
          <p:spPr>
            <a:xfrm rot="10800000" flipH="1">
              <a:off x="3313421" y="4413558"/>
              <a:ext cx="636554" cy="636554"/>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1042" name="Google Shape;1042;p117" descr="Scalability&#10;"/>
            <p:cNvGrpSpPr/>
            <p:nvPr/>
          </p:nvGrpSpPr>
          <p:grpSpPr>
            <a:xfrm>
              <a:off x="3373338" y="4473612"/>
              <a:ext cx="516720" cy="516447"/>
              <a:chOff x="1861806" y="3177517"/>
              <a:chExt cx="600837" cy="600521"/>
            </a:xfrm>
          </p:grpSpPr>
          <p:sp>
            <p:nvSpPr>
              <p:cNvPr id="1043" name="Google Shape;1043;p117"/>
              <p:cNvSpPr/>
              <p:nvPr/>
            </p:nvSpPr>
            <p:spPr>
              <a:xfrm>
                <a:off x="2134522" y="3738889"/>
                <a:ext cx="55909" cy="39149"/>
              </a:xfrm>
              <a:custGeom>
                <a:avLst/>
                <a:gdLst/>
                <a:ahLst/>
                <a:cxnLst/>
                <a:rect l="l" t="t" r="r" b="b"/>
                <a:pathLst>
                  <a:path w="55909" h="39149" extrusionOk="0">
                    <a:moveTo>
                      <a:pt x="27955" y="39149"/>
                    </a:moveTo>
                    <a:lnTo>
                      <a:pt x="0" y="11195"/>
                    </a:lnTo>
                    <a:lnTo>
                      <a:pt x="11195" y="0"/>
                    </a:lnTo>
                    <a:lnTo>
                      <a:pt x="27955" y="16760"/>
                    </a:lnTo>
                    <a:lnTo>
                      <a:pt x="44778" y="0"/>
                    </a:lnTo>
                    <a:lnTo>
                      <a:pt x="55909" y="11195"/>
                    </a:lnTo>
                    <a:lnTo>
                      <a:pt x="27955" y="3914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44" name="Google Shape;1044;p117"/>
              <p:cNvSpPr/>
              <p:nvPr/>
            </p:nvSpPr>
            <p:spPr>
              <a:xfrm>
                <a:off x="1914237" y="3518729"/>
                <a:ext cx="207004" cy="206877"/>
              </a:xfrm>
              <a:custGeom>
                <a:avLst/>
                <a:gdLst/>
                <a:ahLst/>
                <a:cxnLst/>
                <a:rect l="l" t="t" r="r" b="b"/>
                <a:pathLst>
                  <a:path w="207004" h="206877" extrusionOk="0">
                    <a:moveTo>
                      <a:pt x="195810" y="206878"/>
                    </a:moveTo>
                    <a:lnTo>
                      <a:pt x="146857" y="157799"/>
                    </a:lnTo>
                    <a:lnTo>
                      <a:pt x="158052" y="146604"/>
                    </a:lnTo>
                    <a:lnTo>
                      <a:pt x="207004" y="195746"/>
                    </a:lnTo>
                    <a:close/>
                    <a:moveTo>
                      <a:pt x="122381" y="133512"/>
                    </a:moveTo>
                    <a:lnTo>
                      <a:pt x="73429" y="84560"/>
                    </a:lnTo>
                    <a:lnTo>
                      <a:pt x="84623" y="73365"/>
                    </a:lnTo>
                    <a:lnTo>
                      <a:pt x="133576" y="122318"/>
                    </a:lnTo>
                    <a:close/>
                    <a:moveTo>
                      <a:pt x="49016" y="60084"/>
                    </a:moveTo>
                    <a:lnTo>
                      <a:pt x="0" y="11195"/>
                    </a:lnTo>
                    <a:lnTo>
                      <a:pt x="11195" y="0"/>
                    </a:lnTo>
                    <a:lnTo>
                      <a:pt x="60147" y="4895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45" name="Google Shape;1045;p117"/>
              <p:cNvSpPr/>
              <p:nvPr/>
            </p:nvSpPr>
            <p:spPr>
              <a:xfrm>
                <a:off x="1861806" y="3449538"/>
                <a:ext cx="39149" cy="55909"/>
              </a:xfrm>
              <a:custGeom>
                <a:avLst/>
                <a:gdLst/>
                <a:ahLst/>
                <a:cxnLst/>
                <a:rect l="l" t="t" r="r" b="b"/>
                <a:pathLst>
                  <a:path w="39149" h="55909" extrusionOk="0">
                    <a:moveTo>
                      <a:pt x="27955" y="55909"/>
                    </a:moveTo>
                    <a:lnTo>
                      <a:pt x="0" y="27955"/>
                    </a:lnTo>
                    <a:lnTo>
                      <a:pt x="27955" y="0"/>
                    </a:lnTo>
                    <a:lnTo>
                      <a:pt x="39149" y="11195"/>
                    </a:lnTo>
                    <a:lnTo>
                      <a:pt x="22389" y="27955"/>
                    </a:lnTo>
                    <a:lnTo>
                      <a:pt x="39149" y="44715"/>
                    </a:lnTo>
                    <a:lnTo>
                      <a:pt x="27955" y="5590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46" name="Google Shape;1046;p117"/>
              <p:cNvSpPr/>
              <p:nvPr/>
            </p:nvSpPr>
            <p:spPr>
              <a:xfrm>
                <a:off x="1914237" y="3229822"/>
                <a:ext cx="206687" cy="206371"/>
              </a:xfrm>
              <a:custGeom>
                <a:avLst/>
                <a:gdLst/>
                <a:ahLst/>
                <a:cxnLst/>
                <a:rect l="l" t="t" r="r" b="b"/>
                <a:pathLst>
                  <a:path w="206687" h="206371" extrusionOk="0">
                    <a:moveTo>
                      <a:pt x="11131" y="206372"/>
                    </a:moveTo>
                    <a:lnTo>
                      <a:pt x="0" y="195177"/>
                    </a:lnTo>
                    <a:lnTo>
                      <a:pt x="48573" y="146478"/>
                    </a:lnTo>
                    <a:lnTo>
                      <a:pt x="59767" y="157672"/>
                    </a:lnTo>
                    <a:close/>
                    <a:moveTo>
                      <a:pt x="84433" y="133259"/>
                    </a:moveTo>
                    <a:lnTo>
                      <a:pt x="73239" y="122065"/>
                    </a:lnTo>
                    <a:lnTo>
                      <a:pt x="122128" y="73555"/>
                    </a:lnTo>
                    <a:lnTo>
                      <a:pt x="133259" y="84750"/>
                    </a:lnTo>
                    <a:close/>
                    <a:moveTo>
                      <a:pt x="157736" y="60020"/>
                    </a:moveTo>
                    <a:lnTo>
                      <a:pt x="146541" y="48826"/>
                    </a:lnTo>
                    <a:lnTo>
                      <a:pt x="195367" y="0"/>
                    </a:lnTo>
                    <a:lnTo>
                      <a:pt x="206688" y="1119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47" name="Google Shape;1047;p117"/>
              <p:cNvSpPr/>
              <p:nvPr/>
            </p:nvSpPr>
            <p:spPr>
              <a:xfrm>
                <a:off x="2134080" y="3177517"/>
                <a:ext cx="55909" cy="39086"/>
              </a:xfrm>
              <a:custGeom>
                <a:avLst/>
                <a:gdLst/>
                <a:ahLst/>
                <a:cxnLst/>
                <a:rect l="l" t="t" r="r" b="b"/>
                <a:pathLst>
                  <a:path w="55909" h="39086" extrusionOk="0">
                    <a:moveTo>
                      <a:pt x="44715" y="39086"/>
                    </a:moveTo>
                    <a:lnTo>
                      <a:pt x="27891" y="22326"/>
                    </a:lnTo>
                    <a:lnTo>
                      <a:pt x="11131" y="39086"/>
                    </a:lnTo>
                    <a:lnTo>
                      <a:pt x="0" y="27891"/>
                    </a:lnTo>
                    <a:lnTo>
                      <a:pt x="27891" y="0"/>
                    </a:lnTo>
                    <a:lnTo>
                      <a:pt x="55909" y="27891"/>
                    </a:lnTo>
                    <a:lnTo>
                      <a:pt x="44715" y="3908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48" name="Google Shape;1048;p117"/>
              <p:cNvSpPr/>
              <p:nvPr/>
            </p:nvSpPr>
            <p:spPr>
              <a:xfrm>
                <a:off x="2203144" y="3229885"/>
                <a:ext cx="207067" cy="206877"/>
              </a:xfrm>
              <a:custGeom>
                <a:avLst/>
                <a:gdLst/>
                <a:ahLst/>
                <a:cxnLst/>
                <a:rect l="l" t="t" r="r" b="b"/>
                <a:pathLst>
                  <a:path w="207067" h="206877" extrusionOk="0">
                    <a:moveTo>
                      <a:pt x="196063" y="206878"/>
                    </a:moveTo>
                    <a:lnTo>
                      <a:pt x="147110" y="157989"/>
                    </a:lnTo>
                    <a:lnTo>
                      <a:pt x="158115" y="146794"/>
                    </a:lnTo>
                    <a:lnTo>
                      <a:pt x="207067" y="195683"/>
                    </a:lnTo>
                    <a:close/>
                    <a:moveTo>
                      <a:pt x="122508" y="133512"/>
                    </a:moveTo>
                    <a:lnTo>
                      <a:pt x="73555" y="84560"/>
                    </a:lnTo>
                    <a:lnTo>
                      <a:pt x="84686" y="73492"/>
                    </a:lnTo>
                    <a:lnTo>
                      <a:pt x="133639" y="122381"/>
                    </a:lnTo>
                    <a:close/>
                    <a:moveTo>
                      <a:pt x="49079" y="60147"/>
                    </a:moveTo>
                    <a:lnTo>
                      <a:pt x="0" y="11195"/>
                    </a:lnTo>
                    <a:lnTo>
                      <a:pt x="11131" y="0"/>
                    </a:lnTo>
                    <a:lnTo>
                      <a:pt x="60147" y="4895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49" name="Google Shape;1049;p117"/>
              <p:cNvSpPr/>
              <p:nvPr/>
            </p:nvSpPr>
            <p:spPr>
              <a:xfrm>
                <a:off x="2423557" y="3450044"/>
                <a:ext cx="39086" cy="55909"/>
              </a:xfrm>
              <a:custGeom>
                <a:avLst/>
                <a:gdLst/>
                <a:ahLst/>
                <a:cxnLst/>
                <a:rect l="l" t="t" r="r" b="b"/>
                <a:pathLst>
                  <a:path w="39086" h="55909" extrusionOk="0">
                    <a:moveTo>
                      <a:pt x="11131" y="55909"/>
                    </a:moveTo>
                    <a:lnTo>
                      <a:pt x="0" y="44715"/>
                    </a:lnTo>
                    <a:lnTo>
                      <a:pt x="16760" y="27955"/>
                    </a:lnTo>
                    <a:lnTo>
                      <a:pt x="0" y="11195"/>
                    </a:lnTo>
                    <a:lnTo>
                      <a:pt x="11131" y="0"/>
                    </a:lnTo>
                    <a:lnTo>
                      <a:pt x="39086" y="27955"/>
                    </a:lnTo>
                    <a:lnTo>
                      <a:pt x="11131" y="5590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50" name="Google Shape;1050;p117"/>
              <p:cNvSpPr/>
              <p:nvPr/>
            </p:nvSpPr>
            <p:spPr>
              <a:xfrm>
                <a:off x="2203713" y="3519172"/>
                <a:ext cx="206687" cy="206498"/>
              </a:xfrm>
              <a:custGeom>
                <a:avLst/>
                <a:gdLst/>
                <a:ahLst/>
                <a:cxnLst/>
                <a:rect l="l" t="t" r="r" b="b"/>
                <a:pathLst>
                  <a:path w="206687" h="206498" extrusionOk="0">
                    <a:moveTo>
                      <a:pt x="11195" y="206498"/>
                    </a:moveTo>
                    <a:lnTo>
                      <a:pt x="0" y="195304"/>
                    </a:lnTo>
                    <a:lnTo>
                      <a:pt x="48826" y="146478"/>
                    </a:lnTo>
                    <a:lnTo>
                      <a:pt x="60020" y="157672"/>
                    </a:lnTo>
                    <a:close/>
                    <a:moveTo>
                      <a:pt x="84433" y="133259"/>
                    </a:moveTo>
                    <a:lnTo>
                      <a:pt x="73239" y="122065"/>
                    </a:lnTo>
                    <a:lnTo>
                      <a:pt x="122128" y="73239"/>
                    </a:lnTo>
                    <a:lnTo>
                      <a:pt x="133323" y="84433"/>
                    </a:lnTo>
                    <a:close/>
                    <a:moveTo>
                      <a:pt x="157546" y="60020"/>
                    </a:moveTo>
                    <a:lnTo>
                      <a:pt x="146351" y="48826"/>
                    </a:lnTo>
                    <a:lnTo>
                      <a:pt x="195493" y="0"/>
                    </a:lnTo>
                    <a:lnTo>
                      <a:pt x="206688" y="1119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51" name="Google Shape;1051;p117"/>
              <p:cNvSpPr/>
              <p:nvPr/>
            </p:nvSpPr>
            <p:spPr>
              <a:xfrm>
                <a:off x="2006103" y="3250313"/>
                <a:ext cx="317492" cy="462085"/>
              </a:xfrm>
              <a:custGeom>
                <a:avLst/>
                <a:gdLst/>
                <a:ahLst/>
                <a:cxnLst/>
                <a:rect l="l" t="t" r="r" b="b"/>
                <a:pathLst>
                  <a:path w="317492" h="462085" extrusionOk="0">
                    <a:moveTo>
                      <a:pt x="311327" y="288465"/>
                    </a:moveTo>
                    <a:lnTo>
                      <a:pt x="173641" y="150715"/>
                    </a:lnTo>
                    <a:cubicBezTo>
                      <a:pt x="171698" y="148822"/>
                      <a:pt x="169426" y="147301"/>
                      <a:pt x="166937" y="146225"/>
                    </a:cubicBezTo>
                    <a:lnTo>
                      <a:pt x="166937" y="51862"/>
                    </a:lnTo>
                    <a:lnTo>
                      <a:pt x="189010" y="51862"/>
                    </a:lnTo>
                    <a:lnTo>
                      <a:pt x="159094" y="0"/>
                    </a:lnTo>
                    <a:lnTo>
                      <a:pt x="129116" y="51862"/>
                    </a:lnTo>
                    <a:lnTo>
                      <a:pt x="151188" y="51862"/>
                    </a:lnTo>
                    <a:lnTo>
                      <a:pt x="151188" y="146035"/>
                    </a:lnTo>
                    <a:cubicBezTo>
                      <a:pt x="148471" y="147083"/>
                      <a:pt x="145995" y="148676"/>
                      <a:pt x="143915" y="150715"/>
                    </a:cubicBezTo>
                    <a:lnTo>
                      <a:pt x="6165" y="288465"/>
                    </a:lnTo>
                    <a:cubicBezTo>
                      <a:pt x="-2043" y="296657"/>
                      <a:pt x="-2057" y="309952"/>
                      <a:pt x="6135" y="318160"/>
                    </a:cubicBezTo>
                    <a:cubicBezTo>
                      <a:pt x="6145" y="318170"/>
                      <a:pt x="6155" y="318181"/>
                      <a:pt x="6165" y="318191"/>
                    </a:cubicBezTo>
                    <a:lnTo>
                      <a:pt x="143852" y="455940"/>
                    </a:lnTo>
                    <a:cubicBezTo>
                      <a:pt x="152092" y="464133"/>
                      <a:pt x="165401" y="464133"/>
                      <a:pt x="173641" y="455940"/>
                    </a:cubicBezTo>
                    <a:lnTo>
                      <a:pt x="311327" y="318191"/>
                    </a:lnTo>
                    <a:cubicBezTo>
                      <a:pt x="319536" y="309999"/>
                      <a:pt x="319549" y="296704"/>
                      <a:pt x="311358" y="288495"/>
                    </a:cubicBezTo>
                    <a:cubicBezTo>
                      <a:pt x="311347" y="288485"/>
                      <a:pt x="311337" y="288475"/>
                      <a:pt x="311327" y="288465"/>
                    </a:cubicBezTo>
                    <a:close/>
                    <a:moveTo>
                      <a:pt x="300133" y="307059"/>
                    </a:moveTo>
                    <a:lnTo>
                      <a:pt x="162446" y="444746"/>
                    </a:lnTo>
                    <a:cubicBezTo>
                      <a:pt x="160399" y="446780"/>
                      <a:pt x="157094" y="446780"/>
                      <a:pt x="155046" y="444746"/>
                    </a:cubicBezTo>
                    <a:lnTo>
                      <a:pt x="17360" y="307059"/>
                    </a:lnTo>
                    <a:cubicBezTo>
                      <a:pt x="15299" y="305020"/>
                      <a:pt x="15282" y="301697"/>
                      <a:pt x="17321" y="299636"/>
                    </a:cubicBezTo>
                    <a:cubicBezTo>
                      <a:pt x="17333" y="299622"/>
                      <a:pt x="17347" y="299610"/>
                      <a:pt x="17360" y="299596"/>
                    </a:cubicBezTo>
                    <a:lnTo>
                      <a:pt x="155046" y="161910"/>
                    </a:lnTo>
                    <a:cubicBezTo>
                      <a:pt x="157094" y="159876"/>
                      <a:pt x="160399" y="159876"/>
                      <a:pt x="162446" y="161910"/>
                    </a:cubicBezTo>
                    <a:lnTo>
                      <a:pt x="300133" y="299723"/>
                    </a:lnTo>
                    <a:cubicBezTo>
                      <a:pt x="302125" y="301763"/>
                      <a:pt x="302125" y="305020"/>
                      <a:pt x="300133" y="30705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grpSp>
      </p:grpSp>
      <p:grpSp>
        <p:nvGrpSpPr>
          <p:cNvPr id="1052" name="Google Shape;1052;p117"/>
          <p:cNvGrpSpPr/>
          <p:nvPr/>
        </p:nvGrpSpPr>
        <p:grpSpPr>
          <a:xfrm>
            <a:off x="8679257" y="2393627"/>
            <a:ext cx="636388" cy="636388"/>
            <a:chOff x="8807525" y="2231307"/>
            <a:chExt cx="636554" cy="636554"/>
          </a:xfrm>
        </p:grpSpPr>
        <p:sp>
          <p:nvSpPr>
            <p:cNvPr id="1053" name="Google Shape;1053;p117"/>
            <p:cNvSpPr/>
            <p:nvPr/>
          </p:nvSpPr>
          <p:spPr>
            <a:xfrm>
              <a:off x="8807525" y="2231307"/>
              <a:ext cx="636554" cy="636554"/>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1054" name="Google Shape;1054;p117" descr="Check Circle&#10;"/>
            <p:cNvPicPr preferRelativeResize="0"/>
            <p:nvPr/>
          </p:nvPicPr>
          <p:blipFill rotWithShape="1">
            <a:blip r:embed="rId3">
              <a:alphaModFix/>
            </a:blip>
            <a:srcRect t="104" b="103"/>
            <a:stretch/>
          </p:blipFill>
          <p:spPr>
            <a:xfrm>
              <a:off x="8834337" y="2258725"/>
              <a:ext cx="582930" cy="581718"/>
            </a:xfrm>
            <a:prstGeom prst="rect">
              <a:avLst/>
            </a:prstGeom>
            <a:noFill/>
            <a:ln>
              <a:noFill/>
            </a:ln>
          </p:spPr>
        </p:pic>
      </p:grpSp>
      <p:grpSp>
        <p:nvGrpSpPr>
          <p:cNvPr id="1055" name="Google Shape;1055;p117" descr="Trust&#10;"/>
          <p:cNvGrpSpPr/>
          <p:nvPr/>
        </p:nvGrpSpPr>
        <p:grpSpPr>
          <a:xfrm>
            <a:off x="3465532" y="3559377"/>
            <a:ext cx="333620" cy="486571"/>
            <a:chOff x="9853831" y="3174987"/>
            <a:chExt cx="411099" cy="599572"/>
          </a:xfrm>
        </p:grpSpPr>
        <p:sp>
          <p:nvSpPr>
            <p:cNvPr id="1056" name="Google Shape;1056;p117"/>
            <p:cNvSpPr/>
            <p:nvPr/>
          </p:nvSpPr>
          <p:spPr>
            <a:xfrm>
              <a:off x="9965144" y="3581659"/>
              <a:ext cx="189738" cy="192900"/>
            </a:xfrm>
            <a:custGeom>
              <a:avLst/>
              <a:gdLst/>
              <a:ahLst/>
              <a:cxnLst/>
              <a:rect l="l" t="t" r="r" b="b"/>
              <a:pathLst>
                <a:path w="189738" h="192900" extrusionOk="0">
                  <a:moveTo>
                    <a:pt x="0" y="192900"/>
                  </a:moveTo>
                  <a:lnTo>
                    <a:pt x="0" y="0"/>
                  </a:lnTo>
                  <a:lnTo>
                    <a:pt x="15812" y="0"/>
                  </a:lnTo>
                  <a:lnTo>
                    <a:pt x="15812" y="164440"/>
                  </a:lnTo>
                  <a:lnTo>
                    <a:pt x="94869" y="117005"/>
                  </a:lnTo>
                  <a:lnTo>
                    <a:pt x="173927" y="164440"/>
                  </a:lnTo>
                  <a:lnTo>
                    <a:pt x="173927" y="0"/>
                  </a:lnTo>
                  <a:lnTo>
                    <a:pt x="189738" y="0"/>
                  </a:lnTo>
                  <a:lnTo>
                    <a:pt x="189738" y="192900"/>
                  </a:lnTo>
                  <a:lnTo>
                    <a:pt x="94869" y="13534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57" name="Google Shape;1057;p117"/>
            <p:cNvSpPr/>
            <p:nvPr/>
          </p:nvSpPr>
          <p:spPr>
            <a:xfrm>
              <a:off x="9948068" y="3303377"/>
              <a:ext cx="223258" cy="153687"/>
            </a:xfrm>
            <a:custGeom>
              <a:avLst/>
              <a:gdLst/>
              <a:ahLst/>
              <a:cxnLst/>
              <a:rect l="l" t="t" r="r" b="b"/>
              <a:pathLst>
                <a:path w="223258" h="153687" extrusionOk="0">
                  <a:moveTo>
                    <a:pt x="80955" y="153688"/>
                  </a:moveTo>
                  <a:lnTo>
                    <a:pt x="0" y="72733"/>
                  </a:lnTo>
                  <a:lnTo>
                    <a:pt x="10752" y="61349"/>
                  </a:lnTo>
                  <a:lnTo>
                    <a:pt x="80955" y="131552"/>
                  </a:lnTo>
                  <a:lnTo>
                    <a:pt x="212507" y="0"/>
                  </a:lnTo>
                  <a:lnTo>
                    <a:pt x="223258" y="1138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58" name="Google Shape;1058;p117"/>
            <p:cNvSpPr/>
            <p:nvPr/>
          </p:nvSpPr>
          <p:spPr>
            <a:xfrm>
              <a:off x="9853831" y="3174987"/>
              <a:ext cx="411099" cy="412363"/>
            </a:xfrm>
            <a:custGeom>
              <a:avLst/>
              <a:gdLst/>
              <a:ahLst/>
              <a:cxnLst/>
              <a:rect l="l" t="t" r="r" b="b"/>
              <a:pathLst>
                <a:path w="411099" h="412363" extrusionOk="0">
                  <a:moveTo>
                    <a:pt x="247292" y="15812"/>
                  </a:moveTo>
                  <a:cubicBezTo>
                    <a:pt x="247924" y="15812"/>
                    <a:pt x="247924" y="15812"/>
                    <a:pt x="248557" y="15812"/>
                  </a:cubicBezTo>
                  <a:cubicBezTo>
                    <a:pt x="251719" y="16444"/>
                    <a:pt x="256779" y="22136"/>
                    <a:pt x="261206" y="27196"/>
                  </a:cubicBezTo>
                  <a:cubicBezTo>
                    <a:pt x="266898" y="33520"/>
                    <a:pt x="273223" y="40477"/>
                    <a:pt x="281445" y="44905"/>
                  </a:cubicBezTo>
                  <a:cubicBezTo>
                    <a:pt x="290299" y="49332"/>
                    <a:pt x="299786" y="49964"/>
                    <a:pt x="308008" y="50597"/>
                  </a:cubicBezTo>
                  <a:cubicBezTo>
                    <a:pt x="314333" y="51229"/>
                    <a:pt x="321922" y="51862"/>
                    <a:pt x="324452" y="53759"/>
                  </a:cubicBezTo>
                  <a:cubicBezTo>
                    <a:pt x="326982" y="55656"/>
                    <a:pt x="328879" y="63246"/>
                    <a:pt x="330777" y="68938"/>
                  </a:cubicBezTo>
                  <a:cubicBezTo>
                    <a:pt x="333306" y="77160"/>
                    <a:pt x="335836" y="86647"/>
                    <a:pt x="341528" y="94237"/>
                  </a:cubicBezTo>
                  <a:cubicBezTo>
                    <a:pt x="347221" y="101826"/>
                    <a:pt x="355443" y="106886"/>
                    <a:pt x="363032" y="111313"/>
                  </a:cubicBezTo>
                  <a:cubicBezTo>
                    <a:pt x="368724" y="114475"/>
                    <a:pt x="375049" y="118270"/>
                    <a:pt x="376314" y="121432"/>
                  </a:cubicBezTo>
                  <a:cubicBezTo>
                    <a:pt x="377579" y="124595"/>
                    <a:pt x="376314" y="132184"/>
                    <a:pt x="375681" y="137876"/>
                  </a:cubicBezTo>
                  <a:cubicBezTo>
                    <a:pt x="374416" y="146098"/>
                    <a:pt x="372519" y="156218"/>
                    <a:pt x="375049" y="165705"/>
                  </a:cubicBezTo>
                  <a:cubicBezTo>
                    <a:pt x="376946" y="175191"/>
                    <a:pt x="382638" y="182781"/>
                    <a:pt x="387066" y="189738"/>
                  </a:cubicBezTo>
                  <a:cubicBezTo>
                    <a:pt x="390860" y="195430"/>
                    <a:pt x="395288" y="201122"/>
                    <a:pt x="395288" y="204917"/>
                  </a:cubicBezTo>
                  <a:cubicBezTo>
                    <a:pt x="395288" y="208712"/>
                    <a:pt x="390860" y="215036"/>
                    <a:pt x="387066" y="220096"/>
                  </a:cubicBezTo>
                  <a:cubicBezTo>
                    <a:pt x="382638" y="227053"/>
                    <a:pt x="376946" y="234643"/>
                    <a:pt x="375049" y="244130"/>
                  </a:cubicBezTo>
                  <a:cubicBezTo>
                    <a:pt x="373151" y="253616"/>
                    <a:pt x="374416" y="263103"/>
                    <a:pt x="375681" y="271958"/>
                  </a:cubicBezTo>
                  <a:cubicBezTo>
                    <a:pt x="376946" y="278282"/>
                    <a:pt x="377579" y="285239"/>
                    <a:pt x="376314" y="288402"/>
                  </a:cubicBezTo>
                  <a:cubicBezTo>
                    <a:pt x="375049" y="291564"/>
                    <a:pt x="368724" y="295359"/>
                    <a:pt x="363032" y="298521"/>
                  </a:cubicBezTo>
                  <a:cubicBezTo>
                    <a:pt x="355443" y="302948"/>
                    <a:pt x="347221" y="308008"/>
                    <a:pt x="341528" y="315598"/>
                  </a:cubicBezTo>
                  <a:cubicBezTo>
                    <a:pt x="335836" y="323187"/>
                    <a:pt x="332674" y="332674"/>
                    <a:pt x="330777" y="340896"/>
                  </a:cubicBezTo>
                  <a:cubicBezTo>
                    <a:pt x="328879" y="347221"/>
                    <a:pt x="326982" y="354178"/>
                    <a:pt x="324452" y="356075"/>
                  </a:cubicBezTo>
                  <a:cubicBezTo>
                    <a:pt x="321922" y="357972"/>
                    <a:pt x="314333" y="358605"/>
                    <a:pt x="308008" y="359237"/>
                  </a:cubicBezTo>
                  <a:cubicBezTo>
                    <a:pt x="299786" y="359870"/>
                    <a:pt x="289667" y="361135"/>
                    <a:pt x="281445" y="364929"/>
                  </a:cubicBezTo>
                  <a:cubicBezTo>
                    <a:pt x="272590" y="369357"/>
                    <a:pt x="266266" y="376314"/>
                    <a:pt x="261206" y="382638"/>
                  </a:cubicBezTo>
                  <a:cubicBezTo>
                    <a:pt x="256779" y="387698"/>
                    <a:pt x="251719" y="392758"/>
                    <a:pt x="248557" y="394023"/>
                  </a:cubicBezTo>
                  <a:cubicBezTo>
                    <a:pt x="248557" y="394023"/>
                    <a:pt x="247924" y="394023"/>
                    <a:pt x="247292" y="394023"/>
                  </a:cubicBezTo>
                  <a:cubicBezTo>
                    <a:pt x="243497" y="394023"/>
                    <a:pt x="237805" y="392125"/>
                    <a:pt x="232745" y="389595"/>
                  </a:cubicBezTo>
                  <a:cubicBezTo>
                    <a:pt x="224523" y="386433"/>
                    <a:pt x="215669" y="383271"/>
                    <a:pt x="205550" y="383271"/>
                  </a:cubicBezTo>
                  <a:cubicBezTo>
                    <a:pt x="195430" y="383271"/>
                    <a:pt x="186576" y="387066"/>
                    <a:pt x="178354" y="389595"/>
                  </a:cubicBezTo>
                  <a:cubicBezTo>
                    <a:pt x="172662" y="391493"/>
                    <a:pt x="166969" y="394023"/>
                    <a:pt x="163807" y="394023"/>
                  </a:cubicBezTo>
                  <a:cubicBezTo>
                    <a:pt x="163175" y="394023"/>
                    <a:pt x="163175" y="394023"/>
                    <a:pt x="162542" y="394023"/>
                  </a:cubicBezTo>
                  <a:cubicBezTo>
                    <a:pt x="159380" y="393390"/>
                    <a:pt x="154320" y="387698"/>
                    <a:pt x="149893" y="382638"/>
                  </a:cubicBezTo>
                  <a:cubicBezTo>
                    <a:pt x="144201" y="376314"/>
                    <a:pt x="137876" y="369357"/>
                    <a:pt x="129654" y="364929"/>
                  </a:cubicBezTo>
                  <a:cubicBezTo>
                    <a:pt x="120800" y="360502"/>
                    <a:pt x="111313" y="359870"/>
                    <a:pt x="103091" y="359237"/>
                  </a:cubicBezTo>
                  <a:cubicBezTo>
                    <a:pt x="96766" y="358605"/>
                    <a:pt x="89177" y="357972"/>
                    <a:pt x="86647" y="356075"/>
                  </a:cubicBezTo>
                  <a:cubicBezTo>
                    <a:pt x="84117" y="354178"/>
                    <a:pt x="82220" y="346588"/>
                    <a:pt x="80322" y="340896"/>
                  </a:cubicBezTo>
                  <a:cubicBezTo>
                    <a:pt x="77793" y="332674"/>
                    <a:pt x="75263" y="323187"/>
                    <a:pt x="69571" y="315598"/>
                  </a:cubicBezTo>
                  <a:cubicBezTo>
                    <a:pt x="63878" y="308008"/>
                    <a:pt x="55656" y="302948"/>
                    <a:pt x="48067" y="298521"/>
                  </a:cubicBezTo>
                  <a:cubicBezTo>
                    <a:pt x="42375" y="295359"/>
                    <a:pt x="36050" y="291564"/>
                    <a:pt x="34785" y="288402"/>
                  </a:cubicBezTo>
                  <a:cubicBezTo>
                    <a:pt x="33520" y="285239"/>
                    <a:pt x="34785" y="277650"/>
                    <a:pt x="35418" y="271958"/>
                  </a:cubicBezTo>
                  <a:cubicBezTo>
                    <a:pt x="36683" y="263736"/>
                    <a:pt x="38580" y="253616"/>
                    <a:pt x="36050" y="244130"/>
                  </a:cubicBezTo>
                  <a:cubicBezTo>
                    <a:pt x="34153" y="234643"/>
                    <a:pt x="28461" y="227053"/>
                    <a:pt x="24033" y="220096"/>
                  </a:cubicBezTo>
                  <a:cubicBezTo>
                    <a:pt x="20239" y="214404"/>
                    <a:pt x="15812" y="208712"/>
                    <a:pt x="15812" y="204917"/>
                  </a:cubicBezTo>
                  <a:cubicBezTo>
                    <a:pt x="15812" y="201122"/>
                    <a:pt x="20239" y="194798"/>
                    <a:pt x="24033" y="189738"/>
                  </a:cubicBezTo>
                  <a:cubicBezTo>
                    <a:pt x="28461" y="182781"/>
                    <a:pt x="34153" y="175191"/>
                    <a:pt x="36050" y="165705"/>
                  </a:cubicBezTo>
                  <a:cubicBezTo>
                    <a:pt x="37948" y="156218"/>
                    <a:pt x="36683" y="146731"/>
                    <a:pt x="35418" y="137876"/>
                  </a:cubicBezTo>
                  <a:cubicBezTo>
                    <a:pt x="34153" y="131552"/>
                    <a:pt x="33520" y="124595"/>
                    <a:pt x="34785" y="121432"/>
                  </a:cubicBezTo>
                  <a:cubicBezTo>
                    <a:pt x="36050" y="118270"/>
                    <a:pt x="42375" y="114475"/>
                    <a:pt x="48067" y="111313"/>
                  </a:cubicBezTo>
                  <a:cubicBezTo>
                    <a:pt x="55656" y="106886"/>
                    <a:pt x="63878" y="101826"/>
                    <a:pt x="69571" y="94237"/>
                  </a:cubicBezTo>
                  <a:cubicBezTo>
                    <a:pt x="75263" y="86647"/>
                    <a:pt x="78425" y="77160"/>
                    <a:pt x="80322" y="68938"/>
                  </a:cubicBezTo>
                  <a:cubicBezTo>
                    <a:pt x="82220" y="62614"/>
                    <a:pt x="84117" y="55656"/>
                    <a:pt x="86647" y="53759"/>
                  </a:cubicBezTo>
                  <a:cubicBezTo>
                    <a:pt x="89177" y="51862"/>
                    <a:pt x="96766" y="51229"/>
                    <a:pt x="103091" y="50597"/>
                  </a:cubicBezTo>
                  <a:cubicBezTo>
                    <a:pt x="111313" y="49964"/>
                    <a:pt x="121432" y="48699"/>
                    <a:pt x="129654" y="44905"/>
                  </a:cubicBezTo>
                  <a:cubicBezTo>
                    <a:pt x="138509" y="40477"/>
                    <a:pt x="144833" y="33520"/>
                    <a:pt x="149893" y="27196"/>
                  </a:cubicBezTo>
                  <a:cubicBezTo>
                    <a:pt x="154320" y="22136"/>
                    <a:pt x="159380" y="17076"/>
                    <a:pt x="162542" y="15812"/>
                  </a:cubicBezTo>
                  <a:cubicBezTo>
                    <a:pt x="162542" y="15812"/>
                    <a:pt x="163175" y="15812"/>
                    <a:pt x="163807" y="15812"/>
                  </a:cubicBezTo>
                  <a:cubicBezTo>
                    <a:pt x="167602" y="15812"/>
                    <a:pt x="173294" y="17709"/>
                    <a:pt x="178354" y="20239"/>
                  </a:cubicBezTo>
                  <a:cubicBezTo>
                    <a:pt x="186576" y="23401"/>
                    <a:pt x="195430" y="26563"/>
                    <a:pt x="205550" y="26563"/>
                  </a:cubicBezTo>
                  <a:cubicBezTo>
                    <a:pt x="215669" y="26563"/>
                    <a:pt x="224523" y="22769"/>
                    <a:pt x="232745" y="20239"/>
                  </a:cubicBezTo>
                  <a:cubicBezTo>
                    <a:pt x="238437" y="17709"/>
                    <a:pt x="244130" y="15812"/>
                    <a:pt x="247292" y="15812"/>
                  </a:cubicBezTo>
                  <a:moveTo>
                    <a:pt x="247292" y="0"/>
                  </a:moveTo>
                  <a:cubicBezTo>
                    <a:pt x="234010" y="0"/>
                    <a:pt x="219464" y="10752"/>
                    <a:pt x="205550" y="10752"/>
                  </a:cubicBezTo>
                  <a:cubicBezTo>
                    <a:pt x="191635" y="10752"/>
                    <a:pt x="177089" y="0"/>
                    <a:pt x="163807" y="0"/>
                  </a:cubicBezTo>
                  <a:cubicBezTo>
                    <a:pt x="161910" y="0"/>
                    <a:pt x="160645" y="0"/>
                    <a:pt x="158747" y="632"/>
                  </a:cubicBezTo>
                  <a:cubicBezTo>
                    <a:pt x="144201" y="3795"/>
                    <a:pt x="135346" y="24033"/>
                    <a:pt x="122065" y="30991"/>
                  </a:cubicBezTo>
                  <a:cubicBezTo>
                    <a:pt x="108783" y="37948"/>
                    <a:pt x="87279" y="32888"/>
                    <a:pt x="75895" y="42375"/>
                  </a:cubicBezTo>
                  <a:cubicBezTo>
                    <a:pt x="64511" y="51862"/>
                    <a:pt x="65143" y="73365"/>
                    <a:pt x="56289" y="85382"/>
                  </a:cubicBezTo>
                  <a:cubicBezTo>
                    <a:pt x="47435" y="97399"/>
                    <a:pt x="25931" y="101826"/>
                    <a:pt x="19606" y="115740"/>
                  </a:cubicBezTo>
                  <a:cubicBezTo>
                    <a:pt x="13282" y="129022"/>
                    <a:pt x="23401" y="148628"/>
                    <a:pt x="20239" y="163175"/>
                  </a:cubicBezTo>
                  <a:cubicBezTo>
                    <a:pt x="17076" y="177721"/>
                    <a:pt x="0" y="191003"/>
                    <a:pt x="0" y="206182"/>
                  </a:cubicBezTo>
                  <a:cubicBezTo>
                    <a:pt x="0" y="221361"/>
                    <a:pt x="17076" y="234643"/>
                    <a:pt x="20239" y="249189"/>
                  </a:cubicBezTo>
                  <a:cubicBezTo>
                    <a:pt x="23401" y="263736"/>
                    <a:pt x="13282" y="283342"/>
                    <a:pt x="19606" y="296624"/>
                  </a:cubicBezTo>
                  <a:cubicBezTo>
                    <a:pt x="25931" y="310538"/>
                    <a:pt x="47435" y="314965"/>
                    <a:pt x="56289" y="326982"/>
                  </a:cubicBezTo>
                  <a:cubicBezTo>
                    <a:pt x="65143" y="338999"/>
                    <a:pt x="64511" y="360502"/>
                    <a:pt x="75895" y="369989"/>
                  </a:cubicBezTo>
                  <a:cubicBezTo>
                    <a:pt x="87279" y="379476"/>
                    <a:pt x="108783" y="374416"/>
                    <a:pt x="122065" y="381373"/>
                  </a:cubicBezTo>
                  <a:cubicBezTo>
                    <a:pt x="135346" y="388330"/>
                    <a:pt x="144201" y="407937"/>
                    <a:pt x="158747" y="411731"/>
                  </a:cubicBezTo>
                  <a:cubicBezTo>
                    <a:pt x="160012" y="412364"/>
                    <a:pt x="161910" y="412364"/>
                    <a:pt x="163807" y="412364"/>
                  </a:cubicBezTo>
                  <a:cubicBezTo>
                    <a:pt x="177089" y="412364"/>
                    <a:pt x="191635" y="401612"/>
                    <a:pt x="205550" y="401612"/>
                  </a:cubicBezTo>
                  <a:cubicBezTo>
                    <a:pt x="219464" y="401612"/>
                    <a:pt x="234010" y="412364"/>
                    <a:pt x="247292" y="412364"/>
                  </a:cubicBezTo>
                  <a:cubicBezTo>
                    <a:pt x="249189" y="412364"/>
                    <a:pt x="250454" y="412364"/>
                    <a:pt x="252352" y="411731"/>
                  </a:cubicBezTo>
                  <a:cubicBezTo>
                    <a:pt x="266898" y="408569"/>
                    <a:pt x="275753" y="388330"/>
                    <a:pt x="289034" y="381373"/>
                  </a:cubicBezTo>
                  <a:cubicBezTo>
                    <a:pt x="302316" y="374416"/>
                    <a:pt x="323820" y="379476"/>
                    <a:pt x="335204" y="369989"/>
                  </a:cubicBezTo>
                  <a:cubicBezTo>
                    <a:pt x="346588" y="360502"/>
                    <a:pt x="345956" y="338999"/>
                    <a:pt x="354810" y="326982"/>
                  </a:cubicBezTo>
                  <a:cubicBezTo>
                    <a:pt x="363665" y="314965"/>
                    <a:pt x="385168" y="310538"/>
                    <a:pt x="391493" y="296624"/>
                  </a:cubicBezTo>
                  <a:cubicBezTo>
                    <a:pt x="397817" y="283342"/>
                    <a:pt x="387698" y="263736"/>
                    <a:pt x="390860" y="249189"/>
                  </a:cubicBezTo>
                  <a:cubicBezTo>
                    <a:pt x="394023" y="234643"/>
                    <a:pt x="411099" y="221361"/>
                    <a:pt x="411099" y="206182"/>
                  </a:cubicBezTo>
                  <a:cubicBezTo>
                    <a:pt x="411099" y="191003"/>
                    <a:pt x="394023" y="177721"/>
                    <a:pt x="390860" y="163175"/>
                  </a:cubicBezTo>
                  <a:cubicBezTo>
                    <a:pt x="387698" y="148628"/>
                    <a:pt x="397817" y="129022"/>
                    <a:pt x="391493" y="115740"/>
                  </a:cubicBezTo>
                  <a:cubicBezTo>
                    <a:pt x="385168" y="101826"/>
                    <a:pt x="363665" y="97399"/>
                    <a:pt x="354810" y="85382"/>
                  </a:cubicBezTo>
                  <a:cubicBezTo>
                    <a:pt x="345956" y="73365"/>
                    <a:pt x="346588" y="51862"/>
                    <a:pt x="335204" y="42375"/>
                  </a:cubicBezTo>
                  <a:cubicBezTo>
                    <a:pt x="323820" y="32888"/>
                    <a:pt x="302316" y="37948"/>
                    <a:pt x="289034" y="30991"/>
                  </a:cubicBezTo>
                  <a:cubicBezTo>
                    <a:pt x="275753" y="24033"/>
                    <a:pt x="266898" y="4427"/>
                    <a:pt x="252352" y="632"/>
                  </a:cubicBezTo>
                  <a:cubicBezTo>
                    <a:pt x="250454" y="0"/>
                    <a:pt x="249189" y="0"/>
                    <a:pt x="247292" y="0"/>
                  </a:cubicBezTo>
                  <a:lnTo>
                    <a:pt x="247292"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grpSp>
      <p:grpSp>
        <p:nvGrpSpPr>
          <p:cNvPr id="1059" name="Google Shape;1059;p117"/>
          <p:cNvGrpSpPr/>
          <p:nvPr/>
        </p:nvGrpSpPr>
        <p:grpSpPr>
          <a:xfrm>
            <a:off x="8690140" y="3484469"/>
            <a:ext cx="636388" cy="636388"/>
            <a:chOff x="8818411" y="3322433"/>
            <a:chExt cx="636554" cy="636554"/>
          </a:xfrm>
        </p:grpSpPr>
        <p:sp>
          <p:nvSpPr>
            <p:cNvPr id="1060" name="Google Shape;1060;p117"/>
            <p:cNvSpPr/>
            <p:nvPr/>
          </p:nvSpPr>
          <p:spPr>
            <a:xfrm>
              <a:off x="8818411" y="3322433"/>
              <a:ext cx="636554" cy="636554"/>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061" name="Google Shape;1061;p117" descr="Integrate Automate&#10;"/>
            <p:cNvSpPr/>
            <p:nvPr/>
          </p:nvSpPr>
          <p:spPr>
            <a:xfrm>
              <a:off x="8881303" y="3385892"/>
              <a:ext cx="510771" cy="509636"/>
            </a:xfrm>
            <a:custGeom>
              <a:avLst/>
              <a:gdLst/>
              <a:ahLst/>
              <a:cxnLst/>
              <a:rect l="l" t="t" r="r" b="b"/>
              <a:pathLst>
                <a:path w="569846" h="568581" extrusionOk="0">
                  <a:moveTo>
                    <a:pt x="15812" y="284607"/>
                  </a:moveTo>
                  <a:cubicBezTo>
                    <a:pt x="15812" y="136611"/>
                    <a:pt x="136611" y="15811"/>
                    <a:pt x="284607" y="15811"/>
                  </a:cubicBezTo>
                  <a:cubicBezTo>
                    <a:pt x="380741" y="15811"/>
                    <a:pt x="468653" y="66408"/>
                    <a:pt x="516720" y="149261"/>
                  </a:cubicBezTo>
                  <a:lnTo>
                    <a:pt x="471183" y="141039"/>
                  </a:lnTo>
                  <a:lnTo>
                    <a:pt x="468653" y="156850"/>
                  </a:lnTo>
                  <a:lnTo>
                    <a:pt x="538856" y="169499"/>
                  </a:lnTo>
                  <a:lnTo>
                    <a:pt x="553403" y="99929"/>
                  </a:lnTo>
                  <a:lnTo>
                    <a:pt x="537591" y="96134"/>
                  </a:lnTo>
                  <a:lnTo>
                    <a:pt x="528737" y="137876"/>
                  </a:lnTo>
                  <a:cubicBezTo>
                    <a:pt x="477507" y="52494"/>
                    <a:pt x="385801" y="0"/>
                    <a:pt x="284607" y="0"/>
                  </a:cubicBezTo>
                  <a:cubicBezTo>
                    <a:pt x="127757" y="0"/>
                    <a:pt x="0" y="127757"/>
                    <a:pt x="0" y="284607"/>
                  </a:cubicBezTo>
                  <a:cubicBezTo>
                    <a:pt x="0" y="340896"/>
                    <a:pt x="16444" y="395920"/>
                    <a:pt x="48067" y="442722"/>
                  </a:cubicBezTo>
                  <a:lnTo>
                    <a:pt x="61349" y="433868"/>
                  </a:lnTo>
                  <a:cubicBezTo>
                    <a:pt x="31623" y="389595"/>
                    <a:pt x="15812" y="337734"/>
                    <a:pt x="15812" y="284607"/>
                  </a:cubicBezTo>
                  <a:close/>
                  <a:moveTo>
                    <a:pt x="551505" y="185311"/>
                  </a:moveTo>
                  <a:lnTo>
                    <a:pt x="536959" y="191003"/>
                  </a:lnTo>
                  <a:cubicBezTo>
                    <a:pt x="548343" y="220729"/>
                    <a:pt x="554035" y="252352"/>
                    <a:pt x="554035" y="284607"/>
                  </a:cubicBezTo>
                  <a:cubicBezTo>
                    <a:pt x="554035" y="432603"/>
                    <a:pt x="433235" y="553403"/>
                    <a:pt x="285239" y="553403"/>
                  </a:cubicBezTo>
                  <a:cubicBezTo>
                    <a:pt x="213139" y="553403"/>
                    <a:pt x="144201" y="524309"/>
                    <a:pt x="94237" y="473080"/>
                  </a:cubicBezTo>
                  <a:lnTo>
                    <a:pt x="141039" y="481302"/>
                  </a:lnTo>
                  <a:lnTo>
                    <a:pt x="143568" y="465491"/>
                  </a:lnTo>
                  <a:lnTo>
                    <a:pt x="73365" y="452841"/>
                  </a:lnTo>
                  <a:lnTo>
                    <a:pt x="58819" y="522412"/>
                  </a:lnTo>
                  <a:lnTo>
                    <a:pt x="73998" y="525574"/>
                  </a:lnTo>
                  <a:lnTo>
                    <a:pt x="82852" y="483832"/>
                  </a:lnTo>
                  <a:cubicBezTo>
                    <a:pt x="135979" y="537591"/>
                    <a:pt x="208712" y="568582"/>
                    <a:pt x="285239" y="568582"/>
                  </a:cubicBezTo>
                  <a:cubicBezTo>
                    <a:pt x="442090" y="568582"/>
                    <a:pt x="569846" y="440825"/>
                    <a:pt x="569846" y="283975"/>
                  </a:cubicBezTo>
                  <a:cubicBezTo>
                    <a:pt x="569214" y="250454"/>
                    <a:pt x="563522" y="216934"/>
                    <a:pt x="551505" y="185311"/>
                  </a:cubicBezTo>
                  <a:close/>
                  <a:moveTo>
                    <a:pt x="287769" y="174559"/>
                  </a:moveTo>
                  <a:cubicBezTo>
                    <a:pt x="226421" y="174559"/>
                    <a:pt x="176456" y="224523"/>
                    <a:pt x="176456" y="285872"/>
                  </a:cubicBezTo>
                  <a:cubicBezTo>
                    <a:pt x="176456" y="290299"/>
                    <a:pt x="180251" y="293461"/>
                    <a:pt x="184046" y="293461"/>
                  </a:cubicBezTo>
                  <a:cubicBezTo>
                    <a:pt x="187841" y="293461"/>
                    <a:pt x="191635" y="289667"/>
                    <a:pt x="191635" y="285872"/>
                  </a:cubicBezTo>
                  <a:cubicBezTo>
                    <a:pt x="191635" y="233378"/>
                    <a:pt x="234643" y="190370"/>
                    <a:pt x="287137" y="190370"/>
                  </a:cubicBezTo>
                  <a:cubicBezTo>
                    <a:pt x="339631" y="190370"/>
                    <a:pt x="382638" y="233378"/>
                    <a:pt x="382638" y="285872"/>
                  </a:cubicBezTo>
                  <a:cubicBezTo>
                    <a:pt x="382638" y="338366"/>
                    <a:pt x="340264" y="381373"/>
                    <a:pt x="287769" y="381373"/>
                  </a:cubicBezTo>
                  <a:cubicBezTo>
                    <a:pt x="283342" y="381373"/>
                    <a:pt x="280180" y="385168"/>
                    <a:pt x="280180" y="388963"/>
                  </a:cubicBezTo>
                  <a:cubicBezTo>
                    <a:pt x="280180" y="392758"/>
                    <a:pt x="283975" y="396552"/>
                    <a:pt x="287769" y="396552"/>
                  </a:cubicBezTo>
                  <a:cubicBezTo>
                    <a:pt x="349118" y="396552"/>
                    <a:pt x="399082" y="346588"/>
                    <a:pt x="399082" y="285239"/>
                  </a:cubicBezTo>
                  <a:cubicBezTo>
                    <a:pt x="399082" y="223891"/>
                    <a:pt x="349118" y="174559"/>
                    <a:pt x="287769" y="174559"/>
                  </a:cubicBezTo>
                  <a:close/>
                  <a:moveTo>
                    <a:pt x="439560" y="331409"/>
                  </a:moveTo>
                  <a:cubicBezTo>
                    <a:pt x="443987" y="330777"/>
                    <a:pt x="449047" y="329512"/>
                    <a:pt x="454739" y="327614"/>
                  </a:cubicBezTo>
                  <a:cubicBezTo>
                    <a:pt x="465491" y="324452"/>
                    <a:pt x="469918" y="323187"/>
                    <a:pt x="471815" y="323187"/>
                  </a:cubicBezTo>
                  <a:lnTo>
                    <a:pt x="478140" y="321922"/>
                  </a:lnTo>
                  <a:lnTo>
                    <a:pt x="478140" y="251719"/>
                  </a:lnTo>
                  <a:lnTo>
                    <a:pt x="471815" y="250454"/>
                  </a:lnTo>
                  <a:cubicBezTo>
                    <a:pt x="468653" y="249822"/>
                    <a:pt x="462961" y="248557"/>
                    <a:pt x="454739" y="246027"/>
                  </a:cubicBezTo>
                  <a:cubicBezTo>
                    <a:pt x="449047" y="244130"/>
                    <a:pt x="443354" y="242865"/>
                    <a:pt x="438927" y="242232"/>
                  </a:cubicBezTo>
                  <a:cubicBezTo>
                    <a:pt x="437662" y="237805"/>
                    <a:pt x="434500" y="229583"/>
                    <a:pt x="428175" y="212507"/>
                  </a:cubicBezTo>
                  <a:cubicBezTo>
                    <a:pt x="432603" y="205550"/>
                    <a:pt x="438295" y="195430"/>
                    <a:pt x="445884" y="182148"/>
                  </a:cubicBezTo>
                  <a:lnTo>
                    <a:pt x="449047" y="176456"/>
                  </a:lnTo>
                  <a:lnTo>
                    <a:pt x="443987" y="172029"/>
                  </a:lnTo>
                  <a:cubicBezTo>
                    <a:pt x="440192" y="168867"/>
                    <a:pt x="433235" y="162542"/>
                    <a:pt x="424381" y="153055"/>
                  </a:cubicBezTo>
                  <a:cubicBezTo>
                    <a:pt x="415526" y="143568"/>
                    <a:pt x="407937" y="137244"/>
                    <a:pt x="400980" y="132817"/>
                  </a:cubicBezTo>
                  <a:lnTo>
                    <a:pt x="397817" y="130919"/>
                  </a:lnTo>
                  <a:lnTo>
                    <a:pt x="394023" y="132184"/>
                  </a:lnTo>
                  <a:cubicBezTo>
                    <a:pt x="390228" y="133449"/>
                    <a:pt x="384536" y="136611"/>
                    <a:pt x="376314" y="142304"/>
                  </a:cubicBezTo>
                  <a:cubicBezTo>
                    <a:pt x="371887" y="144833"/>
                    <a:pt x="368092" y="147363"/>
                    <a:pt x="364929" y="148628"/>
                  </a:cubicBezTo>
                  <a:cubicBezTo>
                    <a:pt x="361135" y="146098"/>
                    <a:pt x="356075" y="143568"/>
                    <a:pt x="349750" y="141671"/>
                  </a:cubicBezTo>
                  <a:cubicBezTo>
                    <a:pt x="342793" y="139141"/>
                    <a:pt x="338366" y="137244"/>
                    <a:pt x="335204" y="135979"/>
                  </a:cubicBezTo>
                  <a:cubicBezTo>
                    <a:pt x="330777" y="118270"/>
                    <a:pt x="326982" y="106886"/>
                    <a:pt x="325084" y="101826"/>
                  </a:cubicBezTo>
                  <a:lnTo>
                    <a:pt x="321922" y="96134"/>
                  </a:lnTo>
                  <a:lnTo>
                    <a:pt x="254881" y="96134"/>
                  </a:lnTo>
                  <a:lnTo>
                    <a:pt x="252984" y="101826"/>
                  </a:lnTo>
                  <a:cubicBezTo>
                    <a:pt x="251719" y="106886"/>
                    <a:pt x="249822" y="113210"/>
                    <a:pt x="247292" y="121432"/>
                  </a:cubicBezTo>
                  <a:cubicBezTo>
                    <a:pt x="245394" y="127757"/>
                    <a:pt x="244130" y="132817"/>
                    <a:pt x="243497" y="136611"/>
                  </a:cubicBezTo>
                  <a:cubicBezTo>
                    <a:pt x="238437" y="137876"/>
                    <a:pt x="230215" y="141039"/>
                    <a:pt x="213771" y="147996"/>
                  </a:cubicBezTo>
                  <a:cubicBezTo>
                    <a:pt x="206182" y="142936"/>
                    <a:pt x="195430" y="136611"/>
                    <a:pt x="182781" y="130919"/>
                  </a:cubicBezTo>
                  <a:lnTo>
                    <a:pt x="178354" y="127757"/>
                  </a:lnTo>
                  <a:lnTo>
                    <a:pt x="174559" y="131552"/>
                  </a:lnTo>
                  <a:cubicBezTo>
                    <a:pt x="142304" y="163175"/>
                    <a:pt x="135346" y="171397"/>
                    <a:pt x="132817" y="174559"/>
                  </a:cubicBezTo>
                  <a:lnTo>
                    <a:pt x="129022" y="179619"/>
                  </a:lnTo>
                  <a:lnTo>
                    <a:pt x="133449" y="184046"/>
                  </a:lnTo>
                  <a:cubicBezTo>
                    <a:pt x="135979" y="186576"/>
                    <a:pt x="140406" y="193533"/>
                    <a:pt x="149261" y="209977"/>
                  </a:cubicBezTo>
                  <a:cubicBezTo>
                    <a:pt x="146731" y="213771"/>
                    <a:pt x="144833" y="218831"/>
                    <a:pt x="141671" y="225156"/>
                  </a:cubicBezTo>
                  <a:cubicBezTo>
                    <a:pt x="139141" y="231480"/>
                    <a:pt x="136611" y="236540"/>
                    <a:pt x="135346" y="239702"/>
                  </a:cubicBezTo>
                  <a:cubicBezTo>
                    <a:pt x="130919" y="240335"/>
                    <a:pt x="125860" y="241600"/>
                    <a:pt x="120800" y="243497"/>
                  </a:cubicBezTo>
                  <a:cubicBezTo>
                    <a:pt x="112578" y="246027"/>
                    <a:pt x="106886" y="247292"/>
                    <a:pt x="103723" y="247924"/>
                  </a:cubicBezTo>
                  <a:lnTo>
                    <a:pt x="97399" y="249189"/>
                  </a:lnTo>
                  <a:lnTo>
                    <a:pt x="97399" y="319392"/>
                  </a:lnTo>
                  <a:lnTo>
                    <a:pt x="103723" y="320657"/>
                  </a:lnTo>
                  <a:cubicBezTo>
                    <a:pt x="106886" y="321290"/>
                    <a:pt x="112578" y="322555"/>
                    <a:pt x="121432" y="325084"/>
                  </a:cubicBezTo>
                  <a:cubicBezTo>
                    <a:pt x="126492" y="326349"/>
                    <a:pt x="131552" y="327614"/>
                    <a:pt x="135346" y="328247"/>
                  </a:cubicBezTo>
                  <a:cubicBezTo>
                    <a:pt x="136611" y="333306"/>
                    <a:pt x="138509" y="338999"/>
                    <a:pt x="141039" y="344691"/>
                  </a:cubicBezTo>
                  <a:cubicBezTo>
                    <a:pt x="144201" y="352280"/>
                    <a:pt x="146098" y="356707"/>
                    <a:pt x="147363" y="359237"/>
                  </a:cubicBezTo>
                  <a:cubicBezTo>
                    <a:pt x="134082" y="382006"/>
                    <a:pt x="131552" y="388330"/>
                    <a:pt x="130919" y="390860"/>
                  </a:cubicBezTo>
                  <a:lnTo>
                    <a:pt x="129654" y="395288"/>
                  </a:lnTo>
                  <a:lnTo>
                    <a:pt x="132817" y="398450"/>
                  </a:lnTo>
                  <a:cubicBezTo>
                    <a:pt x="163175" y="429440"/>
                    <a:pt x="171397" y="435765"/>
                    <a:pt x="174559" y="438295"/>
                  </a:cubicBezTo>
                  <a:lnTo>
                    <a:pt x="178354" y="440825"/>
                  </a:lnTo>
                  <a:lnTo>
                    <a:pt x="182148" y="438927"/>
                  </a:lnTo>
                  <a:cubicBezTo>
                    <a:pt x="185311" y="437662"/>
                    <a:pt x="191003" y="434500"/>
                    <a:pt x="199225" y="429440"/>
                  </a:cubicBezTo>
                  <a:cubicBezTo>
                    <a:pt x="204285" y="426278"/>
                    <a:pt x="208079" y="424381"/>
                    <a:pt x="211874" y="423116"/>
                  </a:cubicBezTo>
                  <a:cubicBezTo>
                    <a:pt x="215669" y="425013"/>
                    <a:pt x="223891" y="428808"/>
                    <a:pt x="240967" y="436397"/>
                  </a:cubicBezTo>
                  <a:cubicBezTo>
                    <a:pt x="241600" y="438927"/>
                    <a:pt x="242865" y="443987"/>
                    <a:pt x="244762" y="450944"/>
                  </a:cubicBezTo>
                  <a:cubicBezTo>
                    <a:pt x="246659" y="459798"/>
                    <a:pt x="248557" y="466123"/>
                    <a:pt x="251087" y="471183"/>
                  </a:cubicBezTo>
                  <a:lnTo>
                    <a:pt x="252984" y="475610"/>
                  </a:lnTo>
                  <a:lnTo>
                    <a:pt x="318760" y="475610"/>
                  </a:lnTo>
                  <a:lnTo>
                    <a:pt x="320657" y="471183"/>
                  </a:lnTo>
                  <a:cubicBezTo>
                    <a:pt x="322555" y="467388"/>
                    <a:pt x="324452" y="460431"/>
                    <a:pt x="326982" y="449679"/>
                  </a:cubicBezTo>
                  <a:cubicBezTo>
                    <a:pt x="328247" y="442722"/>
                    <a:pt x="330144" y="438295"/>
                    <a:pt x="331409" y="435765"/>
                  </a:cubicBezTo>
                  <a:cubicBezTo>
                    <a:pt x="340896" y="433868"/>
                    <a:pt x="351015" y="429440"/>
                    <a:pt x="361135" y="424381"/>
                  </a:cubicBezTo>
                  <a:cubicBezTo>
                    <a:pt x="371254" y="430705"/>
                    <a:pt x="381373" y="436397"/>
                    <a:pt x="391493" y="441457"/>
                  </a:cubicBezTo>
                  <a:lnTo>
                    <a:pt x="396552" y="443987"/>
                  </a:lnTo>
                  <a:lnTo>
                    <a:pt x="400347" y="440192"/>
                  </a:lnTo>
                  <a:cubicBezTo>
                    <a:pt x="432603" y="408569"/>
                    <a:pt x="438927" y="400347"/>
                    <a:pt x="441457" y="397185"/>
                  </a:cubicBezTo>
                  <a:lnTo>
                    <a:pt x="444619" y="392125"/>
                  </a:lnTo>
                  <a:lnTo>
                    <a:pt x="440825" y="387698"/>
                  </a:lnTo>
                  <a:cubicBezTo>
                    <a:pt x="438295" y="384536"/>
                    <a:pt x="435133" y="379476"/>
                    <a:pt x="431338" y="373151"/>
                  </a:cubicBezTo>
                  <a:cubicBezTo>
                    <a:pt x="428808" y="368092"/>
                    <a:pt x="426278" y="364297"/>
                    <a:pt x="424381" y="361135"/>
                  </a:cubicBezTo>
                  <a:cubicBezTo>
                    <a:pt x="426911" y="357340"/>
                    <a:pt x="429440" y="352280"/>
                    <a:pt x="431970" y="345323"/>
                  </a:cubicBezTo>
                  <a:cubicBezTo>
                    <a:pt x="436397" y="338366"/>
                    <a:pt x="438295" y="333939"/>
                    <a:pt x="439560" y="331409"/>
                  </a:cubicBezTo>
                  <a:close/>
                  <a:moveTo>
                    <a:pt x="429440" y="316862"/>
                  </a:moveTo>
                  <a:lnTo>
                    <a:pt x="427543" y="320025"/>
                  </a:lnTo>
                  <a:cubicBezTo>
                    <a:pt x="425646" y="323820"/>
                    <a:pt x="422483" y="330144"/>
                    <a:pt x="418689" y="340263"/>
                  </a:cubicBezTo>
                  <a:cubicBezTo>
                    <a:pt x="415526" y="349750"/>
                    <a:pt x="412364" y="353545"/>
                    <a:pt x="411099" y="355443"/>
                  </a:cubicBezTo>
                  <a:lnTo>
                    <a:pt x="406672" y="359870"/>
                  </a:lnTo>
                  <a:lnTo>
                    <a:pt x="409834" y="364929"/>
                  </a:lnTo>
                  <a:cubicBezTo>
                    <a:pt x="410467" y="366194"/>
                    <a:pt x="412364" y="369357"/>
                    <a:pt x="419321" y="380741"/>
                  </a:cubicBezTo>
                  <a:cubicBezTo>
                    <a:pt x="421851" y="385168"/>
                    <a:pt x="423748" y="388963"/>
                    <a:pt x="426278" y="392125"/>
                  </a:cubicBezTo>
                  <a:cubicBezTo>
                    <a:pt x="421851" y="397185"/>
                    <a:pt x="412996" y="406672"/>
                    <a:pt x="394655" y="425013"/>
                  </a:cubicBezTo>
                  <a:cubicBezTo>
                    <a:pt x="385168" y="420586"/>
                    <a:pt x="376314" y="414894"/>
                    <a:pt x="367459" y="408569"/>
                  </a:cubicBezTo>
                  <a:lnTo>
                    <a:pt x="363032" y="406039"/>
                  </a:lnTo>
                  <a:lnTo>
                    <a:pt x="358605" y="408569"/>
                  </a:lnTo>
                  <a:cubicBezTo>
                    <a:pt x="347221" y="415526"/>
                    <a:pt x="335836" y="419953"/>
                    <a:pt x="325717" y="421851"/>
                  </a:cubicBezTo>
                  <a:lnTo>
                    <a:pt x="322555" y="422483"/>
                  </a:lnTo>
                  <a:lnTo>
                    <a:pt x="320657" y="425013"/>
                  </a:lnTo>
                  <a:cubicBezTo>
                    <a:pt x="317495" y="429440"/>
                    <a:pt x="315598" y="436397"/>
                    <a:pt x="313068" y="446517"/>
                  </a:cubicBezTo>
                  <a:cubicBezTo>
                    <a:pt x="311803" y="452841"/>
                    <a:pt x="310538" y="457269"/>
                    <a:pt x="309273" y="459798"/>
                  </a:cubicBezTo>
                  <a:lnTo>
                    <a:pt x="263736" y="459798"/>
                  </a:lnTo>
                  <a:cubicBezTo>
                    <a:pt x="263103" y="457269"/>
                    <a:pt x="261838" y="452841"/>
                    <a:pt x="260574" y="447782"/>
                  </a:cubicBezTo>
                  <a:cubicBezTo>
                    <a:pt x="258676" y="438295"/>
                    <a:pt x="256779" y="431970"/>
                    <a:pt x="254881" y="428175"/>
                  </a:cubicBezTo>
                  <a:lnTo>
                    <a:pt x="254249" y="425013"/>
                  </a:lnTo>
                  <a:lnTo>
                    <a:pt x="251087" y="423748"/>
                  </a:lnTo>
                  <a:cubicBezTo>
                    <a:pt x="223891" y="411731"/>
                    <a:pt x="218199" y="409202"/>
                    <a:pt x="217566" y="408569"/>
                  </a:cubicBezTo>
                  <a:lnTo>
                    <a:pt x="214404" y="406672"/>
                  </a:lnTo>
                  <a:lnTo>
                    <a:pt x="210609" y="407937"/>
                  </a:lnTo>
                  <a:cubicBezTo>
                    <a:pt x="204917" y="409834"/>
                    <a:pt x="198592" y="412364"/>
                    <a:pt x="191635" y="417424"/>
                  </a:cubicBezTo>
                  <a:cubicBezTo>
                    <a:pt x="186576" y="420586"/>
                    <a:pt x="182781" y="422483"/>
                    <a:pt x="180884" y="423748"/>
                  </a:cubicBezTo>
                  <a:cubicBezTo>
                    <a:pt x="176456" y="419953"/>
                    <a:pt x="166969" y="411099"/>
                    <a:pt x="148628" y="392758"/>
                  </a:cubicBezTo>
                  <a:cubicBezTo>
                    <a:pt x="150525" y="388963"/>
                    <a:pt x="154953" y="380741"/>
                    <a:pt x="163807" y="365562"/>
                  </a:cubicBezTo>
                  <a:lnTo>
                    <a:pt x="165705" y="362400"/>
                  </a:lnTo>
                  <a:lnTo>
                    <a:pt x="164440" y="359237"/>
                  </a:lnTo>
                  <a:cubicBezTo>
                    <a:pt x="163807" y="357340"/>
                    <a:pt x="162542" y="354178"/>
                    <a:pt x="156218" y="340263"/>
                  </a:cubicBezTo>
                  <a:cubicBezTo>
                    <a:pt x="153055" y="333306"/>
                    <a:pt x="151158" y="327614"/>
                    <a:pt x="150525" y="322555"/>
                  </a:cubicBezTo>
                  <a:lnTo>
                    <a:pt x="149893" y="316862"/>
                  </a:lnTo>
                  <a:lnTo>
                    <a:pt x="144201" y="316230"/>
                  </a:lnTo>
                  <a:cubicBezTo>
                    <a:pt x="139774" y="315598"/>
                    <a:pt x="133449" y="314333"/>
                    <a:pt x="126492" y="312435"/>
                  </a:cubicBezTo>
                  <a:cubicBezTo>
                    <a:pt x="121432" y="311170"/>
                    <a:pt x="117638" y="309905"/>
                    <a:pt x="113843" y="309273"/>
                  </a:cubicBezTo>
                  <a:lnTo>
                    <a:pt x="113843" y="264368"/>
                  </a:lnTo>
                  <a:cubicBezTo>
                    <a:pt x="117005" y="263736"/>
                    <a:pt x="120800" y="262471"/>
                    <a:pt x="125227" y="261206"/>
                  </a:cubicBezTo>
                  <a:cubicBezTo>
                    <a:pt x="131552" y="259309"/>
                    <a:pt x="137244" y="258044"/>
                    <a:pt x="141671" y="257411"/>
                  </a:cubicBezTo>
                  <a:lnTo>
                    <a:pt x="145466" y="256779"/>
                  </a:lnTo>
                  <a:lnTo>
                    <a:pt x="147363" y="253616"/>
                  </a:lnTo>
                  <a:cubicBezTo>
                    <a:pt x="149261" y="250454"/>
                    <a:pt x="151790" y="244130"/>
                    <a:pt x="156218" y="234010"/>
                  </a:cubicBezTo>
                  <a:cubicBezTo>
                    <a:pt x="159380" y="226421"/>
                    <a:pt x="161910" y="220729"/>
                    <a:pt x="164440" y="217566"/>
                  </a:cubicBezTo>
                  <a:lnTo>
                    <a:pt x="166969" y="213771"/>
                  </a:lnTo>
                  <a:lnTo>
                    <a:pt x="164440" y="209344"/>
                  </a:lnTo>
                  <a:cubicBezTo>
                    <a:pt x="157483" y="196695"/>
                    <a:pt x="152423" y="187841"/>
                    <a:pt x="147996" y="181516"/>
                  </a:cubicBezTo>
                  <a:cubicBezTo>
                    <a:pt x="152423" y="176456"/>
                    <a:pt x="161277" y="166969"/>
                    <a:pt x="180251" y="149261"/>
                  </a:cubicBezTo>
                  <a:cubicBezTo>
                    <a:pt x="191635" y="154953"/>
                    <a:pt x="201122" y="160645"/>
                    <a:pt x="207447" y="165072"/>
                  </a:cubicBezTo>
                  <a:lnTo>
                    <a:pt x="211874" y="165705"/>
                  </a:lnTo>
                  <a:lnTo>
                    <a:pt x="216301" y="163807"/>
                  </a:lnTo>
                  <a:cubicBezTo>
                    <a:pt x="243497" y="151790"/>
                    <a:pt x="249189" y="150525"/>
                    <a:pt x="250454" y="150525"/>
                  </a:cubicBezTo>
                  <a:lnTo>
                    <a:pt x="256146" y="150525"/>
                  </a:lnTo>
                  <a:lnTo>
                    <a:pt x="258044" y="145466"/>
                  </a:lnTo>
                  <a:cubicBezTo>
                    <a:pt x="258676" y="142936"/>
                    <a:pt x="260574" y="136611"/>
                    <a:pt x="263736" y="125860"/>
                  </a:cubicBezTo>
                  <a:cubicBezTo>
                    <a:pt x="265001" y="120800"/>
                    <a:pt x="266266" y="116373"/>
                    <a:pt x="267531" y="112578"/>
                  </a:cubicBezTo>
                  <a:lnTo>
                    <a:pt x="311803" y="112578"/>
                  </a:lnTo>
                  <a:cubicBezTo>
                    <a:pt x="313700" y="118902"/>
                    <a:pt x="316862" y="129022"/>
                    <a:pt x="320657" y="143568"/>
                  </a:cubicBezTo>
                  <a:lnTo>
                    <a:pt x="321290" y="147363"/>
                  </a:lnTo>
                  <a:lnTo>
                    <a:pt x="324452" y="148628"/>
                  </a:lnTo>
                  <a:cubicBezTo>
                    <a:pt x="326982" y="149893"/>
                    <a:pt x="332674" y="152423"/>
                    <a:pt x="342793" y="156218"/>
                  </a:cubicBezTo>
                  <a:cubicBezTo>
                    <a:pt x="351648" y="159380"/>
                    <a:pt x="355443" y="161910"/>
                    <a:pt x="357972" y="163807"/>
                  </a:cubicBezTo>
                  <a:lnTo>
                    <a:pt x="361135" y="166337"/>
                  </a:lnTo>
                  <a:lnTo>
                    <a:pt x="364929" y="165072"/>
                  </a:lnTo>
                  <a:cubicBezTo>
                    <a:pt x="370622" y="163175"/>
                    <a:pt x="376946" y="160645"/>
                    <a:pt x="383903" y="155585"/>
                  </a:cubicBezTo>
                  <a:cubicBezTo>
                    <a:pt x="388963" y="152423"/>
                    <a:pt x="392758" y="149893"/>
                    <a:pt x="395288" y="148628"/>
                  </a:cubicBezTo>
                  <a:cubicBezTo>
                    <a:pt x="399715" y="151790"/>
                    <a:pt x="405407" y="156850"/>
                    <a:pt x="411731" y="163807"/>
                  </a:cubicBezTo>
                  <a:cubicBezTo>
                    <a:pt x="418689" y="170764"/>
                    <a:pt x="423748" y="175824"/>
                    <a:pt x="428175" y="179619"/>
                  </a:cubicBezTo>
                  <a:cubicBezTo>
                    <a:pt x="421218" y="191635"/>
                    <a:pt x="416159" y="201122"/>
                    <a:pt x="412364" y="206814"/>
                  </a:cubicBezTo>
                  <a:lnTo>
                    <a:pt x="409834" y="209977"/>
                  </a:lnTo>
                  <a:lnTo>
                    <a:pt x="411099" y="213771"/>
                  </a:lnTo>
                  <a:cubicBezTo>
                    <a:pt x="426278" y="258044"/>
                    <a:pt x="426911" y="259309"/>
                    <a:pt x="433868" y="257411"/>
                  </a:cubicBezTo>
                  <a:cubicBezTo>
                    <a:pt x="438295" y="258044"/>
                    <a:pt x="443354" y="259309"/>
                    <a:pt x="449047" y="261206"/>
                  </a:cubicBezTo>
                  <a:cubicBezTo>
                    <a:pt x="454106" y="262471"/>
                    <a:pt x="457901" y="263736"/>
                    <a:pt x="461696" y="264368"/>
                  </a:cubicBezTo>
                  <a:lnTo>
                    <a:pt x="461696" y="309905"/>
                  </a:lnTo>
                  <a:cubicBezTo>
                    <a:pt x="458534" y="310538"/>
                    <a:pt x="454739" y="311803"/>
                    <a:pt x="450312" y="313068"/>
                  </a:cubicBezTo>
                  <a:cubicBezTo>
                    <a:pt x="443987" y="314965"/>
                    <a:pt x="438295" y="316230"/>
                    <a:pt x="433868" y="316862"/>
                  </a:cubicBezTo>
                  <a:lnTo>
                    <a:pt x="429440" y="31686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grpSp>
      <p:grpSp>
        <p:nvGrpSpPr>
          <p:cNvPr id="1062" name="Google Shape;1062;p117"/>
          <p:cNvGrpSpPr/>
          <p:nvPr/>
        </p:nvGrpSpPr>
        <p:grpSpPr>
          <a:xfrm>
            <a:off x="8679257" y="4575310"/>
            <a:ext cx="636388" cy="636388"/>
            <a:chOff x="8807525" y="4413558"/>
            <a:chExt cx="636554" cy="636554"/>
          </a:xfrm>
        </p:grpSpPr>
        <p:sp>
          <p:nvSpPr>
            <p:cNvPr id="1063" name="Google Shape;1063;p117"/>
            <p:cNvSpPr/>
            <p:nvPr/>
          </p:nvSpPr>
          <p:spPr>
            <a:xfrm rot="10800000" flipH="1">
              <a:off x="8807525" y="4413558"/>
              <a:ext cx="636554" cy="636554"/>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1064" name="Google Shape;1064;p117" descr="Open Ecosystem&#10;"/>
            <p:cNvGrpSpPr/>
            <p:nvPr/>
          </p:nvGrpSpPr>
          <p:grpSpPr>
            <a:xfrm>
              <a:off x="8881198" y="4487797"/>
              <a:ext cx="489208" cy="488077"/>
              <a:chOff x="535440" y="1951551"/>
              <a:chExt cx="592582" cy="591223"/>
            </a:xfrm>
          </p:grpSpPr>
          <p:sp>
            <p:nvSpPr>
              <p:cNvPr id="1065" name="Google Shape;1065;p117"/>
              <p:cNvSpPr/>
              <p:nvPr/>
            </p:nvSpPr>
            <p:spPr>
              <a:xfrm>
                <a:off x="535440" y="1951551"/>
                <a:ext cx="592582" cy="591223"/>
              </a:xfrm>
              <a:custGeom>
                <a:avLst/>
                <a:gdLst/>
                <a:ahLst/>
                <a:cxnLst/>
                <a:rect l="l" t="t" r="r" b="b"/>
                <a:pathLst>
                  <a:path w="592582" h="591223" extrusionOk="0">
                    <a:moveTo>
                      <a:pt x="296418" y="591224"/>
                    </a:moveTo>
                    <a:lnTo>
                      <a:pt x="296418" y="591224"/>
                    </a:lnTo>
                    <a:cubicBezTo>
                      <a:pt x="283106" y="591224"/>
                      <a:pt x="269810" y="590338"/>
                      <a:pt x="256617" y="588567"/>
                    </a:cubicBezTo>
                    <a:lnTo>
                      <a:pt x="258772" y="572882"/>
                    </a:lnTo>
                    <a:cubicBezTo>
                      <a:pt x="271248" y="574584"/>
                      <a:pt x="283826" y="575431"/>
                      <a:pt x="296418" y="575412"/>
                    </a:cubicBezTo>
                    <a:lnTo>
                      <a:pt x="296418" y="575412"/>
                    </a:lnTo>
                    <a:cubicBezTo>
                      <a:pt x="304340" y="575412"/>
                      <a:pt x="312389" y="575412"/>
                      <a:pt x="320312" y="574400"/>
                    </a:cubicBezTo>
                    <a:lnTo>
                      <a:pt x="321642" y="590148"/>
                    </a:lnTo>
                    <a:cubicBezTo>
                      <a:pt x="313277" y="590844"/>
                      <a:pt x="304784" y="591224"/>
                      <a:pt x="296418" y="591224"/>
                    </a:cubicBezTo>
                    <a:close/>
                    <a:moveTo>
                      <a:pt x="353965" y="585658"/>
                    </a:moveTo>
                    <a:lnTo>
                      <a:pt x="350860" y="570099"/>
                    </a:lnTo>
                    <a:cubicBezTo>
                      <a:pt x="371082" y="566140"/>
                      <a:pt x="390806" y="559967"/>
                      <a:pt x="409674" y="551695"/>
                    </a:cubicBezTo>
                    <a:lnTo>
                      <a:pt x="416012" y="566115"/>
                    </a:lnTo>
                    <a:cubicBezTo>
                      <a:pt x="396108" y="574875"/>
                      <a:pt x="375301" y="581427"/>
                      <a:pt x="353965" y="585658"/>
                    </a:cubicBezTo>
                    <a:close/>
                    <a:moveTo>
                      <a:pt x="224484" y="582496"/>
                    </a:moveTo>
                    <a:cubicBezTo>
                      <a:pt x="203326" y="577215"/>
                      <a:pt x="182816" y="569619"/>
                      <a:pt x="163325" y="559854"/>
                    </a:cubicBezTo>
                    <a:lnTo>
                      <a:pt x="170486" y="545750"/>
                    </a:lnTo>
                    <a:cubicBezTo>
                      <a:pt x="188895" y="555003"/>
                      <a:pt x="208282" y="562175"/>
                      <a:pt x="228287" y="567127"/>
                    </a:cubicBezTo>
                    <a:close/>
                    <a:moveTo>
                      <a:pt x="445229" y="551252"/>
                    </a:moveTo>
                    <a:lnTo>
                      <a:pt x="437307" y="537591"/>
                    </a:lnTo>
                    <a:cubicBezTo>
                      <a:pt x="455067" y="527258"/>
                      <a:pt x="471643" y="515021"/>
                      <a:pt x="486742" y="501098"/>
                    </a:cubicBezTo>
                    <a:lnTo>
                      <a:pt x="497516" y="512735"/>
                    </a:lnTo>
                    <a:cubicBezTo>
                      <a:pt x="481535" y="527424"/>
                      <a:pt x="464004" y="540339"/>
                      <a:pt x="445229" y="551252"/>
                    </a:cubicBezTo>
                    <a:close/>
                    <a:moveTo>
                      <a:pt x="135185" y="543663"/>
                    </a:moveTo>
                    <a:cubicBezTo>
                      <a:pt x="116816" y="531819"/>
                      <a:pt x="99813" y="517990"/>
                      <a:pt x="84483" y="502426"/>
                    </a:cubicBezTo>
                    <a:lnTo>
                      <a:pt x="95827" y="491358"/>
                    </a:lnTo>
                    <a:cubicBezTo>
                      <a:pt x="110244" y="506083"/>
                      <a:pt x="126249" y="519171"/>
                      <a:pt x="143551" y="530381"/>
                    </a:cubicBezTo>
                    <a:close/>
                    <a:moveTo>
                      <a:pt x="520332" y="489208"/>
                    </a:moveTo>
                    <a:lnTo>
                      <a:pt x="508354" y="478835"/>
                    </a:lnTo>
                    <a:cubicBezTo>
                      <a:pt x="521859" y="463303"/>
                      <a:pt x="533612" y="446335"/>
                      <a:pt x="543401" y="428239"/>
                    </a:cubicBezTo>
                    <a:lnTo>
                      <a:pt x="557345" y="435702"/>
                    </a:lnTo>
                    <a:cubicBezTo>
                      <a:pt x="546994" y="454858"/>
                      <a:pt x="534538" y="472804"/>
                      <a:pt x="520205" y="489208"/>
                    </a:cubicBezTo>
                    <a:close/>
                    <a:moveTo>
                      <a:pt x="63124" y="478013"/>
                    </a:moveTo>
                    <a:cubicBezTo>
                      <a:pt x="49683" y="460897"/>
                      <a:pt x="38163" y="442360"/>
                      <a:pt x="28774" y="422736"/>
                    </a:cubicBezTo>
                    <a:lnTo>
                      <a:pt x="43034" y="415969"/>
                    </a:lnTo>
                    <a:cubicBezTo>
                      <a:pt x="51957" y="434499"/>
                      <a:pt x="62857" y="452014"/>
                      <a:pt x="75546" y="468210"/>
                    </a:cubicBezTo>
                    <a:close/>
                    <a:moveTo>
                      <a:pt x="571098" y="406229"/>
                    </a:moveTo>
                    <a:lnTo>
                      <a:pt x="556457" y="400284"/>
                    </a:lnTo>
                    <a:cubicBezTo>
                      <a:pt x="564145" y="381195"/>
                      <a:pt x="569716" y="361322"/>
                      <a:pt x="573062" y="341022"/>
                    </a:cubicBezTo>
                    <a:lnTo>
                      <a:pt x="588717" y="343616"/>
                    </a:lnTo>
                    <a:cubicBezTo>
                      <a:pt x="585180" y="365072"/>
                      <a:pt x="579273" y="386071"/>
                      <a:pt x="571098" y="406229"/>
                    </a:cubicBezTo>
                    <a:close/>
                    <a:moveTo>
                      <a:pt x="16351" y="392631"/>
                    </a:moveTo>
                    <a:cubicBezTo>
                      <a:pt x="9213" y="372145"/>
                      <a:pt x="4366" y="350934"/>
                      <a:pt x="1901" y="329385"/>
                    </a:cubicBezTo>
                    <a:lnTo>
                      <a:pt x="17619" y="327551"/>
                    </a:lnTo>
                    <a:cubicBezTo>
                      <a:pt x="19989" y="347891"/>
                      <a:pt x="24579" y="367911"/>
                      <a:pt x="31309" y="387255"/>
                    </a:cubicBezTo>
                    <a:close/>
                    <a:moveTo>
                      <a:pt x="592139" y="311360"/>
                    </a:moveTo>
                    <a:lnTo>
                      <a:pt x="576358" y="310538"/>
                    </a:lnTo>
                    <a:cubicBezTo>
                      <a:pt x="576358" y="305605"/>
                      <a:pt x="576738" y="300672"/>
                      <a:pt x="576738" y="295675"/>
                    </a:cubicBezTo>
                    <a:cubicBezTo>
                      <a:pt x="576726" y="280058"/>
                      <a:pt x="575433" y="264469"/>
                      <a:pt x="572872" y="249063"/>
                    </a:cubicBezTo>
                    <a:lnTo>
                      <a:pt x="588463" y="246470"/>
                    </a:lnTo>
                    <a:cubicBezTo>
                      <a:pt x="591201" y="262729"/>
                      <a:pt x="592576" y="279187"/>
                      <a:pt x="592583" y="295675"/>
                    </a:cubicBezTo>
                    <a:cubicBezTo>
                      <a:pt x="592583" y="300798"/>
                      <a:pt x="592456" y="306047"/>
                      <a:pt x="592139" y="311360"/>
                    </a:cubicBezTo>
                    <a:close/>
                    <a:moveTo>
                      <a:pt x="15844" y="296813"/>
                    </a:moveTo>
                    <a:lnTo>
                      <a:pt x="0" y="296813"/>
                    </a:lnTo>
                    <a:lnTo>
                      <a:pt x="0" y="295738"/>
                    </a:lnTo>
                    <a:cubicBezTo>
                      <a:pt x="1" y="273978"/>
                      <a:pt x="2380" y="252283"/>
                      <a:pt x="7098" y="231038"/>
                    </a:cubicBezTo>
                    <a:lnTo>
                      <a:pt x="22563" y="234516"/>
                    </a:lnTo>
                    <a:cubicBezTo>
                      <a:pt x="18100" y="254598"/>
                      <a:pt x="15848" y="275106"/>
                      <a:pt x="15844" y="295675"/>
                    </a:cubicBezTo>
                    <a:close/>
                    <a:moveTo>
                      <a:pt x="566091" y="219021"/>
                    </a:moveTo>
                    <a:cubicBezTo>
                      <a:pt x="560418" y="199257"/>
                      <a:pt x="552595" y="180170"/>
                      <a:pt x="542768" y="162100"/>
                    </a:cubicBezTo>
                    <a:lnTo>
                      <a:pt x="556711" y="154573"/>
                    </a:lnTo>
                    <a:cubicBezTo>
                      <a:pt x="567130" y="173665"/>
                      <a:pt x="575382" y="193861"/>
                      <a:pt x="581301" y="214783"/>
                    </a:cubicBezTo>
                    <a:close/>
                    <a:moveTo>
                      <a:pt x="30928" y="204727"/>
                    </a:moveTo>
                    <a:lnTo>
                      <a:pt x="15971" y="199541"/>
                    </a:lnTo>
                    <a:cubicBezTo>
                      <a:pt x="23025" y="178923"/>
                      <a:pt x="32356" y="159153"/>
                      <a:pt x="43794" y="140596"/>
                    </a:cubicBezTo>
                    <a:lnTo>
                      <a:pt x="57294" y="148881"/>
                    </a:lnTo>
                    <a:cubicBezTo>
                      <a:pt x="46469" y="166469"/>
                      <a:pt x="37626" y="185199"/>
                      <a:pt x="30928" y="204727"/>
                    </a:cubicBezTo>
                    <a:close/>
                    <a:moveTo>
                      <a:pt x="526543" y="135726"/>
                    </a:moveTo>
                    <a:cubicBezTo>
                      <a:pt x="514734" y="118842"/>
                      <a:pt x="501111" y="103297"/>
                      <a:pt x="485918" y="89367"/>
                    </a:cubicBezTo>
                    <a:lnTo>
                      <a:pt x="496692" y="77729"/>
                    </a:lnTo>
                    <a:cubicBezTo>
                      <a:pt x="512707" y="92451"/>
                      <a:pt x="527072" y="108865"/>
                      <a:pt x="539535" y="126682"/>
                    </a:cubicBezTo>
                    <a:close/>
                    <a:moveTo>
                      <a:pt x="74913" y="123709"/>
                    </a:moveTo>
                    <a:lnTo>
                      <a:pt x="62237" y="114033"/>
                    </a:lnTo>
                    <a:cubicBezTo>
                      <a:pt x="75580" y="96861"/>
                      <a:pt x="90800" y="81226"/>
                      <a:pt x="107616" y="67420"/>
                    </a:cubicBezTo>
                    <a:lnTo>
                      <a:pt x="117693" y="79563"/>
                    </a:lnTo>
                    <a:cubicBezTo>
                      <a:pt x="101870" y="92687"/>
                      <a:pt x="87526" y="107489"/>
                      <a:pt x="74913" y="123709"/>
                    </a:cubicBezTo>
                    <a:close/>
                    <a:moveTo>
                      <a:pt x="462088" y="69824"/>
                    </a:moveTo>
                    <a:cubicBezTo>
                      <a:pt x="445475" y="57616"/>
                      <a:pt x="427556" y="47286"/>
                      <a:pt x="408660" y="39023"/>
                    </a:cubicBezTo>
                    <a:lnTo>
                      <a:pt x="414998" y="24539"/>
                    </a:lnTo>
                    <a:cubicBezTo>
                      <a:pt x="434949" y="33295"/>
                      <a:pt x="453885" y="44196"/>
                      <a:pt x="471468" y="57048"/>
                    </a:cubicBezTo>
                    <a:close/>
                    <a:moveTo>
                      <a:pt x="142727" y="61285"/>
                    </a:moveTo>
                    <a:lnTo>
                      <a:pt x="134044" y="48067"/>
                    </a:lnTo>
                    <a:cubicBezTo>
                      <a:pt x="152275" y="36162"/>
                      <a:pt x="171765" y="26300"/>
                      <a:pt x="192162" y="18658"/>
                    </a:cubicBezTo>
                    <a:lnTo>
                      <a:pt x="198056" y="33457"/>
                    </a:lnTo>
                    <a:cubicBezTo>
                      <a:pt x="178651" y="40692"/>
                      <a:pt x="160097" y="50023"/>
                      <a:pt x="142727" y="61285"/>
                    </a:cubicBezTo>
                    <a:close/>
                    <a:moveTo>
                      <a:pt x="379697" y="28271"/>
                    </a:moveTo>
                    <a:cubicBezTo>
                      <a:pt x="360008" y="22185"/>
                      <a:pt x="339713" y="18261"/>
                      <a:pt x="319171" y="16570"/>
                    </a:cubicBezTo>
                    <a:lnTo>
                      <a:pt x="320438" y="822"/>
                    </a:lnTo>
                    <a:cubicBezTo>
                      <a:pt x="342161" y="2601"/>
                      <a:pt x="363625" y="6736"/>
                      <a:pt x="384450" y="13155"/>
                    </a:cubicBezTo>
                    <a:close/>
                    <a:moveTo>
                      <a:pt x="227210" y="24223"/>
                    </a:moveTo>
                    <a:lnTo>
                      <a:pt x="223407" y="8918"/>
                    </a:lnTo>
                    <a:cubicBezTo>
                      <a:pt x="244522" y="3601"/>
                      <a:pt x="266157" y="610"/>
                      <a:pt x="287925" y="0"/>
                    </a:cubicBezTo>
                    <a:lnTo>
                      <a:pt x="288369" y="15812"/>
                    </a:lnTo>
                    <a:cubicBezTo>
                      <a:pt x="267736" y="16379"/>
                      <a:pt x="247227" y="19200"/>
                      <a:pt x="227210" y="2422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66" name="Google Shape;1066;p117"/>
              <p:cNvSpPr/>
              <p:nvPr/>
            </p:nvSpPr>
            <p:spPr>
              <a:xfrm>
                <a:off x="750988" y="2161717"/>
                <a:ext cx="158444" cy="158115"/>
              </a:xfrm>
              <a:custGeom>
                <a:avLst/>
                <a:gdLst/>
                <a:ahLst/>
                <a:cxnLst/>
                <a:rect l="l" t="t" r="r" b="b"/>
                <a:pathLst>
                  <a:path w="158444" h="158115" extrusionOk="0">
                    <a:moveTo>
                      <a:pt x="79222" y="158115"/>
                    </a:moveTo>
                    <a:cubicBezTo>
                      <a:pt x="35469" y="158115"/>
                      <a:pt x="0" y="122720"/>
                      <a:pt x="0" y="79058"/>
                    </a:cubicBezTo>
                    <a:cubicBezTo>
                      <a:pt x="0" y="35395"/>
                      <a:pt x="35469" y="0"/>
                      <a:pt x="79222" y="0"/>
                    </a:cubicBezTo>
                    <a:cubicBezTo>
                      <a:pt x="122976" y="0"/>
                      <a:pt x="158445" y="35395"/>
                      <a:pt x="158445" y="79058"/>
                    </a:cubicBezTo>
                    <a:cubicBezTo>
                      <a:pt x="158375" y="122691"/>
                      <a:pt x="122947" y="158045"/>
                      <a:pt x="79222" y="158115"/>
                    </a:cubicBezTo>
                    <a:close/>
                    <a:moveTo>
                      <a:pt x="79222" y="15812"/>
                    </a:moveTo>
                    <a:cubicBezTo>
                      <a:pt x="44220" y="15812"/>
                      <a:pt x="15844" y="44128"/>
                      <a:pt x="15844" y="79058"/>
                    </a:cubicBezTo>
                    <a:cubicBezTo>
                      <a:pt x="15844" y="113988"/>
                      <a:pt x="44220" y="142304"/>
                      <a:pt x="79222" y="142304"/>
                    </a:cubicBezTo>
                    <a:cubicBezTo>
                      <a:pt x="114225" y="142304"/>
                      <a:pt x="142600" y="113988"/>
                      <a:pt x="142600" y="79058"/>
                    </a:cubicBezTo>
                    <a:cubicBezTo>
                      <a:pt x="142705" y="44128"/>
                      <a:pt x="114415" y="15727"/>
                      <a:pt x="79412" y="15622"/>
                    </a:cubicBezTo>
                    <a:cubicBezTo>
                      <a:pt x="79349" y="15622"/>
                      <a:pt x="79286" y="15622"/>
                      <a:pt x="79222" y="1562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67" name="Google Shape;1067;p117"/>
              <p:cNvSpPr/>
              <p:nvPr/>
            </p:nvSpPr>
            <p:spPr>
              <a:xfrm>
                <a:off x="790599" y="1998215"/>
                <a:ext cx="79222" cy="143389"/>
              </a:xfrm>
              <a:custGeom>
                <a:avLst/>
                <a:gdLst/>
                <a:ahLst/>
                <a:cxnLst/>
                <a:rect l="l" t="t" r="r" b="b"/>
                <a:pathLst>
                  <a:path w="79222" h="143389" extrusionOk="0">
                    <a:moveTo>
                      <a:pt x="79222" y="39476"/>
                    </a:moveTo>
                    <a:cubicBezTo>
                      <a:pt x="79193" y="17645"/>
                      <a:pt x="61435" y="-29"/>
                      <a:pt x="39559" y="0"/>
                    </a:cubicBezTo>
                    <a:cubicBezTo>
                      <a:pt x="17682" y="29"/>
                      <a:pt x="-29" y="17751"/>
                      <a:pt x="0" y="39582"/>
                    </a:cubicBezTo>
                    <a:cubicBezTo>
                      <a:pt x="25" y="58321"/>
                      <a:pt x="13233" y="74468"/>
                      <a:pt x="31626" y="78246"/>
                    </a:cubicBezTo>
                    <a:lnTo>
                      <a:pt x="31626" y="143389"/>
                    </a:lnTo>
                    <a:lnTo>
                      <a:pt x="47470" y="143389"/>
                    </a:lnTo>
                    <a:lnTo>
                      <a:pt x="47470" y="78246"/>
                    </a:lnTo>
                    <a:cubicBezTo>
                      <a:pt x="65939" y="74491"/>
                      <a:pt x="79210" y="58286"/>
                      <a:pt x="79222" y="39476"/>
                    </a:cubicBezTo>
                    <a:close/>
                    <a:moveTo>
                      <a:pt x="39611" y="63194"/>
                    </a:moveTo>
                    <a:cubicBezTo>
                      <a:pt x="26485" y="63228"/>
                      <a:pt x="15816" y="52638"/>
                      <a:pt x="15781" y="39540"/>
                    </a:cubicBezTo>
                    <a:cubicBezTo>
                      <a:pt x="15746" y="26441"/>
                      <a:pt x="26358" y="15794"/>
                      <a:pt x="39484" y="15759"/>
                    </a:cubicBezTo>
                    <a:cubicBezTo>
                      <a:pt x="52611" y="15724"/>
                      <a:pt x="63280" y="26315"/>
                      <a:pt x="63314" y="39413"/>
                    </a:cubicBezTo>
                    <a:cubicBezTo>
                      <a:pt x="63314" y="39434"/>
                      <a:pt x="63314" y="39455"/>
                      <a:pt x="63314" y="39476"/>
                    </a:cubicBezTo>
                    <a:cubicBezTo>
                      <a:pt x="63314" y="52550"/>
                      <a:pt x="52713" y="63159"/>
                      <a:pt x="39611" y="6319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68" name="Google Shape;1068;p117"/>
              <p:cNvSpPr/>
              <p:nvPr/>
            </p:nvSpPr>
            <p:spPr>
              <a:xfrm>
                <a:off x="663052" y="2316417"/>
                <a:ext cx="107139" cy="128262"/>
              </a:xfrm>
              <a:custGeom>
                <a:avLst/>
                <a:gdLst/>
                <a:ahLst/>
                <a:cxnLst/>
                <a:rect l="l" t="t" r="r" b="b"/>
                <a:pathLst>
                  <a:path w="107139" h="128262" extrusionOk="0">
                    <a:moveTo>
                      <a:pt x="94274" y="0"/>
                    </a:moveTo>
                    <a:lnTo>
                      <a:pt x="55867" y="52747"/>
                    </a:lnTo>
                    <a:cubicBezTo>
                      <a:pt x="35916" y="43790"/>
                      <a:pt x="12467" y="52668"/>
                      <a:pt x="3491" y="72577"/>
                    </a:cubicBezTo>
                    <a:cubicBezTo>
                      <a:pt x="-4180" y="89592"/>
                      <a:pt x="1115" y="109641"/>
                      <a:pt x="16192" y="120673"/>
                    </a:cubicBezTo>
                    <a:cubicBezTo>
                      <a:pt x="22915" y="125608"/>
                      <a:pt x="31043" y="128268"/>
                      <a:pt x="39388" y="128263"/>
                    </a:cubicBezTo>
                    <a:cubicBezTo>
                      <a:pt x="41511" y="128255"/>
                      <a:pt x="43630" y="128086"/>
                      <a:pt x="45726" y="127757"/>
                    </a:cubicBezTo>
                    <a:cubicBezTo>
                      <a:pt x="67331" y="124326"/>
                      <a:pt x="82057" y="104066"/>
                      <a:pt x="78619" y="82506"/>
                    </a:cubicBezTo>
                    <a:cubicBezTo>
                      <a:pt x="77400" y="74867"/>
                      <a:pt x="73963" y="67753"/>
                      <a:pt x="68732" y="62044"/>
                    </a:cubicBezTo>
                    <a:lnTo>
                      <a:pt x="107139" y="9297"/>
                    </a:lnTo>
                    <a:close/>
                    <a:moveTo>
                      <a:pt x="58719" y="102648"/>
                    </a:moveTo>
                    <a:cubicBezTo>
                      <a:pt x="55010" y="107742"/>
                      <a:pt x="49424" y="111155"/>
                      <a:pt x="43191" y="112135"/>
                    </a:cubicBezTo>
                    <a:cubicBezTo>
                      <a:pt x="30227" y="114188"/>
                      <a:pt x="18050" y="105365"/>
                      <a:pt x="15993" y="92428"/>
                    </a:cubicBezTo>
                    <a:cubicBezTo>
                      <a:pt x="15004" y="86207"/>
                      <a:pt x="16535" y="79850"/>
                      <a:pt x="20248" y="74757"/>
                    </a:cubicBezTo>
                    <a:cubicBezTo>
                      <a:pt x="23957" y="69663"/>
                      <a:pt x="29543" y="66250"/>
                      <a:pt x="35776" y="65270"/>
                    </a:cubicBezTo>
                    <a:cubicBezTo>
                      <a:pt x="37021" y="65173"/>
                      <a:pt x="38270" y="65173"/>
                      <a:pt x="39515" y="65270"/>
                    </a:cubicBezTo>
                    <a:cubicBezTo>
                      <a:pt x="44522" y="65255"/>
                      <a:pt x="49405" y="66828"/>
                      <a:pt x="53458" y="69760"/>
                    </a:cubicBezTo>
                    <a:cubicBezTo>
                      <a:pt x="63864" y="77482"/>
                      <a:pt x="66199" y="92077"/>
                      <a:pt x="58719" y="10264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69" name="Google Shape;1069;p117"/>
              <p:cNvSpPr/>
              <p:nvPr/>
            </p:nvSpPr>
            <p:spPr>
              <a:xfrm>
                <a:off x="890800" y="2316480"/>
                <a:ext cx="106974" cy="128262"/>
              </a:xfrm>
              <a:custGeom>
                <a:avLst/>
                <a:gdLst/>
                <a:ahLst/>
                <a:cxnLst/>
                <a:rect l="l" t="t" r="r" b="b"/>
                <a:pathLst>
                  <a:path w="106974" h="128262" extrusionOk="0">
                    <a:moveTo>
                      <a:pt x="99186" y="65396"/>
                    </a:moveTo>
                    <a:cubicBezTo>
                      <a:pt x="88106" y="50196"/>
                      <a:pt x="67820" y="44903"/>
                      <a:pt x="50702" y="52747"/>
                    </a:cubicBezTo>
                    <a:lnTo>
                      <a:pt x="12676" y="0"/>
                    </a:lnTo>
                    <a:lnTo>
                      <a:pt x="0" y="9297"/>
                    </a:lnTo>
                    <a:lnTo>
                      <a:pt x="38407" y="62044"/>
                    </a:lnTo>
                    <a:cubicBezTo>
                      <a:pt x="23644" y="78155"/>
                      <a:pt x="24764" y="103159"/>
                      <a:pt x="40908" y="117891"/>
                    </a:cubicBezTo>
                    <a:cubicBezTo>
                      <a:pt x="46628" y="123111"/>
                      <a:pt x="53758" y="126541"/>
                      <a:pt x="61413" y="127757"/>
                    </a:cubicBezTo>
                    <a:cubicBezTo>
                      <a:pt x="63510" y="128083"/>
                      <a:pt x="65628" y="128252"/>
                      <a:pt x="67751" y="128263"/>
                    </a:cubicBezTo>
                    <a:cubicBezTo>
                      <a:pt x="89661" y="128014"/>
                      <a:pt x="107221" y="110089"/>
                      <a:pt x="106972" y="88224"/>
                    </a:cubicBezTo>
                    <a:cubicBezTo>
                      <a:pt x="106879" y="80042"/>
                      <a:pt x="104248" y="72088"/>
                      <a:pt x="99440" y="65460"/>
                    </a:cubicBezTo>
                    <a:close/>
                    <a:moveTo>
                      <a:pt x="90630" y="92339"/>
                    </a:moveTo>
                    <a:cubicBezTo>
                      <a:pt x="88635" y="105321"/>
                      <a:pt x="76472" y="114231"/>
                      <a:pt x="63463" y="112240"/>
                    </a:cubicBezTo>
                    <a:cubicBezTo>
                      <a:pt x="50454" y="110249"/>
                      <a:pt x="41526" y="98111"/>
                      <a:pt x="43521" y="85129"/>
                    </a:cubicBezTo>
                    <a:cubicBezTo>
                      <a:pt x="45303" y="73532"/>
                      <a:pt x="55296" y="64964"/>
                      <a:pt x="67054" y="64954"/>
                    </a:cubicBezTo>
                    <a:cubicBezTo>
                      <a:pt x="68319" y="64859"/>
                      <a:pt x="69591" y="64859"/>
                      <a:pt x="70856" y="64954"/>
                    </a:cubicBezTo>
                    <a:cubicBezTo>
                      <a:pt x="77089" y="65934"/>
                      <a:pt x="82675" y="69347"/>
                      <a:pt x="86384" y="74441"/>
                    </a:cubicBezTo>
                    <a:cubicBezTo>
                      <a:pt x="90128" y="79606"/>
                      <a:pt x="91656" y="86047"/>
                      <a:pt x="90630" y="9233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70" name="Google Shape;1070;p117"/>
              <p:cNvSpPr/>
              <p:nvPr/>
            </p:nvSpPr>
            <p:spPr>
              <a:xfrm>
                <a:off x="596608" y="2135858"/>
                <a:ext cx="141070" cy="79175"/>
              </a:xfrm>
              <a:custGeom>
                <a:avLst/>
                <a:gdLst/>
                <a:ahLst/>
                <a:cxnLst/>
                <a:rect l="l" t="t" r="r" b="b"/>
                <a:pathLst>
                  <a:path w="141070" h="79175" extrusionOk="0">
                    <a:moveTo>
                      <a:pt x="51898" y="1952"/>
                    </a:moveTo>
                    <a:cubicBezTo>
                      <a:pt x="31089" y="-4807"/>
                      <a:pt x="8730" y="6548"/>
                      <a:pt x="1956" y="27314"/>
                    </a:cubicBezTo>
                    <a:cubicBezTo>
                      <a:pt x="-4817" y="48079"/>
                      <a:pt x="6562" y="70393"/>
                      <a:pt x="27371" y="77152"/>
                    </a:cubicBezTo>
                    <a:cubicBezTo>
                      <a:pt x="31339" y="78453"/>
                      <a:pt x="35490" y="79115"/>
                      <a:pt x="39666" y="79112"/>
                    </a:cubicBezTo>
                    <a:cubicBezTo>
                      <a:pt x="53920" y="79107"/>
                      <a:pt x="67068" y="71447"/>
                      <a:pt x="74080" y="59063"/>
                    </a:cubicBezTo>
                    <a:lnTo>
                      <a:pt x="136191" y="79176"/>
                    </a:lnTo>
                    <a:lnTo>
                      <a:pt x="141071" y="64186"/>
                    </a:lnTo>
                    <a:lnTo>
                      <a:pt x="78960" y="44011"/>
                    </a:lnTo>
                    <a:cubicBezTo>
                      <a:pt x="81068" y="25363"/>
                      <a:pt x="69767" y="7800"/>
                      <a:pt x="51898" y="1952"/>
                    </a:cubicBezTo>
                    <a:close/>
                    <a:moveTo>
                      <a:pt x="62229" y="46920"/>
                    </a:moveTo>
                    <a:cubicBezTo>
                      <a:pt x="60283" y="52892"/>
                      <a:pt x="56044" y="57850"/>
                      <a:pt x="50440" y="60708"/>
                    </a:cubicBezTo>
                    <a:cubicBezTo>
                      <a:pt x="44831" y="63585"/>
                      <a:pt x="38298" y="64086"/>
                      <a:pt x="32314" y="62099"/>
                    </a:cubicBezTo>
                    <a:cubicBezTo>
                      <a:pt x="19828" y="58060"/>
                      <a:pt x="12987" y="44685"/>
                      <a:pt x="17034" y="32224"/>
                    </a:cubicBezTo>
                    <a:cubicBezTo>
                      <a:pt x="21081" y="19764"/>
                      <a:pt x="34484" y="12937"/>
                      <a:pt x="46971" y="16976"/>
                    </a:cubicBezTo>
                    <a:cubicBezTo>
                      <a:pt x="59458" y="21015"/>
                      <a:pt x="66299" y="34390"/>
                      <a:pt x="62251" y="46851"/>
                    </a:cubicBezTo>
                    <a:cubicBezTo>
                      <a:pt x="62244" y="46874"/>
                      <a:pt x="62236" y="46897"/>
                      <a:pt x="62229" y="4692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71" name="Google Shape;1071;p117"/>
              <p:cNvSpPr/>
              <p:nvPr/>
            </p:nvSpPr>
            <p:spPr>
              <a:xfrm>
                <a:off x="922742" y="2136055"/>
                <a:ext cx="140983" cy="78978"/>
              </a:xfrm>
              <a:custGeom>
                <a:avLst/>
                <a:gdLst/>
                <a:ahLst/>
                <a:cxnLst/>
                <a:rect l="l" t="t" r="r" b="b"/>
                <a:pathLst>
                  <a:path w="140983" h="78978" extrusionOk="0">
                    <a:moveTo>
                      <a:pt x="139114" y="27180"/>
                    </a:moveTo>
                    <a:cubicBezTo>
                      <a:pt x="132275" y="6444"/>
                      <a:pt x="109884" y="-4833"/>
                      <a:pt x="89104" y="1992"/>
                    </a:cubicBezTo>
                    <a:cubicBezTo>
                      <a:pt x="71342" y="7827"/>
                      <a:pt x="60088" y="25262"/>
                      <a:pt x="62110" y="43814"/>
                    </a:cubicBezTo>
                    <a:lnTo>
                      <a:pt x="0" y="63989"/>
                    </a:lnTo>
                    <a:lnTo>
                      <a:pt x="4880" y="78979"/>
                    </a:lnTo>
                    <a:lnTo>
                      <a:pt x="66990" y="58866"/>
                    </a:lnTo>
                    <a:cubicBezTo>
                      <a:pt x="77858" y="77813"/>
                      <a:pt x="102059" y="84381"/>
                      <a:pt x="121046" y="73536"/>
                    </a:cubicBezTo>
                    <a:cubicBezTo>
                      <a:pt x="137247" y="64281"/>
                      <a:pt x="144775" y="44995"/>
                      <a:pt x="139114" y="27243"/>
                    </a:cubicBezTo>
                    <a:close/>
                    <a:moveTo>
                      <a:pt x="108630" y="61902"/>
                    </a:moveTo>
                    <a:cubicBezTo>
                      <a:pt x="96112" y="65842"/>
                      <a:pt x="82763" y="58911"/>
                      <a:pt x="78814" y="46418"/>
                    </a:cubicBezTo>
                    <a:cubicBezTo>
                      <a:pt x="74866" y="33927"/>
                      <a:pt x="81812" y="20606"/>
                      <a:pt x="94330" y="16665"/>
                    </a:cubicBezTo>
                    <a:cubicBezTo>
                      <a:pt x="106785" y="12744"/>
                      <a:pt x="120076" y="19587"/>
                      <a:pt x="124094" y="31987"/>
                    </a:cubicBezTo>
                    <a:cubicBezTo>
                      <a:pt x="128155" y="44406"/>
                      <a:pt x="121358" y="57759"/>
                      <a:pt x="108913" y="61812"/>
                    </a:cubicBezTo>
                    <a:cubicBezTo>
                      <a:pt x="108819" y="61843"/>
                      <a:pt x="108724" y="61872"/>
                      <a:pt x="108630" y="619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grpSp>
      </p:grpSp>
      <p:cxnSp>
        <p:nvCxnSpPr>
          <p:cNvPr id="1072" name="Google Shape;1072;p117"/>
          <p:cNvCxnSpPr/>
          <p:nvPr/>
        </p:nvCxnSpPr>
        <p:spPr>
          <a:xfrm rot="10800000" flipH="1">
            <a:off x="3938425" y="4555515"/>
            <a:ext cx="679200" cy="373200"/>
          </a:xfrm>
          <a:prstGeom prst="bentConnector3">
            <a:avLst>
              <a:gd name="adj1" fmla="val 50000"/>
            </a:avLst>
          </a:prstGeom>
          <a:noFill/>
          <a:ln w="19050" cap="flat" cmpd="sng">
            <a:solidFill>
              <a:schemeClr val="accent1"/>
            </a:solidFill>
            <a:prstDash val="solid"/>
            <a:miter lim="800000"/>
            <a:headEnd type="none" w="sm" len="sm"/>
            <a:tailEnd type="none" w="sm" len="sm"/>
          </a:ln>
        </p:spPr>
      </p:cxnSp>
      <p:cxnSp>
        <p:nvCxnSpPr>
          <p:cNvPr id="1073" name="Google Shape;1073;p117"/>
          <p:cNvCxnSpPr>
            <a:stCxn id="1021" idx="6"/>
          </p:cNvCxnSpPr>
          <p:nvPr/>
        </p:nvCxnSpPr>
        <p:spPr>
          <a:xfrm>
            <a:off x="3950534" y="3802663"/>
            <a:ext cx="539700" cy="0"/>
          </a:xfrm>
          <a:prstGeom prst="straightConnector1">
            <a:avLst/>
          </a:prstGeom>
          <a:noFill/>
          <a:ln w="19050" cap="flat" cmpd="sng">
            <a:solidFill>
              <a:schemeClr val="accent1"/>
            </a:solidFill>
            <a:prstDash val="solid"/>
            <a:miter lim="800000"/>
            <a:headEnd type="none" w="sm" len="sm"/>
            <a:tailEnd type="none" w="sm" len="sm"/>
          </a:ln>
        </p:spPr>
      </p:cxnSp>
      <p:cxnSp>
        <p:nvCxnSpPr>
          <p:cNvPr id="1074" name="Google Shape;1074;p117"/>
          <p:cNvCxnSpPr>
            <a:endCxn id="1053" idx="2"/>
          </p:cNvCxnSpPr>
          <p:nvPr/>
        </p:nvCxnSpPr>
        <p:spPr>
          <a:xfrm rot="10800000" flipH="1">
            <a:off x="7920857" y="2711821"/>
            <a:ext cx="758400" cy="346500"/>
          </a:xfrm>
          <a:prstGeom prst="bentConnector3">
            <a:avLst>
              <a:gd name="adj1" fmla="val 50000"/>
            </a:avLst>
          </a:prstGeom>
          <a:noFill/>
          <a:ln w="19050" cap="flat" cmpd="sng">
            <a:solidFill>
              <a:schemeClr val="accent1"/>
            </a:solidFill>
            <a:prstDash val="solid"/>
            <a:miter lim="800000"/>
            <a:headEnd type="none" w="sm" len="sm"/>
            <a:tailEnd type="none" w="sm" len="sm"/>
          </a:ln>
        </p:spPr>
      </p:cxnSp>
      <p:cxnSp>
        <p:nvCxnSpPr>
          <p:cNvPr id="1075" name="Google Shape;1075;p117"/>
          <p:cNvCxnSpPr/>
          <p:nvPr/>
        </p:nvCxnSpPr>
        <p:spPr>
          <a:xfrm>
            <a:off x="8131589" y="3791833"/>
            <a:ext cx="539635" cy="0"/>
          </a:xfrm>
          <a:prstGeom prst="straightConnector1">
            <a:avLst/>
          </a:prstGeom>
          <a:noFill/>
          <a:ln w="19050" cap="flat" cmpd="sng">
            <a:solidFill>
              <a:schemeClr val="accent1"/>
            </a:solidFill>
            <a:prstDash val="solid"/>
            <a:miter lim="800000"/>
            <a:headEnd type="none" w="sm" len="sm"/>
            <a:tailEnd type="none" w="sm" len="sm"/>
          </a:ln>
        </p:spPr>
      </p:cxnSp>
      <p:cxnSp>
        <p:nvCxnSpPr>
          <p:cNvPr id="1076" name="Google Shape;1076;p117"/>
          <p:cNvCxnSpPr>
            <a:endCxn id="1063" idx="2"/>
          </p:cNvCxnSpPr>
          <p:nvPr/>
        </p:nvCxnSpPr>
        <p:spPr>
          <a:xfrm>
            <a:off x="8019557" y="4554804"/>
            <a:ext cx="659700" cy="338700"/>
          </a:xfrm>
          <a:prstGeom prst="bentConnector3">
            <a:avLst>
              <a:gd name="adj1" fmla="val 50000"/>
            </a:avLst>
          </a:prstGeom>
          <a:noFill/>
          <a:ln w="19050" cap="flat" cmpd="sng">
            <a:solidFill>
              <a:schemeClr val="accent1"/>
            </a:solidFill>
            <a:prstDash val="solid"/>
            <a:miter lim="800000"/>
            <a:headEnd type="none" w="sm" len="sm"/>
            <a:tailEnd type="none" w="sm" len="sm"/>
          </a:ln>
        </p:spPr>
      </p:cxnSp>
      <p:pic>
        <p:nvPicPr>
          <p:cNvPr id="1077" name="Google Shape;1077;p117"/>
          <p:cNvPicPr preferRelativeResize="0"/>
          <p:nvPr/>
        </p:nvPicPr>
        <p:blipFill rotWithShape="1">
          <a:blip r:embed="rId4">
            <a:alphaModFix/>
          </a:blip>
          <a:srcRect l="19697" t="-1211" r="23465" b="-2556"/>
          <a:stretch/>
        </p:blipFill>
        <p:spPr>
          <a:xfrm>
            <a:off x="4484296" y="2084774"/>
            <a:ext cx="3656648" cy="3656648"/>
          </a:xfrm>
          <a:prstGeom prst="ellipse">
            <a:avLst/>
          </a:prstGeom>
          <a:noFill/>
          <a:ln>
            <a:noFill/>
          </a:ln>
        </p:spPr>
      </p:pic>
      <p:sp>
        <p:nvSpPr>
          <p:cNvPr id="1078" name="Google Shape;1078;p117"/>
          <p:cNvSpPr/>
          <p:nvPr/>
        </p:nvSpPr>
        <p:spPr>
          <a:xfrm>
            <a:off x="4490170" y="2089865"/>
            <a:ext cx="3656224" cy="3656224"/>
          </a:xfrm>
          <a:prstGeom prst="ellipse">
            <a:avLst/>
          </a:prstGeom>
          <a:noFill/>
          <a:ln w="19050" cap="flat" cmpd="sng">
            <a:solidFill>
              <a:schemeClr val="accent1"/>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pic>
        <p:nvPicPr>
          <p:cNvPr id="1084" name="Google Shape;1084;p118"/>
          <p:cNvPicPr preferRelativeResize="0"/>
          <p:nvPr/>
        </p:nvPicPr>
        <p:blipFill rotWithShape="1">
          <a:blip r:embed="rId3">
            <a:alphaModFix/>
          </a:blip>
          <a:srcRect l="8390" t="8189" r="4275" b="4340"/>
          <a:stretch/>
        </p:blipFill>
        <p:spPr>
          <a:xfrm>
            <a:off x="3004116" y="944526"/>
            <a:ext cx="6180592" cy="3095055"/>
          </a:xfrm>
          <a:prstGeom prst="rect">
            <a:avLst/>
          </a:prstGeom>
          <a:noFill/>
          <a:ln>
            <a:noFill/>
          </a:ln>
        </p:spPr>
      </p:pic>
      <p:sp>
        <p:nvSpPr>
          <p:cNvPr id="1085" name="Google Shape;1085;p118"/>
          <p:cNvSpPr txBox="1">
            <a:spLocks noGrp="1"/>
          </p:cNvSpPr>
          <p:nvPr>
            <p:ph type="title"/>
          </p:nvPr>
        </p:nvSpPr>
        <p:spPr>
          <a:xfrm>
            <a:off x="579809" y="412751"/>
            <a:ext cx="11001004" cy="381000"/>
          </a:xfrm>
          <a:noFill/>
          <a:ln>
            <a:noFill/>
          </a:ln>
        </p:spPr>
        <p:txBody>
          <a:bodyPr spcFirstLastPara="1" wrap="square" lIns="0" tIns="0" rIns="0" bIns="0" anchor="ctr" anchorCtr="0">
            <a:spAutoFit/>
          </a:bodyPr>
          <a:lstStyle/>
          <a:p>
            <a:pPr lvl="0"/>
            <a:r>
              <a:rPr lang="en-US"/>
              <a:t>Delivered By a Team of Experts Spanning Diverse Functions</a:t>
            </a:r>
          </a:p>
        </p:txBody>
      </p:sp>
      <p:sp>
        <p:nvSpPr>
          <p:cNvPr id="1086" name="Google Shape;1086;p118"/>
          <p:cNvSpPr/>
          <p:nvPr/>
        </p:nvSpPr>
        <p:spPr>
          <a:xfrm>
            <a:off x="486545" y="4221072"/>
            <a:ext cx="3329590" cy="1508900"/>
          </a:xfrm>
          <a:prstGeom prst="rect">
            <a:avLst/>
          </a:prstGeom>
          <a:noFill/>
          <a:ln>
            <a:noFill/>
          </a:ln>
        </p:spPr>
        <p:txBody>
          <a:bodyPr spcFirstLastPara="1" wrap="square" lIns="91400" tIns="0" rIns="91400" bIns="0" anchor="t" anchorCtr="0">
            <a:noAutofit/>
          </a:bodyPr>
          <a:lstStyle/>
          <a:p>
            <a:pPr marL="0" marR="0" lvl="0" indent="0" algn="l" rtl="0">
              <a:lnSpc>
                <a:spcPct val="100000"/>
              </a:lnSpc>
              <a:spcBef>
                <a:spcPts val="0"/>
              </a:spcBef>
              <a:spcAft>
                <a:spcPts val="0"/>
              </a:spcAft>
              <a:buClr>
                <a:srgbClr val="000000"/>
              </a:buClr>
              <a:buSzPts val="1799"/>
              <a:buFont typeface="Arial"/>
              <a:buNone/>
            </a:pPr>
            <a:r>
              <a:rPr lang="en-US" sz="1799" b="1" i="0" u="none" strike="noStrike" cap="none">
                <a:solidFill>
                  <a:srgbClr val="0098C7"/>
                </a:solidFill>
                <a:latin typeface="Arial"/>
                <a:ea typeface="Arial"/>
                <a:cs typeface="Arial"/>
                <a:sym typeface="Arial"/>
              </a:rPr>
              <a:t>Solution Architecture</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Determine KPIs and metrics</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Design and architect elements, sizing, and integration points</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Deploy, integrate, configure the environment</a:t>
            </a:r>
            <a:endParaRPr sz="1400" b="0" i="0" u="none" strike="noStrike" cap="none">
              <a:solidFill>
                <a:srgbClr val="000000"/>
              </a:solidFill>
              <a:latin typeface="Arial"/>
              <a:ea typeface="Arial"/>
              <a:cs typeface="Arial"/>
              <a:sym typeface="Arial"/>
            </a:endParaRPr>
          </a:p>
        </p:txBody>
      </p:sp>
      <p:sp>
        <p:nvSpPr>
          <p:cNvPr id="1087" name="Google Shape;1087;p118"/>
          <p:cNvSpPr/>
          <p:nvPr/>
        </p:nvSpPr>
        <p:spPr>
          <a:xfrm>
            <a:off x="4136562" y="4221072"/>
            <a:ext cx="4102110" cy="1508900"/>
          </a:xfrm>
          <a:prstGeom prst="rect">
            <a:avLst/>
          </a:prstGeom>
          <a:noFill/>
          <a:ln>
            <a:noFill/>
          </a:ln>
        </p:spPr>
        <p:txBody>
          <a:bodyPr spcFirstLastPara="1" wrap="square" lIns="91400" tIns="0" rIns="91400" bIns="0" anchor="t" anchorCtr="0">
            <a:noAutofit/>
          </a:bodyPr>
          <a:lstStyle/>
          <a:p>
            <a:pPr marL="0" marR="0" lvl="0" indent="0" algn="l" rtl="0">
              <a:lnSpc>
                <a:spcPct val="100000"/>
              </a:lnSpc>
              <a:spcBef>
                <a:spcPts val="0"/>
              </a:spcBef>
              <a:spcAft>
                <a:spcPts val="0"/>
              </a:spcAft>
              <a:buClr>
                <a:srgbClr val="000000"/>
              </a:buClr>
              <a:buSzPts val="1799"/>
              <a:buFont typeface="Arial"/>
              <a:buNone/>
            </a:pPr>
            <a:r>
              <a:rPr lang="en-US" sz="1799" b="1" i="0" u="none" strike="noStrike" cap="none">
                <a:solidFill>
                  <a:srgbClr val="0098C7"/>
                </a:solidFill>
                <a:latin typeface="Arial"/>
                <a:ea typeface="Arial"/>
                <a:cs typeface="Arial"/>
                <a:sym typeface="Arial"/>
              </a:rPr>
              <a:t>Organization Change Management</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Review the organizational model</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Develop the organizational plan</a:t>
            </a:r>
            <a:endParaRPr sz="1400" b="0" i="0" u="none" strike="noStrike" cap="none">
              <a:solidFill>
                <a:srgbClr val="000000"/>
              </a:solidFill>
              <a:latin typeface="Arial"/>
              <a:ea typeface="Arial"/>
              <a:cs typeface="Arial"/>
              <a:sym typeface="Arial"/>
            </a:endParaRPr>
          </a:p>
          <a:p>
            <a:pPr marL="171399" marR="0" lvl="0" indent="-82499" algn="l" rtl="0">
              <a:lnSpc>
                <a:spcPct val="100000"/>
              </a:lnSpc>
              <a:spcBef>
                <a:spcPts val="600"/>
              </a:spcBef>
              <a:spcAft>
                <a:spcPts val="0"/>
              </a:spcAft>
              <a:buClr>
                <a:srgbClr val="000000"/>
              </a:buClr>
              <a:buSzPts val="1400"/>
              <a:buFont typeface="Arial"/>
              <a:buNone/>
            </a:pPr>
            <a:endParaRPr sz="1400" b="0" i="0" u="none" strike="noStrike" cap="none">
              <a:solidFill>
                <a:srgbClr val="CC092F"/>
              </a:solidFill>
              <a:latin typeface="Arial"/>
              <a:ea typeface="Arial"/>
              <a:cs typeface="Arial"/>
              <a:sym typeface="Arial"/>
            </a:endParaRPr>
          </a:p>
        </p:txBody>
      </p:sp>
      <p:sp>
        <p:nvSpPr>
          <p:cNvPr id="1088" name="Google Shape;1088;p118"/>
          <p:cNvSpPr/>
          <p:nvPr/>
        </p:nvSpPr>
        <p:spPr>
          <a:xfrm>
            <a:off x="8559097" y="4221072"/>
            <a:ext cx="3020287" cy="1508900"/>
          </a:xfrm>
          <a:prstGeom prst="rect">
            <a:avLst/>
          </a:prstGeom>
          <a:noFill/>
          <a:ln>
            <a:noFill/>
          </a:ln>
        </p:spPr>
        <p:txBody>
          <a:bodyPr spcFirstLastPara="1" wrap="square" lIns="91400" tIns="0" rIns="91400" bIns="0" anchor="t" anchorCtr="0">
            <a:noAutofit/>
          </a:bodyPr>
          <a:lstStyle/>
          <a:p>
            <a:pPr marL="0" marR="0" lvl="0" indent="0" algn="l" rtl="0">
              <a:lnSpc>
                <a:spcPct val="100000"/>
              </a:lnSpc>
              <a:spcBef>
                <a:spcPts val="0"/>
              </a:spcBef>
              <a:spcAft>
                <a:spcPts val="0"/>
              </a:spcAft>
              <a:buClr>
                <a:srgbClr val="000000"/>
              </a:buClr>
              <a:buSzPts val="1799"/>
              <a:buFont typeface="Arial"/>
              <a:buNone/>
            </a:pPr>
            <a:r>
              <a:rPr lang="en-US" sz="1799" b="1" i="0" u="none" strike="noStrike" cap="none">
                <a:solidFill>
                  <a:srgbClr val="0098C7"/>
                </a:solidFill>
                <a:latin typeface="Arial"/>
                <a:ea typeface="Arial"/>
                <a:cs typeface="Arial"/>
                <a:sym typeface="Arial"/>
              </a:rPr>
              <a:t>Project Governance</a:t>
            </a:r>
            <a:endParaRPr sz="1799" b="1" i="0" u="none" strike="noStrike" cap="none">
              <a:solidFill>
                <a:srgbClr val="CC092F"/>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Oversee the engagement</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Prioritize and align resources</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Maintain the project plan</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Guide the implementation to fit the organization and business strategy</a:t>
            </a:r>
            <a:endParaRPr sz="1400" b="0" i="0" u="none" strike="noStrike" cap="none">
              <a:solidFill>
                <a:srgbClr val="000000"/>
              </a:solidFill>
              <a:latin typeface="Arial"/>
              <a:ea typeface="Arial"/>
              <a:cs typeface="Arial"/>
              <a:sym typeface="Arial"/>
            </a:endParaRPr>
          </a:p>
        </p:txBody>
      </p:sp>
      <p:sp>
        <p:nvSpPr>
          <p:cNvPr id="1089" name="Google Shape;1089;p118"/>
          <p:cNvSpPr/>
          <p:nvPr/>
        </p:nvSpPr>
        <p:spPr>
          <a:xfrm>
            <a:off x="1588" y="4007447"/>
            <a:ext cx="12185651" cy="58600"/>
          </a:xfrm>
          <a:prstGeom prst="rect">
            <a:avLst/>
          </a:prstGeom>
          <a:solidFill>
            <a:schemeClr val="accen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p6"/>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General Terms and Definitions</a:t>
            </a:r>
          </a:p>
        </p:txBody>
      </p:sp>
      <p:sp>
        <p:nvSpPr>
          <p:cNvPr id="1095" name="Google Shape;1095;p6"/>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VMware Pro Cloud Services for Private Cloud</a:t>
            </a:r>
          </a:p>
        </p:txBody>
      </p:sp>
      <p:sp>
        <p:nvSpPr>
          <p:cNvPr id="1096" name="Google Shape;1096;p6"/>
          <p:cNvSpPr/>
          <p:nvPr/>
        </p:nvSpPr>
        <p:spPr>
          <a:xfrm>
            <a:off x="487016" y="182615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Environment</a:t>
            </a:r>
            <a:endParaRPr sz="1400" b="0" i="0" u="none" strike="noStrike" cap="none">
              <a:solidFill>
                <a:srgbClr val="000000"/>
              </a:solidFill>
              <a:latin typeface="Arial"/>
              <a:ea typeface="Arial"/>
              <a:cs typeface="Arial"/>
              <a:sym typeface="Arial"/>
            </a:endParaRPr>
          </a:p>
        </p:txBody>
      </p:sp>
      <p:sp>
        <p:nvSpPr>
          <p:cNvPr id="1097" name="Google Shape;1097;p6"/>
          <p:cNvSpPr/>
          <p:nvPr/>
        </p:nvSpPr>
        <p:spPr>
          <a:xfrm>
            <a:off x="487016" y="207389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a:solidFill>
                  <a:schemeClr val="lt2"/>
                </a:solidFill>
                <a:latin typeface="Arial"/>
                <a:ea typeface="Arial"/>
                <a:cs typeface="Arial"/>
                <a:sym typeface="Arial"/>
              </a:rPr>
              <a:t>A tag used to describe the function of a system. Common environment tags  include Development, Test, UAT, and Production. </a:t>
            </a:r>
            <a:endParaRPr sz="1400" b="0" i="0" u="none" strike="noStrike" cap="none" dirty="0">
              <a:solidFill>
                <a:schemeClr val="lt2"/>
              </a:solidFill>
              <a:latin typeface="Arial"/>
              <a:ea typeface="Arial"/>
              <a:cs typeface="Arial"/>
              <a:sym typeface="Arial"/>
            </a:endParaRPr>
          </a:p>
        </p:txBody>
      </p:sp>
      <p:sp>
        <p:nvSpPr>
          <p:cNvPr id="1098" name="Google Shape;1098;p6"/>
          <p:cNvSpPr/>
          <p:nvPr/>
        </p:nvSpPr>
        <p:spPr>
          <a:xfrm>
            <a:off x="2363855" y="182615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Instance</a:t>
            </a:r>
            <a:endParaRPr sz="1400" b="0" i="0" u="none" strike="noStrike" cap="none">
              <a:solidFill>
                <a:srgbClr val="000000"/>
              </a:solidFill>
              <a:latin typeface="Arial"/>
              <a:ea typeface="Arial"/>
              <a:cs typeface="Arial"/>
              <a:sym typeface="Arial"/>
            </a:endParaRPr>
          </a:p>
        </p:txBody>
      </p:sp>
      <p:sp>
        <p:nvSpPr>
          <p:cNvPr id="1099" name="Google Shape;1099;p6"/>
          <p:cNvSpPr/>
          <p:nvPr/>
        </p:nvSpPr>
        <p:spPr>
          <a:xfrm>
            <a:off x="2363855" y="207389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a:solidFill>
                  <a:schemeClr val="lt2"/>
                </a:solidFill>
                <a:latin typeface="Arial"/>
                <a:ea typeface="Arial"/>
                <a:cs typeface="Arial"/>
                <a:sym typeface="Arial"/>
              </a:rPr>
              <a:t>A tag used to describe a tangible deployment of a system. Example: the naming convention of the production instance of VCF Automation is VCFA-PROD.</a:t>
            </a:r>
            <a:endParaRPr sz="1400" b="0" i="0" u="none" strike="noStrike" cap="none" dirty="0">
              <a:solidFill>
                <a:schemeClr val="lt2"/>
              </a:solidFill>
              <a:latin typeface="Arial"/>
              <a:ea typeface="Arial"/>
              <a:cs typeface="Arial"/>
              <a:sym typeface="Arial"/>
            </a:endParaRPr>
          </a:p>
        </p:txBody>
      </p:sp>
      <p:sp>
        <p:nvSpPr>
          <p:cNvPr id="1100" name="Google Shape;1100;p6"/>
          <p:cNvSpPr/>
          <p:nvPr/>
        </p:nvSpPr>
        <p:spPr>
          <a:xfrm>
            <a:off x="4240694" y="182615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Datacenter</a:t>
            </a:r>
            <a:endParaRPr sz="1400" b="0" i="0" u="none" strike="noStrike" cap="none">
              <a:solidFill>
                <a:srgbClr val="000000"/>
              </a:solidFill>
              <a:latin typeface="Arial"/>
              <a:ea typeface="Arial"/>
              <a:cs typeface="Arial"/>
              <a:sym typeface="Arial"/>
            </a:endParaRPr>
          </a:p>
        </p:txBody>
      </p:sp>
      <p:sp>
        <p:nvSpPr>
          <p:cNvPr id="1101" name="Google Shape;1101;p6"/>
          <p:cNvSpPr/>
          <p:nvPr/>
        </p:nvSpPr>
        <p:spPr>
          <a:xfrm>
            <a:off x="4240694" y="207389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The physical location of the instance. Example: the appliances are deployed to a cluster in the Boston datacenter. </a:t>
            </a:r>
            <a:endParaRPr sz="1400" b="0" i="0" u="none" strike="noStrike" cap="none">
              <a:solidFill>
                <a:schemeClr val="lt2"/>
              </a:solidFill>
              <a:latin typeface="Arial"/>
              <a:ea typeface="Arial"/>
              <a:cs typeface="Arial"/>
              <a:sym typeface="Arial"/>
            </a:endParaRPr>
          </a:p>
        </p:txBody>
      </p:sp>
      <p:sp>
        <p:nvSpPr>
          <p:cNvPr id="1102" name="Google Shape;1102;p6"/>
          <p:cNvSpPr/>
          <p:nvPr/>
        </p:nvSpPr>
        <p:spPr>
          <a:xfrm>
            <a:off x="6117533" y="182615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Workload Domain</a:t>
            </a:r>
            <a:endParaRPr sz="1400" b="0" i="0" u="none" strike="noStrike" cap="none">
              <a:solidFill>
                <a:srgbClr val="000000"/>
              </a:solidFill>
              <a:latin typeface="Arial"/>
              <a:ea typeface="Arial"/>
              <a:cs typeface="Arial"/>
              <a:sym typeface="Arial"/>
            </a:endParaRPr>
          </a:p>
        </p:txBody>
      </p:sp>
      <p:sp>
        <p:nvSpPr>
          <p:cNvPr id="1103" name="Google Shape;1103;p6"/>
          <p:cNvSpPr/>
          <p:nvPr/>
        </p:nvSpPr>
        <p:spPr>
          <a:xfrm>
            <a:off x="6117533" y="207389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The logical units that carve the compute, network, and storage resources of a single vCenter and a single NSX Manager.</a:t>
            </a:r>
            <a:endParaRPr sz="1400" b="0" i="0" u="none" strike="noStrike" cap="none">
              <a:solidFill>
                <a:schemeClr val="lt2"/>
              </a:solidFill>
              <a:latin typeface="Arial"/>
              <a:ea typeface="Arial"/>
              <a:cs typeface="Arial"/>
              <a:sym typeface="Arial"/>
            </a:endParaRPr>
          </a:p>
        </p:txBody>
      </p:sp>
      <p:sp>
        <p:nvSpPr>
          <p:cNvPr id="1104" name="Google Shape;1104;p6"/>
          <p:cNvSpPr/>
          <p:nvPr/>
        </p:nvSpPr>
        <p:spPr>
          <a:xfrm>
            <a:off x="7994372" y="182615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Management Workload Domain</a:t>
            </a:r>
            <a:endParaRPr sz="1400" b="0" i="0" u="none" strike="noStrike" cap="none">
              <a:solidFill>
                <a:srgbClr val="000000"/>
              </a:solidFill>
              <a:latin typeface="Arial"/>
              <a:ea typeface="Arial"/>
              <a:cs typeface="Arial"/>
              <a:sym typeface="Arial"/>
            </a:endParaRPr>
          </a:p>
        </p:txBody>
      </p:sp>
      <p:sp>
        <p:nvSpPr>
          <p:cNvPr id="1105" name="Google Shape;1105;p6"/>
          <p:cNvSpPr/>
          <p:nvPr/>
        </p:nvSpPr>
        <p:spPr>
          <a:xfrm>
            <a:off x="7994372" y="207389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workload domain whose resources are dedicated to hosting VMware appliances.</a:t>
            </a:r>
            <a:endParaRPr sz="1400" b="0" i="0" u="none" strike="noStrike" cap="none">
              <a:solidFill>
                <a:schemeClr val="lt2"/>
              </a:solidFill>
              <a:latin typeface="Arial"/>
              <a:ea typeface="Arial"/>
              <a:cs typeface="Arial"/>
              <a:sym typeface="Arial"/>
            </a:endParaRPr>
          </a:p>
        </p:txBody>
      </p:sp>
      <p:sp>
        <p:nvSpPr>
          <p:cNvPr id="1106" name="Google Shape;1106;p6"/>
          <p:cNvSpPr/>
          <p:nvPr/>
        </p:nvSpPr>
        <p:spPr>
          <a:xfrm>
            <a:off x="9871211" y="182615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Virtual Infrastructure (VI) Workload Domain</a:t>
            </a:r>
            <a:endParaRPr sz="1400" b="0" i="0" u="none" strike="noStrike" cap="none">
              <a:solidFill>
                <a:srgbClr val="000000"/>
              </a:solidFill>
              <a:latin typeface="Arial"/>
              <a:ea typeface="Arial"/>
              <a:cs typeface="Arial"/>
              <a:sym typeface="Arial"/>
            </a:endParaRPr>
          </a:p>
        </p:txBody>
      </p:sp>
      <p:sp>
        <p:nvSpPr>
          <p:cNvPr id="1107" name="Google Shape;1107;p6"/>
          <p:cNvSpPr/>
          <p:nvPr/>
        </p:nvSpPr>
        <p:spPr>
          <a:xfrm>
            <a:off x="9871211" y="207389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workload domain whose resources are dedicated to hosting non-VMware workloads.</a:t>
            </a:r>
            <a:endParaRPr sz="1400" b="0" i="0" u="none" strike="noStrike" cap="none">
              <a:solidFill>
                <a:schemeClr val="lt2"/>
              </a:solidFill>
              <a:latin typeface="Arial"/>
              <a:ea typeface="Arial"/>
              <a:cs typeface="Arial"/>
              <a:sym typeface="Arial"/>
            </a:endParaRPr>
          </a:p>
        </p:txBody>
      </p:sp>
      <p:sp>
        <p:nvSpPr>
          <p:cNvPr id="1108" name="Google Shape;1108;p6"/>
          <p:cNvSpPr/>
          <p:nvPr/>
        </p:nvSpPr>
        <p:spPr>
          <a:xfrm>
            <a:off x="487016" y="3053271"/>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Telemetry</a:t>
            </a:r>
            <a:endParaRPr sz="1400" b="0" i="0" u="none" strike="noStrike" cap="none">
              <a:solidFill>
                <a:srgbClr val="000000"/>
              </a:solidFill>
              <a:latin typeface="Arial"/>
              <a:ea typeface="Arial"/>
              <a:cs typeface="Arial"/>
              <a:sym typeface="Arial"/>
            </a:endParaRPr>
          </a:p>
        </p:txBody>
      </p:sp>
      <p:sp>
        <p:nvSpPr>
          <p:cNvPr id="1109" name="Google Shape;1109;p6"/>
          <p:cNvSpPr/>
          <p:nvPr/>
        </p:nvSpPr>
        <p:spPr>
          <a:xfrm>
            <a:off x="487016" y="3301014"/>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The recording and transmission of data from one or more systems to a centralized location for monitoring and analysis. </a:t>
            </a:r>
            <a:endParaRPr sz="1400" b="0" i="0" u="none" strike="noStrike" cap="none">
              <a:solidFill>
                <a:schemeClr val="lt2"/>
              </a:solidFill>
              <a:latin typeface="Arial"/>
              <a:ea typeface="Arial"/>
              <a:cs typeface="Arial"/>
              <a:sym typeface="Arial"/>
            </a:endParaRPr>
          </a:p>
        </p:txBody>
      </p:sp>
      <p:sp>
        <p:nvSpPr>
          <p:cNvPr id="1110" name="Google Shape;1110;p6"/>
          <p:cNvSpPr/>
          <p:nvPr/>
        </p:nvSpPr>
        <p:spPr>
          <a:xfrm>
            <a:off x="2363855" y="3053271"/>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Automation</a:t>
            </a:r>
            <a:endParaRPr sz="1400" b="0" i="0" u="none" strike="noStrike" cap="none">
              <a:solidFill>
                <a:srgbClr val="000000"/>
              </a:solidFill>
              <a:latin typeface="Arial"/>
              <a:ea typeface="Arial"/>
              <a:cs typeface="Arial"/>
              <a:sym typeface="Arial"/>
            </a:endParaRPr>
          </a:p>
        </p:txBody>
      </p:sp>
      <p:sp>
        <p:nvSpPr>
          <p:cNvPr id="1111" name="Google Shape;1111;p6"/>
          <p:cNvSpPr/>
          <p:nvPr/>
        </p:nvSpPr>
        <p:spPr>
          <a:xfrm>
            <a:off x="2363855" y="3301014"/>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series of tasks performed within minimal human input. </a:t>
            </a:r>
            <a:endParaRPr sz="1400" b="0" i="0" u="none" strike="noStrike" cap="none">
              <a:solidFill>
                <a:schemeClr val="lt2"/>
              </a:solidFill>
              <a:latin typeface="Arial"/>
              <a:ea typeface="Arial"/>
              <a:cs typeface="Arial"/>
              <a:sym typeface="Arial"/>
            </a:endParaRPr>
          </a:p>
        </p:txBody>
      </p:sp>
      <p:sp>
        <p:nvSpPr>
          <p:cNvPr id="1112" name="Google Shape;1112;p6"/>
          <p:cNvSpPr/>
          <p:nvPr/>
        </p:nvSpPr>
        <p:spPr>
          <a:xfrm>
            <a:off x="4240694" y="3053271"/>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Cloud</a:t>
            </a:r>
            <a:endParaRPr sz="1400" b="0" i="0" u="none" strike="noStrike" cap="none">
              <a:solidFill>
                <a:srgbClr val="000000"/>
              </a:solidFill>
              <a:latin typeface="Arial"/>
              <a:ea typeface="Arial"/>
              <a:cs typeface="Arial"/>
              <a:sym typeface="Arial"/>
            </a:endParaRPr>
          </a:p>
        </p:txBody>
      </p:sp>
      <p:sp>
        <p:nvSpPr>
          <p:cNvPr id="1113" name="Google Shape;1113;p6"/>
          <p:cNvSpPr/>
          <p:nvPr/>
        </p:nvSpPr>
        <p:spPr>
          <a:xfrm>
            <a:off x="4240694" y="3301014"/>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style of computing in which scalable and elastic IT-enabled capabilities are delivered as a service using internet technologies.</a:t>
            </a:r>
            <a:endParaRPr sz="1400" b="0" i="0" u="none" strike="noStrike" cap="none">
              <a:solidFill>
                <a:schemeClr val="lt2"/>
              </a:solidFill>
              <a:latin typeface="Arial"/>
              <a:ea typeface="Arial"/>
              <a:cs typeface="Arial"/>
              <a:sym typeface="Arial"/>
            </a:endParaRPr>
          </a:p>
        </p:txBody>
      </p:sp>
      <p:sp>
        <p:nvSpPr>
          <p:cNvPr id="1116" name="Google Shape;1116;p6"/>
          <p:cNvSpPr/>
          <p:nvPr/>
        </p:nvSpPr>
        <p:spPr>
          <a:xfrm>
            <a:off x="6117533" y="3056664"/>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Private Cloud</a:t>
            </a:r>
            <a:endParaRPr sz="1400" b="0" i="0" u="none" strike="noStrike" cap="none">
              <a:solidFill>
                <a:srgbClr val="000000"/>
              </a:solidFill>
              <a:latin typeface="Arial"/>
              <a:ea typeface="Arial"/>
              <a:cs typeface="Arial"/>
              <a:sym typeface="Arial"/>
            </a:endParaRPr>
          </a:p>
        </p:txBody>
      </p:sp>
      <p:sp>
        <p:nvSpPr>
          <p:cNvPr id="1117" name="Google Shape;1117;p6"/>
          <p:cNvSpPr/>
          <p:nvPr/>
        </p:nvSpPr>
        <p:spPr>
          <a:xfrm>
            <a:off x="6117533" y="3304407"/>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cloud that is developed and operated by the same entity who owns the datacenter where the cloud resides.</a:t>
            </a:r>
            <a:endParaRPr sz="1400" b="0" i="0" u="none" strike="noStrike" cap="none">
              <a:solidFill>
                <a:schemeClr val="lt2"/>
              </a:solidFill>
              <a:latin typeface="Arial"/>
              <a:ea typeface="Arial"/>
              <a:cs typeface="Arial"/>
              <a:sym typeface="Arial"/>
            </a:endParaRPr>
          </a:p>
        </p:txBody>
      </p:sp>
      <p:sp>
        <p:nvSpPr>
          <p:cNvPr id="1118" name="Google Shape;1118;p6"/>
          <p:cNvSpPr/>
          <p:nvPr/>
        </p:nvSpPr>
        <p:spPr>
          <a:xfrm>
            <a:off x="7994372" y="3053271"/>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Public Cloud</a:t>
            </a:r>
            <a:endParaRPr sz="1400" b="0" i="0" u="none" strike="noStrike" cap="none">
              <a:solidFill>
                <a:srgbClr val="000000"/>
              </a:solidFill>
              <a:latin typeface="Arial"/>
              <a:ea typeface="Arial"/>
              <a:cs typeface="Arial"/>
              <a:sym typeface="Arial"/>
            </a:endParaRPr>
          </a:p>
        </p:txBody>
      </p:sp>
      <p:sp>
        <p:nvSpPr>
          <p:cNvPr id="1119" name="Google Shape;1119;p6"/>
          <p:cNvSpPr/>
          <p:nvPr/>
        </p:nvSpPr>
        <p:spPr>
          <a:xfrm>
            <a:off x="7994372" y="3301014"/>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cloud that is developed and operated by a different entity who owns the datacenter where the cloud resides.</a:t>
            </a:r>
            <a:endParaRPr sz="1400" b="0" i="0" u="none" strike="noStrike" cap="none">
              <a:solidFill>
                <a:schemeClr val="lt2"/>
              </a:solidFill>
              <a:latin typeface="Arial"/>
              <a:ea typeface="Arial"/>
              <a:cs typeface="Arial"/>
              <a:sym typeface="Arial"/>
            </a:endParaRPr>
          </a:p>
        </p:txBody>
      </p:sp>
      <p:sp>
        <p:nvSpPr>
          <p:cNvPr id="1120" name="Google Shape;1120;p6"/>
          <p:cNvSpPr/>
          <p:nvPr/>
        </p:nvSpPr>
        <p:spPr>
          <a:xfrm>
            <a:off x="9871211" y="3053271"/>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Multi Cloud</a:t>
            </a:r>
            <a:endParaRPr sz="1400" b="0" i="0" u="none" strike="noStrike" cap="none">
              <a:solidFill>
                <a:srgbClr val="000000"/>
              </a:solidFill>
              <a:latin typeface="Arial"/>
              <a:ea typeface="Arial"/>
              <a:cs typeface="Arial"/>
              <a:sym typeface="Arial"/>
            </a:endParaRPr>
          </a:p>
        </p:txBody>
      </p:sp>
      <p:sp>
        <p:nvSpPr>
          <p:cNvPr id="1121" name="Google Shape;1121;p6"/>
          <p:cNvSpPr/>
          <p:nvPr/>
        </p:nvSpPr>
        <p:spPr>
          <a:xfrm>
            <a:off x="9871211" y="3301014"/>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cloud comprised of public clouds and private clouds. </a:t>
            </a:r>
            <a:endParaRPr sz="1400" b="0" i="0" u="none" strike="noStrike" cap="none">
              <a:solidFill>
                <a:schemeClr val="lt2"/>
              </a:solidFill>
              <a:latin typeface="Arial"/>
              <a:ea typeface="Arial"/>
              <a:cs typeface="Arial"/>
              <a:sym typeface="Arial"/>
            </a:endParaRPr>
          </a:p>
        </p:txBody>
      </p:sp>
      <p:sp>
        <p:nvSpPr>
          <p:cNvPr id="1122" name="Google Shape;1122;p6"/>
          <p:cNvSpPr/>
          <p:nvPr/>
        </p:nvSpPr>
        <p:spPr>
          <a:xfrm>
            <a:off x="487016" y="428038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dirty="0">
                <a:solidFill>
                  <a:schemeClr val="lt1"/>
                </a:solidFill>
                <a:latin typeface="Arial"/>
                <a:ea typeface="Arial"/>
                <a:cs typeface="Arial"/>
                <a:sym typeface="Arial"/>
              </a:rPr>
              <a:t>VCF Operations Fleet Management</a:t>
            </a:r>
            <a:endParaRPr sz="1400" b="0" i="0" u="none" strike="noStrike" cap="none" dirty="0">
              <a:solidFill>
                <a:srgbClr val="000000"/>
              </a:solidFill>
              <a:latin typeface="Arial"/>
              <a:ea typeface="Arial"/>
              <a:cs typeface="Arial"/>
              <a:sym typeface="Arial"/>
            </a:endParaRPr>
          </a:p>
        </p:txBody>
      </p:sp>
      <p:sp>
        <p:nvSpPr>
          <p:cNvPr id="1123" name="Google Shape;1123;p6"/>
          <p:cNvSpPr/>
          <p:nvPr/>
        </p:nvSpPr>
        <p:spPr>
          <a:xfrm>
            <a:off x="487016" y="452812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platform responsible for deploying, upgrading, configuring, and managing the Aria Suite.</a:t>
            </a:r>
            <a:endParaRPr sz="1400" b="0" i="0" u="none" strike="noStrike" cap="none">
              <a:solidFill>
                <a:schemeClr val="lt2"/>
              </a:solidFill>
              <a:latin typeface="Arial"/>
              <a:ea typeface="Arial"/>
              <a:cs typeface="Arial"/>
              <a:sym typeface="Arial"/>
            </a:endParaRPr>
          </a:p>
        </p:txBody>
      </p:sp>
      <p:sp>
        <p:nvSpPr>
          <p:cNvPr id="1124" name="Google Shape;1124;p6"/>
          <p:cNvSpPr/>
          <p:nvPr/>
        </p:nvSpPr>
        <p:spPr>
          <a:xfrm>
            <a:off x="2363855" y="428038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dirty="0">
                <a:solidFill>
                  <a:schemeClr val="lt1"/>
                </a:solidFill>
                <a:latin typeface="Arial"/>
                <a:ea typeface="Arial"/>
                <a:cs typeface="Arial"/>
                <a:sym typeface="Arial"/>
              </a:rPr>
              <a:t>VCF Automation</a:t>
            </a:r>
            <a:endParaRPr sz="1400" b="0" i="0" u="none" strike="noStrike" cap="none" dirty="0">
              <a:solidFill>
                <a:srgbClr val="000000"/>
              </a:solidFill>
              <a:latin typeface="Arial"/>
              <a:ea typeface="Arial"/>
              <a:cs typeface="Arial"/>
              <a:sym typeface="Arial"/>
            </a:endParaRPr>
          </a:p>
        </p:txBody>
      </p:sp>
      <p:sp>
        <p:nvSpPr>
          <p:cNvPr id="1125" name="Google Shape;1125;p6"/>
          <p:cNvSpPr/>
          <p:nvPr/>
        </p:nvSpPr>
        <p:spPr>
          <a:xfrm>
            <a:off x="2363855" y="452812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An automation platform designed to develop, control, and secure self-service capabilities of a cloud.</a:t>
            </a:r>
            <a:endParaRPr sz="1400" b="0" i="0" u="none" strike="noStrike" cap="none">
              <a:solidFill>
                <a:schemeClr val="lt2"/>
              </a:solidFill>
              <a:latin typeface="Arial"/>
              <a:ea typeface="Arial"/>
              <a:cs typeface="Arial"/>
              <a:sym typeface="Arial"/>
            </a:endParaRPr>
          </a:p>
        </p:txBody>
      </p:sp>
      <p:sp>
        <p:nvSpPr>
          <p:cNvPr id="1126" name="Google Shape;1126;p6"/>
          <p:cNvSpPr/>
          <p:nvPr/>
        </p:nvSpPr>
        <p:spPr>
          <a:xfrm>
            <a:off x="4240694" y="4283779"/>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dirty="0">
                <a:solidFill>
                  <a:schemeClr val="lt1"/>
                </a:solidFill>
                <a:latin typeface="Arial"/>
                <a:ea typeface="Arial"/>
                <a:cs typeface="Arial"/>
                <a:sym typeface="Arial"/>
              </a:rPr>
              <a:t>VCF Automation Orchestrator</a:t>
            </a:r>
            <a:endParaRPr sz="1400" b="0" i="0" u="none" strike="noStrike" cap="none" dirty="0">
              <a:solidFill>
                <a:srgbClr val="000000"/>
              </a:solidFill>
              <a:latin typeface="Arial"/>
              <a:ea typeface="Arial"/>
              <a:cs typeface="Arial"/>
              <a:sym typeface="Arial"/>
            </a:endParaRPr>
          </a:p>
        </p:txBody>
      </p:sp>
      <p:sp>
        <p:nvSpPr>
          <p:cNvPr id="1127" name="Google Shape;1127;p6"/>
          <p:cNvSpPr/>
          <p:nvPr/>
        </p:nvSpPr>
        <p:spPr>
          <a:xfrm>
            <a:off x="4240694" y="4531522"/>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a:solidFill>
                  <a:schemeClr val="lt2"/>
                </a:solidFill>
                <a:latin typeface="Arial"/>
                <a:ea typeface="Arial"/>
                <a:cs typeface="Arial"/>
                <a:sym typeface="Arial"/>
              </a:rPr>
              <a:t>A platform that works in conjunction with VCF Automation to automate self-service processes. </a:t>
            </a:r>
            <a:endParaRPr sz="1400" b="0" i="0" u="none" strike="noStrike" cap="none" dirty="0">
              <a:solidFill>
                <a:schemeClr val="lt2"/>
              </a:solidFill>
              <a:latin typeface="Arial"/>
              <a:ea typeface="Arial"/>
              <a:cs typeface="Arial"/>
              <a:sym typeface="Arial"/>
            </a:endParaRPr>
          </a:p>
        </p:txBody>
      </p:sp>
      <p:sp>
        <p:nvSpPr>
          <p:cNvPr id="1128" name="Google Shape;1128;p6"/>
          <p:cNvSpPr/>
          <p:nvPr/>
        </p:nvSpPr>
        <p:spPr>
          <a:xfrm>
            <a:off x="6117533" y="428038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dirty="0">
                <a:solidFill>
                  <a:schemeClr val="lt1"/>
                </a:solidFill>
                <a:latin typeface="Arial"/>
                <a:ea typeface="Arial"/>
                <a:cs typeface="Arial"/>
                <a:sym typeface="Arial"/>
              </a:rPr>
              <a:t>VCF Operations</a:t>
            </a:r>
            <a:endParaRPr sz="1400" b="0" i="0" u="none" strike="noStrike" cap="none" dirty="0">
              <a:solidFill>
                <a:srgbClr val="000000"/>
              </a:solidFill>
              <a:latin typeface="Arial"/>
              <a:ea typeface="Arial"/>
              <a:cs typeface="Arial"/>
              <a:sym typeface="Arial"/>
            </a:endParaRPr>
          </a:p>
        </p:txBody>
      </p:sp>
      <p:sp>
        <p:nvSpPr>
          <p:cNvPr id="1129" name="Google Shape;1129;p6"/>
          <p:cNvSpPr/>
          <p:nvPr/>
        </p:nvSpPr>
        <p:spPr>
          <a:xfrm>
            <a:off x="6117533" y="452812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platform that provides full-stack visibility of a cloud by providing optimization, capacity, costing, and planning metrics.</a:t>
            </a:r>
            <a:endParaRPr sz="1400" b="0" i="0" u="none" strike="noStrike" cap="none">
              <a:solidFill>
                <a:schemeClr val="lt2"/>
              </a:solidFill>
              <a:latin typeface="Arial"/>
              <a:ea typeface="Arial"/>
              <a:cs typeface="Arial"/>
              <a:sym typeface="Arial"/>
            </a:endParaRPr>
          </a:p>
        </p:txBody>
      </p:sp>
      <p:sp>
        <p:nvSpPr>
          <p:cNvPr id="1130" name="Google Shape;1130;p6"/>
          <p:cNvSpPr/>
          <p:nvPr/>
        </p:nvSpPr>
        <p:spPr>
          <a:xfrm>
            <a:off x="7994372" y="428038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dirty="0">
                <a:solidFill>
                  <a:schemeClr val="lt1"/>
                </a:solidFill>
                <a:latin typeface="Arial"/>
                <a:ea typeface="Arial"/>
                <a:cs typeface="Arial"/>
                <a:sym typeface="Arial"/>
              </a:rPr>
              <a:t>VCF Operations for Logs</a:t>
            </a:r>
            <a:endParaRPr sz="1400" b="0" i="0" u="none" strike="noStrike" cap="none" dirty="0">
              <a:solidFill>
                <a:srgbClr val="000000"/>
              </a:solidFill>
              <a:latin typeface="Arial"/>
              <a:ea typeface="Arial"/>
              <a:cs typeface="Arial"/>
              <a:sym typeface="Arial"/>
            </a:endParaRPr>
          </a:p>
        </p:txBody>
      </p:sp>
      <p:sp>
        <p:nvSpPr>
          <p:cNvPr id="1131" name="Google Shape;1131;p6"/>
          <p:cNvSpPr/>
          <p:nvPr/>
        </p:nvSpPr>
        <p:spPr>
          <a:xfrm>
            <a:off x="7994372" y="452812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platform that provides intelligent log management and analytics of a cloud. </a:t>
            </a:r>
            <a:endParaRPr sz="1400" b="0" i="0" u="none" strike="noStrike" cap="none">
              <a:solidFill>
                <a:schemeClr val="lt2"/>
              </a:solidFill>
              <a:latin typeface="Arial"/>
              <a:ea typeface="Arial"/>
              <a:cs typeface="Arial"/>
              <a:sym typeface="Arial"/>
            </a:endParaRPr>
          </a:p>
        </p:txBody>
      </p:sp>
      <p:sp>
        <p:nvSpPr>
          <p:cNvPr id="2" name="Google Shape;1130;p6">
            <a:extLst>
              <a:ext uri="{FF2B5EF4-FFF2-40B4-BE49-F238E27FC236}">
                <a16:creationId xmlns:a16="http://schemas.microsoft.com/office/drawing/2014/main" id="{3F0736D1-D072-7ADB-63FC-38BB682C9B4B}"/>
              </a:ext>
            </a:extLst>
          </p:cNvPr>
          <p:cNvSpPr/>
          <p:nvPr/>
        </p:nvSpPr>
        <p:spPr>
          <a:xfrm>
            <a:off x="9871211" y="428038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dirty="0">
                <a:solidFill>
                  <a:schemeClr val="lt1"/>
                </a:solidFill>
                <a:latin typeface="Arial"/>
                <a:ea typeface="Arial"/>
                <a:cs typeface="Arial"/>
                <a:sym typeface="Arial"/>
              </a:rPr>
              <a:t>VCF Operations for Networks</a:t>
            </a:r>
            <a:endParaRPr sz="1400" b="0" i="0" u="none" strike="noStrike" cap="none" dirty="0">
              <a:solidFill>
                <a:srgbClr val="000000"/>
              </a:solidFill>
              <a:latin typeface="Arial"/>
              <a:ea typeface="Arial"/>
              <a:cs typeface="Arial"/>
              <a:sym typeface="Arial"/>
            </a:endParaRPr>
          </a:p>
        </p:txBody>
      </p:sp>
      <p:sp>
        <p:nvSpPr>
          <p:cNvPr id="3" name="Google Shape;1131;p6">
            <a:extLst>
              <a:ext uri="{FF2B5EF4-FFF2-40B4-BE49-F238E27FC236}">
                <a16:creationId xmlns:a16="http://schemas.microsoft.com/office/drawing/2014/main" id="{04EE4EA3-EB79-F090-290D-B7E2416B80CC}"/>
              </a:ext>
            </a:extLst>
          </p:cNvPr>
          <p:cNvSpPr/>
          <p:nvPr/>
        </p:nvSpPr>
        <p:spPr>
          <a:xfrm>
            <a:off x="9871211" y="452812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a:solidFill>
                  <a:schemeClr val="lt2"/>
                </a:solidFill>
                <a:latin typeface="Arial"/>
                <a:ea typeface="Arial"/>
                <a:cs typeface="Arial"/>
                <a:sym typeface="Arial"/>
              </a:rPr>
              <a:t>A platform that provides intelligent network analytics of a cloud. </a:t>
            </a:r>
            <a:endParaRPr sz="1400" b="0" i="0" u="none" strike="noStrike" cap="none" dirty="0">
              <a:solidFill>
                <a:schemeClr val="lt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2" name="Title 1">
            <a:extLst>
              <a:ext uri="{FF2B5EF4-FFF2-40B4-BE49-F238E27FC236}">
                <a16:creationId xmlns:a16="http://schemas.microsoft.com/office/drawing/2014/main" id="{3E278EBE-A71F-FACE-65DB-A044FE8EBE7E}"/>
              </a:ext>
            </a:extLst>
          </p:cNvPr>
          <p:cNvSpPr>
            <a:spLocks noGrp="1"/>
          </p:cNvSpPr>
          <p:nvPr>
            <p:ph type="title"/>
          </p:nvPr>
        </p:nvSpPr>
        <p:spPr>
          <a:xfrm>
            <a:off x="589108" y="938794"/>
            <a:ext cx="6427626" cy="1229360"/>
          </a:xfrm>
        </p:spPr>
        <p:txBody>
          <a:bodyPr/>
          <a:lstStyle/>
          <a:p>
            <a:r>
              <a:rPr lang="en-US" dirty="0"/>
              <a:t>VMware Pro Cloud Services</a:t>
            </a:r>
          </a:p>
        </p:txBody>
      </p:sp>
      <p:sp>
        <p:nvSpPr>
          <p:cNvPr id="1136" name="Google Shape;1136;p119"/>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CA" dirty="0"/>
              <a:t>Private Cloud Conceptual Design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1142" name="Google Shape;1142;p8"/>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What is IaaS?</a:t>
            </a:r>
          </a:p>
        </p:txBody>
      </p:sp>
      <p:sp>
        <p:nvSpPr>
          <p:cNvPr id="1143" name="Google Shape;1143;p8"/>
          <p:cNvSpPr txBox="1">
            <a:spLocks noGrp="1"/>
          </p:cNvSpPr>
          <p:nvPr>
            <p:ph type="subTitle" idx="10"/>
          </p:nvPr>
        </p:nvSpPr>
        <p:spPr>
          <a:xfrm>
            <a:off x="592866" y="811830"/>
            <a:ext cx="10962687" cy="247743"/>
          </a:xfrm>
          <a:noFill/>
          <a:ln>
            <a:noFill/>
          </a:ln>
        </p:spPr>
        <p:txBody>
          <a:bodyPr spcFirstLastPara="1" wrap="square" lIns="0" tIns="0" rIns="0" bIns="0" anchor="t" anchorCtr="0">
            <a:spAutoFit/>
          </a:bodyPr>
          <a:lstStyle/>
          <a:p>
            <a:pPr lvl="0"/>
            <a:r>
              <a:rPr lang="en-US"/>
              <a:t>Focus on the Customer’s Customer</a:t>
            </a:r>
          </a:p>
          <a:p>
            <a:pPr lvl="0"/>
            <a:endParaRPr lang="en-US"/>
          </a:p>
        </p:txBody>
      </p:sp>
      <p:sp>
        <p:nvSpPr>
          <p:cNvPr id="1144" name="Google Shape;1144;p8"/>
          <p:cNvSpPr txBox="1"/>
          <p:nvPr/>
        </p:nvSpPr>
        <p:spPr>
          <a:xfrm>
            <a:off x="4162584" y="1569411"/>
            <a:ext cx="7076660" cy="92333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accent1"/>
                </a:solidFill>
                <a:latin typeface="Arial"/>
                <a:ea typeface="Arial"/>
                <a:cs typeface="Arial"/>
                <a:sym typeface="Arial"/>
              </a:rPr>
              <a:t>Infrastructure as a Service (IaaS) </a:t>
            </a:r>
            <a:r>
              <a:rPr lang="en-US" sz="2000" b="0" i="0" u="none" strike="noStrike" cap="none" dirty="0">
                <a:solidFill>
                  <a:schemeClr val="tx2"/>
                </a:solidFill>
                <a:latin typeface="Arial"/>
                <a:ea typeface="Arial"/>
                <a:cs typeface="Arial"/>
                <a:sym typeface="Arial"/>
              </a:rPr>
              <a:t>is a type of cloud computing service that offers essential </a:t>
            </a:r>
            <a:r>
              <a:rPr lang="en-US" sz="2000" b="0" i="0" u="none" strike="noStrike" cap="none" dirty="0">
                <a:solidFill>
                  <a:schemeClr val="accent1"/>
                </a:solidFill>
                <a:latin typeface="Arial"/>
                <a:ea typeface="Arial"/>
                <a:cs typeface="Arial"/>
                <a:sym typeface="Arial"/>
              </a:rPr>
              <a:t>compute</a:t>
            </a:r>
            <a:r>
              <a:rPr lang="en-US" sz="2000" b="0" i="0" u="none" strike="noStrike" cap="none" dirty="0">
                <a:solidFill>
                  <a:schemeClr val="tx2"/>
                </a:solidFill>
                <a:latin typeface="Arial"/>
                <a:ea typeface="Arial"/>
                <a:cs typeface="Arial"/>
                <a:sym typeface="Arial"/>
              </a:rPr>
              <a:t>, </a:t>
            </a:r>
            <a:r>
              <a:rPr lang="en-US" sz="2000" b="0" i="0" u="none" strike="noStrike" cap="none" dirty="0">
                <a:solidFill>
                  <a:schemeClr val="accent1"/>
                </a:solidFill>
                <a:latin typeface="Arial"/>
                <a:ea typeface="Arial"/>
                <a:cs typeface="Arial"/>
                <a:sym typeface="Arial"/>
              </a:rPr>
              <a:t>storage</a:t>
            </a:r>
            <a:r>
              <a:rPr lang="en-US" sz="2000" b="0" i="0" u="none" strike="noStrike" cap="none" dirty="0">
                <a:solidFill>
                  <a:schemeClr val="tx2"/>
                </a:solidFill>
                <a:latin typeface="Arial"/>
                <a:ea typeface="Arial"/>
                <a:cs typeface="Arial"/>
                <a:sym typeface="Arial"/>
              </a:rPr>
              <a:t>, and </a:t>
            </a:r>
            <a:r>
              <a:rPr lang="en-US" sz="2000" b="0" i="0" u="none" strike="noStrike" cap="none" dirty="0">
                <a:solidFill>
                  <a:schemeClr val="accent1"/>
                </a:solidFill>
                <a:latin typeface="Arial"/>
                <a:ea typeface="Arial"/>
                <a:cs typeface="Arial"/>
                <a:sym typeface="Arial"/>
              </a:rPr>
              <a:t>networking</a:t>
            </a:r>
            <a:r>
              <a:rPr lang="en-US" sz="2000" b="0" i="0" u="none" strike="noStrike" cap="none" dirty="0">
                <a:solidFill>
                  <a:schemeClr val="tx2"/>
                </a:solidFill>
                <a:latin typeface="Arial"/>
                <a:ea typeface="Arial"/>
                <a:cs typeface="Arial"/>
                <a:sym typeface="Arial"/>
              </a:rPr>
              <a:t> resources on demand. </a:t>
            </a:r>
            <a:endParaRPr sz="2000" b="0" i="0" u="none" strike="noStrike" cap="none" dirty="0">
              <a:solidFill>
                <a:schemeClr val="tx2"/>
              </a:solidFill>
              <a:latin typeface="Arial"/>
              <a:ea typeface="Arial"/>
              <a:cs typeface="Arial"/>
              <a:sym typeface="Arial"/>
            </a:endParaRPr>
          </a:p>
        </p:txBody>
      </p:sp>
      <p:pic>
        <p:nvPicPr>
          <p:cNvPr id="1145" name="Google Shape;1145;p8" descr="FARK.com: (11163116) &quot;Chances are, your boss knows you're not actually sick on the Monday after ..."/>
          <p:cNvPicPr preferRelativeResize="0"/>
          <p:nvPr/>
        </p:nvPicPr>
        <p:blipFill rotWithShape="1">
          <a:blip r:embed="rId3">
            <a:alphaModFix/>
          </a:blip>
          <a:srcRect l="29233" r="27116"/>
          <a:stretch/>
        </p:blipFill>
        <p:spPr>
          <a:xfrm>
            <a:off x="387627" y="1569411"/>
            <a:ext cx="3409121" cy="4267200"/>
          </a:xfrm>
          <a:prstGeom prst="rect">
            <a:avLst/>
          </a:prstGeom>
          <a:noFill/>
          <a:ln>
            <a:noFill/>
          </a:ln>
        </p:spPr>
      </p:pic>
      <p:sp>
        <p:nvSpPr>
          <p:cNvPr id="1146" name="Google Shape;1146;p8"/>
          <p:cNvSpPr/>
          <p:nvPr/>
        </p:nvSpPr>
        <p:spPr>
          <a:xfrm>
            <a:off x="4162584" y="2584272"/>
            <a:ext cx="2622264" cy="914400"/>
          </a:xfrm>
          <a:prstGeom prst="rect">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chemeClr val="tx1"/>
                </a:solidFill>
                <a:latin typeface="Arial"/>
                <a:ea typeface="Arial"/>
                <a:cs typeface="Arial"/>
                <a:sym typeface="Arial"/>
              </a:rPr>
              <a:t>What is a Service?</a:t>
            </a:r>
            <a:endParaRPr sz="1400" b="0" i="0" u="none" strike="noStrike" cap="none" dirty="0">
              <a:solidFill>
                <a:schemeClr val="tx1"/>
              </a:solidFill>
              <a:latin typeface="Arial"/>
              <a:ea typeface="Arial"/>
              <a:cs typeface="Arial"/>
              <a:sym typeface="Arial"/>
            </a:endParaRPr>
          </a:p>
        </p:txBody>
      </p:sp>
      <p:cxnSp>
        <p:nvCxnSpPr>
          <p:cNvPr id="1147" name="Google Shape;1147;p8"/>
          <p:cNvCxnSpPr/>
          <p:nvPr/>
        </p:nvCxnSpPr>
        <p:spPr>
          <a:xfrm>
            <a:off x="4162584" y="3599256"/>
            <a:ext cx="7770336" cy="0"/>
          </a:xfrm>
          <a:prstGeom prst="straightConnector1">
            <a:avLst/>
          </a:prstGeom>
          <a:noFill/>
          <a:ln w="25400" cap="flat" cmpd="sng">
            <a:solidFill>
              <a:schemeClr val="accent1"/>
            </a:solidFill>
            <a:prstDash val="solid"/>
            <a:miter lim="800000"/>
            <a:headEnd type="none" w="sm" len="sm"/>
            <a:tailEnd type="none" w="sm" len="sm"/>
          </a:ln>
        </p:spPr>
      </p:cxnSp>
      <p:sp>
        <p:nvSpPr>
          <p:cNvPr id="1148" name="Google Shape;1148;p8"/>
          <p:cNvSpPr/>
          <p:nvPr/>
        </p:nvSpPr>
        <p:spPr>
          <a:xfrm>
            <a:off x="6812820" y="2584272"/>
            <a:ext cx="5120100" cy="914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solidFill>
                  <a:schemeClr val="bg2">
                    <a:lumMod val="50000"/>
                  </a:schemeClr>
                </a:solidFill>
                <a:latin typeface="Arial"/>
                <a:ea typeface="Arial"/>
                <a:cs typeface="Arial"/>
                <a:sym typeface="Arial"/>
              </a:rPr>
              <a:t>A cloud computing service is a mechanism to facilitate the request and the delivery of technology using an interface.  </a:t>
            </a:r>
            <a:endParaRPr sz="1400" b="0" i="0" u="none" strike="noStrike" cap="none" dirty="0">
              <a:solidFill>
                <a:schemeClr val="bg2">
                  <a:lumMod val="50000"/>
                </a:schemeClr>
              </a:solidFill>
              <a:latin typeface="Arial"/>
              <a:ea typeface="Arial"/>
              <a:cs typeface="Arial"/>
              <a:sym typeface="Arial"/>
            </a:endParaRPr>
          </a:p>
        </p:txBody>
      </p:sp>
      <p:sp>
        <p:nvSpPr>
          <p:cNvPr id="1149" name="Google Shape;1149;p8"/>
          <p:cNvSpPr/>
          <p:nvPr/>
        </p:nvSpPr>
        <p:spPr>
          <a:xfrm>
            <a:off x="4190556" y="3699841"/>
            <a:ext cx="2622264" cy="914400"/>
          </a:xfrm>
          <a:prstGeom prst="rect">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chemeClr val="tx1"/>
                </a:solidFill>
                <a:latin typeface="Arial"/>
                <a:ea typeface="Arial"/>
                <a:cs typeface="Arial"/>
                <a:sym typeface="Arial"/>
              </a:rPr>
              <a:t>What are compute, storage, and networking resources?</a:t>
            </a:r>
            <a:endParaRPr sz="1400" b="0" i="0" u="none" strike="noStrike" cap="none" dirty="0">
              <a:solidFill>
                <a:schemeClr val="tx1"/>
              </a:solidFill>
              <a:latin typeface="Arial"/>
              <a:ea typeface="Arial"/>
              <a:cs typeface="Arial"/>
              <a:sym typeface="Arial"/>
            </a:endParaRPr>
          </a:p>
        </p:txBody>
      </p:sp>
      <p:cxnSp>
        <p:nvCxnSpPr>
          <p:cNvPr id="1150" name="Google Shape;1150;p8"/>
          <p:cNvCxnSpPr/>
          <p:nvPr/>
        </p:nvCxnSpPr>
        <p:spPr>
          <a:xfrm>
            <a:off x="4190556" y="4714825"/>
            <a:ext cx="7770336" cy="0"/>
          </a:xfrm>
          <a:prstGeom prst="straightConnector1">
            <a:avLst/>
          </a:prstGeom>
          <a:noFill/>
          <a:ln w="25400" cap="flat" cmpd="sng">
            <a:solidFill>
              <a:schemeClr val="accent5"/>
            </a:solidFill>
            <a:prstDash val="solid"/>
            <a:miter lim="800000"/>
            <a:headEnd type="none" w="sm" len="sm"/>
            <a:tailEnd type="none" w="sm" len="sm"/>
          </a:ln>
        </p:spPr>
      </p:cxnSp>
      <p:sp>
        <p:nvSpPr>
          <p:cNvPr id="1151" name="Google Shape;1151;p8"/>
          <p:cNvSpPr/>
          <p:nvPr/>
        </p:nvSpPr>
        <p:spPr>
          <a:xfrm>
            <a:off x="6840792" y="3699841"/>
            <a:ext cx="5120100" cy="914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solidFill>
                  <a:schemeClr val="bg2">
                    <a:lumMod val="50000"/>
                  </a:schemeClr>
                </a:solidFill>
                <a:latin typeface="Arial"/>
                <a:ea typeface="Arial"/>
                <a:cs typeface="Arial"/>
                <a:sym typeface="Arial"/>
              </a:rPr>
              <a:t>Compute, storage, and networking resources are systems that handle data. “Compute” refers to a system that processes data, “Storage” refers to a system that stores data, and “Network” refers to a system that transports data.  </a:t>
            </a:r>
            <a:endParaRPr sz="1400" b="0" i="0" u="none" strike="noStrike" cap="none" dirty="0">
              <a:solidFill>
                <a:schemeClr val="bg2">
                  <a:lumMod val="50000"/>
                </a:schemeClr>
              </a:solidFill>
              <a:latin typeface="Arial"/>
              <a:ea typeface="Arial"/>
              <a:cs typeface="Arial"/>
              <a:sym typeface="Arial"/>
            </a:endParaRPr>
          </a:p>
        </p:txBody>
      </p:sp>
      <p:pic>
        <p:nvPicPr>
          <p:cNvPr id="1152" name="Google Shape;1152;p8" descr="Female Profile with solid fill"/>
          <p:cNvPicPr preferRelativeResize="0"/>
          <p:nvPr/>
        </p:nvPicPr>
        <p:blipFill rotWithShape="1">
          <a:blip r:embed="rId4">
            <a:alphaModFix/>
          </a:blip>
          <a:srcRect/>
          <a:stretch/>
        </p:blipFill>
        <p:spPr>
          <a:xfrm>
            <a:off x="8632562" y="5331465"/>
            <a:ext cx="914400" cy="914400"/>
          </a:xfrm>
          <a:prstGeom prst="rect">
            <a:avLst/>
          </a:prstGeom>
          <a:noFill/>
          <a:ln>
            <a:noFill/>
          </a:ln>
        </p:spPr>
      </p:pic>
      <p:pic>
        <p:nvPicPr>
          <p:cNvPr id="1153" name="Google Shape;1153;p8" descr="Male profile with solid fill"/>
          <p:cNvPicPr preferRelativeResize="0"/>
          <p:nvPr/>
        </p:nvPicPr>
        <p:blipFill rotWithShape="1">
          <a:blip r:embed="rId5">
            <a:alphaModFix/>
          </a:blip>
          <a:srcRect/>
          <a:stretch/>
        </p:blipFill>
        <p:spPr>
          <a:xfrm>
            <a:off x="5637212" y="5331465"/>
            <a:ext cx="914400" cy="914400"/>
          </a:xfrm>
          <a:prstGeom prst="rect">
            <a:avLst/>
          </a:prstGeom>
          <a:noFill/>
          <a:ln>
            <a:noFill/>
          </a:ln>
        </p:spPr>
      </p:pic>
      <p:sp>
        <p:nvSpPr>
          <p:cNvPr id="1154" name="Google Shape;1154;p8"/>
          <p:cNvSpPr/>
          <p:nvPr/>
        </p:nvSpPr>
        <p:spPr>
          <a:xfrm>
            <a:off x="5877698" y="4827516"/>
            <a:ext cx="1714619" cy="668977"/>
          </a:xfrm>
          <a:prstGeom prst="wedgeEllipseCallout">
            <a:avLst>
              <a:gd name="adj1" fmla="val -20833"/>
              <a:gd name="adj2" fmla="val 625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1"/>
                </a:solidFill>
                <a:latin typeface="Arial"/>
                <a:ea typeface="Arial"/>
                <a:cs typeface="Arial"/>
                <a:sym typeface="Arial"/>
              </a:rPr>
              <a:t>Thanks… but what does this have to do with VCF?</a:t>
            </a:r>
            <a:endParaRPr sz="1400" b="0" i="0" u="none" strike="noStrike" cap="none">
              <a:solidFill>
                <a:srgbClr val="000000"/>
              </a:solidFill>
              <a:latin typeface="Arial"/>
              <a:ea typeface="Arial"/>
              <a:cs typeface="Arial"/>
              <a:sym typeface="Arial"/>
            </a:endParaRPr>
          </a:p>
        </p:txBody>
      </p:sp>
      <p:sp>
        <p:nvSpPr>
          <p:cNvPr id="1155" name="Google Shape;1155;p8"/>
          <p:cNvSpPr/>
          <p:nvPr/>
        </p:nvSpPr>
        <p:spPr>
          <a:xfrm>
            <a:off x="8974867" y="4827516"/>
            <a:ext cx="1714619" cy="668977"/>
          </a:xfrm>
          <a:prstGeom prst="wedgeEllipseCallout">
            <a:avLst>
              <a:gd name="adj1" fmla="val -20833"/>
              <a:gd name="adj2" fmla="val 625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1"/>
                </a:solidFill>
                <a:latin typeface="Arial"/>
                <a:ea typeface="Arial"/>
                <a:cs typeface="Arial"/>
                <a:sym typeface="Arial"/>
              </a:rPr>
              <a:t>Because IaaS drives consumption of VCF</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sp>
        <p:nvSpPr>
          <p:cNvPr id="1161" name="Google Shape;1161;p9"/>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Running IaaS on VMware</a:t>
            </a:r>
          </a:p>
        </p:txBody>
      </p:sp>
      <p:sp>
        <p:nvSpPr>
          <p:cNvPr id="1162" name="Google Shape;1162;p9"/>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a:t>Goal: Deliver a Hyperscaler Experience with VMware</a:t>
            </a:r>
          </a:p>
          <a:p>
            <a:pPr lvl="0"/>
            <a:endParaRPr lang="en-US"/>
          </a:p>
        </p:txBody>
      </p:sp>
      <p:sp>
        <p:nvSpPr>
          <p:cNvPr id="1163" name="Google Shape;1163;p9"/>
          <p:cNvSpPr/>
          <p:nvPr/>
        </p:nvSpPr>
        <p:spPr>
          <a:xfrm>
            <a:off x="1546169" y="1516080"/>
            <a:ext cx="1762298" cy="1762298"/>
          </a:xfrm>
          <a:prstGeom prst="ellipse">
            <a:avLst/>
          </a:prstGeom>
          <a:noFill/>
          <a:ln w="381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53565A"/>
              </a:solidFill>
              <a:latin typeface="Arial"/>
              <a:ea typeface="Arial"/>
              <a:cs typeface="Arial"/>
              <a:sym typeface="Arial"/>
            </a:endParaRPr>
          </a:p>
        </p:txBody>
      </p:sp>
      <p:sp>
        <p:nvSpPr>
          <p:cNvPr id="1164" name="Google Shape;1164;p9"/>
          <p:cNvSpPr txBox="1"/>
          <p:nvPr/>
        </p:nvSpPr>
        <p:spPr>
          <a:xfrm>
            <a:off x="1728818" y="2023329"/>
            <a:ext cx="1397000" cy="747799"/>
          </a:xfrm>
          <a:prstGeom prst="rect">
            <a:avLst/>
          </a:prstGeom>
          <a:noFill/>
          <a:ln>
            <a:noFill/>
          </a:ln>
        </p:spPr>
        <p:txBody>
          <a:bodyPr spcFirstLastPara="1" wrap="square" lIns="91425" tIns="45700" rIns="91425" bIns="45700" anchor="t" anchorCtr="0">
            <a:noAutofit/>
          </a:bodyPr>
          <a:lstStyle/>
          <a:p>
            <a:pPr marL="0" marR="0" lvl="0" indent="-114300" algn="ctr" rtl="0">
              <a:lnSpc>
                <a:spcPct val="100000"/>
              </a:lnSpc>
              <a:spcBef>
                <a:spcPts val="0"/>
              </a:spcBef>
              <a:spcAft>
                <a:spcPts val="0"/>
              </a:spcAft>
              <a:buClr>
                <a:srgbClr val="A8A8AB"/>
              </a:buClr>
              <a:buSzPts val="1800"/>
              <a:buFont typeface="Arial"/>
              <a:buChar char="​"/>
            </a:pPr>
            <a:r>
              <a:rPr lang="en-US" sz="2000" b="0" i="0" u="none" strike="noStrike" cap="none">
                <a:solidFill>
                  <a:srgbClr val="53565A"/>
                </a:solidFill>
                <a:latin typeface="Arial"/>
                <a:ea typeface="Arial"/>
                <a:cs typeface="Arial"/>
                <a:sym typeface="Arial"/>
              </a:rPr>
              <a:t>Key Benefits</a:t>
            </a:r>
            <a:endParaRPr sz="1400" b="0" i="0" u="none" strike="noStrike" cap="none">
              <a:solidFill>
                <a:srgbClr val="53565A"/>
              </a:solidFill>
              <a:latin typeface="Arial"/>
              <a:ea typeface="Arial"/>
              <a:cs typeface="Arial"/>
              <a:sym typeface="Arial"/>
            </a:endParaRPr>
          </a:p>
        </p:txBody>
      </p:sp>
      <p:sp>
        <p:nvSpPr>
          <p:cNvPr id="1165" name="Google Shape;1165;p9"/>
          <p:cNvSpPr txBox="1"/>
          <p:nvPr/>
        </p:nvSpPr>
        <p:spPr>
          <a:xfrm>
            <a:off x="1050067" y="3413893"/>
            <a:ext cx="3147861" cy="2468840"/>
          </a:xfrm>
          <a:prstGeom prst="rect">
            <a:avLst/>
          </a:prstGeom>
          <a:no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A8A8AB"/>
              </a:buClr>
              <a:buSzPts val="1440"/>
              <a:buFont typeface="Arial"/>
              <a:buChar char="•"/>
            </a:pPr>
            <a:r>
              <a:rPr lang="en-US" sz="1600" b="0" i="0" u="none" strike="noStrike" cap="none" dirty="0">
                <a:solidFill>
                  <a:srgbClr val="53565A"/>
                </a:solidFill>
                <a:latin typeface="Arial"/>
                <a:ea typeface="Arial"/>
                <a:cs typeface="Arial"/>
                <a:sym typeface="Arial"/>
              </a:rPr>
              <a:t>Prescriptive approach to development and and operations</a:t>
            </a:r>
            <a:endParaRPr sz="1400" b="0" i="0" u="none" strike="noStrike" cap="none" dirty="0">
              <a:solidFill>
                <a:srgbClr val="53565A"/>
              </a:solidFill>
              <a:latin typeface="Arial"/>
              <a:ea typeface="Arial"/>
              <a:cs typeface="Arial"/>
              <a:sym typeface="Arial"/>
            </a:endParaRPr>
          </a:p>
          <a:p>
            <a:pPr marL="285750" marR="0" lvl="1" indent="-285750" algn="l" rtl="0">
              <a:lnSpc>
                <a:spcPct val="100000"/>
              </a:lnSpc>
              <a:spcBef>
                <a:spcPts val="1200"/>
              </a:spcBef>
              <a:spcAft>
                <a:spcPts val="0"/>
              </a:spcAft>
              <a:buClr>
                <a:schemeClr val="dk1"/>
              </a:buClr>
              <a:buSzPts val="1440"/>
              <a:buFont typeface="Arial"/>
              <a:buChar char="•"/>
            </a:pPr>
            <a:r>
              <a:rPr lang="en-US" sz="1600" b="0" i="0" u="none" strike="noStrike" cap="none" dirty="0">
                <a:solidFill>
                  <a:srgbClr val="53565A"/>
                </a:solidFill>
                <a:latin typeface="Arial"/>
                <a:ea typeface="Arial"/>
                <a:cs typeface="Arial"/>
                <a:sym typeface="Arial"/>
              </a:rPr>
              <a:t>Improved agility and cost efficiency</a:t>
            </a:r>
            <a:endParaRPr sz="1400" b="0" i="0" u="none" strike="noStrike" cap="none" dirty="0">
              <a:solidFill>
                <a:srgbClr val="53565A"/>
              </a:solidFill>
              <a:latin typeface="Arial"/>
              <a:ea typeface="Arial"/>
              <a:cs typeface="Arial"/>
              <a:sym typeface="Arial"/>
            </a:endParaRPr>
          </a:p>
          <a:p>
            <a:pPr marL="285750" marR="0" lvl="1" indent="-285750" algn="l" rtl="0">
              <a:lnSpc>
                <a:spcPct val="100000"/>
              </a:lnSpc>
              <a:spcBef>
                <a:spcPts val="1200"/>
              </a:spcBef>
              <a:spcAft>
                <a:spcPts val="0"/>
              </a:spcAft>
              <a:buClr>
                <a:schemeClr val="dk1"/>
              </a:buClr>
              <a:buSzPts val="1440"/>
              <a:buFont typeface="Arial"/>
              <a:buChar char="•"/>
            </a:pPr>
            <a:r>
              <a:rPr lang="en-US" sz="1600" b="0" i="0" u="none" strike="noStrike" cap="none" dirty="0">
                <a:solidFill>
                  <a:srgbClr val="53565A"/>
                </a:solidFill>
                <a:latin typeface="Arial"/>
                <a:ea typeface="Arial"/>
                <a:cs typeface="Arial"/>
                <a:sym typeface="Arial"/>
              </a:rPr>
              <a:t>Continuous improvement</a:t>
            </a:r>
            <a:endParaRPr sz="1400" b="0" i="0" u="none" strike="noStrike" cap="none" dirty="0">
              <a:solidFill>
                <a:srgbClr val="53565A"/>
              </a:solidFill>
              <a:latin typeface="Arial"/>
              <a:ea typeface="Arial"/>
              <a:cs typeface="Arial"/>
              <a:sym typeface="Arial"/>
            </a:endParaRPr>
          </a:p>
          <a:p>
            <a:pPr marL="285750" marR="0" lvl="1" indent="-285750" algn="l" rtl="0">
              <a:lnSpc>
                <a:spcPct val="100000"/>
              </a:lnSpc>
              <a:spcBef>
                <a:spcPts val="1200"/>
              </a:spcBef>
              <a:spcAft>
                <a:spcPts val="0"/>
              </a:spcAft>
              <a:buClr>
                <a:schemeClr val="dk1"/>
              </a:buClr>
              <a:buSzPts val="1440"/>
              <a:buFont typeface="Arial"/>
              <a:buChar char="•"/>
            </a:pPr>
            <a:r>
              <a:rPr lang="en-US" sz="1600" b="0" i="0" u="none" strike="noStrike" cap="none" dirty="0">
                <a:solidFill>
                  <a:srgbClr val="53565A"/>
                </a:solidFill>
                <a:latin typeface="Arial"/>
                <a:ea typeface="Arial"/>
                <a:cs typeface="Arial"/>
                <a:sym typeface="Arial"/>
              </a:rPr>
              <a:t>Simplified marketplace for consumer</a:t>
            </a:r>
            <a:endParaRPr sz="1400" b="0" i="0" u="none" strike="noStrike" cap="none" dirty="0">
              <a:solidFill>
                <a:srgbClr val="53565A"/>
              </a:solidFill>
              <a:latin typeface="Arial"/>
              <a:ea typeface="Arial"/>
              <a:cs typeface="Arial"/>
              <a:sym typeface="Arial"/>
            </a:endParaRPr>
          </a:p>
        </p:txBody>
      </p:sp>
      <p:sp>
        <p:nvSpPr>
          <p:cNvPr id="1166" name="Google Shape;1166;p9"/>
          <p:cNvSpPr/>
          <p:nvPr/>
        </p:nvSpPr>
        <p:spPr>
          <a:xfrm>
            <a:off x="4915594" y="1435724"/>
            <a:ext cx="1762298" cy="1762298"/>
          </a:xfrm>
          <a:prstGeom prst="ellipse">
            <a:avLst/>
          </a:prstGeom>
          <a:noFill/>
          <a:ln w="381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1"/>
              </a:solidFill>
              <a:latin typeface="Arial"/>
              <a:ea typeface="Arial"/>
              <a:cs typeface="Arial"/>
              <a:sym typeface="Arial"/>
            </a:endParaRPr>
          </a:p>
        </p:txBody>
      </p:sp>
      <p:sp>
        <p:nvSpPr>
          <p:cNvPr id="1167" name="Google Shape;1167;p9"/>
          <p:cNvSpPr/>
          <p:nvPr/>
        </p:nvSpPr>
        <p:spPr>
          <a:xfrm>
            <a:off x="8285019" y="1367880"/>
            <a:ext cx="1762298" cy="1762298"/>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4"/>
              </a:solidFill>
              <a:latin typeface="Arial"/>
              <a:ea typeface="Arial"/>
              <a:cs typeface="Arial"/>
              <a:sym typeface="Arial"/>
            </a:endParaRPr>
          </a:p>
        </p:txBody>
      </p:sp>
      <p:sp>
        <p:nvSpPr>
          <p:cNvPr id="1168" name="Google Shape;1168;p9"/>
          <p:cNvSpPr txBox="1"/>
          <p:nvPr/>
        </p:nvSpPr>
        <p:spPr>
          <a:xfrm>
            <a:off x="4628010" y="3419568"/>
            <a:ext cx="2337464" cy="1762298"/>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A8A8AB"/>
              </a:buClr>
              <a:buSzPts val="1440"/>
              <a:buFont typeface="Arial"/>
              <a:buChar char="•"/>
            </a:pPr>
            <a:r>
              <a:rPr lang="en-US" sz="1600" b="0" i="0" u="none" strike="noStrike" cap="none" dirty="0">
                <a:solidFill>
                  <a:schemeClr val="accent1"/>
                </a:solidFill>
                <a:latin typeface="Arial"/>
                <a:ea typeface="Arial"/>
                <a:cs typeface="Arial"/>
                <a:sym typeface="Arial"/>
              </a:rPr>
              <a:t>IaaS Developer</a:t>
            </a:r>
            <a:endParaRPr sz="1400" b="0" i="0" u="none" strike="noStrike" cap="none" dirty="0">
              <a:solidFill>
                <a:schemeClr val="accent1"/>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dirty="0">
                <a:solidFill>
                  <a:schemeClr val="accent1"/>
                </a:solidFill>
                <a:latin typeface="Arial"/>
                <a:ea typeface="Arial"/>
                <a:cs typeface="Arial"/>
                <a:sym typeface="Arial"/>
              </a:rPr>
              <a:t>IaaS Administrator</a:t>
            </a:r>
            <a:endParaRPr sz="1400" b="0" i="0" u="none" strike="noStrike" cap="none" dirty="0">
              <a:solidFill>
                <a:schemeClr val="accent1"/>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dirty="0">
                <a:solidFill>
                  <a:schemeClr val="accent1"/>
                </a:solidFill>
                <a:latin typeface="Arial"/>
                <a:ea typeface="Arial"/>
                <a:cs typeface="Arial"/>
                <a:sym typeface="Arial"/>
              </a:rPr>
              <a:t>IaaS Approver</a:t>
            </a:r>
            <a:endParaRPr sz="1400" b="0" i="0" u="none" strike="noStrike" cap="none" dirty="0">
              <a:solidFill>
                <a:schemeClr val="accent1"/>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dirty="0">
                <a:solidFill>
                  <a:schemeClr val="accent1"/>
                </a:solidFill>
                <a:latin typeface="Arial"/>
                <a:ea typeface="Arial"/>
                <a:cs typeface="Arial"/>
                <a:sym typeface="Arial"/>
              </a:rPr>
              <a:t>IaaS Consumer</a:t>
            </a:r>
          </a:p>
          <a:p>
            <a:pPr marL="342900" marR="0" lvl="0" indent="-342900" algn="l" rtl="0">
              <a:lnSpc>
                <a:spcPct val="100000"/>
              </a:lnSpc>
              <a:spcBef>
                <a:spcPts val="1200"/>
              </a:spcBef>
              <a:spcAft>
                <a:spcPts val="0"/>
              </a:spcAft>
              <a:buClr>
                <a:srgbClr val="A8A8AB"/>
              </a:buClr>
              <a:buSzPts val="1440"/>
              <a:buFont typeface="Arial"/>
              <a:buChar char="•"/>
            </a:pPr>
            <a:r>
              <a:rPr lang="en-US" sz="1600">
                <a:solidFill>
                  <a:schemeClr val="accent1"/>
                </a:solidFill>
              </a:rPr>
              <a:t>NEW ROLE</a:t>
            </a:r>
            <a:endParaRPr sz="1400" b="0" i="0" u="none" strike="noStrike" cap="none">
              <a:solidFill>
                <a:schemeClr val="accent1"/>
              </a:solidFill>
              <a:latin typeface="Arial"/>
              <a:ea typeface="Arial"/>
              <a:cs typeface="Arial"/>
              <a:sym typeface="Arial"/>
            </a:endParaRPr>
          </a:p>
        </p:txBody>
      </p:sp>
      <p:sp>
        <p:nvSpPr>
          <p:cNvPr id="1169" name="Google Shape;1169;p9"/>
          <p:cNvSpPr txBox="1"/>
          <p:nvPr/>
        </p:nvSpPr>
        <p:spPr>
          <a:xfrm>
            <a:off x="7743885" y="3278378"/>
            <a:ext cx="3632200" cy="276779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A8A8AB"/>
              </a:buClr>
              <a:buSzPts val="1440"/>
              <a:buFont typeface="Arial"/>
              <a:buChar char="•"/>
            </a:pPr>
            <a:r>
              <a:rPr lang="en-US" sz="1600" b="0" i="0" u="none" strike="noStrike" cap="none">
                <a:solidFill>
                  <a:schemeClr val="accent4"/>
                </a:solidFill>
                <a:latin typeface="Arial"/>
                <a:ea typeface="Arial"/>
                <a:cs typeface="Arial"/>
                <a:sym typeface="Arial"/>
              </a:rPr>
              <a:t>Physical / Virtual IaaS</a:t>
            </a:r>
            <a:endParaRPr sz="1400" b="0" i="0" u="none" strike="noStrike" cap="none">
              <a:solidFill>
                <a:schemeClr val="accent4"/>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a:solidFill>
                  <a:schemeClr val="accent4"/>
                </a:solidFill>
                <a:latin typeface="Arial"/>
                <a:ea typeface="Arial"/>
                <a:cs typeface="Arial"/>
                <a:sym typeface="Arial"/>
              </a:rPr>
              <a:t>Marketplace to build, destroy and rebuild Infrastructure</a:t>
            </a:r>
            <a:endParaRPr sz="1400" b="0" i="0" u="none" strike="noStrike" cap="none">
              <a:solidFill>
                <a:schemeClr val="accent4"/>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a:solidFill>
                  <a:schemeClr val="accent4"/>
                </a:solidFill>
                <a:latin typeface="Arial"/>
                <a:ea typeface="Arial"/>
                <a:cs typeface="Arial"/>
                <a:sym typeface="Arial"/>
              </a:rPr>
              <a:t>Monitor and log requests</a:t>
            </a:r>
            <a:endParaRPr sz="1400" b="0" i="0" u="none" strike="noStrike" cap="none">
              <a:solidFill>
                <a:schemeClr val="accent4"/>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a:solidFill>
                  <a:schemeClr val="accent4"/>
                </a:solidFill>
                <a:latin typeface="Arial"/>
                <a:ea typeface="Arial"/>
                <a:cs typeface="Arial"/>
                <a:sym typeface="Arial"/>
              </a:rPr>
              <a:t>Management of capacity, Availability and performance</a:t>
            </a:r>
            <a:endParaRPr sz="1400" b="0" i="0" u="none" strike="noStrike" cap="none">
              <a:solidFill>
                <a:schemeClr val="accent4"/>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a:solidFill>
                  <a:schemeClr val="accent4"/>
                </a:solidFill>
                <a:latin typeface="Arial"/>
                <a:ea typeface="Arial"/>
                <a:cs typeface="Arial"/>
                <a:sym typeface="Arial"/>
              </a:rPr>
              <a:t>Operational cost calculations</a:t>
            </a:r>
            <a:endParaRPr sz="1400" b="0" i="0" u="none" strike="noStrike" cap="none">
              <a:solidFill>
                <a:schemeClr val="accent4"/>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a:solidFill>
                  <a:schemeClr val="accent4"/>
                </a:solidFill>
                <a:latin typeface="Arial"/>
                <a:ea typeface="Arial"/>
                <a:cs typeface="Arial"/>
                <a:sym typeface="Arial"/>
              </a:rPr>
              <a:t>Compliance policies</a:t>
            </a:r>
            <a:endParaRPr sz="1400" b="0" i="0" u="none" strike="noStrike" cap="none">
              <a:solidFill>
                <a:schemeClr val="accent4"/>
              </a:solidFill>
              <a:latin typeface="Arial"/>
              <a:ea typeface="Arial"/>
              <a:cs typeface="Arial"/>
              <a:sym typeface="Arial"/>
            </a:endParaRPr>
          </a:p>
        </p:txBody>
      </p:sp>
      <p:sp>
        <p:nvSpPr>
          <p:cNvPr id="1170" name="Google Shape;1170;p9"/>
          <p:cNvSpPr txBox="1"/>
          <p:nvPr/>
        </p:nvSpPr>
        <p:spPr>
          <a:xfrm>
            <a:off x="5098242" y="1935817"/>
            <a:ext cx="1397000" cy="674630"/>
          </a:xfrm>
          <a:prstGeom prst="rect">
            <a:avLst/>
          </a:prstGeom>
          <a:noFill/>
          <a:ln>
            <a:noFill/>
          </a:ln>
        </p:spPr>
        <p:txBody>
          <a:bodyPr spcFirstLastPara="1" wrap="square" lIns="91425" tIns="45700" rIns="91425" bIns="45700" anchor="t" anchorCtr="0">
            <a:noAutofit/>
          </a:bodyPr>
          <a:lstStyle/>
          <a:p>
            <a:pPr marL="0" marR="0" lvl="0" indent="-114300" algn="ctr" rtl="0">
              <a:lnSpc>
                <a:spcPct val="100000"/>
              </a:lnSpc>
              <a:spcBef>
                <a:spcPts val="0"/>
              </a:spcBef>
              <a:spcAft>
                <a:spcPts val="0"/>
              </a:spcAft>
              <a:buClr>
                <a:srgbClr val="A8A8AB"/>
              </a:buClr>
              <a:buSzPts val="1800"/>
              <a:buFont typeface="Arial"/>
              <a:buChar char="​"/>
            </a:pPr>
            <a:r>
              <a:rPr lang="en-US" sz="2000" b="0" i="0" u="none" strike="noStrike" cap="none">
                <a:solidFill>
                  <a:schemeClr val="accent1"/>
                </a:solidFill>
                <a:latin typeface="Arial"/>
                <a:ea typeface="Arial"/>
                <a:cs typeface="Arial"/>
                <a:sym typeface="Arial"/>
              </a:rPr>
              <a:t>Primary Roles</a:t>
            </a:r>
            <a:endParaRPr sz="1400" b="0" i="0" u="none" strike="noStrike" cap="none">
              <a:solidFill>
                <a:schemeClr val="accent1"/>
              </a:solidFill>
              <a:latin typeface="Arial"/>
              <a:ea typeface="Arial"/>
              <a:cs typeface="Arial"/>
              <a:sym typeface="Arial"/>
            </a:endParaRPr>
          </a:p>
        </p:txBody>
      </p:sp>
      <p:sp>
        <p:nvSpPr>
          <p:cNvPr id="1171" name="Google Shape;1171;p9"/>
          <p:cNvSpPr txBox="1"/>
          <p:nvPr/>
        </p:nvSpPr>
        <p:spPr>
          <a:xfrm>
            <a:off x="8376343" y="1851414"/>
            <a:ext cx="1579649" cy="708811"/>
          </a:xfrm>
          <a:prstGeom prst="rect">
            <a:avLst/>
          </a:prstGeom>
          <a:noFill/>
          <a:ln>
            <a:noFill/>
          </a:ln>
        </p:spPr>
        <p:txBody>
          <a:bodyPr spcFirstLastPara="1" wrap="square" lIns="91425" tIns="45700" rIns="91425" bIns="45700" anchor="t" anchorCtr="0">
            <a:noAutofit/>
          </a:bodyPr>
          <a:lstStyle/>
          <a:p>
            <a:pPr marL="0" marR="0" lvl="0" indent="-114300" algn="ctr" rtl="0">
              <a:lnSpc>
                <a:spcPct val="100000"/>
              </a:lnSpc>
              <a:spcBef>
                <a:spcPts val="0"/>
              </a:spcBef>
              <a:spcAft>
                <a:spcPts val="0"/>
              </a:spcAft>
              <a:buClr>
                <a:srgbClr val="A8A8AB"/>
              </a:buClr>
              <a:buSzPts val="1800"/>
              <a:buFont typeface="Arial"/>
              <a:buChar char="​"/>
            </a:pPr>
            <a:r>
              <a:rPr lang="en-US" sz="2000" b="0" i="0" u="none" strike="noStrike" cap="none">
                <a:solidFill>
                  <a:schemeClr val="accent4"/>
                </a:solidFill>
                <a:latin typeface="Arial"/>
                <a:ea typeface="Arial"/>
                <a:cs typeface="Arial"/>
                <a:sym typeface="Arial"/>
              </a:rPr>
              <a:t>Core Capabilities</a:t>
            </a:r>
            <a:endParaRPr sz="1400" b="0" i="0" u="none" strike="noStrike" cap="none">
              <a:solidFill>
                <a:schemeClr val="accent4"/>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7" name="Google Shape;1177;p10"/>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What is a Conceptual Design?</a:t>
            </a:r>
          </a:p>
        </p:txBody>
      </p:sp>
      <p:sp>
        <p:nvSpPr>
          <p:cNvPr id="1176" name="Google Shape;1176;p10"/>
          <p:cNvSpPr txBox="1">
            <a:spLocks noGrp="1"/>
          </p:cNvSpPr>
          <p:nvPr>
            <p:ph type="subTitle" idx="10"/>
          </p:nvPr>
        </p:nvSpPr>
        <p:spPr>
          <a:xfrm>
            <a:off x="592866" y="811830"/>
            <a:ext cx="10987947" cy="247743"/>
          </a:xfrm>
          <a:noFill/>
          <a:ln>
            <a:noFill/>
          </a:ln>
        </p:spPr>
        <p:txBody>
          <a:bodyPr spcFirstLastPara="1" wrap="square" lIns="0" tIns="0" rIns="0" bIns="0" anchor="t" anchorCtr="0">
            <a:spAutoFit/>
          </a:bodyPr>
          <a:lstStyle/>
          <a:p>
            <a:r>
              <a:rPr lang="en-US"/>
              <a:t>Terms and Definitions</a:t>
            </a:r>
          </a:p>
          <a:p>
            <a:pPr lvl="0"/>
            <a:endParaRPr lang="en-US" dirty="0"/>
          </a:p>
        </p:txBody>
      </p:sp>
      <p:sp>
        <p:nvSpPr>
          <p:cNvPr id="1178" name="Google Shape;1178;p10"/>
          <p:cNvSpPr txBox="1">
            <a:spLocks noGrp="1"/>
          </p:cNvSpPr>
          <p:nvPr>
            <p:ph sz="quarter" idx="14"/>
          </p:nvPr>
        </p:nvSpPr>
        <p:spPr>
          <a:xfrm>
            <a:off x="616505" y="1600201"/>
            <a:ext cx="10972800" cy="2000548"/>
          </a:xfrm>
          <a:noFill/>
          <a:ln>
            <a:noFill/>
          </a:ln>
        </p:spPr>
        <p:txBody>
          <a:bodyPr spcFirstLastPara="1" wrap="square" lIns="0" tIns="0" rIns="0" bIns="0" anchor="t" anchorCtr="0">
            <a:spAutoFit/>
          </a:bodyPr>
          <a:lstStyle/>
          <a:p>
            <a:pPr lvl="0"/>
            <a:r>
              <a:rPr lang="en-US" dirty="0"/>
              <a:t>A </a:t>
            </a:r>
            <a:r>
              <a:rPr lang="en-US" dirty="0">
                <a:solidFill>
                  <a:schemeClr val="accent1"/>
                </a:solidFill>
              </a:rPr>
              <a:t>Conceptual Design </a:t>
            </a:r>
            <a:r>
              <a:rPr lang="en-US" dirty="0"/>
              <a:t>is an element of the High-Level Design that outlines the goals and structure of an enterprise system. </a:t>
            </a:r>
          </a:p>
          <a:p>
            <a:pPr lvl="0"/>
            <a:r>
              <a:rPr lang="en-US" dirty="0"/>
              <a:t>The scope of the enterprise system may range from a specific domain such as </a:t>
            </a:r>
            <a:r>
              <a:rPr lang="en-US" dirty="0">
                <a:solidFill>
                  <a:schemeClr val="accent1"/>
                </a:solidFill>
              </a:rPr>
              <a:t>network</a:t>
            </a:r>
            <a:r>
              <a:rPr lang="en-US" dirty="0"/>
              <a:t> or </a:t>
            </a:r>
            <a:r>
              <a:rPr lang="en-US" dirty="0">
                <a:solidFill>
                  <a:schemeClr val="accent1"/>
                </a:solidFill>
              </a:rPr>
              <a:t>infrastructure</a:t>
            </a:r>
            <a:r>
              <a:rPr lang="en-US" dirty="0"/>
              <a:t> to a larger design encompassing many or all domains. </a:t>
            </a:r>
          </a:p>
          <a:p>
            <a:pPr lvl="0"/>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0"/>
        <p:cNvGrpSpPr/>
        <p:nvPr/>
      </p:nvGrpSpPr>
      <p:grpSpPr>
        <a:xfrm>
          <a:off x="0" y="0"/>
          <a:ext cx="0" cy="0"/>
          <a:chOff x="0" y="0"/>
          <a:chExt cx="0" cy="0"/>
        </a:xfrm>
      </p:grpSpPr>
      <p:sp>
        <p:nvSpPr>
          <p:cNvPr id="1581" name="Google Shape;1581;p85"/>
          <p:cNvSpPr/>
          <p:nvPr/>
        </p:nvSpPr>
        <p:spPr>
          <a:xfrm>
            <a:off x="608010" y="1377916"/>
            <a:ext cx="10972742" cy="4863133"/>
          </a:xfrm>
          <a:prstGeom prst="roundRect">
            <a:avLst>
              <a:gd name="adj" fmla="val 3217"/>
            </a:avLst>
          </a:prstGeom>
          <a:solidFill>
            <a:srgbClr val="F2F2F2"/>
          </a:solidFill>
          <a:ln>
            <a:noFill/>
          </a:ln>
        </p:spPr>
        <p:txBody>
          <a:bodyPr spcFirstLastPara="1" wrap="square" lIns="91410" tIns="45688" rIns="91410" bIns="45688" anchor="ctr" anchorCtr="0">
            <a:noAutofit/>
          </a:bodyPr>
          <a:lstStyle/>
          <a:p>
            <a:pPr algn="ctr"/>
            <a:endParaRPr sz="1200">
              <a:solidFill>
                <a:schemeClr val="lt1"/>
              </a:solidFill>
            </a:endParaRPr>
          </a:p>
        </p:txBody>
      </p:sp>
      <p:sp>
        <p:nvSpPr>
          <p:cNvPr id="1582" name="Google Shape;1582;p85"/>
          <p:cNvSpPr txBox="1">
            <a:spLocks noGrp="1"/>
          </p:cNvSpPr>
          <p:nvPr>
            <p:ph type="title"/>
          </p:nvPr>
        </p:nvSpPr>
        <p:spPr>
          <a:noFill/>
          <a:ln>
            <a:noFill/>
          </a:ln>
        </p:spPr>
        <p:txBody>
          <a:bodyPr spcFirstLastPara="1" vert="horz" wrap="square" lIns="0" tIns="0" rIns="0" bIns="0" rtlCol="0" anchor="b" anchorCtr="0">
            <a:noAutofit/>
          </a:bodyPr>
          <a:lstStyle/>
          <a:p>
            <a:r>
              <a:rPr lang="en-US" dirty="0"/>
              <a:t>VMware Pro Cloud Services for Private Cloud</a:t>
            </a:r>
            <a:endParaRPr lang="en-CA" dirty="0"/>
          </a:p>
        </p:txBody>
      </p:sp>
      <p:sp>
        <p:nvSpPr>
          <p:cNvPr id="3" name="Subtitle 2">
            <a:extLst>
              <a:ext uri="{FF2B5EF4-FFF2-40B4-BE49-F238E27FC236}">
                <a16:creationId xmlns:a16="http://schemas.microsoft.com/office/drawing/2014/main" id="{113FC238-B338-25E5-FF13-2BC480677C1F}"/>
              </a:ext>
            </a:extLst>
          </p:cNvPr>
          <p:cNvSpPr>
            <a:spLocks noGrp="1"/>
          </p:cNvSpPr>
          <p:nvPr>
            <p:ph type="subTitle" idx="10"/>
          </p:nvPr>
        </p:nvSpPr>
        <p:spPr/>
        <p:txBody>
          <a:bodyPr/>
          <a:lstStyle/>
          <a:p>
            <a:r>
              <a:rPr lang="en-US" dirty="0"/>
              <a:t>Conceptual overview</a:t>
            </a:r>
          </a:p>
          <a:p>
            <a:endParaRPr lang="en-US" dirty="0"/>
          </a:p>
        </p:txBody>
      </p:sp>
      <p:sp>
        <p:nvSpPr>
          <p:cNvPr id="1583" name="Google Shape;1583;p85"/>
          <p:cNvSpPr/>
          <p:nvPr/>
        </p:nvSpPr>
        <p:spPr>
          <a:xfrm>
            <a:off x="3008312" y="5757096"/>
            <a:ext cx="6172392" cy="274329"/>
          </a:xfrm>
          <a:prstGeom prst="roundRect">
            <a:avLst>
              <a:gd name="adj" fmla="val 16667"/>
            </a:avLst>
          </a:prstGeom>
          <a:solidFill>
            <a:schemeClr val="dk2"/>
          </a:solidFill>
          <a:ln>
            <a:noFill/>
          </a:ln>
        </p:spPr>
        <p:txBody>
          <a:bodyPr spcFirstLastPara="1" wrap="square" lIns="91410" tIns="91410" rIns="91410" bIns="91410" anchor="ctr" anchorCtr="0">
            <a:noAutofit/>
          </a:bodyPr>
          <a:lstStyle/>
          <a:p>
            <a:pPr algn="ctr"/>
            <a:r>
              <a:rPr lang="en" sz="1066">
                <a:solidFill>
                  <a:schemeClr val="lt1"/>
                </a:solidFill>
              </a:rPr>
              <a:t>Any Hardware</a:t>
            </a:r>
            <a:endParaRPr sz="1066">
              <a:solidFill>
                <a:schemeClr val="lt1"/>
              </a:solidFill>
            </a:endParaRPr>
          </a:p>
        </p:txBody>
      </p:sp>
      <p:grpSp>
        <p:nvGrpSpPr>
          <p:cNvPr id="1584" name="Google Shape;1584;p85"/>
          <p:cNvGrpSpPr/>
          <p:nvPr/>
        </p:nvGrpSpPr>
        <p:grpSpPr>
          <a:xfrm>
            <a:off x="3008627" y="1528013"/>
            <a:ext cx="6171708" cy="274129"/>
            <a:chOff x="3008609" y="1457830"/>
            <a:chExt cx="6171670" cy="274200"/>
          </a:xfrm>
        </p:grpSpPr>
        <p:sp>
          <p:nvSpPr>
            <p:cNvPr id="1585" name="Google Shape;1585;p85"/>
            <p:cNvSpPr/>
            <p:nvPr/>
          </p:nvSpPr>
          <p:spPr>
            <a:xfrm>
              <a:off x="5093494" y="1457830"/>
              <a:ext cx="2001900" cy="274200"/>
            </a:xfrm>
            <a:prstGeom prst="roundRect">
              <a:avLst>
                <a:gd name="adj" fmla="val 50000"/>
              </a:avLst>
            </a:prstGeom>
            <a:solidFill>
              <a:schemeClr val="dk2"/>
            </a:solidFill>
            <a:ln>
              <a:noFill/>
            </a:ln>
          </p:spPr>
          <p:txBody>
            <a:bodyPr spcFirstLastPara="1" wrap="square" lIns="91410" tIns="45688" rIns="91410" bIns="45688" anchor="ctr" anchorCtr="0">
              <a:noAutofit/>
            </a:bodyPr>
            <a:lstStyle/>
            <a:p>
              <a:pPr algn="ctr">
                <a:buSzPts val="800"/>
              </a:pPr>
              <a:r>
                <a:rPr lang="en" sz="1066">
                  <a:solidFill>
                    <a:schemeClr val="lt1"/>
                  </a:solidFill>
                </a:rPr>
                <a:t>Devs and SREs</a:t>
              </a:r>
              <a:endParaRPr sz="1466">
                <a:solidFill>
                  <a:schemeClr val="lt1"/>
                </a:solidFill>
              </a:endParaRPr>
            </a:p>
          </p:txBody>
        </p:sp>
        <p:sp>
          <p:nvSpPr>
            <p:cNvPr id="1586" name="Google Shape;1586;p85"/>
            <p:cNvSpPr/>
            <p:nvPr/>
          </p:nvSpPr>
          <p:spPr>
            <a:xfrm>
              <a:off x="7178379" y="1457830"/>
              <a:ext cx="2001900" cy="274200"/>
            </a:xfrm>
            <a:prstGeom prst="roundRect">
              <a:avLst>
                <a:gd name="adj" fmla="val 50000"/>
              </a:avLst>
            </a:prstGeom>
            <a:solidFill>
              <a:schemeClr val="dk2"/>
            </a:solidFill>
            <a:ln>
              <a:noFill/>
            </a:ln>
          </p:spPr>
          <p:txBody>
            <a:bodyPr spcFirstLastPara="1" wrap="square" lIns="91410" tIns="45688" rIns="91410" bIns="45688" anchor="ctr" anchorCtr="0">
              <a:noAutofit/>
            </a:bodyPr>
            <a:lstStyle/>
            <a:p>
              <a:pPr algn="ctr">
                <a:buSzPts val="800"/>
              </a:pPr>
              <a:r>
                <a:rPr lang="en" sz="1066">
                  <a:solidFill>
                    <a:schemeClr val="lt1"/>
                  </a:solidFill>
                </a:rPr>
                <a:t>Platform Teams</a:t>
              </a:r>
              <a:endParaRPr sz="1466">
                <a:solidFill>
                  <a:schemeClr val="lt1"/>
                </a:solidFill>
              </a:endParaRPr>
            </a:p>
          </p:txBody>
        </p:sp>
        <p:sp>
          <p:nvSpPr>
            <p:cNvPr id="1587" name="Google Shape;1587;p85"/>
            <p:cNvSpPr/>
            <p:nvPr/>
          </p:nvSpPr>
          <p:spPr>
            <a:xfrm>
              <a:off x="3008609" y="1457830"/>
              <a:ext cx="2001900" cy="274200"/>
            </a:xfrm>
            <a:prstGeom prst="roundRect">
              <a:avLst>
                <a:gd name="adj" fmla="val 50000"/>
              </a:avLst>
            </a:prstGeom>
            <a:solidFill>
              <a:schemeClr val="dk2"/>
            </a:solidFill>
            <a:ln>
              <a:noFill/>
            </a:ln>
          </p:spPr>
          <p:txBody>
            <a:bodyPr spcFirstLastPara="1" wrap="square" lIns="91410" tIns="45688" rIns="91410" bIns="45688" anchor="ctr" anchorCtr="0">
              <a:noAutofit/>
            </a:bodyPr>
            <a:lstStyle/>
            <a:p>
              <a:pPr algn="ctr">
                <a:buSzPts val="800"/>
              </a:pPr>
              <a:r>
                <a:rPr lang="en" sz="1066">
                  <a:solidFill>
                    <a:schemeClr val="lt1"/>
                  </a:solidFill>
                </a:rPr>
                <a:t>LOBs</a:t>
              </a:r>
              <a:endParaRPr sz="1466">
                <a:solidFill>
                  <a:schemeClr val="lt1"/>
                </a:solidFill>
              </a:endParaRPr>
            </a:p>
          </p:txBody>
        </p:sp>
      </p:grpSp>
      <p:sp>
        <p:nvSpPr>
          <p:cNvPr id="1588" name="Google Shape;1588;p85"/>
          <p:cNvSpPr/>
          <p:nvPr/>
        </p:nvSpPr>
        <p:spPr>
          <a:xfrm>
            <a:off x="1065213" y="1926407"/>
            <a:ext cx="10058580" cy="274329"/>
          </a:xfrm>
          <a:prstGeom prst="roundRect">
            <a:avLst>
              <a:gd name="adj" fmla="val 16666"/>
            </a:avLst>
          </a:prstGeom>
          <a:gradFill>
            <a:gsLst>
              <a:gs pos="0">
                <a:schemeClr val="accent5"/>
              </a:gs>
              <a:gs pos="37600">
                <a:schemeClr val="accent2"/>
              </a:gs>
              <a:gs pos="69740">
                <a:schemeClr val="accent1"/>
              </a:gs>
              <a:gs pos="100000">
                <a:schemeClr val="accent4"/>
              </a:gs>
            </a:gsLst>
            <a:lin ang="0" scaled="0"/>
          </a:gradFill>
          <a:ln>
            <a:noFill/>
          </a:ln>
        </p:spPr>
        <p:txBody>
          <a:bodyPr spcFirstLastPara="1" wrap="square" lIns="91410" tIns="45688" rIns="91410" bIns="45688" anchor="ctr" anchorCtr="0">
            <a:noAutofit/>
          </a:bodyPr>
          <a:lstStyle/>
          <a:p>
            <a:pPr algn="ctr"/>
            <a:r>
              <a:rPr lang="en" sz="1066">
                <a:solidFill>
                  <a:schemeClr val="lt1"/>
                </a:solidFill>
              </a:rPr>
              <a:t>Integrations and 3rd Party Ecosystem</a:t>
            </a:r>
            <a:endParaRPr sz="1066">
              <a:solidFill>
                <a:schemeClr val="lt1"/>
              </a:solidFill>
            </a:endParaRPr>
          </a:p>
        </p:txBody>
      </p:sp>
      <p:grpSp>
        <p:nvGrpSpPr>
          <p:cNvPr id="1589" name="Google Shape;1589;p85"/>
          <p:cNvGrpSpPr/>
          <p:nvPr/>
        </p:nvGrpSpPr>
        <p:grpSpPr>
          <a:xfrm>
            <a:off x="2615166" y="1049759"/>
            <a:ext cx="6958382" cy="638688"/>
            <a:chOff x="2998776" y="-1275239"/>
            <a:chExt cx="6183542" cy="638854"/>
          </a:xfrm>
        </p:grpSpPr>
        <p:cxnSp>
          <p:nvCxnSpPr>
            <p:cNvPr id="1590" name="Google Shape;1590;p85"/>
            <p:cNvCxnSpPr/>
            <p:nvPr/>
          </p:nvCxnSpPr>
          <p:spPr>
            <a:xfrm rot="10800000">
              <a:off x="2998776" y="-1144871"/>
              <a:ext cx="6176100" cy="0"/>
            </a:xfrm>
            <a:prstGeom prst="straightConnector1">
              <a:avLst/>
            </a:prstGeom>
            <a:noFill/>
            <a:ln w="25400" cap="rnd" cmpd="sng">
              <a:solidFill>
                <a:schemeClr val="dk1"/>
              </a:solidFill>
              <a:prstDash val="dot"/>
              <a:round/>
              <a:headEnd type="none" w="sm" len="sm"/>
              <a:tailEnd type="none" w="sm" len="sm"/>
            </a:ln>
          </p:spPr>
        </p:cxnSp>
        <p:grpSp>
          <p:nvGrpSpPr>
            <p:cNvPr id="1591" name="Google Shape;1591;p85"/>
            <p:cNvGrpSpPr/>
            <p:nvPr/>
          </p:nvGrpSpPr>
          <p:grpSpPr>
            <a:xfrm>
              <a:off x="4732250" y="-1275239"/>
              <a:ext cx="2724300" cy="269618"/>
              <a:chOff x="4625428" y="1468188"/>
              <a:chExt cx="2724300" cy="294600"/>
            </a:xfrm>
          </p:grpSpPr>
          <p:sp>
            <p:nvSpPr>
              <p:cNvPr id="1592" name="Google Shape;1592;p85"/>
              <p:cNvSpPr/>
              <p:nvPr/>
            </p:nvSpPr>
            <p:spPr>
              <a:xfrm>
                <a:off x="4625428" y="1468188"/>
                <a:ext cx="2724300" cy="294600"/>
              </a:xfrm>
              <a:prstGeom prst="roundRect">
                <a:avLst>
                  <a:gd name="adj" fmla="val 0"/>
                </a:avLst>
              </a:prstGeom>
              <a:solidFill>
                <a:schemeClr val="lt1"/>
              </a:solidFill>
              <a:ln>
                <a:noFill/>
              </a:ln>
            </p:spPr>
            <p:txBody>
              <a:bodyPr spcFirstLastPara="1" wrap="square" lIns="182852" tIns="45655" rIns="182852" bIns="45655" anchor="ctr" anchorCtr="0">
                <a:noAutofit/>
              </a:bodyPr>
              <a:lstStyle/>
              <a:p>
                <a:pPr>
                  <a:lnSpc>
                    <a:spcPct val="90000"/>
                  </a:lnSpc>
                </a:pPr>
                <a:endParaRPr sz="1466">
                  <a:solidFill>
                    <a:schemeClr val="lt1"/>
                  </a:solidFill>
                </a:endParaRPr>
              </a:p>
            </p:txBody>
          </p:sp>
          <p:sp>
            <p:nvSpPr>
              <p:cNvPr id="1593" name="Google Shape;1593;p85"/>
              <p:cNvSpPr txBox="1"/>
              <p:nvPr/>
            </p:nvSpPr>
            <p:spPr>
              <a:xfrm>
                <a:off x="4757258" y="1532277"/>
                <a:ext cx="2452800" cy="181646"/>
              </a:xfrm>
              <a:prstGeom prst="rect">
                <a:avLst/>
              </a:prstGeom>
              <a:noFill/>
              <a:ln>
                <a:noFill/>
              </a:ln>
            </p:spPr>
            <p:txBody>
              <a:bodyPr spcFirstLastPara="1" wrap="square" lIns="0" tIns="0" rIns="0" bIns="0" anchor="ctr" anchorCtr="0">
                <a:spAutoFit/>
              </a:bodyPr>
              <a:lstStyle/>
              <a:p>
                <a:pPr algn="ctr">
                  <a:lnSpc>
                    <a:spcPct val="90000"/>
                  </a:lnSpc>
                </a:pPr>
                <a:r>
                  <a:rPr lang="en" sz="1200">
                    <a:solidFill>
                      <a:schemeClr val="dk1"/>
                    </a:solidFill>
                  </a:rPr>
                  <a:t>Multi-Tenant Consumers and Services</a:t>
                </a:r>
                <a:endParaRPr sz="1466"/>
              </a:p>
            </p:txBody>
          </p:sp>
        </p:grpSp>
        <p:grpSp>
          <p:nvGrpSpPr>
            <p:cNvPr id="1594" name="Google Shape;1594;p85"/>
            <p:cNvGrpSpPr/>
            <p:nvPr/>
          </p:nvGrpSpPr>
          <p:grpSpPr>
            <a:xfrm>
              <a:off x="3009245" y="-1094707"/>
              <a:ext cx="6173073" cy="458322"/>
              <a:chOff x="3009245" y="-1094663"/>
              <a:chExt cx="6173073" cy="646800"/>
            </a:xfrm>
          </p:grpSpPr>
          <p:cxnSp>
            <p:nvCxnSpPr>
              <p:cNvPr id="1595" name="Google Shape;1595;p85"/>
              <p:cNvCxnSpPr/>
              <p:nvPr/>
            </p:nvCxnSpPr>
            <p:spPr>
              <a:xfrm>
                <a:off x="9182318" y="-1094663"/>
                <a:ext cx="0" cy="646800"/>
              </a:xfrm>
              <a:prstGeom prst="straightConnector1">
                <a:avLst/>
              </a:prstGeom>
              <a:noFill/>
              <a:ln w="25400" cap="rnd" cmpd="sng">
                <a:solidFill>
                  <a:schemeClr val="dk1"/>
                </a:solidFill>
                <a:prstDash val="dot"/>
                <a:round/>
                <a:headEnd type="none" w="sm" len="sm"/>
                <a:tailEnd type="triangle" w="med" len="med"/>
              </a:ln>
            </p:spPr>
          </p:cxnSp>
          <p:cxnSp>
            <p:nvCxnSpPr>
              <p:cNvPr id="1596" name="Google Shape;1596;p85"/>
              <p:cNvCxnSpPr/>
              <p:nvPr/>
            </p:nvCxnSpPr>
            <p:spPr>
              <a:xfrm>
                <a:off x="3009245" y="-1094663"/>
                <a:ext cx="0" cy="646800"/>
              </a:xfrm>
              <a:prstGeom prst="straightConnector1">
                <a:avLst/>
              </a:prstGeom>
              <a:noFill/>
              <a:ln w="25400" cap="rnd" cmpd="sng">
                <a:solidFill>
                  <a:schemeClr val="dk1"/>
                </a:solidFill>
                <a:prstDash val="dot"/>
                <a:round/>
                <a:headEnd type="none" w="sm" len="sm"/>
                <a:tailEnd type="triangle" w="med" len="med"/>
              </a:ln>
            </p:spPr>
          </p:cxnSp>
        </p:grpSp>
      </p:grpSp>
      <p:grpSp>
        <p:nvGrpSpPr>
          <p:cNvPr id="1597" name="Google Shape;1597;p85"/>
          <p:cNvGrpSpPr/>
          <p:nvPr/>
        </p:nvGrpSpPr>
        <p:grpSpPr>
          <a:xfrm>
            <a:off x="9294770" y="2320716"/>
            <a:ext cx="1828812" cy="2681601"/>
            <a:chOff x="9294713" y="2250737"/>
            <a:chExt cx="1828800" cy="2682300"/>
          </a:xfrm>
        </p:grpSpPr>
        <p:sp>
          <p:nvSpPr>
            <p:cNvPr id="1598" name="Google Shape;1598;p85"/>
            <p:cNvSpPr/>
            <p:nvPr/>
          </p:nvSpPr>
          <p:spPr>
            <a:xfrm>
              <a:off x="9294713" y="2250737"/>
              <a:ext cx="1828800" cy="2682300"/>
            </a:xfrm>
            <a:prstGeom prst="roundRect">
              <a:avLst>
                <a:gd name="adj" fmla="val 4872"/>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sp>
          <p:nvSpPr>
            <p:cNvPr id="1599" name="Google Shape;1599;p85"/>
            <p:cNvSpPr txBox="1"/>
            <p:nvPr/>
          </p:nvSpPr>
          <p:spPr>
            <a:xfrm>
              <a:off x="9397913" y="2706165"/>
              <a:ext cx="1622400" cy="387578"/>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Data Protection </a:t>
              </a:r>
              <a:endParaRPr sz="1466"/>
            </a:p>
            <a:p>
              <a:pPr algn="ctr">
                <a:lnSpc>
                  <a:spcPct val="90000"/>
                </a:lnSpc>
              </a:pPr>
              <a:r>
                <a:rPr lang="en" sz="1066">
                  <a:solidFill>
                    <a:schemeClr val="dk1"/>
                  </a:solidFill>
                </a:rPr>
                <a:t>and Recovery</a:t>
              </a:r>
              <a:endParaRPr sz="1066">
                <a:solidFill>
                  <a:schemeClr val="dk1"/>
                </a:solidFill>
              </a:endParaRPr>
            </a:p>
          </p:txBody>
        </p:sp>
        <p:sp>
          <p:nvSpPr>
            <p:cNvPr id="1600" name="Google Shape;1600;p85"/>
            <p:cNvSpPr/>
            <p:nvPr/>
          </p:nvSpPr>
          <p:spPr>
            <a:xfrm>
              <a:off x="9477593" y="4429275"/>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Ransomware Recovery</a:t>
              </a:r>
              <a:endParaRPr sz="1466"/>
            </a:p>
          </p:txBody>
        </p:sp>
        <p:sp>
          <p:nvSpPr>
            <p:cNvPr id="1601" name="Google Shape;1601;p85"/>
            <p:cNvSpPr/>
            <p:nvPr/>
          </p:nvSpPr>
          <p:spPr>
            <a:xfrm>
              <a:off x="9477593" y="3596869"/>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Disaster Recovery</a:t>
              </a:r>
              <a:endParaRPr sz="1466"/>
            </a:p>
          </p:txBody>
        </p:sp>
        <p:sp>
          <p:nvSpPr>
            <p:cNvPr id="1602" name="Google Shape;1602;p85"/>
            <p:cNvSpPr/>
            <p:nvPr/>
          </p:nvSpPr>
          <p:spPr>
            <a:xfrm>
              <a:off x="9477593" y="3180136"/>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Data Protection</a:t>
              </a:r>
              <a:endParaRPr sz="1466"/>
            </a:p>
          </p:txBody>
        </p:sp>
        <p:sp>
          <p:nvSpPr>
            <p:cNvPr id="1603" name="Google Shape;1603;p85"/>
            <p:cNvSpPr/>
            <p:nvPr/>
          </p:nvSpPr>
          <p:spPr>
            <a:xfrm>
              <a:off x="9477593" y="4013072"/>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Disaster Avoidance</a:t>
              </a:r>
              <a:endParaRPr sz="1466"/>
            </a:p>
          </p:txBody>
        </p:sp>
        <p:sp>
          <p:nvSpPr>
            <p:cNvPr id="1604" name="Google Shape;1604;p85"/>
            <p:cNvSpPr/>
            <p:nvPr/>
          </p:nvSpPr>
          <p:spPr>
            <a:xfrm>
              <a:off x="10059778" y="2368623"/>
              <a:ext cx="273712" cy="273954"/>
            </a:xfrm>
            <a:custGeom>
              <a:avLst/>
              <a:gdLst/>
              <a:ahLst/>
              <a:cxnLst/>
              <a:rect l="l" t="t" r="r" b="b"/>
              <a:pathLst>
                <a:path w="511611" h="512064" extrusionOk="0">
                  <a:moveTo>
                    <a:pt x="104679" y="366149"/>
                  </a:moveTo>
                  <a:lnTo>
                    <a:pt x="127337" y="366149"/>
                  </a:lnTo>
                  <a:lnTo>
                    <a:pt x="127337" y="382009"/>
                  </a:lnTo>
                  <a:lnTo>
                    <a:pt x="143197" y="382009"/>
                  </a:lnTo>
                  <a:lnTo>
                    <a:pt x="143197" y="404667"/>
                  </a:lnTo>
                  <a:lnTo>
                    <a:pt x="104679" y="404667"/>
                  </a:lnTo>
                  <a:close/>
                  <a:moveTo>
                    <a:pt x="360257" y="285034"/>
                  </a:moveTo>
                  <a:cubicBezTo>
                    <a:pt x="372039" y="285034"/>
                    <a:pt x="383142" y="287753"/>
                    <a:pt x="393054" y="292511"/>
                  </a:cubicBezTo>
                  <a:lnTo>
                    <a:pt x="399247" y="297269"/>
                  </a:lnTo>
                  <a:lnTo>
                    <a:pt x="405573" y="297269"/>
                  </a:lnTo>
                  <a:lnTo>
                    <a:pt x="403979" y="300904"/>
                  </a:lnTo>
                  <a:lnTo>
                    <a:pt x="418714" y="312224"/>
                  </a:lnTo>
                  <a:lnTo>
                    <a:pt x="383624" y="347314"/>
                  </a:lnTo>
                  <a:lnTo>
                    <a:pt x="382916" y="348928"/>
                  </a:lnTo>
                  <a:lnTo>
                    <a:pt x="382916" y="348022"/>
                  </a:lnTo>
                  <a:lnTo>
                    <a:pt x="355273" y="375665"/>
                  </a:lnTo>
                  <a:lnTo>
                    <a:pt x="321286" y="342132"/>
                  </a:lnTo>
                  <a:lnTo>
                    <a:pt x="302706" y="360711"/>
                  </a:lnTo>
                  <a:lnTo>
                    <a:pt x="344183" y="402187"/>
                  </a:lnTo>
                  <a:lnTo>
                    <a:pt x="349835" y="404666"/>
                  </a:lnTo>
                  <a:lnTo>
                    <a:pt x="346662" y="404666"/>
                  </a:lnTo>
                  <a:lnTo>
                    <a:pt x="355273" y="413277"/>
                  </a:lnTo>
                  <a:lnTo>
                    <a:pt x="432308" y="335787"/>
                  </a:lnTo>
                  <a:cubicBezTo>
                    <a:pt x="435481" y="343944"/>
                    <a:pt x="437293" y="352554"/>
                    <a:pt x="437293" y="361617"/>
                  </a:cubicBezTo>
                  <a:cubicBezTo>
                    <a:pt x="437293" y="403761"/>
                    <a:pt x="402854" y="438200"/>
                    <a:pt x="360257" y="438200"/>
                  </a:cubicBezTo>
                  <a:cubicBezTo>
                    <a:pt x="338959" y="438200"/>
                    <a:pt x="319700" y="429590"/>
                    <a:pt x="305765" y="415712"/>
                  </a:cubicBezTo>
                  <a:lnTo>
                    <a:pt x="298281" y="404666"/>
                  </a:lnTo>
                  <a:lnTo>
                    <a:pt x="298176" y="404666"/>
                  </a:lnTo>
                  <a:lnTo>
                    <a:pt x="298176" y="404510"/>
                  </a:lnTo>
                  <a:lnTo>
                    <a:pt x="289268" y="391362"/>
                  </a:lnTo>
                  <a:cubicBezTo>
                    <a:pt x="285373" y="382207"/>
                    <a:pt x="283221" y="372153"/>
                    <a:pt x="283221" y="361617"/>
                  </a:cubicBezTo>
                  <a:cubicBezTo>
                    <a:pt x="283221" y="319473"/>
                    <a:pt x="317660" y="285034"/>
                    <a:pt x="360257" y="285034"/>
                  </a:cubicBezTo>
                  <a:close/>
                  <a:moveTo>
                    <a:pt x="360257" y="271892"/>
                  </a:moveTo>
                  <a:cubicBezTo>
                    <a:pt x="310411" y="271892"/>
                    <a:pt x="269626" y="312223"/>
                    <a:pt x="269626" y="362070"/>
                  </a:cubicBezTo>
                  <a:cubicBezTo>
                    <a:pt x="269626" y="411917"/>
                    <a:pt x="310411" y="452248"/>
                    <a:pt x="360257" y="452248"/>
                  </a:cubicBezTo>
                  <a:cubicBezTo>
                    <a:pt x="410104" y="452248"/>
                    <a:pt x="450888" y="411917"/>
                    <a:pt x="450888" y="362070"/>
                  </a:cubicBezTo>
                  <a:lnTo>
                    <a:pt x="450435" y="362523"/>
                  </a:lnTo>
                  <a:cubicBezTo>
                    <a:pt x="450435" y="349382"/>
                    <a:pt x="447716" y="337147"/>
                    <a:pt x="442731" y="325818"/>
                  </a:cubicBezTo>
                  <a:lnTo>
                    <a:pt x="466749" y="301801"/>
                  </a:lnTo>
                  <a:lnTo>
                    <a:pt x="448169" y="283221"/>
                  </a:lnTo>
                  <a:lnTo>
                    <a:pt x="428230" y="303160"/>
                  </a:lnTo>
                  <a:cubicBezTo>
                    <a:pt x="411463" y="284128"/>
                    <a:pt x="387446" y="271892"/>
                    <a:pt x="360257" y="271892"/>
                  </a:cubicBezTo>
                  <a:close/>
                  <a:moveTo>
                    <a:pt x="0" y="261923"/>
                  </a:moveTo>
                  <a:lnTo>
                    <a:pt x="22658" y="261923"/>
                  </a:lnTo>
                  <a:lnTo>
                    <a:pt x="22658" y="277783"/>
                  </a:lnTo>
                  <a:lnTo>
                    <a:pt x="38518" y="277783"/>
                  </a:lnTo>
                  <a:lnTo>
                    <a:pt x="38518" y="300441"/>
                  </a:lnTo>
                  <a:lnTo>
                    <a:pt x="0" y="300441"/>
                  </a:lnTo>
                  <a:close/>
                  <a:moveTo>
                    <a:pt x="104679" y="228842"/>
                  </a:moveTo>
                  <a:lnTo>
                    <a:pt x="127336" y="228842"/>
                  </a:lnTo>
                  <a:lnTo>
                    <a:pt x="127336" y="280502"/>
                  </a:lnTo>
                  <a:lnTo>
                    <a:pt x="107397" y="280502"/>
                  </a:lnTo>
                  <a:lnTo>
                    <a:pt x="107397" y="297269"/>
                  </a:lnTo>
                  <a:lnTo>
                    <a:pt x="127336" y="297269"/>
                  </a:lnTo>
                  <a:lnTo>
                    <a:pt x="127336" y="348928"/>
                  </a:lnTo>
                  <a:lnTo>
                    <a:pt x="104679" y="348928"/>
                  </a:lnTo>
                  <a:lnTo>
                    <a:pt x="104679" y="300441"/>
                  </a:lnTo>
                  <a:lnTo>
                    <a:pt x="55738" y="300441"/>
                  </a:lnTo>
                  <a:lnTo>
                    <a:pt x="55738" y="277784"/>
                  </a:lnTo>
                  <a:lnTo>
                    <a:pt x="104679" y="277784"/>
                  </a:lnTo>
                  <a:close/>
                  <a:moveTo>
                    <a:pt x="405573" y="211622"/>
                  </a:moveTo>
                  <a:lnTo>
                    <a:pt x="405573" y="212076"/>
                  </a:lnTo>
                  <a:lnTo>
                    <a:pt x="511611" y="212076"/>
                  </a:lnTo>
                  <a:lnTo>
                    <a:pt x="511611" y="512064"/>
                  </a:lnTo>
                  <a:lnTo>
                    <a:pt x="210263" y="512064"/>
                  </a:lnTo>
                  <a:lnTo>
                    <a:pt x="210263" y="404666"/>
                  </a:lnTo>
                  <a:lnTo>
                    <a:pt x="160417" y="404666"/>
                  </a:lnTo>
                  <a:lnTo>
                    <a:pt x="160417" y="382009"/>
                  </a:lnTo>
                  <a:lnTo>
                    <a:pt x="210263" y="382009"/>
                  </a:lnTo>
                  <a:lnTo>
                    <a:pt x="210263" y="212076"/>
                  </a:lnTo>
                  <a:lnTo>
                    <a:pt x="404976" y="212076"/>
                  </a:lnTo>
                  <a:close/>
                  <a:moveTo>
                    <a:pt x="0" y="193044"/>
                  </a:moveTo>
                  <a:lnTo>
                    <a:pt x="22657" y="193044"/>
                  </a:lnTo>
                  <a:lnTo>
                    <a:pt x="22657" y="244703"/>
                  </a:lnTo>
                  <a:lnTo>
                    <a:pt x="0" y="244703"/>
                  </a:lnTo>
                  <a:close/>
                  <a:moveTo>
                    <a:pt x="382916" y="159963"/>
                  </a:moveTo>
                  <a:lnTo>
                    <a:pt x="405573" y="159963"/>
                  </a:lnTo>
                  <a:lnTo>
                    <a:pt x="405573" y="211622"/>
                  </a:lnTo>
                  <a:lnTo>
                    <a:pt x="382916" y="211622"/>
                  </a:lnTo>
                  <a:close/>
                  <a:moveTo>
                    <a:pt x="104679" y="159963"/>
                  </a:moveTo>
                  <a:lnTo>
                    <a:pt x="127336" y="159963"/>
                  </a:lnTo>
                  <a:lnTo>
                    <a:pt x="127336" y="211622"/>
                  </a:lnTo>
                  <a:lnTo>
                    <a:pt x="104679" y="211622"/>
                  </a:lnTo>
                  <a:close/>
                  <a:moveTo>
                    <a:pt x="0" y="124618"/>
                  </a:moveTo>
                  <a:lnTo>
                    <a:pt x="22657" y="124618"/>
                  </a:lnTo>
                  <a:lnTo>
                    <a:pt x="22657" y="176277"/>
                  </a:lnTo>
                  <a:lnTo>
                    <a:pt x="0" y="176277"/>
                  </a:lnTo>
                  <a:close/>
                  <a:moveTo>
                    <a:pt x="367054" y="104225"/>
                  </a:moveTo>
                  <a:lnTo>
                    <a:pt x="405572" y="104225"/>
                  </a:lnTo>
                  <a:lnTo>
                    <a:pt x="405572" y="142743"/>
                  </a:lnTo>
                  <a:lnTo>
                    <a:pt x="382914" y="142743"/>
                  </a:lnTo>
                  <a:lnTo>
                    <a:pt x="382914" y="126883"/>
                  </a:lnTo>
                  <a:lnTo>
                    <a:pt x="367054" y="126883"/>
                  </a:lnTo>
                  <a:close/>
                  <a:moveTo>
                    <a:pt x="160417" y="104225"/>
                  </a:moveTo>
                  <a:lnTo>
                    <a:pt x="212076" y="104225"/>
                  </a:lnTo>
                  <a:lnTo>
                    <a:pt x="212076" y="126882"/>
                  </a:lnTo>
                  <a:lnTo>
                    <a:pt x="160417" y="126882"/>
                  </a:lnTo>
                  <a:close/>
                  <a:moveTo>
                    <a:pt x="104679" y="104225"/>
                  </a:moveTo>
                  <a:lnTo>
                    <a:pt x="143197" y="104225"/>
                  </a:lnTo>
                  <a:lnTo>
                    <a:pt x="143197" y="126883"/>
                  </a:lnTo>
                  <a:lnTo>
                    <a:pt x="127337" y="126883"/>
                  </a:lnTo>
                  <a:lnTo>
                    <a:pt x="127337" y="142743"/>
                  </a:lnTo>
                  <a:lnTo>
                    <a:pt x="104679" y="142743"/>
                  </a:lnTo>
                  <a:close/>
                  <a:moveTo>
                    <a:pt x="278690" y="55738"/>
                  </a:moveTo>
                  <a:lnTo>
                    <a:pt x="301347" y="55738"/>
                  </a:lnTo>
                  <a:lnTo>
                    <a:pt x="301347" y="104225"/>
                  </a:lnTo>
                  <a:lnTo>
                    <a:pt x="349835" y="104225"/>
                  </a:lnTo>
                  <a:lnTo>
                    <a:pt x="349835" y="126882"/>
                  </a:lnTo>
                  <a:lnTo>
                    <a:pt x="298176" y="126882"/>
                  </a:lnTo>
                  <a:lnTo>
                    <a:pt x="298176" y="107397"/>
                  </a:lnTo>
                  <a:lnTo>
                    <a:pt x="280956" y="107397"/>
                  </a:lnTo>
                  <a:lnTo>
                    <a:pt x="280956" y="126882"/>
                  </a:lnTo>
                  <a:lnTo>
                    <a:pt x="229296" y="126882"/>
                  </a:lnTo>
                  <a:lnTo>
                    <a:pt x="229296" y="104225"/>
                  </a:lnTo>
                  <a:lnTo>
                    <a:pt x="278690" y="104225"/>
                  </a:lnTo>
                  <a:close/>
                  <a:moveTo>
                    <a:pt x="0" y="55738"/>
                  </a:moveTo>
                  <a:lnTo>
                    <a:pt x="22657" y="55738"/>
                  </a:lnTo>
                  <a:lnTo>
                    <a:pt x="22657" y="107397"/>
                  </a:lnTo>
                  <a:lnTo>
                    <a:pt x="0" y="107397"/>
                  </a:lnTo>
                  <a:close/>
                  <a:moveTo>
                    <a:pt x="262829" y="0"/>
                  </a:moveTo>
                  <a:lnTo>
                    <a:pt x="301347" y="0"/>
                  </a:lnTo>
                  <a:lnTo>
                    <a:pt x="301347" y="38518"/>
                  </a:lnTo>
                  <a:lnTo>
                    <a:pt x="278689" y="38518"/>
                  </a:lnTo>
                  <a:lnTo>
                    <a:pt x="278689" y="22658"/>
                  </a:lnTo>
                  <a:lnTo>
                    <a:pt x="262829" y="22658"/>
                  </a:lnTo>
                  <a:close/>
                  <a:moveTo>
                    <a:pt x="193497" y="0"/>
                  </a:moveTo>
                  <a:lnTo>
                    <a:pt x="245156" y="0"/>
                  </a:lnTo>
                  <a:lnTo>
                    <a:pt x="245156" y="22657"/>
                  </a:lnTo>
                  <a:lnTo>
                    <a:pt x="193497" y="22657"/>
                  </a:lnTo>
                  <a:close/>
                  <a:moveTo>
                    <a:pt x="124617" y="0"/>
                  </a:moveTo>
                  <a:lnTo>
                    <a:pt x="176276" y="0"/>
                  </a:lnTo>
                  <a:lnTo>
                    <a:pt x="176276" y="22657"/>
                  </a:lnTo>
                  <a:lnTo>
                    <a:pt x="124617" y="22657"/>
                  </a:lnTo>
                  <a:close/>
                  <a:moveTo>
                    <a:pt x="55738" y="0"/>
                  </a:moveTo>
                  <a:lnTo>
                    <a:pt x="107397" y="0"/>
                  </a:lnTo>
                  <a:lnTo>
                    <a:pt x="107397" y="22657"/>
                  </a:lnTo>
                  <a:lnTo>
                    <a:pt x="55738" y="22657"/>
                  </a:lnTo>
                  <a:close/>
                  <a:moveTo>
                    <a:pt x="0" y="0"/>
                  </a:moveTo>
                  <a:lnTo>
                    <a:pt x="38518" y="0"/>
                  </a:lnTo>
                  <a:lnTo>
                    <a:pt x="38518" y="22658"/>
                  </a:lnTo>
                  <a:lnTo>
                    <a:pt x="22658" y="22658"/>
                  </a:lnTo>
                  <a:lnTo>
                    <a:pt x="22658" y="38518"/>
                  </a:lnTo>
                  <a:lnTo>
                    <a:pt x="0" y="38518"/>
                  </a:lnTo>
                  <a:close/>
                </a:path>
              </a:pathLst>
            </a:cu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nvGrpSpPr>
          <p:cNvPr id="1605" name="Google Shape;1605;p85"/>
          <p:cNvGrpSpPr/>
          <p:nvPr/>
        </p:nvGrpSpPr>
        <p:grpSpPr>
          <a:xfrm>
            <a:off x="1065220" y="2320714"/>
            <a:ext cx="1833012" cy="3105391"/>
            <a:chOff x="1065213" y="2250736"/>
            <a:chExt cx="1833000" cy="3106200"/>
          </a:xfrm>
        </p:grpSpPr>
        <p:sp>
          <p:nvSpPr>
            <p:cNvPr id="1606" name="Google Shape;1606;p85"/>
            <p:cNvSpPr/>
            <p:nvPr/>
          </p:nvSpPr>
          <p:spPr>
            <a:xfrm>
              <a:off x="1068844" y="2250736"/>
              <a:ext cx="1825800" cy="3106200"/>
            </a:xfrm>
            <a:prstGeom prst="roundRect">
              <a:avLst>
                <a:gd name="adj" fmla="val 5008"/>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sp>
          <p:nvSpPr>
            <p:cNvPr id="1607" name="Google Shape;1607;p85"/>
            <p:cNvSpPr txBox="1"/>
            <p:nvPr/>
          </p:nvSpPr>
          <p:spPr>
            <a:xfrm>
              <a:off x="1065213" y="2701268"/>
              <a:ext cx="1833000" cy="387578"/>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Security Governance </a:t>
              </a:r>
              <a:br>
                <a:rPr lang="en" sz="1066">
                  <a:solidFill>
                    <a:schemeClr val="dk1"/>
                  </a:solidFill>
                </a:rPr>
              </a:br>
              <a:r>
                <a:rPr lang="en" sz="1066">
                  <a:solidFill>
                    <a:schemeClr val="dk1"/>
                  </a:solidFill>
                </a:rPr>
                <a:t>and Compliance</a:t>
              </a:r>
              <a:endParaRPr sz="1066">
                <a:solidFill>
                  <a:schemeClr val="dk1"/>
                </a:solidFill>
              </a:endParaRPr>
            </a:p>
          </p:txBody>
        </p:sp>
        <p:sp>
          <p:nvSpPr>
            <p:cNvPr id="1608" name="Google Shape;1608;p85"/>
            <p:cNvSpPr/>
            <p:nvPr/>
          </p:nvSpPr>
          <p:spPr>
            <a:xfrm>
              <a:off x="1250155" y="4429275"/>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Data Governance</a:t>
              </a:r>
              <a:endParaRPr sz="933">
                <a:solidFill>
                  <a:schemeClr val="lt1"/>
                </a:solidFill>
              </a:endParaRPr>
            </a:p>
          </p:txBody>
        </p:sp>
        <p:sp>
          <p:nvSpPr>
            <p:cNvPr id="1609" name="Google Shape;1609;p85"/>
            <p:cNvSpPr/>
            <p:nvPr/>
          </p:nvSpPr>
          <p:spPr>
            <a:xfrm>
              <a:off x="1250155" y="4845477"/>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Compliance Enforcement</a:t>
              </a:r>
              <a:endParaRPr sz="933">
                <a:solidFill>
                  <a:schemeClr val="lt1"/>
                </a:solidFill>
              </a:endParaRPr>
            </a:p>
          </p:txBody>
        </p:sp>
        <p:sp>
          <p:nvSpPr>
            <p:cNvPr id="1610" name="Google Shape;1610;p85"/>
            <p:cNvSpPr/>
            <p:nvPr/>
          </p:nvSpPr>
          <p:spPr>
            <a:xfrm>
              <a:off x="1250155" y="3596869"/>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Auditing and SIEM</a:t>
              </a:r>
              <a:endParaRPr sz="933">
                <a:solidFill>
                  <a:schemeClr val="lt1"/>
                </a:solidFill>
              </a:endParaRPr>
            </a:p>
          </p:txBody>
        </p:sp>
        <p:sp>
          <p:nvSpPr>
            <p:cNvPr id="1611" name="Google Shape;1611;p85"/>
            <p:cNvSpPr/>
            <p:nvPr/>
          </p:nvSpPr>
          <p:spPr>
            <a:xfrm>
              <a:off x="1250155" y="3180136"/>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Identity and RBAC</a:t>
              </a:r>
              <a:endParaRPr sz="933">
                <a:solidFill>
                  <a:schemeClr val="lt1"/>
                </a:solidFill>
              </a:endParaRPr>
            </a:p>
          </p:txBody>
        </p:sp>
        <p:sp>
          <p:nvSpPr>
            <p:cNvPr id="1612" name="Google Shape;1612;p85"/>
            <p:cNvSpPr/>
            <p:nvPr/>
          </p:nvSpPr>
          <p:spPr>
            <a:xfrm>
              <a:off x="1250155" y="4013072"/>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Constraint-Based Management </a:t>
              </a:r>
              <a:endParaRPr sz="933">
                <a:solidFill>
                  <a:schemeClr val="lt1"/>
                </a:solidFill>
              </a:endParaRPr>
            </a:p>
          </p:txBody>
        </p:sp>
        <p:grpSp>
          <p:nvGrpSpPr>
            <p:cNvPr id="1613" name="Google Shape;1613;p85"/>
            <p:cNvGrpSpPr/>
            <p:nvPr/>
          </p:nvGrpSpPr>
          <p:grpSpPr>
            <a:xfrm>
              <a:off x="1855309" y="2367395"/>
              <a:ext cx="230163" cy="273114"/>
              <a:chOff x="6489698" y="1256705"/>
              <a:chExt cx="534393" cy="634116"/>
            </a:xfrm>
          </p:grpSpPr>
          <p:sp>
            <p:nvSpPr>
              <p:cNvPr id="1614" name="Google Shape;1614;p85"/>
              <p:cNvSpPr/>
              <p:nvPr/>
            </p:nvSpPr>
            <p:spPr>
              <a:xfrm>
                <a:off x="6758109" y="1374578"/>
                <a:ext cx="160697" cy="389934"/>
              </a:xfrm>
              <a:custGeom>
                <a:avLst/>
                <a:gdLst/>
                <a:ahLst/>
                <a:cxnLst/>
                <a:rect l="l" t="t" r="r" b="b"/>
                <a:pathLst>
                  <a:path w="160697" h="389934" extrusionOk="0">
                    <a:moveTo>
                      <a:pt x="0" y="0"/>
                    </a:moveTo>
                    <a:cubicBezTo>
                      <a:pt x="44975" y="26570"/>
                      <a:pt x="94145" y="43396"/>
                      <a:pt x="158924" y="46644"/>
                    </a:cubicBezTo>
                    <a:cubicBezTo>
                      <a:pt x="177239" y="273955"/>
                      <a:pt x="48764" y="365033"/>
                      <a:pt x="0" y="389934"/>
                    </a:cubicBezTo>
                    <a:lnTo>
                      <a:pt x="0" y="0"/>
                    </a:lnTo>
                    <a:close/>
                  </a:path>
                </a:pathLst>
              </a:cu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sp>
            <p:nvSpPr>
              <p:cNvPr id="1615" name="Google Shape;1615;p85"/>
              <p:cNvSpPr/>
              <p:nvPr/>
            </p:nvSpPr>
            <p:spPr>
              <a:xfrm>
                <a:off x="6489698" y="1256705"/>
                <a:ext cx="534393" cy="634116"/>
              </a:xfrm>
              <a:custGeom>
                <a:avLst/>
                <a:gdLst/>
                <a:ahLst/>
                <a:cxnLst/>
                <a:rect l="l" t="t" r="r" b="b"/>
                <a:pathLst>
                  <a:path w="534393" h="634116" extrusionOk="0">
                    <a:moveTo>
                      <a:pt x="267192" y="66763"/>
                    </a:moveTo>
                    <a:cubicBezTo>
                      <a:pt x="306844" y="87244"/>
                      <a:pt x="378840" y="117107"/>
                      <a:pt x="473978" y="125542"/>
                    </a:cubicBezTo>
                    <a:cubicBezTo>
                      <a:pt x="499060" y="423316"/>
                      <a:pt x="327415" y="539295"/>
                      <a:pt x="267192" y="570556"/>
                    </a:cubicBezTo>
                    <a:cubicBezTo>
                      <a:pt x="206970" y="539340"/>
                      <a:pt x="35325" y="423361"/>
                      <a:pt x="60406" y="125542"/>
                    </a:cubicBezTo>
                    <a:cubicBezTo>
                      <a:pt x="155454" y="117152"/>
                      <a:pt x="227450" y="87334"/>
                      <a:pt x="267192" y="66763"/>
                    </a:cubicBezTo>
                    <a:moveTo>
                      <a:pt x="267192" y="0"/>
                    </a:moveTo>
                    <a:lnTo>
                      <a:pt x="267192" y="0"/>
                    </a:lnTo>
                    <a:cubicBezTo>
                      <a:pt x="267192" y="0"/>
                      <a:pt x="267192" y="0"/>
                      <a:pt x="267192" y="0"/>
                    </a:cubicBezTo>
                    <a:cubicBezTo>
                      <a:pt x="266876" y="0"/>
                      <a:pt x="167543" y="69876"/>
                      <a:pt x="8574" y="69876"/>
                    </a:cubicBezTo>
                    <a:cubicBezTo>
                      <a:pt x="-56159" y="514890"/>
                      <a:pt x="266876" y="634117"/>
                      <a:pt x="267192" y="634117"/>
                    </a:cubicBezTo>
                    <a:lnTo>
                      <a:pt x="267192" y="634117"/>
                    </a:lnTo>
                    <a:cubicBezTo>
                      <a:pt x="267463" y="634117"/>
                      <a:pt x="590589" y="514935"/>
                      <a:pt x="525810" y="69876"/>
                    </a:cubicBezTo>
                    <a:cubicBezTo>
                      <a:pt x="366841" y="69876"/>
                      <a:pt x="267508" y="0"/>
                      <a:pt x="267192" y="0"/>
                    </a:cubicBezTo>
                    <a:lnTo>
                      <a:pt x="267192" y="0"/>
                    </a:lnTo>
                    <a:close/>
                  </a:path>
                </a:pathLst>
              </a:cu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grpSp>
        <p:nvGrpSpPr>
          <p:cNvPr id="1616" name="Google Shape;1616;p85"/>
          <p:cNvGrpSpPr/>
          <p:nvPr/>
        </p:nvGrpSpPr>
        <p:grpSpPr>
          <a:xfrm>
            <a:off x="3008626" y="3788542"/>
            <a:ext cx="6171638" cy="1026933"/>
            <a:chOff x="3008609" y="3718946"/>
            <a:chExt cx="6171600" cy="1027200"/>
          </a:xfrm>
        </p:grpSpPr>
        <p:sp>
          <p:nvSpPr>
            <p:cNvPr id="1617" name="Google Shape;1617;p85"/>
            <p:cNvSpPr/>
            <p:nvPr/>
          </p:nvSpPr>
          <p:spPr>
            <a:xfrm>
              <a:off x="3008609" y="3718946"/>
              <a:ext cx="6171600" cy="1027200"/>
            </a:xfrm>
            <a:prstGeom prst="roundRect">
              <a:avLst>
                <a:gd name="adj" fmla="val 8902"/>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grpSp>
          <p:nvGrpSpPr>
            <p:cNvPr id="1618" name="Google Shape;1618;p85"/>
            <p:cNvGrpSpPr/>
            <p:nvPr/>
          </p:nvGrpSpPr>
          <p:grpSpPr>
            <a:xfrm>
              <a:off x="3121090" y="4029466"/>
              <a:ext cx="5947016" cy="600692"/>
              <a:chOff x="3181123" y="4245986"/>
              <a:chExt cx="6115812" cy="540969"/>
            </a:xfrm>
          </p:grpSpPr>
          <p:sp>
            <p:nvSpPr>
              <p:cNvPr id="1619" name="Google Shape;1619;p85"/>
              <p:cNvSpPr/>
              <p:nvPr/>
            </p:nvSpPr>
            <p:spPr>
              <a:xfrm>
                <a:off x="5237479" y="4245986"/>
                <a:ext cx="20031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Visibility and Observability</a:t>
                </a:r>
                <a:endParaRPr sz="933">
                  <a:solidFill>
                    <a:schemeClr val="lt1"/>
                  </a:solidFill>
                </a:endParaRPr>
              </a:p>
            </p:txBody>
          </p:sp>
          <p:sp>
            <p:nvSpPr>
              <p:cNvPr id="1620" name="Google Shape;1620;p85"/>
              <p:cNvSpPr/>
              <p:nvPr/>
            </p:nvSpPr>
            <p:spPr>
              <a:xfrm>
                <a:off x="3181123" y="4245987"/>
                <a:ext cx="20031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Performance Optimization</a:t>
                </a:r>
                <a:endParaRPr sz="933">
                  <a:solidFill>
                    <a:schemeClr val="lt1"/>
                  </a:solidFill>
                </a:endParaRPr>
              </a:p>
            </p:txBody>
          </p:sp>
          <p:sp>
            <p:nvSpPr>
              <p:cNvPr id="1621" name="Google Shape;1621;p85"/>
              <p:cNvSpPr/>
              <p:nvPr/>
            </p:nvSpPr>
            <p:spPr>
              <a:xfrm>
                <a:off x="7293835" y="4245997"/>
                <a:ext cx="20031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Analytics and Reporting</a:t>
                </a:r>
                <a:endParaRPr sz="933">
                  <a:solidFill>
                    <a:schemeClr val="lt1"/>
                  </a:solidFill>
                </a:endParaRPr>
              </a:p>
            </p:txBody>
          </p:sp>
          <p:sp>
            <p:nvSpPr>
              <p:cNvPr id="1622" name="Google Shape;1622;p85"/>
              <p:cNvSpPr/>
              <p:nvPr/>
            </p:nvSpPr>
            <p:spPr>
              <a:xfrm>
                <a:off x="5240029" y="4539736"/>
                <a:ext cx="19980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Capacity Management</a:t>
                </a:r>
                <a:endParaRPr sz="933">
                  <a:solidFill>
                    <a:schemeClr val="lt1"/>
                  </a:solidFill>
                </a:endParaRPr>
              </a:p>
            </p:txBody>
          </p:sp>
          <p:sp>
            <p:nvSpPr>
              <p:cNvPr id="1623" name="Google Shape;1623;p85"/>
              <p:cNvSpPr/>
              <p:nvPr/>
            </p:nvSpPr>
            <p:spPr>
              <a:xfrm>
                <a:off x="3181123" y="4539728"/>
                <a:ext cx="19980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Cost Efficiency Management</a:t>
                </a:r>
                <a:endParaRPr sz="933">
                  <a:solidFill>
                    <a:schemeClr val="lt1"/>
                  </a:solidFill>
                </a:endParaRPr>
              </a:p>
            </p:txBody>
          </p:sp>
          <p:sp>
            <p:nvSpPr>
              <p:cNvPr id="1624" name="Google Shape;1624;p85"/>
              <p:cNvSpPr/>
              <p:nvPr/>
            </p:nvSpPr>
            <p:spPr>
              <a:xfrm>
                <a:off x="7298934" y="4539755"/>
                <a:ext cx="19980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Configuration Management</a:t>
                </a:r>
                <a:endParaRPr sz="933">
                  <a:solidFill>
                    <a:schemeClr val="lt1"/>
                  </a:solidFill>
                </a:endParaRPr>
              </a:p>
            </p:txBody>
          </p:sp>
        </p:grpSp>
        <p:grpSp>
          <p:nvGrpSpPr>
            <p:cNvPr id="1625" name="Google Shape;1625;p85"/>
            <p:cNvGrpSpPr/>
            <p:nvPr/>
          </p:nvGrpSpPr>
          <p:grpSpPr>
            <a:xfrm>
              <a:off x="4714256" y="3766995"/>
              <a:ext cx="2963100" cy="239935"/>
              <a:chOff x="4714256" y="3766995"/>
              <a:chExt cx="2963100" cy="239935"/>
            </a:xfrm>
          </p:grpSpPr>
          <p:sp>
            <p:nvSpPr>
              <p:cNvPr id="1626" name="Google Shape;1626;p85"/>
              <p:cNvSpPr txBox="1"/>
              <p:nvPr/>
            </p:nvSpPr>
            <p:spPr>
              <a:xfrm>
                <a:off x="4714256" y="3766995"/>
                <a:ext cx="2963100" cy="239935"/>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Automated Operations</a:t>
                </a:r>
                <a:endParaRPr sz="1066">
                  <a:solidFill>
                    <a:schemeClr val="dk1"/>
                  </a:solidFill>
                </a:endParaRPr>
              </a:p>
            </p:txBody>
          </p:sp>
          <p:grpSp>
            <p:nvGrpSpPr>
              <p:cNvPr id="1627" name="Google Shape;1627;p85"/>
              <p:cNvGrpSpPr/>
              <p:nvPr/>
            </p:nvGrpSpPr>
            <p:grpSpPr>
              <a:xfrm>
                <a:off x="5164661" y="3774954"/>
                <a:ext cx="214918" cy="215611"/>
                <a:chOff x="9332427" y="1236388"/>
                <a:chExt cx="651268" cy="653368"/>
              </a:xfrm>
            </p:grpSpPr>
            <p:sp>
              <p:nvSpPr>
                <p:cNvPr id="1628" name="Google Shape;1628;p85"/>
                <p:cNvSpPr/>
                <p:nvPr/>
              </p:nvSpPr>
              <p:spPr>
                <a:xfrm>
                  <a:off x="9473938" y="1375006"/>
                  <a:ext cx="368152" cy="376087"/>
                </a:xfrm>
                <a:custGeom>
                  <a:avLst/>
                  <a:gdLst/>
                  <a:ahLst/>
                  <a:cxnLst/>
                  <a:rect l="l" t="t" r="r" b="b"/>
                  <a:pathLst>
                    <a:path w="368152" h="376087" extrusionOk="0">
                      <a:moveTo>
                        <a:pt x="331328" y="173715"/>
                      </a:moveTo>
                      <a:lnTo>
                        <a:pt x="368153" y="149119"/>
                      </a:lnTo>
                      <a:lnTo>
                        <a:pt x="368153" y="147065"/>
                      </a:lnTo>
                      <a:cubicBezTo>
                        <a:pt x="366099" y="140904"/>
                        <a:pt x="364046" y="134790"/>
                        <a:pt x="362039" y="130683"/>
                      </a:cubicBezTo>
                      <a:cubicBezTo>
                        <a:pt x="359985" y="124522"/>
                        <a:pt x="357932" y="118408"/>
                        <a:pt x="355925" y="112247"/>
                      </a:cubicBezTo>
                      <a:lnTo>
                        <a:pt x="355925" y="110194"/>
                      </a:lnTo>
                      <a:lnTo>
                        <a:pt x="310932" y="112247"/>
                      </a:lnTo>
                      <a:cubicBezTo>
                        <a:pt x="306825" y="104033"/>
                        <a:pt x="302765" y="95865"/>
                        <a:pt x="296604" y="89705"/>
                      </a:cubicBezTo>
                      <a:lnTo>
                        <a:pt x="310932" y="48726"/>
                      </a:lnTo>
                      <a:lnTo>
                        <a:pt x="308879" y="46673"/>
                      </a:lnTo>
                      <a:cubicBezTo>
                        <a:pt x="298658" y="38458"/>
                        <a:pt x="290490" y="32344"/>
                        <a:pt x="280269" y="26183"/>
                      </a:cubicBezTo>
                      <a:lnTo>
                        <a:pt x="278215" y="24130"/>
                      </a:lnTo>
                      <a:lnTo>
                        <a:pt x="243444" y="50733"/>
                      </a:lnTo>
                      <a:cubicBezTo>
                        <a:pt x="235276" y="48679"/>
                        <a:pt x="225055" y="44572"/>
                        <a:pt x="216841" y="42519"/>
                      </a:cubicBezTo>
                      <a:lnTo>
                        <a:pt x="204566" y="1540"/>
                      </a:lnTo>
                      <a:lnTo>
                        <a:pt x="202512" y="1540"/>
                      </a:lnTo>
                      <a:cubicBezTo>
                        <a:pt x="190237" y="-513"/>
                        <a:pt x="177962" y="-513"/>
                        <a:pt x="165687" y="1540"/>
                      </a:cubicBezTo>
                      <a:lnTo>
                        <a:pt x="163634" y="1540"/>
                      </a:lnTo>
                      <a:lnTo>
                        <a:pt x="151359" y="42519"/>
                      </a:lnTo>
                      <a:cubicBezTo>
                        <a:pt x="147252" y="44572"/>
                        <a:pt x="143191" y="44572"/>
                        <a:pt x="139084" y="46626"/>
                      </a:cubicBezTo>
                      <a:cubicBezTo>
                        <a:pt x="132970" y="48679"/>
                        <a:pt x="128863" y="48679"/>
                        <a:pt x="124756" y="50733"/>
                      </a:cubicBezTo>
                      <a:lnTo>
                        <a:pt x="89985" y="24130"/>
                      </a:lnTo>
                      <a:lnTo>
                        <a:pt x="87931" y="26183"/>
                      </a:lnTo>
                      <a:cubicBezTo>
                        <a:pt x="77710" y="32344"/>
                        <a:pt x="69542" y="38458"/>
                        <a:pt x="59321" y="46673"/>
                      </a:cubicBezTo>
                      <a:lnTo>
                        <a:pt x="57267" y="48726"/>
                      </a:lnTo>
                      <a:lnTo>
                        <a:pt x="71596" y="89705"/>
                      </a:lnTo>
                      <a:cubicBezTo>
                        <a:pt x="67488" y="95865"/>
                        <a:pt x="61374" y="104033"/>
                        <a:pt x="57267" y="112247"/>
                      </a:cubicBezTo>
                      <a:lnTo>
                        <a:pt x="12275" y="110194"/>
                      </a:lnTo>
                      <a:lnTo>
                        <a:pt x="12275" y="112247"/>
                      </a:lnTo>
                      <a:cubicBezTo>
                        <a:pt x="6161" y="124522"/>
                        <a:pt x="4107" y="134790"/>
                        <a:pt x="0" y="147065"/>
                      </a:cubicBezTo>
                      <a:lnTo>
                        <a:pt x="0" y="149119"/>
                      </a:lnTo>
                      <a:lnTo>
                        <a:pt x="36825" y="173715"/>
                      </a:lnTo>
                      <a:cubicBezTo>
                        <a:pt x="34771" y="183936"/>
                        <a:pt x="34771" y="192151"/>
                        <a:pt x="36825" y="202372"/>
                      </a:cubicBezTo>
                      <a:lnTo>
                        <a:pt x="0" y="226969"/>
                      </a:lnTo>
                      <a:lnTo>
                        <a:pt x="0" y="229022"/>
                      </a:lnTo>
                      <a:cubicBezTo>
                        <a:pt x="2054" y="235183"/>
                        <a:pt x="4107" y="241297"/>
                        <a:pt x="6114" y="245404"/>
                      </a:cubicBezTo>
                      <a:cubicBezTo>
                        <a:pt x="8168" y="251565"/>
                        <a:pt x="10221" y="257679"/>
                        <a:pt x="12228" y="263840"/>
                      </a:cubicBezTo>
                      <a:lnTo>
                        <a:pt x="12228" y="265893"/>
                      </a:lnTo>
                      <a:lnTo>
                        <a:pt x="57221" y="263840"/>
                      </a:lnTo>
                      <a:cubicBezTo>
                        <a:pt x="61328" y="272054"/>
                        <a:pt x="65388" y="280222"/>
                        <a:pt x="71549" y="286383"/>
                      </a:cubicBezTo>
                      <a:lnTo>
                        <a:pt x="57221" y="327361"/>
                      </a:lnTo>
                      <a:lnTo>
                        <a:pt x="59274" y="329415"/>
                      </a:lnTo>
                      <a:cubicBezTo>
                        <a:pt x="69495" y="337629"/>
                        <a:pt x="77663" y="343743"/>
                        <a:pt x="87884" y="349904"/>
                      </a:cubicBezTo>
                      <a:lnTo>
                        <a:pt x="89938" y="351958"/>
                      </a:lnTo>
                      <a:lnTo>
                        <a:pt x="124709" y="325354"/>
                      </a:lnTo>
                      <a:cubicBezTo>
                        <a:pt x="132877" y="327408"/>
                        <a:pt x="143098" y="331515"/>
                        <a:pt x="151312" y="333569"/>
                      </a:cubicBezTo>
                      <a:lnTo>
                        <a:pt x="163587" y="374547"/>
                      </a:lnTo>
                      <a:lnTo>
                        <a:pt x="165641" y="374547"/>
                      </a:lnTo>
                      <a:cubicBezTo>
                        <a:pt x="177916" y="376601"/>
                        <a:pt x="190191" y="376601"/>
                        <a:pt x="202465" y="374547"/>
                      </a:cubicBezTo>
                      <a:lnTo>
                        <a:pt x="204519" y="374547"/>
                      </a:lnTo>
                      <a:lnTo>
                        <a:pt x="216794" y="333569"/>
                      </a:lnTo>
                      <a:cubicBezTo>
                        <a:pt x="220901" y="331515"/>
                        <a:pt x="224962" y="331515"/>
                        <a:pt x="229069" y="329461"/>
                      </a:cubicBezTo>
                      <a:cubicBezTo>
                        <a:pt x="235183" y="327408"/>
                        <a:pt x="239290" y="327408"/>
                        <a:pt x="243397" y="325354"/>
                      </a:cubicBezTo>
                      <a:lnTo>
                        <a:pt x="278168" y="351958"/>
                      </a:lnTo>
                      <a:lnTo>
                        <a:pt x="280222" y="349904"/>
                      </a:lnTo>
                      <a:cubicBezTo>
                        <a:pt x="290443" y="343743"/>
                        <a:pt x="298611" y="337629"/>
                        <a:pt x="308832" y="329415"/>
                      </a:cubicBezTo>
                      <a:lnTo>
                        <a:pt x="310886" y="327361"/>
                      </a:lnTo>
                      <a:lnTo>
                        <a:pt x="296557" y="286383"/>
                      </a:lnTo>
                      <a:cubicBezTo>
                        <a:pt x="300664" y="280222"/>
                        <a:pt x="306779" y="272054"/>
                        <a:pt x="310886" y="263840"/>
                      </a:cubicBezTo>
                      <a:lnTo>
                        <a:pt x="355878" y="265893"/>
                      </a:lnTo>
                      <a:lnTo>
                        <a:pt x="355878" y="263840"/>
                      </a:lnTo>
                      <a:cubicBezTo>
                        <a:pt x="361992" y="251565"/>
                        <a:pt x="364046" y="241297"/>
                        <a:pt x="368153" y="229022"/>
                      </a:cubicBezTo>
                      <a:lnTo>
                        <a:pt x="368153" y="226969"/>
                      </a:lnTo>
                      <a:lnTo>
                        <a:pt x="331328" y="202372"/>
                      </a:lnTo>
                      <a:cubicBezTo>
                        <a:pt x="333382" y="192151"/>
                        <a:pt x="333382" y="183936"/>
                        <a:pt x="331328" y="173715"/>
                      </a:cubicBezTo>
                      <a:lnTo>
                        <a:pt x="331328" y="173715"/>
                      </a:lnTo>
                      <a:close/>
                      <a:moveTo>
                        <a:pt x="184076" y="294550"/>
                      </a:moveTo>
                      <a:cubicBezTo>
                        <a:pt x="124756" y="294550"/>
                        <a:pt x="77756" y="247458"/>
                        <a:pt x="77756" y="188044"/>
                      </a:cubicBezTo>
                      <a:cubicBezTo>
                        <a:pt x="77756" y="128630"/>
                        <a:pt x="124802" y="81537"/>
                        <a:pt x="184076" y="81537"/>
                      </a:cubicBezTo>
                      <a:cubicBezTo>
                        <a:pt x="243351" y="81537"/>
                        <a:pt x="290397" y="128630"/>
                        <a:pt x="290397" y="188044"/>
                      </a:cubicBezTo>
                      <a:cubicBezTo>
                        <a:pt x="290397" y="247458"/>
                        <a:pt x="243351" y="294550"/>
                        <a:pt x="184076" y="294550"/>
                      </a:cubicBezTo>
                      <a:lnTo>
                        <a:pt x="184076" y="294550"/>
                      </a:lnTo>
                      <a:close/>
                      <a:moveTo>
                        <a:pt x="184076" y="102026"/>
                      </a:moveTo>
                      <a:cubicBezTo>
                        <a:pt x="137031" y="102026"/>
                        <a:pt x="98199" y="140951"/>
                        <a:pt x="98199" y="188044"/>
                      </a:cubicBezTo>
                      <a:cubicBezTo>
                        <a:pt x="98199" y="235136"/>
                        <a:pt x="137031" y="274061"/>
                        <a:pt x="184076" y="274061"/>
                      </a:cubicBezTo>
                      <a:cubicBezTo>
                        <a:pt x="231122" y="274061"/>
                        <a:pt x="269954" y="235136"/>
                        <a:pt x="269954" y="188044"/>
                      </a:cubicBezTo>
                      <a:cubicBezTo>
                        <a:pt x="269954" y="140951"/>
                        <a:pt x="231122" y="102026"/>
                        <a:pt x="184076" y="102026"/>
                      </a:cubicBezTo>
                      <a:lnTo>
                        <a:pt x="184076" y="102026"/>
                      </a:lnTo>
                      <a:close/>
                      <a:moveTo>
                        <a:pt x="184076" y="241297"/>
                      </a:moveTo>
                      <a:cubicBezTo>
                        <a:pt x="155466" y="241297"/>
                        <a:pt x="130916" y="216701"/>
                        <a:pt x="130916" y="188044"/>
                      </a:cubicBezTo>
                      <a:cubicBezTo>
                        <a:pt x="130916" y="159387"/>
                        <a:pt x="155466" y="134790"/>
                        <a:pt x="184076" y="134790"/>
                      </a:cubicBezTo>
                      <a:cubicBezTo>
                        <a:pt x="212687" y="134790"/>
                        <a:pt x="237236" y="159387"/>
                        <a:pt x="237236" y="188044"/>
                      </a:cubicBezTo>
                      <a:cubicBezTo>
                        <a:pt x="237236" y="216701"/>
                        <a:pt x="212687" y="241297"/>
                        <a:pt x="184076" y="241297"/>
                      </a:cubicBezTo>
                      <a:lnTo>
                        <a:pt x="184076" y="241297"/>
                      </a:lnTo>
                      <a:close/>
                    </a:path>
                  </a:pathLst>
                </a:custGeom>
                <a:gradFill>
                  <a:gsLst>
                    <a:gs pos="0">
                      <a:srgbClr val="0187A6"/>
                    </a:gs>
                    <a:gs pos="100000">
                      <a:srgbClr val="0F8073"/>
                    </a:gs>
                  </a:gsLst>
                  <a:lin ang="0" scaled="0"/>
                </a:gradFill>
                <a:ln>
                  <a:noFill/>
                </a:ln>
              </p:spPr>
              <p:txBody>
                <a:bodyPr spcFirstLastPara="1" wrap="square" lIns="91410" tIns="45688" rIns="91410" bIns="45688" anchor="ctr" anchorCtr="0">
                  <a:noAutofit/>
                </a:bodyPr>
                <a:lstStyle/>
                <a:p>
                  <a:endParaRPr sz="1866">
                    <a:solidFill>
                      <a:schemeClr val="dk1"/>
                    </a:solidFill>
                  </a:endParaRPr>
                </a:p>
              </p:txBody>
            </p:sp>
            <p:sp>
              <p:nvSpPr>
                <p:cNvPr id="1629" name="Google Shape;1629;p85"/>
                <p:cNvSpPr/>
                <p:nvPr/>
              </p:nvSpPr>
              <p:spPr>
                <a:xfrm>
                  <a:off x="9332427" y="1236388"/>
                  <a:ext cx="651268" cy="653368"/>
                </a:xfrm>
                <a:custGeom>
                  <a:avLst/>
                  <a:gdLst/>
                  <a:ahLst/>
                  <a:cxnLst/>
                  <a:rect l="l" t="t" r="r" b="b"/>
                  <a:pathLst>
                    <a:path w="651268" h="653368" extrusionOk="0">
                      <a:moveTo>
                        <a:pt x="587701" y="131477"/>
                      </a:moveTo>
                      <a:cubicBezTo>
                        <a:pt x="546722" y="75983"/>
                        <a:pt x="487355" y="34911"/>
                        <a:pt x="421826" y="14375"/>
                      </a:cubicBezTo>
                      <a:cubicBezTo>
                        <a:pt x="391116" y="4107"/>
                        <a:pt x="358352" y="0"/>
                        <a:pt x="325588" y="0"/>
                      </a:cubicBezTo>
                      <a:cubicBezTo>
                        <a:pt x="292824" y="0"/>
                        <a:pt x="260059" y="4107"/>
                        <a:pt x="229349" y="14375"/>
                      </a:cubicBezTo>
                      <a:lnTo>
                        <a:pt x="249838" y="80137"/>
                      </a:lnTo>
                      <a:cubicBezTo>
                        <a:pt x="274435" y="71922"/>
                        <a:pt x="298984" y="67815"/>
                        <a:pt x="325634" y="67815"/>
                      </a:cubicBezTo>
                      <a:cubicBezTo>
                        <a:pt x="352284" y="67815"/>
                        <a:pt x="376834" y="71922"/>
                        <a:pt x="401430" y="80137"/>
                      </a:cubicBezTo>
                      <a:cubicBezTo>
                        <a:pt x="452630" y="94512"/>
                        <a:pt x="499723" y="127416"/>
                        <a:pt x="532487" y="172595"/>
                      </a:cubicBezTo>
                      <a:cubicBezTo>
                        <a:pt x="565251" y="215767"/>
                        <a:pt x="583687" y="271214"/>
                        <a:pt x="583687" y="326708"/>
                      </a:cubicBezTo>
                      <a:cubicBezTo>
                        <a:pt x="583687" y="468499"/>
                        <a:pt x="466959" y="585600"/>
                        <a:pt x="325634" y="585600"/>
                      </a:cubicBezTo>
                      <a:cubicBezTo>
                        <a:pt x="184310" y="585600"/>
                        <a:pt x="67582" y="468499"/>
                        <a:pt x="67582" y="326708"/>
                      </a:cubicBezTo>
                      <a:cubicBezTo>
                        <a:pt x="67582" y="273268"/>
                        <a:pt x="83964" y="219874"/>
                        <a:pt x="116728" y="176702"/>
                      </a:cubicBezTo>
                      <a:lnTo>
                        <a:pt x="159713" y="195185"/>
                      </a:lnTo>
                      <a:lnTo>
                        <a:pt x="139224" y="32857"/>
                      </a:lnTo>
                      <a:lnTo>
                        <a:pt x="12275" y="131477"/>
                      </a:lnTo>
                      <a:lnTo>
                        <a:pt x="51200" y="147905"/>
                      </a:lnTo>
                      <a:cubicBezTo>
                        <a:pt x="18436" y="201345"/>
                        <a:pt x="0" y="262953"/>
                        <a:pt x="0" y="326661"/>
                      </a:cubicBezTo>
                      <a:cubicBezTo>
                        <a:pt x="0" y="507470"/>
                        <a:pt x="145385" y="653369"/>
                        <a:pt x="325634" y="653369"/>
                      </a:cubicBezTo>
                      <a:cubicBezTo>
                        <a:pt x="505884" y="653369"/>
                        <a:pt x="651269" y="507470"/>
                        <a:pt x="651269" y="326661"/>
                      </a:cubicBezTo>
                      <a:cubicBezTo>
                        <a:pt x="651269" y="254739"/>
                        <a:pt x="628726" y="186924"/>
                        <a:pt x="587794" y="131477"/>
                      </a:cubicBezTo>
                      <a:lnTo>
                        <a:pt x="587794" y="131477"/>
                      </a:lnTo>
                      <a:close/>
                    </a:path>
                  </a:pathLst>
                </a:custGeom>
                <a:gradFill>
                  <a:gsLst>
                    <a:gs pos="0">
                      <a:srgbClr val="0187A6"/>
                    </a:gs>
                    <a:gs pos="100000">
                      <a:srgbClr val="0F8073"/>
                    </a:gs>
                  </a:gsLst>
                  <a:lin ang="0" scaled="0"/>
                </a:gradFill>
                <a:ln>
                  <a:noFill/>
                </a:ln>
              </p:spPr>
              <p:txBody>
                <a:bodyPr spcFirstLastPara="1" wrap="square" lIns="91410" tIns="45688" rIns="91410" bIns="45688" anchor="ctr" anchorCtr="0">
                  <a:noAutofit/>
                </a:bodyPr>
                <a:lstStyle/>
                <a:p>
                  <a:endParaRPr sz="1866">
                    <a:solidFill>
                      <a:schemeClr val="dk1"/>
                    </a:solidFill>
                  </a:endParaRPr>
                </a:p>
              </p:txBody>
            </p:sp>
          </p:grpSp>
        </p:grpSp>
      </p:grpSp>
      <p:grpSp>
        <p:nvGrpSpPr>
          <p:cNvPr id="1630" name="Google Shape;1630;p85"/>
          <p:cNvGrpSpPr/>
          <p:nvPr/>
        </p:nvGrpSpPr>
        <p:grpSpPr>
          <a:xfrm>
            <a:off x="3008626" y="4940191"/>
            <a:ext cx="6171638" cy="703917"/>
            <a:chOff x="3008609" y="4870894"/>
            <a:chExt cx="6171600" cy="704100"/>
          </a:xfrm>
        </p:grpSpPr>
        <p:sp>
          <p:nvSpPr>
            <p:cNvPr id="1631" name="Google Shape;1631;p85"/>
            <p:cNvSpPr/>
            <p:nvPr/>
          </p:nvSpPr>
          <p:spPr>
            <a:xfrm>
              <a:off x="3008609" y="4870894"/>
              <a:ext cx="6171600" cy="704100"/>
            </a:xfrm>
            <a:prstGeom prst="roundRect">
              <a:avLst>
                <a:gd name="adj" fmla="val 12988"/>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grpSp>
          <p:nvGrpSpPr>
            <p:cNvPr id="1632" name="Google Shape;1632;p85"/>
            <p:cNvGrpSpPr/>
            <p:nvPr/>
          </p:nvGrpSpPr>
          <p:grpSpPr>
            <a:xfrm>
              <a:off x="3123361" y="5187517"/>
              <a:ext cx="5942052" cy="274200"/>
              <a:chOff x="3601968" y="5318185"/>
              <a:chExt cx="5181420" cy="274200"/>
            </a:xfrm>
          </p:grpSpPr>
          <p:sp>
            <p:nvSpPr>
              <p:cNvPr id="1633" name="Google Shape;1633;p85"/>
              <p:cNvSpPr/>
              <p:nvPr/>
            </p:nvSpPr>
            <p:spPr>
              <a:xfrm>
                <a:off x="3601968" y="5318185"/>
                <a:ext cx="1698300" cy="274200"/>
              </a:xfrm>
              <a:prstGeom prst="roundRect">
                <a:avLst>
                  <a:gd name="adj" fmla="val 16667"/>
                </a:avLst>
              </a:pr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Compute</a:t>
                </a:r>
                <a:endParaRPr sz="933">
                  <a:solidFill>
                    <a:schemeClr val="lt1"/>
                  </a:solidFill>
                </a:endParaRPr>
              </a:p>
            </p:txBody>
          </p:sp>
          <p:sp>
            <p:nvSpPr>
              <p:cNvPr id="1634" name="Google Shape;1634;p85"/>
              <p:cNvSpPr/>
              <p:nvPr/>
            </p:nvSpPr>
            <p:spPr>
              <a:xfrm>
                <a:off x="5343528" y="5318185"/>
                <a:ext cx="1698300" cy="274200"/>
              </a:xfrm>
              <a:prstGeom prst="roundRect">
                <a:avLst>
                  <a:gd name="adj" fmla="val 16667"/>
                </a:avLst>
              </a:pr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Storage</a:t>
                </a:r>
                <a:endParaRPr sz="933">
                  <a:solidFill>
                    <a:schemeClr val="lt1"/>
                  </a:solidFill>
                </a:endParaRPr>
              </a:p>
            </p:txBody>
          </p:sp>
          <p:sp>
            <p:nvSpPr>
              <p:cNvPr id="1635" name="Google Shape;1635;p85"/>
              <p:cNvSpPr/>
              <p:nvPr/>
            </p:nvSpPr>
            <p:spPr>
              <a:xfrm>
                <a:off x="7085088" y="5318185"/>
                <a:ext cx="1698300" cy="274200"/>
              </a:xfrm>
              <a:prstGeom prst="roundRect">
                <a:avLst>
                  <a:gd name="adj" fmla="val 16667"/>
                </a:avLst>
              </a:pr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Network</a:t>
                </a:r>
                <a:endParaRPr sz="933">
                  <a:solidFill>
                    <a:schemeClr val="lt1"/>
                  </a:solidFill>
                </a:endParaRPr>
              </a:p>
            </p:txBody>
          </p:sp>
        </p:grpSp>
        <p:grpSp>
          <p:nvGrpSpPr>
            <p:cNvPr id="1636" name="Google Shape;1636;p85"/>
            <p:cNvGrpSpPr/>
            <p:nvPr/>
          </p:nvGrpSpPr>
          <p:grpSpPr>
            <a:xfrm>
              <a:off x="4664013" y="4922177"/>
              <a:ext cx="2860800" cy="239935"/>
              <a:chOff x="4664013" y="4922177"/>
              <a:chExt cx="2860800" cy="239935"/>
            </a:xfrm>
          </p:grpSpPr>
          <p:sp>
            <p:nvSpPr>
              <p:cNvPr id="1637" name="Google Shape;1637;p85"/>
              <p:cNvSpPr txBox="1"/>
              <p:nvPr/>
            </p:nvSpPr>
            <p:spPr>
              <a:xfrm>
                <a:off x="4664013" y="4922177"/>
                <a:ext cx="2860800" cy="239935"/>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         Virtualized Infrastructure</a:t>
                </a:r>
                <a:endParaRPr sz="1066">
                  <a:solidFill>
                    <a:schemeClr val="dk1"/>
                  </a:solidFill>
                </a:endParaRPr>
              </a:p>
            </p:txBody>
          </p:sp>
          <p:sp>
            <p:nvSpPr>
              <p:cNvPr id="1638" name="Google Shape;1638;p85"/>
              <p:cNvSpPr/>
              <p:nvPr/>
            </p:nvSpPr>
            <p:spPr>
              <a:xfrm>
                <a:off x="5141095" y="4932906"/>
                <a:ext cx="191901" cy="191928"/>
              </a:xfrm>
              <a:custGeom>
                <a:avLst/>
                <a:gdLst/>
                <a:ahLst/>
                <a:cxnLst/>
                <a:rect l="l" t="t" r="r" b="b"/>
                <a:pathLst>
                  <a:path w="691534" h="691633" extrusionOk="0">
                    <a:moveTo>
                      <a:pt x="252987" y="147330"/>
                    </a:moveTo>
                    <a:lnTo>
                      <a:pt x="246353" y="180652"/>
                    </a:lnTo>
                    <a:cubicBezTo>
                      <a:pt x="233378" y="211759"/>
                      <a:pt x="208803" y="236675"/>
                      <a:pt x="178123" y="249829"/>
                    </a:cubicBezTo>
                    <a:lnTo>
                      <a:pt x="145547" y="256496"/>
                    </a:lnTo>
                    <a:lnTo>
                      <a:pt x="145547" y="435186"/>
                    </a:lnTo>
                    <a:lnTo>
                      <a:pt x="178123" y="441853"/>
                    </a:lnTo>
                    <a:cubicBezTo>
                      <a:pt x="208803" y="455008"/>
                      <a:pt x="233378" y="479924"/>
                      <a:pt x="246353" y="511030"/>
                    </a:cubicBezTo>
                    <a:lnTo>
                      <a:pt x="252967" y="544253"/>
                    </a:lnTo>
                    <a:lnTo>
                      <a:pt x="438567" y="544253"/>
                    </a:lnTo>
                    <a:lnTo>
                      <a:pt x="445181" y="511030"/>
                    </a:lnTo>
                    <a:cubicBezTo>
                      <a:pt x="458156" y="479924"/>
                      <a:pt x="482731" y="455008"/>
                      <a:pt x="513411" y="441853"/>
                    </a:cubicBezTo>
                    <a:lnTo>
                      <a:pt x="545987" y="435186"/>
                    </a:lnTo>
                    <a:lnTo>
                      <a:pt x="545987" y="256496"/>
                    </a:lnTo>
                    <a:lnTo>
                      <a:pt x="513411" y="249829"/>
                    </a:lnTo>
                    <a:cubicBezTo>
                      <a:pt x="482731" y="236675"/>
                      <a:pt x="458156" y="211759"/>
                      <a:pt x="445181" y="180652"/>
                    </a:cubicBezTo>
                    <a:lnTo>
                      <a:pt x="438547" y="147330"/>
                    </a:lnTo>
                    <a:close/>
                    <a:moveTo>
                      <a:pt x="128214" y="0"/>
                    </a:moveTo>
                    <a:cubicBezTo>
                      <a:pt x="141491" y="0"/>
                      <a:pt x="154297" y="2046"/>
                      <a:pt x="166341" y="5845"/>
                    </a:cubicBezTo>
                    <a:lnTo>
                      <a:pt x="173440" y="9305"/>
                    </a:lnTo>
                    <a:lnTo>
                      <a:pt x="178123" y="10263"/>
                    </a:lnTo>
                    <a:lnTo>
                      <a:pt x="184876" y="14879"/>
                    </a:lnTo>
                    <a:lnTo>
                      <a:pt x="199900" y="22202"/>
                    </a:lnTo>
                    <a:lnTo>
                      <a:pt x="212292" y="33618"/>
                    </a:lnTo>
                    <a:lnTo>
                      <a:pt x="218877" y="38120"/>
                    </a:lnTo>
                    <a:lnTo>
                      <a:pt x="221565" y="42162"/>
                    </a:lnTo>
                    <a:lnTo>
                      <a:pt x="227150" y="47307"/>
                    </a:lnTo>
                    <a:cubicBezTo>
                      <a:pt x="234989" y="56938"/>
                      <a:pt x="241486" y="67732"/>
                      <a:pt x="246352" y="79397"/>
                    </a:cubicBezTo>
                    <a:lnTo>
                      <a:pt x="252977" y="112664"/>
                    </a:lnTo>
                    <a:lnTo>
                      <a:pt x="438557" y="112664"/>
                    </a:lnTo>
                    <a:lnTo>
                      <a:pt x="445182" y="79397"/>
                    </a:lnTo>
                    <a:lnTo>
                      <a:pt x="445433" y="79019"/>
                    </a:lnTo>
                    <a:lnTo>
                      <a:pt x="464382" y="47351"/>
                    </a:lnTo>
                    <a:lnTo>
                      <a:pt x="469827" y="42335"/>
                    </a:lnTo>
                    <a:lnTo>
                      <a:pt x="472659" y="38076"/>
                    </a:lnTo>
                    <a:lnTo>
                      <a:pt x="479602" y="33329"/>
                    </a:lnTo>
                    <a:lnTo>
                      <a:pt x="491632" y="22247"/>
                    </a:lnTo>
                    <a:lnTo>
                      <a:pt x="506197" y="15149"/>
                    </a:lnTo>
                    <a:lnTo>
                      <a:pt x="513413" y="10216"/>
                    </a:lnTo>
                    <a:lnTo>
                      <a:pt x="518424" y="9190"/>
                    </a:lnTo>
                    <a:lnTo>
                      <a:pt x="525191" y="5892"/>
                    </a:lnTo>
                    <a:lnTo>
                      <a:pt x="562368" y="195"/>
                    </a:lnTo>
                    <a:lnTo>
                      <a:pt x="563320" y="0"/>
                    </a:lnTo>
                    <a:cubicBezTo>
                      <a:pt x="634131" y="0"/>
                      <a:pt x="691534" y="58202"/>
                      <a:pt x="691534" y="129997"/>
                    </a:cubicBezTo>
                    <a:lnTo>
                      <a:pt x="691529" y="130022"/>
                    </a:lnTo>
                    <a:lnTo>
                      <a:pt x="691534" y="130046"/>
                    </a:lnTo>
                    <a:cubicBezTo>
                      <a:pt x="691534" y="143510"/>
                      <a:pt x="689516" y="156495"/>
                      <a:pt x="685770" y="168708"/>
                    </a:cubicBezTo>
                    <a:lnTo>
                      <a:pt x="682418" y="175779"/>
                    </a:lnTo>
                    <a:lnTo>
                      <a:pt x="681458" y="180598"/>
                    </a:lnTo>
                    <a:lnTo>
                      <a:pt x="676843" y="187539"/>
                    </a:lnTo>
                    <a:lnTo>
                      <a:pt x="669639" y="202734"/>
                    </a:lnTo>
                    <a:lnTo>
                      <a:pt x="658397" y="215278"/>
                    </a:lnTo>
                    <a:lnTo>
                      <a:pt x="653981" y="221919"/>
                    </a:lnTo>
                    <a:lnTo>
                      <a:pt x="650017" y="224629"/>
                    </a:lnTo>
                    <a:lnTo>
                      <a:pt x="644879" y="230362"/>
                    </a:lnTo>
                    <a:cubicBezTo>
                      <a:pt x="635381" y="238309"/>
                      <a:pt x="624734" y="244896"/>
                      <a:pt x="613229" y="249829"/>
                    </a:cubicBezTo>
                    <a:lnTo>
                      <a:pt x="580652" y="256496"/>
                    </a:lnTo>
                    <a:lnTo>
                      <a:pt x="580652" y="435186"/>
                    </a:lnTo>
                    <a:lnTo>
                      <a:pt x="613229" y="441853"/>
                    </a:lnTo>
                    <a:lnTo>
                      <a:pt x="613281" y="441888"/>
                    </a:lnTo>
                    <a:lnTo>
                      <a:pt x="644876" y="461324"/>
                    </a:lnTo>
                    <a:lnTo>
                      <a:pt x="649873" y="466900"/>
                    </a:lnTo>
                    <a:lnTo>
                      <a:pt x="653983" y="469710"/>
                    </a:lnTo>
                    <a:lnTo>
                      <a:pt x="658563" y="476597"/>
                    </a:lnTo>
                    <a:lnTo>
                      <a:pt x="669637" y="488954"/>
                    </a:lnTo>
                    <a:lnTo>
                      <a:pt x="676738" y="503929"/>
                    </a:lnTo>
                    <a:lnTo>
                      <a:pt x="681459" y="511030"/>
                    </a:lnTo>
                    <a:lnTo>
                      <a:pt x="682440" y="515956"/>
                    </a:lnTo>
                    <a:lnTo>
                      <a:pt x="685770" y="522979"/>
                    </a:lnTo>
                    <a:cubicBezTo>
                      <a:pt x="689516" y="535191"/>
                      <a:pt x="691534" y="548175"/>
                      <a:pt x="691534" y="561636"/>
                    </a:cubicBezTo>
                    <a:cubicBezTo>
                      <a:pt x="691534" y="633444"/>
                      <a:pt x="634137" y="691633"/>
                      <a:pt x="563320" y="691633"/>
                    </a:cubicBezTo>
                    <a:cubicBezTo>
                      <a:pt x="550043" y="691633"/>
                      <a:pt x="537237" y="689587"/>
                      <a:pt x="525193" y="685789"/>
                    </a:cubicBezTo>
                    <a:lnTo>
                      <a:pt x="518267" y="682413"/>
                    </a:lnTo>
                    <a:lnTo>
                      <a:pt x="513411" y="681419"/>
                    </a:lnTo>
                    <a:lnTo>
                      <a:pt x="506408" y="676633"/>
                    </a:lnTo>
                    <a:lnTo>
                      <a:pt x="491634" y="669432"/>
                    </a:lnTo>
                    <a:lnTo>
                      <a:pt x="479448" y="658205"/>
                    </a:lnTo>
                    <a:lnTo>
                      <a:pt x="472657" y="653563"/>
                    </a:lnTo>
                    <a:lnTo>
                      <a:pt x="469885" y="649395"/>
                    </a:lnTo>
                    <a:lnTo>
                      <a:pt x="464384" y="644326"/>
                    </a:lnTo>
                    <a:lnTo>
                      <a:pt x="445222" y="612304"/>
                    </a:lnTo>
                    <a:lnTo>
                      <a:pt x="445181" y="612242"/>
                    </a:lnTo>
                    <a:lnTo>
                      <a:pt x="438547" y="578919"/>
                    </a:lnTo>
                    <a:lnTo>
                      <a:pt x="252987" y="578919"/>
                    </a:lnTo>
                    <a:lnTo>
                      <a:pt x="246353" y="612242"/>
                    </a:lnTo>
                    <a:lnTo>
                      <a:pt x="246312" y="612304"/>
                    </a:lnTo>
                    <a:lnTo>
                      <a:pt x="227150" y="644326"/>
                    </a:lnTo>
                    <a:lnTo>
                      <a:pt x="221649" y="649395"/>
                    </a:lnTo>
                    <a:lnTo>
                      <a:pt x="218877" y="653563"/>
                    </a:lnTo>
                    <a:lnTo>
                      <a:pt x="212086" y="658205"/>
                    </a:lnTo>
                    <a:lnTo>
                      <a:pt x="199900" y="669432"/>
                    </a:lnTo>
                    <a:lnTo>
                      <a:pt x="185126" y="676633"/>
                    </a:lnTo>
                    <a:lnTo>
                      <a:pt x="178123" y="681419"/>
                    </a:lnTo>
                    <a:lnTo>
                      <a:pt x="173267" y="682413"/>
                    </a:lnTo>
                    <a:lnTo>
                      <a:pt x="166341" y="685789"/>
                    </a:lnTo>
                    <a:cubicBezTo>
                      <a:pt x="154297" y="689587"/>
                      <a:pt x="141491" y="691633"/>
                      <a:pt x="128214" y="691633"/>
                    </a:cubicBezTo>
                    <a:cubicBezTo>
                      <a:pt x="57397" y="691633"/>
                      <a:pt x="0" y="633444"/>
                      <a:pt x="0" y="561636"/>
                    </a:cubicBezTo>
                    <a:cubicBezTo>
                      <a:pt x="0" y="548175"/>
                      <a:pt x="2018" y="535191"/>
                      <a:pt x="5764" y="522979"/>
                    </a:cubicBezTo>
                    <a:lnTo>
                      <a:pt x="9094" y="515956"/>
                    </a:lnTo>
                    <a:lnTo>
                      <a:pt x="10075" y="511030"/>
                    </a:lnTo>
                    <a:lnTo>
                      <a:pt x="14796" y="503929"/>
                    </a:lnTo>
                    <a:lnTo>
                      <a:pt x="21897" y="488954"/>
                    </a:lnTo>
                    <a:lnTo>
                      <a:pt x="32971" y="476597"/>
                    </a:lnTo>
                    <a:lnTo>
                      <a:pt x="37551" y="469710"/>
                    </a:lnTo>
                    <a:lnTo>
                      <a:pt x="41661" y="466900"/>
                    </a:lnTo>
                    <a:lnTo>
                      <a:pt x="46658" y="461324"/>
                    </a:lnTo>
                    <a:lnTo>
                      <a:pt x="78253" y="441889"/>
                    </a:lnTo>
                    <a:lnTo>
                      <a:pt x="78305" y="441853"/>
                    </a:lnTo>
                    <a:lnTo>
                      <a:pt x="110881" y="435186"/>
                    </a:lnTo>
                    <a:lnTo>
                      <a:pt x="110881" y="256496"/>
                    </a:lnTo>
                    <a:lnTo>
                      <a:pt x="78305" y="249829"/>
                    </a:lnTo>
                    <a:lnTo>
                      <a:pt x="77540" y="249306"/>
                    </a:lnTo>
                    <a:lnTo>
                      <a:pt x="46658" y="230309"/>
                    </a:lnTo>
                    <a:lnTo>
                      <a:pt x="41774" y="224859"/>
                    </a:lnTo>
                    <a:lnTo>
                      <a:pt x="37551" y="221973"/>
                    </a:lnTo>
                    <a:lnTo>
                      <a:pt x="32845" y="214896"/>
                    </a:lnTo>
                    <a:lnTo>
                      <a:pt x="21897" y="202680"/>
                    </a:lnTo>
                    <a:lnTo>
                      <a:pt x="14877" y="187875"/>
                    </a:lnTo>
                    <a:lnTo>
                      <a:pt x="10075" y="180652"/>
                    </a:lnTo>
                    <a:lnTo>
                      <a:pt x="9077" y="175642"/>
                    </a:lnTo>
                    <a:lnTo>
                      <a:pt x="5764" y="168654"/>
                    </a:lnTo>
                    <a:lnTo>
                      <a:pt x="29" y="130192"/>
                    </a:lnTo>
                    <a:lnTo>
                      <a:pt x="0" y="130046"/>
                    </a:lnTo>
                    <a:lnTo>
                      <a:pt x="4" y="130025"/>
                    </a:lnTo>
                    <a:lnTo>
                      <a:pt x="0" y="129997"/>
                    </a:lnTo>
                    <a:cubicBezTo>
                      <a:pt x="0" y="58202"/>
                      <a:pt x="57403" y="0"/>
                      <a:pt x="128214" y="0"/>
                    </a:cubicBezTo>
                    <a:close/>
                  </a:path>
                </a:pathLst>
              </a:cu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grpSp>
        <p:nvGrpSpPr>
          <p:cNvPr id="1641" name="Google Shape;1641;p85"/>
          <p:cNvGrpSpPr/>
          <p:nvPr/>
        </p:nvGrpSpPr>
        <p:grpSpPr>
          <a:xfrm>
            <a:off x="3008626" y="2320714"/>
            <a:ext cx="6171638" cy="1343050"/>
            <a:chOff x="3008609" y="2250736"/>
            <a:chExt cx="6171600" cy="1343400"/>
          </a:xfrm>
        </p:grpSpPr>
        <p:sp>
          <p:nvSpPr>
            <p:cNvPr id="1642" name="Google Shape;1642;p85"/>
            <p:cNvSpPr/>
            <p:nvPr/>
          </p:nvSpPr>
          <p:spPr>
            <a:xfrm>
              <a:off x="3008609" y="2250736"/>
              <a:ext cx="6171600" cy="1343400"/>
            </a:xfrm>
            <a:prstGeom prst="roundRect">
              <a:avLst>
                <a:gd name="adj" fmla="val 6806"/>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grpSp>
          <p:nvGrpSpPr>
            <p:cNvPr id="1643" name="Google Shape;1643;p85"/>
            <p:cNvGrpSpPr/>
            <p:nvPr/>
          </p:nvGrpSpPr>
          <p:grpSpPr>
            <a:xfrm>
              <a:off x="3116449" y="2558141"/>
              <a:ext cx="5956012" cy="925810"/>
              <a:chOff x="3179633" y="2725072"/>
              <a:chExt cx="5956012" cy="925810"/>
            </a:xfrm>
          </p:grpSpPr>
          <p:sp>
            <p:nvSpPr>
              <p:cNvPr id="1644" name="Google Shape;1644;p85"/>
              <p:cNvSpPr/>
              <p:nvPr/>
            </p:nvSpPr>
            <p:spPr>
              <a:xfrm>
                <a:off x="3184059" y="3376682"/>
                <a:ext cx="59514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IaaS     |    CaaS     |     PaaS     |     XaaS</a:t>
                </a:r>
                <a:endParaRPr sz="933">
                  <a:solidFill>
                    <a:schemeClr val="lt1"/>
                  </a:solidFill>
                </a:endParaRPr>
              </a:p>
            </p:txBody>
          </p:sp>
          <p:sp>
            <p:nvSpPr>
              <p:cNvPr id="1645" name="Google Shape;1645;p85"/>
              <p:cNvSpPr/>
              <p:nvPr/>
            </p:nvSpPr>
            <p:spPr>
              <a:xfrm>
                <a:off x="3179633" y="3057755"/>
                <a:ext cx="12522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Data Services</a:t>
                </a:r>
                <a:endParaRPr sz="933">
                  <a:solidFill>
                    <a:schemeClr val="lt1"/>
                  </a:solidFill>
                </a:endParaRPr>
              </a:p>
            </p:txBody>
          </p:sp>
          <p:sp>
            <p:nvSpPr>
              <p:cNvPr id="1646" name="Google Shape;1646;p85"/>
              <p:cNvSpPr/>
              <p:nvPr/>
            </p:nvSpPr>
            <p:spPr>
              <a:xfrm>
                <a:off x="6170586" y="3057756"/>
                <a:ext cx="14676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AI/ML Services </a:t>
                </a:r>
                <a:endParaRPr sz="933">
                  <a:solidFill>
                    <a:schemeClr val="lt1"/>
                  </a:solidFill>
                </a:endParaRPr>
              </a:p>
            </p:txBody>
          </p:sp>
          <p:sp>
            <p:nvSpPr>
              <p:cNvPr id="1647" name="Google Shape;1647;p85"/>
              <p:cNvSpPr/>
              <p:nvPr/>
            </p:nvSpPr>
            <p:spPr>
              <a:xfrm>
                <a:off x="7684683" y="3057756"/>
                <a:ext cx="14508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LBaaS Services</a:t>
                </a:r>
                <a:endParaRPr sz="933">
                  <a:solidFill>
                    <a:schemeClr val="lt1"/>
                  </a:solidFill>
                </a:endParaRPr>
              </a:p>
            </p:txBody>
          </p:sp>
          <p:sp>
            <p:nvSpPr>
              <p:cNvPr id="1648" name="Google Shape;1648;p85"/>
              <p:cNvSpPr/>
              <p:nvPr/>
            </p:nvSpPr>
            <p:spPr>
              <a:xfrm>
                <a:off x="4481236" y="3057756"/>
                <a:ext cx="16404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App Runtime Services</a:t>
                </a:r>
                <a:endParaRPr sz="933">
                  <a:solidFill>
                    <a:schemeClr val="lt1"/>
                  </a:solidFill>
                </a:endParaRPr>
              </a:p>
            </p:txBody>
          </p:sp>
          <p:sp>
            <p:nvSpPr>
              <p:cNvPr id="1649" name="Google Shape;1649;p85"/>
              <p:cNvSpPr/>
              <p:nvPr/>
            </p:nvSpPr>
            <p:spPr>
              <a:xfrm>
                <a:off x="3179633" y="2725072"/>
                <a:ext cx="1956900" cy="283500"/>
              </a:xfrm>
              <a:prstGeom prst="roundRect">
                <a:avLst>
                  <a:gd name="adj" fmla="val 16129"/>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Self-Service Portal</a:t>
                </a:r>
                <a:endParaRPr sz="933">
                  <a:solidFill>
                    <a:schemeClr val="lt1"/>
                  </a:solidFill>
                </a:endParaRPr>
              </a:p>
            </p:txBody>
          </p:sp>
          <p:sp>
            <p:nvSpPr>
              <p:cNvPr id="1650" name="Google Shape;1650;p85"/>
              <p:cNvSpPr/>
              <p:nvPr/>
            </p:nvSpPr>
            <p:spPr>
              <a:xfrm>
                <a:off x="5179189" y="2725072"/>
                <a:ext cx="1956900" cy="283500"/>
              </a:xfrm>
              <a:prstGeom prst="roundRect">
                <a:avLst>
                  <a:gd name="adj" fmla="val 16129"/>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API | CLI | CI/CD </a:t>
                </a:r>
                <a:endParaRPr sz="933">
                  <a:solidFill>
                    <a:schemeClr val="lt1"/>
                  </a:solidFill>
                </a:endParaRPr>
              </a:p>
            </p:txBody>
          </p:sp>
          <p:sp>
            <p:nvSpPr>
              <p:cNvPr id="1651" name="Google Shape;1651;p85"/>
              <p:cNvSpPr/>
              <p:nvPr/>
            </p:nvSpPr>
            <p:spPr>
              <a:xfrm>
                <a:off x="7178745" y="2725072"/>
                <a:ext cx="1956900" cy="283500"/>
              </a:xfrm>
              <a:prstGeom prst="roundRect">
                <a:avLst>
                  <a:gd name="adj" fmla="val 16129"/>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Infra-as-Code</a:t>
                </a:r>
                <a:endParaRPr sz="933">
                  <a:solidFill>
                    <a:schemeClr val="lt1"/>
                  </a:solidFill>
                </a:endParaRPr>
              </a:p>
            </p:txBody>
          </p:sp>
        </p:grpSp>
        <p:grpSp>
          <p:nvGrpSpPr>
            <p:cNvPr id="1652" name="Google Shape;1652;p85"/>
            <p:cNvGrpSpPr/>
            <p:nvPr/>
          </p:nvGrpSpPr>
          <p:grpSpPr>
            <a:xfrm>
              <a:off x="4892013" y="2298173"/>
              <a:ext cx="2632800" cy="239936"/>
              <a:chOff x="4892013" y="2298173"/>
              <a:chExt cx="2632800" cy="239936"/>
            </a:xfrm>
          </p:grpSpPr>
          <p:sp>
            <p:nvSpPr>
              <p:cNvPr id="1653" name="Google Shape;1653;p85"/>
              <p:cNvSpPr txBox="1"/>
              <p:nvPr/>
            </p:nvSpPr>
            <p:spPr>
              <a:xfrm>
                <a:off x="4892013" y="2298173"/>
                <a:ext cx="2632800" cy="239936"/>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dirty="0">
                    <a:solidFill>
                      <a:schemeClr val="dk1"/>
                    </a:solidFill>
                  </a:rPr>
                  <a:t>Consumption</a:t>
                </a:r>
              </a:p>
            </p:txBody>
          </p:sp>
          <p:sp>
            <p:nvSpPr>
              <p:cNvPr id="1654" name="Google Shape;1654;p85"/>
              <p:cNvSpPr/>
              <p:nvPr/>
            </p:nvSpPr>
            <p:spPr>
              <a:xfrm>
                <a:off x="5452007" y="2316219"/>
                <a:ext cx="236670" cy="189913"/>
              </a:xfrm>
              <a:custGeom>
                <a:avLst/>
                <a:gdLst/>
                <a:ahLst/>
                <a:cxnLst/>
                <a:rect l="l" t="t" r="r" b="b"/>
                <a:pathLst>
                  <a:path w="556870" h="446855" extrusionOk="0">
                    <a:moveTo>
                      <a:pt x="272034" y="217227"/>
                    </a:moveTo>
                    <a:cubicBezTo>
                      <a:pt x="303638" y="217227"/>
                      <a:pt x="330041" y="244030"/>
                      <a:pt x="329641" y="275634"/>
                    </a:cubicBezTo>
                    <a:cubicBezTo>
                      <a:pt x="329641" y="308438"/>
                      <a:pt x="302037" y="332841"/>
                      <a:pt x="272034" y="332841"/>
                    </a:cubicBezTo>
                    <a:cubicBezTo>
                      <a:pt x="238429" y="332841"/>
                      <a:pt x="214426" y="305238"/>
                      <a:pt x="214026" y="275634"/>
                    </a:cubicBezTo>
                    <a:cubicBezTo>
                      <a:pt x="213626" y="241630"/>
                      <a:pt x="241230" y="217227"/>
                      <a:pt x="272034" y="217227"/>
                    </a:cubicBezTo>
                    <a:close/>
                    <a:moveTo>
                      <a:pt x="315239" y="138417"/>
                    </a:moveTo>
                    <a:cubicBezTo>
                      <a:pt x="311239" y="136416"/>
                      <a:pt x="308439" y="136816"/>
                      <a:pt x="305238" y="140417"/>
                    </a:cubicBezTo>
                    <a:cubicBezTo>
                      <a:pt x="300438" y="146418"/>
                      <a:pt x="295237" y="152418"/>
                      <a:pt x="289636" y="157619"/>
                    </a:cubicBezTo>
                    <a:cubicBezTo>
                      <a:pt x="287636" y="159619"/>
                      <a:pt x="284036" y="160819"/>
                      <a:pt x="280835" y="161219"/>
                    </a:cubicBezTo>
                    <a:cubicBezTo>
                      <a:pt x="274034" y="162019"/>
                      <a:pt x="267233" y="161219"/>
                      <a:pt x="260433" y="161619"/>
                    </a:cubicBezTo>
                    <a:cubicBezTo>
                      <a:pt x="256032" y="162019"/>
                      <a:pt x="252432" y="161219"/>
                      <a:pt x="249631" y="157619"/>
                    </a:cubicBezTo>
                    <a:cubicBezTo>
                      <a:pt x="244431" y="151618"/>
                      <a:pt x="238830" y="145617"/>
                      <a:pt x="233229" y="140017"/>
                    </a:cubicBezTo>
                    <a:cubicBezTo>
                      <a:pt x="231629" y="138817"/>
                      <a:pt x="228429" y="138016"/>
                      <a:pt x="226428" y="138817"/>
                    </a:cubicBezTo>
                    <a:cubicBezTo>
                      <a:pt x="217627" y="142417"/>
                      <a:pt x="208826" y="146418"/>
                      <a:pt x="200025" y="150018"/>
                    </a:cubicBezTo>
                    <a:cubicBezTo>
                      <a:pt x="200025" y="156019"/>
                      <a:pt x="199225" y="161619"/>
                      <a:pt x="200425" y="167220"/>
                    </a:cubicBezTo>
                    <a:cubicBezTo>
                      <a:pt x="202825" y="178822"/>
                      <a:pt x="198425" y="186422"/>
                      <a:pt x="190424" y="195224"/>
                    </a:cubicBezTo>
                    <a:cubicBezTo>
                      <a:pt x="180823" y="206025"/>
                      <a:pt x="170821" y="209225"/>
                      <a:pt x="157620" y="206825"/>
                    </a:cubicBezTo>
                    <a:cubicBezTo>
                      <a:pt x="156820" y="206825"/>
                      <a:pt x="156420" y="206825"/>
                      <a:pt x="155619" y="206825"/>
                    </a:cubicBezTo>
                    <a:cubicBezTo>
                      <a:pt x="141618" y="205625"/>
                      <a:pt x="144818" y="204825"/>
                      <a:pt x="140018" y="216426"/>
                    </a:cubicBezTo>
                    <a:cubicBezTo>
                      <a:pt x="137217" y="223227"/>
                      <a:pt x="131616" y="231228"/>
                      <a:pt x="133217" y="237229"/>
                    </a:cubicBezTo>
                    <a:cubicBezTo>
                      <a:pt x="134817" y="243230"/>
                      <a:pt x="142818" y="248430"/>
                      <a:pt x="148819" y="252831"/>
                    </a:cubicBezTo>
                    <a:cubicBezTo>
                      <a:pt x="155619" y="258031"/>
                      <a:pt x="158420" y="263632"/>
                      <a:pt x="156420" y="272033"/>
                    </a:cubicBezTo>
                    <a:cubicBezTo>
                      <a:pt x="155619" y="276434"/>
                      <a:pt x="156420" y="281234"/>
                      <a:pt x="157220" y="285635"/>
                    </a:cubicBezTo>
                    <a:cubicBezTo>
                      <a:pt x="158420" y="290836"/>
                      <a:pt x="156820" y="294436"/>
                      <a:pt x="152819" y="297636"/>
                    </a:cubicBezTo>
                    <a:cubicBezTo>
                      <a:pt x="146818" y="302437"/>
                      <a:pt x="141218" y="307638"/>
                      <a:pt x="135617" y="313238"/>
                    </a:cubicBezTo>
                    <a:cubicBezTo>
                      <a:pt x="134417" y="314839"/>
                      <a:pt x="133617" y="318039"/>
                      <a:pt x="134417" y="320039"/>
                    </a:cubicBezTo>
                    <a:cubicBezTo>
                      <a:pt x="137217" y="327240"/>
                      <a:pt x="140818" y="334441"/>
                      <a:pt x="143618" y="342042"/>
                    </a:cubicBezTo>
                    <a:cubicBezTo>
                      <a:pt x="145218" y="346042"/>
                      <a:pt x="147218" y="347243"/>
                      <a:pt x="151219" y="346843"/>
                    </a:cubicBezTo>
                    <a:cubicBezTo>
                      <a:pt x="157220" y="346442"/>
                      <a:pt x="163620" y="346442"/>
                      <a:pt x="169621" y="345642"/>
                    </a:cubicBezTo>
                    <a:cubicBezTo>
                      <a:pt x="176422" y="344442"/>
                      <a:pt x="181623" y="346042"/>
                      <a:pt x="186023" y="352043"/>
                    </a:cubicBezTo>
                    <a:cubicBezTo>
                      <a:pt x="189624" y="356844"/>
                      <a:pt x="194024" y="360444"/>
                      <a:pt x="198425" y="364045"/>
                    </a:cubicBezTo>
                    <a:cubicBezTo>
                      <a:pt x="201625" y="366845"/>
                      <a:pt x="203225" y="369645"/>
                      <a:pt x="202825" y="374046"/>
                    </a:cubicBezTo>
                    <a:cubicBezTo>
                      <a:pt x="202425" y="381647"/>
                      <a:pt x="202025" y="389648"/>
                      <a:pt x="202025" y="397249"/>
                    </a:cubicBezTo>
                    <a:cubicBezTo>
                      <a:pt x="202025" y="399649"/>
                      <a:pt x="204026" y="403250"/>
                      <a:pt x="206026" y="404050"/>
                    </a:cubicBezTo>
                    <a:cubicBezTo>
                      <a:pt x="213227" y="407650"/>
                      <a:pt x="221228" y="410451"/>
                      <a:pt x="228829" y="413251"/>
                    </a:cubicBezTo>
                    <a:cubicBezTo>
                      <a:pt x="231229" y="414051"/>
                      <a:pt x="234829" y="413251"/>
                      <a:pt x="236430" y="411651"/>
                    </a:cubicBezTo>
                    <a:cubicBezTo>
                      <a:pt x="242430" y="406050"/>
                      <a:pt x="247631" y="399249"/>
                      <a:pt x="253232" y="393648"/>
                    </a:cubicBezTo>
                    <a:cubicBezTo>
                      <a:pt x="255232" y="391648"/>
                      <a:pt x="258432" y="390048"/>
                      <a:pt x="261233" y="390048"/>
                    </a:cubicBezTo>
                    <a:cubicBezTo>
                      <a:pt x="268434" y="389648"/>
                      <a:pt x="275634" y="389648"/>
                      <a:pt x="282835" y="390048"/>
                    </a:cubicBezTo>
                    <a:cubicBezTo>
                      <a:pt x="286436" y="390448"/>
                      <a:pt x="290036" y="391648"/>
                      <a:pt x="292437" y="393648"/>
                    </a:cubicBezTo>
                    <a:cubicBezTo>
                      <a:pt x="297637" y="398449"/>
                      <a:pt x="302438" y="403650"/>
                      <a:pt x="306838" y="409250"/>
                    </a:cubicBezTo>
                    <a:cubicBezTo>
                      <a:pt x="310839" y="414051"/>
                      <a:pt x="314439" y="414451"/>
                      <a:pt x="319640" y="411651"/>
                    </a:cubicBezTo>
                    <a:cubicBezTo>
                      <a:pt x="327241" y="407650"/>
                      <a:pt x="338442" y="406050"/>
                      <a:pt x="342043" y="400049"/>
                    </a:cubicBezTo>
                    <a:cubicBezTo>
                      <a:pt x="345643" y="393648"/>
                      <a:pt x="342443" y="383247"/>
                      <a:pt x="341643" y="374446"/>
                    </a:cubicBezTo>
                    <a:cubicBezTo>
                      <a:pt x="341243" y="369245"/>
                      <a:pt x="342843" y="365645"/>
                      <a:pt x="346843" y="362044"/>
                    </a:cubicBezTo>
                    <a:cubicBezTo>
                      <a:pt x="352044" y="357644"/>
                      <a:pt x="356045" y="352443"/>
                      <a:pt x="360845" y="348043"/>
                    </a:cubicBezTo>
                    <a:cubicBezTo>
                      <a:pt x="363245" y="345642"/>
                      <a:pt x="366846" y="344042"/>
                      <a:pt x="370046" y="344042"/>
                    </a:cubicBezTo>
                    <a:cubicBezTo>
                      <a:pt x="377647" y="343642"/>
                      <a:pt x="385648" y="344442"/>
                      <a:pt x="393249" y="344842"/>
                    </a:cubicBezTo>
                    <a:cubicBezTo>
                      <a:pt x="396850" y="345242"/>
                      <a:pt x="399250" y="344042"/>
                      <a:pt x="400450" y="340442"/>
                    </a:cubicBezTo>
                    <a:cubicBezTo>
                      <a:pt x="403250" y="332841"/>
                      <a:pt x="406451" y="325240"/>
                      <a:pt x="409651" y="318039"/>
                    </a:cubicBezTo>
                    <a:cubicBezTo>
                      <a:pt x="411251" y="314438"/>
                      <a:pt x="410851" y="312038"/>
                      <a:pt x="406851" y="310838"/>
                    </a:cubicBezTo>
                    <a:cubicBezTo>
                      <a:pt x="400850" y="305637"/>
                      <a:pt x="394849" y="300437"/>
                      <a:pt x="389249" y="294836"/>
                    </a:cubicBezTo>
                    <a:cubicBezTo>
                      <a:pt x="387248" y="292836"/>
                      <a:pt x="386048" y="288835"/>
                      <a:pt x="385648" y="285635"/>
                    </a:cubicBezTo>
                    <a:cubicBezTo>
                      <a:pt x="385248" y="278834"/>
                      <a:pt x="385248" y="272033"/>
                      <a:pt x="385648" y="265232"/>
                    </a:cubicBezTo>
                    <a:cubicBezTo>
                      <a:pt x="385648" y="262032"/>
                      <a:pt x="386848" y="258031"/>
                      <a:pt x="388849" y="255631"/>
                    </a:cubicBezTo>
                    <a:cubicBezTo>
                      <a:pt x="394049" y="249630"/>
                      <a:pt x="400450" y="244430"/>
                      <a:pt x="406451" y="239229"/>
                    </a:cubicBezTo>
                    <a:cubicBezTo>
                      <a:pt x="409251" y="236429"/>
                      <a:pt x="410051" y="234428"/>
                      <a:pt x="408451" y="230828"/>
                    </a:cubicBezTo>
                    <a:cubicBezTo>
                      <a:pt x="404851" y="223627"/>
                      <a:pt x="401650" y="216426"/>
                      <a:pt x="398850" y="208825"/>
                    </a:cubicBezTo>
                    <a:cubicBezTo>
                      <a:pt x="397250" y="205225"/>
                      <a:pt x="395649" y="204025"/>
                      <a:pt x="392049" y="204425"/>
                    </a:cubicBezTo>
                    <a:cubicBezTo>
                      <a:pt x="383648" y="204825"/>
                      <a:pt x="375647" y="205625"/>
                      <a:pt x="367246" y="205625"/>
                    </a:cubicBezTo>
                    <a:cubicBezTo>
                      <a:pt x="364446" y="205625"/>
                      <a:pt x="361245" y="204025"/>
                      <a:pt x="359245" y="202024"/>
                    </a:cubicBezTo>
                    <a:cubicBezTo>
                      <a:pt x="353644" y="196824"/>
                      <a:pt x="348444" y="191623"/>
                      <a:pt x="343243" y="186022"/>
                    </a:cubicBezTo>
                    <a:cubicBezTo>
                      <a:pt x="341243" y="184022"/>
                      <a:pt x="339642" y="180822"/>
                      <a:pt x="339642" y="178021"/>
                    </a:cubicBezTo>
                    <a:cubicBezTo>
                      <a:pt x="339642" y="170421"/>
                      <a:pt x="340043" y="162420"/>
                      <a:pt x="340843" y="154819"/>
                    </a:cubicBezTo>
                    <a:cubicBezTo>
                      <a:pt x="341243" y="150818"/>
                      <a:pt x="340043" y="148418"/>
                      <a:pt x="335642" y="146818"/>
                    </a:cubicBezTo>
                    <a:cubicBezTo>
                      <a:pt x="328841" y="144417"/>
                      <a:pt x="322040" y="141617"/>
                      <a:pt x="315239" y="138417"/>
                    </a:cubicBezTo>
                    <a:close/>
                    <a:moveTo>
                      <a:pt x="0" y="94411"/>
                    </a:moveTo>
                    <a:lnTo>
                      <a:pt x="556470" y="94411"/>
                    </a:lnTo>
                    <a:cubicBezTo>
                      <a:pt x="556470" y="94411"/>
                      <a:pt x="556470" y="94411"/>
                      <a:pt x="556470" y="429653"/>
                    </a:cubicBezTo>
                    <a:cubicBezTo>
                      <a:pt x="556470" y="438854"/>
                      <a:pt x="548869" y="446855"/>
                      <a:pt x="539267" y="446855"/>
                    </a:cubicBezTo>
                    <a:cubicBezTo>
                      <a:pt x="539267" y="446855"/>
                      <a:pt x="539267" y="446855"/>
                      <a:pt x="15602" y="446855"/>
                    </a:cubicBezTo>
                    <a:cubicBezTo>
                      <a:pt x="6401" y="446855"/>
                      <a:pt x="0" y="439254"/>
                      <a:pt x="0" y="429653"/>
                    </a:cubicBezTo>
                    <a:cubicBezTo>
                      <a:pt x="0" y="429653"/>
                      <a:pt x="0" y="429653"/>
                      <a:pt x="0" y="94411"/>
                    </a:cubicBezTo>
                    <a:close/>
                    <a:moveTo>
                      <a:pt x="137217" y="19202"/>
                    </a:moveTo>
                    <a:cubicBezTo>
                      <a:pt x="129616" y="19202"/>
                      <a:pt x="121615" y="25603"/>
                      <a:pt x="121615" y="35204"/>
                    </a:cubicBezTo>
                    <a:cubicBezTo>
                      <a:pt x="121615" y="43205"/>
                      <a:pt x="129216" y="51206"/>
                      <a:pt x="137217" y="51206"/>
                    </a:cubicBezTo>
                    <a:cubicBezTo>
                      <a:pt x="146418" y="51206"/>
                      <a:pt x="152819" y="43205"/>
                      <a:pt x="152819" y="35204"/>
                    </a:cubicBezTo>
                    <a:cubicBezTo>
                      <a:pt x="152819" y="25603"/>
                      <a:pt x="146818" y="19202"/>
                      <a:pt x="137217" y="19202"/>
                    </a:cubicBezTo>
                    <a:close/>
                    <a:moveTo>
                      <a:pt x="86411" y="19202"/>
                    </a:moveTo>
                    <a:cubicBezTo>
                      <a:pt x="77210" y="19202"/>
                      <a:pt x="70809" y="25603"/>
                      <a:pt x="70809" y="35204"/>
                    </a:cubicBezTo>
                    <a:cubicBezTo>
                      <a:pt x="70809" y="43205"/>
                      <a:pt x="76810" y="51206"/>
                      <a:pt x="86411" y="51206"/>
                    </a:cubicBezTo>
                    <a:cubicBezTo>
                      <a:pt x="94412" y="51206"/>
                      <a:pt x="102413" y="43205"/>
                      <a:pt x="102013" y="35204"/>
                    </a:cubicBezTo>
                    <a:cubicBezTo>
                      <a:pt x="102013" y="25603"/>
                      <a:pt x="94412" y="19202"/>
                      <a:pt x="86411" y="19202"/>
                    </a:cubicBezTo>
                    <a:close/>
                    <a:moveTo>
                      <a:pt x="34404" y="19202"/>
                    </a:moveTo>
                    <a:cubicBezTo>
                      <a:pt x="26803" y="19202"/>
                      <a:pt x="18802" y="25603"/>
                      <a:pt x="18802" y="35204"/>
                    </a:cubicBezTo>
                    <a:cubicBezTo>
                      <a:pt x="18802" y="43205"/>
                      <a:pt x="26403" y="51206"/>
                      <a:pt x="34404" y="51206"/>
                    </a:cubicBezTo>
                    <a:cubicBezTo>
                      <a:pt x="44006" y="51206"/>
                      <a:pt x="52007" y="43205"/>
                      <a:pt x="51606" y="35204"/>
                    </a:cubicBezTo>
                    <a:cubicBezTo>
                      <a:pt x="51606" y="25603"/>
                      <a:pt x="44006" y="19202"/>
                      <a:pt x="34404" y="19202"/>
                    </a:cubicBezTo>
                    <a:close/>
                    <a:moveTo>
                      <a:pt x="0" y="0"/>
                    </a:moveTo>
                    <a:lnTo>
                      <a:pt x="556470" y="0"/>
                    </a:lnTo>
                    <a:cubicBezTo>
                      <a:pt x="556470" y="0"/>
                      <a:pt x="556470" y="0"/>
                      <a:pt x="556870" y="71609"/>
                    </a:cubicBezTo>
                    <a:cubicBezTo>
                      <a:pt x="556870" y="71609"/>
                      <a:pt x="556870" y="71609"/>
                      <a:pt x="0" y="71609"/>
                    </a:cubicBezTo>
                    <a:cubicBezTo>
                      <a:pt x="0" y="71609"/>
                      <a:pt x="0" y="71609"/>
                      <a:pt x="0" y="0"/>
                    </a:cubicBezTo>
                    <a:close/>
                  </a:path>
                </a:pathLst>
              </a:cu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1"/>
        <p:cNvGrpSpPr/>
        <p:nvPr/>
      </p:nvGrpSpPr>
      <p:grpSpPr>
        <a:xfrm>
          <a:off x="0" y="0"/>
          <a:ext cx="0" cy="0"/>
          <a:chOff x="0" y="0"/>
          <a:chExt cx="0" cy="0"/>
        </a:xfrm>
      </p:grpSpPr>
      <p:sp>
        <p:nvSpPr>
          <p:cNvPr id="1223" name="Google Shape;1223;p12"/>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IaaS Conceptual Design</a:t>
            </a:r>
            <a:endParaRPr lang="en-US" dirty="0"/>
          </a:p>
        </p:txBody>
      </p:sp>
      <p:sp>
        <p:nvSpPr>
          <p:cNvPr id="1222" name="Google Shape;1222;p12"/>
          <p:cNvSpPr txBox="1">
            <a:spLocks noGrp="1"/>
          </p:cNvSpPr>
          <p:nvPr>
            <p:ph type="subTitle" idx="10"/>
          </p:nvPr>
        </p:nvSpPr>
        <p:spPr>
          <a:xfrm>
            <a:off x="592866" y="811830"/>
            <a:ext cx="10987947" cy="247743"/>
          </a:xfrm>
          <a:noFill/>
          <a:ln>
            <a:noFill/>
          </a:ln>
        </p:spPr>
        <p:txBody>
          <a:bodyPr spcFirstLastPara="1" wrap="square" lIns="0" tIns="0" rIns="0" bIns="0" anchor="t" anchorCtr="0">
            <a:noAutofit/>
          </a:bodyPr>
          <a:lstStyle/>
          <a:p>
            <a:r>
              <a:rPr lang="en-US"/>
              <a:t>Example Goal: get a compliant VM in less than 30min</a:t>
            </a:r>
          </a:p>
          <a:p>
            <a:pPr lvl="0"/>
            <a:endParaRPr lang="en-US" dirty="0"/>
          </a:p>
        </p:txBody>
      </p:sp>
      <p:sp>
        <p:nvSpPr>
          <p:cNvPr id="1224" name="Google Shape;1224;p12"/>
          <p:cNvSpPr txBox="1">
            <a:spLocks noGrp="1"/>
          </p:cNvSpPr>
          <p:nvPr>
            <p:ph sz="quarter" idx="14"/>
          </p:nvPr>
        </p:nvSpPr>
        <p:spPr>
          <a:xfrm>
            <a:off x="615950" y="1357960"/>
            <a:ext cx="10972800" cy="5186035"/>
          </a:xfrm>
          <a:noFill/>
          <a:ln>
            <a:noFill/>
          </a:ln>
        </p:spPr>
        <p:txBody>
          <a:bodyPr spcFirstLastPara="1" wrap="square" lIns="0" tIns="0" rIns="0" bIns="0" anchor="t" anchorCtr="0">
            <a:spAutoFit/>
          </a:bodyPr>
          <a:lstStyle/>
          <a:p>
            <a:pPr lvl="0">
              <a:spcBef>
                <a:spcPts val="600"/>
              </a:spcBef>
              <a:buNone/>
            </a:pPr>
            <a:r>
              <a:rPr lang="en-US" sz="1600" b="1" dirty="0">
                <a:sym typeface="Arial"/>
              </a:rPr>
              <a:t>Thought Drivers:</a:t>
            </a:r>
            <a:endParaRPr lang="en-US" sz="1600" b="1" dirty="0"/>
          </a:p>
          <a:p>
            <a:pPr marL="457200" lvl="0" indent="-457200">
              <a:spcBef>
                <a:spcPts val="600"/>
              </a:spcBef>
              <a:buClr>
                <a:srgbClr val="53565A"/>
              </a:buClr>
              <a:buFont typeface="+mj-lt"/>
              <a:buAutoNum type="arabicPeriod"/>
            </a:pPr>
            <a:r>
              <a:rPr lang="en-US" sz="1200" dirty="0">
                <a:sym typeface="Arial"/>
              </a:rPr>
              <a:t>Encourage designs to only include integrations that are critical to the service offering.</a:t>
            </a:r>
            <a:endParaRPr lang="en-US" sz="1200" dirty="0"/>
          </a:p>
          <a:p>
            <a:pPr marL="457200" lvl="0" indent="-457200">
              <a:spcBef>
                <a:spcPts val="600"/>
              </a:spcBef>
              <a:buClr>
                <a:srgbClr val="53565A"/>
              </a:buClr>
              <a:buFont typeface="+mj-lt"/>
              <a:buAutoNum type="arabicPeriod"/>
            </a:pPr>
            <a:r>
              <a:rPr lang="en-US" sz="1200" dirty="0">
                <a:sym typeface="Arial"/>
              </a:rPr>
              <a:t>Encourage </a:t>
            </a:r>
            <a:r>
              <a:rPr lang="en-US" sz="1200" b="1" dirty="0">
                <a:solidFill>
                  <a:schemeClr val="accent1"/>
                </a:solidFill>
                <a:sym typeface="Arial"/>
              </a:rPr>
              <a:t>lean as possible </a:t>
            </a:r>
            <a:r>
              <a:rPr lang="en-US" sz="1200" dirty="0">
                <a:sym typeface="Arial"/>
              </a:rPr>
              <a:t>principal for every process to reduce excess wait times of each integration.</a:t>
            </a:r>
            <a:endParaRPr lang="en-US" sz="1200" dirty="0"/>
          </a:p>
          <a:p>
            <a:pPr marL="457200" lvl="0" indent="-457200">
              <a:spcBef>
                <a:spcPts val="600"/>
              </a:spcBef>
              <a:buClr>
                <a:srgbClr val="53565A"/>
              </a:buClr>
              <a:buFont typeface="+mj-lt"/>
              <a:buAutoNum type="arabicPeriod"/>
            </a:pPr>
            <a:r>
              <a:rPr lang="en-US" sz="1200" dirty="0">
                <a:sym typeface="Arial"/>
              </a:rPr>
              <a:t>Shift Left improving consistency, reducing integration risks, and improving reliability (Reference: </a:t>
            </a:r>
            <a:r>
              <a:rPr lang="en-US" sz="1200" dirty="0">
                <a:sym typeface="Arial"/>
                <a:hlinkClick r:id="rId3">
                  <a:extLst>
                    <a:ext uri="{A12FA001-AC4F-418D-AE19-62706E023703}">
                      <ahyp:hlinkClr xmlns:ahyp="http://schemas.microsoft.com/office/drawing/2018/hyperlinkcolor" val="tx"/>
                    </a:ext>
                  </a:extLst>
                </a:hlinkClick>
              </a:rPr>
              <a:t>the Shift Left theory as explained by Dynatrace</a:t>
            </a:r>
            <a:r>
              <a:rPr lang="en-US" sz="1200" dirty="0">
                <a:sym typeface="Arial"/>
              </a:rPr>
              <a:t>).</a:t>
            </a:r>
            <a:br>
              <a:rPr lang="en-US" sz="1200" dirty="0">
                <a:sym typeface="Arial"/>
              </a:rPr>
            </a:br>
            <a:endParaRPr lang="en-US" dirty="0">
              <a:sym typeface="Arial"/>
            </a:endParaRPr>
          </a:p>
          <a:p>
            <a:pPr lvl="0">
              <a:spcBef>
                <a:spcPts val="600"/>
              </a:spcBef>
            </a:pPr>
            <a:r>
              <a:rPr lang="en-US" sz="1600" b="1" dirty="0">
                <a:sym typeface="Arial"/>
              </a:rPr>
              <a:t>Supporting Goals and Decision Log Summary:</a:t>
            </a:r>
            <a:endParaRPr lang="en-US" sz="1600" b="1" dirty="0"/>
          </a:p>
          <a:p>
            <a:pPr marL="342900" lvl="0" indent="-342900">
              <a:spcBef>
                <a:spcPts val="600"/>
              </a:spcBef>
              <a:buClr>
                <a:srgbClr val="53565A"/>
              </a:buClr>
              <a:buFont typeface="Arial" panose="020B0604020202020204" pitchFamily="34" charset="0"/>
              <a:buChar char="•"/>
            </a:pPr>
            <a:r>
              <a:rPr lang="en-US" sz="1200" dirty="0">
                <a:sym typeface="Arial"/>
              </a:rPr>
              <a:t>All build VMs will follow a generated name unique to each build. The VMIAD service team will be the owner of the name generation.</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No remote calls from guest OS. Remove all orchestration from the Guest OS calling to parent orchestration layer.</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No application specific integrations (for example: ISP) for obtaining the status of a VM. Front end will provide status via a pull or a subscription agnostic to the integration that VMIAD service team publishes. Target: migrate all publishing statuses to Kafka.</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Incorporate as much of the “post-configuration” activities into the image using a VM Template.</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No de-registration during the build process. De-register during the decom process only.</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No patching during the build process. Target: maintain a “30 day good” image using an image pipeline.</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Remove application specific build steps from the process. VMIAD process should only include steps to ensure compliance of the Guest OS. </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Ensure Guest OS meets criteria for “Operational Readiness” at the end of a VMIAD build in Non-Prod.</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Use native provider services (for example: VCF Automation Infoblox plugin) for critical endpoint integrations.</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Testing must be automated, and all tests must be coded. At the conclusion of the build, validation checks must ensure the Guest OS meets compliance standards, and validation checks must ensure that the customer is able to access the Guest OS.</a:t>
            </a:r>
            <a:endParaRPr lang="en-US" sz="1200" dirty="0"/>
          </a:p>
          <a:p>
            <a:pPr lvl="0"/>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28"/>
        <p:cNvGrpSpPr/>
        <p:nvPr/>
      </p:nvGrpSpPr>
      <p:grpSpPr>
        <a:xfrm>
          <a:off x="0" y="0"/>
          <a:ext cx="0" cy="0"/>
          <a:chOff x="0" y="0"/>
          <a:chExt cx="0" cy="0"/>
        </a:xfrm>
      </p:grpSpPr>
      <p:sp>
        <p:nvSpPr>
          <p:cNvPr id="2" name="Title 1">
            <a:extLst>
              <a:ext uri="{FF2B5EF4-FFF2-40B4-BE49-F238E27FC236}">
                <a16:creationId xmlns:a16="http://schemas.microsoft.com/office/drawing/2014/main" id="{84CC509D-0AAB-E9A4-4561-F53E6F409C8E}"/>
              </a:ext>
            </a:extLst>
          </p:cNvPr>
          <p:cNvSpPr>
            <a:spLocks noGrp="1"/>
          </p:cNvSpPr>
          <p:nvPr>
            <p:ph type="title"/>
          </p:nvPr>
        </p:nvSpPr>
        <p:spPr>
          <a:xfrm>
            <a:off x="588963" y="938213"/>
            <a:ext cx="7337856" cy="1230312"/>
          </a:xfrm>
        </p:spPr>
        <p:txBody>
          <a:bodyPr/>
          <a:lstStyle/>
          <a:p>
            <a:r>
              <a:rPr lang="en-US" dirty="0"/>
              <a:t>VMware Pro Cloud Services for Private Cloud</a:t>
            </a:r>
          </a:p>
        </p:txBody>
      </p:sp>
      <p:sp>
        <p:nvSpPr>
          <p:cNvPr id="1229" name="Google Shape;1229;p121"/>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r>
              <a:rPr lang="en-US" dirty="0"/>
              <a:t>Logical Design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sp>
        <p:nvSpPr>
          <p:cNvPr id="1235" name="Google Shape;1235;p14"/>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What is a Logical Design?</a:t>
            </a:r>
          </a:p>
        </p:txBody>
      </p:sp>
      <p:sp>
        <p:nvSpPr>
          <p:cNvPr id="1236" name="Google Shape;1236;p14"/>
          <p:cNvSpPr txBox="1">
            <a:spLocks noGrp="1"/>
          </p:cNvSpPr>
          <p:nvPr>
            <p:ph type="subTitle" idx="10"/>
          </p:nvPr>
        </p:nvSpPr>
        <p:spPr>
          <a:xfrm>
            <a:off x="592866" y="811830"/>
            <a:ext cx="10987947" cy="247743"/>
          </a:xfrm>
          <a:noFill/>
          <a:ln>
            <a:noFill/>
          </a:ln>
        </p:spPr>
        <p:txBody>
          <a:bodyPr spcFirstLastPara="1" wrap="square" lIns="0" tIns="0" rIns="0" bIns="0" anchor="t" anchorCtr="0">
            <a:spAutoFit/>
          </a:bodyPr>
          <a:lstStyle/>
          <a:p>
            <a:pPr lvl="0"/>
            <a:r>
              <a:rPr lang="en-US"/>
              <a:t>Terms and Definitions</a:t>
            </a:r>
          </a:p>
          <a:p>
            <a:pPr lvl="0"/>
            <a:endParaRPr lang="en-US"/>
          </a:p>
        </p:txBody>
      </p:sp>
      <p:sp>
        <p:nvSpPr>
          <p:cNvPr id="5" name="Content Placeholder 4">
            <a:extLst>
              <a:ext uri="{FF2B5EF4-FFF2-40B4-BE49-F238E27FC236}">
                <a16:creationId xmlns:a16="http://schemas.microsoft.com/office/drawing/2014/main" id="{5AAD8D95-C0C1-1DD7-6EE6-9CE6A19240B8}"/>
              </a:ext>
            </a:extLst>
          </p:cNvPr>
          <p:cNvSpPr>
            <a:spLocks noGrp="1"/>
          </p:cNvSpPr>
          <p:nvPr>
            <p:ph sz="quarter" idx="14"/>
          </p:nvPr>
        </p:nvSpPr>
        <p:spPr/>
        <p:txBody>
          <a:bodyPr/>
          <a:lstStyle/>
          <a:p>
            <a:pPr marL="0" lvl="0" indent="0" algn="l" rtl="0">
              <a:lnSpc>
                <a:spcPct val="90000"/>
              </a:lnSpc>
              <a:spcBef>
                <a:spcPts val="1200"/>
              </a:spcBef>
              <a:spcAft>
                <a:spcPts val="0"/>
              </a:spcAft>
              <a:buSzPts val="2000"/>
              <a:buNone/>
            </a:pPr>
            <a:r>
              <a:rPr lang="en-US" sz="2000" dirty="0">
                <a:solidFill>
                  <a:srgbClr val="53565A"/>
                </a:solidFill>
              </a:rPr>
              <a:t>A</a:t>
            </a:r>
            <a:r>
              <a:rPr lang="en-US" sz="2000" dirty="0">
                <a:solidFill>
                  <a:schemeClr val="lt2"/>
                </a:solidFill>
              </a:rPr>
              <a:t> </a:t>
            </a:r>
            <a:r>
              <a:rPr lang="en-US" sz="2000" b="1" dirty="0">
                <a:solidFill>
                  <a:schemeClr val="accent3">
                    <a:lumMod val="75000"/>
                  </a:schemeClr>
                </a:solidFill>
              </a:rPr>
              <a:t>Logical Design </a:t>
            </a:r>
            <a:r>
              <a:rPr lang="en-US" sz="2000" dirty="0">
                <a:solidFill>
                  <a:srgbClr val="53565A"/>
                </a:solidFill>
              </a:rPr>
              <a:t>is an element of the High-Level Design that provides a point in time snapshot to a specific element of a </a:t>
            </a:r>
            <a:r>
              <a:rPr lang="en-US" sz="2000" b="1" dirty="0">
                <a:solidFill>
                  <a:schemeClr val="accent1"/>
                </a:solidFill>
              </a:rPr>
              <a:t>conceptual design</a:t>
            </a:r>
            <a:r>
              <a:rPr lang="en-US" sz="2000" dirty="0">
                <a:solidFill>
                  <a:schemeClr val="lt2"/>
                </a:solidFill>
              </a:rPr>
              <a:t>. </a:t>
            </a:r>
            <a:r>
              <a:rPr lang="en-US" sz="2000" dirty="0">
                <a:solidFill>
                  <a:srgbClr val="53565A"/>
                </a:solidFill>
              </a:rPr>
              <a:t>For example, if the </a:t>
            </a:r>
            <a:r>
              <a:rPr lang="en-US" sz="2000" b="1" dirty="0">
                <a:solidFill>
                  <a:schemeClr val="accent1"/>
                </a:solidFill>
              </a:rPr>
              <a:t>conceptual design</a:t>
            </a:r>
            <a:r>
              <a:rPr lang="en-US" sz="2000" dirty="0">
                <a:solidFill>
                  <a:schemeClr val="dk2"/>
                </a:solidFill>
              </a:rPr>
              <a:t> </a:t>
            </a:r>
            <a:r>
              <a:rPr lang="en-US" sz="2000" dirty="0">
                <a:solidFill>
                  <a:srgbClr val="53565A"/>
                </a:solidFill>
              </a:rPr>
              <a:t>outlines the goals and structure for a </a:t>
            </a:r>
            <a:r>
              <a:rPr lang="en-US" sz="2000" b="1" dirty="0">
                <a:solidFill>
                  <a:schemeClr val="accent1"/>
                </a:solidFill>
              </a:rPr>
              <a:t>network</a:t>
            </a:r>
            <a:r>
              <a:rPr lang="en-US" sz="2000" dirty="0">
                <a:solidFill>
                  <a:srgbClr val="53565A"/>
                </a:solidFill>
              </a:rPr>
              <a:t>, the logical design may provide </a:t>
            </a:r>
            <a:r>
              <a:rPr lang="en-US" sz="2000" b="1" dirty="0">
                <a:solidFill>
                  <a:schemeClr val="accent1"/>
                </a:solidFill>
              </a:rPr>
              <a:t>vendor details</a:t>
            </a:r>
            <a:r>
              <a:rPr lang="en-US" sz="2000" dirty="0">
                <a:solidFill>
                  <a:srgbClr val="53565A"/>
                </a:solidFill>
              </a:rPr>
              <a:t>,</a:t>
            </a:r>
            <a:r>
              <a:rPr lang="en-US" sz="2000" dirty="0">
                <a:solidFill>
                  <a:schemeClr val="lt2"/>
                </a:solidFill>
              </a:rPr>
              <a:t> </a:t>
            </a:r>
            <a:r>
              <a:rPr lang="en-US" sz="2000" b="1" dirty="0">
                <a:solidFill>
                  <a:schemeClr val="accent1"/>
                </a:solidFill>
              </a:rPr>
              <a:t>integration points</a:t>
            </a:r>
            <a:r>
              <a:rPr lang="en-US" sz="2000" dirty="0">
                <a:solidFill>
                  <a:srgbClr val="53565A"/>
                </a:solidFill>
              </a:rPr>
              <a:t>,</a:t>
            </a:r>
            <a:r>
              <a:rPr lang="en-US" sz="2000" dirty="0">
                <a:solidFill>
                  <a:schemeClr val="lt2"/>
                </a:solidFill>
              </a:rPr>
              <a:t> </a:t>
            </a:r>
            <a:r>
              <a:rPr lang="en-US" sz="2000" b="1" dirty="0">
                <a:solidFill>
                  <a:schemeClr val="accent1"/>
                </a:solidFill>
              </a:rPr>
              <a:t>network flow</a:t>
            </a:r>
            <a:r>
              <a:rPr lang="en-US" sz="2000" dirty="0">
                <a:solidFill>
                  <a:srgbClr val="53565A"/>
                </a:solidFill>
              </a:rPr>
              <a:t>, and similar configurations that are associated with the </a:t>
            </a:r>
            <a:r>
              <a:rPr lang="en-US" sz="2000" b="1" dirty="0">
                <a:solidFill>
                  <a:schemeClr val="accent1"/>
                </a:solidFill>
              </a:rPr>
              <a:t>network design</a:t>
            </a:r>
            <a:r>
              <a:rPr lang="en-US" sz="2000" dirty="0">
                <a:solidFill>
                  <a:srgbClr val="53565A"/>
                </a:solidFill>
              </a:rPr>
              <a:t>.</a:t>
            </a:r>
          </a:p>
          <a:p>
            <a:pPr marL="228531" lvl="0" indent="-101531" algn="l" rtl="0">
              <a:lnSpc>
                <a:spcPct val="90000"/>
              </a:lnSpc>
              <a:spcBef>
                <a:spcPts val="1200"/>
              </a:spcBef>
              <a:spcAft>
                <a:spcPts val="0"/>
              </a:spcAft>
              <a:buSzPts val="2000"/>
              <a:buNone/>
            </a:pPr>
            <a:endParaRPr lang="en-US" sz="2000" dirty="0">
              <a:solidFill>
                <a:schemeClr val="lt2"/>
              </a:solidFill>
            </a:endParaRPr>
          </a:p>
          <a:p>
            <a:pPr marL="0" lvl="0" indent="0" algn="l" rtl="0">
              <a:lnSpc>
                <a:spcPct val="90000"/>
              </a:lnSpc>
              <a:spcBef>
                <a:spcPts val="1200"/>
              </a:spcBef>
              <a:spcAft>
                <a:spcPts val="0"/>
              </a:spcAft>
              <a:buSzPts val="2000"/>
              <a:buNone/>
            </a:pPr>
            <a:r>
              <a:rPr lang="en-US" sz="2000" dirty="0">
                <a:solidFill>
                  <a:srgbClr val="53565A"/>
                </a:solidFill>
              </a:rPr>
              <a:t>The </a:t>
            </a:r>
            <a:r>
              <a:rPr lang="en-US" sz="2000" b="1" dirty="0">
                <a:solidFill>
                  <a:schemeClr val="accent1"/>
                </a:solidFill>
              </a:rPr>
              <a:t>logical design </a:t>
            </a:r>
            <a:r>
              <a:rPr lang="en-US" sz="2000" dirty="0">
                <a:solidFill>
                  <a:srgbClr val="53565A"/>
                </a:solidFill>
              </a:rPr>
              <a:t>is the lowest level of detail in the High-Level Design. The logical design should provide enough information to start a draft of a Low-Level Design. A Low-Level Design typically provides the </a:t>
            </a:r>
            <a:r>
              <a:rPr lang="en-US" sz="2000" b="1" dirty="0">
                <a:solidFill>
                  <a:schemeClr val="accent1"/>
                </a:solidFill>
              </a:rPr>
              <a:t>configuration level detail </a:t>
            </a:r>
            <a:r>
              <a:rPr lang="en-US" sz="2000" dirty="0">
                <a:solidFill>
                  <a:srgbClr val="53565A"/>
                </a:solidFill>
              </a:rPr>
              <a:t>of a design. It is typically developed in conjunction with the</a:t>
            </a:r>
            <a:r>
              <a:rPr lang="en-US" sz="2000" dirty="0">
                <a:solidFill>
                  <a:schemeClr val="lt2"/>
                </a:solidFill>
              </a:rPr>
              <a:t> </a:t>
            </a:r>
            <a:r>
              <a:rPr lang="en-US" sz="2000" b="1" dirty="0">
                <a:solidFill>
                  <a:schemeClr val="accent1"/>
                </a:solidFill>
              </a:rPr>
              <a:t>build</a:t>
            </a:r>
            <a:r>
              <a:rPr lang="en-US" sz="2000" dirty="0">
                <a:solidFill>
                  <a:schemeClr val="lt2"/>
                </a:solidFill>
              </a:rPr>
              <a:t> </a:t>
            </a:r>
            <a:r>
              <a:rPr lang="en-US" sz="2000" dirty="0">
                <a:solidFill>
                  <a:srgbClr val="53565A"/>
                </a:solidFill>
              </a:rPr>
              <a:t>of the system itself. Therefore, the logical design in the High-Level Design must contain enough information to start the</a:t>
            </a:r>
            <a:r>
              <a:rPr lang="en-US" sz="2000" dirty="0">
                <a:solidFill>
                  <a:schemeClr val="lt2"/>
                </a:solidFill>
              </a:rPr>
              <a:t> </a:t>
            </a:r>
            <a:r>
              <a:rPr lang="en-US" sz="2000" b="1" dirty="0">
                <a:solidFill>
                  <a:schemeClr val="accent1"/>
                </a:solidFill>
              </a:rPr>
              <a:t>build</a:t>
            </a:r>
            <a:r>
              <a:rPr lang="en-US" sz="2000" dirty="0">
                <a:solidFill>
                  <a:srgbClr val="53565A"/>
                </a:solidFill>
              </a:rPr>
              <a:t>.</a:t>
            </a:r>
            <a:endParaRPr lang="en-US" dirty="0">
              <a:solidFill>
                <a:srgbClr val="53565A"/>
              </a:solidFill>
            </a:endParaRP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sp>
        <p:nvSpPr>
          <p:cNvPr id="1242" name="Google Shape;1242;p15"/>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Logical Role Design</a:t>
            </a:r>
          </a:p>
        </p:txBody>
      </p:sp>
      <p:sp>
        <p:nvSpPr>
          <p:cNvPr id="1243" name="Google Shape;1243;p15"/>
          <p:cNvSpPr txBox="1">
            <a:spLocks noGrp="1"/>
          </p:cNvSpPr>
          <p:nvPr>
            <p:ph type="subTitle" idx="10"/>
          </p:nvPr>
        </p:nvSpPr>
        <p:spPr>
          <a:xfrm>
            <a:off x="592866" y="811830"/>
            <a:ext cx="10962687" cy="247743"/>
          </a:xfrm>
          <a:noFill/>
          <a:ln>
            <a:noFill/>
          </a:ln>
        </p:spPr>
        <p:txBody>
          <a:bodyPr spcFirstLastPara="1" wrap="square" lIns="0" tIns="0" rIns="0" bIns="0" anchor="t" anchorCtr="0">
            <a:spAutoFit/>
          </a:bodyPr>
          <a:lstStyle/>
          <a:p>
            <a:pPr lvl="0"/>
            <a:r>
              <a:rPr lang="en-US"/>
              <a:t>Delivering IaaS with VMware Cloud Foundation</a:t>
            </a:r>
          </a:p>
          <a:p>
            <a:pPr lvl="0"/>
            <a:endParaRPr lang="en-US"/>
          </a:p>
        </p:txBody>
      </p:sp>
      <p:pic>
        <p:nvPicPr>
          <p:cNvPr id="1244" name="Google Shape;1244;p15"/>
          <p:cNvPicPr preferRelativeResize="0"/>
          <p:nvPr/>
        </p:nvPicPr>
        <p:blipFill>
          <a:blip r:embed="rId3"/>
          <a:srcRect/>
          <a:stretch/>
        </p:blipFill>
        <p:spPr>
          <a:xfrm>
            <a:off x="2927568" y="1166453"/>
            <a:ext cx="6333687" cy="515816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49"/>
        <p:cNvGrpSpPr/>
        <p:nvPr/>
      </p:nvGrpSpPr>
      <p:grpSpPr>
        <a:xfrm>
          <a:off x="0" y="0"/>
          <a:ext cx="0" cy="0"/>
          <a:chOff x="0" y="0"/>
          <a:chExt cx="0" cy="0"/>
        </a:xfrm>
      </p:grpSpPr>
      <p:pic>
        <p:nvPicPr>
          <p:cNvPr id="1250" name="Google Shape;1250;p122"/>
          <p:cNvPicPr preferRelativeResize="0"/>
          <p:nvPr/>
        </p:nvPicPr>
        <p:blipFill>
          <a:blip r:embed="rId3"/>
          <a:srcRect/>
          <a:stretch/>
        </p:blipFill>
        <p:spPr>
          <a:xfrm>
            <a:off x="854999" y="1234759"/>
            <a:ext cx="6065104" cy="4982049"/>
          </a:xfrm>
          <a:prstGeom prst="rect">
            <a:avLst/>
          </a:prstGeom>
          <a:noFill/>
          <a:ln>
            <a:noFill/>
          </a:ln>
        </p:spPr>
      </p:pic>
      <p:sp>
        <p:nvSpPr>
          <p:cNvPr id="1251" name="Google Shape;1251;p122"/>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Logical Role Design</a:t>
            </a:r>
          </a:p>
        </p:txBody>
      </p:sp>
      <p:sp>
        <p:nvSpPr>
          <p:cNvPr id="1252" name="Google Shape;1252;p122"/>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a:t>Delivering IaaS with VMware Cloud Foundation</a:t>
            </a:r>
          </a:p>
        </p:txBody>
      </p:sp>
      <p:sp>
        <p:nvSpPr>
          <p:cNvPr id="1253" name="Google Shape;1253;p122"/>
          <p:cNvSpPr txBox="1"/>
          <p:nvPr/>
        </p:nvSpPr>
        <p:spPr>
          <a:xfrm>
            <a:off x="7733745" y="1479542"/>
            <a:ext cx="4042330" cy="4561249"/>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1200"/>
              <a:buFont typeface="Arial"/>
              <a:buNone/>
            </a:pPr>
            <a:r>
              <a:rPr lang="en-US" sz="1200" b="1" i="0" u="none" strike="noStrike" cap="none" dirty="0">
                <a:solidFill>
                  <a:srgbClr val="E68C28"/>
                </a:solidFill>
                <a:latin typeface="Arial"/>
                <a:ea typeface="Arial"/>
                <a:cs typeface="Arial"/>
                <a:sym typeface="Arial"/>
              </a:rPr>
              <a:t>IaaS Administrator</a:t>
            </a:r>
            <a:endParaRPr sz="1200" b="1" i="0" u="none" strike="noStrike" cap="none" dirty="0">
              <a:solidFill>
                <a:srgbClr val="E68C28"/>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400"/>
              <a:buFont typeface="Arial"/>
              <a:buAutoNum type="arabicPeriod"/>
            </a:pPr>
            <a:r>
              <a:rPr lang="en-US" sz="1200" b="0" i="0" u="none" strike="noStrike" cap="none" dirty="0">
                <a:solidFill>
                  <a:srgbClr val="53565A"/>
                </a:solidFill>
                <a:latin typeface="Arial"/>
                <a:ea typeface="Arial"/>
                <a:cs typeface="Arial"/>
                <a:sym typeface="Arial"/>
              </a:rPr>
              <a:t>Deploys</a:t>
            </a:r>
            <a:r>
              <a:rPr lang="en-US" sz="1200" b="0" i="0" u="none" strike="noStrike" cap="none" dirty="0">
                <a:solidFill>
                  <a:schemeClr val="lt2"/>
                </a:solidFill>
                <a:latin typeface="Arial"/>
                <a:ea typeface="Arial"/>
                <a:cs typeface="Arial"/>
                <a:sym typeface="Arial"/>
              </a:rPr>
              <a:t> </a:t>
            </a:r>
            <a:r>
              <a:rPr lang="en-US" sz="1200" b="1" i="0" u="none" strike="noStrike" cap="none" dirty="0">
                <a:solidFill>
                  <a:schemeClr val="accent1"/>
                </a:solidFill>
                <a:latin typeface="Arial"/>
                <a:ea typeface="Arial"/>
                <a:cs typeface="Arial"/>
                <a:sym typeface="Arial"/>
              </a:rPr>
              <a:t>ESX Hosts </a:t>
            </a:r>
            <a:r>
              <a:rPr lang="en-US" sz="1200" b="0" i="0" u="none" strike="noStrike" cap="none" dirty="0">
                <a:solidFill>
                  <a:srgbClr val="53565A"/>
                </a:solidFill>
                <a:latin typeface="Arial"/>
                <a:ea typeface="Arial"/>
                <a:cs typeface="Arial"/>
                <a:sym typeface="Arial"/>
              </a:rPr>
              <a:t>for Management Domain with already provisioned hardware.</a:t>
            </a:r>
            <a:endParaRPr sz="12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400"/>
              <a:buFont typeface="Arial"/>
              <a:buAutoNum type="arabicPeriod"/>
            </a:pPr>
            <a:r>
              <a:rPr lang="en-US" sz="1200" b="0" i="0" u="none" strike="noStrike" cap="none" dirty="0">
                <a:solidFill>
                  <a:srgbClr val="53565A"/>
                </a:solidFill>
                <a:latin typeface="Arial"/>
                <a:ea typeface="Arial"/>
                <a:cs typeface="Arial"/>
                <a:sym typeface="Arial"/>
              </a:rPr>
              <a:t>VCF Installer is used to deploy the Management Domain specific components including</a:t>
            </a:r>
            <a:r>
              <a:rPr lang="en-US" sz="1200" b="1" i="0" u="none" strike="noStrike" cap="none" dirty="0">
                <a:solidFill>
                  <a:schemeClr val="accent1"/>
                </a:solidFill>
                <a:latin typeface="Arial"/>
                <a:ea typeface="Arial"/>
                <a:cs typeface="Arial"/>
                <a:sym typeface="Arial"/>
              </a:rPr>
              <a:t>: vCenter Server</a:t>
            </a:r>
            <a:r>
              <a:rPr lang="en-US" sz="1200" b="1" i="0" u="none" strike="noStrike" cap="none" dirty="0">
                <a:solidFill>
                  <a:srgbClr val="53565A"/>
                </a:solidFill>
                <a:latin typeface="Arial"/>
                <a:ea typeface="Arial"/>
                <a:cs typeface="Arial"/>
                <a:sym typeface="Arial"/>
              </a:rPr>
              <a:t>,</a:t>
            </a:r>
            <a:r>
              <a:rPr lang="en-US" sz="1200" b="0" i="0" u="none" strike="noStrike" cap="none" dirty="0">
                <a:solidFill>
                  <a:schemeClr val="lt2"/>
                </a:solidFill>
                <a:latin typeface="Arial"/>
                <a:ea typeface="Arial"/>
                <a:cs typeface="Arial"/>
                <a:sym typeface="Arial"/>
              </a:rPr>
              <a:t> </a:t>
            </a:r>
            <a:r>
              <a:rPr lang="en-US" sz="1200" b="1" i="0" u="none" strike="noStrike" cap="none" dirty="0">
                <a:solidFill>
                  <a:schemeClr val="accent1"/>
                </a:solidFill>
                <a:latin typeface="Arial"/>
                <a:ea typeface="Arial"/>
                <a:cs typeface="Arial"/>
                <a:sym typeface="Arial"/>
              </a:rPr>
              <a:t>NSX Managers</a:t>
            </a:r>
            <a:r>
              <a:rPr lang="en-US" sz="1200" b="0" i="0" u="none" strike="noStrike" cap="none" dirty="0">
                <a:solidFill>
                  <a:srgbClr val="53565A"/>
                </a:solidFill>
                <a:latin typeface="Arial"/>
                <a:ea typeface="Arial"/>
                <a:cs typeface="Arial"/>
                <a:sym typeface="Arial"/>
              </a:rPr>
              <a:t>, </a:t>
            </a:r>
            <a:r>
              <a:rPr lang="en-US" sz="1200" b="1" i="0" u="none" strike="noStrike" cap="none" dirty="0">
                <a:solidFill>
                  <a:schemeClr val="accent1"/>
                </a:solidFill>
                <a:latin typeface="Arial"/>
                <a:ea typeface="Arial"/>
                <a:cs typeface="Arial"/>
                <a:sym typeface="Arial"/>
              </a:rPr>
              <a:t>SDDC Manager</a:t>
            </a:r>
            <a:r>
              <a:rPr lang="en-US" sz="1200" dirty="0">
                <a:solidFill>
                  <a:srgbClr val="53565A"/>
                </a:solidFill>
              </a:rPr>
              <a:t>, </a:t>
            </a:r>
            <a:r>
              <a:rPr lang="en-US" sz="1200" b="1" i="0" u="none" strike="noStrike" cap="none" dirty="0">
                <a:solidFill>
                  <a:schemeClr val="accent1"/>
                </a:solidFill>
                <a:latin typeface="Arial"/>
                <a:ea typeface="Arial"/>
                <a:cs typeface="Arial"/>
                <a:sym typeface="Arial"/>
              </a:rPr>
              <a:t>VCF Operations</a:t>
            </a:r>
            <a:r>
              <a:rPr lang="en-US" sz="1200" b="0" i="0" u="none" strike="noStrike" cap="none" dirty="0">
                <a:solidFill>
                  <a:srgbClr val="53565A"/>
                </a:solidFill>
                <a:latin typeface="Arial"/>
                <a:ea typeface="Arial"/>
                <a:cs typeface="Arial"/>
                <a:sym typeface="Arial"/>
              </a:rPr>
              <a:t>, and </a:t>
            </a:r>
            <a:r>
              <a:rPr lang="en-US" sz="1200" b="1" i="0" u="none" strike="noStrike" cap="none" dirty="0">
                <a:solidFill>
                  <a:schemeClr val="accent1"/>
                </a:solidFill>
                <a:latin typeface="Arial"/>
                <a:ea typeface="Arial"/>
                <a:cs typeface="Arial"/>
                <a:sym typeface="Arial"/>
              </a:rPr>
              <a:t>VCF Operations Fleet Manager</a:t>
            </a:r>
            <a:r>
              <a:rPr lang="en-US" sz="1200" b="0" i="0" u="none" strike="noStrike" cap="none" dirty="0">
                <a:solidFill>
                  <a:srgbClr val="53565A"/>
                </a:solidFill>
                <a:latin typeface="Arial"/>
                <a:ea typeface="Arial"/>
                <a:cs typeface="Arial"/>
                <a:sym typeface="Arial"/>
              </a:rPr>
              <a:t>.</a:t>
            </a:r>
            <a:endParaRPr sz="12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400"/>
              <a:buFont typeface="Arial"/>
              <a:buAutoNum type="arabicPeriod"/>
            </a:pPr>
            <a:r>
              <a:rPr lang="en-US" sz="1200" b="0" i="0" u="none" strike="noStrike" cap="none" dirty="0">
                <a:solidFill>
                  <a:srgbClr val="53565A"/>
                </a:solidFill>
                <a:latin typeface="Arial"/>
                <a:ea typeface="Arial"/>
                <a:cs typeface="Arial"/>
                <a:sym typeface="Arial"/>
              </a:rPr>
              <a:t>Base configuration of </a:t>
            </a:r>
            <a:r>
              <a:rPr lang="en-US" sz="1200" b="1" i="0" u="none" strike="noStrike" cap="none" dirty="0">
                <a:solidFill>
                  <a:schemeClr val="accent1"/>
                </a:solidFill>
                <a:latin typeface="Arial"/>
                <a:ea typeface="Arial"/>
                <a:cs typeface="Arial"/>
                <a:sym typeface="Arial"/>
              </a:rPr>
              <a:t>NSX Edge</a:t>
            </a:r>
            <a:r>
              <a:rPr lang="en-US" sz="1200" b="0" i="0" u="none" strike="noStrike" cap="none" dirty="0">
                <a:solidFill>
                  <a:srgbClr val="53565A"/>
                </a:solidFill>
                <a:latin typeface="Arial"/>
                <a:ea typeface="Arial"/>
                <a:cs typeface="Arial"/>
                <a:sym typeface="Arial"/>
              </a:rPr>
              <a:t>, and </a:t>
            </a:r>
            <a:r>
              <a:rPr lang="en-US" sz="1200" b="1" i="0" u="none" strike="noStrike" cap="none" dirty="0">
                <a:solidFill>
                  <a:schemeClr val="accent1"/>
                </a:solidFill>
                <a:latin typeface="Arial"/>
                <a:ea typeface="Arial"/>
                <a:cs typeface="Arial"/>
                <a:sym typeface="Arial"/>
              </a:rPr>
              <a:t>Virtual Networking</a:t>
            </a:r>
            <a:r>
              <a:rPr lang="en-US" sz="1200" b="0" i="0" u="none" strike="noStrike" cap="none" dirty="0">
                <a:solidFill>
                  <a:srgbClr val="53565A"/>
                </a:solidFill>
                <a:latin typeface="Arial"/>
                <a:ea typeface="Arial"/>
                <a:cs typeface="Arial"/>
                <a:sym typeface="Arial"/>
              </a:rPr>
              <a:t>, </a:t>
            </a:r>
            <a:r>
              <a:rPr lang="en-US" sz="1200" b="1" i="0" u="none" strike="noStrike" cap="none" dirty="0">
                <a:solidFill>
                  <a:schemeClr val="accent1"/>
                </a:solidFill>
                <a:latin typeface="Arial"/>
                <a:ea typeface="Arial"/>
                <a:cs typeface="Arial"/>
                <a:sym typeface="Arial"/>
              </a:rPr>
              <a:t>VCF Automation</a:t>
            </a:r>
            <a:r>
              <a:rPr lang="en-US" sz="1200" b="0" i="0" u="none" strike="noStrike" cap="none" dirty="0">
                <a:solidFill>
                  <a:srgbClr val="53565A"/>
                </a:solidFill>
                <a:latin typeface="Arial"/>
                <a:ea typeface="Arial"/>
                <a:cs typeface="Arial"/>
                <a:sym typeface="Arial"/>
              </a:rPr>
              <a:t>, and</a:t>
            </a:r>
            <a:r>
              <a:rPr lang="en-US" sz="1200" b="0" i="0" u="none" strike="noStrike" cap="none" dirty="0">
                <a:solidFill>
                  <a:schemeClr val="lt2"/>
                </a:solidFill>
                <a:latin typeface="Arial"/>
                <a:ea typeface="Arial"/>
                <a:cs typeface="Arial"/>
                <a:sym typeface="Arial"/>
              </a:rPr>
              <a:t> </a:t>
            </a:r>
            <a:r>
              <a:rPr lang="en-US" sz="1200" b="1" i="0" u="none" strike="noStrike" cap="none" dirty="0">
                <a:solidFill>
                  <a:schemeClr val="accent1"/>
                </a:solidFill>
                <a:latin typeface="Arial"/>
                <a:ea typeface="Arial"/>
                <a:cs typeface="Arial"/>
                <a:sym typeface="Arial"/>
              </a:rPr>
              <a:t>Automation Tooling </a:t>
            </a:r>
            <a:r>
              <a:rPr lang="en-US" sz="1200" b="0" i="0" u="none" strike="noStrike" cap="none" dirty="0">
                <a:solidFill>
                  <a:srgbClr val="53565A"/>
                </a:solidFill>
                <a:latin typeface="Arial"/>
                <a:ea typeface="Arial"/>
                <a:cs typeface="Arial"/>
                <a:sym typeface="Arial"/>
              </a:rPr>
              <a:t>completed for the Management Workload Domain.</a:t>
            </a:r>
            <a:endParaRPr sz="1200" b="0" i="0" u="none" strike="noStrike" cap="none" dirty="0">
              <a:solidFill>
                <a:srgbClr val="53565A"/>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200"/>
              <a:buFont typeface="Arial"/>
              <a:buNone/>
            </a:pPr>
            <a:br>
              <a:rPr lang="en-US" sz="1200" b="0" i="0" u="none" strike="noStrike" cap="none" dirty="0">
                <a:solidFill>
                  <a:schemeClr val="accent4"/>
                </a:solidFill>
                <a:latin typeface="Arial"/>
                <a:ea typeface="Arial"/>
                <a:cs typeface="Arial"/>
                <a:sym typeface="Arial"/>
              </a:rPr>
            </a:br>
            <a:endParaRPr sz="1200" b="0" i="0" u="none" strike="noStrike" cap="none" dirty="0">
              <a:solidFill>
                <a:schemeClr val="accent4"/>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200"/>
              <a:buFont typeface="Arial"/>
              <a:buNone/>
            </a:pPr>
            <a:r>
              <a:rPr lang="en-US" sz="1200" b="1" i="0" u="none" strike="noStrike" cap="none" dirty="0">
                <a:solidFill>
                  <a:schemeClr val="accent4"/>
                </a:solidFill>
                <a:latin typeface="Arial"/>
                <a:ea typeface="Arial"/>
                <a:cs typeface="Arial"/>
                <a:sym typeface="Arial"/>
              </a:rPr>
              <a:t>IaaS Developer </a:t>
            </a:r>
            <a:endParaRPr sz="1200" b="1" i="0" u="none" strike="noStrike" cap="none" dirty="0">
              <a:solidFill>
                <a:schemeClr val="accent4"/>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400"/>
              <a:buFont typeface="Arial"/>
              <a:buAutoNum type="arabicPeriod"/>
            </a:pPr>
            <a:r>
              <a:rPr lang="en-US" sz="1200" b="0" i="0" u="none" strike="noStrike" cap="none" dirty="0">
                <a:solidFill>
                  <a:srgbClr val="53565A"/>
                </a:solidFill>
                <a:latin typeface="Arial"/>
                <a:ea typeface="Arial"/>
                <a:cs typeface="Arial"/>
                <a:sym typeface="Arial"/>
              </a:rPr>
              <a:t>Works with the </a:t>
            </a:r>
            <a:r>
              <a:rPr lang="en-US" sz="1200" b="0" i="0" u="none" strike="noStrike" cap="none" dirty="0">
                <a:solidFill>
                  <a:srgbClr val="E68C28"/>
                </a:solidFill>
                <a:latin typeface="Arial"/>
                <a:ea typeface="Arial"/>
                <a:cs typeface="Arial"/>
                <a:sym typeface="Arial"/>
              </a:rPr>
              <a:t>IaaS Administrator</a:t>
            </a:r>
            <a:r>
              <a:rPr lang="en-US" sz="1200" b="0" i="0" u="none" strike="noStrike" cap="none" dirty="0">
                <a:solidFill>
                  <a:srgbClr val="53565A"/>
                </a:solidFill>
                <a:latin typeface="Arial"/>
                <a:ea typeface="Arial"/>
                <a:cs typeface="Arial"/>
                <a:sym typeface="Arial"/>
              </a:rPr>
              <a:t> persona to create the automation for Automation of </a:t>
            </a:r>
            <a:r>
              <a:rPr lang="en-US" sz="1200" b="1" i="0" u="none" strike="noStrike" cap="none" dirty="0">
                <a:solidFill>
                  <a:schemeClr val="accent1"/>
                </a:solidFill>
                <a:latin typeface="Arial"/>
                <a:ea typeface="Arial"/>
                <a:cs typeface="Arial"/>
                <a:sym typeface="Arial"/>
              </a:rPr>
              <a:t>Tenant Pods</a:t>
            </a:r>
            <a:r>
              <a:rPr lang="en-US" sz="1200" b="0" i="0" u="none" strike="noStrike" cap="none" dirty="0">
                <a:solidFill>
                  <a:schemeClr val="accent1"/>
                </a:solidFill>
                <a:latin typeface="Arial"/>
                <a:ea typeface="Arial"/>
                <a:cs typeface="Arial"/>
                <a:sym typeface="Arial"/>
              </a:rPr>
              <a:t>.</a:t>
            </a:r>
            <a:endParaRPr sz="1200" b="0" i="0" u="none" strike="noStrike" cap="none" dirty="0">
              <a:solidFill>
                <a:schemeClr val="accent1"/>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400"/>
              <a:buFont typeface="Arial"/>
              <a:buAutoNum type="arabicPeriod"/>
            </a:pPr>
            <a:r>
              <a:rPr lang="en-US" sz="1200" b="0" i="0" u="none" strike="noStrike" cap="none" dirty="0">
                <a:solidFill>
                  <a:srgbClr val="53565A"/>
                </a:solidFill>
                <a:latin typeface="Arial"/>
                <a:ea typeface="Arial"/>
                <a:cs typeface="Arial"/>
                <a:sym typeface="Arial"/>
              </a:rPr>
              <a:t>Tenant Pods deployed via </a:t>
            </a:r>
            <a:r>
              <a:rPr lang="en-US" sz="1200" b="1" i="0" u="none" strike="noStrike" cap="none" dirty="0">
                <a:solidFill>
                  <a:schemeClr val="accent1"/>
                </a:solidFill>
                <a:latin typeface="Arial"/>
                <a:ea typeface="Arial"/>
                <a:cs typeface="Arial"/>
                <a:sym typeface="Arial"/>
              </a:rPr>
              <a:t>environmental specifications</a:t>
            </a:r>
            <a:r>
              <a:rPr lang="en-US" sz="1200" b="0" i="0" u="none" strike="noStrike" cap="none" dirty="0">
                <a:solidFill>
                  <a:schemeClr val="lt2"/>
                </a:solidFill>
                <a:latin typeface="Arial"/>
                <a:ea typeface="Arial"/>
                <a:cs typeface="Arial"/>
                <a:sym typeface="Arial"/>
              </a:rPr>
              <a:t> </a:t>
            </a:r>
            <a:r>
              <a:rPr lang="en-US" sz="1200" b="0" i="0" u="none" strike="noStrike" cap="none" dirty="0">
                <a:solidFill>
                  <a:srgbClr val="53565A"/>
                </a:solidFill>
                <a:latin typeface="Arial"/>
                <a:ea typeface="Arial"/>
                <a:cs typeface="Arial"/>
                <a:sym typeface="Arial"/>
              </a:rPr>
              <a:t>for tenant workloads to provide </a:t>
            </a:r>
            <a:r>
              <a:rPr lang="en-US" sz="1200" b="0" i="0" u="none" strike="noStrike" cap="none" dirty="0">
                <a:solidFill>
                  <a:srgbClr val="E68C28"/>
                </a:solidFill>
                <a:latin typeface="Arial"/>
                <a:ea typeface="Arial"/>
                <a:cs typeface="Arial"/>
                <a:sym typeface="Arial"/>
              </a:rPr>
              <a:t>IaaS Administrators </a:t>
            </a:r>
            <a:r>
              <a:rPr lang="en-US" sz="1200" b="0" i="0" u="none" strike="noStrike" cap="none" dirty="0">
                <a:solidFill>
                  <a:srgbClr val="53565A"/>
                </a:solidFill>
                <a:latin typeface="Arial"/>
                <a:ea typeface="Arial"/>
                <a:cs typeface="Arial"/>
                <a:sym typeface="Arial"/>
              </a:rPr>
              <a:t>with consistent operations.</a:t>
            </a:r>
            <a:endParaRPr sz="1200" b="0" i="0" u="none" strike="noStrike" cap="none" dirty="0">
              <a:solidFill>
                <a:srgbClr val="53565A"/>
              </a:solidFill>
              <a:latin typeface="Arial"/>
              <a:ea typeface="Arial"/>
              <a:cs typeface="Arial"/>
              <a:sym typeface="Arial"/>
            </a:endParaRPr>
          </a:p>
        </p:txBody>
      </p:sp>
      <p:sp>
        <p:nvSpPr>
          <p:cNvPr id="1254" name="Google Shape;1254;p122"/>
          <p:cNvSpPr/>
          <p:nvPr/>
        </p:nvSpPr>
        <p:spPr>
          <a:xfrm>
            <a:off x="1050364" y="5480366"/>
            <a:ext cx="314325" cy="285750"/>
          </a:xfrm>
          <a:prstGeom prst="ellipse">
            <a:avLst/>
          </a:prstGeom>
          <a:solidFill>
            <a:schemeClr val="lt1"/>
          </a:solidFill>
          <a:ln w="28575" cap="flat" cmpd="sng">
            <a:solidFill>
              <a:srgbClr val="E68C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68C28"/>
                </a:solidFill>
                <a:latin typeface="Arial"/>
                <a:ea typeface="Arial"/>
                <a:cs typeface="Arial"/>
                <a:sym typeface="Arial"/>
              </a:rPr>
              <a:t>1</a:t>
            </a:r>
            <a:endParaRPr sz="1400" b="0" i="0" u="none" strike="noStrike" cap="none">
              <a:solidFill>
                <a:srgbClr val="E68C28"/>
              </a:solidFill>
              <a:latin typeface="Arial"/>
              <a:ea typeface="Arial"/>
              <a:cs typeface="Arial"/>
              <a:sym typeface="Arial"/>
            </a:endParaRPr>
          </a:p>
        </p:txBody>
      </p:sp>
      <p:sp>
        <p:nvSpPr>
          <p:cNvPr id="1255" name="Google Shape;1255;p122"/>
          <p:cNvSpPr/>
          <p:nvPr/>
        </p:nvSpPr>
        <p:spPr>
          <a:xfrm>
            <a:off x="2213283" y="4760486"/>
            <a:ext cx="314325" cy="285750"/>
          </a:xfrm>
          <a:prstGeom prst="ellipse">
            <a:avLst/>
          </a:prstGeom>
          <a:solidFill>
            <a:schemeClr val="lt1"/>
          </a:solidFill>
          <a:ln w="28575" cap="flat" cmpd="sng">
            <a:solidFill>
              <a:srgbClr val="E68C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68C28"/>
                </a:solidFill>
                <a:latin typeface="Arial"/>
                <a:ea typeface="Arial"/>
                <a:cs typeface="Arial"/>
                <a:sym typeface="Arial"/>
              </a:rPr>
              <a:t>2</a:t>
            </a:r>
            <a:endParaRPr sz="1400" b="0" i="0" u="none" strike="noStrike" cap="none">
              <a:solidFill>
                <a:srgbClr val="E68C28"/>
              </a:solidFill>
              <a:latin typeface="Arial"/>
              <a:ea typeface="Arial"/>
              <a:cs typeface="Arial"/>
              <a:sym typeface="Arial"/>
            </a:endParaRPr>
          </a:p>
        </p:txBody>
      </p:sp>
      <p:sp>
        <p:nvSpPr>
          <p:cNvPr id="1256" name="Google Shape;1256;p122"/>
          <p:cNvSpPr/>
          <p:nvPr/>
        </p:nvSpPr>
        <p:spPr>
          <a:xfrm>
            <a:off x="1207527" y="3942676"/>
            <a:ext cx="314325" cy="285750"/>
          </a:xfrm>
          <a:prstGeom prst="ellipse">
            <a:avLst/>
          </a:prstGeom>
          <a:solidFill>
            <a:schemeClr val="lt1"/>
          </a:solidFill>
          <a:ln w="28575" cap="flat" cmpd="sng">
            <a:solidFill>
              <a:srgbClr val="E68C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68C28"/>
                </a:solidFill>
                <a:latin typeface="Arial"/>
                <a:ea typeface="Arial"/>
                <a:cs typeface="Arial"/>
                <a:sym typeface="Arial"/>
              </a:rPr>
              <a:t>2</a:t>
            </a:r>
            <a:endParaRPr sz="1400" b="0" i="0" u="none" strike="noStrike" cap="none">
              <a:solidFill>
                <a:srgbClr val="E68C28"/>
              </a:solidFill>
              <a:latin typeface="Arial"/>
              <a:ea typeface="Arial"/>
              <a:cs typeface="Arial"/>
              <a:sym typeface="Arial"/>
            </a:endParaRPr>
          </a:p>
        </p:txBody>
      </p:sp>
      <p:sp>
        <p:nvSpPr>
          <p:cNvPr id="1257" name="Google Shape;1257;p122"/>
          <p:cNvSpPr/>
          <p:nvPr/>
        </p:nvSpPr>
        <p:spPr>
          <a:xfrm>
            <a:off x="3487817" y="4075762"/>
            <a:ext cx="314325" cy="285750"/>
          </a:xfrm>
          <a:prstGeom prst="ellipse">
            <a:avLst/>
          </a:prstGeom>
          <a:solidFill>
            <a:schemeClr val="lt1"/>
          </a:solidFill>
          <a:ln w="28575" cap="flat" cmpd="sng">
            <a:solidFill>
              <a:srgbClr val="E68C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68C28"/>
                </a:solidFill>
                <a:latin typeface="Arial"/>
                <a:ea typeface="Arial"/>
                <a:cs typeface="Arial"/>
                <a:sym typeface="Arial"/>
              </a:rPr>
              <a:t>3</a:t>
            </a:r>
            <a:endParaRPr sz="1400" b="0" i="0" u="none" strike="noStrike" cap="none">
              <a:solidFill>
                <a:srgbClr val="E68C28"/>
              </a:solidFill>
              <a:latin typeface="Arial"/>
              <a:ea typeface="Arial"/>
              <a:cs typeface="Arial"/>
              <a:sym typeface="Arial"/>
            </a:endParaRPr>
          </a:p>
        </p:txBody>
      </p:sp>
      <p:sp>
        <p:nvSpPr>
          <p:cNvPr id="1258" name="Google Shape;1258;p122"/>
          <p:cNvSpPr/>
          <p:nvPr/>
        </p:nvSpPr>
        <p:spPr>
          <a:xfrm>
            <a:off x="1207526" y="2629574"/>
            <a:ext cx="314325" cy="285750"/>
          </a:xfrm>
          <a:prstGeom prst="ellipse">
            <a:avLst/>
          </a:prstGeom>
          <a:solidFill>
            <a:schemeClr val="lt1"/>
          </a:solidFill>
          <a:ln w="28575" cap="flat" cmpd="sng">
            <a:solidFill>
              <a:srgbClr val="E68C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68C28"/>
                </a:solidFill>
                <a:latin typeface="Arial"/>
                <a:ea typeface="Arial"/>
                <a:cs typeface="Arial"/>
                <a:sym typeface="Arial"/>
              </a:rPr>
              <a:t>3</a:t>
            </a:r>
            <a:endParaRPr sz="1400" b="0" i="0" u="none" strike="noStrike" cap="none">
              <a:solidFill>
                <a:srgbClr val="E68C28"/>
              </a:solidFill>
              <a:latin typeface="Arial"/>
              <a:ea typeface="Arial"/>
              <a:cs typeface="Arial"/>
              <a:sym typeface="Arial"/>
            </a:endParaRPr>
          </a:p>
        </p:txBody>
      </p:sp>
      <p:sp>
        <p:nvSpPr>
          <p:cNvPr id="1259" name="Google Shape;1259;p122"/>
          <p:cNvSpPr/>
          <p:nvPr/>
        </p:nvSpPr>
        <p:spPr>
          <a:xfrm>
            <a:off x="5872841" y="1357159"/>
            <a:ext cx="314325" cy="285750"/>
          </a:xfrm>
          <a:prstGeom prst="ellipse">
            <a:avLst/>
          </a:prstGeom>
          <a:solidFill>
            <a:schemeClr val="lt1"/>
          </a:solidFill>
          <a:ln w="2857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accent4"/>
                </a:solidFill>
                <a:latin typeface="Arial"/>
                <a:ea typeface="Arial"/>
                <a:cs typeface="Arial"/>
                <a:sym typeface="Arial"/>
              </a:rPr>
              <a:t>1</a:t>
            </a:r>
            <a:endParaRPr sz="1400" b="0" i="0" u="none" strike="noStrike" cap="none">
              <a:solidFill>
                <a:schemeClr val="accent4"/>
              </a:solidFill>
              <a:latin typeface="Arial"/>
              <a:ea typeface="Arial"/>
              <a:cs typeface="Arial"/>
              <a:sym typeface="Arial"/>
            </a:endParaRPr>
          </a:p>
        </p:txBody>
      </p:sp>
      <p:sp>
        <p:nvSpPr>
          <p:cNvPr id="1260" name="Google Shape;1260;p122"/>
          <p:cNvSpPr/>
          <p:nvPr/>
        </p:nvSpPr>
        <p:spPr>
          <a:xfrm>
            <a:off x="4054642" y="2101306"/>
            <a:ext cx="314325" cy="285750"/>
          </a:xfrm>
          <a:prstGeom prst="ellipse">
            <a:avLst/>
          </a:prstGeom>
          <a:solidFill>
            <a:schemeClr val="lt1"/>
          </a:solidFill>
          <a:ln w="2857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accent4"/>
                </a:solidFill>
                <a:latin typeface="Arial"/>
                <a:ea typeface="Arial"/>
                <a:cs typeface="Arial"/>
                <a:sym typeface="Arial"/>
              </a:rPr>
              <a:t>2</a:t>
            </a:r>
            <a:endParaRPr sz="1400" b="0" i="0" u="none" strike="noStrike" cap="none">
              <a:solidFill>
                <a:schemeClr val="accent4"/>
              </a:solidFill>
              <a:latin typeface="Arial"/>
              <a:ea typeface="Arial"/>
              <a:cs typeface="Arial"/>
              <a:sym typeface="Arial"/>
            </a:endParaRPr>
          </a:p>
        </p:txBody>
      </p:sp>
      <p:sp>
        <p:nvSpPr>
          <p:cNvPr id="1261" name="Google Shape;1261;p122"/>
          <p:cNvSpPr/>
          <p:nvPr/>
        </p:nvSpPr>
        <p:spPr>
          <a:xfrm>
            <a:off x="3257231" y="3348886"/>
            <a:ext cx="314325" cy="285750"/>
          </a:xfrm>
          <a:prstGeom prst="ellipse">
            <a:avLst/>
          </a:prstGeom>
          <a:solidFill>
            <a:schemeClr val="lt1"/>
          </a:solidFill>
          <a:ln w="2857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accent4"/>
                </a:solidFill>
                <a:latin typeface="Arial"/>
                <a:ea typeface="Arial"/>
                <a:cs typeface="Arial"/>
                <a:sym typeface="Arial"/>
              </a:rPr>
              <a:t>2</a:t>
            </a:r>
            <a:endParaRPr sz="1400" b="0" i="0" u="none" strike="noStrike" cap="none">
              <a:solidFill>
                <a:schemeClr val="accent4"/>
              </a:solidFill>
              <a:latin typeface="Arial"/>
              <a:ea typeface="Arial"/>
              <a:cs typeface="Arial"/>
              <a:sym typeface="Arial"/>
            </a:endParaRPr>
          </a:p>
        </p:txBody>
      </p:sp>
      <p:sp>
        <p:nvSpPr>
          <p:cNvPr id="1262" name="Google Shape;1262;p122"/>
          <p:cNvSpPr/>
          <p:nvPr/>
        </p:nvSpPr>
        <p:spPr>
          <a:xfrm>
            <a:off x="4054642" y="4146416"/>
            <a:ext cx="314325" cy="285750"/>
          </a:xfrm>
          <a:prstGeom prst="ellipse">
            <a:avLst/>
          </a:prstGeom>
          <a:solidFill>
            <a:schemeClr val="lt1"/>
          </a:solidFill>
          <a:ln w="2857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accent4"/>
                </a:solidFill>
                <a:latin typeface="Arial"/>
                <a:ea typeface="Arial"/>
                <a:cs typeface="Arial"/>
                <a:sym typeface="Arial"/>
              </a:rPr>
              <a:t>2</a:t>
            </a:r>
            <a:endParaRPr sz="1400" b="0" i="0" u="none" strike="noStrike" cap="none">
              <a:solidFill>
                <a:schemeClr val="accent4"/>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pic>
        <p:nvPicPr>
          <p:cNvPr id="1268" name="Google Shape;1268;p16"/>
          <p:cNvPicPr preferRelativeResize="0"/>
          <p:nvPr/>
        </p:nvPicPr>
        <p:blipFill rotWithShape="1">
          <a:blip r:embed="rId3">
            <a:alphaModFix/>
          </a:blip>
          <a:srcRect/>
          <a:stretch/>
        </p:blipFill>
        <p:spPr>
          <a:xfrm>
            <a:off x="412750" y="1533186"/>
            <a:ext cx="6869621" cy="4579747"/>
          </a:xfrm>
          <a:prstGeom prst="rect">
            <a:avLst/>
          </a:prstGeom>
          <a:noFill/>
          <a:ln>
            <a:noFill/>
          </a:ln>
        </p:spPr>
      </p:pic>
      <p:sp>
        <p:nvSpPr>
          <p:cNvPr id="1269" name="Google Shape;1269;p16"/>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Logical Role Design for SDN</a:t>
            </a:r>
          </a:p>
        </p:txBody>
      </p:sp>
      <p:sp>
        <p:nvSpPr>
          <p:cNvPr id="1270" name="Google Shape;1270;p16"/>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a:t>Delivering IaaS with NSX </a:t>
            </a:r>
          </a:p>
        </p:txBody>
      </p:sp>
      <p:sp>
        <p:nvSpPr>
          <p:cNvPr id="1271" name="Google Shape;1271;p16"/>
          <p:cNvSpPr txBox="1"/>
          <p:nvPr/>
        </p:nvSpPr>
        <p:spPr>
          <a:xfrm>
            <a:off x="7466618" y="2159373"/>
            <a:ext cx="4495800" cy="3174972"/>
          </a:xfrm>
          <a:prstGeom prst="rect">
            <a:avLst/>
          </a:prstGeom>
          <a:noFill/>
          <a:ln>
            <a:noFill/>
          </a:ln>
        </p:spPr>
        <p:txBody>
          <a:bodyPr spcFirstLastPara="1" wrap="square" lIns="0" tIns="0" rIns="0" bIns="0" anchor="t" anchorCtr="0">
            <a:spAutoFit/>
          </a:bodyPr>
          <a:lstStyle/>
          <a:p>
            <a:pPr marL="342900" marR="0" lvl="0" indent="-342900" algn="l" rtl="0">
              <a:lnSpc>
                <a:spcPct val="130000"/>
              </a:lnSpc>
              <a:spcBef>
                <a:spcPts val="0"/>
              </a:spcBef>
              <a:spcAft>
                <a:spcPts val="0"/>
              </a:spcAft>
              <a:buClr>
                <a:schemeClr val="dk2"/>
              </a:buClr>
              <a:buSzPts val="1600"/>
              <a:buFont typeface="Arial"/>
              <a:buAutoNum type="arabicPeriod"/>
            </a:pPr>
            <a:r>
              <a:rPr lang="en-US" sz="1600" b="0" i="0" u="none" strike="noStrike" cap="none" dirty="0">
                <a:solidFill>
                  <a:srgbClr val="53565A"/>
                </a:solidFill>
                <a:latin typeface="Arial"/>
                <a:ea typeface="Arial"/>
                <a:cs typeface="Arial"/>
                <a:sym typeface="Arial"/>
              </a:rPr>
              <a:t>Deploy</a:t>
            </a:r>
            <a:r>
              <a:rPr lang="en-US" sz="1600" b="0" i="0" u="none" strike="noStrike" cap="none" dirty="0">
                <a:solidFill>
                  <a:schemeClr val="lt2"/>
                </a:solidFill>
                <a:latin typeface="Arial"/>
                <a:ea typeface="Arial"/>
                <a:cs typeface="Arial"/>
                <a:sym typeface="Arial"/>
              </a:rPr>
              <a:t> </a:t>
            </a:r>
            <a:r>
              <a:rPr lang="en-US" sz="1600" b="1" i="0" u="none" strike="noStrike" cap="none" dirty="0">
                <a:solidFill>
                  <a:schemeClr val="accent1"/>
                </a:solidFill>
                <a:latin typeface="Arial"/>
                <a:ea typeface="Arial"/>
                <a:cs typeface="Arial"/>
                <a:sym typeface="Arial"/>
              </a:rPr>
              <a:t>NSX Edge Cluster </a:t>
            </a:r>
            <a:r>
              <a:rPr lang="en-US" sz="1600" b="0" i="0" u="none" strike="noStrike" cap="none" dirty="0">
                <a:solidFill>
                  <a:srgbClr val="53565A"/>
                </a:solidFill>
                <a:latin typeface="Arial"/>
                <a:ea typeface="Arial"/>
                <a:cs typeface="Arial"/>
                <a:sym typeface="Arial"/>
              </a:rPr>
              <a:t>for Workload Domain with Automation (</a:t>
            </a:r>
            <a:r>
              <a:rPr lang="en-US" sz="1600" b="1" i="0" u="none" strike="noStrike" cap="none" dirty="0">
                <a:solidFill>
                  <a:schemeClr val="accent1"/>
                </a:solidFill>
                <a:latin typeface="Arial"/>
                <a:ea typeface="Arial"/>
                <a:cs typeface="Arial"/>
                <a:sym typeface="Arial"/>
              </a:rPr>
              <a:t>Uplink Profile - Transport Zone - Uplink Segments</a:t>
            </a:r>
            <a:r>
              <a:rPr lang="en-US" sz="1600" b="0" i="0" u="none" strike="noStrike" cap="none" dirty="0">
                <a:solidFill>
                  <a:srgbClr val="53565A"/>
                </a:solidFill>
                <a:latin typeface="Arial"/>
                <a:ea typeface="Arial"/>
                <a:cs typeface="Arial"/>
                <a:sym typeface="Arial"/>
              </a:rPr>
              <a:t>)</a:t>
            </a:r>
            <a:endParaRPr sz="14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600" b="0" i="0" u="none" strike="noStrike" cap="none" dirty="0">
                <a:solidFill>
                  <a:srgbClr val="53565A"/>
                </a:solidFill>
                <a:latin typeface="Arial"/>
                <a:ea typeface="Arial"/>
                <a:cs typeface="Arial"/>
                <a:sym typeface="Arial"/>
              </a:rPr>
              <a:t>Deploy </a:t>
            </a:r>
            <a:r>
              <a:rPr lang="en-US" sz="1600" b="1" i="0" u="none" strike="noStrike" cap="none" dirty="0">
                <a:solidFill>
                  <a:schemeClr val="accent1"/>
                </a:solidFill>
                <a:latin typeface="Arial"/>
                <a:ea typeface="Arial"/>
                <a:cs typeface="Arial"/>
                <a:sym typeface="Arial"/>
              </a:rPr>
              <a:t>NSX Edge-VMs</a:t>
            </a:r>
            <a:endParaRPr sz="1400" b="1" i="0" u="none" strike="noStrike" cap="none" dirty="0">
              <a:solidFill>
                <a:schemeClr val="accent1"/>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600" b="0" i="0" u="none" strike="noStrike" cap="none" dirty="0">
                <a:solidFill>
                  <a:srgbClr val="53565A"/>
                </a:solidFill>
                <a:latin typeface="Arial"/>
                <a:ea typeface="Arial"/>
                <a:cs typeface="Arial"/>
                <a:sym typeface="Arial"/>
              </a:rPr>
              <a:t>Base Configuration for Logical-Routing configuration leveraging </a:t>
            </a:r>
            <a:r>
              <a:rPr lang="en-US" sz="1600" b="1" i="0" u="none" strike="noStrike" cap="none" dirty="0">
                <a:solidFill>
                  <a:schemeClr val="accent1"/>
                </a:solidFill>
                <a:latin typeface="Arial"/>
                <a:ea typeface="Arial"/>
                <a:cs typeface="Arial"/>
                <a:sym typeface="Arial"/>
              </a:rPr>
              <a:t>BGP (ECMP) </a:t>
            </a:r>
            <a:r>
              <a:rPr lang="en-US" sz="1600" b="0" i="0" u="none" strike="noStrike" cap="none" dirty="0">
                <a:solidFill>
                  <a:srgbClr val="53565A"/>
                </a:solidFill>
                <a:latin typeface="Arial"/>
                <a:ea typeface="Arial"/>
                <a:cs typeface="Arial"/>
                <a:sym typeface="Arial"/>
              </a:rPr>
              <a:t>for Management and Workload Domain</a:t>
            </a:r>
            <a:endParaRPr sz="18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600" b="0" i="0" u="none" strike="noStrike" cap="none" dirty="0">
                <a:solidFill>
                  <a:srgbClr val="53565A"/>
                </a:solidFill>
                <a:latin typeface="Arial"/>
                <a:ea typeface="Arial"/>
                <a:cs typeface="Arial"/>
                <a:sym typeface="Arial"/>
              </a:rPr>
              <a:t>Deploy base </a:t>
            </a:r>
            <a:r>
              <a:rPr lang="en-US" sz="1600" b="1" i="0" u="none" strike="noStrike" cap="none" dirty="0">
                <a:solidFill>
                  <a:schemeClr val="accent1"/>
                </a:solidFill>
                <a:latin typeface="Arial"/>
                <a:ea typeface="Arial"/>
                <a:cs typeface="Arial"/>
                <a:sym typeface="Arial"/>
              </a:rPr>
              <a:t>DFW</a:t>
            </a:r>
            <a:r>
              <a:rPr lang="en-US" sz="1600" b="0" i="0" u="none" strike="noStrike" cap="none" dirty="0">
                <a:solidFill>
                  <a:schemeClr val="lt2"/>
                </a:solidFill>
                <a:latin typeface="Arial"/>
                <a:ea typeface="Arial"/>
                <a:cs typeface="Arial"/>
                <a:sym typeface="Arial"/>
              </a:rPr>
              <a:t> </a:t>
            </a:r>
            <a:r>
              <a:rPr lang="en-US" sz="1600" b="0" i="0" u="none" strike="noStrike" cap="none" dirty="0">
                <a:solidFill>
                  <a:srgbClr val="53565A"/>
                </a:solidFill>
                <a:latin typeface="Arial"/>
                <a:ea typeface="Arial"/>
                <a:cs typeface="Arial"/>
                <a:sym typeface="Arial"/>
              </a:rPr>
              <a:t>configuration for </a:t>
            </a:r>
            <a:r>
              <a:rPr lang="en-US" sz="1600" b="1" i="0" u="none" strike="noStrike" cap="none" dirty="0">
                <a:solidFill>
                  <a:schemeClr val="accent1"/>
                </a:solidFill>
                <a:latin typeface="Arial"/>
                <a:ea typeface="Arial"/>
                <a:cs typeface="Arial"/>
                <a:sym typeface="Arial"/>
              </a:rPr>
              <a:t>Macro-Segmentation</a:t>
            </a:r>
            <a:r>
              <a:rPr lang="en-US" sz="1600" b="0" i="0" u="none" strike="noStrike" cap="none" dirty="0">
                <a:solidFill>
                  <a:schemeClr val="lt2"/>
                </a:solidFill>
                <a:latin typeface="Arial"/>
                <a:ea typeface="Arial"/>
                <a:cs typeface="Arial"/>
                <a:sym typeface="Arial"/>
              </a:rPr>
              <a:t> </a:t>
            </a:r>
            <a:r>
              <a:rPr lang="en-US" sz="1600" b="0" i="0" u="none" strike="noStrike" cap="none" dirty="0">
                <a:solidFill>
                  <a:srgbClr val="53565A"/>
                </a:solidFill>
                <a:latin typeface="Arial"/>
                <a:ea typeface="Arial"/>
                <a:cs typeface="Arial"/>
                <a:sym typeface="Arial"/>
              </a:rPr>
              <a:t>for basic shared services</a:t>
            </a:r>
            <a:endParaRPr sz="1400" b="0" i="0" u="none" strike="noStrike" cap="none" dirty="0">
              <a:solidFill>
                <a:srgbClr val="53565A"/>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600"/>
              <a:buFont typeface="Arial"/>
              <a:buNone/>
            </a:pPr>
            <a:endParaRPr sz="1600" b="0" i="0" u="none" strike="noStrike" cap="none" dirty="0">
              <a:solidFill>
                <a:schemeClr val="lt2"/>
              </a:solidFill>
              <a:latin typeface="Arial"/>
              <a:ea typeface="Arial"/>
              <a:cs typeface="Arial"/>
              <a:sym typeface="Arial"/>
            </a:endParaRPr>
          </a:p>
        </p:txBody>
      </p:sp>
      <p:sp>
        <p:nvSpPr>
          <p:cNvPr id="1272" name="Google Shape;1272;p16"/>
          <p:cNvSpPr/>
          <p:nvPr/>
        </p:nvSpPr>
        <p:spPr>
          <a:xfrm>
            <a:off x="3867831" y="2858487"/>
            <a:ext cx="314325" cy="285750"/>
          </a:xfrm>
          <a:prstGeom prst="ellipse">
            <a:avLst/>
          </a:prstGeom>
          <a:solidFill>
            <a:schemeClr val="lt1"/>
          </a:solidFill>
          <a:ln w="28575" cap="flat" cmpd="sng">
            <a:solidFill>
              <a:srgbClr val="EC77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B75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273" name="Google Shape;1273;p16"/>
          <p:cNvSpPr/>
          <p:nvPr/>
        </p:nvSpPr>
        <p:spPr>
          <a:xfrm>
            <a:off x="3986180" y="3378508"/>
            <a:ext cx="314325" cy="285750"/>
          </a:xfrm>
          <a:prstGeom prst="ellipse">
            <a:avLst/>
          </a:prstGeom>
          <a:solidFill>
            <a:schemeClr val="lt1"/>
          </a:solidFill>
          <a:ln w="28575" cap="flat" cmpd="sng">
            <a:solidFill>
              <a:srgbClr val="EC77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B75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274" name="Google Shape;1274;p16"/>
          <p:cNvSpPr/>
          <p:nvPr/>
        </p:nvSpPr>
        <p:spPr>
          <a:xfrm>
            <a:off x="5419108" y="3946186"/>
            <a:ext cx="314325" cy="285750"/>
          </a:xfrm>
          <a:prstGeom prst="ellipse">
            <a:avLst/>
          </a:prstGeom>
          <a:solidFill>
            <a:schemeClr val="lt1"/>
          </a:solidFill>
          <a:ln w="28575" cap="flat" cmpd="sng">
            <a:solidFill>
              <a:srgbClr val="EC77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B75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275" name="Google Shape;1275;p16"/>
          <p:cNvSpPr/>
          <p:nvPr/>
        </p:nvSpPr>
        <p:spPr>
          <a:xfrm>
            <a:off x="4181594" y="4762654"/>
            <a:ext cx="314325" cy="285750"/>
          </a:xfrm>
          <a:prstGeom prst="ellipse">
            <a:avLst/>
          </a:prstGeom>
          <a:solidFill>
            <a:schemeClr val="lt1"/>
          </a:solidFill>
          <a:ln w="28575" cap="flat" cmpd="sng">
            <a:solidFill>
              <a:srgbClr val="EC77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B75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0"/>
        <p:cNvGrpSpPr/>
        <p:nvPr/>
      </p:nvGrpSpPr>
      <p:grpSpPr>
        <a:xfrm>
          <a:off x="0" y="0"/>
          <a:ext cx="0" cy="0"/>
          <a:chOff x="0" y="0"/>
          <a:chExt cx="0" cy="0"/>
        </a:xfrm>
      </p:grpSpPr>
      <p:pic>
        <p:nvPicPr>
          <p:cNvPr id="1281" name="Google Shape;1281;p17"/>
          <p:cNvPicPr preferRelativeResize="0"/>
          <p:nvPr/>
        </p:nvPicPr>
        <p:blipFill>
          <a:blip r:embed="rId3"/>
          <a:srcRect/>
          <a:stretch/>
        </p:blipFill>
        <p:spPr>
          <a:xfrm>
            <a:off x="2022713" y="1331810"/>
            <a:ext cx="5836277" cy="5064135"/>
          </a:xfrm>
          <a:prstGeom prst="rect">
            <a:avLst/>
          </a:prstGeom>
          <a:noFill/>
          <a:ln>
            <a:noFill/>
          </a:ln>
        </p:spPr>
      </p:pic>
      <p:sp>
        <p:nvSpPr>
          <p:cNvPr id="1282" name="Google Shape;1282;p17"/>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Assembly Logical Role Design</a:t>
            </a:r>
          </a:p>
        </p:txBody>
      </p:sp>
      <p:sp>
        <p:nvSpPr>
          <p:cNvPr id="1283" name="Google Shape;1283;p17"/>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Delivering IaaS with VCF Automation</a:t>
            </a:r>
          </a:p>
        </p:txBody>
      </p:sp>
      <p:sp>
        <p:nvSpPr>
          <p:cNvPr id="1284" name="Google Shape;1284;p17"/>
          <p:cNvSpPr txBox="1"/>
          <p:nvPr/>
        </p:nvSpPr>
        <p:spPr>
          <a:xfrm>
            <a:off x="8442835" y="1767955"/>
            <a:ext cx="3406532" cy="3961084"/>
          </a:xfrm>
          <a:prstGeom prst="rect">
            <a:avLst/>
          </a:prstGeom>
          <a:noFill/>
          <a:ln>
            <a:noFill/>
          </a:ln>
        </p:spPr>
        <p:txBody>
          <a:bodyPr spcFirstLastPara="1" wrap="square" lIns="0" tIns="0" rIns="0" bIns="0" anchor="t" anchorCtr="0">
            <a:spAutoFit/>
          </a:bodyPr>
          <a:lstStyle/>
          <a:p>
            <a:pPr marL="342900" marR="0" lvl="0" indent="-342900" algn="l" rtl="0">
              <a:lnSpc>
                <a:spcPct val="130000"/>
              </a:lnSpc>
              <a:spcBef>
                <a:spcPts val="0"/>
              </a:spcBef>
              <a:spcAft>
                <a:spcPts val="0"/>
              </a:spcAft>
              <a:buClr>
                <a:schemeClr val="dk2"/>
              </a:buClr>
              <a:buSzPts val="1600"/>
              <a:buFont typeface="Arial"/>
              <a:buAutoNum type="arabicPeriod"/>
            </a:pPr>
            <a:r>
              <a:rPr lang="en-US" sz="1400" b="0" i="0" u="none" strike="noStrike" cap="none" dirty="0">
                <a:solidFill>
                  <a:srgbClr val="53565A"/>
                </a:solidFill>
                <a:latin typeface="Arial"/>
                <a:ea typeface="Arial"/>
                <a:cs typeface="Arial"/>
                <a:sym typeface="Arial"/>
              </a:rPr>
              <a:t>Download</a:t>
            </a:r>
            <a:r>
              <a:rPr lang="en-US" sz="1400" b="0" i="0" u="none" strike="noStrike" cap="none" dirty="0">
                <a:solidFill>
                  <a:schemeClr val="lt2"/>
                </a:solidFill>
                <a:latin typeface="Arial"/>
                <a:ea typeface="Arial"/>
                <a:cs typeface="Arial"/>
                <a:sym typeface="Arial"/>
              </a:rPr>
              <a:t> </a:t>
            </a:r>
            <a:r>
              <a:rPr lang="en-US" sz="1400" b="1" i="0" u="none" strike="noStrike" cap="none" dirty="0">
                <a:solidFill>
                  <a:schemeClr val="accent1"/>
                </a:solidFill>
                <a:latin typeface="Arial"/>
                <a:ea typeface="Arial"/>
                <a:cs typeface="Arial"/>
                <a:sym typeface="Arial"/>
              </a:rPr>
              <a:t>VMware Pro cloud service config</a:t>
            </a:r>
            <a:r>
              <a:rPr lang="en-US" sz="1400" b="0" i="0" u="none" strike="noStrike" cap="none" dirty="0">
                <a:solidFill>
                  <a:schemeClr val="lt2"/>
                </a:solidFill>
                <a:latin typeface="Arial"/>
                <a:ea typeface="Arial"/>
                <a:cs typeface="Arial"/>
                <a:sym typeface="Arial"/>
              </a:rPr>
              <a:t> </a:t>
            </a:r>
            <a:r>
              <a:rPr lang="en-US" sz="1400" b="0" i="0" u="none" strike="noStrike" cap="none" dirty="0">
                <a:solidFill>
                  <a:srgbClr val="53565A"/>
                </a:solidFill>
                <a:latin typeface="Arial"/>
                <a:ea typeface="Arial"/>
                <a:cs typeface="Arial"/>
                <a:sym typeface="Arial"/>
              </a:rPr>
              <a:t>files from git.</a:t>
            </a:r>
            <a:endParaRPr sz="12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400" b="0" i="0" u="none" strike="noStrike" cap="none" dirty="0">
                <a:solidFill>
                  <a:srgbClr val="53565A"/>
                </a:solidFill>
                <a:latin typeface="Arial"/>
                <a:ea typeface="Arial"/>
                <a:cs typeface="Arial"/>
                <a:sym typeface="Arial"/>
              </a:rPr>
              <a:t>Download packages from Artifactory for application deployment.</a:t>
            </a:r>
            <a:endParaRPr sz="12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400" b="0" i="0" u="none" strike="noStrike" cap="none" dirty="0">
                <a:solidFill>
                  <a:srgbClr val="53565A"/>
                </a:solidFill>
                <a:latin typeface="Arial"/>
                <a:ea typeface="Arial"/>
                <a:cs typeface="Arial"/>
                <a:sym typeface="Arial"/>
              </a:rPr>
              <a:t>Use the </a:t>
            </a:r>
            <a:r>
              <a:rPr lang="en-US" sz="1400" b="1" i="0" u="none" strike="noStrike" cap="none" dirty="0">
                <a:solidFill>
                  <a:schemeClr val="accent1"/>
                </a:solidFill>
                <a:latin typeface="Arial"/>
                <a:ea typeface="Arial"/>
                <a:cs typeface="Arial"/>
                <a:sym typeface="Arial"/>
              </a:rPr>
              <a:t>VCF Automation Cloud Template </a:t>
            </a:r>
            <a:r>
              <a:rPr lang="en-US" sz="1400" b="0" i="0" u="none" strike="noStrike" cap="none" dirty="0">
                <a:solidFill>
                  <a:srgbClr val="53565A"/>
                </a:solidFill>
                <a:latin typeface="Arial"/>
                <a:ea typeface="Arial"/>
                <a:cs typeface="Arial"/>
                <a:sym typeface="Arial"/>
              </a:rPr>
              <a:t>to provision virtual server(s) or application stack.</a:t>
            </a:r>
            <a:endParaRPr sz="12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400" b="0" i="0" u="none" strike="noStrike" cap="none" dirty="0">
                <a:solidFill>
                  <a:srgbClr val="53565A"/>
                </a:solidFill>
                <a:latin typeface="Arial"/>
                <a:ea typeface="Arial"/>
                <a:cs typeface="Arial"/>
                <a:sym typeface="Arial"/>
              </a:rPr>
              <a:t>Apply </a:t>
            </a:r>
            <a:r>
              <a:rPr lang="en-US" sz="1400" b="1" i="0" u="none" strike="noStrike" cap="none" dirty="0">
                <a:solidFill>
                  <a:schemeClr val="accent1"/>
                </a:solidFill>
                <a:latin typeface="Arial"/>
                <a:ea typeface="Arial"/>
                <a:cs typeface="Arial"/>
                <a:sym typeface="Arial"/>
              </a:rPr>
              <a:t>VCF Automation Config</a:t>
            </a:r>
            <a:r>
              <a:rPr lang="en-US" sz="1400" b="0" i="0" u="none" strike="noStrike" cap="none" dirty="0">
                <a:solidFill>
                  <a:srgbClr val="53565A"/>
                </a:solidFill>
                <a:latin typeface="Arial"/>
                <a:ea typeface="Arial"/>
                <a:cs typeface="Arial"/>
                <a:sym typeface="Arial"/>
              </a:rPr>
              <a:t> state file to configure the servers and applications.</a:t>
            </a:r>
            <a:endParaRPr sz="12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400" b="0" i="0" u="none" strike="noStrike" cap="none" dirty="0">
                <a:solidFill>
                  <a:srgbClr val="53565A"/>
                </a:solidFill>
                <a:latin typeface="Arial"/>
                <a:ea typeface="Arial"/>
                <a:cs typeface="Arial"/>
                <a:sym typeface="Arial"/>
              </a:rPr>
              <a:t>Apply appropriate</a:t>
            </a:r>
            <a:r>
              <a:rPr lang="en-US" sz="1400" b="1" i="0" u="none" strike="noStrike" cap="none" dirty="0">
                <a:solidFill>
                  <a:schemeClr val="accent1"/>
                </a:solidFill>
                <a:latin typeface="Arial"/>
                <a:ea typeface="Arial"/>
                <a:cs typeface="Arial"/>
                <a:sym typeface="Arial"/>
              </a:rPr>
              <a:t> VCF Automation Config</a:t>
            </a:r>
            <a:r>
              <a:rPr lang="en-US" sz="1400" b="0" i="0" u="none" strike="noStrike" cap="none" dirty="0">
                <a:solidFill>
                  <a:schemeClr val="lt2"/>
                </a:solidFill>
                <a:latin typeface="Arial"/>
                <a:ea typeface="Arial"/>
                <a:cs typeface="Arial"/>
                <a:sym typeface="Arial"/>
              </a:rPr>
              <a:t> </a:t>
            </a:r>
            <a:r>
              <a:rPr lang="en-US" sz="1400" i="0" u="none" strike="noStrike" cap="none" dirty="0">
                <a:solidFill>
                  <a:srgbClr val="53565A"/>
                </a:solidFill>
                <a:latin typeface="Arial"/>
                <a:ea typeface="Arial"/>
                <a:cs typeface="Arial"/>
                <a:sym typeface="Arial"/>
              </a:rPr>
              <a:t>state file to maintain desired state of the application/VM.</a:t>
            </a:r>
            <a:endParaRPr sz="1200" i="0" u="none" strike="noStrike" cap="none" dirty="0">
              <a:solidFill>
                <a:srgbClr val="53565A"/>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400"/>
              <a:buFont typeface="Arial"/>
              <a:buNone/>
            </a:pPr>
            <a:endParaRPr sz="1400" b="0" i="0" u="none" strike="noStrike" cap="none" dirty="0">
              <a:solidFill>
                <a:schemeClr val="lt2"/>
              </a:solidFill>
              <a:latin typeface="Arial"/>
              <a:ea typeface="Arial"/>
              <a:cs typeface="Arial"/>
              <a:sym typeface="Arial"/>
            </a:endParaRPr>
          </a:p>
        </p:txBody>
      </p:sp>
      <p:sp>
        <p:nvSpPr>
          <p:cNvPr id="1285" name="Google Shape;1285;p17"/>
          <p:cNvSpPr/>
          <p:nvPr/>
        </p:nvSpPr>
        <p:spPr>
          <a:xfrm>
            <a:off x="4940929" y="1447882"/>
            <a:ext cx="314325" cy="285750"/>
          </a:xfrm>
          <a:prstGeom prst="ellipse">
            <a:avLst/>
          </a:prstGeom>
          <a:solidFill>
            <a:schemeClr val="l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2"/>
                </a:solidFill>
                <a:latin typeface="Arial"/>
                <a:ea typeface="Arial"/>
                <a:cs typeface="Arial"/>
                <a:sym typeface="Arial"/>
              </a:rPr>
              <a:t>1</a:t>
            </a:r>
            <a:endParaRPr sz="1400" b="0" i="0" u="none" strike="noStrike" cap="none">
              <a:solidFill>
                <a:schemeClr val="dk2"/>
              </a:solidFill>
              <a:latin typeface="Arial"/>
              <a:ea typeface="Arial"/>
              <a:cs typeface="Arial"/>
              <a:sym typeface="Arial"/>
            </a:endParaRPr>
          </a:p>
        </p:txBody>
      </p:sp>
      <p:sp>
        <p:nvSpPr>
          <p:cNvPr id="1286" name="Google Shape;1286;p17"/>
          <p:cNvSpPr/>
          <p:nvPr/>
        </p:nvSpPr>
        <p:spPr>
          <a:xfrm>
            <a:off x="6815329" y="2268387"/>
            <a:ext cx="314325" cy="285750"/>
          </a:xfrm>
          <a:prstGeom prst="ellipse">
            <a:avLst/>
          </a:prstGeom>
          <a:solidFill>
            <a:schemeClr val="l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2"/>
                </a:solidFill>
                <a:latin typeface="Arial"/>
                <a:ea typeface="Arial"/>
                <a:cs typeface="Arial"/>
                <a:sym typeface="Arial"/>
              </a:rPr>
              <a:t>2</a:t>
            </a:r>
            <a:endParaRPr sz="1400" b="0" i="0" u="none" strike="noStrike" cap="none">
              <a:solidFill>
                <a:schemeClr val="dk2"/>
              </a:solidFill>
              <a:latin typeface="Arial"/>
              <a:ea typeface="Arial"/>
              <a:cs typeface="Arial"/>
              <a:sym typeface="Arial"/>
            </a:endParaRPr>
          </a:p>
        </p:txBody>
      </p:sp>
      <p:sp>
        <p:nvSpPr>
          <p:cNvPr id="1287" name="Google Shape;1287;p17"/>
          <p:cNvSpPr/>
          <p:nvPr/>
        </p:nvSpPr>
        <p:spPr>
          <a:xfrm>
            <a:off x="3522810" y="4948995"/>
            <a:ext cx="314325" cy="285750"/>
          </a:xfrm>
          <a:prstGeom prst="ellipse">
            <a:avLst/>
          </a:prstGeom>
          <a:solidFill>
            <a:schemeClr val="l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2"/>
                </a:solidFill>
                <a:latin typeface="Arial"/>
                <a:ea typeface="Arial"/>
                <a:cs typeface="Arial"/>
                <a:sym typeface="Arial"/>
              </a:rPr>
              <a:t>4</a:t>
            </a:r>
            <a:endParaRPr sz="1400" b="0" i="0" u="none" strike="noStrike" cap="none">
              <a:solidFill>
                <a:schemeClr val="dk2"/>
              </a:solidFill>
              <a:latin typeface="Arial"/>
              <a:ea typeface="Arial"/>
              <a:cs typeface="Arial"/>
              <a:sym typeface="Arial"/>
            </a:endParaRPr>
          </a:p>
        </p:txBody>
      </p:sp>
      <p:sp>
        <p:nvSpPr>
          <p:cNvPr id="1288" name="Google Shape;1288;p17"/>
          <p:cNvSpPr/>
          <p:nvPr/>
        </p:nvSpPr>
        <p:spPr>
          <a:xfrm>
            <a:off x="7317036" y="3863878"/>
            <a:ext cx="314325" cy="285750"/>
          </a:xfrm>
          <a:prstGeom prst="ellipse">
            <a:avLst/>
          </a:prstGeom>
          <a:solidFill>
            <a:schemeClr val="l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2"/>
                </a:solidFill>
                <a:latin typeface="Arial"/>
                <a:ea typeface="Arial"/>
                <a:cs typeface="Arial"/>
                <a:sym typeface="Arial"/>
              </a:rPr>
              <a:t>3</a:t>
            </a:r>
            <a:endParaRPr sz="1400" b="0" i="0" u="none" strike="noStrike" cap="none">
              <a:solidFill>
                <a:schemeClr val="dk2"/>
              </a:solidFill>
              <a:latin typeface="Arial"/>
              <a:ea typeface="Arial"/>
              <a:cs typeface="Arial"/>
              <a:sym typeface="Arial"/>
            </a:endParaRPr>
          </a:p>
        </p:txBody>
      </p:sp>
      <p:sp>
        <p:nvSpPr>
          <p:cNvPr id="1289" name="Google Shape;1289;p17"/>
          <p:cNvSpPr/>
          <p:nvPr/>
        </p:nvSpPr>
        <p:spPr>
          <a:xfrm>
            <a:off x="3761039" y="5531624"/>
            <a:ext cx="314325" cy="285750"/>
          </a:xfrm>
          <a:prstGeom prst="ellipse">
            <a:avLst/>
          </a:prstGeom>
          <a:solidFill>
            <a:schemeClr val="l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2"/>
                </a:solidFill>
                <a:latin typeface="Arial"/>
                <a:ea typeface="Arial"/>
                <a:cs typeface="Arial"/>
                <a:sym typeface="Arial"/>
              </a:rPr>
              <a:t>5</a:t>
            </a:r>
            <a:endParaRPr sz="1400" b="0" i="0" u="none" strike="noStrike" cap="none">
              <a:solidFill>
                <a:schemeClr val="dk2"/>
              </a:solidFill>
              <a:latin typeface="Arial"/>
              <a:ea typeface="Arial"/>
              <a:cs typeface="Arial"/>
              <a:sym typeface="Arial"/>
            </a:endParaRPr>
          </a:p>
        </p:txBody>
      </p:sp>
      <p:sp>
        <p:nvSpPr>
          <p:cNvPr id="1290" name="Google Shape;1290;p17"/>
          <p:cNvSpPr/>
          <p:nvPr/>
        </p:nvSpPr>
        <p:spPr>
          <a:xfrm>
            <a:off x="6276137" y="1436235"/>
            <a:ext cx="314325" cy="285750"/>
          </a:xfrm>
          <a:prstGeom prst="ellipse">
            <a:avLst/>
          </a:prstGeom>
          <a:solidFill>
            <a:schemeClr val="l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2"/>
                </a:solidFill>
                <a:latin typeface="Arial"/>
                <a:ea typeface="Arial"/>
                <a:cs typeface="Arial"/>
                <a:sym typeface="Arial"/>
              </a:rPr>
              <a:t>1</a:t>
            </a:r>
            <a:endParaRPr sz="1400" b="0" i="0" u="none" strike="noStrike" cap="none">
              <a:solidFill>
                <a:schemeClr val="dk2"/>
              </a:solidFill>
              <a:latin typeface="Arial"/>
              <a:ea typeface="Arial"/>
              <a:cs typeface="Arial"/>
              <a:sym typeface="Arial"/>
            </a:endParaRPr>
          </a:p>
        </p:txBody>
      </p:sp>
      <p:sp>
        <p:nvSpPr>
          <p:cNvPr id="1291" name="Google Shape;1291;p17"/>
          <p:cNvSpPr txBox="1"/>
          <p:nvPr/>
        </p:nvSpPr>
        <p:spPr>
          <a:xfrm>
            <a:off x="401406" y="4866095"/>
            <a:ext cx="2909591" cy="1120307"/>
          </a:xfrm>
          <a:prstGeom prst="rect">
            <a:avLst/>
          </a:prstGeom>
          <a:noFill/>
          <a:ln>
            <a:noFill/>
          </a:ln>
        </p:spPr>
        <p:txBody>
          <a:bodyPr spcFirstLastPara="1" wrap="square" lIns="0" tIns="0" rIns="0" bIns="0" anchor="t" anchorCtr="0">
            <a:spAutoFit/>
          </a:bodyPr>
          <a:lstStyle/>
          <a:p>
            <a:pPr lvl="1">
              <a:lnSpc>
                <a:spcPct val="130000"/>
              </a:lnSpc>
              <a:buClr>
                <a:schemeClr val="dk2"/>
              </a:buClr>
              <a:buSzPts val="1400"/>
            </a:pPr>
            <a:r>
              <a:rPr lang="en-US" b="0" i="0" u="none" strike="noStrike" cap="none" dirty="0">
                <a:solidFill>
                  <a:srgbClr val="53565A"/>
                </a:solidFill>
                <a:latin typeface="Arial"/>
                <a:ea typeface="Arial"/>
                <a:cs typeface="Arial"/>
                <a:sym typeface="Arial"/>
              </a:rPr>
              <a:t>Delivers Complete Operational Transparency of Cost, Operations and Compliance to both </a:t>
            </a:r>
            <a:r>
              <a:rPr lang="en-US" b="1" i="0" u="none" strike="noStrike" cap="none" dirty="0">
                <a:solidFill>
                  <a:srgbClr val="53565A"/>
                </a:solidFill>
                <a:latin typeface="Arial"/>
                <a:ea typeface="Arial"/>
                <a:cs typeface="Arial"/>
                <a:sym typeface="Arial"/>
              </a:rPr>
              <a:t>IaaS Approver</a:t>
            </a:r>
            <a:r>
              <a:rPr lang="en-US" b="0" i="0" u="none" strike="noStrike" cap="none" dirty="0">
                <a:solidFill>
                  <a:srgbClr val="53565A"/>
                </a:solidFill>
                <a:latin typeface="Arial"/>
                <a:ea typeface="Arial"/>
                <a:cs typeface="Arial"/>
                <a:sym typeface="Arial"/>
              </a:rPr>
              <a:t> and</a:t>
            </a:r>
            <a:r>
              <a:rPr lang="en-US" b="0" i="0" u="none" strike="noStrike" cap="none" dirty="0">
                <a:solidFill>
                  <a:schemeClr val="lt2"/>
                </a:solidFill>
                <a:latin typeface="Arial"/>
                <a:ea typeface="Arial"/>
                <a:cs typeface="Arial"/>
                <a:sym typeface="Arial"/>
              </a:rPr>
              <a:t> </a:t>
            </a:r>
            <a:r>
              <a:rPr lang="en-US" b="1" i="0" u="none" strike="noStrike" cap="none" dirty="0">
                <a:solidFill>
                  <a:schemeClr val="accent4"/>
                </a:solidFill>
                <a:latin typeface="Arial"/>
                <a:ea typeface="Arial"/>
                <a:cs typeface="Arial"/>
                <a:sym typeface="Arial"/>
              </a:rPr>
              <a:t>IaaS Administrators</a:t>
            </a:r>
            <a:r>
              <a:rPr lang="en-US" sz="1200" b="0" i="0" u="none" strike="noStrike" cap="none" dirty="0">
                <a:solidFill>
                  <a:schemeClr val="lt2"/>
                </a:solidFill>
                <a:latin typeface="Arial"/>
                <a:ea typeface="Arial"/>
                <a:cs typeface="Arial"/>
                <a:sym typeface="Arial"/>
              </a:rPr>
              <a:t>.</a:t>
            </a:r>
            <a:endParaRPr b="0" i="0" u="none" strike="noStrike" cap="none" dirty="0">
              <a:solidFill>
                <a:schemeClr val="lt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95"/>
        <p:cNvGrpSpPr/>
        <p:nvPr/>
      </p:nvGrpSpPr>
      <p:grpSpPr>
        <a:xfrm>
          <a:off x="0" y="0"/>
          <a:ext cx="0" cy="0"/>
          <a:chOff x="0" y="0"/>
          <a:chExt cx="0" cy="0"/>
        </a:xfrm>
      </p:grpSpPr>
      <p:sp>
        <p:nvSpPr>
          <p:cNvPr id="2" name="Title 1">
            <a:extLst>
              <a:ext uri="{FF2B5EF4-FFF2-40B4-BE49-F238E27FC236}">
                <a16:creationId xmlns:a16="http://schemas.microsoft.com/office/drawing/2014/main" id="{7CB5A6E0-BB26-CD2D-2FE2-0BB96065DFC1}"/>
              </a:ext>
            </a:extLst>
          </p:cNvPr>
          <p:cNvSpPr>
            <a:spLocks noGrp="1"/>
          </p:cNvSpPr>
          <p:nvPr>
            <p:ph type="title"/>
          </p:nvPr>
        </p:nvSpPr>
        <p:spPr>
          <a:xfrm>
            <a:off x="589107" y="938794"/>
            <a:ext cx="6838235" cy="1229360"/>
          </a:xfrm>
        </p:spPr>
        <p:txBody>
          <a:bodyPr/>
          <a:lstStyle/>
          <a:p>
            <a:r>
              <a:rPr lang="en-US" dirty="0"/>
              <a:t>VMware Pro Cloud Services for Private Cloud</a:t>
            </a:r>
          </a:p>
        </p:txBody>
      </p:sp>
      <p:sp>
        <p:nvSpPr>
          <p:cNvPr id="1296" name="Google Shape;1296;p123"/>
          <p:cNvSpPr txBox="1">
            <a:spLocks noGrp="1"/>
          </p:cNvSpPr>
          <p:nvPr>
            <p:ph type="subTitle" idx="10"/>
          </p:nvPr>
        </p:nvSpPr>
        <p:spPr>
          <a:xfrm>
            <a:off x="602966" y="2267711"/>
            <a:ext cx="6408402" cy="872304"/>
          </a:xfrm>
          <a:prstGeom prst="rect">
            <a:avLst/>
          </a:prstGeom>
          <a:noFill/>
          <a:ln>
            <a:noFill/>
          </a:ln>
        </p:spPr>
        <p:txBody>
          <a:bodyPr spcFirstLastPara="1" wrap="square" lIns="0" tIns="0" rIns="0" bIns="0" anchor="b" anchorCtr="0">
            <a:normAutofit fontScale="92500" lnSpcReduction="20000"/>
          </a:bodyPr>
          <a:lstStyle/>
          <a:p>
            <a:pPr marL="0" marR="0" lvl="0" indent="0" algn="l" rtl="0">
              <a:lnSpc>
                <a:spcPct val="85000"/>
              </a:lnSpc>
              <a:spcBef>
                <a:spcPts val="1200"/>
              </a:spcBef>
              <a:spcAft>
                <a:spcPts val="0"/>
              </a:spcAft>
              <a:buClr>
                <a:schemeClr val="dk2"/>
              </a:buClr>
              <a:buSzPts val="3100"/>
              <a:buFont typeface="Arial"/>
              <a:buNone/>
            </a:pPr>
            <a:r>
              <a:rPr lang="en-US" dirty="0">
                <a:solidFill>
                  <a:schemeClr val="dk2"/>
                </a:solidFill>
              </a:rPr>
              <a:t>VMware Cloud Foundation</a:t>
            </a:r>
            <a:br>
              <a:rPr lang="en-US" dirty="0">
                <a:solidFill>
                  <a:schemeClr val="dk2"/>
                </a:solidFill>
              </a:rPr>
            </a:br>
            <a:r>
              <a:rPr lang="en-US" dirty="0">
                <a:solidFill>
                  <a:schemeClr val="dk2"/>
                </a:solidFill>
              </a:rPr>
              <a:t> </a:t>
            </a:r>
            <a:br>
              <a:rPr lang="en-US" dirty="0">
                <a:solidFill>
                  <a:schemeClr val="dk2"/>
                </a:solidFill>
              </a:rPr>
            </a:br>
            <a:r>
              <a:rPr lang="en-US" dirty="0">
                <a:solidFill>
                  <a:schemeClr val="dk2"/>
                </a:solidFill>
              </a:rPr>
              <a:t>Logical Architecture Patterns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00"/>
        <p:cNvGrpSpPr/>
        <p:nvPr/>
      </p:nvGrpSpPr>
      <p:grpSpPr>
        <a:xfrm>
          <a:off x="0" y="0"/>
          <a:ext cx="0" cy="0"/>
          <a:chOff x="0" y="0"/>
          <a:chExt cx="0" cy="0"/>
        </a:xfrm>
      </p:grpSpPr>
      <p:sp>
        <p:nvSpPr>
          <p:cNvPr id="1301" name="Google Shape;1301;p19"/>
          <p:cNvSpPr/>
          <p:nvPr/>
        </p:nvSpPr>
        <p:spPr>
          <a:xfrm>
            <a:off x="0" y="4531027"/>
            <a:ext cx="12188825" cy="1442367"/>
          </a:xfrm>
          <a:prstGeom prst="rect">
            <a:avLst/>
          </a:prstGeom>
          <a:gradFill>
            <a:gsLst>
              <a:gs pos="0">
                <a:srgbClr val="F4F8FA"/>
              </a:gs>
              <a:gs pos="55000">
                <a:srgbClr val="F4F8FA"/>
              </a:gs>
              <a:gs pos="100000">
                <a:srgbClr val="F4F8FA">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302" name="Google Shape;1302;p19"/>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Scale-Aligned Implementation(s)</a:t>
            </a:r>
          </a:p>
        </p:txBody>
      </p:sp>
      <p:pic>
        <p:nvPicPr>
          <p:cNvPr id="1303" name="Google Shape;1303;p19"/>
          <p:cNvPicPr preferRelativeResize="0"/>
          <p:nvPr/>
        </p:nvPicPr>
        <p:blipFill rotWithShape="1">
          <a:blip r:embed="rId3">
            <a:alphaModFix/>
          </a:blip>
          <a:srcRect/>
          <a:stretch/>
        </p:blipFill>
        <p:spPr>
          <a:xfrm>
            <a:off x="513506" y="1745327"/>
            <a:ext cx="3228773" cy="2565874"/>
          </a:xfrm>
          <a:prstGeom prst="rect">
            <a:avLst/>
          </a:prstGeom>
          <a:noFill/>
          <a:ln>
            <a:noFill/>
          </a:ln>
        </p:spPr>
      </p:pic>
      <p:sp>
        <p:nvSpPr>
          <p:cNvPr id="1304" name="Google Shape;1304;p19"/>
          <p:cNvSpPr/>
          <p:nvPr/>
        </p:nvSpPr>
        <p:spPr>
          <a:xfrm>
            <a:off x="513505" y="4601224"/>
            <a:ext cx="3228774" cy="1301973"/>
          </a:xfrm>
          <a:prstGeom prst="rect">
            <a:avLst/>
          </a:prstGeom>
          <a:noFill/>
          <a:ln>
            <a:noFill/>
          </a:ln>
        </p:spPr>
        <p:txBody>
          <a:bodyPr spcFirstLastPara="1" wrap="square" lIns="274300" tIns="274300" rIns="274300" bIns="18287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accent1"/>
                </a:solidFill>
                <a:latin typeface="Arial"/>
                <a:ea typeface="Arial"/>
                <a:cs typeface="Arial"/>
                <a:sym typeface="Arial"/>
              </a:rPr>
              <a:t>Prescriptive Reference Architecture</a:t>
            </a:r>
            <a:endParaRPr sz="1400" b="0" i="0" u="none" strike="noStrike" cap="none" dirty="0">
              <a:solidFill>
                <a:schemeClr val="accen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r>
              <a:rPr lang="en-US" sz="1200" b="0" i="0" u="none" strike="noStrike" cap="none" dirty="0">
                <a:solidFill>
                  <a:srgbClr val="53565A"/>
                </a:solidFill>
                <a:latin typeface="Arial"/>
                <a:ea typeface="Arial"/>
                <a:cs typeface="Arial"/>
                <a:sym typeface="Arial"/>
              </a:rPr>
              <a:t>Built from our breadth of customer deployments and best practices</a:t>
            </a:r>
            <a:endParaRPr sz="1400" b="0" i="0" u="none" strike="noStrike" cap="none" dirty="0">
              <a:solidFill>
                <a:srgbClr val="53565A"/>
              </a:solidFill>
              <a:latin typeface="Arial"/>
              <a:ea typeface="Arial"/>
              <a:cs typeface="Arial"/>
              <a:sym typeface="Arial"/>
            </a:endParaRPr>
          </a:p>
        </p:txBody>
      </p:sp>
      <p:sp>
        <p:nvSpPr>
          <p:cNvPr id="1305" name="Google Shape;1305;p19"/>
          <p:cNvSpPr/>
          <p:nvPr/>
        </p:nvSpPr>
        <p:spPr>
          <a:xfrm>
            <a:off x="5945187" y="4758838"/>
            <a:ext cx="5784551" cy="986745"/>
          </a:xfrm>
          <a:prstGeom prst="rect">
            <a:avLst/>
          </a:prstGeom>
          <a:noFill/>
          <a:ln>
            <a:noFill/>
          </a:ln>
        </p:spPr>
        <p:txBody>
          <a:bodyPr spcFirstLastPara="1" wrap="square" lIns="182875" tIns="45700" rIns="64007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accent1"/>
                </a:solidFill>
                <a:latin typeface="Arial"/>
                <a:ea typeface="Arial"/>
                <a:cs typeface="Arial"/>
                <a:sym typeface="Arial"/>
              </a:rPr>
              <a:t>Flexible Delivery Model</a:t>
            </a:r>
            <a:endParaRPr sz="1400" b="0" i="0" u="none" strike="noStrike" cap="none" dirty="0">
              <a:solidFill>
                <a:schemeClr val="accent1"/>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400"/>
              <a:buFont typeface="Arial"/>
              <a:buNone/>
            </a:pPr>
            <a:r>
              <a:rPr lang="en-US" sz="1400" b="0" i="0" u="none" strike="noStrike" cap="none" dirty="0">
                <a:solidFill>
                  <a:srgbClr val="53565A"/>
                </a:solidFill>
                <a:latin typeface="Arial"/>
                <a:ea typeface="Arial"/>
                <a:cs typeface="Arial"/>
                <a:sym typeface="Arial"/>
              </a:rPr>
              <a:t>Combines a prescriptive approach with flexibility to adapt to your deployment needs.  Seamlessly transition FSA/FSD to PSO deployment teams for rapid deployment.</a:t>
            </a:r>
            <a:endParaRPr sz="1400" b="0" i="0" u="none" strike="noStrike" cap="none" dirty="0">
              <a:solidFill>
                <a:srgbClr val="53565A"/>
              </a:solidFill>
              <a:latin typeface="Arial"/>
              <a:ea typeface="Arial"/>
              <a:cs typeface="Arial"/>
              <a:sym typeface="Arial"/>
            </a:endParaRPr>
          </a:p>
        </p:txBody>
      </p:sp>
      <p:grpSp>
        <p:nvGrpSpPr>
          <p:cNvPr id="1306" name="Google Shape;1306;p19" descr="Roadmap&#10;"/>
          <p:cNvGrpSpPr/>
          <p:nvPr/>
        </p:nvGrpSpPr>
        <p:grpSpPr>
          <a:xfrm>
            <a:off x="4255784" y="4779754"/>
            <a:ext cx="935845" cy="944914"/>
            <a:chOff x="3169302" y="3187004"/>
            <a:chExt cx="587555" cy="593248"/>
          </a:xfrm>
        </p:grpSpPr>
        <p:grpSp>
          <p:nvGrpSpPr>
            <p:cNvPr id="1307" name="Google Shape;1307;p19"/>
            <p:cNvGrpSpPr/>
            <p:nvPr/>
          </p:nvGrpSpPr>
          <p:grpSpPr>
            <a:xfrm>
              <a:off x="3295162" y="3369153"/>
              <a:ext cx="461695" cy="411099"/>
              <a:chOff x="3295162" y="3369153"/>
              <a:chExt cx="461695" cy="411099"/>
            </a:xfrm>
          </p:grpSpPr>
          <p:sp>
            <p:nvSpPr>
              <p:cNvPr id="1308" name="Google Shape;1308;p19"/>
              <p:cNvSpPr/>
              <p:nvPr/>
            </p:nvSpPr>
            <p:spPr>
              <a:xfrm>
                <a:off x="3572179" y="3369153"/>
                <a:ext cx="7589" cy="15811"/>
              </a:xfrm>
              <a:custGeom>
                <a:avLst/>
                <a:gdLst/>
                <a:ahLst/>
                <a:cxnLst/>
                <a:rect l="l" t="t" r="r" b="b"/>
                <a:pathLst>
                  <a:path w="7589" h="15811" extrusionOk="0">
                    <a:moveTo>
                      <a:pt x="0" y="0"/>
                    </a:moveTo>
                    <a:lnTo>
                      <a:pt x="7590" y="0"/>
                    </a:lnTo>
                    <a:lnTo>
                      <a:pt x="7590" y="15812"/>
                    </a:lnTo>
                    <a:lnTo>
                      <a:pt x="0" y="1581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sp>
            <p:nvSpPr>
              <p:cNvPr id="1309" name="Google Shape;1309;p19"/>
              <p:cNvSpPr/>
              <p:nvPr/>
            </p:nvSpPr>
            <p:spPr>
              <a:xfrm>
                <a:off x="3319828" y="3369153"/>
                <a:ext cx="437029" cy="411099"/>
              </a:xfrm>
              <a:custGeom>
                <a:avLst/>
                <a:gdLst/>
                <a:ahLst/>
                <a:cxnLst/>
                <a:rect l="l" t="t" r="r" b="b"/>
                <a:pathLst>
                  <a:path w="437029" h="411099" extrusionOk="0">
                    <a:moveTo>
                      <a:pt x="386433" y="411099"/>
                    </a:moveTo>
                    <a:cubicBezTo>
                      <a:pt x="386433" y="411099"/>
                      <a:pt x="386433" y="411099"/>
                      <a:pt x="386433" y="411099"/>
                    </a:cubicBezTo>
                    <a:lnTo>
                      <a:pt x="379476" y="411099"/>
                    </a:lnTo>
                    <a:lnTo>
                      <a:pt x="379476" y="395288"/>
                    </a:lnTo>
                    <a:lnTo>
                      <a:pt x="386433" y="395288"/>
                    </a:lnTo>
                    <a:cubicBezTo>
                      <a:pt x="386433" y="395288"/>
                      <a:pt x="386433" y="395288"/>
                      <a:pt x="386433" y="395288"/>
                    </a:cubicBezTo>
                    <a:cubicBezTo>
                      <a:pt x="388963" y="395288"/>
                      <a:pt x="390860" y="395288"/>
                      <a:pt x="393390" y="394655"/>
                    </a:cubicBezTo>
                    <a:lnTo>
                      <a:pt x="396552" y="409834"/>
                    </a:lnTo>
                    <a:cubicBezTo>
                      <a:pt x="393390" y="410467"/>
                      <a:pt x="390228" y="411099"/>
                      <a:pt x="386433" y="411099"/>
                    </a:cubicBezTo>
                    <a:close/>
                    <a:moveTo>
                      <a:pt x="363665" y="411099"/>
                    </a:moveTo>
                    <a:lnTo>
                      <a:pt x="347853" y="411099"/>
                    </a:lnTo>
                    <a:lnTo>
                      <a:pt x="347853" y="395288"/>
                    </a:lnTo>
                    <a:lnTo>
                      <a:pt x="363665" y="395288"/>
                    </a:lnTo>
                    <a:lnTo>
                      <a:pt x="363665" y="411099"/>
                    </a:lnTo>
                    <a:close/>
                    <a:moveTo>
                      <a:pt x="332042" y="411099"/>
                    </a:moveTo>
                    <a:lnTo>
                      <a:pt x="316230" y="411099"/>
                    </a:lnTo>
                    <a:lnTo>
                      <a:pt x="316230" y="395288"/>
                    </a:lnTo>
                    <a:lnTo>
                      <a:pt x="332042" y="395288"/>
                    </a:lnTo>
                    <a:lnTo>
                      <a:pt x="332042" y="411099"/>
                    </a:lnTo>
                    <a:close/>
                    <a:moveTo>
                      <a:pt x="300419" y="411099"/>
                    </a:moveTo>
                    <a:lnTo>
                      <a:pt x="284607" y="411099"/>
                    </a:lnTo>
                    <a:lnTo>
                      <a:pt x="284607" y="395288"/>
                    </a:lnTo>
                    <a:lnTo>
                      <a:pt x="300419" y="395288"/>
                    </a:lnTo>
                    <a:lnTo>
                      <a:pt x="300419" y="411099"/>
                    </a:lnTo>
                    <a:close/>
                    <a:moveTo>
                      <a:pt x="268796" y="411099"/>
                    </a:moveTo>
                    <a:lnTo>
                      <a:pt x="252984" y="411099"/>
                    </a:lnTo>
                    <a:lnTo>
                      <a:pt x="252984" y="395288"/>
                    </a:lnTo>
                    <a:lnTo>
                      <a:pt x="268796" y="395288"/>
                    </a:lnTo>
                    <a:lnTo>
                      <a:pt x="268796" y="411099"/>
                    </a:lnTo>
                    <a:close/>
                    <a:moveTo>
                      <a:pt x="237173" y="411099"/>
                    </a:moveTo>
                    <a:lnTo>
                      <a:pt x="221361" y="411099"/>
                    </a:lnTo>
                    <a:lnTo>
                      <a:pt x="221361" y="395288"/>
                    </a:lnTo>
                    <a:lnTo>
                      <a:pt x="237173" y="395288"/>
                    </a:lnTo>
                    <a:lnTo>
                      <a:pt x="237173" y="411099"/>
                    </a:lnTo>
                    <a:close/>
                    <a:moveTo>
                      <a:pt x="205550" y="411099"/>
                    </a:moveTo>
                    <a:lnTo>
                      <a:pt x="189738" y="411099"/>
                    </a:lnTo>
                    <a:lnTo>
                      <a:pt x="189738" y="395288"/>
                    </a:lnTo>
                    <a:lnTo>
                      <a:pt x="205550" y="395288"/>
                    </a:lnTo>
                    <a:lnTo>
                      <a:pt x="205550" y="411099"/>
                    </a:lnTo>
                    <a:close/>
                    <a:moveTo>
                      <a:pt x="173927" y="411099"/>
                    </a:moveTo>
                    <a:lnTo>
                      <a:pt x="158115" y="411099"/>
                    </a:lnTo>
                    <a:lnTo>
                      <a:pt x="158115" y="395288"/>
                    </a:lnTo>
                    <a:lnTo>
                      <a:pt x="173927" y="395288"/>
                    </a:lnTo>
                    <a:lnTo>
                      <a:pt x="173927" y="411099"/>
                    </a:lnTo>
                    <a:close/>
                    <a:moveTo>
                      <a:pt x="142304" y="411099"/>
                    </a:moveTo>
                    <a:lnTo>
                      <a:pt x="126492" y="411099"/>
                    </a:lnTo>
                    <a:lnTo>
                      <a:pt x="126492" y="395288"/>
                    </a:lnTo>
                    <a:lnTo>
                      <a:pt x="142304" y="395288"/>
                    </a:lnTo>
                    <a:lnTo>
                      <a:pt x="142304" y="411099"/>
                    </a:lnTo>
                    <a:close/>
                    <a:moveTo>
                      <a:pt x="110681" y="411099"/>
                    </a:moveTo>
                    <a:lnTo>
                      <a:pt x="94869" y="411099"/>
                    </a:lnTo>
                    <a:lnTo>
                      <a:pt x="94869" y="395288"/>
                    </a:lnTo>
                    <a:lnTo>
                      <a:pt x="110681" y="395288"/>
                    </a:lnTo>
                    <a:lnTo>
                      <a:pt x="110681" y="411099"/>
                    </a:lnTo>
                    <a:close/>
                    <a:moveTo>
                      <a:pt x="79058" y="411099"/>
                    </a:moveTo>
                    <a:lnTo>
                      <a:pt x="63246" y="411099"/>
                    </a:lnTo>
                    <a:lnTo>
                      <a:pt x="63246" y="395288"/>
                    </a:lnTo>
                    <a:lnTo>
                      <a:pt x="79058" y="395288"/>
                    </a:lnTo>
                    <a:lnTo>
                      <a:pt x="79058" y="411099"/>
                    </a:lnTo>
                    <a:close/>
                    <a:moveTo>
                      <a:pt x="47435" y="411099"/>
                    </a:moveTo>
                    <a:lnTo>
                      <a:pt x="31623" y="411099"/>
                    </a:lnTo>
                    <a:lnTo>
                      <a:pt x="31623" y="395288"/>
                    </a:lnTo>
                    <a:lnTo>
                      <a:pt x="47435" y="395288"/>
                    </a:lnTo>
                    <a:lnTo>
                      <a:pt x="47435" y="411099"/>
                    </a:lnTo>
                    <a:close/>
                    <a:moveTo>
                      <a:pt x="15812" y="411099"/>
                    </a:moveTo>
                    <a:lnTo>
                      <a:pt x="0" y="411099"/>
                    </a:lnTo>
                    <a:lnTo>
                      <a:pt x="0" y="395288"/>
                    </a:lnTo>
                    <a:lnTo>
                      <a:pt x="15812" y="395288"/>
                    </a:lnTo>
                    <a:lnTo>
                      <a:pt x="15812" y="411099"/>
                    </a:lnTo>
                    <a:close/>
                    <a:moveTo>
                      <a:pt x="414261" y="402245"/>
                    </a:moveTo>
                    <a:lnTo>
                      <a:pt x="405407" y="388963"/>
                    </a:lnTo>
                    <a:cubicBezTo>
                      <a:pt x="409202" y="386433"/>
                      <a:pt x="412364" y="383271"/>
                      <a:pt x="414894" y="380108"/>
                    </a:cubicBezTo>
                    <a:lnTo>
                      <a:pt x="427543" y="388963"/>
                    </a:lnTo>
                    <a:cubicBezTo>
                      <a:pt x="423748" y="394655"/>
                      <a:pt x="419321" y="399082"/>
                      <a:pt x="414261" y="402245"/>
                    </a:cubicBezTo>
                    <a:close/>
                    <a:moveTo>
                      <a:pt x="435133" y="372519"/>
                    </a:moveTo>
                    <a:lnTo>
                      <a:pt x="419953" y="368092"/>
                    </a:lnTo>
                    <a:cubicBezTo>
                      <a:pt x="420586" y="364929"/>
                      <a:pt x="421218" y="361135"/>
                      <a:pt x="421218" y="357972"/>
                    </a:cubicBezTo>
                    <a:lnTo>
                      <a:pt x="421218" y="354810"/>
                    </a:lnTo>
                    <a:lnTo>
                      <a:pt x="437030" y="354810"/>
                    </a:lnTo>
                    <a:lnTo>
                      <a:pt x="437030" y="357972"/>
                    </a:lnTo>
                    <a:cubicBezTo>
                      <a:pt x="437030" y="363032"/>
                      <a:pt x="436397" y="368092"/>
                      <a:pt x="435133" y="372519"/>
                    </a:cubicBezTo>
                    <a:close/>
                    <a:moveTo>
                      <a:pt x="421218" y="340263"/>
                    </a:moveTo>
                    <a:cubicBezTo>
                      <a:pt x="420586" y="335836"/>
                      <a:pt x="419321" y="331409"/>
                      <a:pt x="417424" y="327614"/>
                    </a:cubicBezTo>
                    <a:lnTo>
                      <a:pt x="431338" y="320657"/>
                    </a:lnTo>
                    <a:cubicBezTo>
                      <a:pt x="433868" y="326349"/>
                      <a:pt x="435765" y="332042"/>
                      <a:pt x="436397" y="338366"/>
                    </a:cubicBezTo>
                    <a:lnTo>
                      <a:pt x="421218" y="340263"/>
                    </a:lnTo>
                    <a:close/>
                    <a:moveTo>
                      <a:pt x="409834" y="316862"/>
                    </a:moveTo>
                    <a:cubicBezTo>
                      <a:pt x="406672" y="313700"/>
                      <a:pt x="402877" y="311803"/>
                      <a:pt x="399082" y="309905"/>
                    </a:cubicBezTo>
                    <a:lnTo>
                      <a:pt x="404774" y="295359"/>
                    </a:lnTo>
                    <a:cubicBezTo>
                      <a:pt x="410467" y="297889"/>
                      <a:pt x="415526" y="301051"/>
                      <a:pt x="420586" y="305478"/>
                    </a:cubicBezTo>
                    <a:lnTo>
                      <a:pt x="409834" y="316862"/>
                    </a:lnTo>
                    <a:close/>
                    <a:moveTo>
                      <a:pt x="386433" y="308008"/>
                    </a:moveTo>
                    <a:lnTo>
                      <a:pt x="370622" y="308008"/>
                    </a:lnTo>
                    <a:lnTo>
                      <a:pt x="370622" y="292197"/>
                    </a:lnTo>
                    <a:lnTo>
                      <a:pt x="386433" y="292197"/>
                    </a:lnTo>
                    <a:lnTo>
                      <a:pt x="386433" y="308008"/>
                    </a:lnTo>
                    <a:close/>
                    <a:moveTo>
                      <a:pt x="354810" y="308008"/>
                    </a:moveTo>
                    <a:lnTo>
                      <a:pt x="338999" y="308008"/>
                    </a:lnTo>
                    <a:lnTo>
                      <a:pt x="338999" y="292197"/>
                    </a:lnTo>
                    <a:lnTo>
                      <a:pt x="354810" y="292197"/>
                    </a:lnTo>
                    <a:lnTo>
                      <a:pt x="354810" y="308008"/>
                    </a:lnTo>
                    <a:close/>
                    <a:moveTo>
                      <a:pt x="323187" y="308008"/>
                    </a:moveTo>
                    <a:lnTo>
                      <a:pt x="307376" y="308008"/>
                    </a:lnTo>
                    <a:lnTo>
                      <a:pt x="307376" y="292197"/>
                    </a:lnTo>
                    <a:lnTo>
                      <a:pt x="323187" y="292197"/>
                    </a:lnTo>
                    <a:lnTo>
                      <a:pt x="323187" y="308008"/>
                    </a:lnTo>
                    <a:close/>
                    <a:moveTo>
                      <a:pt x="291564" y="308008"/>
                    </a:moveTo>
                    <a:lnTo>
                      <a:pt x="275753" y="308008"/>
                    </a:lnTo>
                    <a:lnTo>
                      <a:pt x="275753" y="292197"/>
                    </a:lnTo>
                    <a:lnTo>
                      <a:pt x="291564" y="292197"/>
                    </a:lnTo>
                    <a:lnTo>
                      <a:pt x="291564" y="308008"/>
                    </a:lnTo>
                    <a:close/>
                    <a:moveTo>
                      <a:pt x="259941" y="308008"/>
                    </a:moveTo>
                    <a:lnTo>
                      <a:pt x="244130" y="308008"/>
                    </a:lnTo>
                    <a:lnTo>
                      <a:pt x="244130" y="292197"/>
                    </a:lnTo>
                    <a:lnTo>
                      <a:pt x="259941" y="292197"/>
                    </a:lnTo>
                    <a:lnTo>
                      <a:pt x="259941" y="308008"/>
                    </a:lnTo>
                    <a:close/>
                    <a:moveTo>
                      <a:pt x="228318" y="308008"/>
                    </a:moveTo>
                    <a:lnTo>
                      <a:pt x="212507" y="308008"/>
                    </a:lnTo>
                    <a:lnTo>
                      <a:pt x="212507" y="292197"/>
                    </a:lnTo>
                    <a:lnTo>
                      <a:pt x="228318" y="292197"/>
                    </a:lnTo>
                    <a:lnTo>
                      <a:pt x="228318" y="308008"/>
                    </a:lnTo>
                    <a:close/>
                    <a:moveTo>
                      <a:pt x="196695" y="308008"/>
                    </a:moveTo>
                    <a:lnTo>
                      <a:pt x="180884" y="308008"/>
                    </a:lnTo>
                    <a:lnTo>
                      <a:pt x="180884" y="292197"/>
                    </a:lnTo>
                    <a:lnTo>
                      <a:pt x="196695" y="292197"/>
                    </a:lnTo>
                    <a:lnTo>
                      <a:pt x="196695" y="308008"/>
                    </a:lnTo>
                    <a:close/>
                    <a:moveTo>
                      <a:pt x="165072" y="307376"/>
                    </a:moveTo>
                    <a:cubicBezTo>
                      <a:pt x="158747" y="306743"/>
                      <a:pt x="152423" y="305478"/>
                      <a:pt x="146731" y="302948"/>
                    </a:cubicBezTo>
                    <a:lnTo>
                      <a:pt x="153688" y="288402"/>
                    </a:lnTo>
                    <a:cubicBezTo>
                      <a:pt x="157483" y="290299"/>
                      <a:pt x="161910" y="291564"/>
                      <a:pt x="165705" y="291564"/>
                    </a:cubicBezTo>
                    <a:lnTo>
                      <a:pt x="165072" y="307376"/>
                    </a:lnTo>
                    <a:close/>
                    <a:moveTo>
                      <a:pt x="131552" y="292197"/>
                    </a:moveTo>
                    <a:cubicBezTo>
                      <a:pt x="127124" y="287769"/>
                      <a:pt x="123962" y="282710"/>
                      <a:pt x="121432" y="277017"/>
                    </a:cubicBezTo>
                    <a:lnTo>
                      <a:pt x="135979" y="270693"/>
                    </a:lnTo>
                    <a:cubicBezTo>
                      <a:pt x="137876" y="274488"/>
                      <a:pt x="140406" y="278282"/>
                      <a:pt x="142936" y="281445"/>
                    </a:cubicBezTo>
                    <a:lnTo>
                      <a:pt x="131552" y="292197"/>
                    </a:lnTo>
                    <a:close/>
                    <a:moveTo>
                      <a:pt x="117005" y="258676"/>
                    </a:moveTo>
                    <a:cubicBezTo>
                      <a:pt x="117005" y="257411"/>
                      <a:pt x="117005" y="256146"/>
                      <a:pt x="117005" y="254881"/>
                    </a:cubicBezTo>
                    <a:lnTo>
                      <a:pt x="117005" y="247924"/>
                    </a:lnTo>
                    <a:cubicBezTo>
                      <a:pt x="117005" y="245394"/>
                      <a:pt x="117005" y="243497"/>
                      <a:pt x="117638" y="241600"/>
                    </a:cubicBezTo>
                    <a:lnTo>
                      <a:pt x="133449" y="243497"/>
                    </a:lnTo>
                    <a:cubicBezTo>
                      <a:pt x="133449" y="244762"/>
                      <a:pt x="133449" y="246659"/>
                      <a:pt x="133449" y="247924"/>
                    </a:cubicBezTo>
                    <a:lnTo>
                      <a:pt x="133449" y="254881"/>
                    </a:lnTo>
                    <a:cubicBezTo>
                      <a:pt x="133449" y="255514"/>
                      <a:pt x="133449" y="256779"/>
                      <a:pt x="133449" y="257411"/>
                    </a:cubicBezTo>
                    <a:lnTo>
                      <a:pt x="117005" y="258676"/>
                    </a:lnTo>
                    <a:close/>
                    <a:moveTo>
                      <a:pt x="137244" y="230848"/>
                    </a:moveTo>
                    <a:lnTo>
                      <a:pt x="123330" y="223891"/>
                    </a:lnTo>
                    <a:cubicBezTo>
                      <a:pt x="125860" y="218199"/>
                      <a:pt x="129654" y="213139"/>
                      <a:pt x="134714" y="209344"/>
                    </a:cubicBezTo>
                    <a:lnTo>
                      <a:pt x="145466" y="220729"/>
                    </a:lnTo>
                    <a:cubicBezTo>
                      <a:pt x="141671" y="223258"/>
                      <a:pt x="139141" y="227053"/>
                      <a:pt x="137244" y="230848"/>
                    </a:cubicBezTo>
                    <a:close/>
                    <a:moveTo>
                      <a:pt x="155585" y="213771"/>
                    </a:moveTo>
                    <a:lnTo>
                      <a:pt x="149893" y="199225"/>
                    </a:lnTo>
                    <a:cubicBezTo>
                      <a:pt x="155585" y="196695"/>
                      <a:pt x="161910" y="196063"/>
                      <a:pt x="168234" y="196063"/>
                    </a:cubicBezTo>
                    <a:lnTo>
                      <a:pt x="168234" y="211874"/>
                    </a:lnTo>
                    <a:lnTo>
                      <a:pt x="168234" y="211874"/>
                    </a:lnTo>
                    <a:cubicBezTo>
                      <a:pt x="163807" y="211242"/>
                      <a:pt x="159380" y="211874"/>
                      <a:pt x="155585" y="213771"/>
                    </a:cubicBezTo>
                    <a:close/>
                    <a:moveTo>
                      <a:pt x="343426" y="211242"/>
                    </a:moveTo>
                    <a:lnTo>
                      <a:pt x="342161" y="211242"/>
                    </a:lnTo>
                    <a:lnTo>
                      <a:pt x="342161" y="195430"/>
                    </a:lnTo>
                    <a:lnTo>
                      <a:pt x="343426" y="195430"/>
                    </a:lnTo>
                    <a:cubicBezTo>
                      <a:pt x="347221" y="195430"/>
                      <a:pt x="351015" y="194798"/>
                      <a:pt x="354810" y="193533"/>
                    </a:cubicBezTo>
                    <a:lnTo>
                      <a:pt x="360502" y="208079"/>
                    </a:lnTo>
                    <a:cubicBezTo>
                      <a:pt x="354810" y="209977"/>
                      <a:pt x="349118" y="211242"/>
                      <a:pt x="343426" y="211242"/>
                    </a:cubicBezTo>
                    <a:close/>
                    <a:moveTo>
                      <a:pt x="326349" y="211242"/>
                    </a:moveTo>
                    <a:lnTo>
                      <a:pt x="310538" y="211242"/>
                    </a:lnTo>
                    <a:lnTo>
                      <a:pt x="310538" y="195430"/>
                    </a:lnTo>
                    <a:lnTo>
                      <a:pt x="326349" y="195430"/>
                    </a:lnTo>
                    <a:lnTo>
                      <a:pt x="326349" y="211242"/>
                    </a:lnTo>
                    <a:close/>
                    <a:moveTo>
                      <a:pt x="294726" y="211242"/>
                    </a:moveTo>
                    <a:lnTo>
                      <a:pt x="278915" y="211242"/>
                    </a:lnTo>
                    <a:lnTo>
                      <a:pt x="278915" y="195430"/>
                    </a:lnTo>
                    <a:lnTo>
                      <a:pt x="294726" y="195430"/>
                    </a:lnTo>
                    <a:lnTo>
                      <a:pt x="294726" y="211242"/>
                    </a:lnTo>
                    <a:close/>
                    <a:moveTo>
                      <a:pt x="263103" y="211242"/>
                    </a:moveTo>
                    <a:lnTo>
                      <a:pt x="247292" y="211242"/>
                    </a:lnTo>
                    <a:lnTo>
                      <a:pt x="247292" y="195430"/>
                    </a:lnTo>
                    <a:lnTo>
                      <a:pt x="263103" y="195430"/>
                    </a:lnTo>
                    <a:lnTo>
                      <a:pt x="263103" y="211242"/>
                    </a:lnTo>
                    <a:close/>
                    <a:moveTo>
                      <a:pt x="231480" y="211242"/>
                    </a:moveTo>
                    <a:lnTo>
                      <a:pt x="215669" y="211242"/>
                    </a:lnTo>
                    <a:lnTo>
                      <a:pt x="215669" y="195430"/>
                    </a:lnTo>
                    <a:lnTo>
                      <a:pt x="231480" y="195430"/>
                    </a:lnTo>
                    <a:lnTo>
                      <a:pt x="231480" y="211242"/>
                    </a:lnTo>
                    <a:close/>
                    <a:moveTo>
                      <a:pt x="199857" y="211242"/>
                    </a:moveTo>
                    <a:lnTo>
                      <a:pt x="184046" y="211242"/>
                    </a:lnTo>
                    <a:lnTo>
                      <a:pt x="184046" y="195430"/>
                    </a:lnTo>
                    <a:lnTo>
                      <a:pt x="199857" y="195430"/>
                    </a:lnTo>
                    <a:lnTo>
                      <a:pt x="199857" y="211242"/>
                    </a:lnTo>
                    <a:close/>
                    <a:moveTo>
                      <a:pt x="376314" y="198592"/>
                    </a:moveTo>
                    <a:lnTo>
                      <a:pt x="365562" y="187208"/>
                    </a:lnTo>
                    <a:cubicBezTo>
                      <a:pt x="368724" y="184046"/>
                      <a:pt x="371254" y="180884"/>
                      <a:pt x="373784" y="177089"/>
                    </a:cubicBezTo>
                    <a:lnTo>
                      <a:pt x="387698" y="184678"/>
                    </a:lnTo>
                    <a:cubicBezTo>
                      <a:pt x="384536" y="189738"/>
                      <a:pt x="380741" y="194798"/>
                      <a:pt x="376314" y="198592"/>
                    </a:cubicBezTo>
                    <a:close/>
                    <a:moveTo>
                      <a:pt x="393390" y="166969"/>
                    </a:moveTo>
                    <a:lnTo>
                      <a:pt x="377579" y="164440"/>
                    </a:lnTo>
                    <a:cubicBezTo>
                      <a:pt x="377579" y="162542"/>
                      <a:pt x="378211" y="160645"/>
                      <a:pt x="378211" y="158747"/>
                    </a:cubicBezTo>
                    <a:lnTo>
                      <a:pt x="378211" y="149893"/>
                    </a:lnTo>
                    <a:lnTo>
                      <a:pt x="394023" y="149893"/>
                    </a:lnTo>
                    <a:lnTo>
                      <a:pt x="394023" y="158747"/>
                    </a:lnTo>
                    <a:cubicBezTo>
                      <a:pt x="394023" y="161277"/>
                      <a:pt x="394023" y="163807"/>
                      <a:pt x="393390" y="166969"/>
                    </a:cubicBezTo>
                    <a:close/>
                    <a:moveTo>
                      <a:pt x="377579" y="135346"/>
                    </a:moveTo>
                    <a:cubicBezTo>
                      <a:pt x="376946" y="130919"/>
                      <a:pt x="375049" y="127124"/>
                      <a:pt x="373151" y="123330"/>
                    </a:cubicBezTo>
                    <a:lnTo>
                      <a:pt x="387066" y="115740"/>
                    </a:lnTo>
                    <a:cubicBezTo>
                      <a:pt x="390228" y="120800"/>
                      <a:pt x="392125" y="127124"/>
                      <a:pt x="393390" y="132817"/>
                    </a:cubicBezTo>
                    <a:lnTo>
                      <a:pt x="377579" y="135346"/>
                    </a:lnTo>
                    <a:close/>
                    <a:moveTo>
                      <a:pt x="364929" y="113210"/>
                    </a:moveTo>
                    <a:cubicBezTo>
                      <a:pt x="361767" y="110681"/>
                      <a:pt x="357972" y="108151"/>
                      <a:pt x="353545" y="106886"/>
                    </a:cubicBezTo>
                    <a:lnTo>
                      <a:pt x="358605" y="91707"/>
                    </a:lnTo>
                    <a:cubicBezTo>
                      <a:pt x="364297" y="93604"/>
                      <a:pt x="369989" y="96766"/>
                      <a:pt x="375049" y="100561"/>
                    </a:cubicBezTo>
                    <a:lnTo>
                      <a:pt x="364929" y="113210"/>
                    </a:lnTo>
                    <a:close/>
                    <a:moveTo>
                      <a:pt x="340264" y="105621"/>
                    </a:moveTo>
                    <a:lnTo>
                      <a:pt x="324452" y="105621"/>
                    </a:lnTo>
                    <a:lnTo>
                      <a:pt x="324452" y="89809"/>
                    </a:lnTo>
                    <a:lnTo>
                      <a:pt x="340264" y="89809"/>
                    </a:lnTo>
                    <a:lnTo>
                      <a:pt x="340264" y="105621"/>
                    </a:lnTo>
                    <a:close/>
                    <a:moveTo>
                      <a:pt x="308641" y="105621"/>
                    </a:moveTo>
                    <a:lnTo>
                      <a:pt x="292829" y="105621"/>
                    </a:lnTo>
                    <a:lnTo>
                      <a:pt x="292829" y="89809"/>
                    </a:lnTo>
                    <a:lnTo>
                      <a:pt x="308641" y="89809"/>
                    </a:lnTo>
                    <a:lnTo>
                      <a:pt x="308641" y="105621"/>
                    </a:lnTo>
                    <a:close/>
                    <a:moveTo>
                      <a:pt x="277018" y="105621"/>
                    </a:moveTo>
                    <a:lnTo>
                      <a:pt x="261206" y="105621"/>
                    </a:lnTo>
                    <a:lnTo>
                      <a:pt x="261206" y="89809"/>
                    </a:lnTo>
                    <a:lnTo>
                      <a:pt x="277018" y="89809"/>
                    </a:lnTo>
                    <a:lnTo>
                      <a:pt x="277018" y="105621"/>
                    </a:lnTo>
                    <a:close/>
                    <a:moveTo>
                      <a:pt x="245395" y="105621"/>
                    </a:moveTo>
                    <a:lnTo>
                      <a:pt x="229583" y="105621"/>
                    </a:lnTo>
                    <a:lnTo>
                      <a:pt x="229583" y="89809"/>
                    </a:lnTo>
                    <a:lnTo>
                      <a:pt x="245395" y="89809"/>
                    </a:lnTo>
                    <a:lnTo>
                      <a:pt x="245395" y="105621"/>
                    </a:lnTo>
                    <a:close/>
                    <a:moveTo>
                      <a:pt x="213772" y="105621"/>
                    </a:moveTo>
                    <a:lnTo>
                      <a:pt x="197960" y="105621"/>
                    </a:lnTo>
                    <a:lnTo>
                      <a:pt x="197960" y="89809"/>
                    </a:lnTo>
                    <a:lnTo>
                      <a:pt x="213772" y="89809"/>
                    </a:lnTo>
                    <a:lnTo>
                      <a:pt x="213772" y="105621"/>
                    </a:lnTo>
                    <a:close/>
                    <a:moveTo>
                      <a:pt x="182149" y="105621"/>
                    </a:moveTo>
                    <a:lnTo>
                      <a:pt x="175191" y="105621"/>
                    </a:lnTo>
                    <a:cubicBezTo>
                      <a:pt x="172029" y="105621"/>
                      <a:pt x="168234" y="104988"/>
                      <a:pt x="165072" y="104356"/>
                    </a:cubicBezTo>
                    <a:lnTo>
                      <a:pt x="168234" y="89177"/>
                    </a:lnTo>
                    <a:cubicBezTo>
                      <a:pt x="170764" y="89809"/>
                      <a:pt x="172662" y="89809"/>
                      <a:pt x="175191" y="89809"/>
                    </a:cubicBezTo>
                    <a:lnTo>
                      <a:pt x="182149" y="89809"/>
                    </a:lnTo>
                    <a:lnTo>
                      <a:pt x="182149" y="105621"/>
                    </a:lnTo>
                    <a:close/>
                    <a:moveTo>
                      <a:pt x="147996" y="96766"/>
                    </a:moveTo>
                    <a:cubicBezTo>
                      <a:pt x="142936" y="93604"/>
                      <a:pt x="138509" y="89177"/>
                      <a:pt x="134714" y="84117"/>
                    </a:cubicBezTo>
                    <a:lnTo>
                      <a:pt x="147363" y="74630"/>
                    </a:lnTo>
                    <a:cubicBezTo>
                      <a:pt x="149893" y="78425"/>
                      <a:pt x="153055" y="80955"/>
                      <a:pt x="156850" y="83485"/>
                    </a:cubicBezTo>
                    <a:lnTo>
                      <a:pt x="147996" y="96766"/>
                    </a:lnTo>
                    <a:close/>
                    <a:moveTo>
                      <a:pt x="126492" y="67673"/>
                    </a:moveTo>
                    <a:cubicBezTo>
                      <a:pt x="125227" y="63246"/>
                      <a:pt x="124595" y="58186"/>
                      <a:pt x="124595" y="53127"/>
                    </a:cubicBezTo>
                    <a:cubicBezTo>
                      <a:pt x="124595" y="51862"/>
                      <a:pt x="124595" y="50597"/>
                      <a:pt x="124595" y="49332"/>
                    </a:cubicBezTo>
                    <a:lnTo>
                      <a:pt x="140406" y="50597"/>
                    </a:lnTo>
                    <a:cubicBezTo>
                      <a:pt x="140406" y="51229"/>
                      <a:pt x="140406" y="52494"/>
                      <a:pt x="140406" y="53127"/>
                    </a:cubicBezTo>
                    <a:cubicBezTo>
                      <a:pt x="140406" y="56921"/>
                      <a:pt x="141039" y="60084"/>
                      <a:pt x="141671" y="63246"/>
                    </a:cubicBezTo>
                    <a:lnTo>
                      <a:pt x="126492" y="67673"/>
                    </a:lnTo>
                    <a:close/>
                    <a:moveTo>
                      <a:pt x="143568" y="37315"/>
                    </a:moveTo>
                    <a:lnTo>
                      <a:pt x="129022" y="30991"/>
                    </a:lnTo>
                    <a:cubicBezTo>
                      <a:pt x="131552" y="25298"/>
                      <a:pt x="134714" y="20239"/>
                      <a:pt x="139141" y="15812"/>
                    </a:cubicBezTo>
                    <a:lnTo>
                      <a:pt x="150526" y="26563"/>
                    </a:lnTo>
                    <a:cubicBezTo>
                      <a:pt x="147996" y="29726"/>
                      <a:pt x="145466" y="33520"/>
                      <a:pt x="143568" y="37315"/>
                    </a:cubicBezTo>
                    <a:close/>
                    <a:moveTo>
                      <a:pt x="161277" y="18974"/>
                    </a:moveTo>
                    <a:lnTo>
                      <a:pt x="154320" y="4427"/>
                    </a:lnTo>
                    <a:cubicBezTo>
                      <a:pt x="160012" y="1897"/>
                      <a:pt x="166337" y="0"/>
                      <a:pt x="172662" y="0"/>
                    </a:cubicBezTo>
                    <a:lnTo>
                      <a:pt x="173294" y="15812"/>
                    </a:lnTo>
                    <a:cubicBezTo>
                      <a:pt x="168867" y="16444"/>
                      <a:pt x="165072" y="17709"/>
                      <a:pt x="161277" y="18974"/>
                    </a:cubicBezTo>
                    <a:close/>
                    <a:moveTo>
                      <a:pt x="236540" y="15812"/>
                    </a:moveTo>
                    <a:lnTo>
                      <a:pt x="220729" y="15812"/>
                    </a:lnTo>
                    <a:lnTo>
                      <a:pt x="220729" y="0"/>
                    </a:lnTo>
                    <a:lnTo>
                      <a:pt x="236540" y="0"/>
                    </a:lnTo>
                    <a:lnTo>
                      <a:pt x="236540" y="15812"/>
                    </a:lnTo>
                    <a:close/>
                    <a:moveTo>
                      <a:pt x="204917" y="15812"/>
                    </a:moveTo>
                    <a:lnTo>
                      <a:pt x="189106" y="15812"/>
                    </a:lnTo>
                    <a:lnTo>
                      <a:pt x="189106" y="0"/>
                    </a:lnTo>
                    <a:lnTo>
                      <a:pt x="204917" y="0"/>
                    </a:lnTo>
                    <a:lnTo>
                      <a:pt x="204917" y="1581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sp>
            <p:nvSpPr>
              <p:cNvPr id="1310" name="Google Shape;1310;p19"/>
              <p:cNvSpPr/>
              <p:nvPr/>
            </p:nvSpPr>
            <p:spPr>
              <a:xfrm>
                <a:off x="3295162" y="3764440"/>
                <a:ext cx="7589" cy="15811"/>
              </a:xfrm>
              <a:custGeom>
                <a:avLst/>
                <a:gdLst/>
                <a:ahLst/>
                <a:cxnLst/>
                <a:rect l="l" t="t" r="r" b="b"/>
                <a:pathLst>
                  <a:path w="7589" h="15811" extrusionOk="0">
                    <a:moveTo>
                      <a:pt x="0" y="0"/>
                    </a:moveTo>
                    <a:lnTo>
                      <a:pt x="7590" y="0"/>
                    </a:lnTo>
                    <a:lnTo>
                      <a:pt x="7590" y="15812"/>
                    </a:lnTo>
                    <a:lnTo>
                      <a:pt x="0" y="1581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grpSp>
        <p:grpSp>
          <p:nvGrpSpPr>
            <p:cNvPr id="1311" name="Google Shape;1311;p19"/>
            <p:cNvGrpSpPr/>
            <p:nvPr/>
          </p:nvGrpSpPr>
          <p:grpSpPr>
            <a:xfrm>
              <a:off x="3169302" y="3448210"/>
              <a:ext cx="189737" cy="316230"/>
              <a:chOff x="3169302" y="3448210"/>
              <a:chExt cx="189737" cy="316230"/>
            </a:xfrm>
          </p:grpSpPr>
          <p:sp>
            <p:nvSpPr>
              <p:cNvPr id="1312" name="Google Shape;1312;p19"/>
              <p:cNvSpPr/>
              <p:nvPr/>
            </p:nvSpPr>
            <p:spPr>
              <a:xfrm>
                <a:off x="3232548" y="3524105"/>
                <a:ext cx="63246" cy="63246"/>
              </a:xfrm>
              <a:custGeom>
                <a:avLst/>
                <a:gdLst/>
                <a:ahLst/>
                <a:cxnLst/>
                <a:rect l="l" t="t" r="r" b="b"/>
                <a:pathLst>
                  <a:path w="63246" h="63246" extrusionOk="0">
                    <a:moveTo>
                      <a:pt x="31623" y="15812"/>
                    </a:moveTo>
                    <a:cubicBezTo>
                      <a:pt x="40477" y="15812"/>
                      <a:pt x="47435" y="22769"/>
                      <a:pt x="47435" y="31623"/>
                    </a:cubicBezTo>
                    <a:cubicBezTo>
                      <a:pt x="47435" y="40477"/>
                      <a:pt x="40477" y="47435"/>
                      <a:pt x="31623" y="47435"/>
                    </a:cubicBezTo>
                    <a:cubicBezTo>
                      <a:pt x="22769" y="47435"/>
                      <a:pt x="15812" y="40477"/>
                      <a:pt x="15812" y="31623"/>
                    </a:cubicBezTo>
                    <a:cubicBezTo>
                      <a:pt x="15812" y="22769"/>
                      <a:pt x="23401" y="15812"/>
                      <a:pt x="31623" y="15812"/>
                    </a:cubicBezTo>
                    <a:moveTo>
                      <a:pt x="31623" y="0"/>
                    </a:moveTo>
                    <a:cubicBezTo>
                      <a:pt x="13914" y="0"/>
                      <a:pt x="0" y="13914"/>
                      <a:pt x="0" y="31623"/>
                    </a:cubicBezTo>
                    <a:cubicBezTo>
                      <a:pt x="0" y="49332"/>
                      <a:pt x="13914" y="63246"/>
                      <a:pt x="31623" y="63246"/>
                    </a:cubicBezTo>
                    <a:cubicBezTo>
                      <a:pt x="49332" y="63246"/>
                      <a:pt x="63246" y="49332"/>
                      <a:pt x="63246" y="31623"/>
                    </a:cubicBezTo>
                    <a:cubicBezTo>
                      <a:pt x="63246" y="13914"/>
                      <a:pt x="49332" y="0"/>
                      <a:pt x="31623" y="0"/>
                    </a:cubicBezTo>
                    <a:lnTo>
                      <a:pt x="31623"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sp>
            <p:nvSpPr>
              <p:cNvPr id="1313" name="Google Shape;1313;p19"/>
              <p:cNvSpPr/>
              <p:nvPr/>
            </p:nvSpPr>
            <p:spPr>
              <a:xfrm>
                <a:off x="3169302" y="3448210"/>
                <a:ext cx="189737" cy="316230"/>
              </a:xfrm>
              <a:custGeom>
                <a:avLst/>
                <a:gdLst/>
                <a:ahLst/>
                <a:cxnLst/>
                <a:rect l="l" t="t" r="r" b="b"/>
                <a:pathLst>
                  <a:path w="189737" h="316230" extrusionOk="0">
                    <a:moveTo>
                      <a:pt x="94869" y="316230"/>
                    </a:moveTo>
                    <a:cubicBezTo>
                      <a:pt x="92339" y="316230"/>
                      <a:pt x="89177" y="314965"/>
                      <a:pt x="87912" y="312435"/>
                    </a:cubicBezTo>
                    <a:cubicBezTo>
                      <a:pt x="84117" y="306111"/>
                      <a:pt x="0" y="161277"/>
                      <a:pt x="0" y="105621"/>
                    </a:cubicBezTo>
                    <a:cubicBezTo>
                      <a:pt x="0" y="47435"/>
                      <a:pt x="42375" y="0"/>
                      <a:pt x="94869" y="0"/>
                    </a:cubicBezTo>
                    <a:cubicBezTo>
                      <a:pt x="147363" y="0"/>
                      <a:pt x="189738" y="47435"/>
                      <a:pt x="189738" y="105621"/>
                    </a:cubicBezTo>
                    <a:cubicBezTo>
                      <a:pt x="189738" y="161277"/>
                      <a:pt x="104988" y="306111"/>
                      <a:pt x="101826" y="312435"/>
                    </a:cubicBezTo>
                    <a:cubicBezTo>
                      <a:pt x="100561" y="314333"/>
                      <a:pt x="98031" y="316230"/>
                      <a:pt x="94869" y="316230"/>
                    </a:cubicBezTo>
                    <a:close/>
                    <a:moveTo>
                      <a:pt x="94869" y="15812"/>
                    </a:moveTo>
                    <a:cubicBezTo>
                      <a:pt x="51229" y="15812"/>
                      <a:pt x="15812" y="56289"/>
                      <a:pt x="15812" y="105621"/>
                    </a:cubicBezTo>
                    <a:cubicBezTo>
                      <a:pt x="15812" y="147996"/>
                      <a:pt x="74630" y="256146"/>
                      <a:pt x="94869" y="292197"/>
                    </a:cubicBezTo>
                    <a:cubicBezTo>
                      <a:pt x="115108" y="256146"/>
                      <a:pt x="173927" y="147996"/>
                      <a:pt x="173927" y="105621"/>
                    </a:cubicBezTo>
                    <a:cubicBezTo>
                      <a:pt x="173927" y="56289"/>
                      <a:pt x="138509" y="15812"/>
                      <a:pt x="94869" y="1581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grpSp>
        <p:grpSp>
          <p:nvGrpSpPr>
            <p:cNvPr id="1314" name="Google Shape;1314;p19"/>
            <p:cNvGrpSpPr/>
            <p:nvPr/>
          </p:nvGrpSpPr>
          <p:grpSpPr>
            <a:xfrm>
              <a:off x="3548146" y="3187004"/>
              <a:ext cx="126492" cy="189737"/>
              <a:chOff x="3548146" y="3187004"/>
              <a:chExt cx="126492" cy="189737"/>
            </a:xfrm>
          </p:grpSpPr>
          <p:sp>
            <p:nvSpPr>
              <p:cNvPr id="1315" name="Google Shape;1315;p19"/>
              <p:cNvSpPr/>
              <p:nvPr/>
            </p:nvSpPr>
            <p:spPr>
              <a:xfrm>
                <a:off x="3595580" y="3231909"/>
                <a:ext cx="31623" cy="31623"/>
              </a:xfrm>
              <a:custGeom>
                <a:avLst/>
                <a:gdLst/>
                <a:ahLst/>
                <a:cxnLst/>
                <a:rect l="l" t="t" r="r" b="b"/>
                <a:pathLst>
                  <a:path w="31623" h="31623" extrusionOk="0">
                    <a:moveTo>
                      <a:pt x="15812" y="0"/>
                    </a:moveTo>
                    <a:cubicBezTo>
                      <a:pt x="6957" y="0"/>
                      <a:pt x="0" y="6957"/>
                      <a:pt x="0" y="15812"/>
                    </a:cubicBezTo>
                    <a:cubicBezTo>
                      <a:pt x="0" y="24666"/>
                      <a:pt x="6957" y="31623"/>
                      <a:pt x="15812" y="31623"/>
                    </a:cubicBezTo>
                    <a:cubicBezTo>
                      <a:pt x="24666" y="31623"/>
                      <a:pt x="31623" y="24666"/>
                      <a:pt x="31623" y="15812"/>
                    </a:cubicBezTo>
                    <a:cubicBezTo>
                      <a:pt x="31623" y="6957"/>
                      <a:pt x="24666" y="0"/>
                      <a:pt x="15812" y="0"/>
                    </a:cubicBezTo>
                    <a:lnTo>
                      <a:pt x="15812"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sp>
            <p:nvSpPr>
              <p:cNvPr id="1316" name="Google Shape;1316;p19"/>
              <p:cNvSpPr/>
              <p:nvPr/>
            </p:nvSpPr>
            <p:spPr>
              <a:xfrm>
                <a:off x="3548146" y="3187004"/>
                <a:ext cx="126492" cy="189737"/>
              </a:xfrm>
              <a:custGeom>
                <a:avLst/>
                <a:gdLst/>
                <a:ahLst/>
                <a:cxnLst/>
                <a:rect l="l" t="t" r="r" b="b"/>
                <a:pathLst>
                  <a:path w="126492" h="189737" extrusionOk="0">
                    <a:moveTo>
                      <a:pt x="63246" y="189738"/>
                    </a:moveTo>
                    <a:cubicBezTo>
                      <a:pt x="60716" y="189738"/>
                      <a:pt x="58186" y="188473"/>
                      <a:pt x="56289" y="185943"/>
                    </a:cubicBezTo>
                    <a:cubicBezTo>
                      <a:pt x="50597" y="177089"/>
                      <a:pt x="0" y="96766"/>
                      <a:pt x="0" y="64511"/>
                    </a:cubicBezTo>
                    <a:cubicBezTo>
                      <a:pt x="0" y="29093"/>
                      <a:pt x="28461" y="0"/>
                      <a:pt x="63246" y="0"/>
                    </a:cubicBezTo>
                    <a:cubicBezTo>
                      <a:pt x="98031" y="0"/>
                      <a:pt x="126492" y="29093"/>
                      <a:pt x="126492" y="64511"/>
                    </a:cubicBezTo>
                    <a:cubicBezTo>
                      <a:pt x="126492" y="97399"/>
                      <a:pt x="75895" y="177089"/>
                      <a:pt x="70203" y="185943"/>
                    </a:cubicBezTo>
                    <a:cubicBezTo>
                      <a:pt x="68306" y="188473"/>
                      <a:pt x="65776" y="189738"/>
                      <a:pt x="63246" y="189738"/>
                    </a:cubicBezTo>
                    <a:close/>
                    <a:moveTo>
                      <a:pt x="63246" y="15812"/>
                    </a:moveTo>
                    <a:cubicBezTo>
                      <a:pt x="37315" y="15812"/>
                      <a:pt x="15812" y="37315"/>
                      <a:pt x="15812" y="64511"/>
                    </a:cubicBezTo>
                    <a:cubicBezTo>
                      <a:pt x="15812" y="85382"/>
                      <a:pt x="45537" y="138509"/>
                      <a:pt x="63246" y="166969"/>
                    </a:cubicBezTo>
                    <a:cubicBezTo>
                      <a:pt x="80955" y="138509"/>
                      <a:pt x="110681" y="85382"/>
                      <a:pt x="110681" y="64511"/>
                    </a:cubicBezTo>
                    <a:cubicBezTo>
                      <a:pt x="110681" y="37315"/>
                      <a:pt x="89177" y="15812"/>
                      <a:pt x="63246" y="1581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grpSp>
      </p:grpSp>
      <p:sp>
        <p:nvSpPr>
          <p:cNvPr id="1317" name="Google Shape;1317;p19"/>
          <p:cNvSpPr/>
          <p:nvPr/>
        </p:nvSpPr>
        <p:spPr>
          <a:xfrm>
            <a:off x="-14102" y="997706"/>
            <a:ext cx="12188825" cy="381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Arial"/>
                <a:ea typeface="Arial"/>
                <a:cs typeface="Arial"/>
                <a:sym typeface="Arial"/>
              </a:rPr>
              <a:t>Starting platform minimums to enable customers and PSO delivery teams.</a:t>
            </a:r>
            <a:endParaRPr sz="1200" b="0" i="0" u="none" strike="noStrike" cap="none">
              <a:solidFill>
                <a:schemeClr val="lt1"/>
              </a:solidFill>
              <a:latin typeface="Arial"/>
              <a:ea typeface="Arial"/>
              <a:cs typeface="Arial"/>
              <a:sym typeface="Arial"/>
            </a:endParaRPr>
          </a:p>
        </p:txBody>
      </p:sp>
      <p:pic>
        <p:nvPicPr>
          <p:cNvPr id="1297" name="Picture 1296">
            <a:extLst>
              <a:ext uri="{FF2B5EF4-FFF2-40B4-BE49-F238E27FC236}">
                <a16:creationId xmlns:a16="http://schemas.microsoft.com/office/drawing/2014/main" id="{64FBC99A-1622-CBF1-8454-A7369A3CB586}"/>
              </a:ext>
            </a:extLst>
          </p:cNvPr>
          <p:cNvPicPr>
            <a:picLocks noChangeAspect="1"/>
          </p:cNvPicPr>
          <p:nvPr/>
        </p:nvPicPr>
        <p:blipFill>
          <a:blip r:embed="rId4"/>
          <a:stretch>
            <a:fillRect/>
          </a:stretch>
        </p:blipFill>
        <p:spPr>
          <a:xfrm>
            <a:off x="4747491" y="1415967"/>
            <a:ext cx="6726051" cy="31150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D4344-DBDE-6FE8-000C-9EF9A9876859}"/>
            </a:ext>
          </a:extLst>
        </p:cNvPr>
        <p:cNvGrpSpPr/>
        <p:nvPr/>
      </p:nvGrpSpPr>
      <p:grpSpPr>
        <a:xfrm>
          <a:off x="0" y="0"/>
          <a:ext cx="0" cy="0"/>
          <a:chOff x="0" y="0"/>
          <a:chExt cx="0" cy="0"/>
        </a:xfrm>
      </p:grpSpPr>
      <p:sp>
        <p:nvSpPr>
          <p:cNvPr id="48" name="Google Shape;6705;g2d30ebb658d_0_19789">
            <a:extLst>
              <a:ext uri="{FF2B5EF4-FFF2-40B4-BE49-F238E27FC236}">
                <a16:creationId xmlns:a16="http://schemas.microsoft.com/office/drawing/2014/main" id="{1C7C82BD-EC4C-283F-6B26-C9068D7EE23A}"/>
              </a:ext>
            </a:extLst>
          </p:cNvPr>
          <p:cNvSpPr/>
          <p:nvPr/>
        </p:nvSpPr>
        <p:spPr>
          <a:xfrm>
            <a:off x="3381931" y="1697311"/>
            <a:ext cx="1662975"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49" name="Google Shape;6705;g2d30ebb658d_0_19789">
            <a:extLst>
              <a:ext uri="{FF2B5EF4-FFF2-40B4-BE49-F238E27FC236}">
                <a16:creationId xmlns:a16="http://schemas.microsoft.com/office/drawing/2014/main" id="{1D863FD3-B5A7-E331-8311-015E14EABCCD}"/>
              </a:ext>
            </a:extLst>
          </p:cNvPr>
          <p:cNvSpPr/>
          <p:nvPr/>
        </p:nvSpPr>
        <p:spPr>
          <a:xfrm>
            <a:off x="3383862" y="1502543"/>
            <a:ext cx="1661044" cy="144193"/>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grpSp>
        <p:nvGrpSpPr>
          <p:cNvPr id="2" name="Group 1">
            <a:extLst>
              <a:ext uri="{FF2B5EF4-FFF2-40B4-BE49-F238E27FC236}">
                <a16:creationId xmlns:a16="http://schemas.microsoft.com/office/drawing/2014/main" id="{37A3C9C6-6102-E65C-C7A8-1E0B468B9E0C}"/>
              </a:ext>
            </a:extLst>
          </p:cNvPr>
          <p:cNvGrpSpPr/>
          <p:nvPr/>
        </p:nvGrpSpPr>
        <p:grpSpPr>
          <a:xfrm>
            <a:off x="3184188" y="1239653"/>
            <a:ext cx="2078703" cy="4835977"/>
            <a:chOff x="3913053" y="1239653"/>
            <a:chExt cx="2078703" cy="4835977"/>
          </a:xfrm>
        </p:grpSpPr>
        <p:sp>
          <p:nvSpPr>
            <p:cNvPr id="52" name="Google Shape;6678;g2d30ebb658d_0_19789">
              <a:extLst>
                <a:ext uri="{FF2B5EF4-FFF2-40B4-BE49-F238E27FC236}">
                  <a16:creationId xmlns:a16="http://schemas.microsoft.com/office/drawing/2014/main" id="{6C186BC9-9CFD-9F4B-B182-14CFAC2036DC}"/>
                </a:ext>
              </a:extLst>
            </p:cNvPr>
            <p:cNvSpPr/>
            <p:nvPr/>
          </p:nvSpPr>
          <p:spPr>
            <a:xfrm>
              <a:off x="3913053" y="1239653"/>
              <a:ext cx="2078703" cy="4835977"/>
            </a:xfrm>
            <a:prstGeom prst="roundRect">
              <a:avLst>
                <a:gd name="adj" fmla="val 2356"/>
              </a:avLst>
            </a:prstGeom>
            <a:solidFill>
              <a:schemeClr val="accent5">
                <a:alpha val="9770"/>
              </a:schemeClr>
            </a:solidFill>
            <a:ln w="9525">
              <a:gradFill>
                <a:gsLst>
                  <a:gs pos="0">
                    <a:schemeClr val="accent1">
                      <a:lumMod val="5000"/>
                      <a:lumOff val="95000"/>
                    </a:schemeClr>
                  </a:gs>
                  <a:gs pos="0">
                    <a:schemeClr val="accent2"/>
                  </a:gs>
                  <a:gs pos="100000">
                    <a:schemeClr val="accent5"/>
                  </a:gs>
                  <a:gs pos="100000">
                    <a:schemeClr val="accent1">
                      <a:lumMod val="30000"/>
                      <a:lumOff val="70000"/>
                    </a:schemeClr>
                  </a:gs>
                </a:gsLst>
                <a:lin ang="5400000" scaled="1"/>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3" name="TextBox 52">
              <a:extLst>
                <a:ext uri="{FF2B5EF4-FFF2-40B4-BE49-F238E27FC236}">
                  <a16:creationId xmlns:a16="http://schemas.microsoft.com/office/drawing/2014/main" id="{45FE6AD2-3819-1A62-F384-3A1ACD60ECF0}"/>
                </a:ext>
              </a:extLst>
            </p:cNvPr>
            <p:cNvSpPr txBox="1"/>
            <p:nvPr/>
          </p:nvSpPr>
          <p:spPr>
            <a:xfrm>
              <a:off x="4642128" y="128040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grpSp>
      <p:sp>
        <p:nvSpPr>
          <p:cNvPr id="119" name="Google Shape;6678;g2d30ebb658d_0_19789">
            <a:extLst>
              <a:ext uri="{FF2B5EF4-FFF2-40B4-BE49-F238E27FC236}">
                <a16:creationId xmlns:a16="http://schemas.microsoft.com/office/drawing/2014/main" id="{4FF52D57-F132-109F-28C6-B01091FBBDBF}"/>
              </a:ext>
            </a:extLst>
          </p:cNvPr>
          <p:cNvSpPr/>
          <p:nvPr/>
        </p:nvSpPr>
        <p:spPr>
          <a:xfrm>
            <a:off x="702366" y="1006110"/>
            <a:ext cx="7063409" cy="5142546"/>
          </a:xfrm>
          <a:prstGeom prst="roundRect">
            <a:avLst>
              <a:gd name="adj" fmla="val 2356"/>
            </a:avLst>
          </a:prstGeom>
          <a:noFill/>
          <a:ln w="9525">
            <a:solidFill>
              <a:schemeClr val="bg1">
                <a:lumMod val="75000"/>
              </a:schemeClr>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7" name="Group 16">
            <a:extLst>
              <a:ext uri="{FF2B5EF4-FFF2-40B4-BE49-F238E27FC236}">
                <a16:creationId xmlns:a16="http://schemas.microsoft.com/office/drawing/2014/main" id="{4FC9958E-CC08-EFC1-2D33-84CBE7A550E3}"/>
              </a:ext>
            </a:extLst>
          </p:cNvPr>
          <p:cNvGrpSpPr/>
          <p:nvPr/>
        </p:nvGrpSpPr>
        <p:grpSpPr>
          <a:xfrm>
            <a:off x="828981" y="1239652"/>
            <a:ext cx="2078703" cy="4835977"/>
            <a:chOff x="1809095" y="1387022"/>
            <a:chExt cx="2078703" cy="4835977"/>
          </a:xfrm>
        </p:grpSpPr>
        <p:grpSp>
          <p:nvGrpSpPr>
            <p:cNvPr id="14" name="Group 13">
              <a:extLst>
                <a:ext uri="{FF2B5EF4-FFF2-40B4-BE49-F238E27FC236}">
                  <a16:creationId xmlns:a16="http://schemas.microsoft.com/office/drawing/2014/main" id="{11F246DD-8504-733B-160F-2F00DD265ABC}"/>
                </a:ext>
              </a:extLst>
            </p:cNvPr>
            <p:cNvGrpSpPr/>
            <p:nvPr/>
          </p:nvGrpSpPr>
          <p:grpSpPr>
            <a:xfrm>
              <a:off x="1809095" y="1387022"/>
              <a:ext cx="2078703" cy="4835977"/>
              <a:chOff x="1809095" y="1387022"/>
              <a:chExt cx="2078703" cy="4835977"/>
            </a:xfrm>
          </p:grpSpPr>
          <p:grpSp>
            <p:nvGrpSpPr>
              <p:cNvPr id="167" name="Group 166">
                <a:extLst>
                  <a:ext uri="{FF2B5EF4-FFF2-40B4-BE49-F238E27FC236}">
                    <a16:creationId xmlns:a16="http://schemas.microsoft.com/office/drawing/2014/main" id="{3D328903-DC9F-96E3-D7B2-820AE6B7903D}"/>
                  </a:ext>
                </a:extLst>
              </p:cNvPr>
              <p:cNvGrpSpPr/>
              <p:nvPr/>
            </p:nvGrpSpPr>
            <p:grpSpPr>
              <a:xfrm>
                <a:off x="1809095" y="1387022"/>
                <a:ext cx="2078703" cy="4835977"/>
                <a:chOff x="1806861" y="1387023"/>
                <a:chExt cx="2078703" cy="4835977"/>
              </a:xfrm>
            </p:grpSpPr>
            <p:sp>
              <p:nvSpPr>
                <p:cNvPr id="120" name="Google Shape;6678;g2d30ebb658d_0_19789">
                  <a:extLst>
                    <a:ext uri="{FF2B5EF4-FFF2-40B4-BE49-F238E27FC236}">
                      <a16:creationId xmlns:a16="http://schemas.microsoft.com/office/drawing/2014/main" id="{1AD979A9-79CC-8C9D-A3D8-2D5C771B1636}"/>
                    </a:ext>
                  </a:extLst>
                </p:cNvPr>
                <p:cNvSpPr/>
                <p:nvPr/>
              </p:nvSpPr>
              <p:spPr>
                <a:xfrm>
                  <a:off x="1806861" y="1387023"/>
                  <a:ext cx="2078703" cy="4835977"/>
                </a:xfrm>
                <a:prstGeom prst="roundRect">
                  <a:avLst>
                    <a:gd name="adj" fmla="val 2356"/>
                  </a:avLst>
                </a:prstGeom>
                <a:solidFill>
                  <a:schemeClr val="accent3">
                    <a:alpha val="10000"/>
                  </a:schemeClr>
                </a:solidFill>
                <a:ln w="9525">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1" name="Google Shape;6705;g2d30ebb658d_0_19789">
                  <a:extLst>
                    <a:ext uri="{FF2B5EF4-FFF2-40B4-BE49-F238E27FC236}">
                      <a16:creationId xmlns:a16="http://schemas.microsoft.com/office/drawing/2014/main" id="{FC0C90E9-93AE-87D8-DEE7-57CA80517639}"/>
                    </a:ext>
                  </a:extLst>
                </p:cNvPr>
                <p:cNvSpPr/>
                <p:nvPr/>
              </p:nvSpPr>
              <p:spPr>
                <a:xfrm>
                  <a:off x="2004604" y="1844681"/>
                  <a:ext cx="1662975"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22" name="Google Shape;6705;g2d30ebb658d_0_19789">
                  <a:extLst>
                    <a:ext uri="{FF2B5EF4-FFF2-40B4-BE49-F238E27FC236}">
                      <a16:creationId xmlns:a16="http://schemas.microsoft.com/office/drawing/2014/main" id="{B053D66E-ADA9-4B44-49AB-648FF1D6B4FA}"/>
                    </a:ext>
                  </a:extLst>
                </p:cNvPr>
                <p:cNvSpPr/>
                <p:nvPr/>
              </p:nvSpPr>
              <p:spPr>
                <a:xfrm>
                  <a:off x="2006535" y="1649913"/>
                  <a:ext cx="1661044" cy="144193"/>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23" name="TextBox 122">
                  <a:extLst>
                    <a:ext uri="{FF2B5EF4-FFF2-40B4-BE49-F238E27FC236}">
                      <a16:creationId xmlns:a16="http://schemas.microsoft.com/office/drawing/2014/main" id="{274CB646-466D-FB95-71CB-B6443F8F8912}"/>
                    </a:ext>
                  </a:extLst>
                </p:cNvPr>
                <p:cNvSpPr txBox="1"/>
                <p:nvPr/>
              </p:nvSpPr>
              <p:spPr>
                <a:xfrm>
                  <a:off x="2551092" y="142777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sp>
              <p:nvSpPr>
                <p:cNvPr id="124" name="Google Shape;6678;g2d30ebb658d_0_19789">
                  <a:extLst>
                    <a:ext uri="{FF2B5EF4-FFF2-40B4-BE49-F238E27FC236}">
                      <a16:creationId xmlns:a16="http://schemas.microsoft.com/office/drawing/2014/main" id="{81C144A0-D9B2-73EF-447E-BD9E3FC724BE}"/>
                    </a:ext>
                  </a:extLst>
                </p:cNvPr>
                <p:cNvSpPr/>
                <p:nvPr/>
              </p:nvSpPr>
              <p:spPr>
                <a:xfrm>
                  <a:off x="1885819" y="5848404"/>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25" name="Group 124">
                  <a:extLst>
                    <a:ext uri="{FF2B5EF4-FFF2-40B4-BE49-F238E27FC236}">
                      <a16:creationId xmlns:a16="http://schemas.microsoft.com/office/drawing/2014/main" id="{A93701A8-91ED-A973-B5DB-EC167D0B6AAC}"/>
                    </a:ext>
                  </a:extLst>
                </p:cNvPr>
                <p:cNvGrpSpPr/>
                <p:nvPr/>
              </p:nvGrpSpPr>
              <p:grpSpPr>
                <a:xfrm>
                  <a:off x="1887963" y="2081242"/>
                  <a:ext cx="1909145" cy="3700692"/>
                  <a:chOff x="4353920" y="2081242"/>
                  <a:chExt cx="1909145" cy="3700692"/>
                </a:xfrm>
              </p:grpSpPr>
              <p:sp>
                <p:nvSpPr>
                  <p:cNvPr id="126" name="Google Shape;6678;g2d30ebb658d_0_19789">
                    <a:extLst>
                      <a:ext uri="{FF2B5EF4-FFF2-40B4-BE49-F238E27FC236}">
                        <a16:creationId xmlns:a16="http://schemas.microsoft.com/office/drawing/2014/main" id="{DE60C71D-9224-DE63-7861-8E9C40DF9F7E}"/>
                      </a:ext>
                    </a:extLst>
                  </p:cNvPr>
                  <p:cNvSpPr/>
                  <p:nvPr/>
                </p:nvSpPr>
                <p:spPr>
                  <a:xfrm>
                    <a:off x="4353920" y="2081242"/>
                    <a:ext cx="1909145" cy="370069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7" name="Google Shape;6678;g2d30ebb658d_0_19789">
                    <a:extLst>
                      <a:ext uri="{FF2B5EF4-FFF2-40B4-BE49-F238E27FC236}">
                        <a16:creationId xmlns:a16="http://schemas.microsoft.com/office/drawing/2014/main" id="{6119EAC4-F719-F850-0D54-65B3DA7BCBED}"/>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8" name="Google Shape;6705;g2d30ebb658d_0_19789">
                    <a:extLst>
                      <a:ext uri="{FF2B5EF4-FFF2-40B4-BE49-F238E27FC236}">
                        <a16:creationId xmlns:a16="http://schemas.microsoft.com/office/drawing/2014/main" id="{C0CFAF2C-5B17-9997-9CBB-090A4F9E0EC6}"/>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29" name="Google Shape;6707;g2d30ebb658d_0_19789">
                    <a:extLst>
                      <a:ext uri="{FF2B5EF4-FFF2-40B4-BE49-F238E27FC236}">
                        <a16:creationId xmlns:a16="http://schemas.microsoft.com/office/drawing/2014/main" id="{9E6319B2-7C99-C851-18B5-937193AD1A08}"/>
                      </a:ext>
                    </a:extLst>
                  </p:cNvPr>
                  <p:cNvGrpSpPr/>
                  <p:nvPr/>
                </p:nvGrpSpPr>
                <p:grpSpPr>
                  <a:xfrm>
                    <a:off x="5721290" y="3680282"/>
                    <a:ext cx="283155" cy="283154"/>
                    <a:chOff x="10722212" y="2729558"/>
                    <a:chExt cx="663407" cy="663407"/>
                  </a:xfrm>
                </p:grpSpPr>
                <p:sp>
                  <p:nvSpPr>
                    <p:cNvPr id="145" name="Google Shape;6708;g2d30ebb658d_0_19789">
                      <a:extLst>
                        <a:ext uri="{FF2B5EF4-FFF2-40B4-BE49-F238E27FC236}">
                          <a16:creationId xmlns:a16="http://schemas.microsoft.com/office/drawing/2014/main" id="{84DCBD67-5FE3-0961-0685-925423308292}"/>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6" name="Google Shape;6709;g2d30ebb658d_0_19789">
                      <a:extLst>
                        <a:ext uri="{FF2B5EF4-FFF2-40B4-BE49-F238E27FC236}">
                          <a16:creationId xmlns:a16="http://schemas.microsoft.com/office/drawing/2014/main" id="{4A6CBD63-5C6C-D1CA-6A1E-43EC68055E73}"/>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30" name="Google Shape;6710;g2d30ebb658d_0_19789">
                    <a:extLst>
                      <a:ext uri="{FF2B5EF4-FFF2-40B4-BE49-F238E27FC236}">
                        <a16:creationId xmlns:a16="http://schemas.microsoft.com/office/drawing/2014/main" id="{62FD5AB3-42C9-1817-6820-5AA4FAF5C043}"/>
                      </a:ext>
                    </a:extLst>
                  </p:cNvPr>
                  <p:cNvGrpSpPr/>
                  <p:nvPr/>
                </p:nvGrpSpPr>
                <p:grpSpPr>
                  <a:xfrm>
                    <a:off x="4576370" y="3680163"/>
                    <a:ext cx="283155" cy="283154"/>
                    <a:chOff x="572541" y="5475121"/>
                    <a:chExt cx="663407" cy="663407"/>
                  </a:xfrm>
                </p:grpSpPr>
                <p:sp>
                  <p:nvSpPr>
                    <p:cNvPr id="143" name="Google Shape;6711;g2d30ebb658d_0_19789">
                      <a:extLst>
                        <a:ext uri="{FF2B5EF4-FFF2-40B4-BE49-F238E27FC236}">
                          <a16:creationId xmlns:a16="http://schemas.microsoft.com/office/drawing/2014/main" id="{8FE95685-7777-17C2-B67B-5B08F13BE916}"/>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4" name="Google Shape;6712;g2d30ebb658d_0_19789">
                      <a:extLst>
                        <a:ext uri="{FF2B5EF4-FFF2-40B4-BE49-F238E27FC236}">
                          <a16:creationId xmlns:a16="http://schemas.microsoft.com/office/drawing/2014/main" id="{B48DC54E-12CE-B574-36F7-1F639C4B2B9D}"/>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31" name="Google Shape;6713;g2d30ebb658d_0_19789">
                    <a:extLst>
                      <a:ext uri="{FF2B5EF4-FFF2-40B4-BE49-F238E27FC236}">
                        <a16:creationId xmlns:a16="http://schemas.microsoft.com/office/drawing/2014/main" id="{5BD8FD0B-9FD6-A40C-114C-D5469F8A0C91}"/>
                      </a:ext>
                    </a:extLst>
                  </p:cNvPr>
                  <p:cNvGrpSpPr/>
                  <p:nvPr/>
                </p:nvGrpSpPr>
                <p:grpSpPr>
                  <a:xfrm>
                    <a:off x="5144738" y="3680164"/>
                    <a:ext cx="283155" cy="283154"/>
                    <a:chOff x="9272259" y="5475121"/>
                    <a:chExt cx="663407" cy="663407"/>
                  </a:xfrm>
                </p:grpSpPr>
                <p:sp>
                  <p:nvSpPr>
                    <p:cNvPr id="141" name="Google Shape;6714;g2d30ebb658d_0_19789">
                      <a:extLst>
                        <a:ext uri="{FF2B5EF4-FFF2-40B4-BE49-F238E27FC236}">
                          <a16:creationId xmlns:a16="http://schemas.microsoft.com/office/drawing/2014/main" id="{ACA63D17-F166-4210-D1E0-53E9CECEBC49}"/>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3"/>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2" name="Google Shape;6715;g2d30ebb658d_0_19789">
                      <a:extLst>
                        <a:ext uri="{FF2B5EF4-FFF2-40B4-BE49-F238E27FC236}">
                          <a16:creationId xmlns:a16="http://schemas.microsoft.com/office/drawing/2014/main" id="{76618E30-B7B3-F8B5-3BCE-360A264E691B}"/>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32" name="Google Shape;6704;g2d30ebb658d_0_19789">
                    <a:extLst>
                      <a:ext uri="{FF2B5EF4-FFF2-40B4-BE49-F238E27FC236}">
                        <a16:creationId xmlns:a16="http://schemas.microsoft.com/office/drawing/2014/main" id="{4EC5FDCB-A382-C526-465F-A733C1CF37C6}"/>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3"/>
                        </a:gs>
                        <a:gs pos="2000">
                          <a:schemeClr val="accent3"/>
                        </a:gs>
                        <a:gs pos="100000">
                          <a:schemeClr val="accent2"/>
                        </a:gs>
                        <a:gs pos="96000">
                          <a:schemeClr val="accent2"/>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3" name="TextBox 132">
                    <a:extLst>
                      <a:ext uri="{FF2B5EF4-FFF2-40B4-BE49-F238E27FC236}">
                        <a16:creationId xmlns:a16="http://schemas.microsoft.com/office/drawing/2014/main" id="{3A080E48-55F8-BA23-5362-ABCEE1125B82}"/>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34" name="Google Shape;6705;g2d30ebb658d_0_19789">
                    <a:extLst>
                      <a:ext uri="{FF2B5EF4-FFF2-40B4-BE49-F238E27FC236}">
                        <a16:creationId xmlns:a16="http://schemas.microsoft.com/office/drawing/2014/main" id="{EE0F3305-FC3D-5B2A-E372-F3CE6F1A0EE7}"/>
                      </a:ext>
                    </a:extLst>
                  </p:cNvPr>
                  <p:cNvSpPr/>
                  <p:nvPr/>
                </p:nvSpPr>
                <p:spPr>
                  <a:xfrm>
                    <a:off x="4738816" y="2666396"/>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35" name="Google Shape;6678;g2d30ebb658d_0_19789">
                    <a:extLst>
                      <a:ext uri="{FF2B5EF4-FFF2-40B4-BE49-F238E27FC236}">
                        <a16:creationId xmlns:a16="http://schemas.microsoft.com/office/drawing/2014/main" id="{5AE5C421-52ED-D772-DF86-86AE6F9D59BC}"/>
                      </a:ext>
                    </a:extLst>
                  </p:cNvPr>
                  <p:cNvSpPr/>
                  <p:nvPr/>
                </p:nvSpPr>
                <p:spPr>
                  <a:xfrm>
                    <a:off x="4989674" y="3264891"/>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36" name="Google Shape;6678;g2d30ebb658d_0_19789">
                    <a:extLst>
                      <a:ext uri="{FF2B5EF4-FFF2-40B4-BE49-F238E27FC236}">
                        <a16:creationId xmlns:a16="http://schemas.microsoft.com/office/drawing/2014/main" id="{C5E41503-2425-531B-62D8-1B9E7E9F4B22}"/>
                      </a:ext>
                    </a:extLst>
                  </p:cNvPr>
                  <p:cNvSpPr/>
                  <p:nvPr/>
                </p:nvSpPr>
                <p:spPr>
                  <a:xfrm>
                    <a:off x="4738816" y="2868207"/>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37" name="TextBox 136">
                    <a:extLst>
                      <a:ext uri="{FF2B5EF4-FFF2-40B4-BE49-F238E27FC236}">
                        <a16:creationId xmlns:a16="http://schemas.microsoft.com/office/drawing/2014/main" id="{7F8E08C6-9DA1-BCED-ABCA-27D08019BFB9}"/>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a:t>
                    </a:r>
                  </a:p>
                </p:txBody>
              </p:sp>
              <p:sp>
                <p:nvSpPr>
                  <p:cNvPr id="138" name="Google Shape;6705;g2d30ebb658d_0_19789">
                    <a:extLst>
                      <a:ext uri="{FF2B5EF4-FFF2-40B4-BE49-F238E27FC236}">
                        <a16:creationId xmlns:a16="http://schemas.microsoft.com/office/drawing/2014/main" id="{3FDBCAB3-A349-E48C-6549-CBD1A8BFAAB8}"/>
                      </a:ext>
                    </a:extLst>
                  </p:cNvPr>
                  <p:cNvSpPr/>
                  <p:nvPr/>
                </p:nvSpPr>
                <p:spPr>
                  <a:xfrm>
                    <a:off x="4738816" y="3064305"/>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pic>
                <p:nvPicPr>
                  <p:cNvPr id="140" name="Google Shape;6699;p92">
                    <a:extLst>
                      <a:ext uri="{FF2B5EF4-FFF2-40B4-BE49-F238E27FC236}">
                        <a16:creationId xmlns:a16="http://schemas.microsoft.com/office/drawing/2014/main" id="{68193A9A-F8FE-6967-A79E-0E328B2D62AB}"/>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147" name="TextBox 146">
                  <a:extLst>
                    <a:ext uri="{FF2B5EF4-FFF2-40B4-BE49-F238E27FC236}">
                      <a16:creationId xmlns:a16="http://schemas.microsoft.com/office/drawing/2014/main" id="{E4B9F7CC-F3E1-A33B-E775-9106EFDF8E44}"/>
                    </a:ext>
                  </a:extLst>
                </p:cNvPr>
                <p:cNvSpPr txBox="1"/>
                <p:nvPr/>
              </p:nvSpPr>
              <p:spPr>
                <a:xfrm>
                  <a:off x="2268613"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Additional VCF Instances</a:t>
                  </a:r>
                </a:p>
              </p:txBody>
            </p:sp>
            <p:pic>
              <p:nvPicPr>
                <p:cNvPr id="148" name="Google Shape;6699;p92">
                  <a:extLst>
                    <a:ext uri="{FF2B5EF4-FFF2-40B4-BE49-F238E27FC236}">
                      <a16:creationId xmlns:a16="http://schemas.microsoft.com/office/drawing/2014/main" id="{A1CC8EB6-F929-E1CA-0065-50DCDCD33905}"/>
                    </a:ext>
                  </a:extLst>
                </p:cNvPr>
                <p:cNvPicPr preferRelativeResize="0">
                  <a:picLocks noChangeAspect="1"/>
                </p:cNvPicPr>
                <p:nvPr/>
              </p:nvPicPr>
              <p:blipFill rotWithShape="1">
                <a:blip r:embed="rId3">
                  <a:alphaModFix/>
                </a:blip>
                <a:srcRect/>
                <a:stretch/>
              </p:blipFill>
              <p:spPr>
                <a:xfrm>
                  <a:off x="1991069" y="5894009"/>
                  <a:ext cx="220483" cy="220483"/>
                </a:xfrm>
                <a:prstGeom prst="rect">
                  <a:avLst/>
                </a:prstGeom>
                <a:noFill/>
                <a:ln>
                  <a:noFill/>
                </a:ln>
              </p:spPr>
            </p:pic>
            <p:grpSp>
              <p:nvGrpSpPr>
                <p:cNvPr id="149" name="Group 148">
                  <a:extLst>
                    <a:ext uri="{FF2B5EF4-FFF2-40B4-BE49-F238E27FC236}">
                      <a16:creationId xmlns:a16="http://schemas.microsoft.com/office/drawing/2014/main" id="{027EF744-1FB1-57F1-CB09-211CFA29DE54}"/>
                    </a:ext>
                  </a:extLst>
                </p:cNvPr>
                <p:cNvGrpSpPr/>
                <p:nvPr/>
              </p:nvGrpSpPr>
              <p:grpSpPr>
                <a:xfrm>
                  <a:off x="1951273" y="4189923"/>
                  <a:ext cx="1769718" cy="1537778"/>
                  <a:chOff x="4421988" y="4189923"/>
                  <a:chExt cx="1769718" cy="1537778"/>
                </a:xfrm>
              </p:grpSpPr>
              <p:sp>
                <p:nvSpPr>
                  <p:cNvPr id="150" name="Google Shape;6678;g2d30ebb658d_0_19789">
                    <a:extLst>
                      <a:ext uri="{FF2B5EF4-FFF2-40B4-BE49-F238E27FC236}">
                        <a16:creationId xmlns:a16="http://schemas.microsoft.com/office/drawing/2014/main" id="{49BF8234-790C-F987-36C9-D6F008157534}"/>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51" name="Google Shape;6705;g2d30ebb658d_0_19789">
                    <a:extLst>
                      <a:ext uri="{FF2B5EF4-FFF2-40B4-BE49-F238E27FC236}">
                        <a16:creationId xmlns:a16="http://schemas.microsoft.com/office/drawing/2014/main" id="{0ACD48D5-6019-BA06-886D-0C9763439B18}"/>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52" name="Google Shape;6707;g2d30ebb658d_0_19789">
                    <a:extLst>
                      <a:ext uri="{FF2B5EF4-FFF2-40B4-BE49-F238E27FC236}">
                        <a16:creationId xmlns:a16="http://schemas.microsoft.com/office/drawing/2014/main" id="{8C9213FD-4951-ED2A-43B7-3C8C0FF30626}"/>
                      </a:ext>
                    </a:extLst>
                  </p:cNvPr>
                  <p:cNvGrpSpPr/>
                  <p:nvPr/>
                </p:nvGrpSpPr>
                <p:grpSpPr>
                  <a:xfrm>
                    <a:off x="5721290" y="5324870"/>
                    <a:ext cx="283155" cy="283154"/>
                    <a:chOff x="10722212" y="2729558"/>
                    <a:chExt cx="663407" cy="663407"/>
                  </a:xfrm>
                </p:grpSpPr>
                <p:sp>
                  <p:nvSpPr>
                    <p:cNvPr id="165" name="Google Shape;6708;g2d30ebb658d_0_19789">
                      <a:extLst>
                        <a:ext uri="{FF2B5EF4-FFF2-40B4-BE49-F238E27FC236}">
                          <a16:creationId xmlns:a16="http://schemas.microsoft.com/office/drawing/2014/main" id="{60AB1B3A-CBFD-A2F4-DFA8-6EE61F1AA4FF}"/>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6" name="Google Shape;6709;g2d30ebb658d_0_19789">
                      <a:extLst>
                        <a:ext uri="{FF2B5EF4-FFF2-40B4-BE49-F238E27FC236}">
                          <a16:creationId xmlns:a16="http://schemas.microsoft.com/office/drawing/2014/main" id="{27CD4B5C-A7DE-65C8-7151-2327D780EBDD}"/>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53" name="Google Shape;6710;g2d30ebb658d_0_19789">
                    <a:extLst>
                      <a:ext uri="{FF2B5EF4-FFF2-40B4-BE49-F238E27FC236}">
                        <a16:creationId xmlns:a16="http://schemas.microsoft.com/office/drawing/2014/main" id="{87A74CB0-F33D-E0BE-A2C9-BCFA8DB2315E}"/>
                      </a:ext>
                    </a:extLst>
                  </p:cNvPr>
                  <p:cNvGrpSpPr/>
                  <p:nvPr/>
                </p:nvGrpSpPr>
                <p:grpSpPr>
                  <a:xfrm>
                    <a:off x="4576370" y="5324751"/>
                    <a:ext cx="283155" cy="283154"/>
                    <a:chOff x="572541" y="5475121"/>
                    <a:chExt cx="663407" cy="663407"/>
                  </a:xfrm>
                </p:grpSpPr>
                <p:sp>
                  <p:nvSpPr>
                    <p:cNvPr id="163" name="Google Shape;6711;g2d30ebb658d_0_19789">
                      <a:extLst>
                        <a:ext uri="{FF2B5EF4-FFF2-40B4-BE49-F238E27FC236}">
                          <a16:creationId xmlns:a16="http://schemas.microsoft.com/office/drawing/2014/main" id="{743F06C4-23D6-304B-680C-1A3B4E603FA7}"/>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4" name="Google Shape;6712;g2d30ebb658d_0_19789">
                      <a:extLst>
                        <a:ext uri="{FF2B5EF4-FFF2-40B4-BE49-F238E27FC236}">
                          <a16:creationId xmlns:a16="http://schemas.microsoft.com/office/drawing/2014/main" id="{84322CC0-1B68-4DD5-93B8-5DFFE8CDF5F3}"/>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54" name="Google Shape;6713;g2d30ebb658d_0_19789">
                    <a:extLst>
                      <a:ext uri="{FF2B5EF4-FFF2-40B4-BE49-F238E27FC236}">
                        <a16:creationId xmlns:a16="http://schemas.microsoft.com/office/drawing/2014/main" id="{D4B876E7-9F7B-0F62-243B-ABE3CDED4354}"/>
                      </a:ext>
                    </a:extLst>
                  </p:cNvPr>
                  <p:cNvGrpSpPr/>
                  <p:nvPr/>
                </p:nvGrpSpPr>
                <p:grpSpPr>
                  <a:xfrm>
                    <a:off x="5144738" y="5324752"/>
                    <a:ext cx="283155" cy="283154"/>
                    <a:chOff x="9272259" y="5475121"/>
                    <a:chExt cx="663407" cy="663407"/>
                  </a:xfrm>
                </p:grpSpPr>
                <p:sp>
                  <p:nvSpPr>
                    <p:cNvPr id="161" name="Google Shape;6714;g2d30ebb658d_0_19789">
                      <a:extLst>
                        <a:ext uri="{FF2B5EF4-FFF2-40B4-BE49-F238E27FC236}">
                          <a16:creationId xmlns:a16="http://schemas.microsoft.com/office/drawing/2014/main" id="{1216A436-EBB3-FBAB-8717-1F186BEBE049}"/>
                        </a:ext>
                      </a:extLst>
                    </p:cNvPr>
                    <p:cNvSpPr>
                      <a:spLocks noChangeAspect="1"/>
                    </p:cNvSpPr>
                    <p:nvPr/>
                  </p:nvSpPr>
                  <p:spPr>
                    <a:xfrm>
                      <a:off x="9272259" y="5475121"/>
                      <a:ext cx="663407" cy="663407"/>
                    </a:xfrm>
                    <a:prstGeom prst="ellipse">
                      <a:avLst/>
                    </a:prstGeom>
                    <a:gradFill>
                      <a:gsLst>
                        <a:gs pos="0">
                          <a:schemeClr val="accent3"/>
                        </a:gs>
                        <a:gs pos="0">
                          <a:schemeClr val="accent2"/>
                        </a:gs>
                        <a:gs pos="100000">
                          <a:schemeClr val="accent2"/>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2" name="Google Shape;6715;g2d30ebb658d_0_19789">
                      <a:extLst>
                        <a:ext uri="{FF2B5EF4-FFF2-40B4-BE49-F238E27FC236}">
                          <a16:creationId xmlns:a16="http://schemas.microsoft.com/office/drawing/2014/main" id="{0E836C87-C7C0-5D1B-C6E4-321A362058D8}"/>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55" name="Google Shape;6704;g2d30ebb658d_0_19789">
                    <a:extLst>
                      <a:ext uri="{FF2B5EF4-FFF2-40B4-BE49-F238E27FC236}">
                        <a16:creationId xmlns:a16="http://schemas.microsoft.com/office/drawing/2014/main" id="{57D62825-72A9-B0B4-2500-415AE695EC26}"/>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3"/>
                        </a:gs>
                        <a:gs pos="2000">
                          <a:schemeClr val="accent3"/>
                        </a:gs>
                        <a:gs pos="100000">
                          <a:schemeClr val="accent2"/>
                        </a:gs>
                        <a:gs pos="96000">
                          <a:schemeClr val="accent2"/>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Additional Workload Domains</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56" name="TextBox 155">
                    <a:extLst>
                      <a:ext uri="{FF2B5EF4-FFF2-40B4-BE49-F238E27FC236}">
                        <a16:creationId xmlns:a16="http://schemas.microsoft.com/office/drawing/2014/main" id="{CB184788-54D5-F366-C095-6FFD09EC225D}"/>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57" name="Google Shape;6678;g2d30ebb658d_0_19789">
                    <a:extLst>
                      <a:ext uri="{FF2B5EF4-FFF2-40B4-BE49-F238E27FC236}">
                        <a16:creationId xmlns:a16="http://schemas.microsoft.com/office/drawing/2014/main" id="{BA43957B-E64B-203C-E194-05F145D30B5C}"/>
                      </a:ext>
                    </a:extLst>
                  </p:cNvPr>
                  <p:cNvSpPr/>
                  <p:nvPr/>
                </p:nvSpPr>
                <p:spPr>
                  <a:xfrm>
                    <a:off x="4735103" y="4725882"/>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58" name="Google Shape;6678;g2d30ebb658d_0_19789">
                    <a:extLst>
                      <a:ext uri="{FF2B5EF4-FFF2-40B4-BE49-F238E27FC236}">
                        <a16:creationId xmlns:a16="http://schemas.microsoft.com/office/drawing/2014/main" id="{E80B7B0C-7F02-A7E4-45BD-F3D9C2A4FD76}"/>
                      </a:ext>
                    </a:extLst>
                  </p:cNvPr>
                  <p:cNvSpPr/>
                  <p:nvPr/>
                </p:nvSpPr>
                <p:spPr>
                  <a:xfrm>
                    <a:off x="4738816" y="4535240"/>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59" name="Google Shape;6678;g2d30ebb658d_0_19789">
                    <a:extLst>
                      <a:ext uri="{FF2B5EF4-FFF2-40B4-BE49-F238E27FC236}">
                        <a16:creationId xmlns:a16="http://schemas.microsoft.com/office/drawing/2014/main" id="{C6E4DD65-688A-EF1F-8E2F-2DD37421BC01}"/>
                      </a:ext>
                    </a:extLst>
                  </p:cNvPr>
                  <p:cNvSpPr/>
                  <p:nvPr/>
                </p:nvSpPr>
                <p:spPr>
                  <a:xfrm>
                    <a:off x="4978293" y="4921845"/>
                    <a:ext cx="701104" cy="151298"/>
                  </a:xfrm>
                  <a:prstGeom prst="roundRect">
                    <a:avLst>
                      <a:gd name="adj" fmla="val 2356"/>
                    </a:avLst>
                  </a:prstGeom>
                  <a:solidFill>
                    <a:schemeClr val="bg1"/>
                  </a:solidFill>
                  <a:ln w="12700">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grpSp>
          <p:sp>
            <p:nvSpPr>
              <p:cNvPr id="171" name="Google Shape;6678;g2d30ebb658d_0_19789">
                <a:extLst>
                  <a:ext uri="{FF2B5EF4-FFF2-40B4-BE49-F238E27FC236}">
                    <a16:creationId xmlns:a16="http://schemas.microsoft.com/office/drawing/2014/main" id="{368B4976-8213-F710-F0C4-595C4EE69801}"/>
                  </a:ext>
                </a:extLst>
              </p:cNvPr>
              <p:cNvSpPr/>
              <p:nvPr/>
            </p:nvSpPr>
            <p:spPr>
              <a:xfrm>
                <a:off x="2447528" y="4966926"/>
                <a:ext cx="701104" cy="151298"/>
              </a:xfrm>
              <a:prstGeom prst="roundRect">
                <a:avLst>
                  <a:gd name="adj" fmla="val 2356"/>
                </a:avLst>
              </a:prstGeom>
              <a:solidFill>
                <a:schemeClr val="bg1"/>
              </a:solidFill>
              <a:ln w="12700">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98C7"/>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98C7"/>
                  </a:solidFill>
                  <a:effectLst/>
                  <a:uLnTx/>
                  <a:uFillTx/>
                  <a:latin typeface="Arial"/>
                  <a:ea typeface="Arial"/>
                  <a:cs typeface="Arial"/>
                  <a:sym typeface="Arial"/>
                </a:endParaRPr>
              </a:p>
            </p:txBody>
          </p:sp>
        </p:grpSp>
        <p:sp>
          <p:nvSpPr>
            <p:cNvPr id="173" name="Google Shape;6678;g2d30ebb658d_0_19789">
              <a:extLst>
                <a:ext uri="{FF2B5EF4-FFF2-40B4-BE49-F238E27FC236}">
                  <a16:creationId xmlns:a16="http://schemas.microsoft.com/office/drawing/2014/main" id="{C4CF7AFB-4468-A60E-A21D-8F1A535EC765}"/>
                </a:ext>
              </a:extLst>
            </p:cNvPr>
            <p:cNvSpPr/>
            <p:nvPr/>
          </p:nvSpPr>
          <p:spPr>
            <a:xfrm>
              <a:off x="2463667" y="3309972"/>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20" name="Group 19">
            <a:extLst>
              <a:ext uri="{FF2B5EF4-FFF2-40B4-BE49-F238E27FC236}">
                <a16:creationId xmlns:a16="http://schemas.microsoft.com/office/drawing/2014/main" id="{FD32A1B7-7EC8-F275-D7CF-B6D5E0705C0C}"/>
              </a:ext>
            </a:extLst>
          </p:cNvPr>
          <p:cNvGrpSpPr/>
          <p:nvPr/>
        </p:nvGrpSpPr>
        <p:grpSpPr>
          <a:xfrm>
            <a:off x="5544694" y="1239653"/>
            <a:ext cx="2078703" cy="4835977"/>
            <a:chOff x="6736954" y="1387023"/>
            <a:chExt cx="2078703" cy="4835977"/>
          </a:xfrm>
        </p:grpSpPr>
        <p:grpSp>
          <p:nvGrpSpPr>
            <p:cNvPr id="15" name="Group 14">
              <a:extLst>
                <a:ext uri="{FF2B5EF4-FFF2-40B4-BE49-F238E27FC236}">
                  <a16:creationId xmlns:a16="http://schemas.microsoft.com/office/drawing/2014/main" id="{86F9849E-55C9-5ACE-9502-B71B5FE26888}"/>
                </a:ext>
              </a:extLst>
            </p:cNvPr>
            <p:cNvGrpSpPr/>
            <p:nvPr/>
          </p:nvGrpSpPr>
          <p:grpSpPr>
            <a:xfrm>
              <a:off x="6736954" y="1387023"/>
              <a:ext cx="2078703" cy="4835977"/>
              <a:chOff x="6736954" y="1387023"/>
              <a:chExt cx="2078703" cy="4835977"/>
            </a:xfrm>
          </p:grpSpPr>
          <p:grpSp>
            <p:nvGrpSpPr>
              <p:cNvPr id="169" name="Group 168">
                <a:extLst>
                  <a:ext uri="{FF2B5EF4-FFF2-40B4-BE49-F238E27FC236}">
                    <a16:creationId xmlns:a16="http://schemas.microsoft.com/office/drawing/2014/main" id="{E8B15927-106D-A389-D649-EDEFEFBB46FD}"/>
                  </a:ext>
                </a:extLst>
              </p:cNvPr>
              <p:cNvGrpSpPr/>
              <p:nvPr/>
            </p:nvGrpSpPr>
            <p:grpSpPr>
              <a:xfrm>
                <a:off x="6736954" y="1387023"/>
                <a:ext cx="2078703" cy="4835977"/>
                <a:chOff x="6736954" y="1387023"/>
                <a:chExt cx="2078703" cy="4835977"/>
              </a:xfrm>
            </p:grpSpPr>
            <p:sp>
              <p:nvSpPr>
                <p:cNvPr id="70" name="Google Shape;6678;g2d30ebb658d_0_19789">
                  <a:extLst>
                    <a:ext uri="{FF2B5EF4-FFF2-40B4-BE49-F238E27FC236}">
                      <a16:creationId xmlns:a16="http://schemas.microsoft.com/office/drawing/2014/main" id="{5B40CC5E-4983-C601-0E31-7D673129F134}"/>
                    </a:ext>
                  </a:extLst>
                </p:cNvPr>
                <p:cNvSpPr/>
                <p:nvPr/>
              </p:nvSpPr>
              <p:spPr>
                <a:xfrm>
                  <a:off x="6736954" y="1387023"/>
                  <a:ext cx="2078703" cy="4835977"/>
                </a:xfrm>
                <a:prstGeom prst="roundRect">
                  <a:avLst>
                    <a:gd name="adj" fmla="val 2356"/>
                  </a:avLst>
                </a:prstGeom>
                <a:solidFill>
                  <a:schemeClr val="accent1">
                    <a:alpha val="9746"/>
                  </a:schemeClr>
                </a:solidFill>
                <a:ln w="9525">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1" name="Google Shape;6705;g2d30ebb658d_0_19789">
                  <a:extLst>
                    <a:ext uri="{FF2B5EF4-FFF2-40B4-BE49-F238E27FC236}">
                      <a16:creationId xmlns:a16="http://schemas.microsoft.com/office/drawing/2014/main" id="{BEC9F77C-5586-FE0B-11C2-723032C01917}"/>
                    </a:ext>
                  </a:extLst>
                </p:cNvPr>
                <p:cNvSpPr/>
                <p:nvPr/>
              </p:nvSpPr>
              <p:spPr>
                <a:xfrm>
                  <a:off x="6934697" y="1844681"/>
                  <a:ext cx="1662975"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72" name="Google Shape;6705;g2d30ebb658d_0_19789">
                  <a:extLst>
                    <a:ext uri="{FF2B5EF4-FFF2-40B4-BE49-F238E27FC236}">
                      <a16:creationId xmlns:a16="http://schemas.microsoft.com/office/drawing/2014/main" id="{A1C718E2-4D9F-C5E8-1821-225F3BFAF361}"/>
                    </a:ext>
                  </a:extLst>
                </p:cNvPr>
                <p:cNvSpPr/>
                <p:nvPr/>
              </p:nvSpPr>
              <p:spPr>
                <a:xfrm>
                  <a:off x="6936628" y="1649913"/>
                  <a:ext cx="1661044" cy="144193"/>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73" name="TextBox 72">
                  <a:extLst>
                    <a:ext uri="{FF2B5EF4-FFF2-40B4-BE49-F238E27FC236}">
                      <a16:creationId xmlns:a16="http://schemas.microsoft.com/office/drawing/2014/main" id="{7E65EABA-AA25-E687-C796-BD1D78731DF7}"/>
                    </a:ext>
                  </a:extLst>
                </p:cNvPr>
                <p:cNvSpPr txBox="1"/>
                <p:nvPr/>
              </p:nvSpPr>
              <p:spPr>
                <a:xfrm>
                  <a:off x="7481185" y="142777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sp>
              <p:nvSpPr>
                <p:cNvPr id="76" name="Google Shape;6678;g2d30ebb658d_0_19789">
                  <a:extLst>
                    <a:ext uri="{FF2B5EF4-FFF2-40B4-BE49-F238E27FC236}">
                      <a16:creationId xmlns:a16="http://schemas.microsoft.com/office/drawing/2014/main" id="{D13C3B15-FB70-F7A0-E6EF-7763CA5E2A04}"/>
                    </a:ext>
                  </a:extLst>
                </p:cNvPr>
                <p:cNvSpPr/>
                <p:nvPr/>
              </p:nvSpPr>
              <p:spPr>
                <a:xfrm>
                  <a:off x="6815912" y="5848404"/>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77" name="Group 76">
                  <a:extLst>
                    <a:ext uri="{FF2B5EF4-FFF2-40B4-BE49-F238E27FC236}">
                      <a16:creationId xmlns:a16="http://schemas.microsoft.com/office/drawing/2014/main" id="{02F22A55-0F23-FDD3-536F-D25CD72B926D}"/>
                    </a:ext>
                  </a:extLst>
                </p:cNvPr>
                <p:cNvGrpSpPr/>
                <p:nvPr/>
              </p:nvGrpSpPr>
              <p:grpSpPr>
                <a:xfrm>
                  <a:off x="6818056" y="2081242"/>
                  <a:ext cx="1909145" cy="3700692"/>
                  <a:chOff x="4353920" y="2081242"/>
                  <a:chExt cx="1909145" cy="3700692"/>
                </a:xfrm>
              </p:grpSpPr>
              <p:sp>
                <p:nvSpPr>
                  <p:cNvPr id="78" name="Google Shape;6678;g2d30ebb658d_0_19789">
                    <a:extLst>
                      <a:ext uri="{FF2B5EF4-FFF2-40B4-BE49-F238E27FC236}">
                        <a16:creationId xmlns:a16="http://schemas.microsoft.com/office/drawing/2014/main" id="{3B523E2A-4F1F-BC02-F62E-B4D391F5FA56}"/>
                      </a:ext>
                    </a:extLst>
                  </p:cNvPr>
                  <p:cNvSpPr/>
                  <p:nvPr/>
                </p:nvSpPr>
                <p:spPr>
                  <a:xfrm>
                    <a:off x="4353920" y="2081242"/>
                    <a:ext cx="1909145" cy="370069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9" name="Google Shape;6678;g2d30ebb658d_0_19789">
                    <a:extLst>
                      <a:ext uri="{FF2B5EF4-FFF2-40B4-BE49-F238E27FC236}">
                        <a16:creationId xmlns:a16="http://schemas.microsoft.com/office/drawing/2014/main" id="{2CA52A52-1B22-F0AD-8063-157AC55EBDD9}"/>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80" name="Google Shape;6705;g2d30ebb658d_0_19789">
                    <a:extLst>
                      <a:ext uri="{FF2B5EF4-FFF2-40B4-BE49-F238E27FC236}">
                        <a16:creationId xmlns:a16="http://schemas.microsoft.com/office/drawing/2014/main" id="{0D5A46E9-004E-F8BF-19CE-E21F8C78B83C}"/>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1"/>
                        </a:gs>
                        <a:gs pos="100000">
                          <a:schemeClr val="accent1">
                            <a:lumMod val="30000"/>
                            <a:lumOff val="70000"/>
                          </a:schemeClr>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81" name="Google Shape;6707;g2d30ebb658d_0_19789">
                    <a:extLst>
                      <a:ext uri="{FF2B5EF4-FFF2-40B4-BE49-F238E27FC236}">
                        <a16:creationId xmlns:a16="http://schemas.microsoft.com/office/drawing/2014/main" id="{1B29AD32-FBC8-2365-1852-2B30D07F7CA2}"/>
                      </a:ext>
                    </a:extLst>
                  </p:cNvPr>
                  <p:cNvGrpSpPr/>
                  <p:nvPr/>
                </p:nvGrpSpPr>
                <p:grpSpPr>
                  <a:xfrm>
                    <a:off x="5721290" y="3680282"/>
                    <a:ext cx="283155" cy="283154"/>
                    <a:chOff x="10722212" y="2729558"/>
                    <a:chExt cx="663407" cy="663407"/>
                  </a:xfrm>
                </p:grpSpPr>
                <p:sp>
                  <p:nvSpPr>
                    <p:cNvPr id="97" name="Google Shape;6708;g2d30ebb658d_0_19789">
                      <a:extLst>
                        <a:ext uri="{FF2B5EF4-FFF2-40B4-BE49-F238E27FC236}">
                          <a16:creationId xmlns:a16="http://schemas.microsoft.com/office/drawing/2014/main" id="{CCB43C7B-4FB1-E889-CA7F-03B3183A9049}"/>
                        </a:ext>
                      </a:extLst>
                    </p:cNvPr>
                    <p:cNvSpPr>
                      <a:spLocks noChangeAspect="1"/>
                    </p:cNvSpPr>
                    <p:nvPr/>
                  </p:nvSpPr>
                  <p:spPr>
                    <a:xfrm>
                      <a:off x="10722212" y="2729558"/>
                      <a:ext cx="663407" cy="663407"/>
                    </a:xfrm>
                    <a:prstGeom prst="ellipse">
                      <a:avLst/>
                    </a:prstGeom>
                    <a:solidFill>
                      <a:schemeClr val="accent1"/>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8" name="Google Shape;6709;g2d30ebb658d_0_19789">
                      <a:extLst>
                        <a:ext uri="{FF2B5EF4-FFF2-40B4-BE49-F238E27FC236}">
                          <a16:creationId xmlns:a16="http://schemas.microsoft.com/office/drawing/2014/main" id="{6582DED3-D8A6-3A5A-D258-B592A3F87796}"/>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82" name="Google Shape;6710;g2d30ebb658d_0_19789">
                    <a:extLst>
                      <a:ext uri="{FF2B5EF4-FFF2-40B4-BE49-F238E27FC236}">
                        <a16:creationId xmlns:a16="http://schemas.microsoft.com/office/drawing/2014/main" id="{01D9E5FA-5403-9028-93D9-CF8EF840A5C3}"/>
                      </a:ext>
                    </a:extLst>
                  </p:cNvPr>
                  <p:cNvGrpSpPr/>
                  <p:nvPr/>
                </p:nvGrpSpPr>
                <p:grpSpPr>
                  <a:xfrm>
                    <a:off x="4576370" y="3680163"/>
                    <a:ext cx="283155" cy="283154"/>
                    <a:chOff x="572541" y="5475121"/>
                    <a:chExt cx="663407" cy="663407"/>
                  </a:xfrm>
                </p:grpSpPr>
                <p:sp>
                  <p:nvSpPr>
                    <p:cNvPr id="95" name="Google Shape;6711;g2d30ebb658d_0_19789">
                      <a:extLst>
                        <a:ext uri="{FF2B5EF4-FFF2-40B4-BE49-F238E27FC236}">
                          <a16:creationId xmlns:a16="http://schemas.microsoft.com/office/drawing/2014/main" id="{2763DC11-2FA4-12FD-B89B-AFA2B78036C5}"/>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6" name="Google Shape;6712;g2d30ebb658d_0_19789">
                      <a:extLst>
                        <a:ext uri="{FF2B5EF4-FFF2-40B4-BE49-F238E27FC236}">
                          <a16:creationId xmlns:a16="http://schemas.microsoft.com/office/drawing/2014/main" id="{AE034C8C-D257-98F4-F928-2A673D989166}"/>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83" name="Google Shape;6713;g2d30ebb658d_0_19789">
                    <a:extLst>
                      <a:ext uri="{FF2B5EF4-FFF2-40B4-BE49-F238E27FC236}">
                        <a16:creationId xmlns:a16="http://schemas.microsoft.com/office/drawing/2014/main" id="{77379FAD-AB49-C377-996F-5E566916594C}"/>
                      </a:ext>
                    </a:extLst>
                  </p:cNvPr>
                  <p:cNvGrpSpPr/>
                  <p:nvPr/>
                </p:nvGrpSpPr>
                <p:grpSpPr>
                  <a:xfrm>
                    <a:off x="5144738" y="3680164"/>
                    <a:ext cx="283155" cy="283154"/>
                    <a:chOff x="9272259" y="5475121"/>
                    <a:chExt cx="663407" cy="663407"/>
                  </a:xfrm>
                </p:grpSpPr>
                <p:sp>
                  <p:nvSpPr>
                    <p:cNvPr id="93" name="Google Shape;6714;g2d30ebb658d_0_19789">
                      <a:extLst>
                        <a:ext uri="{FF2B5EF4-FFF2-40B4-BE49-F238E27FC236}">
                          <a16:creationId xmlns:a16="http://schemas.microsoft.com/office/drawing/2014/main" id="{5BF8FB6A-89C6-39C3-9C7D-5323EB8BA037}"/>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1"/>
                        </a:gs>
                        <a:gs pos="95000">
                          <a:schemeClr val="accent1"/>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4" name="Google Shape;6715;g2d30ebb658d_0_19789">
                      <a:extLst>
                        <a:ext uri="{FF2B5EF4-FFF2-40B4-BE49-F238E27FC236}">
                          <a16:creationId xmlns:a16="http://schemas.microsoft.com/office/drawing/2014/main" id="{ED93F7FF-CB55-AB65-5866-50DE86A2E512}"/>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84" name="Google Shape;6704;g2d30ebb658d_0_19789">
                    <a:extLst>
                      <a:ext uri="{FF2B5EF4-FFF2-40B4-BE49-F238E27FC236}">
                        <a16:creationId xmlns:a16="http://schemas.microsoft.com/office/drawing/2014/main" id="{8C325503-013A-5470-0066-FF0C770C3D01}"/>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1"/>
                        </a:gs>
                        <a:gs pos="100000">
                          <a:schemeClr val="accent1"/>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5" name="TextBox 84">
                    <a:extLst>
                      <a:ext uri="{FF2B5EF4-FFF2-40B4-BE49-F238E27FC236}">
                        <a16:creationId xmlns:a16="http://schemas.microsoft.com/office/drawing/2014/main" id="{E4848FBB-980E-0919-F76F-5E63575DC978}"/>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86" name="Google Shape;6705;g2d30ebb658d_0_19789">
                    <a:extLst>
                      <a:ext uri="{FF2B5EF4-FFF2-40B4-BE49-F238E27FC236}">
                        <a16:creationId xmlns:a16="http://schemas.microsoft.com/office/drawing/2014/main" id="{4BEA1847-5185-AB1B-51EB-CBED65BB0644}"/>
                      </a:ext>
                    </a:extLst>
                  </p:cNvPr>
                  <p:cNvSpPr/>
                  <p:nvPr/>
                </p:nvSpPr>
                <p:spPr>
                  <a:xfrm>
                    <a:off x="4738816" y="2666396"/>
                    <a:ext cx="1130643"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87" name="Google Shape;6678;g2d30ebb658d_0_19789">
                    <a:extLst>
                      <a:ext uri="{FF2B5EF4-FFF2-40B4-BE49-F238E27FC236}">
                        <a16:creationId xmlns:a16="http://schemas.microsoft.com/office/drawing/2014/main" id="{882C9A6A-2941-F0F4-F328-D4EB42E6F760}"/>
                      </a:ext>
                    </a:extLst>
                  </p:cNvPr>
                  <p:cNvSpPr/>
                  <p:nvPr/>
                </p:nvSpPr>
                <p:spPr>
                  <a:xfrm>
                    <a:off x="4989674" y="3264891"/>
                    <a:ext cx="701104" cy="151298"/>
                  </a:xfrm>
                  <a:prstGeom prst="roundRect">
                    <a:avLst>
                      <a:gd name="adj" fmla="val 2356"/>
                    </a:avLst>
                  </a:prstGeom>
                  <a:solidFill>
                    <a:schemeClr val="bg1"/>
                  </a:solidFill>
                  <a:ln w="12700">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007B8C"/>
                      </a:solidFill>
                      <a:effectLst/>
                      <a:uLnTx/>
                      <a:uFillTx/>
                      <a:latin typeface="Arial"/>
                      <a:ea typeface="Arial"/>
                      <a:cs typeface="Arial"/>
                      <a:sym typeface="Arial"/>
                    </a:endParaRPr>
                  </a:p>
                </p:txBody>
              </p:sp>
              <p:sp>
                <p:nvSpPr>
                  <p:cNvPr id="88" name="Google Shape;6678;g2d30ebb658d_0_19789">
                    <a:extLst>
                      <a:ext uri="{FF2B5EF4-FFF2-40B4-BE49-F238E27FC236}">
                        <a16:creationId xmlns:a16="http://schemas.microsoft.com/office/drawing/2014/main" id="{99672C8F-CDC3-C80F-E1CE-162896B5BF6C}"/>
                      </a:ext>
                    </a:extLst>
                  </p:cNvPr>
                  <p:cNvSpPr/>
                  <p:nvPr/>
                </p:nvSpPr>
                <p:spPr>
                  <a:xfrm>
                    <a:off x="4738816" y="2868207"/>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9" name="TextBox 88">
                    <a:extLst>
                      <a:ext uri="{FF2B5EF4-FFF2-40B4-BE49-F238E27FC236}">
                        <a16:creationId xmlns:a16="http://schemas.microsoft.com/office/drawing/2014/main" id="{14F51078-1E8B-252F-E5FA-87536805979C}"/>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a:t>
                    </a:r>
                  </a:p>
                </p:txBody>
              </p:sp>
              <p:sp>
                <p:nvSpPr>
                  <p:cNvPr id="90" name="Google Shape;6705;g2d30ebb658d_0_19789">
                    <a:extLst>
                      <a:ext uri="{FF2B5EF4-FFF2-40B4-BE49-F238E27FC236}">
                        <a16:creationId xmlns:a16="http://schemas.microsoft.com/office/drawing/2014/main" id="{3CDD6E36-2182-D782-358F-D85A8F592C29}"/>
                      </a:ext>
                    </a:extLst>
                  </p:cNvPr>
                  <p:cNvSpPr/>
                  <p:nvPr/>
                </p:nvSpPr>
                <p:spPr>
                  <a:xfrm>
                    <a:off x="4738816" y="3064305"/>
                    <a:ext cx="1130643"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pic>
                <p:nvPicPr>
                  <p:cNvPr id="92" name="Google Shape;6699;p92">
                    <a:extLst>
                      <a:ext uri="{FF2B5EF4-FFF2-40B4-BE49-F238E27FC236}">
                        <a16:creationId xmlns:a16="http://schemas.microsoft.com/office/drawing/2014/main" id="{A3CC6D17-63A6-8E06-E52D-F512E557CEE7}"/>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99" name="TextBox 98">
                  <a:extLst>
                    <a:ext uri="{FF2B5EF4-FFF2-40B4-BE49-F238E27FC236}">
                      <a16:creationId xmlns:a16="http://schemas.microsoft.com/office/drawing/2014/main" id="{40EDD8FF-C059-1429-4ED0-6837A5F3534A}"/>
                    </a:ext>
                  </a:extLst>
                </p:cNvPr>
                <p:cNvSpPr txBox="1"/>
                <p:nvPr/>
              </p:nvSpPr>
              <p:spPr>
                <a:xfrm>
                  <a:off x="7198706"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Additional VCF Instances</a:t>
                  </a:r>
                </a:p>
              </p:txBody>
            </p:sp>
            <p:pic>
              <p:nvPicPr>
                <p:cNvPr id="100" name="Google Shape;6699;p92">
                  <a:extLst>
                    <a:ext uri="{FF2B5EF4-FFF2-40B4-BE49-F238E27FC236}">
                      <a16:creationId xmlns:a16="http://schemas.microsoft.com/office/drawing/2014/main" id="{7C40815C-A673-65CA-F9D2-19B3CC22C9DA}"/>
                    </a:ext>
                  </a:extLst>
                </p:cNvPr>
                <p:cNvPicPr preferRelativeResize="0">
                  <a:picLocks noChangeAspect="1"/>
                </p:cNvPicPr>
                <p:nvPr/>
              </p:nvPicPr>
              <p:blipFill rotWithShape="1">
                <a:blip r:embed="rId3">
                  <a:alphaModFix/>
                </a:blip>
                <a:srcRect/>
                <a:stretch/>
              </p:blipFill>
              <p:spPr>
                <a:xfrm>
                  <a:off x="6921162" y="5894009"/>
                  <a:ext cx="220483" cy="220483"/>
                </a:xfrm>
                <a:prstGeom prst="rect">
                  <a:avLst/>
                </a:prstGeom>
                <a:noFill/>
                <a:ln>
                  <a:noFill/>
                </a:ln>
              </p:spPr>
            </p:pic>
            <p:grpSp>
              <p:nvGrpSpPr>
                <p:cNvPr id="101" name="Group 100">
                  <a:extLst>
                    <a:ext uri="{FF2B5EF4-FFF2-40B4-BE49-F238E27FC236}">
                      <a16:creationId xmlns:a16="http://schemas.microsoft.com/office/drawing/2014/main" id="{6C151793-07FB-B812-1CF5-0A814A6BD97B}"/>
                    </a:ext>
                  </a:extLst>
                </p:cNvPr>
                <p:cNvGrpSpPr/>
                <p:nvPr/>
              </p:nvGrpSpPr>
              <p:grpSpPr>
                <a:xfrm>
                  <a:off x="6881366" y="4189923"/>
                  <a:ext cx="1769718" cy="1537778"/>
                  <a:chOff x="4421988" y="4189923"/>
                  <a:chExt cx="1769718" cy="1537778"/>
                </a:xfrm>
              </p:grpSpPr>
              <p:sp>
                <p:nvSpPr>
                  <p:cNvPr id="102" name="Google Shape;6678;g2d30ebb658d_0_19789">
                    <a:extLst>
                      <a:ext uri="{FF2B5EF4-FFF2-40B4-BE49-F238E27FC236}">
                        <a16:creationId xmlns:a16="http://schemas.microsoft.com/office/drawing/2014/main" id="{279A0C4D-194D-62CE-5AAB-6DB2507A3D0D}"/>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03" name="Google Shape;6705;g2d30ebb658d_0_19789">
                    <a:extLst>
                      <a:ext uri="{FF2B5EF4-FFF2-40B4-BE49-F238E27FC236}">
                        <a16:creationId xmlns:a16="http://schemas.microsoft.com/office/drawing/2014/main" id="{D4C7FDA5-5422-3857-B877-E324C20790AC}"/>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1"/>
                        </a:gs>
                        <a:gs pos="100000">
                          <a:schemeClr val="accent1">
                            <a:lumMod val="30000"/>
                            <a:lumOff val="70000"/>
                          </a:schemeClr>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04" name="Google Shape;6707;g2d30ebb658d_0_19789">
                    <a:extLst>
                      <a:ext uri="{FF2B5EF4-FFF2-40B4-BE49-F238E27FC236}">
                        <a16:creationId xmlns:a16="http://schemas.microsoft.com/office/drawing/2014/main" id="{6B0B36CB-780F-B85D-C0A9-C20E5A0A100B}"/>
                      </a:ext>
                    </a:extLst>
                  </p:cNvPr>
                  <p:cNvGrpSpPr/>
                  <p:nvPr/>
                </p:nvGrpSpPr>
                <p:grpSpPr>
                  <a:xfrm>
                    <a:off x="5721290" y="5324870"/>
                    <a:ext cx="283155" cy="283154"/>
                    <a:chOff x="10722212" y="2729558"/>
                    <a:chExt cx="663407" cy="663407"/>
                  </a:xfrm>
                </p:grpSpPr>
                <p:sp>
                  <p:nvSpPr>
                    <p:cNvPr id="117" name="Google Shape;6708;g2d30ebb658d_0_19789">
                      <a:extLst>
                        <a:ext uri="{FF2B5EF4-FFF2-40B4-BE49-F238E27FC236}">
                          <a16:creationId xmlns:a16="http://schemas.microsoft.com/office/drawing/2014/main" id="{4522B2BE-6F10-6903-D85F-4CCB57BA3310}"/>
                        </a:ext>
                      </a:extLst>
                    </p:cNvPr>
                    <p:cNvSpPr>
                      <a:spLocks noChangeAspect="1"/>
                    </p:cNvSpPr>
                    <p:nvPr/>
                  </p:nvSpPr>
                  <p:spPr>
                    <a:xfrm>
                      <a:off x="10722212" y="2729558"/>
                      <a:ext cx="663407" cy="663407"/>
                    </a:xfrm>
                    <a:prstGeom prst="ellipse">
                      <a:avLst/>
                    </a:prstGeom>
                    <a:solidFill>
                      <a:schemeClr val="accent1"/>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8" name="Google Shape;6709;g2d30ebb658d_0_19789">
                      <a:extLst>
                        <a:ext uri="{FF2B5EF4-FFF2-40B4-BE49-F238E27FC236}">
                          <a16:creationId xmlns:a16="http://schemas.microsoft.com/office/drawing/2014/main" id="{31B2C12A-3C90-F40F-0558-2A053D55BBF9}"/>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05" name="Google Shape;6710;g2d30ebb658d_0_19789">
                    <a:extLst>
                      <a:ext uri="{FF2B5EF4-FFF2-40B4-BE49-F238E27FC236}">
                        <a16:creationId xmlns:a16="http://schemas.microsoft.com/office/drawing/2014/main" id="{CDBC1376-0BB3-5583-0AC1-DE5EC8DBB828}"/>
                      </a:ext>
                    </a:extLst>
                  </p:cNvPr>
                  <p:cNvGrpSpPr/>
                  <p:nvPr/>
                </p:nvGrpSpPr>
                <p:grpSpPr>
                  <a:xfrm>
                    <a:off x="4576370" y="5324751"/>
                    <a:ext cx="283155" cy="283154"/>
                    <a:chOff x="572541" y="5475121"/>
                    <a:chExt cx="663407" cy="663407"/>
                  </a:xfrm>
                </p:grpSpPr>
                <p:sp>
                  <p:nvSpPr>
                    <p:cNvPr id="115" name="Google Shape;6711;g2d30ebb658d_0_19789">
                      <a:extLst>
                        <a:ext uri="{FF2B5EF4-FFF2-40B4-BE49-F238E27FC236}">
                          <a16:creationId xmlns:a16="http://schemas.microsoft.com/office/drawing/2014/main" id="{08E61F22-603E-61FD-04CB-8C204C9CABFA}"/>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6" name="Google Shape;6712;g2d30ebb658d_0_19789">
                      <a:extLst>
                        <a:ext uri="{FF2B5EF4-FFF2-40B4-BE49-F238E27FC236}">
                          <a16:creationId xmlns:a16="http://schemas.microsoft.com/office/drawing/2014/main" id="{2B0F9C20-4A24-534F-5CB0-E5E95A270088}"/>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06" name="Google Shape;6713;g2d30ebb658d_0_19789">
                    <a:extLst>
                      <a:ext uri="{FF2B5EF4-FFF2-40B4-BE49-F238E27FC236}">
                        <a16:creationId xmlns:a16="http://schemas.microsoft.com/office/drawing/2014/main" id="{CC42CF3D-C460-D414-A494-A3C6458F19BB}"/>
                      </a:ext>
                    </a:extLst>
                  </p:cNvPr>
                  <p:cNvGrpSpPr/>
                  <p:nvPr/>
                </p:nvGrpSpPr>
                <p:grpSpPr>
                  <a:xfrm>
                    <a:off x="5144738" y="5324752"/>
                    <a:ext cx="283155" cy="283154"/>
                    <a:chOff x="9272259" y="5475121"/>
                    <a:chExt cx="663407" cy="663407"/>
                  </a:xfrm>
                </p:grpSpPr>
                <p:sp>
                  <p:nvSpPr>
                    <p:cNvPr id="113" name="Google Shape;6714;g2d30ebb658d_0_19789">
                      <a:extLst>
                        <a:ext uri="{FF2B5EF4-FFF2-40B4-BE49-F238E27FC236}">
                          <a16:creationId xmlns:a16="http://schemas.microsoft.com/office/drawing/2014/main" id="{D225208F-CBD6-DE26-F925-219A6B41B571}"/>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1"/>
                        </a:gs>
                        <a:gs pos="95000">
                          <a:schemeClr val="accent1"/>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4" name="Google Shape;6715;g2d30ebb658d_0_19789">
                      <a:extLst>
                        <a:ext uri="{FF2B5EF4-FFF2-40B4-BE49-F238E27FC236}">
                          <a16:creationId xmlns:a16="http://schemas.microsoft.com/office/drawing/2014/main" id="{971E4CCF-37B7-8333-C677-C6EB43FE7D5B}"/>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07" name="Google Shape;6704;g2d30ebb658d_0_19789">
                    <a:extLst>
                      <a:ext uri="{FF2B5EF4-FFF2-40B4-BE49-F238E27FC236}">
                        <a16:creationId xmlns:a16="http://schemas.microsoft.com/office/drawing/2014/main" id="{960D4A6D-F8A0-4F8E-84A0-DEEFB1647E08}"/>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1"/>
                        </a:gs>
                        <a:gs pos="100000">
                          <a:schemeClr val="accent1"/>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Additional Workload Domains</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8" name="TextBox 107">
                    <a:extLst>
                      <a:ext uri="{FF2B5EF4-FFF2-40B4-BE49-F238E27FC236}">
                        <a16:creationId xmlns:a16="http://schemas.microsoft.com/office/drawing/2014/main" id="{A256EE99-1901-C872-02B4-10B6668F7E3B}"/>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09" name="Google Shape;6678;g2d30ebb658d_0_19789">
                    <a:extLst>
                      <a:ext uri="{FF2B5EF4-FFF2-40B4-BE49-F238E27FC236}">
                        <a16:creationId xmlns:a16="http://schemas.microsoft.com/office/drawing/2014/main" id="{0F8B8B9C-4C50-05FA-1A1D-0863DC0BBE6D}"/>
                      </a:ext>
                    </a:extLst>
                  </p:cNvPr>
                  <p:cNvSpPr/>
                  <p:nvPr/>
                </p:nvSpPr>
                <p:spPr>
                  <a:xfrm>
                    <a:off x="4735103" y="4725882"/>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10" name="Google Shape;6678;g2d30ebb658d_0_19789">
                    <a:extLst>
                      <a:ext uri="{FF2B5EF4-FFF2-40B4-BE49-F238E27FC236}">
                        <a16:creationId xmlns:a16="http://schemas.microsoft.com/office/drawing/2014/main" id="{B915B6BC-0365-C8C2-7B41-D586ED0109A7}"/>
                      </a:ext>
                    </a:extLst>
                  </p:cNvPr>
                  <p:cNvSpPr/>
                  <p:nvPr/>
                </p:nvSpPr>
                <p:spPr>
                  <a:xfrm>
                    <a:off x="4738816" y="4535240"/>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11" name="Google Shape;6678;g2d30ebb658d_0_19789">
                    <a:extLst>
                      <a:ext uri="{FF2B5EF4-FFF2-40B4-BE49-F238E27FC236}">
                        <a16:creationId xmlns:a16="http://schemas.microsoft.com/office/drawing/2014/main" id="{3534BA1A-4B3B-EBE0-5789-CE04DBE600BD}"/>
                      </a:ext>
                    </a:extLst>
                  </p:cNvPr>
                  <p:cNvSpPr/>
                  <p:nvPr/>
                </p:nvSpPr>
                <p:spPr>
                  <a:xfrm>
                    <a:off x="4978293" y="4921845"/>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grpSp>
          <p:sp>
            <p:nvSpPr>
              <p:cNvPr id="174" name="Google Shape;6678;g2d30ebb658d_0_19789">
                <a:extLst>
                  <a:ext uri="{FF2B5EF4-FFF2-40B4-BE49-F238E27FC236}">
                    <a16:creationId xmlns:a16="http://schemas.microsoft.com/office/drawing/2014/main" id="{AA117159-3787-17D3-CF0B-D56F533908FB}"/>
                  </a:ext>
                </a:extLst>
              </p:cNvPr>
              <p:cNvSpPr/>
              <p:nvPr/>
            </p:nvSpPr>
            <p:spPr>
              <a:xfrm>
                <a:off x="7375387" y="4966927"/>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sp>
          <p:nvSpPr>
            <p:cNvPr id="176" name="Google Shape;6678;g2d30ebb658d_0_19789">
              <a:extLst>
                <a:ext uri="{FF2B5EF4-FFF2-40B4-BE49-F238E27FC236}">
                  <a16:creationId xmlns:a16="http://schemas.microsoft.com/office/drawing/2014/main" id="{EEDF50E6-5BED-511B-EF9C-071AC4AF42C2}"/>
                </a:ext>
              </a:extLst>
            </p:cNvPr>
            <p:cNvSpPr/>
            <p:nvPr/>
          </p:nvSpPr>
          <p:spPr>
            <a:xfrm>
              <a:off x="7391526" y="3309973"/>
              <a:ext cx="701104" cy="151298"/>
            </a:xfrm>
            <a:prstGeom prst="roundRect">
              <a:avLst>
                <a:gd name="adj" fmla="val 2356"/>
              </a:avLst>
            </a:prstGeom>
            <a:solidFill>
              <a:schemeClr val="bg1"/>
            </a:solidFill>
            <a:ln w="12700">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7B8C"/>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7B8C"/>
                </a:solidFill>
                <a:effectLst/>
                <a:uLnTx/>
                <a:uFillTx/>
                <a:latin typeface="Arial"/>
                <a:ea typeface="Arial"/>
                <a:cs typeface="Arial"/>
                <a:sym typeface="Arial"/>
              </a:endParaRPr>
            </a:p>
          </p:txBody>
        </p:sp>
      </p:grpSp>
      <p:grpSp>
        <p:nvGrpSpPr>
          <p:cNvPr id="10" name="Group 9">
            <a:extLst>
              <a:ext uri="{FF2B5EF4-FFF2-40B4-BE49-F238E27FC236}">
                <a16:creationId xmlns:a16="http://schemas.microsoft.com/office/drawing/2014/main" id="{BFC47AE8-37D8-0A27-3F29-3C4496D14FA5}"/>
              </a:ext>
            </a:extLst>
          </p:cNvPr>
          <p:cNvGrpSpPr/>
          <p:nvPr/>
        </p:nvGrpSpPr>
        <p:grpSpPr>
          <a:xfrm>
            <a:off x="3268966" y="5695141"/>
            <a:ext cx="1909145" cy="308820"/>
            <a:chOff x="4357596" y="5842511"/>
            <a:chExt cx="1909145" cy="308820"/>
          </a:xfrm>
        </p:grpSpPr>
        <p:sp>
          <p:nvSpPr>
            <p:cNvPr id="63" name="Google Shape;6678;g2d30ebb658d_0_19789">
              <a:extLst>
                <a:ext uri="{FF2B5EF4-FFF2-40B4-BE49-F238E27FC236}">
                  <a16:creationId xmlns:a16="http://schemas.microsoft.com/office/drawing/2014/main" id="{F4ECE781-2551-D918-9E3B-D392FB5EF5D5}"/>
                </a:ext>
              </a:extLst>
            </p:cNvPr>
            <p:cNvSpPr/>
            <p:nvPr/>
          </p:nvSpPr>
          <p:spPr>
            <a:xfrm>
              <a:off x="4357596" y="5842511"/>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6" name="TextBox 65">
              <a:extLst>
                <a:ext uri="{FF2B5EF4-FFF2-40B4-BE49-F238E27FC236}">
                  <a16:creationId xmlns:a16="http://schemas.microsoft.com/office/drawing/2014/main" id="{2C0C836B-13FF-D6E9-109C-C95B0E9E4DC1}"/>
                </a:ext>
              </a:extLst>
            </p:cNvPr>
            <p:cNvSpPr txBox="1"/>
            <p:nvPr/>
          </p:nvSpPr>
          <p:spPr>
            <a:xfrm>
              <a:off x="4734570"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Additional VCF Instances</a:t>
              </a:r>
            </a:p>
          </p:txBody>
        </p:sp>
        <p:pic>
          <p:nvPicPr>
            <p:cNvPr id="67" name="Google Shape;6699;p92">
              <a:extLst>
                <a:ext uri="{FF2B5EF4-FFF2-40B4-BE49-F238E27FC236}">
                  <a16:creationId xmlns:a16="http://schemas.microsoft.com/office/drawing/2014/main" id="{00BB943B-95BB-06F7-345B-C44A14F5311D}"/>
                </a:ext>
              </a:extLst>
            </p:cNvPr>
            <p:cNvPicPr preferRelativeResize="0">
              <a:picLocks noChangeAspect="1"/>
            </p:cNvPicPr>
            <p:nvPr/>
          </p:nvPicPr>
          <p:blipFill rotWithShape="1">
            <a:blip r:embed="rId3">
              <a:alphaModFix/>
            </a:blip>
            <a:srcRect/>
            <a:stretch/>
          </p:blipFill>
          <p:spPr>
            <a:xfrm>
              <a:off x="4457026" y="5894009"/>
              <a:ext cx="220483" cy="220483"/>
            </a:xfrm>
            <a:prstGeom prst="rect">
              <a:avLst/>
            </a:prstGeom>
            <a:noFill/>
            <a:ln>
              <a:noFill/>
            </a:ln>
          </p:spPr>
        </p:pic>
      </p:grpSp>
      <p:sp>
        <p:nvSpPr>
          <p:cNvPr id="27" name="Google Shape;6678;g2d30ebb658d_0_19789">
            <a:extLst>
              <a:ext uri="{FF2B5EF4-FFF2-40B4-BE49-F238E27FC236}">
                <a16:creationId xmlns:a16="http://schemas.microsoft.com/office/drawing/2014/main" id="{837F91DB-0DF8-670E-44C6-F855845CEC03}"/>
              </a:ext>
            </a:extLst>
          </p:cNvPr>
          <p:cNvSpPr/>
          <p:nvPr/>
        </p:nvSpPr>
        <p:spPr>
          <a:xfrm>
            <a:off x="3265638" y="1928580"/>
            <a:ext cx="1909145" cy="370598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1" name="Group 10">
            <a:extLst>
              <a:ext uri="{FF2B5EF4-FFF2-40B4-BE49-F238E27FC236}">
                <a16:creationId xmlns:a16="http://schemas.microsoft.com/office/drawing/2014/main" id="{22DA4097-4B09-D270-74C5-156910F90706}"/>
              </a:ext>
            </a:extLst>
          </p:cNvPr>
          <p:cNvGrpSpPr/>
          <p:nvPr/>
        </p:nvGrpSpPr>
        <p:grpSpPr>
          <a:xfrm>
            <a:off x="3328600" y="4042553"/>
            <a:ext cx="1769718" cy="1537778"/>
            <a:chOff x="4417230" y="4189923"/>
            <a:chExt cx="1769718" cy="1537778"/>
          </a:xfrm>
        </p:grpSpPr>
        <p:grpSp>
          <p:nvGrpSpPr>
            <p:cNvPr id="69" name="Group 68">
              <a:extLst>
                <a:ext uri="{FF2B5EF4-FFF2-40B4-BE49-F238E27FC236}">
                  <a16:creationId xmlns:a16="http://schemas.microsoft.com/office/drawing/2014/main" id="{1790CC3B-2A32-D767-FCC9-3D77D860104A}"/>
                </a:ext>
              </a:extLst>
            </p:cNvPr>
            <p:cNvGrpSpPr/>
            <p:nvPr/>
          </p:nvGrpSpPr>
          <p:grpSpPr>
            <a:xfrm>
              <a:off x="4417230" y="4189923"/>
              <a:ext cx="1769718" cy="1537778"/>
              <a:chOff x="4421988" y="4189923"/>
              <a:chExt cx="1769718" cy="1537778"/>
            </a:xfrm>
          </p:grpSpPr>
          <p:sp>
            <p:nvSpPr>
              <p:cNvPr id="28" name="Google Shape;6678;g2d30ebb658d_0_19789">
                <a:extLst>
                  <a:ext uri="{FF2B5EF4-FFF2-40B4-BE49-F238E27FC236}">
                    <a16:creationId xmlns:a16="http://schemas.microsoft.com/office/drawing/2014/main" id="{39803164-A91A-99DD-0C5B-2DB9253DE1FC}"/>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9" name="Google Shape;6705;g2d30ebb658d_0_19789">
                <a:extLst>
                  <a:ext uri="{FF2B5EF4-FFF2-40B4-BE49-F238E27FC236}">
                    <a16:creationId xmlns:a16="http://schemas.microsoft.com/office/drawing/2014/main" id="{555C0D33-D79C-B44F-D06E-F2A9798256A2}"/>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30" name="Google Shape;6707;g2d30ebb658d_0_19789">
                <a:extLst>
                  <a:ext uri="{FF2B5EF4-FFF2-40B4-BE49-F238E27FC236}">
                    <a16:creationId xmlns:a16="http://schemas.microsoft.com/office/drawing/2014/main" id="{AF7246D2-F5BE-6FCD-9A06-971663D18FEA}"/>
                  </a:ext>
                </a:extLst>
              </p:cNvPr>
              <p:cNvGrpSpPr/>
              <p:nvPr/>
            </p:nvGrpSpPr>
            <p:grpSpPr>
              <a:xfrm>
                <a:off x="5721290" y="5324870"/>
                <a:ext cx="283155" cy="283154"/>
                <a:chOff x="10722212" y="2729558"/>
                <a:chExt cx="663407" cy="663407"/>
              </a:xfrm>
            </p:grpSpPr>
            <p:sp>
              <p:nvSpPr>
                <p:cNvPr id="46" name="Google Shape;6708;g2d30ebb658d_0_19789">
                  <a:extLst>
                    <a:ext uri="{FF2B5EF4-FFF2-40B4-BE49-F238E27FC236}">
                      <a16:creationId xmlns:a16="http://schemas.microsoft.com/office/drawing/2014/main" id="{4CD60187-EC56-464C-D8B2-DA72D17A286D}"/>
                    </a:ext>
                  </a:extLst>
                </p:cNvPr>
                <p:cNvSpPr>
                  <a:spLocks noChangeAspect="1"/>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7" name="Google Shape;6709;g2d30ebb658d_0_19789">
                  <a:extLst>
                    <a:ext uri="{FF2B5EF4-FFF2-40B4-BE49-F238E27FC236}">
                      <a16:creationId xmlns:a16="http://schemas.microsoft.com/office/drawing/2014/main" id="{5D85698E-055D-16C4-19B5-0CA01C518772}"/>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1" name="Google Shape;6710;g2d30ebb658d_0_19789">
                <a:extLst>
                  <a:ext uri="{FF2B5EF4-FFF2-40B4-BE49-F238E27FC236}">
                    <a16:creationId xmlns:a16="http://schemas.microsoft.com/office/drawing/2014/main" id="{325E6790-3ED9-1A03-09C8-DF4E701271CE}"/>
                  </a:ext>
                </a:extLst>
              </p:cNvPr>
              <p:cNvGrpSpPr/>
              <p:nvPr/>
            </p:nvGrpSpPr>
            <p:grpSpPr>
              <a:xfrm>
                <a:off x="4576370" y="5324751"/>
                <a:ext cx="283155" cy="283154"/>
                <a:chOff x="572541" y="5475121"/>
                <a:chExt cx="663407" cy="663407"/>
              </a:xfrm>
            </p:grpSpPr>
            <p:sp>
              <p:nvSpPr>
                <p:cNvPr id="44" name="Google Shape;6711;g2d30ebb658d_0_19789">
                  <a:extLst>
                    <a:ext uri="{FF2B5EF4-FFF2-40B4-BE49-F238E27FC236}">
                      <a16:creationId xmlns:a16="http://schemas.microsoft.com/office/drawing/2014/main" id="{561BFAB0-CDE7-30A4-13AC-EFB4936F2190}"/>
                    </a:ext>
                  </a:extLst>
                </p:cNvPr>
                <p:cNvSpPr>
                  <a:spLocks noChangeAspect="1"/>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5" name="Google Shape;6712;g2d30ebb658d_0_19789">
                  <a:extLst>
                    <a:ext uri="{FF2B5EF4-FFF2-40B4-BE49-F238E27FC236}">
                      <a16:creationId xmlns:a16="http://schemas.microsoft.com/office/drawing/2014/main" id="{24164179-407E-1F51-EACE-5BF4006AEE1B}"/>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2" name="Google Shape;6713;g2d30ebb658d_0_19789">
                <a:extLst>
                  <a:ext uri="{FF2B5EF4-FFF2-40B4-BE49-F238E27FC236}">
                    <a16:creationId xmlns:a16="http://schemas.microsoft.com/office/drawing/2014/main" id="{A7090253-86C8-3C65-C714-4C924F243B35}"/>
                  </a:ext>
                </a:extLst>
              </p:cNvPr>
              <p:cNvGrpSpPr/>
              <p:nvPr/>
            </p:nvGrpSpPr>
            <p:grpSpPr>
              <a:xfrm>
                <a:off x="5144738" y="5324752"/>
                <a:ext cx="283155" cy="283154"/>
                <a:chOff x="9272259" y="5475121"/>
                <a:chExt cx="663407" cy="663407"/>
              </a:xfrm>
            </p:grpSpPr>
            <p:sp>
              <p:nvSpPr>
                <p:cNvPr id="42" name="Google Shape;6714;g2d30ebb658d_0_19789">
                  <a:extLst>
                    <a:ext uri="{FF2B5EF4-FFF2-40B4-BE49-F238E27FC236}">
                      <a16:creationId xmlns:a16="http://schemas.microsoft.com/office/drawing/2014/main" id="{189B6AB4-BDE5-E06B-CAE5-25279B946816}"/>
                    </a:ext>
                  </a:extLst>
                </p:cNvPr>
                <p:cNvSpPr>
                  <a:spLocks noChangeAspect="1"/>
                </p:cNvSpPr>
                <p:nvPr/>
              </p:nvSpPr>
              <p:spPr>
                <a:xfrm>
                  <a:off x="9272259" y="547512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3" name="Google Shape;6715;g2d30ebb658d_0_19789">
                  <a:extLst>
                    <a:ext uri="{FF2B5EF4-FFF2-40B4-BE49-F238E27FC236}">
                      <a16:creationId xmlns:a16="http://schemas.microsoft.com/office/drawing/2014/main" id="{4CB5F54B-A1B8-225E-0A60-ED1C129E261A}"/>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40" name="Google Shape;6704;g2d30ebb658d_0_19789">
                <a:extLst>
                  <a:ext uri="{FF2B5EF4-FFF2-40B4-BE49-F238E27FC236}">
                    <a16:creationId xmlns:a16="http://schemas.microsoft.com/office/drawing/2014/main" id="{81DE2F23-B806-8B71-D282-F54305D53B5D}"/>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Additional Workload Domains</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5" name="TextBox 34">
                <a:extLst>
                  <a:ext uri="{FF2B5EF4-FFF2-40B4-BE49-F238E27FC236}">
                    <a16:creationId xmlns:a16="http://schemas.microsoft.com/office/drawing/2014/main" id="{45DFB385-26B1-1DEC-AC5B-008F652027F6}"/>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38" name="Google Shape;6678;g2d30ebb658d_0_19789">
                <a:extLst>
                  <a:ext uri="{FF2B5EF4-FFF2-40B4-BE49-F238E27FC236}">
                    <a16:creationId xmlns:a16="http://schemas.microsoft.com/office/drawing/2014/main" id="{243BF956-E2F1-8E9E-F9E4-1524062C6BFB}"/>
                  </a:ext>
                </a:extLst>
              </p:cNvPr>
              <p:cNvSpPr/>
              <p:nvPr/>
            </p:nvSpPr>
            <p:spPr>
              <a:xfrm>
                <a:off x="4735103" y="4725882"/>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9" name="Google Shape;6678;g2d30ebb658d_0_19789">
                <a:extLst>
                  <a:ext uri="{FF2B5EF4-FFF2-40B4-BE49-F238E27FC236}">
                    <a16:creationId xmlns:a16="http://schemas.microsoft.com/office/drawing/2014/main" id="{24958900-517D-DBD5-5F82-8BCDCFC1BE7A}"/>
                  </a:ext>
                </a:extLst>
              </p:cNvPr>
              <p:cNvSpPr/>
              <p:nvPr/>
            </p:nvSpPr>
            <p:spPr>
              <a:xfrm>
                <a:off x="4738816" y="4535240"/>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1" name="Google Shape;6678;g2d30ebb658d_0_19789">
                <a:extLst>
                  <a:ext uri="{FF2B5EF4-FFF2-40B4-BE49-F238E27FC236}">
                    <a16:creationId xmlns:a16="http://schemas.microsoft.com/office/drawing/2014/main" id="{0A150F9E-8208-D9CC-1B5C-C5EA9F976242}"/>
                  </a:ext>
                </a:extLst>
              </p:cNvPr>
              <p:cNvSpPr/>
              <p:nvPr/>
            </p:nvSpPr>
            <p:spPr>
              <a:xfrm>
                <a:off x="4978293" y="4921845"/>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sp>
          <p:nvSpPr>
            <p:cNvPr id="170" name="Google Shape;6678;g2d30ebb658d_0_19789">
              <a:extLst>
                <a:ext uri="{FF2B5EF4-FFF2-40B4-BE49-F238E27FC236}">
                  <a16:creationId xmlns:a16="http://schemas.microsoft.com/office/drawing/2014/main" id="{F8F4918D-FD35-6641-9D70-FA2B7648DD3E}"/>
                </a:ext>
              </a:extLst>
            </p:cNvPr>
            <p:cNvSpPr/>
            <p:nvPr/>
          </p:nvSpPr>
          <p:spPr>
            <a:xfrm>
              <a:off x="4911251" y="4966927"/>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68" name="Group 67">
            <a:extLst>
              <a:ext uri="{FF2B5EF4-FFF2-40B4-BE49-F238E27FC236}">
                <a16:creationId xmlns:a16="http://schemas.microsoft.com/office/drawing/2014/main" id="{AF419C36-1B7C-AA19-E0D4-09F178F3F694}"/>
              </a:ext>
            </a:extLst>
          </p:cNvPr>
          <p:cNvGrpSpPr/>
          <p:nvPr/>
        </p:nvGrpSpPr>
        <p:grpSpPr>
          <a:xfrm>
            <a:off x="3265290" y="1933872"/>
            <a:ext cx="1909145" cy="2029026"/>
            <a:chOff x="4353920" y="2081242"/>
            <a:chExt cx="1909145" cy="2029026"/>
          </a:xfrm>
        </p:grpSpPr>
        <p:sp>
          <p:nvSpPr>
            <p:cNvPr id="50" name="Google Shape;6678;g2d30ebb658d_0_19789">
              <a:extLst>
                <a:ext uri="{FF2B5EF4-FFF2-40B4-BE49-F238E27FC236}">
                  <a16:creationId xmlns:a16="http://schemas.microsoft.com/office/drawing/2014/main" id="{8A20B4BE-2D71-22C7-7A42-B0E0FF1B1CA5}"/>
                </a:ext>
              </a:extLst>
            </p:cNvPr>
            <p:cNvSpPr/>
            <p:nvPr/>
          </p:nvSpPr>
          <p:spPr>
            <a:xfrm>
              <a:off x="4353920" y="2081242"/>
              <a:ext cx="1909145" cy="2029026"/>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 name="Google Shape;6678;g2d30ebb658d_0_19789">
              <a:extLst>
                <a:ext uri="{FF2B5EF4-FFF2-40B4-BE49-F238E27FC236}">
                  <a16:creationId xmlns:a16="http://schemas.microsoft.com/office/drawing/2014/main" id="{01E90415-022F-E11A-7540-2E34EA3DA150}"/>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 name="Google Shape;6705;g2d30ebb658d_0_19789">
              <a:extLst>
                <a:ext uri="{FF2B5EF4-FFF2-40B4-BE49-F238E27FC236}">
                  <a16:creationId xmlns:a16="http://schemas.microsoft.com/office/drawing/2014/main" id="{CAEEEDD3-BFA7-ED18-4E60-76FCC7B7CE17}"/>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7" name="Google Shape;6707;g2d30ebb658d_0_19789">
              <a:extLst>
                <a:ext uri="{FF2B5EF4-FFF2-40B4-BE49-F238E27FC236}">
                  <a16:creationId xmlns:a16="http://schemas.microsoft.com/office/drawing/2014/main" id="{8E5B26DF-0B2A-6939-F043-1D2D6EA43331}"/>
                </a:ext>
              </a:extLst>
            </p:cNvPr>
            <p:cNvGrpSpPr/>
            <p:nvPr/>
          </p:nvGrpSpPr>
          <p:grpSpPr>
            <a:xfrm>
              <a:off x="5721290" y="3680282"/>
              <a:ext cx="283155" cy="283154"/>
              <a:chOff x="10722212" y="2729558"/>
              <a:chExt cx="663407" cy="663407"/>
            </a:xfrm>
          </p:grpSpPr>
          <p:sp>
            <p:nvSpPr>
              <p:cNvPr id="25" name="Google Shape;6708;g2d30ebb658d_0_19789">
                <a:extLst>
                  <a:ext uri="{FF2B5EF4-FFF2-40B4-BE49-F238E27FC236}">
                    <a16:creationId xmlns:a16="http://schemas.microsoft.com/office/drawing/2014/main" id="{97C91FD0-26BF-AFF8-22C9-AE8989715F6C}"/>
                  </a:ext>
                </a:extLst>
              </p:cNvPr>
              <p:cNvSpPr>
                <a:spLocks noChangeAspect="1"/>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6" name="Google Shape;6709;g2d30ebb658d_0_19789">
                <a:extLst>
                  <a:ext uri="{FF2B5EF4-FFF2-40B4-BE49-F238E27FC236}">
                    <a16:creationId xmlns:a16="http://schemas.microsoft.com/office/drawing/2014/main" id="{FF54E1EA-0AC8-3E7B-B799-A9756E63CB45}"/>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8" name="Google Shape;6710;g2d30ebb658d_0_19789">
              <a:extLst>
                <a:ext uri="{FF2B5EF4-FFF2-40B4-BE49-F238E27FC236}">
                  <a16:creationId xmlns:a16="http://schemas.microsoft.com/office/drawing/2014/main" id="{C888EC39-6021-3219-5F41-A04A5EE8A30F}"/>
                </a:ext>
              </a:extLst>
            </p:cNvPr>
            <p:cNvGrpSpPr/>
            <p:nvPr/>
          </p:nvGrpSpPr>
          <p:grpSpPr>
            <a:xfrm>
              <a:off x="4576370" y="3680163"/>
              <a:ext cx="283155" cy="283154"/>
              <a:chOff x="572541" y="5475121"/>
              <a:chExt cx="663407" cy="663407"/>
            </a:xfrm>
          </p:grpSpPr>
          <p:sp>
            <p:nvSpPr>
              <p:cNvPr id="23" name="Google Shape;6711;g2d30ebb658d_0_19789">
                <a:extLst>
                  <a:ext uri="{FF2B5EF4-FFF2-40B4-BE49-F238E27FC236}">
                    <a16:creationId xmlns:a16="http://schemas.microsoft.com/office/drawing/2014/main" id="{89DB2B95-4A8E-26CB-F7AB-F747976CD980}"/>
                  </a:ext>
                </a:extLst>
              </p:cNvPr>
              <p:cNvSpPr>
                <a:spLocks noChangeAspect="1"/>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4" name="Google Shape;6712;g2d30ebb658d_0_19789">
                <a:extLst>
                  <a:ext uri="{FF2B5EF4-FFF2-40B4-BE49-F238E27FC236}">
                    <a16:creationId xmlns:a16="http://schemas.microsoft.com/office/drawing/2014/main" id="{F73FE333-8A86-5D95-BC70-B6685FE8C3BA}"/>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9" name="Google Shape;6713;g2d30ebb658d_0_19789">
              <a:extLst>
                <a:ext uri="{FF2B5EF4-FFF2-40B4-BE49-F238E27FC236}">
                  <a16:creationId xmlns:a16="http://schemas.microsoft.com/office/drawing/2014/main" id="{C292F2BC-B74F-734D-088D-29A48C4AF3F3}"/>
                </a:ext>
              </a:extLst>
            </p:cNvPr>
            <p:cNvGrpSpPr/>
            <p:nvPr/>
          </p:nvGrpSpPr>
          <p:grpSpPr>
            <a:xfrm>
              <a:off x="5144738" y="3680164"/>
              <a:ext cx="283155" cy="283154"/>
              <a:chOff x="9272259" y="5475121"/>
              <a:chExt cx="663407" cy="663407"/>
            </a:xfrm>
          </p:grpSpPr>
          <p:sp>
            <p:nvSpPr>
              <p:cNvPr id="21" name="Google Shape;6714;g2d30ebb658d_0_19789">
                <a:extLst>
                  <a:ext uri="{FF2B5EF4-FFF2-40B4-BE49-F238E27FC236}">
                    <a16:creationId xmlns:a16="http://schemas.microsoft.com/office/drawing/2014/main" id="{9874D9C4-3F89-8519-DCC1-A0054D178B6A}"/>
                  </a:ext>
                </a:extLst>
              </p:cNvPr>
              <p:cNvSpPr>
                <a:spLocks noChangeAspect="1"/>
              </p:cNvSpPr>
              <p:nvPr/>
            </p:nvSpPr>
            <p:spPr>
              <a:xfrm>
                <a:off x="9272259" y="547512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2" name="Google Shape;6715;g2d30ebb658d_0_19789">
                <a:extLst>
                  <a:ext uri="{FF2B5EF4-FFF2-40B4-BE49-F238E27FC236}">
                    <a16:creationId xmlns:a16="http://schemas.microsoft.com/office/drawing/2014/main" id="{E972F1FE-6828-77C4-C77C-9952AC216E90}"/>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9" name="Google Shape;6704;g2d30ebb658d_0_19789">
              <a:extLst>
                <a:ext uri="{FF2B5EF4-FFF2-40B4-BE49-F238E27FC236}">
                  <a16:creationId xmlns:a16="http://schemas.microsoft.com/office/drawing/2014/main" id="{BB0AA4E2-28A4-28FD-9E1E-01CBA1A23B6E}"/>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F52D9E0A-B33E-8F1B-5E2A-F50B981B1C3F}"/>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3" name="Google Shape;6705;g2d30ebb658d_0_19789">
              <a:extLst>
                <a:ext uri="{FF2B5EF4-FFF2-40B4-BE49-F238E27FC236}">
                  <a16:creationId xmlns:a16="http://schemas.microsoft.com/office/drawing/2014/main" id="{CE36526F-7158-1070-D532-3F1C3A784D03}"/>
                </a:ext>
              </a:extLst>
            </p:cNvPr>
            <p:cNvSpPr/>
            <p:nvPr/>
          </p:nvSpPr>
          <p:spPr>
            <a:xfrm>
              <a:off x="4738816" y="2666396"/>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6" name="Google Shape;6678;g2d30ebb658d_0_19789">
              <a:extLst>
                <a:ext uri="{FF2B5EF4-FFF2-40B4-BE49-F238E27FC236}">
                  <a16:creationId xmlns:a16="http://schemas.microsoft.com/office/drawing/2014/main" id="{850725BF-446D-83D7-99E3-D45A2B309657}"/>
                </a:ext>
              </a:extLst>
            </p:cNvPr>
            <p:cNvSpPr/>
            <p:nvPr/>
          </p:nvSpPr>
          <p:spPr>
            <a:xfrm>
              <a:off x="4989674" y="3264891"/>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8" name="Google Shape;6678;g2d30ebb658d_0_19789">
              <a:extLst>
                <a:ext uri="{FF2B5EF4-FFF2-40B4-BE49-F238E27FC236}">
                  <a16:creationId xmlns:a16="http://schemas.microsoft.com/office/drawing/2014/main" id="{FF0390D5-1A03-0B6D-08A1-A7438B2482DF}"/>
                </a:ext>
              </a:extLst>
            </p:cNvPr>
            <p:cNvSpPr/>
            <p:nvPr/>
          </p:nvSpPr>
          <p:spPr>
            <a:xfrm>
              <a:off x="4738816" y="2868207"/>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1" name="TextBox 50">
              <a:extLst>
                <a:ext uri="{FF2B5EF4-FFF2-40B4-BE49-F238E27FC236}">
                  <a16:creationId xmlns:a16="http://schemas.microsoft.com/office/drawing/2014/main" id="{AF323A8D-1FB6-C002-21AB-624DB28AC2AD}"/>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a:t>
              </a:r>
            </a:p>
          </p:txBody>
        </p:sp>
        <p:sp>
          <p:nvSpPr>
            <p:cNvPr id="57" name="Google Shape;6705;g2d30ebb658d_0_19789">
              <a:extLst>
                <a:ext uri="{FF2B5EF4-FFF2-40B4-BE49-F238E27FC236}">
                  <a16:creationId xmlns:a16="http://schemas.microsoft.com/office/drawing/2014/main" id="{F7C9026B-3E09-291A-DBBC-64B3A6CCCBFE}"/>
                </a:ext>
              </a:extLst>
            </p:cNvPr>
            <p:cNvSpPr/>
            <p:nvPr/>
          </p:nvSpPr>
          <p:spPr>
            <a:xfrm>
              <a:off x="4738816" y="3064305"/>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58" name="Google Shape;6678;g2d30ebb658d_0_19789">
              <a:extLst>
                <a:ext uri="{FF2B5EF4-FFF2-40B4-BE49-F238E27FC236}">
                  <a16:creationId xmlns:a16="http://schemas.microsoft.com/office/drawing/2014/main" id="{A611CBCF-C11E-576A-211C-BC361E4B1BF4}"/>
                </a:ext>
              </a:extLst>
            </p:cNvPr>
            <p:cNvSpPr/>
            <p:nvPr/>
          </p:nvSpPr>
          <p:spPr>
            <a:xfrm>
              <a:off x="4927390" y="3309973"/>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pic>
          <p:nvPicPr>
            <p:cNvPr id="65" name="Google Shape;6699;p92">
              <a:extLst>
                <a:ext uri="{FF2B5EF4-FFF2-40B4-BE49-F238E27FC236}">
                  <a16:creationId xmlns:a16="http://schemas.microsoft.com/office/drawing/2014/main" id="{7DE76168-25AB-06F7-AD25-2ACE95EAAA37}"/>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33" name="Rectangle 32">
            <a:extLst>
              <a:ext uri="{FF2B5EF4-FFF2-40B4-BE49-F238E27FC236}">
                <a16:creationId xmlns:a16="http://schemas.microsoft.com/office/drawing/2014/main" id="{DE80A7AC-20E1-1569-C5DB-7EE95606447D}"/>
              </a:ext>
            </a:extLst>
          </p:cNvPr>
          <p:cNvSpPr/>
          <p:nvPr/>
        </p:nvSpPr>
        <p:spPr bwMode="gray">
          <a:xfrm>
            <a:off x="3271988" y="3913455"/>
            <a:ext cx="1897199" cy="92075"/>
          </a:xfrm>
          <a:prstGeom prst="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4" name="Title 1">
            <a:extLst>
              <a:ext uri="{FF2B5EF4-FFF2-40B4-BE49-F238E27FC236}">
                <a16:creationId xmlns:a16="http://schemas.microsoft.com/office/drawing/2014/main" id="{1137FACF-B016-7E7C-7605-56BD7402D638}"/>
              </a:ext>
            </a:extLst>
          </p:cNvPr>
          <p:cNvSpPr txBox="1">
            <a:spLocks/>
          </p:cNvSpPr>
          <p:nvPr/>
        </p:nvSpPr>
        <p:spPr>
          <a:xfrm>
            <a:off x="579809" y="412751"/>
            <a:ext cx="11001004" cy="381000"/>
          </a:xfrm>
          <a:prstGeom prst="rect">
            <a:avLst/>
          </a:prstGeom>
        </p:spPr>
        <p:txBody>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005C8A"/>
                </a:solidFill>
                <a:effectLst/>
                <a:uLnTx/>
                <a:uFillTx/>
                <a:latin typeface="Arial" panose="020B0604020202020204"/>
                <a:ea typeface="+mj-ea"/>
                <a:cs typeface="+mj-cs"/>
              </a:rPr>
              <a:t>Private Cloud Logical Design within VMware Cloud Foundation</a:t>
            </a:r>
          </a:p>
        </p:txBody>
      </p:sp>
      <p:sp>
        <p:nvSpPr>
          <p:cNvPr id="74" name="TextBox 73">
            <a:extLst>
              <a:ext uri="{FF2B5EF4-FFF2-40B4-BE49-F238E27FC236}">
                <a16:creationId xmlns:a16="http://schemas.microsoft.com/office/drawing/2014/main" id="{E44043A2-371C-1F0A-7837-7DCCD6641019}"/>
              </a:ext>
            </a:extLst>
          </p:cNvPr>
          <p:cNvSpPr txBox="1"/>
          <p:nvPr/>
        </p:nvSpPr>
        <p:spPr>
          <a:xfrm>
            <a:off x="3628521" y="934860"/>
            <a:ext cx="1192771" cy="153888"/>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 VCF Private Cloud </a:t>
            </a:r>
          </a:p>
        </p:txBody>
      </p:sp>
      <p:sp>
        <p:nvSpPr>
          <p:cNvPr id="3" name="Rectangle 2">
            <a:extLst>
              <a:ext uri="{FF2B5EF4-FFF2-40B4-BE49-F238E27FC236}">
                <a16:creationId xmlns:a16="http://schemas.microsoft.com/office/drawing/2014/main" id="{749D52C0-12E6-39D1-123B-9EEA72781FBB}"/>
              </a:ext>
            </a:extLst>
          </p:cNvPr>
          <p:cNvSpPr/>
          <p:nvPr/>
        </p:nvSpPr>
        <p:spPr bwMode="gray">
          <a:xfrm>
            <a:off x="8076361" y="1266442"/>
            <a:ext cx="4112464" cy="4881505"/>
          </a:xfrm>
          <a:prstGeom prst="rect">
            <a:avLst/>
          </a:prstGeom>
          <a:solidFill>
            <a:srgbClr val="F4F8FA"/>
          </a:solidFill>
        </p:spPr>
        <p:txBody>
          <a:bodyPr vert="horz" lIns="274249" tIns="457081" rIns="457081" bIns="457081" rtlCol="0">
            <a:noAutofit/>
          </a:bodyPr>
          <a:lstStyle/>
          <a:p>
            <a:pPr defTabSz="914126">
              <a:spcAft>
                <a:spcPts val="1200"/>
              </a:spcAft>
              <a:buClr>
                <a:srgbClr val="000000">
                  <a:lumMod val="60000"/>
                  <a:lumOff val="40000"/>
                </a:srgbClr>
              </a:buClr>
              <a:buSzPct val="90000"/>
              <a:buFont typeface="Arial" panose="020B0604020202020204" pitchFamily="34" charset="0"/>
              <a:buChar char="​"/>
            </a:pPr>
            <a:endParaRPr lang="en-IN" sz="1799" dirty="0">
              <a:solidFill>
                <a:srgbClr val="005C8A"/>
              </a:solidFill>
              <a:latin typeface="Arial" panose="020B0604020202020204"/>
            </a:endParaRPr>
          </a:p>
        </p:txBody>
      </p:sp>
      <p:cxnSp>
        <p:nvCxnSpPr>
          <p:cNvPr id="4" name="Straight Connector 3">
            <a:extLst>
              <a:ext uri="{FF2B5EF4-FFF2-40B4-BE49-F238E27FC236}">
                <a16:creationId xmlns:a16="http://schemas.microsoft.com/office/drawing/2014/main" id="{D9376460-1490-746C-CF64-3313BE2C5710}"/>
              </a:ext>
            </a:extLst>
          </p:cNvPr>
          <p:cNvCxnSpPr>
            <a:cxnSpLocks/>
          </p:cNvCxnSpPr>
          <p:nvPr/>
        </p:nvCxnSpPr>
        <p:spPr bwMode="gray">
          <a:xfrm>
            <a:off x="8076361" y="1280962"/>
            <a:ext cx="4112464" cy="0"/>
          </a:xfrm>
          <a:prstGeom prst="line">
            <a:avLst/>
          </a:prstGeom>
          <a:ln w="3175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1" name="Text Placeholder 3">
            <a:extLst>
              <a:ext uri="{FF2B5EF4-FFF2-40B4-BE49-F238E27FC236}">
                <a16:creationId xmlns:a16="http://schemas.microsoft.com/office/drawing/2014/main" id="{55BB311B-42C0-A145-C95E-22E3788DF4A2}"/>
              </a:ext>
            </a:extLst>
          </p:cNvPr>
          <p:cNvSpPr txBox="1">
            <a:spLocks/>
          </p:cNvSpPr>
          <p:nvPr/>
        </p:nvSpPr>
        <p:spPr>
          <a:xfrm>
            <a:off x="8218018" y="1671390"/>
            <a:ext cx="3947763" cy="1733693"/>
          </a:xfrm>
          <a:prstGeom prst="rect">
            <a:avLst/>
          </a:prstGeom>
        </p:spPr>
        <p:txBody>
          <a:bodyPr/>
          <a:lst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VCF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Management Domain</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Workload Domains</a:t>
            </a: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VCF Fleet</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One or more VCF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Common VCF Operations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Common VCF Automation Instance</a:t>
            </a: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VCF Private Clouds</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One or more VCF Fleets </a:t>
            </a:r>
          </a:p>
          <a:p>
            <a:pPr marL="0" marR="0" lvl="0" indent="0" algn="l" defTabSz="914400" rtl="0" eaLnBrk="1" fontAlgn="auto" latinLnBrk="0" hangingPunct="1">
              <a:lnSpc>
                <a:spcPct val="100000"/>
              </a:lnSpc>
              <a:spcBef>
                <a:spcPts val="0"/>
              </a:spcBef>
              <a:spcAft>
                <a:spcPts val="1200"/>
              </a:spcAft>
              <a:buClr>
                <a:srgbClr val="000000">
                  <a:lumMod val="60000"/>
                  <a:lumOff val="40000"/>
                </a:srgbClr>
              </a:buClr>
              <a:buSzPct val="90000"/>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6254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dissolve">
                                      <p:cBhvr>
                                        <p:cTn id="7" dur="500"/>
                                        <p:tgtEl>
                                          <p:spTgt spid="41">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1">
                                            <p:txEl>
                                              <p:pRg st="1" end="1"/>
                                            </p:txEl>
                                          </p:spTgt>
                                        </p:tgtEl>
                                        <p:attrNameLst>
                                          <p:attrName>style.visibility</p:attrName>
                                        </p:attrNameLst>
                                      </p:cBhvr>
                                      <p:to>
                                        <p:strVal val="visible"/>
                                      </p:to>
                                    </p:set>
                                    <p:animEffect transition="in" filter="dissolve">
                                      <p:cBhvr>
                                        <p:cTn id="11" dur="500"/>
                                        <p:tgtEl>
                                          <p:spTgt spid="41">
                                            <p:txEl>
                                              <p:pRg st="1" end="1"/>
                                            </p:txEl>
                                          </p:spTgt>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dissolve">
                                      <p:cBhvr>
                                        <p:cTn id="15" dur="500"/>
                                        <p:tgtEl>
                                          <p:spTgt spid="68"/>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dissolve">
                                      <p:cBhvr>
                                        <p:cTn id="19" dur="500"/>
                                        <p:tgtEl>
                                          <p:spTgt spid="48"/>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dissolve">
                                      <p:cBhvr>
                                        <p:cTn id="23" dur="500"/>
                                        <p:tgtEl>
                                          <p:spTgt spid="4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41">
                                            <p:txEl>
                                              <p:pRg st="2" end="2"/>
                                            </p:txEl>
                                          </p:spTgt>
                                        </p:tgtEl>
                                        <p:attrNameLst>
                                          <p:attrName>style.visibility</p:attrName>
                                        </p:attrNameLst>
                                      </p:cBhvr>
                                      <p:to>
                                        <p:strVal val="visible"/>
                                      </p:to>
                                    </p:set>
                                    <p:animEffect transition="in" filter="dissolve">
                                      <p:cBhvr>
                                        <p:cTn id="28" dur="500"/>
                                        <p:tgtEl>
                                          <p:spTgt spid="41">
                                            <p:txEl>
                                              <p:pRg st="2" end="2"/>
                                            </p:txEl>
                                          </p:spTgt>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dissolve">
                                      <p:cBhvr>
                                        <p:cTn id="32" dur="500"/>
                                        <p:tgtEl>
                                          <p:spTgt spid="33"/>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up)">
                                      <p:cBhvr>
                                        <p:cTn id="35" dur="500"/>
                                        <p:tgtEl>
                                          <p:spTgt spid="27"/>
                                        </p:tgtEl>
                                      </p:cBhvr>
                                    </p:animEffect>
                                  </p:childTnLst>
                                </p:cTn>
                              </p:par>
                            </p:childTnLst>
                          </p:cTn>
                        </p:par>
                        <p:par>
                          <p:cTn id="36" fill="hold">
                            <p:stCondLst>
                              <p:cond delay="1000"/>
                            </p:stCondLst>
                            <p:childTnLst>
                              <p:par>
                                <p:cTn id="37" presetID="22" presetClass="entr" presetSubtype="1" fill="hold"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41">
                                            <p:txEl>
                                              <p:pRg st="5" end="5"/>
                                            </p:txEl>
                                          </p:spTgt>
                                        </p:tgtEl>
                                        <p:attrNameLst>
                                          <p:attrName>style.visibility</p:attrName>
                                        </p:attrNameLst>
                                      </p:cBhvr>
                                      <p:to>
                                        <p:strVal val="visible"/>
                                      </p:to>
                                    </p:set>
                                    <p:animEffect transition="in" filter="dissolve">
                                      <p:cBhvr>
                                        <p:cTn id="44" dur="500"/>
                                        <p:tgtEl>
                                          <p:spTgt spid="41">
                                            <p:txEl>
                                              <p:pRg st="5" end="5"/>
                                            </p:txEl>
                                          </p:spTgt>
                                        </p:tgtEl>
                                      </p:cBhvr>
                                    </p:animEffect>
                                  </p:childTnLst>
                                </p:cTn>
                              </p:par>
                            </p:childTnLst>
                          </p:cTn>
                        </p:par>
                        <p:par>
                          <p:cTn id="45" fill="hold">
                            <p:stCondLst>
                              <p:cond delay="500"/>
                            </p:stCondLst>
                            <p:childTnLst>
                              <p:par>
                                <p:cTn id="46" presetID="9" presetClass="entr" presetSubtype="0" fill="hold" nodeType="afterEffect">
                                  <p:stCondLst>
                                    <p:cond delay="0"/>
                                  </p:stCondLst>
                                  <p:childTnLst>
                                    <p:set>
                                      <p:cBhvr>
                                        <p:cTn id="47" dur="1" fill="hold">
                                          <p:stCondLst>
                                            <p:cond delay="0"/>
                                          </p:stCondLst>
                                        </p:cTn>
                                        <p:tgtEl>
                                          <p:spTgt spid="41">
                                            <p:txEl>
                                              <p:pRg st="6" end="6"/>
                                            </p:txEl>
                                          </p:spTgt>
                                        </p:tgtEl>
                                        <p:attrNameLst>
                                          <p:attrName>style.visibility</p:attrName>
                                        </p:attrNameLst>
                                      </p:cBhvr>
                                      <p:to>
                                        <p:strVal val="visible"/>
                                      </p:to>
                                    </p:set>
                                    <p:animEffect transition="in" filter="dissolve">
                                      <p:cBhvr>
                                        <p:cTn id="48" dur="500"/>
                                        <p:tgtEl>
                                          <p:spTgt spid="41">
                                            <p:txEl>
                                              <p:pRg st="6" end="6"/>
                                            </p:txEl>
                                          </p:spTgt>
                                        </p:tgtEl>
                                      </p:cBhvr>
                                    </p:animEffect>
                                  </p:childTnLst>
                                </p:cTn>
                              </p:par>
                            </p:childTnLst>
                          </p:cTn>
                        </p:par>
                        <p:par>
                          <p:cTn id="49" fill="hold">
                            <p:stCondLst>
                              <p:cond delay="1000"/>
                            </p:stCondLst>
                            <p:childTnLst>
                              <p:par>
                                <p:cTn id="50" presetID="9" presetClass="entr" presetSubtype="0" fill="hold" nodeType="afterEffect">
                                  <p:stCondLst>
                                    <p:cond delay="0"/>
                                  </p:stCondLst>
                                  <p:childTnLst>
                                    <p:set>
                                      <p:cBhvr>
                                        <p:cTn id="51" dur="1" fill="hold">
                                          <p:stCondLst>
                                            <p:cond delay="0"/>
                                          </p:stCondLst>
                                        </p:cTn>
                                        <p:tgtEl>
                                          <p:spTgt spid="41">
                                            <p:txEl>
                                              <p:pRg st="7" end="7"/>
                                            </p:txEl>
                                          </p:spTgt>
                                        </p:tgtEl>
                                        <p:attrNameLst>
                                          <p:attrName>style.visibility</p:attrName>
                                        </p:attrNameLst>
                                      </p:cBhvr>
                                      <p:to>
                                        <p:strVal val="visible"/>
                                      </p:to>
                                    </p:set>
                                    <p:animEffect transition="in" filter="dissolve">
                                      <p:cBhvr>
                                        <p:cTn id="52" dur="500"/>
                                        <p:tgtEl>
                                          <p:spTgt spid="41">
                                            <p:txEl>
                                              <p:pRg st="7" end="7"/>
                                            </p:txEl>
                                          </p:spTgt>
                                        </p:tgtEl>
                                      </p:cBhvr>
                                    </p:animEffect>
                                  </p:childTnLst>
                                </p:cTn>
                              </p:par>
                            </p:childTnLst>
                          </p:cTn>
                        </p:par>
                        <p:par>
                          <p:cTn id="53" fill="hold">
                            <p:stCondLst>
                              <p:cond delay="1500"/>
                            </p:stCondLst>
                            <p:childTnLst>
                              <p:par>
                                <p:cTn id="54" presetID="9" presetClass="entr" presetSubtype="0" fill="hold" nodeType="afterEffect">
                                  <p:stCondLst>
                                    <p:cond delay="0"/>
                                  </p:stCondLst>
                                  <p:childTnLst>
                                    <p:set>
                                      <p:cBhvr>
                                        <p:cTn id="55" dur="1" fill="hold">
                                          <p:stCondLst>
                                            <p:cond delay="0"/>
                                          </p:stCondLst>
                                        </p:cTn>
                                        <p:tgtEl>
                                          <p:spTgt spid="41">
                                            <p:txEl>
                                              <p:pRg st="8" end="8"/>
                                            </p:txEl>
                                          </p:spTgt>
                                        </p:tgtEl>
                                        <p:attrNameLst>
                                          <p:attrName>style.visibility</p:attrName>
                                        </p:attrNameLst>
                                      </p:cBhvr>
                                      <p:to>
                                        <p:strVal val="visible"/>
                                      </p:to>
                                    </p:set>
                                    <p:animEffect transition="in" filter="dissolve">
                                      <p:cBhvr>
                                        <p:cTn id="56" dur="500"/>
                                        <p:tgtEl>
                                          <p:spTgt spid="41">
                                            <p:txEl>
                                              <p:pRg st="8" end="8"/>
                                            </p:txEl>
                                          </p:spTgt>
                                        </p:tgtEl>
                                      </p:cBhvr>
                                    </p:animEffect>
                                  </p:childTnLst>
                                </p:cTn>
                              </p:par>
                            </p:childTnLst>
                          </p:cTn>
                        </p:par>
                        <p:par>
                          <p:cTn id="57" fill="hold">
                            <p:stCondLst>
                              <p:cond delay="2000"/>
                            </p:stCondLst>
                            <p:childTnLst>
                              <p:par>
                                <p:cTn id="58" presetID="16" presetClass="entr" presetSubtype="37"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barn(outVertical)">
                                      <p:cBhvr>
                                        <p:cTn id="60" dur="500"/>
                                        <p:tgtEl>
                                          <p:spTgt spid="2"/>
                                        </p:tgtEl>
                                      </p:cBhvr>
                                    </p:animEffect>
                                  </p:childTnLst>
                                </p:cTn>
                              </p:par>
                            </p:childTnLst>
                          </p:cTn>
                        </p:par>
                        <p:par>
                          <p:cTn id="61" fill="hold">
                            <p:stCondLst>
                              <p:cond delay="2500"/>
                            </p:stCondLst>
                            <p:childTnLst>
                              <p:par>
                                <p:cTn id="62" presetID="9" presetClass="entr" presetSubtype="0" fill="hold" nodeType="afterEffect">
                                  <p:stCondLst>
                                    <p:cond delay="500"/>
                                  </p:stCondLst>
                                  <p:childTnLst>
                                    <p:set>
                                      <p:cBhvr>
                                        <p:cTn id="63" dur="1" fill="hold">
                                          <p:stCondLst>
                                            <p:cond delay="0"/>
                                          </p:stCondLst>
                                        </p:cTn>
                                        <p:tgtEl>
                                          <p:spTgt spid="10"/>
                                        </p:tgtEl>
                                        <p:attrNameLst>
                                          <p:attrName>style.visibility</p:attrName>
                                        </p:attrNameLst>
                                      </p:cBhvr>
                                      <p:to>
                                        <p:strVal val="visible"/>
                                      </p:to>
                                    </p:set>
                                    <p:animEffect transition="in" filter="dissolve">
                                      <p:cBhvr>
                                        <p:cTn id="64" dur="500"/>
                                        <p:tgtEl>
                                          <p:spTgt spid="10"/>
                                        </p:tgtEl>
                                      </p:cBhvr>
                                    </p:animEffect>
                                  </p:childTnLst>
                                </p:cTn>
                              </p:par>
                            </p:childTnLst>
                          </p:cTn>
                        </p:par>
                        <p:par>
                          <p:cTn id="65" fill="hold">
                            <p:stCondLst>
                              <p:cond delay="3500"/>
                            </p:stCondLst>
                            <p:childTnLst>
                              <p:par>
                                <p:cTn id="66" presetID="26" presetClass="emph" presetSubtype="0" fill="hold" nodeType="afterEffect">
                                  <p:stCondLst>
                                    <p:cond delay="0"/>
                                  </p:stCondLst>
                                  <p:childTnLst>
                                    <p:animEffect transition="out" filter="fade">
                                      <p:cBhvr>
                                        <p:cTn id="67" dur="500" tmFilter="0, 0; .2, .5; .8, .5; 1, 0"/>
                                        <p:tgtEl>
                                          <p:spTgt spid="10"/>
                                        </p:tgtEl>
                                      </p:cBhvr>
                                    </p:animEffect>
                                    <p:animScale>
                                      <p:cBhvr>
                                        <p:cTn id="68" dur="250" autoRev="1" fill="hold"/>
                                        <p:tgtEl>
                                          <p:spTgt spid="10"/>
                                        </p:tgtEl>
                                      </p:cBhvr>
                                      <p:by x="105000" y="105000"/>
                                    </p:animScale>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nodeType="clickEffect">
                                  <p:stCondLst>
                                    <p:cond delay="0"/>
                                  </p:stCondLst>
                                  <p:childTnLst>
                                    <p:set>
                                      <p:cBhvr>
                                        <p:cTn id="72" dur="1" fill="hold">
                                          <p:stCondLst>
                                            <p:cond delay="0"/>
                                          </p:stCondLst>
                                        </p:cTn>
                                        <p:tgtEl>
                                          <p:spTgt spid="41">
                                            <p:txEl>
                                              <p:pRg st="11" end="11"/>
                                            </p:txEl>
                                          </p:spTgt>
                                        </p:tgtEl>
                                        <p:attrNameLst>
                                          <p:attrName>style.visibility</p:attrName>
                                        </p:attrNameLst>
                                      </p:cBhvr>
                                      <p:to>
                                        <p:strVal val="visible"/>
                                      </p:to>
                                    </p:set>
                                    <p:animEffect transition="in" filter="dissolve">
                                      <p:cBhvr>
                                        <p:cTn id="73" dur="500"/>
                                        <p:tgtEl>
                                          <p:spTgt spid="41">
                                            <p:txEl>
                                              <p:pRg st="11" end="11"/>
                                            </p:txEl>
                                          </p:spTgt>
                                        </p:tgtEl>
                                      </p:cBhvr>
                                    </p:animEffect>
                                  </p:childTnLst>
                                </p:cTn>
                              </p:par>
                            </p:childTnLst>
                          </p:cTn>
                        </p:par>
                        <p:par>
                          <p:cTn id="74" fill="hold">
                            <p:stCondLst>
                              <p:cond delay="500"/>
                            </p:stCondLst>
                            <p:childTnLst>
                              <p:par>
                                <p:cTn id="75" presetID="9" presetClass="entr" presetSubtype="0" fill="hold" nodeType="afterEffect">
                                  <p:stCondLst>
                                    <p:cond delay="0"/>
                                  </p:stCondLst>
                                  <p:childTnLst>
                                    <p:set>
                                      <p:cBhvr>
                                        <p:cTn id="76" dur="1" fill="hold">
                                          <p:stCondLst>
                                            <p:cond delay="0"/>
                                          </p:stCondLst>
                                        </p:cTn>
                                        <p:tgtEl>
                                          <p:spTgt spid="41">
                                            <p:txEl>
                                              <p:pRg st="12" end="12"/>
                                            </p:txEl>
                                          </p:spTgt>
                                        </p:tgtEl>
                                        <p:attrNameLst>
                                          <p:attrName>style.visibility</p:attrName>
                                        </p:attrNameLst>
                                      </p:cBhvr>
                                      <p:to>
                                        <p:strVal val="visible"/>
                                      </p:to>
                                    </p:set>
                                    <p:animEffect transition="in" filter="dissolve">
                                      <p:cBhvr>
                                        <p:cTn id="77" dur="500"/>
                                        <p:tgtEl>
                                          <p:spTgt spid="41">
                                            <p:txEl>
                                              <p:pRg st="12" end="12"/>
                                            </p:txEl>
                                          </p:spTgt>
                                        </p:tgtEl>
                                      </p:cBhvr>
                                    </p:animEffect>
                                  </p:childTnLst>
                                </p:cTn>
                              </p:par>
                              <p:par>
                                <p:cTn id="78" presetID="16" presetClass="entr" presetSubtype="37" fill="hold" grpId="0" nodeType="withEffect">
                                  <p:stCondLst>
                                    <p:cond delay="0"/>
                                  </p:stCondLst>
                                  <p:childTnLst>
                                    <p:set>
                                      <p:cBhvr>
                                        <p:cTn id="79" dur="1" fill="hold">
                                          <p:stCondLst>
                                            <p:cond delay="0"/>
                                          </p:stCondLst>
                                        </p:cTn>
                                        <p:tgtEl>
                                          <p:spTgt spid="74"/>
                                        </p:tgtEl>
                                        <p:attrNameLst>
                                          <p:attrName>style.visibility</p:attrName>
                                        </p:attrNameLst>
                                      </p:cBhvr>
                                      <p:to>
                                        <p:strVal val="visible"/>
                                      </p:to>
                                    </p:set>
                                    <p:animEffect transition="in" filter="barn(outVertical)">
                                      <p:cBhvr>
                                        <p:cTn id="80" dur="500"/>
                                        <p:tgtEl>
                                          <p:spTgt spid="74"/>
                                        </p:tgtEl>
                                      </p:cBhvr>
                                    </p:animEffect>
                                  </p:childTnLst>
                                </p:cTn>
                              </p:par>
                              <p:par>
                                <p:cTn id="81" presetID="16" presetClass="entr" presetSubtype="37" fill="hold" grpId="0" nodeType="withEffect">
                                  <p:stCondLst>
                                    <p:cond delay="0"/>
                                  </p:stCondLst>
                                  <p:childTnLst>
                                    <p:set>
                                      <p:cBhvr>
                                        <p:cTn id="82" dur="1" fill="hold">
                                          <p:stCondLst>
                                            <p:cond delay="0"/>
                                          </p:stCondLst>
                                        </p:cTn>
                                        <p:tgtEl>
                                          <p:spTgt spid="119"/>
                                        </p:tgtEl>
                                        <p:attrNameLst>
                                          <p:attrName>style.visibility</p:attrName>
                                        </p:attrNameLst>
                                      </p:cBhvr>
                                      <p:to>
                                        <p:strVal val="visible"/>
                                      </p:to>
                                    </p:set>
                                    <p:animEffect transition="in" filter="barn(outVertical)">
                                      <p:cBhvr>
                                        <p:cTn id="83" dur="500"/>
                                        <p:tgtEl>
                                          <p:spTgt spid="119"/>
                                        </p:tgtEl>
                                      </p:cBhvr>
                                    </p:animEffect>
                                  </p:childTnLst>
                                </p:cTn>
                              </p:par>
                            </p:childTnLst>
                          </p:cTn>
                        </p:par>
                        <p:par>
                          <p:cTn id="84" fill="hold">
                            <p:stCondLst>
                              <p:cond delay="1000"/>
                            </p:stCondLst>
                            <p:childTnLst>
                              <p:par>
                                <p:cTn id="85" presetID="22" presetClass="entr" presetSubtype="1" fill="hold" nodeType="after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wipe(up)">
                                      <p:cBhvr>
                                        <p:cTn id="87" dur="500"/>
                                        <p:tgtEl>
                                          <p:spTgt spid="17"/>
                                        </p:tgtEl>
                                      </p:cBhvr>
                                    </p:animEffect>
                                  </p:childTnLst>
                                </p:cTn>
                              </p:par>
                            </p:childTnLst>
                          </p:cTn>
                        </p:par>
                        <p:par>
                          <p:cTn id="88" fill="hold">
                            <p:stCondLst>
                              <p:cond delay="1500"/>
                            </p:stCondLst>
                            <p:childTnLst>
                              <p:par>
                                <p:cTn id="89" presetID="22" presetClass="entr" presetSubtype="1" fill="hold" nodeType="after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wipe(up)">
                                      <p:cBhvr>
                                        <p:cTn id="9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119" grpId="0" animBg="1"/>
      <p:bldP spid="27" grpId="0" animBg="1"/>
      <p:bldP spid="33" grpId="0" animBg="1"/>
      <p:bldP spid="7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CB389-F9BB-52C3-4513-B315F81CDA9A}"/>
            </a:ext>
          </a:extLst>
        </p:cNvPr>
        <p:cNvGrpSpPr/>
        <p:nvPr/>
      </p:nvGrpSpPr>
      <p:grpSpPr>
        <a:xfrm>
          <a:off x="0" y="0"/>
          <a:ext cx="0" cy="0"/>
          <a:chOff x="0" y="0"/>
          <a:chExt cx="0" cy="0"/>
        </a:xfrm>
      </p:grpSpPr>
      <p:sp>
        <p:nvSpPr>
          <p:cNvPr id="21" name="Rounded Rectangle 20">
            <a:extLst>
              <a:ext uri="{FF2B5EF4-FFF2-40B4-BE49-F238E27FC236}">
                <a16:creationId xmlns:a16="http://schemas.microsoft.com/office/drawing/2014/main" id="{E043EF6B-45CE-1B1D-65A3-CCB736767848}"/>
              </a:ext>
            </a:extLst>
          </p:cNvPr>
          <p:cNvSpPr/>
          <p:nvPr/>
        </p:nvSpPr>
        <p:spPr>
          <a:xfrm>
            <a:off x="670" y="895687"/>
            <a:ext cx="12187628" cy="5273102"/>
          </a:xfrm>
          <a:prstGeom prst="roundRect">
            <a:avLst>
              <a:gd name="adj" fmla="val 0"/>
            </a:avLst>
          </a:prstGeom>
          <a:solidFill>
            <a:srgbClr val="F4F8FA"/>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prstTxWarp prst="textNoShape">
              <a:avLst/>
            </a:prstTxWarp>
            <a:noAutofit/>
          </a:bodyPr>
          <a:lstStyle/>
          <a:p>
            <a:pPr marL="0" marR="0" lvl="0" indent="0" algn="ctr" defTabSz="913852"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 name="Title 1">
            <a:extLst>
              <a:ext uri="{FF2B5EF4-FFF2-40B4-BE49-F238E27FC236}">
                <a16:creationId xmlns:a16="http://schemas.microsoft.com/office/drawing/2014/main" id="{AAEBA3F8-4731-5EB2-DC45-E40AF135836C}"/>
              </a:ext>
            </a:extLst>
          </p:cNvPr>
          <p:cNvSpPr>
            <a:spLocks noGrp="1"/>
          </p:cNvSpPr>
          <p:nvPr>
            <p:ph type="title"/>
          </p:nvPr>
        </p:nvSpPr>
        <p:spPr/>
        <p:txBody>
          <a:bodyPr/>
          <a:lstStyle/>
          <a:p>
            <a:r>
              <a:rPr lang="en-US" dirty="0"/>
              <a:t>Workload Domain and Cluster Topologies</a:t>
            </a:r>
          </a:p>
        </p:txBody>
      </p:sp>
      <p:sp>
        <p:nvSpPr>
          <p:cNvPr id="50" name="Rectangle: Rounded Corners 171">
            <a:extLst>
              <a:ext uri="{FF2B5EF4-FFF2-40B4-BE49-F238E27FC236}">
                <a16:creationId xmlns:a16="http://schemas.microsoft.com/office/drawing/2014/main" id="{8D84430E-8395-6667-95D5-B85DCB8F2974}"/>
              </a:ext>
            </a:extLst>
          </p:cNvPr>
          <p:cNvSpPr/>
          <p:nvPr/>
        </p:nvSpPr>
        <p:spPr>
          <a:xfrm>
            <a:off x="495602" y="1028100"/>
            <a:ext cx="3473498" cy="4990868"/>
          </a:xfrm>
          <a:prstGeom prst="roundRect">
            <a:avLst>
              <a:gd name="adj" fmla="val 2239"/>
            </a:avLst>
          </a:prstGeom>
          <a:solidFill>
            <a:schemeClr val="bg1"/>
          </a:solidFill>
          <a:ln w="12700">
            <a:solidFill>
              <a:schemeClr val="bg1">
                <a:lumMod val="75000"/>
              </a:schemeClr>
            </a:solidFill>
            <a:prstDash val="solid"/>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4" name="Rectangle: Rounded Corners 171">
            <a:extLst>
              <a:ext uri="{FF2B5EF4-FFF2-40B4-BE49-F238E27FC236}">
                <a16:creationId xmlns:a16="http://schemas.microsoft.com/office/drawing/2014/main" id="{1ADDE1EC-E18C-360B-BC20-CA9A25E1714F}"/>
              </a:ext>
            </a:extLst>
          </p:cNvPr>
          <p:cNvSpPr/>
          <p:nvPr/>
        </p:nvSpPr>
        <p:spPr>
          <a:xfrm>
            <a:off x="4187022" y="1028100"/>
            <a:ext cx="7393786" cy="4990868"/>
          </a:xfrm>
          <a:prstGeom prst="roundRect">
            <a:avLst>
              <a:gd name="adj" fmla="val 2239"/>
            </a:avLst>
          </a:prstGeom>
          <a:solidFill>
            <a:schemeClr val="bg1"/>
          </a:solidFill>
          <a:ln w="12700">
            <a:solidFill>
              <a:schemeClr val="bg1">
                <a:lumMod val="75000"/>
              </a:schemeClr>
            </a:solidFill>
            <a:prstDash val="solid"/>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4" name="Rectangle: Rounded Corners 174">
            <a:extLst>
              <a:ext uri="{FF2B5EF4-FFF2-40B4-BE49-F238E27FC236}">
                <a16:creationId xmlns:a16="http://schemas.microsoft.com/office/drawing/2014/main" id="{C93D5947-0128-6CBE-694E-A44D72175F71}"/>
              </a:ext>
            </a:extLst>
          </p:cNvPr>
          <p:cNvSpPr/>
          <p:nvPr/>
        </p:nvSpPr>
        <p:spPr>
          <a:xfrm>
            <a:off x="4422869" y="1870794"/>
            <a:ext cx="5064625" cy="3699280"/>
          </a:xfrm>
          <a:prstGeom prst="roundRect">
            <a:avLst>
              <a:gd name="adj" fmla="val 2320"/>
            </a:avLst>
          </a:prstGeom>
          <a:noFill/>
          <a:ln w="25400">
            <a:solidFill>
              <a:schemeClr val="tx1"/>
            </a:solidFill>
            <a:prstDash val="sysDash"/>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1" name="Rectangle: Rounded Corners 174">
            <a:extLst>
              <a:ext uri="{FF2B5EF4-FFF2-40B4-BE49-F238E27FC236}">
                <a16:creationId xmlns:a16="http://schemas.microsoft.com/office/drawing/2014/main" id="{DD7FC8CE-2849-C2AA-1E8F-7F6E6DC5379C}"/>
              </a:ext>
            </a:extLst>
          </p:cNvPr>
          <p:cNvSpPr/>
          <p:nvPr/>
        </p:nvSpPr>
        <p:spPr>
          <a:xfrm>
            <a:off x="4511880" y="2149384"/>
            <a:ext cx="1539668" cy="3391496"/>
          </a:xfrm>
          <a:prstGeom prst="roundRect">
            <a:avLst>
              <a:gd name="adj" fmla="val 2320"/>
            </a:avLst>
          </a:prstGeom>
          <a:solidFill>
            <a:schemeClr val="bg1">
              <a:lumMod val="95000"/>
            </a:schemeClr>
          </a:solidFill>
          <a:ln w="12700">
            <a:solidFill>
              <a:schemeClr val="bg2">
                <a:lumMod val="50000"/>
              </a:scheme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2" name="Rectangle 141">
            <a:extLst>
              <a:ext uri="{FF2B5EF4-FFF2-40B4-BE49-F238E27FC236}">
                <a16:creationId xmlns:a16="http://schemas.microsoft.com/office/drawing/2014/main" id="{E6A25293-5C3B-884C-A000-A4DB20AB4B99}"/>
              </a:ext>
            </a:extLst>
          </p:cNvPr>
          <p:cNvSpPr/>
          <p:nvPr/>
        </p:nvSpPr>
        <p:spPr>
          <a:xfrm>
            <a:off x="4511880" y="2233653"/>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Rack</a:t>
            </a:r>
            <a:endPar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8" name="Rectangle: Rounded Corners 174">
            <a:extLst>
              <a:ext uri="{FF2B5EF4-FFF2-40B4-BE49-F238E27FC236}">
                <a16:creationId xmlns:a16="http://schemas.microsoft.com/office/drawing/2014/main" id="{4C659A7C-7FCB-BDAE-0C89-7EF6B5AF85B6}"/>
              </a:ext>
            </a:extLst>
          </p:cNvPr>
          <p:cNvSpPr/>
          <p:nvPr/>
        </p:nvSpPr>
        <p:spPr>
          <a:xfrm>
            <a:off x="6196620" y="2140186"/>
            <a:ext cx="1539668" cy="3391496"/>
          </a:xfrm>
          <a:prstGeom prst="roundRect">
            <a:avLst>
              <a:gd name="adj" fmla="val 2771"/>
            </a:avLst>
          </a:prstGeom>
          <a:solidFill>
            <a:schemeClr val="bg1">
              <a:lumMod val="95000"/>
            </a:schemeClr>
          </a:solidFill>
          <a:ln w="12700">
            <a:solidFill>
              <a:schemeClr val="bg2">
                <a:lumMod val="50000"/>
              </a:scheme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9" name="Rectangle 148">
            <a:extLst>
              <a:ext uri="{FF2B5EF4-FFF2-40B4-BE49-F238E27FC236}">
                <a16:creationId xmlns:a16="http://schemas.microsoft.com/office/drawing/2014/main" id="{AE99CD0F-8199-941D-1D55-2DC763C3162C}"/>
              </a:ext>
            </a:extLst>
          </p:cNvPr>
          <p:cNvSpPr/>
          <p:nvPr/>
        </p:nvSpPr>
        <p:spPr>
          <a:xfrm>
            <a:off x="6196620" y="2224455"/>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Rack</a:t>
            </a:r>
            <a:endPar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55" name="Rectangle: Rounded Corners 174">
            <a:extLst>
              <a:ext uri="{FF2B5EF4-FFF2-40B4-BE49-F238E27FC236}">
                <a16:creationId xmlns:a16="http://schemas.microsoft.com/office/drawing/2014/main" id="{E3A3D7C0-1E06-F917-315B-86BFFCD0AAFE}"/>
              </a:ext>
            </a:extLst>
          </p:cNvPr>
          <p:cNvSpPr/>
          <p:nvPr/>
        </p:nvSpPr>
        <p:spPr>
          <a:xfrm>
            <a:off x="7861132" y="2140959"/>
            <a:ext cx="1539668" cy="3391496"/>
          </a:xfrm>
          <a:prstGeom prst="roundRect">
            <a:avLst>
              <a:gd name="adj" fmla="val 2771"/>
            </a:avLst>
          </a:prstGeom>
          <a:solidFill>
            <a:schemeClr val="bg1">
              <a:lumMod val="95000"/>
            </a:schemeClr>
          </a:solidFill>
          <a:ln w="12700">
            <a:solidFill>
              <a:schemeClr val="bg2">
                <a:lumMod val="50000"/>
              </a:scheme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56" name="Rectangle 155">
            <a:extLst>
              <a:ext uri="{FF2B5EF4-FFF2-40B4-BE49-F238E27FC236}">
                <a16:creationId xmlns:a16="http://schemas.microsoft.com/office/drawing/2014/main" id="{6D137B25-3400-0E87-F938-14A130EAE395}"/>
              </a:ext>
            </a:extLst>
          </p:cNvPr>
          <p:cNvSpPr/>
          <p:nvPr/>
        </p:nvSpPr>
        <p:spPr>
          <a:xfrm>
            <a:off x="7861132" y="2225228"/>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Rack</a:t>
            </a:r>
            <a:endPar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17" name="Group 16">
            <a:extLst>
              <a:ext uri="{FF2B5EF4-FFF2-40B4-BE49-F238E27FC236}">
                <a16:creationId xmlns:a16="http://schemas.microsoft.com/office/drawing/2014/main" id="{0D7DE672-DC80-C0AE-04A8-F8AA2EC4FE43}"/>
              </a:ext>
            </a:extLst>
          </p:cNvPr>
          <p:cNvGrpSpPr/>
          <p:nvPr/>
        </p:nvGrpSpPr>
        <p:grpSpPr>
          <a:xfrm>
            <a:off x="4610979" y="2429103"/>
            <a:ext cx="1342795" cy="1028166"/>
            <a:chOff x="4610979" y="2429103"/>
            <a:chExt cx="1342795" cy="1028166"/>
          </a:xfrm>
        </p:grpSpPr>
        <p:sp>
          <p:nvSpPr>
            <p:cNvPr id="169" name="Rectangle: Rounded Corners 174">
              <a:extLst>
                <a:ext uri="{FF2B5EF4-FFF2-40B4-BE49-F238E27FC236}">
                  <a16:creationId xmlns:a16="http://schemas.microsoft.com/office/drawing/2014/main" id="{841E6A13-1DB4-F799-CFAB-6C40E8C57977}"/>
                </a:ext>
              </a:extLst>
            </p:cNvPr>
            <p:cNvSpPr/>
            <p:nvPr/>
          </p:nvSpPr>
          <p:spPr>
            <a:xfrm>
              <a:off x="4610979" y="2429103"/>
              <a:ext cx="1342794" cy="1028166"/>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0" name="Rectangle 169">
              <a:extLst>
                <a:ext uri="{FF2B5EF4-FFF2-40B4-BE49-F238E27FC236}">
                  <a16:creationId xmlns:a16="http://schemas.microsoft.com/office/drawing/2014/main" id="{EFF8D3EF-FE4A-7E15-4352-35B7A47BCC94}"/>
                </a:ext>
              </a:extLst>
            </p:cNvPr>
            <p:cNvSpPr/>
            <p:nvPr/>
          </p:nvSpPr>
          <p:spPr>
            <a:xfrm>
              <a:off x="4610980" y="2516365"/>
              <a:ext cx="1342794"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Workload Domain 1</a:t>
              </a:r>
            </a:p>
          </p:txBody>
        </p:sp>
        <p:sp>
          <p:nvSpPr>
            <p:cNvPr id="171" name="Rectangle 170">
              <a:extLst>
                <a:ext uri="{FF2B5EF4-FFF2-40B4-BE49-F238E27FC236}">
                  <a16:creationId xmlns:a16="http://schemas.microsoft.com/office/drawing/2014/main" id="{F69C9EA6-0A3D-17B9-E0DA-8635276A3A19}"/>
                </a:ext>
              </a:extLst>
            </p:cNvPr>
            <p:cNvSpPr/>
            <p:nvPr/>
          </p:nvSpPr>
          <p:spPr bwMode="gray">
            <a:xfrm>
              <a:off x="4716674" y="2738890"/>
              <a:ext cx="117359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Standard Cluster</a:t>
              </a:r>
            </a:p>
          </p:txBody>
        </p:sp>
      </p:grpSp>
      <p:sp>
        <p:nvSpPr>
          <p:cNvPr id="172" name="Rectangle 171">
            <a:extLst>
              <a:ext uri="{FF2B5EF4-FFF2-40B4-BE49-F238E27FC236}">
                <a16:creationId xmlns:a16="http://schemas.microsoft.com/office/drawing/2014/main" id="{FF027082-3F1B-61CF-C883-797D35C1AC17}"/>
              </a:ext>
            </a:extLst>
          </p:cNvPr>
          <p:cNvSpPr/>
          <p:nvPr/>
        </p:nvSpPr>
        <p:spPr bwMode="gray">
          <a:xfrm>
            <a:off x="4716674" y="3081647"/>
            <a:ext cx="117359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Standard Cluster</a:t>
            </a:r>
          </a:p>
        </p:txBody>
      </p:sp>
      <p:grpSp>
        <p:nvGrpSpPr>
          <p:cNvPr id="28" name="Group 27">
            <a:extLst>
              <a:ext uri="{FF2B5EF4-FFF2-40B4-BE49-F238E27FC236}">
                <a16:creationId xmlns:a16="http://schemas.microsoft.com/office/drawing/2014/main" id="{F8C55893-7408-ABFD-1609-996E22219CCC}"/>
              </a:ext>
            </a:extLst>
          </p:cNvPr>
          <p:cNvGrpSpPr/>
          <p:nvPr/>
        </p:nvGrpSpPr>
        <p:grpSpPr>
          <a:xfrm>
            <a:off x="4620430" y="4753966"/>
            <a:ext cx="3050698" cy="702869"/>
            <a:chOff x="4620430" y="4753966"/>
            <a:chExt cx="3050698" cy="702869"/>
          </a:xfrm>
        </p:grpSpPr>
        <p:sp>
          <p:nvSpPr>
            <p:cNvPr id="178" name="Rectangle: Rounded Corners 174">
              <a:extLst>
                <a:ext uri="{FF2B5EF4-FFF2-40B4-BE49-F238E27FC236}">
                  <a16:creationId xmlns:a16="http://schemas.microsoft.com/office/drawing/2014/main" id="{B7B7B673-2025-197B-78AF-9ABD0F57F64A}"/>
                </a:ext>
              </a:extLst>
            </p:cNvPr>
            <p:cNvSpPr/>
            <p:nvPr/>
          </p:nvSpPr>
          <p:spPr>
            <a:xfrm>
              <a:off x="4620430" y="4753966"/>
              <a:ext cx="3050698" cy="702869"/>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9" name="Rectangle 178">
              <a:extLst>
                <a:ext uri="{FF2B5EF4-FFF2-40B4-BE49-F238E27FC236}">
                  <a16:creationId xmlns:a16="http://schemas.microsoft.com/office/drawing/2014/main" id="{764BF49F-4F7E-FAA7-394A-2FB8F6C83DED}"/>
                </a:ext>
              </a:extLst>
            </p:cNvPr>
            <p:cNvSpPr/>
            <p:nvPr/>
          </p:nvSpPr>
          <p:spPr>
            <a:xfrm>
              <a:off x="4620432" y="4812987"/>
              <a:ext cx="1342794"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Workload Domain 3</a:t>
              </a:r>
            </a:p>
          </p:txBody>
        </p:sp>
      </p:grpSp>
      <p:sp>
        <p:nvSpPr>
          <p:cNvPr id="180" name="Rectangle 179">
            <a:extLst>
              <a:ext uri="{FF2B5EF4-FFF2-40B4-BE49-F238E27FC236}">
                <a16:creationId xmlns:a16="http://schemas.microsoft.com/office/drawing/2014/main" id="{2A4A8F29-F677-45A2-B513-DBC9DC36B780}"/>
              </a:ext>
            </a:extLst>
          </p:cNvPr>
          <p:cNvSpPr/>
          <p:nvPr/>
        </p:nvSpPr>
        <p:spPr bwMode="gray">
          <a:xfrm>
            <a:off x="4726126" y="5031652"/>
            <a:ext cx="117359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Storage Cluster</a:t>
            </a:r>
          </a:p>
        </p:txBody>
      </p:sp>
      <p:sp>
        <p:nvSpPr>
          <p:cNvPr id="182" name="Rectangle 181">
            <a:extLst>
              <a:ext uri="{FF2B5EF4-FFF2-40B4-BE49-F238E27FC236}">
                <a16:creationId xmlns:a16="http://schemas.microsoft.com/office/drawing/2014/main" id="{680100E0-0351-4B2D-0B5A-7E88C4ECC271}"/>
              </a:ext>
            </a:extLst>
          </p:cNvPr>
          <p:cNvSpPr/>
          <p:nvPr/>
        </p:nvSpPr>
        <p:spPr bwMode="gray">
          <a:xfrm>
            <a:off x="6369540" y="5023090"/>
            <a:ext cx="117359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Compute Cluster</a:t>
            </a:r>
          </a:p>
        </p:txBody>
      </p:sp>
      <p:sp>
        <p:nvSpPr>
          <p:cNvPr id="187" name="Rectangle 186">
            <a:extLst>
              <a:ext uri="{FF2B5EF4-FFF2-40B4-BE49-F238E27FC236}">
                <a16:creationId xmlns:a16="http://schemas.microsoft.com/office/drawing/2014/main" id="{6DFA625C-6250-8A6F-BB09-E15280161B0C}"/>
              </a:ext>
            </a:extLst>
          </p:cNvPr>
          <p:cNvSpPr/>
          <p:nvPr/>
        </p:nvSpPr>
        <p:spPr>
          <a:xfrm>
            <a:off x="6196620" y="1923152"/>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Availability Zone 1</a:t>
            </a:r>
          </a:p>
        </p:txBody>
      </p:sp>
      <p:grpSp>
        <p:nvGrpSpPr>
          <p:cNvPr id="23" name="Group 22">
            <a:extLst>
              <a:ext uri="{FF2B5EF4-FFF2-40B4-BE49-F238E27FC236}">
                <a16:creationId xmlns:a16="http://schemas.microsoft.com/office/drawing/2014/main" id="{4F2C644E-FD7E-713A-9FD9-1BC90F012ADB}"/>
              </a:ext>
            </a:extLst>
          </p:cNvPr>
          <p:cNvGrpSpPr/>
          <p:nvPr/>
        </p:nvGrpSpPr>
        <p:grpSpPr>
          <a:xfrm>
            <a:off x="9593189" y="1876050"/>
            <a:ext cx="1733954" cy="3694483"/>
            <a:chOff x="9593189" y="1876050"/>
            <a:chExt cx="1733954" cy="3694483"/>
          </a:xfrm>
        </p:grpSpPr>
        <p:sp>
          <p:nvSpPr>
            <p:cNvPr id="162" name="Rectangle: Rounded Corners 174">
              <a:extLst>
                <a:ext uri="{FF2B5EF4-FFF2-40B4-BE49-F238E27FC236}">
                  <a16:creationId xmlns:a16="http://schemas.microsoft.com/office/drawing/2014/main" id="{AD88FDA2-5492-484E-E517-1AD6046733F0}"/>
                </a:ext>
              </a:extLst>
            </p:cNvPr>
            <p:cNvSpPr/>
            <p:nvPr/>
          </p:nvSpPr>
          <p:spPr>
            <a:xfrm>
              <a:off x="9682958" y="2140186"/>
              <a:ext cx="1539668" cy="3391496"/>
            </a:xfrm>
            <a:prstGeom prst="roundRect">
              <a:avLst>
                <a:gd name="adj" fmla="val 2771"/>
              </a:avLst>
            </a:prstGeom>
            <a:solidFill>
              <a:schemeClr val="bg1">
                <a:lumMod val="95000"/>
              </a:schemeClr>
            </a:solidFill>
            <a:ln w="12700">
              <a:solidFill>
                <a:schemeClr val="bg2">
                  <a:lumMod val="50000"/>
                </a:scheme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3" name="Rectangle 162">
              <a:extLst>
                <a:ext uri="{FF2B5EF4-FFF2-40B4-BE49-F238E27FC236}">
                  <a16:creationId xmlns:a16="http://schemas.microsoft.com/office/drawing/2014/main" id="{5940E426-8E6C-3513-4B1E-57A35895C84E}"/>
                </a:ext>
              </a:extLst>
            </p:cNvPr>
            <p:cNvSpPr/>
            <p:nvPr/>
          </p:nvSpPr>
          <p:spPr>
            <a:xfrm>
              <a:off x="9682958" y="2224455"/>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Rack</a:t>
              </a:r>
              <a:endPar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5" name="Rectangle: Rounded Corners 174">
              <a:extLst>
                <a:ext uri="{FF2B5EF4-FFF2-40B4-BE49-F238E27FC236}">
                  <a16:creationId xmlns:a16="http://schemas.microsoft.com/office/drawing/2014/main" id="{FDB31F55-6E9D-2F58-FD40-0C789A794DE8}"/>
                </a:ext>
              </a:extLst>
            </p:cNvPr>
            <p:cNvSpPr/>
            <p:nvPr/>
          </p:nvSpPr>
          <p:spPr>
            <a:xfrm>
              <a:off x="9593189" y="1876050"/>
              <a:ext cx="1733954" cy="3694483"/>
            </a:xfrm>
            <a:prstGeom prst="roundRect">
              <a:avLst>
                <a:gd name="adj" fmla="val 2320"/>
              </a:avLst>
            </a:prstGeom>
            <a:noFill/>
            <a:ln w="25400">
              <a:solidFill>
                <a:schemeClr val="tx1"/>
              </a:solidFill>
              <a:prstDash val="sysDash"/>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8" name="Rectangle 187">
              <a:extLst>
                <a:ext uri="{FF2B5EF4-FFF2-40B4-BE49-F238E27FC236}">
                  <a16:creationId xmlns:a16="http://schemas.microsoft.com/office/drawing/2014/main" id="{49D7540B-3B97-C292-51D0-7992FF6A9073}"/>
                </a:ext>
              </a:extLst>
            </p:cNvPr>
            <p:cNvSpPr/>
            <p:nvPr/>
          </p:nvSpPr>
          <p:spPr>
            <a:xfrm>
              <a:off x="9754362" y="1917898"/>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Availability Zone 2</a:t>
              </a:r>
            </a:p>
          </p:txBody>
        </p:sp>
      </p:grpSp>
      <p:sp>
        <p:nvSpPr>
          <p:cNvPr id="189" name="Rectangle: Rounded Corners 174">
            <a:extLst>
              <a:ext uri="{FF2B5EF4-FFF2-40B4-BE49-F238E27FC236}">
                <a16:creationId xmlns:a16="http://schemas.microsoft.com/office/drawing/2014/main" id="{EF2C9CE9-FB4F-B25F-5BD6-4D303BD33374}"/>
              </a:ext>
            </a:extLst>
          </p:cNvPr>
          <p:cNvSpPr/>
          <p:nvPr/>
        </p:nvSpPr>
        <p:spPr>
          <a:xfrm>
            <a:off x="4335949" y="1578326"/>
            <a:ext cx="7082893" cy="4082735"/>
          </a:xfrm>
          <a:prstGeom prst="roundRect">
            <a:avLst>
              <a:gd name="adj" fmla="val 2320"/>
            </a:avLst>
          </a:prstGeom>
          <a:noFill/>
          <a:ln w="9525">
            <a:solidFill>
              <a:schemeClr val="tx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0" name="Rectangle 189">
            <a:extLst>
              <a:ext uri="{FF2B5EF4-FFF2-40B4-BE49-F238E27FC236}">
                <a16:creationId xmlns:a16="http://schemas.microsoft.com/office/drawing/2014/main" id="{26593C2A-21B0-2887-0CFE-FCCC10A6FF28}"/>
              </a:ext>
            </a:extLst>
          </p:cNvPr>
          <p:cNvSpPr/>
          <p:nvPr/>
        </p:nvSpPr>
        <p:spPr>
          <a:xfrm>
            <a:off x="7021692" y="1618282"/>
            <a:ext cx="1429192"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solidFill>
                  <a:srgbClr val="000001"/>
                </a:solidFill>
                <a:latin typeface="Arial" panose="020B0604020202020204" pitchFamily="34" charset="0"/>
              </a:rPr>
              <a:t>VCF Instance</a:t>
            </a:r>
            <a:endParaRPr kumimoji="0" lang="en-US" sz="12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5" name="Rectangle 194">
            <a:extLst>
              <a:ext uri="{FF2B5EF4-FFF2-40B4-BE49-F238E27FC236}">
                <a16:creationId xmlns:a16="http://schemas.microsoft.com/office/drawing/2014/main" id="{ED2779F9-1901-094D-F835-CB44F9C704B7}"/>
              </a:ext>
            </a:extLst>
          </p:cNvPr>
          <p:cNvSpPr/>
          <p:nvPr/>
        </p:nvSpPr>
        <p:spPr>
          <a:xfrm>
            <a:off x="527302" y="1242374"/>
            <a:ext cx="1608775" cy="369332"/>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200" u="none" strike="noStrike" kern="0" cap="none" spc="0" normalizeH="0" baseline="0" noProof="0" dirty="0">
                <a:ln>
                  <a:noFill/>
                </a:ln>
                <a:effectLst/>
                <a:uLnTx/>
                <a:uFillTx/>
                <a:latin typeface="Arial" panose="020B0604020202020204" pitchFamily="34" charset="0"/>
                <a:ea typeface="+mn-ea"/>
                <a:cs typeface="+mn-cs"/>
              </a:rPr>
              <a:t>Management &amp; Workload Domains </a:t>
            </a:r>
          </a:p>
        </p:txBody>
      </p:sp>
      <p:sp>
        <p:nvSpPr>
          <p:cNvPr id="197" name="Rectangle 196">
            <a:extLst>
              <a:ext uri="{FF2B5EF4-FFF2-40B4-BE49-F238E27FC236}">
                <a16:creationId xmlns:a16="http://schemas.microsoft.com/office/drawing/2014/main" id="{6398CE9B-0E90-9720-4AA5-AB750A6F3131}"/>
              </a:ext>
            </a:extLst>
          </p:cNvPr>
          <p:cNvSpPr/>
          <p:nvPr/>
        </p:nvSpPr>
        <p:spPr>
          <a:xfrm>
            <a:off x="4479028" y="1242571"/>
            <a:ext cx="1429192"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Standard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sp>
        <p:nvSpPr>
          <p:cNvPr id="198" name="Rectangle 197">
            <a:extLst>
              <a:ext uri="{FF2B5EF4-FFF2-40B4-BE49-F238E27FC236}">
                <a16:creationId xmlns:a16="http://schemas.microsoft.com/office/drawing/2014/main" id="{9FBE9D91-0140-B3AD-7482-D052F7A9C373}"/>
              </a:ext>
            </a:extLst>
          </p:cNvPr>
          <p:cNvSpPr/>
          <p:nvPr/>
        </p:nvSpPr>
        <p:spPr>
          <a:xfrm>
            <a:off x="6429639" y="1240786"/>
            <a:ext cx="1828437"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Multi-rack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sp>
        <p:nvSpPr>
          <p:cNvPr id="199" name="Rectangle 198">
            <a:extLst>
              <a:ext uri="{FF2B5EF4-FFF2-40B4-BE49-F238E27FC236}">
                <a16:creationId xmlns:a16="http://schemas.microsoft.com/office/drawing/2014/main" id="{8EAB8078-4920-44CB-817B-EE70FAEFD088}"/>
              </a:ext>
            </a:extLst>
          </p:cNvPr>
          <p:cNvSpPr/>
          <p:nvPr/>
        </p:nvSpPr>
        <p:spPr>
          <a:xfrm>
            <a:off x="8634624" y="1238417"/>
            <a:ext cx="1828436"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Stretched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sp>
        <p:nvSpPr>
          <p:cNvPr id="201" name="Rectangle 200">
            <a:extLst>
              <a:ext uri="{FF2B5EF4-FFF2-40B4-BE49-F238E27FC236}">
                <a16:creationId xmlns:a16="http://schemas.microsoft.com/office/drawing/2014/main" id="{6F2E490C-7A2C-14A0-2D33-2B8DDC7E23A4}"/>
              </a:ext>
            </a:extLst>
          </p:cNvPr>
          <p:cNvSpPr/>
          <p:nvPr/>
        </p:nvSpPr>
        <p:spPr>
          <a:xfrm>
            <a:off x="4458092" y="5743769"/>
            <a:ext cx="1620350"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Storage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sp>
        <p:nvSpPr>
          <p:cNvPr id="202" name="Rectangle 201">
            <a:extLst>
              <a:ext uri="{FF2B5EF4-FFF2-40B4-BE49-F238E27FC236}">
                <a16:creationId xmlns:a16="http://schemas.microsoft.com/office/drawing/2014/main" id="{2E4EF353-D5BD-8949-127D-9A937ADEC729}"/>
              </a:ext>
            </a:extLst>
          </p:cNvPr>
          <p:cNvSpPr/>
          <p:nvPr/>
        </p:nvSpPr>
        <p:spPr>
          <a:xfrm>
            <a:off x="6159124" y="5738766"/>
            <a:ext cx="1620350"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Compute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grpSp>
        <p:nvGrpSpPr>
          <p:cNvPr id="11" name="Group 10">
            <a:extLst>
              <a:ext uri="{FF2B5EF4-FFF2-40B4-BE49-F238E27FC236}">
                <a16:creationId xmlns:a16="http://schemas.microsoft.com/office/drawing/2014/main" id="{BD1F994D-D96F-FDDE-ED93-351C11A2097C}"/>
              </a:ext>
            </a:extLst>
          </p:cNvPr>
          <p:cNvGrpSpPr/>
          <p:nvPr/>
        </p:nvGrpSpPr>
        <p:grpSpPr>
          <a:xfrm>
            <a:off x="709673" y="3783791"/>
            <a:ext cx="1211169" cy="1542060"/>
            <a:chOff x="709673" y="3783791"/>
            <a:chExt cx="1211169" cy="1542060"/>
          </a:xfrm>
        </p:grpSpPr>
        <p:sp>
          <p:nvSpPr>
            <p:cNvPr id="104" name="Rectangle: Rounded Corners 174">
              <a:extLst>
                <a:ext uri="{FF2B5EF4-FFF2-40B4-BE49-F238E27FC236}">
                  <a16:creationId xmlns:a16="http://schemas.microsoft.com/office/drawing/2014/main" id="{869AD080-F065-0158-EEE4-76D2B78C2AAB}"/>
                </a:ext>
              </a:extLst>
            </p:cNvPr>
            <p:cNvSpPr/>
            <p:nvPr/>
          </p:nvSpPr>
          <p:spPr>
            <a:xfrm>
              <a:off x="709673" y="3783791"/>
              <a:ext cx="1211169" cy="1542060"/>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5" name="Rectangle 14">
              <a:extLst>
                <a:ext uri="{FF2B5EF4-FFF2-40B4-BE49-F238E27FC236}">
                  <a16:creationId xmlns:a16="http://schemas.microsoft.com/office/drawing/2014/main" id="{E3B51F9D-D1EE-9617-37E2-765D1EA5BC29}"/>
                </a:ext>
              </a:extLst>
            </p:cNvPr>
            <p:cNvSpPr/>
            <p:nvPr/>
          </p:nvSpPr>
          <p:spPr>
            <a:xfrm>
              <a:off x="855412" y="3905216"/>
              <a:ext cx="949276" cy="307777"/>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Workload Domain Cluster</a:t>
              </a:r>
            </a:p>
          </p:txBody>
        </p:sp>
        <p:grpSp>
          <p:nvGrpSpPr>
            <p:cNvPr id="25" name="Group 24">
              <a:extLst>
                <a:ext uri="{FF2B5EF4-FFF2-40B4-BE49-F238E27FC236}">
                  <a16:creationId xmlns:a16="http://schemas.microsoft.com/office/drawing/2014/main" id="{F36C2F81-315D-1DBE-A767-FCC7A2806951}"/>
                </a:ext>
              </a:extLst>
            </p:cNvPr>
            <p:cNvGrpSpPr/>
            <p:nvPr/>
          </p:nvGrpSpPr>
          <p:grpSpPr>
            <a:xfrm>
              <a:off x="965200" y="4315077"/>
              <a:ext cx="712005" cy="906161"/>
              <a:chOff x="928971" y="4196892"/>
              <a:chExt cx="385619" cy="490773"/>
            </a:xfrm>
            <a:solidFill>
              <a:schemeClr val="accent2"/>
            </a:solidFill>
          </p:grpSpPr>
          <p:sp>
            <p:nvSpPr>
              <p:cNvPr id="26" name="Graphic 47">
                <a:extLst>
                  <a:ext uri="{FF2B5EF4-FFF2-40B4-BE49-F238E27FC236}">
                    <a16:creationId xmlns:a16="http://schemas.microsoft.com/office/drawing/2014/main" id="{3BC91B60-7CDC-06AB-67A4-E82AD6A0C70B}"/>
                  </a:ext>
                </a:extLst>
              </p:cNvPr>
              <p:cNvSpPr/>
              <p:nvPr/>
            </p:nvSpPr>
            <p:spPr>
              <a:xfrm>
                <a:off x="928971" y="4586186"/>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 name="Graphic 47">
                <a:extLst>
                  <a:ext uri="{FF2B5EF4-FFF2-40B4-BE49-F238E27FC236}">
                    <a16:creationId xmlns:a16="http://schemas.microsoft.com/office/drawing/2014/main" id="{988A9EB2-3C9E-5817-6A8E-7867196150A9}"/>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 name="Graphic 47">
                <a:extLst>
                  <a:ext uri="{FF2B5EF4-FFF2-40B4-BE49-F238E27FC236}">
                    <a16:creationId xmlns:a16="http://schemas.microsoft.com/office/drawing/2014/main" id="{AC814C4A-6301-51E2-B1D6-05822C346AAC}"/>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 name="Graphic 47">
                <a:extLst>
                  <a:ext uri="{FF2B5EF4-FFF2-40B4-BE49-F238E27FC236}">
                    <a16:creationId xmlns:a16="http://schemas.microsoft.com/office/drawing/2014/main" id="{033DF1E3-F441-D32F-7DC0-2E0113F04829}"/>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10" name="Group 9">
            <a:extLst>
              <a:ext uri="{FF2B5EF4-FFF2-40B4-BE49-F238E27FC236}">
                <a16:creationId xmlns:a16="http://schemas.microsoft.com/office/drawing/2014/main" id="{542AB780-5432-360E-F40B-23AAA2A0758E}"/>
              </a:ext>
            </a:extLst>
          </p:cNvPr>
          <p:cNvGrpSpPr/>
          <p:nvPr/>
        </p:nvGrpSpPr>
        <p:grpSpPr>
          <a:xfrm>
            <a:off x="599335" y="1817406"/>
            <a:ext cx="1429192" cy="3639430"/>
            <a:chOff x="599335" y="1817406"/>
            <a:chExt cx="1429192" cy="3639430"/>
          </a:xfrm>
        </p:grpSpPr>
        <p:sp>
          <p:nvSpPr>
            <p:cNvPr id="194" name="Rectangle 193">
              <a:extLst>
                <a:ext uri="{FF2B5EF4-FFF2-40B4-BE49-F238E27FC236}">
                  <a16:creationId xmlns:a16="http://schemas.microsoft.com/office/drawing/2014/main" id="{7C041D15-8384-0429-5C97-742644C53B48}"/>
                </a:ext>
              </a:extLst>
            </p:cNvPr>
            <p:cNvSpPr/>
            <p:nvPr/>
          </p:nvSpPr>
          <p:spPr>
            <a:xfrm>
              <a:off x="599335" y="1863612"/>
              <a:ext cx="1429192"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solidFill>
                    <a:srgbClr val="000001"/>
                  </a:solidFill>
                  <a:latin typeface="Arial" panose="020B0604020202020204" pitchFamily="34" charset="0"/>
                </a:rPr>
                <a:t>VCF Instance</a:t>
              </a:r>
              <a:endParaRPr kumimoji="0" lang="en-US" sz="12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3" name="Rectangle: Rounded Corners 174">
              <a:extLst>
                <a:ext uri="{FF2B5EF4-FFF2-40B4-BE49-F238E27FC236}">
                  <a16:creationId xmlns:a16="http://schemas.microsoft.com/office/drawing/2014/main" id="{8ADEEE0B-C844-ECD5-E9D8-32A4844A7A27}"/>
                </a:ext>
              </a:extLst>
            </p:cNvPr>
            <p:cNvSpPr/>
            <p:nvPr/>
          </p:nvSpPr>
          <p:spPr>
            <a:xfrm>
              <a:off x="709674" y="2111612"/>
              <a:ext cx="1211169" cy="1542060"/>
            </a:xfrm>
            <a:prstGeom prst="roundRect">
              <a:avLst>
                <a:gd name="adj" fmla="val 7958"/>
              </a:avLst>
            </a:prstGeom>
            <a:solidFill>
              <a:srgbClr val="F4F8FA"/>
            </a:solidFill>
            <a:ln w="25400">
              <a:solidFill>
                <a:schemeClr val="accent3"/>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 name="Rectangle 15">
              <a:extLst>
                <a:ext uri="{FF2B5EF4-FFF2-40B4-BE49-F238E27FC236}">
                  <a16:creationId xmlns:a16="http://schemas.microsoft.com/office/drawing/2014/main" id="{39BDF6C8-A9F7-7AFF-5D27-C4BA6031B9ED}"/>
                </a:ext>
              </a:extLst>
            </p:cNvPr>
            <p:cNvSpPr/>
            <p:nvPr/>
          </p:nvSpPr>
          <p:spPr>
            <a:xfrm>
              <a:off x="803736" y="2195881"/>
              <a:ext cx="1026905" cy="307777"/>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Management</a:t>
              </a: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 Domain Cluster</a:t>
              </a:r>
            </a:p>
          </p:txBody>
        </p:sp>
        <p:sp>
          <p:nvSpPr>
            <p:cNvPr id="192" name="Rectangle: Rounded Corners 174">
              <a:extLst>
                <a:ext uri="{FF2B5EF4-FFF2-40B4-BE49-F238E27FC236}">
                  <a16:creationId xmlns:a16="http://schemas.microsoft.com/office/drawing/2014/main" id="{82B3815A-A403-7552-73EF-52BB978408B0}"/>
                </a:ext>
              </a:extLst>
            </p:cNvPr>
            <p:cNvSpPr/>
            <p:nvPr/>
          </p:nvSpPr>
          <p:spPr>
            <a:xfrm>
              <a:off x="637201" y="1817406"/>
              <a:ext cx="1344274" cy="3639430"/>
            </a:xfrm>
            <a:prstGeom prst="roundRect">
              <a:avLst>
                <a:gd name="adj" fmla="val 2320"/>
              </a:avLst>
            </a:prstGeom>
            <a:noFill/>
            <a:ln w="9525">
              <a:solidFill>
                <a:schemeClr val="tx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35" name="Group 34">
              <a:extLst>
                <a:ext uri="{FF2B5EF4-FFF2-40B4-BE49-F238E27FC236}">
                  <a16:creationId xmlns:a16="http://schemas.microsoft.com/office/drawing/2014/main" id="{5A667D9A-8349-B3B8-8378-400D82B97EC1}"/>
                </a:ext>
              </a:extLst>
            </p:cNvPr>
            <p:cNvGrpSpPr/>
            <p:nvPr/>
          </p:nvGrpSpPr>
          <p:grpSpPr>
            <a:xfrm>
              <a:off x="949122" y="2642693"/>
              <a:ext cx="712005" cy="906161"/>
              <a:chOff x="928971" y="4196892"/>
              <a:chExt cx="385619" cy="490773"/>
            </a:xfrm>
            <a:solidFill>
              <a:schemeClr val="accent3"/>
            </a:solidFill>
          </p:grpSpPr>
          <p:sp>
            <p:nvSpPr>
              <p:cNvPr id="36" name="Graphic 47">
                <a:extLst>
                  <a:ext uri="{FF2B5EF4-FFF2-40B4-BE49-F238E27FC236}">
                    <a16:creationId xmlns:a16="http://schemas.microsoft.com/office/drawing/2014/main" id="{39CCF6F8-F0C8-45CF-D216-7C652F596B52}"/>
                  </a:ext>
                </a:extLst>
              </p:cNvPr>
              <p:cNvSpPr/>
              <p:nvPr/>
            </p:nvSpPr>
            <p:spPr>
              <a:xfrm>
                <a:off x="928971" y="4586186"/>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7" name="Graphic 47">
                <a:extLst>
                  <a:ext uri="{FF2B5EF4-FFF2-40B4-BE49-F238E27FC236}">
                    <a16:creationId xmlns:a16="http://schemas.microsoft.com/office/drawing/2014/main" id="{3D8CBFF1-9692-2265-8E31-B2CBFD4D54DE}"/>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 name="Graphic 47">
                <a:extLst>
                  <a:ext uri="{FF2B5EF4-FFF2-40B4-BE49-F238E27FC236}">
                    <a16:creationId xmlns:a16="http://schemas.microsoft.com/office/drawing/2014/main" id="{77500CAC-768D-5C75-16A2-32B506121238}"/>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 name="Graphic 47">
                <a:extLst>
                  <a:ext uri="{FF2B5EF4-FFF2-40B4-BE49-F238E27FC236}">
                    <a16:creationId xmlns:a16="http://schemas.microsoft.com/office/drawing/2014/main" id="{A0A5A9E7-0B50-0257-C480-2BE09FC93457}"/>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14" name="Group 13">
            <a:extLst>
              <a:ext uri="{FF2B5EF4-FFF2-40B4-BE49-F238E27FC236}">
                <a16:creationId xmlns:a16="http://schemas.microsoft.com/office/drawing/2014/main" id="{D6CFA3DE-1437-D9B6-3AE9-7FF6D2DACF74}"/>
              </a:ext>
            </a:extLst>
          </p:cNvPr>
          <p:cNvGrpSpPr/>
          <p:nvPr/>
        </p:nvGrpSpPr>
        <p:grpSpPr>
          <a:xfrm>
            <a:off x="2097077" y="1242371"/>
            <a:ext cx="1735120" cy="4214464"/>
            <a:chOff x="2097077" y="1242371"/>
            <a:chExt cx="1735120" cy="4214464"/>
          </a:xfrm>
        </p:grpSpPr>
        <p:sp>
          <p:nvSpPr>
            <p:cNvPr id="40" name="Rectangle: Rounded Corners 174">
              <a:extLst>
                <a:ext uri="{FF2B5EF4-FFF2-40B4-BE49-F238E27FC236}">
                  <a16:creationId xmlns:a16="http://schemas.microsoft.com/office/drawing/2014/main" id="{A1424890-03B8-E3F9-2779-085F73E76A86}"/>
                </a:ext>
              </a:extLst>
            </p:cNvPr>
            <p:cNvSpPr/>
            <p:nvPr/>
          </p:nvSpPr>
          <p:spPr>
            <a:xfrm>
              <a:off x="2443456" y="2124535"/>
              <a:ext cx="1297195" cy="2669208"/>
            </a:xfrm>
            <a:prstGeom prst="roundRect">
              <a:avLst>
                <a:gd name="adj" fmla="val 7958"/>
              </a:avLst>
            </a:prstGeom>
            <a:solidFill>
              <a:srgbClr val="F4F8FA"/>
            </a:solidFill>
            <a:ln w="25400">
              <a:solidFill>
                <a:schemeClr val="accent3"/>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12" name="Group 11">
              <a:extLst>
                <a:ext uri="{FF2B5EF4-FFF2-40B4-BE49-F238E27FC236}">
                  <a16:creationId xmlns:a16="http://schemas.microsoft.com/office/drawing/2014/main" id="{470029DE-49AE-A56F-1C5A-345BDDB4E956}"/>
                </a:ext>
              </a:extLst>
            </p:cNvPr>
            <p:cNvGrpSpPr/>
            <p:nvPr/>
          </p:nvGrpSpPr>
          <p:grpSpPr>
            <a:xfrm>
              <a:off x="2097077" y="1242371"/>
              <a:ext cx="1735120" cy="4214464"/>
              <a:chOff x="2097077" y="1242371"/>
              <a:chExt cx="1735120" cy="4214464"/>
            </a:xfrm>
          </p:grpSpPr>
          <p:sp>
            <p:nvSpPr>
              <p:cNvPr id="43" name="Rectangle 42">
                <a:extLst>
                  <a:ext uri="{FF2B5EF4-FFF2-40B4-BE49-F238E27FC236}">
                    <a16:creationId xmlns:a16="http://schemas.microsoft.com/office/drawing/2014/main" id="{F449E45F-3983-A680-034D-F68D113335E4}"/>
                  </a:ext>
                </a:extLst>
              </p:cNvPr>
              <p:cNvSpPr/>
              <p:nvPr/>
            </p:nvSpPr>
            <p:spPr>
              <a:xfrm>
                <a:off x="2377238" y="2209136"/>
                <a:ext cx="1429192" cy="615553"/>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Consolidated Management</a:t>
                </a: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 and Workload Domain Clusters</a:t>
                </a:r>
              </a:p>
            </p:txBody>
          </p:sp>
          <p:sp>
            <p:nvSpPr>
              <p:cNvPr id="191" name="Rectangle: Rounded Corners 174">
                <a:extLst>
                  <a:ext uri="{FF2B5EF4-FFF2-40B4-BE49-F238E27FC236}">
                    <a16:creationId xmlns:a16="http://schemas.microsoft.com/office/drawing/2014/main" id="{B24E4515-906E-2D6D-7F31-E76A22BEFF0A}"/>
                  </a:ext>
                </a:extLst>
              </p:cNvPr>
              <p:cNvSpPr/>
              <p:nvPr/>
            </p:nvSpPr>
            <p:spPr>
              <a:xfrm>
                <a:off x="2351970" y="1810342"/>
                <a:ext cx="1480227" cy="3108264"/>
              </a:xfrm>
              <a:prstGeom prst="roundRect">
                <a:avLst>
                  <a:gd name="adj" fmla="val 2320"/>
                </a:avLst>
              </a:prstGeom>
              <a:noFill/>
              <a:ln w="9525">
                <a:solidFill>
                  <a:schemeClr val="tx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3" name="Rectangle 192">
                <a:extLst>
                  <a:ext uri="{FF2B5EF4-FFF2-40B4-BE49-F238E27FC236}">
                    <a16:creationId xmlns:a16="http://schemas.microsoft.com/office/drawing/2014/main" id="{2E87FF88-92DE-2140-9990-B033508E9151}"/>
                  </a:ext>
                </a:extLst>
              </p:cNvPr>
              <p:cNvSpPr/>
              <p:nvPr/>
            </p:nvSpPr>
            <p:spPr>
              <a:xfrm>
                <a:off x="2373659" y="1863612"/>
                <a:ext cx="1429192"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solidFill>
                      <a:srgbClr val="000001"/>
                    </a:solidFill>
                    <a:latin typeface="Arial" panose="020B0604020202020204" pitchFamily="34" charset="0"/>
                  </a:rPr>
                  <a:t>VCF Instance</a:t>
                </a:r>
                <a:endParaRPr kumimoji="0" lang="en-US" sz="12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6" name="Rectangle 195">
                <a:extLst>
                  <a:ext uri="{FF2B5EF4-FFF2-40B4-BE49-F238E27FC236}">
                    <a16:creationId xmlns:a16="http://schemas.microsoft.com/office/drawing/2014/main" id="{92E92592-EBBC-36DC-8A3A-C07FDE0145C1}"/>
                  </a:ext>
                </a:extLst>
              </p:cNvPr>
              <p:cNvSpPr/>
              <p:nvPr/>
            </p:nvSpPr>
            <p:spPr>
              <a:xfrm>
                <a:off x="2355757" y="1242371"/>
                <a:ext cx="1429192" cy="369332"/>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200" u="none" strike="noStrike" kern="0" cap="none" spc="0" normalizeH="0" baseline="0" noProof="0" dirty="0">
                    <a:ln>
                      <a:noFill/>
                    </a:ln>
                    <a:effectLst/>
                    <a:uLnTx/>
                    <a:uFillTx/>
                    <a:latin typeface="Arial" panose="020B0604020202020204" pitchFamily="34" charset="0"/>
                    <a:ea typeface="+mn-ea"/>
                    <a:cs typeface="+mn-cs"/>
                  </a:rPr>
                  <a:t>Consolidated  Domain</a:t>
                </a:r>
              </a:p>
            </p:txBody>
          </p:sp>
          <p:grpSp>
            <p:nvGrpSpPr>
              <p:cNvPr id="41" name="Group 40">
                <a:extLst>
                  <a:ext uri="{FF2B5EF4-FFF2-40B4-BE49-F238E27FC236}">
                    <a16:creationId xmlns:a16="http://schemas.microsoft.com/office/drawing/2014/main" id="{F26AFF75-F0C1-08E2-EFF9-3CD7875658E4}"/>
                  </a:ext>
                </a:extLst>
              </p:cNvPr>
              <p:cNvGrpSpPr/>
              <p:nvPr/>
            </p:nvGrpSpPr>
            <p:grpSpPr>
              <a:xfrm>
                <a:off x="2737598" y="2911393"/>
                <a:ext cx="712005" cy="906161"/>
                <a:chOff x="928971" y="4196892"/>
                <a:chExt cx="385619" cy="490773"/>
              </a:xfrm>
              <a:solidFill>
                <a:schemeClr val="accent3"/>
              </a:solidFill>
            </p:grpSpPr>
            <p:sp>
              <p:nvSpPr>
                <p:cNvPr id="42" name="Graphic 47">
                  <a:extLst>
                    <a:ext uri="{FF2B5EF4-FFF2-40B4-BE49-F238E27FC236}">
                      <a16:creationId xmlns:a16="http://schemas.microsoft.com/office/drawing/2014/main" id="{E6B6F7E1-A71D-87E4-8707-EBD55F03F829}"/>
                    </a:ext>
                  </a:extLst>
                </p:cNvPr>
                <p:cNvSpPr/>
                <p:nvPr/>
              </p:nvSpPr>
              <p:spPr>
                <a:xfrm>
                  <a:off x="928971" y="4586186"/>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 name="Graphic 47">
                  <a:extLst>
                    <a:ext uri="{FF2B5EF4-FFF2-40B4-BE49-F238E27FC236}">
                      <a16:creationId xmlns:a16="http://schemas.microsoft.com/office/drawing/2014/main" id="{DE362755-54CC-73CF-098D-7E0FFE9CE857}"/>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5" name="Graphic 47">
                  <a:extLst>
                    <a:ext uri="{FF2B5EF4-FFF2-40B4-BE49-F238E27FC236}">
                      <a16:creationId xmlns:a16="http://schemas.microsoft.com/office/drawing/2014/main" id="{4432EC99-5CB6-BA71-3C78-93100C36FC41}"/>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6" name="Graphic 47">
                  <a:extLst>
                    <a:ext uri="{FF2B5EF4-FFF2-40B4-BE49-F238E27FC236}">
                      <a16:creationId xmlns:a16="http://schemas.microsoft.com/office/drawing/2014/main" id="{A3BE861B-0C68-F17F-A423-185700FBD36A}"/>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47" name="Graphic 47">
                <a:extLst>
                  <a:ext uri="{FF2B5EF4-FFF2-40B4-BE49-F238E27FC236}">
                    <a16:creationId xmlns:a16="http://schemas.microsoft.com/office/drawing/2014/main" id="{05217D3A-E0A0-B1E3-80A6-87B00F2D0AE8}"/>
                  </a:ext>
                </a:extLst>
              </p:cNvPr>
              <p:cNvSpPr/>
              <p:nvPr/>
            </p:nvSpPr>
            <p:spPr>
              <a:xfrm>
                <a:off x="2740747" y="4380881"/>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3"/>
              </a:solid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8" name="Graphic 47">
                <a:extLst>
                  <a:ext uri="{FF2B5EF4-FFF2-40B4-BE49-F238E27FC236}">
                    <a16:creationId xmlns:a16="http://schemas.microsoft.com/office/drawing/2014/main" id="{0C6B05C2-E810-0DF2-451E-27A9671060FB}"/>
                  </a:ext>
                </a:extLst>
              </p:cNvPr>
              <p:cNvSpPr/>
              <p:nvPr/>
            </p:nvSpPr>
            <p:spPr>
              <a:xfrm>
                <a:off x="2740747" y="4141285"/>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3"/>
              </a:solid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9" name="Graphic 47">
                <a:extLst>
                  <a:ext uri="{FF2B5EF4-FFF2-40B4-BE49-F238E27FC236}">
                    <a16:creationId xmlns:a16="http://schemas.microsoft.com/office/drawing/2014/main" id="{1F01AC97-2FBE-2B89-0377-AB0D40030CA2}"/>
                  </a:ext>
                </a:extLst>
              </p:cNvPr>
              <p:cNvSpPr/>
              <p:nvPr/>
            </p:nvSpPr>
            <p:spPr>
              <a:xfrm>
                <a:off x="2740747" y="3901687"/>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3"/>
              </a:solid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cxnSp>
            <p:nvCxnSpPr>
              <p:cNvPr id="5" name="Straight Connector 4">
                <a:extLst>
                  <a:ext uri="{FF2B5EF4-FFF2-40B4-BE49-F238E27FC236}">
                    <a16:creationId xmlns:a16="http://schemas.microsoft.com/office/drawing/2014/main" id="{5A9D9B03-C693-1CA8-D674-749C6C4F691F}"/>
                  </a:ext>
                </a:extLst>
              </p:cNvPr>
              <p:cNvCxnSpPr>
                <a:cxnSpLocks/>
              </p:cNvCxnSpPr>
              <p:nvPr/>
            </p:nvCxnSpPr>
            <p:spPr bwMode="gray">
              <a:xfrm>
                <a:off x="2167116" y="1863612"/>
                <a:ext cx="0" cy="3593223"/>
              </a:xfrm>
              <a:prstGeom prst="line">
                <a:avLst/>
              </a:prstGeom>
              <a:ln w="19050">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06602AC-38C1-FCFA-2C62-618503685858}"/>
                  </a:ext>
                </a:extLst>
              </p:cNvPr>
              <p:cNvSpPr txBox="1"/>
              <p:nvPr/>
            </p:nvSpPr>
            <p:spPr>
              <a:xfrm>
                <a:off x="2097077" y="1346139"/>
                <a:ext cx="192360" cy="153888"/>
              </a:xfrm>
              <a:prstGeom prst="rect">
                <a:avLst/>
              </a:prstGeom>
              <a:noFill/>
            </p:spPr>
            <p:txBody>
              <a:bodyPr wrap="none" lIns="0" tIns="0" rIns="0" bIns="0" rtlCol="0">
                <a:spAutoFit/>
              </a:bodyPr>
              <a:lstStyle/>
              <a:p>
                <a:pPr algn="l"/>
                <a:r>
                  <a:rPr lang="en-US" sz="1000" dirty="0">
                    <a:solidFill>
                      <a:schemeClr val="bg2">
                        <a:lumMod val="50000"/>
                      </a:schemeClr>
                    </a:solidFill>
                  </a:rPr>
                  <a:t>OR</a:t>
                </a:r>
              </a:p>
            </p:txBody>
          </p:sp>
        </p:grpSp>
      </p:grpSp>
      <p:sp>
        <p:nvSpPr>
          <p:cNvPr id="20" name="Rectangle: Rounded Corners 174">
            <a:extLst>
              <a:ext uri="{FF2B5EF4-FFF2-40B4-BE49-F238E27FC236}">
                <a16:creationId xmlns:a16="http://schemas.microsoft.com/office/drawing/2014/main" id="{F4A5C575-58E1-C390-41F5-9F1FE249357E}"/>
              </a:ext>
            </a:extLst>
          </p:cNvPr>
          <p:cNvSpPr/>
          <p:nvPr/>
        </p:nvSpPr>
        <p:spPr>
          <a:xfrm>
            <a:off x="4620430" y="3525115"/>
            <a:ext cx="6543245" cy="1144806"/>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18" name="Group 17">
            <a:extLst>
              <a:ext uri="{FF2B5EF4-FFF2-40B4-BE49-F238E27FC236}">
                <a16:creationId xmlns:a16="http://schemas.microsoft.com/office/drawing/2014/main" id="{0FD1A8D5-A691-513B-9D38-FF11CE38EE7C}"/>
              </a:ext>
            </a:extLst>
          </p:cNvPr>
          <p:cNvGrpSpPr/>
          <p:nvPr/>
        </p:nvGrpSpPr>
        <p:grpSpPr>
          <a:xfrm>
            <a:off x="4610979" y="3530360"/>
            <a:ext cx="4733744" cy="1140212"/>
            <a:chOff x="4610979" y="3532563"/>
            <a:chExt cx="4733744" cy="591227"/>
          </a:xfrm>
        </p:grpSpPr>
        <p:sp>
          <p:nvSpPr>
            <p:cNvPr id="173" name="Rectangle: Rounded Corners 174">
              <a:extLst>
                <a:ext uri="{FF2B5EF4-FFF2-40B4-BE49-F238E27FC236}">
                  <a16:creationId xmlns:a16="http://schemas.microsoft.com/office/drawing/2014/main" id="{77BA50E0-F504-512E-7103-646FAA15D9F8}"/>
                </a:ext>
              </a:extLst>
            </p:cNvPr>
            <p:cNvSpPr/>
            <p:nvPr/>
          </p:nvSpPr>
          <p:spPr>
            <a:xfrm>
              <a:off x="4610979" y="3532563"/>
              <a:ext cx="4733744" cy="591227"/>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4" name="Rectangle 173">
              <a:extLst>
                <a:ext uri="{FF2B5EF4-FFF2-40B4-BE49-F238E27FC236}">
                  <a16:creationId xmlns:a16="http://schemas.microsoft.com/office/drawing/2014/main" id="{163CCCE6-EBB0-CC0B-DDB7-EE35F22BA5B3}"/>
                </a:ext>
              </a:extLst>
            </p:cNvPr>
            <p:cNvSpPr/>
            <p:nvPr/>
          </p:nvSpPr>
          <p:spPr>
            <a:xfrm>
              <a:off x="4610980" y="3596112"/>
              <a:ext cx="1342794"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Workload Domain 2</a:t>
              </a:r>
            </a:p>
          </p:txBody>
        </p:sp>
        <p:sp>
          <p:nvSpPr>
            <p:cNvPr id="175" name="Rectangle 174">
              <a:extLst>
                <a:ext uri="{FF2B5EF4-FFF2-40B4-BE49-F238E27FC236}">
                  <a16:creationId xmlns:a16="http://schemas.microsoft.com/office/drawing/2014/main" id="{C071CAE8-EF33-5CDA-FE9A-FF61A288963D}"/>
                </a:ext>
              </a:extLst>
            </p:cNvPr>
            <p:cNvSpPr/>
            <p:nvPr/>
          </p:nvSpPr>
          <p:spPr bwMode="gray">
            <a:xfrm>
              <a:off x="6387815" y="3584321"/>
              <a:ext cx="1173599" cy="131593"/>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Standard Cluster</a:t>
              </a:r>
            </a:p>
          </p:txBody>
        </p:sp>
      </p:grpSp>
      <p:sp>
        <p:nvSpPr>
          <p:cNvPr id="176" name="Rectangle 175">
            <a:extLst>
              <a:ext uri="{FF2B5EF4-FFF2-40B4-BE49-F238E27FC236}">
                <a16:creationId xmlns:a16="http://schemas.microsoft.com/office/drawing/2014/main" id="{E1013E6F-6441-1979-1183-884AAC17D038}"/>
              </a:ext>
            </a:extLst>
          </p:cNvPr>
          <p:cNvSpPr/>
          <p:nvPr/>
        </p:nvSpPr>
        <p:spPr bwMode="gray">
          <a:xfrm>
            <a:off x="4716677" y="3961674"/>
            <a:ext cx="447544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Multi-rack Cluster</a:t>
            </a:r>
          </a:p>
        </p:txBody>
      </p:sp>
      <p:sp>
        <p:nvSpPr>
          <p:cNvPr id="177" name="Rectangle 176">
            <a:extLst>
              <a:ext uri="{FF2B5EF4-FFF2-40B4-BE49-F238E27FC236}">
                <a16:creationId xmlns:a16="http://schemas.microsoft.com/office/drawing/2014/main" id="{9DCBA31E-FA08-FE3E-B594-0666AB1C8574}"/>
              </a:ext>
            </a:extLst>
          </p:cNvPr>
          <p:cNvSpPr/>
          <p:nvPr/>
        </p:nvSpPr>
        <p:spPr bwMode="gray">
          <a:xfrm>
            <a:off x="4716674" y="4304431"/>
            <a:ext cx="1173599" cy="252060"/>
          </a:xfrm>
          <a:prstGeom prst="rect">
            <a:avLst/>
          </a:prstGeom>
          <a:solidFill>
            <a:schemeClr val="bg1"/>
          </a:solidFill>
          <a:ln w="25400">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Standard Cluster</a:t>
            </a:r>
          </a:p>
        </p:txBody>
      </p:sp>
      <p:sp>
        <p:nvSpPr>
          <p:cNvPr id="22" name="Rectangle 21">
            <a:extLst>
              <a:ext uri="{FF2B5EF4-FFF2-40B4-BE49-F238E27FC236}">
                <a16:creationId xmlns:a16="http://schemas.microsoft.com/office/drawing/2014/main" id="{9C9D2BC6-BDD3-FB2C-BC48-F053E603484F}"/>
              </a:ext>
            </a:extLst>
          </p:cNvPr>
          <p:cNvSpPr/>
          <p:nvPr/>
        </p:nvSpPr>
        <p:spPr bwMode="gray">
          <a:xfrm>
            <a:off x="9226340" y="3539329"/>
            <a:ext cx="294652" cy="1116000"/>
          </a:xfrm>
          <a:prstGeom prst="rect">
            <a:avLst/>
          </a:prstGeom>
          <a:solidFill>
            <a:srgbClr val="F4F9FB"/>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3" name="Rectangle 182">
            <a:extLst>
              <a:ext uri="{FF2B5EF4-FFF2-40B4-BE49-F238E27FC236}">
                <a16:creationId xmlns:a16="http://schemas.microsoft.com/office/drawing/2014/main" id="{B86CE822-C5D8-3C32-D1F0-8CBE49B176F5}"/>
              </a:ext>
            </a:extLst>
          </p:cNvPr>
          <p:cNvSpPr/>
          <p:nvPr/>
        </p:nvSpPr>
        <p:spPr bwMode="gray">
          <a:xfrm>
            <a:off x="8053691" y="4299176"/>
            <a:ext cx="2984946"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Stretched Cluster</a:t>
            </a:r>
          </a:p>
        </p:txBody>
      </p:sp>
    </p:spTree>
    <p:extLst>
      <p:ext uri="{BB962C8B-B14F-4D97-AF65-F5344CB8AC3E}">
        <p14:creationId xmlns:p14="http://schemas.microsoft.com/office/powerpoint/2010/main" val="1415836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par>
                          <p:cTn id="8" fill="hold">
                            <p:stCondLst>
                              <p:cond delay="500"/>
                            </p:stCondLst>
                            <p:childTnLst>
                              <p:par>
                                <p:cTn id="9" presetID="9" presetClass="entr" presetSubtype="0" fill="hold" nodeType="after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dissolv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dissolve">
                                      <p:cBhvr>
                                        <p:cTn id="21" dur="500"/>
                                        <p:tgtEl>
                                          <p:spTgt spid="24"/>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89"/>
                                        </p:tgtEl>
                                        <p:attrNameLst>
                                          <p:attrName>style.visibility</p:attrName>
                                        </p:attrNameLst>
                                      </p:cBhvr>
                                      <p:to>
                                        <p:strVal val="visible"/>
                                      </p:to>
                                    </p:set>
                                    <p:animEffect transition="in" filter="dissolve">
                                      <p:cBhvr>
                                        <p:cTn id="24" dur="500"/>
                                        <p:tgtEl>
                                          <p:spTgt spid="189"/>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41"/>
                                        </p:tgtEl>
                                        <p:attrNameLst>
                                          <p:attrName>style.visibility</p:attrName>
                                        </p:attrNameLst>
                                      </p:cBhvr>
                                      <p:to>
                                        <p:strVal val="visible"/>
                                      </p:to>
                                    </p:set>
                                    <p:animEffect transition="in" filter="dissolve">
                                      <p:cBhvr>
                                        <p:cTn id="27" dur="500"/>
                                        <p:tgtEl>
                                          <p:spTgt spid="141"/>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48"/>
                                        </p:tgtEl>
                                        <p:attrNameLst>
                                          <p:attrName>style.visibility</p:attrName>
                                        </p:attrNameLst>
                                      </p:cBhvr>
                                      <p:to>
                                        <p:strVal val="visible"/>
                                      </p:to>
                                    </p:set>
                                    <p:animEffect transition="in" filter="dissolve">
                                      <p:cBhvr>
                                        <p:cTn id="30" dur="500"/>
                                        <p:tgtEl>
                                          <p:spTgt spid="148"/>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55"/>
                                        </p:tgtEl>
                                        <p:attrNameLst>
                                          <p:attrName>style.visibility</p:attrName>
                                        </p:attrNameLst>
                                      </p:cBhvr>
                                      <p:to>
                                        <p:strVal val="visible"/>
                                      </p:to>
                                    </p:set>
                                    <p:animEffect transition="in" filter="dissolve">
                                      <p:cBhvr>
                                        <p:cTn id="33" dur="500"/>
                                        <p:tgtEl>
                                          <p:spTgt spid="155"/>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84"/>
                                        </p:tgtEl>
                                        <p:attrNameLst>
                                          <p:attrName>style.visibility</p:attrName>
                                        </p:attrNameLst>
                                      </p:cBhvr>
                                      <p:to>
                                        <p:strVal val="visible"/>
                                      </p:to>
                                    </p:set>
                                    <p:animEffect transition="in" filter="dissolve">
                                      <p:cBhvr>
                                        <p:cTn id="36" dur="500"/>
                                        <p:tgtEl>
                                          <p:spTgt spid="184"/>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97"/>
                                        </p:tgtEl>
                                        <p:attrNameLst>
                                          <p:attrName>style.visibility</p:attrName>
                                        </p:attrNameLst>
                                      </p:cBhvr>
                                      <p:to>
                                        <p:strVal val="visible"/>
                                      </p:to>
                                    </p:set>
                                    <p:animEffect transition="in" filter="dissolve">
                                      <p:cBhvr>
                                        <p:cTn id="39" dur="500"/>
                                        <p:tgtEl>
                                          <p:spTgt spid="197"/>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90"/>
                                        </p:tgtEl>
                                        <p:attrNameLst>
                                          <p:attrName>style.visibility</p:attrName>
                                        </p:attrNameLst>
                                      </p:cBhvr>
                                      <p:to>
                                        <p:strVal val="visible"/>
                                      </p:to>
                                    </p:set>
                                    <p:animEffect transition="in" filter="dissolve">
                                      <p:cBhvr>
                                        <p:cTn id="42" dur="500"/>
                                        <p:tgtEl>
                                          <p:spTgt spid="190"/>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142"/>
                                        </p:tgtEl>
                                        <p:attrNameLst>
                                          <p:attrName>style.visibility</p:attrName>
                                        </p:attrNameLst>
                                      </p:cBhvr>
                                      <p:to>
                                        <p:strVal val="visible"/>
                                      </p:to>
                                    </p:set>
                                    <p:animEffect transition="in" filter="dissolve">
                                      <p:cBhvr>
                                        <p:cTn id="45" dur="500"/>
                                        <p:tgtEl>
                                          <p:spTgt spid="142"/>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49"/>
                                        </p:tgtEl>
                                        <p:attrNameLst>
                                          <p:attrName>style.visibility</p:attrName>
                                        </p:attrNameLst>
                                      </p:cBhvr>
                                      <p:to>
                                        <p:strVal val="visible"/>
                                      </p:to>
                                    </p:set>
                                    <p:animEffect transition="in" filter="dissolve">
                                      <p:cBhvr>
                                        <p:cTn id="48" dur="500"/>
                                        <p:tgtEl>
                                          <p:spTgt spid="149"/>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156"/>
                                        </p:tgtEl>
                                        <p:attrNameLst>
                                          <p:attrName>style.visibility</p:attrName>
                                        </p:attrNameLst>
                                      </p:cBhvr>
                                      <p:to>
                                        <p:strVal val="visible"/>
                                      </p:to>
                                    </p:set>
                                    <p:animEffect transition="in" filter="dissolve">
                                      <p:cBhvr>
                                        <p:cTn id="51" dur="500"/>
                                        <p:tgtEl>
                                          <p:spTgt spid="156"/>
                                        </p:tgtEl>
                                      </p:cBhvr>
                                    </p:animEffect>
                                  </p:childTnLst>
                                </p:cTn>
                              </p:par>
                            </p:childTnLst>
                          </p:cTn>
                        </p:par>
                        <p:par>
                          <p:cTn id="52" fill="hold">
                            <p:stCondLst>
                              <p:cond delay="500"/>
                            </p:stCondLst>
                            <p:childTnLst>
                              <p:par>
                                <p:cTn id="53" presetID="22" presetClass="entr" presetSubtype="8" fill="hold" nodeType="afterEffect">
                                  <p:stCondLst>
                                    <p:cond delay="50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500"/>
                                        <p:tgtEl>
                                          <p:spTgt spid="17"/>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187"/>
                                        </p:tgtEl>
                                        <p:attrNameLst>
                                          <p:attrName>style.visibility</p:attrName>
                                        </p:attrNameLst>
                                      </p:cBhvr>
                                      <p:to>
                                        <p:strVal val="visible"/>
                                      </p:to>
                                    </p:set>
                                    <p:animEffect transition="in" filter="dissolve">
                                      <p:cBhvr>
                                        <p:cTn id="58" dur="500"/>
                                        <p:tgtEl>
                                          <p:spTgt spid="187"/>
                                        </p:tgtEl>
                                      </p:cBhvr>
                                    </p:animEffect>
                                  </p:childTnLst>
                                </p:cTn>
                              </p:par>
                            </p:childTnLst>
                          </p:cTn>
                        </p:par>
                        <p:par>
                          <p:cTn id="59" fill="hold">
                            <p:stCondLst>
                              <p:cond delay="1500"/>
                            </p:stCondLst>
                            <p:childTnLst>
                              <p:par>
                                <p:cTn id="60" presetID="9" presetClass="entr" presetSubtype="0" fill="hold" grpId="0" nodeType="afterEffect">
                                  <p:stCondLst>
                                    <p:cond delay="0"/>
                                  </p:stCondLst>
                                  <p:childTnLst>
                                    <p:set>
                                      <p:cBhvr>
                                        <p:cTn id="61" dur="1" fill="hold">
                                          <p:stCondLst>
                                            <p:cond delay="0"/>
                                          </p:stCondLst>
                                        </p:cTn>
                                        <p:tgtEl>
                                          <p:spTgt spid="172"/>
                                        </p:tgtEl>
                                        <p:attrNameLst>
                                          <p:attrName>style.visibility</p:attrName>
                                        </p:attrNameLst>
                                      </p:cBhvr>
                                      <p:to>
                                        <p:strVal val="visible"/>
                                      </p:to>
                                    </p:set>
                                    <p:animEffect transition="in" filter="dissolve">
                                      <p:cBhvr>
                                        <p:cTn id="62" dur="500"/>
                                        <p:tgtEl>
                                          <p:spTgt spid="17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500"/>
                                        <p:tgtEl>
                                          <p:spTgt spid="18"/>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177"/>
                                        </p:tgtEl>
                                        <p:attrNameLst>
                                          <p:attrName>style.visibility</p:attrName>
                                        </p:attrNameLst>
                                      </p:cBhvr>
                                      <p:to>
                                        <p:strVal val="visible"/>
                                      </p:to>
                                    </p:set>
                                    <p:animEffect transition="in" filter="wipe(left)">
                                      <p:cBhvr>
                                        <p:cTn id="70" dur="500"/>
                                        <p:tgtEl>
                                          <p:spTgt spid="177"/>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198"/>
                                        </p:tgtEl>
                                        <p:attrNameLst>
                                          <p:attrName>style.visibility</p:attrName>
                                        </p:attrNameLst>
                                      </p:cBhvr>
                                      <p:to>
                                        <p:strVal val="visible"/>
                                      </p:to>
                                    </p:set>
                                    <p:animEffect transition="in" filter="dissolve">
                                      <p:cBhvr>
                                        <p:cTn id="73" dur="500"/>
                                        <p:tgtEl>
                                          <p:spTgt spid="198"/>
                                        </p:tgtEl>
                                      </p:cBhvr>
                                    </p:animEffect>
                                  </p:childTnLst>
                                </p:cTn>
                              </p:par>
                            </p:childTnLst>
                          </p:cTn>
                        </p:par>
                        <p:par>
                          <p:cTn id="74" fill="hold">
                            <p:stCondLst>
                              <p:cond delay="500"/>
                            </p:stCondLst>
                            <p:childTnLst>
                              <p:par>
                                <p:cTn id="75" presetID="22" presetClass="entr" presetSubtype="8" fill="hold" grpId="0" nodeType="afterEffect">
                                  <p:stCondLst>
                                    <p:cond delay="500"/>
                                  </p:stCondLst>
                                  <p:childTnLst>
                                    <p:set>
                                      <p:cBhvr>
                                        <p:cTn id="76" dur="1" fill="hold">
                                          <p:stCondLst>
                                            <p:cond delay="0"/>
                                          </p:stCondLst>
                                        </p:cTn>
                                        <p:tgtEl>
                                          <p:spTgt spid="176"/>
                                        </p:tgtEl>
                                        <p:attrNameLst>
                                          <p:attrName>style.visibility</p:attrName>
                                        </p:attrNameLst>
                                      </p:cBhvr>
                                      <p:to>
                                        <p:strVal val="visible"/>
                                      </p:to>
                                    </p:set>
                                    <p:animEffect transition="in" filter="wipe(left)">
                                      <p:cBhvr>
                                        <p:cTn id="77" dur="500"/>
                                        <p:tgtEl>
                                          <p:spTgt spid="176"/>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199"/>
                                        </p:tgtEl>
                                        <p:attrNameLst>
                                          <p:attrName>style.visibility</p:attrName>
                                        </p:attrNameLst>
                                      </p:cBhvr>
                                      <p:to>
                                        <p:strVal val="visible"/>
                                      </p:to>
                                    </p:set>
                                    <p:animEffect transition="in" filter="dissolve">
                                      <p:cBhvr>
                                        <p:cTn id="82" dur="500"/>
                                        <p:tgtEl>
                                          <p:spTgt spid="199"/>
                                        </p:tgtEl>
                                      </p:cBhvr>
                                    </p:animEffect>
                                  </p:childTnLst>
                                </p:cTn>
                              </p:par>
                              <p:par>
                                <p:cTn id="83" presetID="22" presetClass="entr" presetSubtype="2" fill="hold"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wipe(right)">
                                      <p:cBhvr>
                                        <p:cTn id="85" dur="500"/>
                                        <p:tgtEl>
                                          <p:spTgt spid="23"/>
                                        </p:tgtEl>
                                      </p:cBhvr>
                                    </p:animEffect>
                                  </p:childTnLst>
                                </p:cTn>
                              </p:par>
                            </p:childTnLst>
                          </p:cTn>
                        </p:par>
                        <p:par>
                          <p:cTn id="86" fill="hold">
                            <p:stCondLst>
                              <p:cond delay="500"/>
                            </p:stCondLst>
                            <p:childTnLst>
                              <p:par>
                                <p:cTn id="87" presetID="9" presetClass="entr" presetSubtype="0" fill="hold" grpId="0" nodeType="after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dissolve">
                                      <p:cBhvr>
                                        <p:cTn id="89" dur="500"/>
                                        <p:tgtEl>
                                          <p:spTgt spid="22"/>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wipe(left)">
                                      <p:cBhvr>
                                        <p:cTn id="92" dur="500"/>
                                        <p:tgtEl>
                                          <p:spTgt spid="20"/>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183"/>
                                        </p:tgtEl>
                                        <p:attrNameLst>
                                          <p:attrName>style.visibility</p:attrName>
                                        </p:attrNameLst>
                                      </p:cBhvr>
                                      <p:to>
                                        <p:strVal val="visible"/>
                                      </p:to>
                                    </p:set>
                                    <p:animEffect transition="in" filter="wipe(left)">
                                      <p:cBhvr>
                                        <p:cTn id="95" dur="500"/>
                                        <p:tgtEl>
                                          <p:spTgt spid="183"/>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28"/>
                                        </p:tgtEl>
                                        <p:attrNameLst>
                                          <p:attrName>style.visibility</p:attrName>
                                        </p:attrNameLst>
                                      </p:cBhvr>
                                      <p:to>
                                        <p:strVal val="visible"/>
                                      </p:to>
                                    </p:set>
                                    <p:animEffect transition="in" filter="wipe(left)">
                                      <p:cBhvr>
                                        <p:cTn id="100" dur="500"/>
                                        <p:tgtEl>
                                          <p:spTgt spid="28"/>
                                        </p:tgtEl>
                                      </p:cBhvr>
                                    </p:animEffect>
                                  </p:childTnLst>
                                </p:cTn>
                              </p:par>
                            </p:childTnLst>
                          </p:cTn>
                        </p:par>
                        <p:par>
                          <p:cTn id="101" fill="hold">
                            <p:stCondLst>
                              <p:cond delay="500"/>
                            </p:stCondLst>
                            <p:childTnLst>
                              <p:par>
                                <p:cTn id="102" presetID="9" presetClass="entr" presetSubtype="0" fill="hold" grpId="0" nodeType="afterEffect">
                                  <p:stCondLst>
                                    <p:cond delay="0"/>
                                  </p:stCondLst>
                                  <p:childTnLst>
                                    <p:set>
                                      <p:cBhvr>
                                        <p:cTn id="103" dur="1" fill="hold">
                                          <p:stCondLst>
                                            <p:cond delay="0"/>
                                          </p:stCondLst>
                                        </p:cTn>
                                        <p:tgtEl>
                                          <p:spTgt spid="180"/>
                                        </p:tgtEl>
                                        <p:attrNameLst>
                                          <p:attrName>style.visibility</p:attrName>
                                        </p:attrNameLst>
                                      </p:cBhvr>
                                      <p:to>
                                        <p:strVal val="visible"/>
                                      </p:to>
                                    </p:set>
                                    <p:animEffect transition="in" filter="dissolve">
                                      <p:cBhvr>
                                        <p:cTn id="104" dur="500"/>
                                        <p:tgtEl>
                                          <p:spTgt spid="180"/>
                                        </p:tgtEl>
                                      </p:cBhvr>
                                    </p:animEffect>
                                  </p:childTnLst>
                                </p:cTn>
                              </p:par>
                              <p:par>
                                <p:cTn id="105" presetID="9" presetClass="entr" presetSubtype="0" fill="hold" grpId="0" nodeType="withEffect">
                                  <p:stCondLst>
                                    <p:cond delay="0"/>
                                  </p:stCondLst>
                                  <p:childTnLst>
                                    <p:set>
                                      <p:cBhvr>
                                        <p:cTn id="106" dur="1" fill="hold">
                                          <p:stCondLst>
                                            <p:cond delay="0"/>
                                          </p:stCondLst>
                                        </p:cTn>
                                        <p:tgtEl>
                                          <p:spTgt spid="201"/>
                                        </p:tgtEl>
                                        <p:attrNameLst>
                                          <p:attrName>style.visibility</p:attrName>
                                        </p:attrNameLst>
                                      </p:cBhvr>
                                      <p:to>
                                        <p:strVal val="visible"/>
                                      </p:to>
                                    </p:set>
                                    <p:animEffect transition="in" filter="dissolve">
                                      <p:cBhvr>
                                        <p:cTn id="107" dur="500"/>
                                        <p:tgtEl>
                                          <p:spTgt spid="201"/>
                                        </p:tgtEl>
                                      </p:cBhvr>
                                    </p:animEffect>
                                  </p:childTnLst>
                                </p:cTn>
                              </p:par>
                            </p:childTnLst>
                          </p:cTn>
                        </p:par>
                        <p:par>
                          <p:cTn id="108" fill="hold">
                            <p:stCondLst>
                              <p:cond delay="1000"/>
                            </p:stCondLst>
                            <p:childTnLst>
                              <p:par>
                                <p:cTn id="109" presetID="9" presetClass="entr" presetSubtype="0" fill="hold" grpId="0" nodeType="afterEffect">
                                  <p:stCondLst>
                                    <p:cond delay="0"/>
                                  </p:stCondLst>
                                  <p:childTnLst>
                                    <p:set>
                                      <p:cBhvr>
                                        <p:cTn id="110" dur="1" fill="hold">
                                          <p:stCondLst>
                                            <p:cond delay="0"/>
                                          </p:stCondLst>
                                        </p:cTn>
                                        <p:tgtEl>
                                          <p:spTgt spid="182"/>
                                        </p:tgtEl>
                                        <p:attrNameLst>
                                          <p:attrName>style.visibility</p:attrName>
                                        </p:attrNameLst>
                                      </p:cBhvr>
                                      <p:to>
                                        <p:strVal val="visible"/>
                                      </p:to>
                                    </p:set>
                                    <p:animEffect transition="in" filter="dissolve">
                                      <p:cBhvr>
                                        <p:cTn id="111" dur="500"/>
                                        <p:tgtEl>
                                          <p:spTgt spid="182"/>
                                        </p:tgtEl>
                                      </p:cBhvr>
                                    </p:animEffect>
                                  </p:childTnLst>
                                </p:cTn>
                              </p:par>
                              <p:par>
                                <p:cTn id="112" presetID="9" presetClass="entr" presetSubtype="0" fill="hold" grpId="0" nodeType="withEffect">
                                  <p:stCondLst>
                                    <p:cond delay="0"/>
                                  </p:stCondLst>
                                  <p:childTnLst>
                                    <p:set>
                                      <p:cBhvr>
                                        <p:cTn id="113" dur="1" fill="hold">
                                          <p:stCondLst>
                                            <p:cond delay="0"/>
                                          </p:stCondLst>
                                        </p:cTn>
                                        <p:tgtEl>
                                          <p:spTgt spid="202"/>
                                        </p:tgtEl>
                                        <p:attrNameLst>
                                          <p:attrName>style.visibility</p:attrName>
                                        </p:attrNameLst>
                                      </p:cBhvr>
                                      <p:to>
                                        <p:strVal val="visible"/>
                                      </p:to>
                                    </p:set>
                                    <p:animEffect transition="in" filter="dissolve">
                                      <p:cBhvr>
                                        <p:cTn id="114" dur="500"/>
                                        <p:tgtEl>
                                          <p:spTgt spid="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84" grpId="0" animBg="1"/>
      <p:bldP spid="141" grpId="0" animBg="1"/>
      <p:bldP spid="142" grpId="0"/>
      <p:bldP spid="148" grpId="0" animBg="1"/>
      <p:bldP spid="149" grpId="0"/>
      <p:bldP spid="155" grpId="0" animBg="1"/>
      <p:bldP spid="156" grpId="0"/>
      <p:bldP spid="172" grpId="0" animBg="1"/>
      <p:bldP spid="180" grpId="0" animBg="1"/>
      <p:bldP spid="182" grpId="0" animBg="1"/>
      <p:bldP spid="187" grpId="0"/>
      <p:bldP spid="189" grpId="0" animBg="1"/>
      <p:bldP spid="190" grpId="0"/>
      <p:bldP spid="197" grpId="0"/>
      <p:bldP spid="198" grpId="0"/>
      <p:bldP spid="199" grpId="0"/>
      <p:bldP spid="201" grpId="0"/>
      <p:bldP spid="202" grpId="0"/>
      <p:bldP spid="20" grpId="0" animBg="1"/>
      <p:bldP spid="176" grpId="0" animBg="1"/>
      <p:bldP spid="177" grpId="0" animBg="1"/>
      <p:bldP spid="22" grpId="0" animBg="1"/>
      <p:bldP spid="18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957C6-603E-357E-8068-1521D969542F}"/>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1F062DC5-F980-AFE2-70DA-90361FB630D4}"/>
              </a:ext>
            </a:extLst>
          </p:cNvPr>
          <p:cNvSpPr/>
          <p:nvPr/>
        </p:nvSpPr>
        <p:spPr>
          <a:xfrm>
            <a:off x="2785" y="1601373"/>
            <a:ext cx="8238181" cy="4610526"/>
          </a:xfrm>
          <a:prstGeom prst="roundRect">
            <a:avLst>
              <a:gd name="adj" fmla="val 0"/>
            </a:avLst>
          </a:prstGeom>
          <a:solidFill>
            <a:srgbClr val="F4F8FA"/>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578">
              <a:spcAft>
                <a:spcPts val="600"/>
              </a:spcAft>
              <a:defRPr/>
            </a:pPr>
            <a:endParaRPr lang="en-US" sz="1200" dirty="0">
              <a:solidFill>
                <a:srgbClr val="FFFFFF"/>
              </a:solidFill>
              <a:latin typeface="Arial" panose="020B0604020202020204" pitchFamily="34" charset="0"/>
            </a:endParaRPr>
          </a:p>
        </p:txBody>
      </p:sp>
      <p:sp>
        <p:nvSpPr>
          <p:cNvPr id="6" name="Rectangle: Rounded Corners 171">
            <a:extLst>
              <a:ext uri="{FF2B5EF4-FFF2-40B4-BE49-F238E27FC236}">
                <a16:creationId xmlns:a16="http://schemas.microsoft.com/office/drawing/2014/main" id="{2CFAD192-4330-1156-1CFF-94669D39ABF0}"/>
              </a:ext>
            </a:extLst>
          </p:cNvPr>
          <p:cNvSpPr/>
          <p:nvPr/>
        </p:nvSpPr>
        <p:spPr>
          <a:xfrm>
            <a:off x="497060" y="1754710"/>
            <a:ext cx="7627507" cy="4344116"/>
          </a:xfrm>
          <a:prstGeom prst="roundRect">
            <a:avLst>
              <a:gd name="adj" fmla="val 2239"/>
            </a:avLst>
          </a:prstGeom>
          <a:solidFill>
            <a:schemeClr val="bg1"/>
          </a:solidFill>
          <a:ln w="12700">
            <a:solidFill>
              <a:schemeClr val="bg1">
                <a:lumMod val="75000"/>
              </a:schemeClr>
            </a:solidFill>
            <a:prstDash val="solid"/>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algn="ctr" defTabSz="913030">
              <a:spcAft>
                <a:spcPts val="600"/>
              </a:spcAft>
              <a:defRPr/>
            </a:pPr>
            <a:endParaRPr lang="en-US" sz="1000" dirty="0">
              <a:solidFill>
                <a:srgbClr val="000001"/>
              </a:solidFill>
              <a:latin typeface="Arial" panose="020B0604020202020204" pitchFamily="34" charset="0"/>
            </a:endParaRPr>
          </a:p>
        </p:txBody>
      </p:sp>
      <p:grpSp>
        <p:nvGrpSpPr>
          <p:cNvPr id="14" name="Group 13">
            <a:extLst>
              <a:ext uri="{FF2B5EF4-FFF2-40B4-BE49-F238E27FC236}">
                <a16:creationId xmlns:a16="http://schemas.microsoft.com/office/drawing/2014/main" id="{247ADE71-0779-134C-838C-5ABD3C2E717E}"/>
              </a:ext>
            </a:extLst>
          </p:cNvPr>
          <p:cNvGrpSpPr/>
          <p:nvPr/>
        </p:nvGrpSpPr>
        <p:grpSpPr>
          <a:xfrm>
            <a:off x="4006678" y="2963512"/>
            <a:ext cx="4000381" cy="2192897"/>
            <a:chOff x="4006133" y="2963391"/>
            <a:chExt cx="4001423" cy="2193468"/>
          </a:xfrm>
        </p:grpSpPr>
        <p:sp>
          <p:nvSpPr>
            <p:cNvPr id="196" name="Freeform: Shape 129">
              <a:extLst>
                <a:ext uri="{FF2B5EF4-FFF2-40B4-BE49-F238E27FC236}">
                  <a16:creationId xmlns:a16="http://schemas.microsoft.com/office/drawing/2014/main" id="{82B939D7-BB4B-F327-265C-DB94B2E3F4D2}"/>
                </a:ext>
              </a:extLst>
            </p:cNvPr>
            <p:cNvSpPr/>
            <p:nvPr/>
          </p:nvSpPr>
          <p:spPr>
            <a:xfrm>
              <a:off x="4006133" y="2963391"/>
              <a:ext cx="2658603" cy="603602"/>
            </a:xfrm>
            <a:custGeom>
              <a:avLst/>
              <a:gdLst>
                <a:gd name="connsiteX0" fmla="*/ 0 w 459581"/>
                <a:gd name="connsiteY0" fmla="*/ 155972 h 158353"/>
                <a:gd name="connsiteX1" fmla="*/ 0 w 459581"/>
                <a:gd name="connsiteY1" fmla="*/ 0 h 158353"/>
                <a:gd name="connsiteX2" fmla="*/ 459581 w 459581"/>
                <a:gd name="connsiteY2" fmla="*/ 0 h 158353"/>
                <a:gd name="connsiteX3" fmla="*/ 459581 w 459581"/>
                <a:gd name="connsiteY3" fmla="*/ 158353 h 158353"/>
              </a:gdLst>
              <a:ahLst/>
              <a:cxnLst>
                <a:cxn ang="0">
                  <a:pos x="connsiteX0" y="connsiteY0"/>
                </a:cxn>
                <a:cxn ang="0">
                  <a:pos x="connsiteX1" y="connsiteY1"/>
                </a:cxn>
                <a:cxn ang="0">
                  <a:pos x="connsiteX2" y="connsiteY2"/>
                </a:cxn>
                <a:cxn ang="0">
                  <a:pos x="connsiteX3" y="connsiteY3"/>
                </a:cxn>
              </a:cxnLst>
              <a:rect l="l" t="t" r="r" b="b"/>
              <a:pathLst>
                <a:path w="459581" h="158353">
                  <a:moveTo>
                    <a:pt x="0" y="155972"/>
                  </a:moveTo>
                  <a:lnTo>
                    <a:pt x="0" y="0"/>
                  </a:lnTo>
                  <a:lnTo>
                    <a:pt x="459581" y="0"/>
                  </a:lnTo>
                  <a:lnTo>
                    <a:pt x="459581" y="158353"/>
                  </a:lnTo>
                </a:path>
              </a:pathLst>
            </a:custGeom>
            <a:ln w="1905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grpSp>
          <p:nvGrpSpPr>
            <p:cNvPr id="13" name="Group 12">
              <a:extLst>
                <a:ext uri="{FF2B5EF4-FFF2-40B4-BE49-F238E27FC236}">
                  <a16:creationId xmlns:a16="http://schemas.microsoft.com/office/drawing/2014/main" id="{120553F0-359A-78EF-1550-4E8909014B56}"/>
                </a:ext>
              </a:extLst>
            </p:cNvPr>
            <p:cNvGrpSpPr/>
            <p:nvPr/>
          </p:nvGrpSpPr>
          <p:grpSpPr>
            <a:xfrm>
              <a:off x="5297311" y="3300495"/>
              <a:ext cx="2710245" cy="1856364"/>
              <a:chOff x="5297311" y="3300495"/>
              <a:chExt cx="2710245" cy="1856364"/>
            </a:xfrm>
          </p:grpSpPr>
          <p:grpSp>
            <p:nvGrpSpPr>
              <p:cNvPr id="209" name="Group 208">
                <a:extLst>
                  <a:ext uri="{FF2B5EF4-FFF2-40B4-BE49-F238E27FC236}">
                    <a16:creationId xmlns:a16="http://schemas.microsoft.com/office/drawing/2014/main" id="{4B5DDF4D-797D-44F9-6789-411890F456AE}"/>
                  </a:ext>
                </a:extLst>
              </p:cNvPr>
              <p:cNvGrpSpPr/>
              <p:nvPr/>
            </p:nvGrpSpPr>
            <p:grpSpPr>
              <a:xfrm>
                <a:off x="5468720" y="3300495"/>
                <a:ext cx="2350762" cy="1489443"/>
                <a:chOff x="5390342" y="2948043"/>
                <a:chExt cx="2350762" cy="1489443"/>
              </a:xfrm>
            </p:grpSpPr>
            <p:sp>
              <p:nvSpPr>
                <p:cNvPr id="211" name="Rectangle: Rounded Corners 122">
                  <a:extLst>
                    <a:ext uri="{FF2B5EF4-FFF2-40B4-BE49-F238E27FC236}">
                      <a16:creationId xmlns:a16="http://schemas.microsoft.com/office/drawing/2014/main" id="{989E938E-B164-3201-73DC-D2AFD21B76FE}"/>
                    </a:ext>
                  </a:extLst>
                </p:cNvPr>
                <p:cNvSpPr/>
                <p:nvPr/>
              </p:nvSpPr>
              <p:spPr>
                <a:xfrm>
                  <a:off x="5390342" y="2948043"/>
                  <a:ext cx="2350762" cy="1489443"/>
                </a:xfrm>
                <a:prstGeom prst="roundRect">
                  <a:avLst>
                    <a:gd name="adj" fmla="val 6821"/>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212" name="Rectangle 211">
                  <a:extLst>
                    <a:ext uri="{FF2B5EF4-FFF2-40B4-BE49-F238E27FC236}">
                      <a16:creationId xmlns:a16="http://schemas.microsoft.com/office/drawing/2014/main" id="{C157A412-E98D-8F1D-DC2B-1325183D5538}"/>
                    </a:ext>
                  </a:extLst>
                </p:cNvPr>
                <p:cNvSpPr/>
                <p:nvPr/>
              </p:nvSpPr>
              <p:spPr>
                <a:xfrm>
                  <a:off x="5615628" y="3003659"/>
                  <a:ext cx="1970176" cy="184666"/>
                </a:xfrm>
                <a:prstGeom prst="rect">
                  <a:avLst/>
                </a:prstGeom>
              </p:spPr>
              <p:txBody>
                <a:bodyPr wrap="square" lIns="0" tIns="0" rIns="0" bIns="0">
                  <a:spAutoFit/>
                </a:bodyPr>
                <a:lstStyle/>
                <a:p>
                  <a:pPr algn="ctr" defTabSz="912208">
                    <a:defRPr/>
                  </a:pPr>
                  <a:r>
                    <a:rPr lang="en-US" sz="1200" kern="0" dirty="0">
                      <a:solidFill>
                        <a:srgbClr val="000001"/>
                      </a:solidFill>
                      <a:latin typeface="Arial" panose="020B0604020202020204" pitchFamily="34" charset="0"/>
                    </a:rPr>
                    <a:t>Workload Domain</a:t>
                  </a:r>
                </a:p>
              </p:txBody>
            </p:sp>
          </p:grpSp>
          <p:sp>
            <p:nvSpPr>
              <p:cNvPr id="22" name="Rounded Rectangle 21">
                <a:extLst>
                  <a:ext uri="{FF2B5EF4-FFF2-40B4-BE49-F238E27FC236}">
                    <a16:creationId xmlns:a16="http://schemas.microsoft.com/office/drawing/2014/main" id="{7118AABB-A159-1129-86B6-4AE4E9412CD7}"/>
                  </a:ext>
                </a:extLst>
              </p:cNvPr>
              <p:cNvSpPr/>
              <p:nvPr/>
            </p:nvSpPr>
            <p:spPr bwMode="gray">
              <a:xfrm>
                <a:off x="5547643" y="3592668"/>
                <a:ext cx="1046905" cy="1319221"/>
              </a:xfrm>
              <a:prstGeom prst="roundRect">
                <a:avLst>
                  <a:gd name="adj" fmla="val 6450"/>
                </a:avLst>
              </a:prstGeom>
              <a:solidFill>
                <a:schemeClr val="bg1">
                  <a:lumMod val="95000"/>
                </a:schemeClr>
              </a:solidFill>
              <a:ln w="9525">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dirty="0">
                  <a:solidFill>
                    <a:schemeClr val="bg1"/>
                  </a:solidFill>
                </a:endParaRPr>
              </a:p>
            </p:txBody>
          </p:sp>
          <p:sp>
            <p:nvSpPr>
              <p:cNvPr id="23" name="Rounded Rectangle 22">
                <a:extLst>
                  <a:ext uri="{FF2B5EF4-FFF2-40B4-BE49-F238E27FC236}">
                    <a16:creationId xmlns:a16="http://schemas.microsoft.com/office/drawing/2014/main" id="{01637103-0F4F-0E73-E6A0-52A3E0F80087}"/>
                  </a:ext>
                </a:extLst>
              </p:cNvPr>
              <p:cNvSpPr/>
              <p:nvPr/>
            </p:nvSpPr>
            <p:spPr bwMode="gray">
              <a:xfrm>
                <a:off x="6700340" y="3585424"/>
                <a:ext cx="1046905" cy="1319221"/>
              </a:xfrm>
              <a:prstGeom prst="roundRect">
                <a:avLst>
                  <a:gd name="adj" fmla="val 6450"/>
                </a:avLst>
              </a:prstGeom>
              <a:solidFill>
                <a:schemeClr val="bg1">
                  <a:lumMod val="95000"/>
                </a:schemeClr>
              </a:solidFill>
              <a:ln w="9525">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dirty="0">
                  <a:solidFill>
                    <a:schemeClr val="bg1"/>
                  </a:solidFill>
                </a:endParaRPr>
              </a:p>
            </p:txBody>
          </p:sp>
          <p:sp>
            <p:nvSpPr>
              <p:cNvPr id="24" name="Graphic 47">
                <a:extLst>
                  <a:ext uri="{FF2B5EF4-FFF2-40B4-BE49-F238E27FC236}">
                    <a16:creationId xmlns:a16="http://schemas.microsoft.com/office/drawing/2014/main" id="{1DF34E31-94F7-AA95-7CE8-6866DB41DD4E}"/>
                  </a:ext>
                </a:extLst>
              </p:cNvPr>
              <p:cNvSpPr/>
              <p:nvPr/>
            </p:nvSpPr>
            <p:spPr>
              <a:xfrm>
                <a:off x="5715827" y="4252008"/>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5" name="Graphic 47">
                <a:extLst>
                  <a:ext uri="{FF2B5EF4-FFF2-40B4-BE49-F238E27FC236}">
                    <a16:creationId xmlns:a16="http://schemas.microsoft.com/office/drawing/2014/main" id="{42E61245-6536-5A86-FCFE-AEDB074F5DB9}"/>
                  </a:ext>
                </a:extLst>
              </p:cNvPr>
              <p:cNvSpPr/>
              <p:nvPr/>
            </p:nvSpPr>
            <p:spPr>
              <a:xfrm>
                <a:off x="5715827" y="4012412"/>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6" name="Graphic 47">
                <a:extLst>
                  <a:ext uri="{FF2B5EF4-FFF2-40B4-BE49-F238E27FC236}">
                    <a16:creationId xmlns:a16="http://schemas.microsoft.com/office/drawing/2014/main" id="{6F512062-2302-AA8C-37DB-322F1113D23E}"/>
                  </a:ext>
                </a:extLst>
              </p:cNvPr>
              <p:cNvSpPr/>
              <p:nvPr/>
            </p:nvSpPr>
            <p:spPr>
              <a:xfrm>
                <a:off x="5715827" y="3772814"/>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7" name="Rectangle: Rounded Corners 122">
                <a:extLst>
                  <a:ext uri="{FF2B5EF4-FFF2-40B4-BE49-F238E27FC236}">
                    <a16:creationId xmlns:a16="http://schemas.microsoft.com/office/drawing/2014/main" id="{41346479-F1B6-E19F-30F3-9D9D89EACE49}"/>
                  </a:ext>
                </a:extLst>
              </p:cNvPr>
              <p:cNvSpPr/>
              <p:nvPr/>
            </p:nvSpPr>
            <p:spPr>
              <a:xfrm>
                <a:off x="5641446" y="3690453"/>
                <a:ext cx="856716" cy="1026542"/>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28" name="Graphic 47">
                <a:extLst>
                  <a:ext uri="{FF2B5EF4-FFF2-40B4-BE49-F238E27FC236}">
                    <a16:creationId xmlns:a16="http://schemas.microsoft.com/office/drawing/2014/main" id="{A26986E6-A6EF-F869-6686-33C2CE0FDF9F}"/>
                  </a:ext>
                </a:extLst>
              </p:cNvPr>
              <p:cNvSpPr/>
              <p:nvPr/>
            </p:nvSpPr>
            <p:spPr>
              <a:xfrm>
                <a:off x="6872778" y="4252008"/>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9" name="Graphic 47">
                <a:extLst>
                  <a:ext uri="{FF2B5EF4-FFF2-40B4-BE49-F238E27FC236}">
                    <a16:creationId xmlns:a16="http://schemas.microsoft.com/office/drawing/2014/main" id="{10334561-DA8F-245D-BF2A-6142A878CDBD}"/>
                  </a:ext>
                </a:extLst>
              </p:cNvPr>
              <p:cNvSpPr/>
              <p:nvPr/>
            </p:nvSpPr>
            <p:spPr>
              <a:xfrm>
                <a:off x="6872778" y="4012412"/>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30" name="Graphic 47">
                <a:extLst>
                  <a:ext uri="{FF2B5EF4-FFF2-40B4-BE49-F238E27FC236}">
                    <a16:creationId xmlns:a16="http://schemas.microsoft.com/office/drawing/2014/main" id="{7E139CA9-B5AA-6E46-42CC-7D1C911B2104}"/>
                  </a:ext>
                </a:extLst>
              </p:cNvPr>
              <p:cNvSpPr/>
              <p:nvPr/>
            </p:nvSpPr>
            <p:spPr>
              <a:xfrm>
                <a:off x="6872778" y="3772814"/>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31" name="Rectangle: Rounded Corners 122">
                <a:extLst>
                  <a:ext uri="{FF2B5EF4-FFF2-40B4-BE49-F238E27FC236}">
                    <a16:creationId xmlns:a16="http://schemas.microsoft.com/office/drawing/2014/main" id="{EFF70DB0-B009-CF3A-27E1-443A8DD8DE0E}"/>
                  </a:ext>
                </a:extLst>
              </p:cNvPr>
              <p:cNvSpPr/>
              <p:nvPr/>
            </p:nvSpPr>
            <p:spPr>
              <a:xfrm>
                <a:off x="6798397" y="3690453"/>
                <a:ext cx="856716" cy="1026542"/>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32" name="Rectangle 31">
                <a:extLst>
                  <a:ext uri="{FF2B5EF4-FFF2-40B4-BE49-F238E27FC236}">
                    <a16:creationId xmlns:a16="http://schemas.microsoft.com/office/drawing/2014/main" id="{D2177834-0924-3890-792F-264E4878C634}"/>
                  </a:ext>
                </a:extLst>
              </p:cNvPr>
              <p:cNvSpPr/>
              <p:nvPr/>
            </p:nvSpPr>
            <p:spPr>
              <a:xfrm>
                <a:off x="5297311" y="4510251"/>
                <a:ext cx="1544986" cy="15388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sp>
            <p:nvSpPr>
              <p:cNvPr id="33" name="Rectangle 32">
                <a:extLst>
                  <a:ext uri="{FF2B5EF4-FFF2-40B4-BE49-F238E27FC236}">
                    <a16:creationId xmlns:a16="http://schemas.microsoft.com/office/drawing/2014/main" id="{9D55A9D3-F22E-ACD2-9C69-609B630B622A}"/>
                  </a:ext>
                </a:extLst>
              </p:cNvPr>
              <p:cNvSpPr/>
              <p:nvPr/>
            </p:nvSpPr>
            <p:spPr>
              <a:xfrm>
                <a:off x="6462570" y="4510251"/>
                <a:ext cx="1544986" cy="15388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sp>
            <p:nvSpPr>
              <p:cNvPr id="242" name="Oval 241">
                <a:extLst>
                  <a:ext uri="{FF2B5EF4-FFF2-40B4-BE49-F238E27FC236}">
                    <a16:creationId xmlns:a16="http://schemas.microsoft.com/office/drawing/2014/main" id="{D293065D-3B5B-C1D0-A51C-19F79BEE79F9}"/>
                  </a:ext>
                </a:extLst>
              </p:cNvPr>
              <p:cNvSpPr/>
              <p:nvPr/>
            </p:nvSpPr>
            <p:spPr>
              <a:xfrm>
                <a:off x="5905975" y="4820847"/>
                <a:ext cx="338704" cy="335690"/>
              </a:xfrm>
              <a:prstGeom prst="ellipse">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34" name="Graphic 32">
                <a:extLst>
                  <a:ext uri="{FF2B5EF4-FFF2-40B4-BE49-F238E27FC236}">
                    <a16:creationId xmlns:a16="http://schemas.microsoft.com/office/drawing/2014/main" id="{4B47925C-F6BB-B8D4-04E8-39179151081D}"/>
                  </a:ext>
                </a:extLst>
              </p:cNvPr>
              <p:cNvSpPr/>
              <p:nvPr/>
            </p:nvSpPr>
            <p:spPr>
              <a:xfrm>
                <a:off x="5979474" y="4870627"/>
                <a:ext cx="191704" cy="236129"/>
              </a:xfrm>
              <a:custGeom>
                <a:avLst/>
                <a:gdLst>
                  <a:gd name="connsiteX0" fmla="*/ 449737 w 899474"/>
                  <a:gd name="connsiteY0" fmla="*/ 0 h 1117872"/>
                  <a:gd name="connsiteX1" fmla="*/ 0 w 899474"/>
                  <a:gd name="connsiteY1" fmla="*/ 445121 h 1117872"/>
                  <a:gd name="connsiteX2" fmla="*/ 106891 w 899474"/>
                  <a:gd name="connsiteY2" fmla="*/ 732939 h 1117872"/>
                  <a:gd name="connsiteX3" fmla="*/ 109877 w 899474"/>
                  <a:gd name="connsiteY3" fmla="*/ 736559 h 1117872"/>
                  <a:gd name="connsiteX4" fmla="*/ 449737 w 899474"/>
                  <a:gd name="connsiteY4" fmla="*/ 1117872 h 1117872"/>
                  <a:gd name="connsiteX5" fmla="*/ 789597 w 899474"/>
                  <a:gd name="connsiteY5" fmla="*/ 736559 h 1117872"/>
                  <a:gd name="connsiteX6" fmla="*/ 792584 w 899474"/>
                  <a:gd name="connsiteY6" fmla="*/ 732939 h 1117872"/>
                  <a:gd name="connsiteX7" fmla="*/ 899474 w 899474"/>
                  <a:gd name="connsiteY7" fmla="*/ 445121 h 1117872"/>
                  <a:gd name="connsiteX8" fmla="*/ 449737 w 899474"/>
                  <a:gd name="connsiteY8" fmla="*/ 0 h 1117872"/>
                  <a:gd name="connsiteX9" fmla="*/ 769957 w 899474"/>
                  <a:gd name="connsiteY9" fmla="*/ 714204 h 1117872"/>
                  <a:gd name="connsiteX10" fmla="*/ 767332 w 899474"/>
                  <a:gd name="connsiteY10" fmla="*/ 717371 h 1117872"/>
                  <a:gd name="connsiteX11" fmla="*/ 449737 w 899474"/>
                  <a:gd name="connsiteY11" fmla="*/ 1073613 h 1117872"/>
                  <a:gd name="connsiteX12" fmla="*/ 132233 w 899474"/>
                  <a:gd name="connsiteY12" fmla="*/ 717371 h 1117872"/>
                  <a:gd name="connsiteX13" fmla="*/ 129246 w 899474"/>
                  <a:gd name="connsiteY13" fmla="*/ 713842 h 1117872"/>
                  <a:gd name="connsiteX14" fmla="*/ 29415 w 899474"/>
                  <a:gd name="connsiteY14" fmla="*/ 445121 h 1117872"/>
                  <a:gd name="connsiteX15" fmla="*/ 449737 w 899474"/>
                  <a:gd name="connsiteY15" fmla="*/ 29415 h 1117872"/>
                  <a:gd name="connsiteX16" fmla="*/ 870059 w 899474"/>
                  <a:gd name="connsiteY16" fmla="*/ 445121 h 1117872"/>
                  <a:gd name="connsiteX17" fmla="*/ 769957 w 899474"/>
                  <a:gd name="connsiteY17" fmla="*/ 714204 h 1117872"/>
                  <a:gd name="connsiteX18" fmla="*/ 485217 w 899474"/>
                  <a:gd name="connsiteY18" fmla="*/ 263380 h 1117872"/>
                  <a:gd name="connsiteX19" fmla="*/ 295330 w 899474"/>
                  <a:gd name="connsiteY19" fmla="*/ 263380 h 1117872"/>
                  <a:gd name="connsiteX20" fmla="*/ 295330 w 899474"/>
                  <a:gd name="connsiteY20" fmla="*/ 645236 h 1117872"/>
                  <a:gd name="connsiteX21" fmla="*/ 265914 w 899474"/>
                  <a:gd name="connsiteY21" fmla="*/ 645236 h 1117872"/>
                  <a:gd name="connsiteX22" fmla="*/ 265914 w 899474"/>
                  <a:gd name="connsiteY22" fmla="*/ 233965 h 1117872"/>
                  <a:gd name="connsiteX23" fmla="*/ 514722 w 899474"/>
                  <a:gd name="connsiteY23" fmla="*/ 233965 h 1117872"/>
                  <a:gd name="connsiteX24" fmla="*/ 514722 w 899474"/>
                  <a:gd name="connsiteY24" fmla="*/ 402854 h 1117872"/>
                  <a:gd name="connsiteX25" fmla="*/ 485307 w 899474"/>
                  <a:gd name="connsiteY25" fmla="*/ 402854 h 1117872"/>
                  <a:gd name="connsiteX26" fmla="*/ 485307 w 899474"/>
                  <a:gd name="connsiteY26" fmla="*/ 263380 h 1117872"/>
                  <a:gd name="connsiteX27" fmla="*/ 424938 w 899474"/>
                  <a:gd name="connsiteY27" fmla="*/ 432179 h 1117872"/>
                  <a:gd name="connsiteX28" fmla="*/ 633741 w 899474"/>
                  <a:gd name="connsiteY28" fmla="*/ 432179 h 1117872"/>
                  <a:gd name="connsiteX29" fmla="*/ 633741 w 899474"/>
                  <a:gd name="connsiteY29" fmla="*/ 645146 h 1117872"/>
                  <a:gd name="connsiteX30" fmla="*/ 604326 w 899474"/>
                  <a:gd name="connsiteY30" fmla="*/ 645146 h 1117872"/>
                  <a:gd name="connsiteX31" fmla="*/ 604326 w 899474"/>
                  <a:gd name="connsiteY31" fmla="*/ 461594 h 1117872"/>
                  <a:gd name="connsiteX32" fmla="*/ 454353 w 899474"/>
                  <a:gd name="connsiteY32" fmla="*/ 461594 h 1117872"/>
                  <a:gd name="connsiteX33" fmla="*/ 454353 w 899474"/>
                  <a:gd name="connsiteY33" fmla="*/ 645146 h 1117872"/>
                  <a:gd name="connsiteX34" fmla="*/ 424938 w 899474"/>
                  <a:gd name="connsiteY34" fmla="*/ 645146 h 1117872"/>
                  <a:gd name="connsiteX35" fmla="*/ 424938 w 899474"/>
                  <a:gd name="connsiteY35" fmla="*/ 432179 h 111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9474" h="1117872">
                    <a:moveTo>
                      <a:pt x="449737" y="0"/>
                    </a:moveTo>
                    <a:cubicBezTo>
                      <a:pt x="201382" y="0"/>
                      <a:pt x="0" y="199300"/>
                      <a:pt x="0" y="445121"/>
                    </a:cubicBezTo>
                    <a:cubicBezTo>
                      <a:pt x="0" y="554818"/>
                      <a:pt x="40186" y="655101"/>
                      <a:pt x="106891" y="732939"/>
                    </a:cubicBezTo>
                    <a:lnTo>
                      <a:pt x="109877" y="736559"/>
                    </a:lnTo>
                    <a:lnTo>
                      <a:pt x="449737" y="1117872"/>
                    </a:lnTo>
                    <a:lnTo>
                      <a:pt x="789597" y="736559"/>
                    </a:lnTo>
                    <a:lnTo>
                      <a:pt x="792584" y="732939"/>
                    </a:lnTo>
                    <a:cubicBezTo>
                      <a:pt x="859379" y="655101"/>
                      <a:pt x="899474" y="554818"/>
                      <a:pt x="899474" y="445121"/>
                    </a:cubicBezTo>
                    <a:cubicBezTo>
                      <a:pt x="899565" y="199300"/>
                      <a:pt x="698183" y="0"/>
                      <a:pt x="449737" y="0"/>
                    </a:cubicBezTo>
                    <a:close/>
                    <a:moveTo>
                      <a:pt x="769957" y="714204"/>
                    </a:moveTo>
                    <a:lnTo>
                      <a:pt x="767332" y="717371"/>
                    </a:lnTo>
                    <a:lnTo>
                      <a:pt x="449737" y="1073613"/>
                    </a:lnTo>
                    <a:lnTo>
                      <a:pt x="132233" y="717371"/>
                    </a:lnTo>
                    <a:lnTo>
                      <a:pt x="129246" y="713842"/>
                    </a:lnTo>
                    <a:cubicBezTo>
                      <a:pt x="64895" y="638719"/>
                      <a:pt x="29415" y="543323"/>
                      <a:pt x="29415" y="445121"/>
                    </a:cubicBezTo>
                    <a:cubicBezTo>
                      <a:pt x="29415" y="215954"/>
                      <a:pt x="218035" y="29415"/>
                      <a:pt x="449737" y="29415"/>
                    </a:cubicBezTo>
                    <a:cubicBezTo>
                      <a:pt x="681530" y="29415"/>
                      <a:pt x="870059" y="215863"/>
                      <a:pt x="870059" y="445121"/>
                    </a:cubicBezTo>
                    <a:cubicBezTo>
                      <a:pt x="870150" y="543323"/>
                      <a:pt x="834670" y="638719"/>
                      <a:pt x="769957" y="714204"/>
                    </a:cubicBezTo>
                    <a:close/>
                    <a:moveTo>
                      <a:pt x="485217" y="263380"/>
                    </a:moveTo>
                    <a:lnTo>
                      <a:pt x="295330" y="263380"/>
                    </a:lnTo>
                    <a:lnTo>
                      <a:pt x="295330" y="645236"/>
                    </a:lnTo>
                    <a:lnTo>
                      <a:pt x="265914" y="645236"/>
                    </a:lnTo>
                    <a:lnTo>
                      <a:pt x="265914" y="233965"/>
                    </a:lnTo>
                    <a:lnTo>
                      <a:pt x="514722" y="233965"/>
                    </a:lnTo>
                    <a:lnTo>
                      <a:pt x="514722" y="402854"/>
                    </a:lnTo>
                    <a:lnTo>
                      <a:pt x="485307" y="402854"/>
                    </a:lnTo>
                    <a:lnTo>
                      <a:pt x="485307" y="263380"/>
                    </a:lnTo>
                    <a:close/>
                    <a:moveTo>
                      <a:pt x="424938" y="432179"/>
                    </a:moveTo>
                    <a:lnTo>
                      <a:pt x="633741" y="432179"/>
                    </a:lnTo>
                    <a:lnTo>
                      <a:pt x="633741" y="645146"/>
                    </a:lnTo>
                    <a:lnTo>
                      <a:pt x="604326" y="645146"/>
                    </a:lnTo>
                    <a:lnTo>
                      <a:pt x="604326" y="461594"/>
                    </a:lnTo>
                    <a:lnTo>
                      <a:pt x="454353" y="461594"/>
                    </a:lnTo>
                    <a:lnTo>
                      <a:pt x="454353" y="645146"/>
                    </a:lnTo>
                    <a:lnTo>
                      <a:pt x="424938" y="645146"/>
                    </a:lnTo>
                    <a:lnTo>
                      <a:pt x="424938" y="432179"/>
                    </a:lnTo>
                    <a:close/>
                  </a:path>
                </a:pathLst>
              </a:custGeom>
              <a:solidFill>
                <a:schemeClr val="tx1"/>
              </a:solidFill>
              <a:ln w="904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45" name="Oval 244">
                <a:extLst>
                  <a:ext uri="{FF2B5EF4-FFF2-40B4-BE49-F238E27FC236}">
                    <a16:creationId xmlns:a16="http://schemas.microsoft.com/office/drawing/2014/main" id="{DD382209-3EEB-C7A1-C8DD-51819FB8D17D}"/>
                  </a:ext>
                </a:extLst>
              </p:cNvPr>
              <p:cNvSpPr/>
              <p:nvPr/>
            </p:nvSpPr>
            <p:spPr>
              <a:xfrm>
                <a:off x="7048239" y="4821169"/>
                <a:ext cx="338704" cy="335690"/>
              </a:xfrm>
              <a:prstGeom prst="ellipse">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35" name="Graphic 32">
                <a:extLst>
                  <a:ext uri="{FF2B5EF4-FFF2-40B4-BE49-F238E27FC236}">
                    <a16:creationId xmlns:a16="http://schemas.microsoft.com/office/drawing/2014/main" id="{4D048B47-1713-0FC5-88A9-8AE80AFD5B8D}"/>
                  </a:ext>
                </a:extLst>
              </p:cNvPr>
              <p:cNvSpPr/>
              <p:nvPr/>
            </p:nvSpPr>
            <p:spPr>
              <a:xfrm>
                <a:off x="7121738" y="4870949"/>
                <a:ext cx="191704" cy="236129"/>
              </a:xfrm>
              <a:custGeom>
                <a:avLst/>
                <a:gdLst>
                  <a:gd name="connsiteX0" fmla="*/ 449737 w 899474"/>
                  <a:gd name="connsiteY0" fmla="*/ 0 h 1117872"/>
                  <a:gd name="connsiteX1" fmla="*/ 0 w 899474"/>
                  <a:gd name="connsiteY1" fmla="*/ 445121 h 1117872"/>
                  <a:gd name="connsiteX2" fmla="*/ 106891 w 899474"/>
                  <a:gd name="connsiteY2" fmla="*/ 732939 h 1117872"/>
                  <a:gd name="connsiteX3" fmla="*/ 109877 w 899474"/>
                  <a:gd name="connsiteY3" fmla="*/ 736559 h 1117872"/>
                  <a:gd name="connsiteX4" fmla="*/ 449737 w 899474"/>
                  <a:gd name="connsiteY4" fmla="*/ 1117872 h 1117872"/>
                  <a:gd name="connsiteX5" fmla="*/ 789597 w 899474"/>
                  <a:gd name="connsiteY5" fmla="*/ 736559 h 1117872"/>
                  <a:gd name="connsiteX6" fmla="*/ 792584 w 899474"/>
                  <a:gd name="connsiteY6" fmla="*/ 732939 h 1117872"/>
                  <a:gd name="connsiteX7" fmla="*/ 899474 w 899474"/>
                  <a:gd name="connsiteY7" fmla="*/ 445121 h 1117872"/>
                  <a:gd name="connsiteX8" fmla="*/ 449737 w 899474"/>
                  <a:gd name="connsiteY8" fmla="*/ 0 h 1117872"/>
                  <a:gd name="connsiteX9" fmla="*/ 769957 w 899474"/>
                  <a:gd name="connsiteY9" fmla="*/ 714204 h 1117872"/>
                  <a:gd name="connsiteX10" fmla="*/ 767332 w 899474"/>
                  <a:gd name="connsiteY10" fmla="*/ 717371 h 1117872"/>
                  <a:gd name="connsiteX11" fmla="*/ 449737 w 899474"/>
                  <a:gd name="connsiteY11" fmla="*/ 1073613 h 1117872"/>
                  <a:gd name="connsiteX12" fmla="*/ 132233 w 899474"/>
                  <a:gd name="connsiteY12" fmla="*/ 717371 h 1117872"/>
                  <a:gd name="connsiteX13" fmla="*/ 129246 w 899474"/>
                  <a:gd name="connsiteY13" fmla="*/ 713842 h 1117872"/>
                  <a:gd name="connsiteX14" fmla="*/ 29415 w 899474"/>
                  <a:gd name="connsiteY14" fmla="*/ 445121 h 1117872"/>
                  <a:gd name="connsiteX15" fmla="*/ 449737 w 899474"/>
                  <a:gd name="connsiteY15" fmla="*/ 29415 h 1117872"/>
                  <a:gd name="connsiteX16" fmla="*/ 870059 w 899474"/>
                  <a:gd name="connsiteY16" fmla="*/ 445121 h 1117872"/>
                  <a:gd name="connsiteX17" fmla="*/ 769957 w 899474"/>
                  <a:gd name="connsiteY17" fmla="*/ 714204 h 1117872"/>
                  <a:gd name="connsiteX18" fmla="*/ 485217 w 899474"/>
                  <a:gd name="connsiteY18" fmla="*/ 263380 h 1117872"/>
                  <a:gd name="connsiteX19" fmla="*/ 295330 w 899474"/>
                  <a:gd name="connsiteY19" fmla="*/ 263380 h 1117872"/>
                  <a:gd name="connsiteX20" fmla="*/ 295330 w 899474"/>
                  <a:gd name="connsiteY20" fmla="*/ 645236 h 1117872"/>
                  <a:gd name="connsiteX21" fmla="*/ 265914 w 899474"/>
                  <a:gd name="connsiteY21" fmla="*/ 645236 h 1117872"/>
                  <a:gd name="connsiteX22" fmla="*/ 265914 w 899474"/>
                  <a:gd name="connsiteY22" fmla="*/ 233965 h 1117872"/>
                  <a:gd name="connsiteX23" fmla="*/ 514722 w 899474"/>
                  <a:gd name="connsiteY23" fmla="*/ 233965 h 1117872"/>
                  <a:gd name="connsiteX24" fmla="*/ 514722 w 899474"/>
                  <a:gd name="connsiteY24" fmla="*/ 402854 h 1117872"/>
                  <a:gd name="connsiteX25" fmla="*/ 485307 w 899474"/>
                  <a:gd name="connsiteY25" fmla="*/ 402854 h 1117872"/>
                  <a:gd name="connsiteX26" fmla="*/ 485307 w 899474"/>
                  <a:gd name="connsiteY26" fmla="*/ 263380 h 1117872"/>
                  <a:gd name="connsiteX27" fmla="*/ 424938 w 899474"/>
                  <a:gd name="connsiteY27" fmla="*/ 432179 h 1117872"/>
                  <a:gd name="connsiteX28" fmla="*/ 633741 w 899474"/>
                  <a:gd name="connsiteY28" fmla="*/ 432179 h 1117872"/>
                  <a:gd name="connsiteX29" fmla="*/ 633741 w 899474"/>
                  <a:gd name="connsiteY29" fmla="*/ 645146 h 1117872"/>
                  <a:gd name="connsiteX30" fmla="*/ 604326 w 899474"/>
                  <a:gd name="connsiteY30" fmla="*/ 645146 h 1117872"/>
                  <a:gd name="connsiteX31" fmla="*/ 604326 w 899474"/>
                  <a:gd name="connsiteY31" fmla="*/ 461594 h 1117872"/>
                  <a:gd name="connsiteX32" fmla="*/ 454353 w 899474"/>
                  <a:gd name="connsiteY32" fmla="*/ 461594 h 1117872"/>
                  <a:gd name="connsiteX33" fmla="*/ 454353 w 899474"/>
                  <a:gd name="connsiteY33" fmla="*/ 645146 h 1117872"/>
                  <a:gd name="connsiteX34" fmla="*/ 424938 w 899474"/>
                  <a:gd name="connsiteY34" fmla="*/ 645146 h 1117872"/>
                  <a:gd name="connsiteX35" fmla="*/ 424938 w 899474"/>
                  <a:gd name="connsiteY35" fmla="*/ 432179 h 111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9474" h="1117872">
                    <a:moveTo>
                      <a:pt x="449737" y="0"/>
                    </a:moveTo>
                    <a:cubicBezTo>
                      <a:pt x="201382" y="0"/>
                      <a:pt x="0" y="199300"/>
                      <a:pt x="0" y="445121"/>
                    </a:cubicBezTo>
                    <a:cubicBezTo>
                      <a:pt x="0" y="554818"/>
                      <a:pt x="40186" y="655101"/>
                      <a:pt x="106891" y="732939"/>
                    </a:cubicBezTo>
                    <a:lnTo>
                      <a:pt x="109877" y="736559"/>
                    </a:lnTo>
                    <a:lnTo>
                      <a:pt x="449737" y="1117872"/>
                    </a:lnTo>
                    <a:lnTo>
                      <a:pt x="789597" y="736559"/>
                    </a:lnTo>
                    <a:lnTo>
                      <a:pt x="792584" y="732939"/>
                    </a:lnTo>
                    <a:cubicBezTo>
                      <a:pt x="859379" y="655101"/>
                      <a:pt x="899474" y="554818"/>
                      <a:pt x="899474" y="445121"/>
                    </a:cubicBezTo>
                    <a:cubicBezTo>
                      <a:pt x="899565" y="199300"/>
                      <a:pt x="698183" y="0"/>
                      <a:pt x="449737" y="0"/>
                    </a:cubicBezTo>
                    <a:close/>
                    <a:moveTo>
                      <a:pt x="769957" y="714204"/>
                    </a:moveTo>
                    <a:lnTo>
                      <a:pt x="767332" y="717371"/>
                    </a:lnTo>
                    <a:lnTo>
                      <a:pt x="449737" y="1073613"/>
                    </a:lnTo>
                    <a:lnTo>
                      <a:pt x="132233" y="717371"/>
                    </a:lnTo>
                    <a:lnTo>
                      <a:pt x="129246" y="713842"/>
                    </a:lnTo>
                    <a:cubicBezTo>
                      <a:pt x="64895" y="638719"/>
                      <a:pt x="29415" y="543323"/>
                      <a:pt x="29415" y="445121"/>
                    </a:cubicBezTo>
                    <a:cubicBezTo>
                      <a:pt x="29415" y="215954"/>
                      <a:pt x="218035" y="29415"/>
                      <a:pt x="449737" y="29415"/>
                    </a:cubicBezTo>
                    <a:cubicBezTo>
                      <a:pt x="681530" y="29415"/>
                      <a:pt x="870059" y="215863"/>
                      <a:pt x="870059" y="445121"/>
                    </a:cubicBezTo>
                    <a:cubicBezTo>
                      <a:pt x="870150" y="543323"/>
                      <a:pt x="834670" y="638719"/>
                      <a:pt x="769957" y="714204"/>
                    </a:cubicBezTo>
                    <a:close/>
                    <a:moveTo>
                      <a:pt x="485217" y="263380"/>
                    </a:moveTo>
                    <a:lnTo>
                      <a:pt x="295330" y="263380"/>
                    </a:lnTo>
                    <a:lnTo>
                      <a:pt x="295330" y="645236"/>
                    </a:lnTo>
                    <a:lnTo>
                      <a:pt x="265914" y="645236"/>
                    </a:lnTo>
                    <a:lnTo>
                      <a:pt x="265914" y="233965"/>
                    </a:lnTo>
                    <a:lnTo>
                      <a:pt x="514722" y="233965"/>
                    </a:lnTo>
                    <a:lnTo>
                      <a:pt x="514722" y="402854"/>
                    </a:lnTo>
                    <a:lnTo>
                      <a:pt x="485307" y="402854"/>
                    </a:lnTo>
                    <a:lnTo>
                      <a:pt x="485307" y="263380"/>
                    </a:lnTo>
                    <a:close/>
                    <a:moveTo>
                      <a:pt x="424938" y="432179"/>
                    </a:moveTo>
                    <a:lnTo>
                      <a:pt x="633741" y="432179"/>
                    </a:lnTo>
                    <a:lnTo>
                      <a:pt x="633741" y="645146"/>
                    </a:lnTo>
                    <a:lnTo>
                      <a:pt x="604326" y="645146"/>
                    </a:lnTo>
                    <a:lnTo>
                      <a:pt x="604326" y="461594"/>
                    </a:lnTo>
                    <a:lnTo>
                      <a:pt x="454353" y="461594"/>
                    </a:lnTo>
                    <a:lnTo>
                      <a:pt x="454353" y="645146"/>
                    </a:lnTo>
                    <a:lnTo>
                      <a:pt x="424938" y="645146"/>
                    </a:lnTo>
                    <a:lnTo>
                      <a:pt x="424938" y="432179"/>
                    </a:lnTo>
                    <a:close/>
                  </a:path>
                </a:pathLst>
              </a:custGeom>
              <a:solidFill>
                <a:schemeClr val="tx1"/>
              </a:solidFill>
              <a:ln w="904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grpSp>
      <p:sp>
        <p:nvSpPr>
          <p:cNvPr id="21" name="Rounded Rectangle 20">
            <a:extLst>
              <a:ext uri="{FF2B5EF4-FFF2-40B4-BE49-F238E27FC236}">
                <a16:creationId xmlns:a16="http://schemas.microsoft.com/office/drawing/2014/main" id="{5FBA233F-26EE-5E32-DE7A-EF46C339BA63}"/>
              </a:ext>
            </a:extLst>
          </p:cNvPr>
          <p:cNvSpPr/>
          <p:nvPr/>
        </p:nvSpPr>
        <p:spPr bwMode="gray">
          <a:xfrm>
            <a:off x="2910948" y="3183341"/>
            <a:ext cx="2208157" cy="1728162"/>
          </a:xfrm>
          <a:prstGeom prst="roundRect">
            <a:avLst>
              <a:gd name="adj" fmla="val 6450"/>
            </a:avLst>
          </a:prstGeom>
          <a:solidFill>
            <a:schemeClr val="bg1">
              <a:lumMod val="95000"/>
            </a:schemeClr>
          </a:solidFill>
          <a:ln w="9525">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dirty="0">
              <a:solidFill>
                <a:schemeClr val="bg1"/>
              </a:solidFill>
            </a:endParaRPr>
          </a:p>
        </p:txBody>
      </p:sp>
      <p:sp>
        <p:nvSpPr>
          <p:cNvPr id="2" name="Title 1">
            <a:extLst>
              <a:ext uri="{FF2B5EF4-FFF2-40B4-BE49-F238E27FC236}">
                <a16:creationId xmlns:a16="http://schemas.microsoft.com/office/drawing/2014/main" id="{7D9423CA-949F-108D-E74F-AC8102B51624}"/>
              </a:ext>
            </a:extLst>
          </p:cNvPr>
          <p:cNvSpPr>
            <a:spLocks noGrp="1"/>
          </p:cNvSpPr>
          <p:nvPr>
            <p:ph type="title"/>
          </p:nvPr>
        </p:nvSpPr>
        <p:spPr/>
        <p:txBody>
          <a:bodyPr/>
          <a:lstStyle/>
          <a:p>
            <a:r>
              <a:rPr lang="en-US" dirty="0">
                <a:latin typeface="Arial" panose="020B0604020202020204" pitchFamily="34" charset="0"/>
              </a:rPr>
              <a:t>Remote Site Topologies</a:t>
            </a:r>
          </a:p>
        </p:txBody>
      </p:sp>
      <p:sp>
        <p:nvSpPr>
          <p:cNvPr id="3" name="Subtitle 2">
            <a:extLst>
              <a:ext uri="{FF2B5EF4-FFF2-40B4-BE49-F238E27FC236}">
                <a16:creationId xmlns:a16="http://schemas.microsoft.com/office/drawing/2014/main" id="{A161EEF8-ADB4-630F-8C93-6AD51D480DCB}"/>
              </a:ext>
            </a:extLst>
          </p:cNvPr>
          <p:cNvSpPr>
            <a:spLocks noGrp="1"/>
          </p:cNvSpPr>
          <p:nvPr>
            <p:ph type="subTitle" idx="10"/>
          </p:nvPr>
        </p:nvSpPr>
        <p:spPr/>
        <p:txBody>
          <a:bodyPr/>
          <a:lstStyle/>
          <a:p>
            <a:r>
              <a:rPr lang="en-US" dirty="0"/>
              <a:t>Configure a Remote Workload Domain or a Remote Cluster</a:t>
            </a:r>
          </a:p>
        </p:txBody>
      </p:sp>
      <p:sp>
        <p:nvSpPr>
          <p:cNvPr id="4" name="Text Placeholder 3">
            <a:extLst>
              <a:ext uri="{FF2B5EF4-FFF2-40B4-BE49-F238E27FC236}">
                <a16:creationId xmlns:a16="http://schemas.microsoft.com/office/drawing/2014/main" id="{6CF5054D-9BE6-B0B2-4B7F-8634093C8638}"/>
              </a:ext>
            </a:extLst>
          </p:cNvPr>
          <p:cNvSpPr>
            <a:spLocks noGrp="1"/>
          </p:cNvSpPr>
          <p:nvPr>
            <p:ph type="body" sz="quarter" idx="17"/>
          </p:nvPr>
        </p:nvSpPr>
        <p:spPr>
          <a:xfrm>
            <a:off x="8424776" y="1600676"/>
            <a:ext cx="3762463" cy="4570809"/>
          </a:xfrm>
        </p:spPr>
        <p:txBody>
          <a:bodyPr/>
          <a:lstStyle/>
          <a:p>
            <a:pPr>
              <a:buNone/>
            </a:pPr>
            <a:r>
              <a:rPr lang="en-US" dirty="0"/>
              <a:t>Provide presence for remote sites through centralized management</a:t>
            </a:r>
          </a:p>
          <a:p>
            <a:pPr>
              <a:buNone/>
            </a:pPr>
            <a:r>
              <a:rPr lang="en-US" dirty="0"/>
              <a:t>Place resources close to workers</a:t>
            </a:r>
          </a:p>
          <a:p>
            <a:pPr>
              <a:buNone/>
            </a:pPr>
            <a:r>
              <a:rPr lang="en-US" dirty="0"/>
              <a:t>Use VCF Operations to perform Fleet Management operations for each remote site</a:t>
            </a:r>
          </a:p>
          <a:p>
            <a:pPr>
              <a:buNone/>
            </a:pPr>
            <a:r>
              <a:rPr lang="en-US" dirty="0"/>
              <a:t>Choose the topology that best suits your requirements for:</a:t>
            </a:r>
          </a:p>
          <a:p>
            <a:pPr marL="285664" indent="-285664">
              <a:buFont typeface="Arial" panose="020B0604020202020204" pitchFamily="34" charset="0"/>
              <a:buChar char="•"/>
            </a:pPr>
            <a:r>
              <a:rPr lang="en-US" sz="1400" dirty="0"/>
              <a:t>Management</a:t>
            </a:r>
          </a:p>
          <a:p>
            <a:pPr marL="285664" indent="-285664">
              <a:buFont typeface="Arial" panose="020B0604020202020204" pitchFamily="34" charset="0"/>
              <a:buChar char="•"/>
            </a:pPr>
            <a:r>
              <a:rPr lang="en-US" sz="1400" dirty="0"/>
              <a:t>Scale</a:t>
            </a:r>
          </a:p>
          <a:p>
            <a:pPr marL="285664" indent="-285664">
              <a:buFont typeface="Arial" panose="020B0604020202020204" pitchFamily="34" charset="0"/>
              <a:buChar char="•"/>
            </a:pPr>
            <a:r>
              <a:rPr lang="en-US" sz="1400" dirty="0"/>
              <a:t>Networking</a:t>
            </a:r>
            <a:br>
              <a:rPr lang="en-US" sz="1400" dirty="0"/>
            </a:br>
            <a:endParaRPr lang="en-US" sz="1400" dirty="0"/>
          </a:p>
          <a:p>
            <a:pPr>
              <a:buNone/>
            </a:pPr>
            <a:r>
              <a:rPr lang="en-US" sz="1400" dirty="0"/>
              <a:t>Bandwidth &amp; latency requirements apply</a:t>
            </a:r>
          </a:p>
        </p:txBody>
      </p:sp>
      <p:cxnSp>
        <p:nvCxnSpPr>
          <p:cNvPr id="47" name="Straight Connector 46">
            <a:extLst>
              <a:ext uri="{FF2B5EF4-FFF2-40B4-BE49-F238E27FC236}">
                <a16:creationId xmlns:a16="http://schemas.microsoft.com/office/drawing/2014/main" id="{37F080B7-DDC0-A7F2-B60F-EFD4705494BB}"/>
              </a:ext>
            </a:extLst>
          </p:cNvPr>
          <p:cNvCxnSpPr>
            <a:cxnSpLocks/>
          </p:cNvCxnSpPr>
          <p:nvPr/>
        </p:nvCxnSpPr>
        <p:spPr bwMode="gray">
          <a:xfrm>
            <a:off x="4006681" y="3061206"/>
            <a:ext cx="0" cy="492844"/>
          </a:xfrm>
          <a:prstGeom prst="line">
            <a:avLst/>
          </a:prstGeom>
          <a:ln w="1905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A163BCAF-4391-73D0-0C07-2543944038C2}"/>
              </a:ext>
            </a:extLst>
          </p:cNvPr>
          <p:cNvSpPr txBox="1"/>
          <p:nvPr/>
        </p:nvSpPr>
        <p:spPr>
          <a:xfrm>
            <a:off x="658597" y="4991428"/>
            <a:ext cx="2637755" cy="1125336"/>
          </a:xfrm>
          <a:prstGeom prst="rect">
            <a:avLst/>
          </a:prstGeom>
        </p:spPr>
        <p:txBody>
          <a:bodyPr wrap="square" lIns="0" tIns="0" rIns="0" bIns="0" rtlCol="0">
            <a:spAutoFit/>
          </a:bodyPr>
          <a:lstStyle/>
          <a:p>
            <a:pPr defTabSz="913578">
              <a:lnSpc>
                <a:spcPct val="150000"/>
              </a:lnSpc>
              <a:spcAft>
                <a:spcPts val="600"/>
              </a:spcAft>
              <a:buClr>
                <a:srgbClr val="F2F2F2">
                  <a:lumMod val="50000"/>
                </a:srgbClr>
              </a:buClr>
              <a:defRPr/>
            </a:pPr>
            <a:br>
              <a:rPr lang="en-US" sz="1000" dirty="0">
                <a:solidFill>
                  <a:srgbClr val="1B1E35"/>
                </a:solidFill>
                <a:latin typeface="Arial" panose="020B0604020202020204" pitchFamily="34" charset="0"/>
              </a:rPr>
            </a:br>
            <a:r>
              <a:rPr lang="en-US" sz="1000" b="1" dirty="0">
                <a:solidFill>
                  <a:schemeClr val="accent2"/>
                </a:solidFill>
                <a:latin typeface="Arial" panose="020B0604020202020204" pitchFamily="34" charset="0"/>
              </a:rPr>
              <a:t>Remote Workload Domain Example</a:t>
            </a: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Workload Domain: 1 per site</a:t>
            </a: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Clusters: 1 x cluster per domain</a:t>
            </a:r>
            <a:br>
              <a:rPr lang="en-US" sz="1000" dirty="0">
                <a:solidFill>
                  <a:srgbClr val="1B1E35"/>
                </a:solidFill>
                <a:latin typeface="Arial" panose="020B0604020202020204" pitchFamily="34" charset="0"/>
              </a:rPr>
            </a:br>
            <a:endParaRPr lang="en-US" sz="1000" dirty="0">
              <a:solidFill>
                <a:srgbClr val="1B1E35"/>
              </a:solidFill>
              <a:latin typeface="Arial" panose="020B0604020202020204" pitchFamily="34" charset="0"/>
            </a:endParaRPr>
          </a:p>
        </p:txBody>
      </p:sp>
      <p:grpSp>
        <p:nvGrpSpPr>
          <p:cNvPr id="5" name="Group 4">
            <a:extLst>
              <a:ext uri="{FF2B5EF4-FFF2-40B4-BE49-F238E27FC236}">
                <a16:creationId xmlns:a16="http://schemas.microsoft.com/office/drawing/2014/main" id="{1B7DE121-796C-7A07-D6E8-2CD549CF8573}"/>
              </a:ext>
            </a:extLst>
          </p:cNvPr>
          <p:cNvGrpSpPr/>
          <p:nvPr/>
        </p:nvGrpSpPr>
        <p:grpSpPr>
          <a:xfrm>
            <a:off x="802742" y="2963514"/>
            <a:ext cx="3203936" cy="2203741"/>
            <a:chOff x="801362" y="2963391"/>
            <a:chExt cx="3204771" cy="2204315"/>
          </a:xfrm>
        </p:grpSpPr>
        <p:sp>
          <p:nvSpPr>
            <p:cNvPr id="20" name="Rounded Rectangle 19">
              <a:extLst>
                <a:ext uri="{FF2B5EF4-FFF2-40B4-BE49-F238E27FC236}">
                  <a16:creationId xmlns:a16="http://schemas.microsoft.com/office/drawing/2014/main" id="{9FDBCFB2-C873-F3AF-B5B0-2D847D42CA50}"/>
                </a:ext>
              </a:extLst>
            </p:cNvPr>
            <p:cNvSpPr/>
            <p:nvPr/>
          </p:nvSpPr>
          <p:spPr bwMode="gray">
            <a:xfrm>
              <a:off x="801362" y="3188866"/>
              <a:ext cx="1751712" cy="1728612"/>
            </a:xfrm>
            <a:prstGeom prst="roundRect">
              <a:avLst>
                <a:gd name="adj" fmla="val 6450"/>
              </a:avLst>
            </a:prstGeom>
            <a:solidFill>
              <a:schemeClr val="bg1">
                <a:lumMod val="95000"/>
              </a:schemeClr>
            </a:solidFill>
            <a:ln w="9525">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dirty="0">
                <a:solidFill>
                  <a:schemeClr val="bg1"/>
                </a:solidFill>
              </a:endParaRPr>
            </a:p>
          </p:txBody>
        </p:sp>
        <p:grpSp>
          <p:nvGrpSpPr>
            <p:cNvPr id="256" name="Group 255">
              <a:extLst>
                <a:ext uri="{FF2B5EF4-FFF2-40B4-BE49-F238E27FC236}">
                  <a16:creationId xmlns:a16="http://schemas.microsoft.com/office/drawing/2014/main" id="{5358A539-1408-51E4-4E82-7D51C6A75D73}"/>
                </a:ext>
              </a:extLst>
            </p:cNvPr>
            <p:cNvGrpSpPr/>
            <p:nvPr/>
          </p:nvGrpSpPr>
          <p:grpSpPr>
            <a:xfrm>
              <a:off x="875750" y="2963391"/>
              <a:ext cx="3130383" cy="2204315"/>
              <a:chOff x="823498" y="2360969"/>
              <a:chExt cx="3130383" cy="2204315"/>
            </a:xfrm>
          </p:grpSpPr>
          <p:sp>
            <p:nvSpPr>
              <p:cNvPr id="197" name="Freeform: Shape 129">
                <a:extLst>
                  <a:ext uri="{FF2B5EF4-FFF2-40B4-BE49-F238E27FC236}">
                    <a16:creationId xmlns:a16="http://schemas.microsoft.com/office/drawing/2014/main" id="{34965152-4EC7-EF58-B753-C5B10A8F0069}"/>
                  </a:ext>
                </a:extLst>
              </p:cNvPr>
              <p:cNvSpPr/>
              <p:nvPr/>
            </p:nvSpPr>
            <p:spPr>
              <a:xfrm>
                <a:off x="1840742" y="2360969"/>
                <a:ext cx="2113139" cy="581402"/>
              </a:xfrm>
              <a:custGeom>
                <a:avLst/>
                <a:gdLst>
                  <a:gd name="connsiteX0" fmla="*/ 0 w 459581"/>
                  <a:gd name="connsiteY0" fmla="*/ 155972 h 158353"/>
                  <a:gd name="connsiteX1" fmla="*/ 0 w 459581"/>
                  <a:gd name="connsiteY1" fmla="*/ 0 h 158353"/>
                  <a:gd name="connsiteX2" fmla="*/ 459581 w 459581"/>
                  <a:gd name="connsiteY2" fmla="*/ 0 h 158353"/>
                  <a:gd name="connsiteX3" fmla="*/ 459581 w 459581"/>
                  <a:gd name="connsiteY3" fmla="*/ 158353 h 158353"/>
                </a:gdLst>
                <a:ahLst/>
                <a:cxnLst>
                  <a:cxn ang="0">
                    <a:pos x="connsiteX0" y="connsiteY0"/>
                  </a:cxn>
                  <a:cxn ang="0">
                    <a:pos x="connsiteX1" y="connsiteY1"/>
                  </a:cxn>
                  <a:cxn ang="0">
                    <a:pos x="connsiteX2" y="connsiteY2"/>
                  </a:cxn>
                  <a:cxn ang="0">
                    <a:pos x="connsiteX3" y="connsiteY3"/>
                  </a:cxn>
                </a:cxnLst>
                <a:rect l="l" t="t" r="r" b="b"/>
                <a:pathLst>
                  <a:path w="459581" h="158353">
                    <a:moveTo>
                      <a:pt x="0" y="155972"/>
                    </a:moveTo>
                    <a:lnTo>
                      <a:pt x="0" y="0"/>
                    </a:lnTo>
                    <a:lnTo>
                      <a:pt x="459581" y="0"/>
                    </a:lnTo>
                    <a:lnTo>
                      <a:pt x="459581" y="158353"/>
                    </a:lnTo>
                  </a:path>
                </a:pathLst>
              </a:custGeom>
              <a:ln w="1905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146" name="Rectangle: Rounded Corners 122">
                <a:extLst>
                  <a:ext uri="{FF2B5EF4-FFF2-40B4-BE49-F238E27FC236}">
                    <a16:creationId xmlns:a16="http://schemas.microsoft.com/office/drawing/2014/main" id="{39C08AF3-7EB0-46F2-3DE3-0CB824687C8E}"/>
                  </a:ext>
                </a:extLst>
              </p:cNvPr>
              <p:cNvSpPr/>
              <p:nvPr/>
            </p:nvSpPr>
            <p:spPr>
              <a:xfrm>
                <a:off x="851053" y="2698141"/>
                <a:ext cx="1544986" cy="1489443"/>
              </a:xfrm>
              <a:prstGeom prst="roundRect">
                <a:avLst>
                  <a:gd name="adj" fmla="val 6821"/>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147" name="Rectangle 146">
                <a:extLst>
                  <a:ext uri="{FF2B5EF4-FFF2-40B4-BE49-F238E27FC236}">
                    <a16:creationId xmlns:a16="http://schemas.microsoft.com/office/drawing/2014/main" id="{0745B1D8-9C5C-EF8E-B3AE-FB00C0CCF29A}"/>
                  </a:ext>
                </a:extLst>
              </p:cNvPr>
              <p:cNvSpPr/>
              <p:nvPr/>
            </p:nvSpPr>
            <p:spPr>
              <a:xfrm>
                <a:off x="851053" y="2753757"/>
                <a:ext cx="1544986" cy="184666"/>
              </a:xfrm>
              <a:prstGeom prst="rect">
                <a:avLst/>
              </a:prstGeom>
            </p:spPr>
            <p:txBody>
              <a:bodyPr wrap="square" lIns="0" tIns="0" rIns="0" bIns="0">
                <a:spAutoFit/>
              </a:bodyPr>
              <a:lstStyle/>
              <a:p>
                <a:pPr algn="ctr" defTabSz="912208">
                  <a:defRPr/>
                </a:pPr>
                <a:r>
                  <a:rPr lang="en-US" sz="1200" kern="0" dirty="0">
                    <a:solidFill>
                      <a:srgbClr val="000001"/>
                    </a:solidFill>
                    <a:latin typeface="Arial" panose="020B0604020202020204" pitchFamily="34" charset="0"/>
                  </a:rPr>
                  <a:t>Workload Domain</a:t>
                </a:r>
              </a:p>
            </p:txBody>
          </p:sp>
          <p:grpSp>
            <p:nvGrpSpPr>
              <p:cNvPr id="148" name="Group 147">
                <a:extLst>
                  <a:ext uri="{FF2B5EF4-FFF2-40B4-BE49-F238E27FC236}">
                    <a16:creationId xmlns:a16="http://schemas.microsoft.com/office/drawing/2014/main" id="{C428A37A-95EE-2F77-E665-C68CD2634BBE}"/>
                  </a:ext>
                </a:extLst>
              </p:cNvPr>
              <p:cNvGrpSpPr/>
              <p:nvPr/>
            </p:nvGrpSpPr>
            <p:grpSpPr>
              <a:xfrm>
                <a:off x="1239439" y="3170460"/>
                <a:ext cx="712005" cy="666564"/>
                <a:chOff x="928971" y="4326657"/>
                <a:chExt cx="385619" cy="361008"/>
              </a:xfrm>
              <a:solidFill>
                <a:schemeClr val="accent2"/>
              </a:solidFill>
            </p:grpSpPr>
            <p:sp>
              <p:nvSpPr>
                <p:cNvPr id="149" name="Graphic 47">
                  <a:extLst>
                    <a:ext uri="{FF2B5EF4-FFF2-40B4-BE49-F238E27FC236}">
                      <a16:creationId xmlns:a16="http://schemas.microsoft.com/office/drawing/2014/main" id="{61BCDD75-C4C1-1268-997A-0FF0A7686AD4}"/>
                    </a:ext>
                  </a:extLst>
                </p:cNvPr>
                <p:cNvSpPr/>
                <p:nvPr/>
              </p:nvSpPr>
              <p:spPr>
                <a:xfrm>
                  <a:off x="928971" y="4586186"/>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150" name="Graphic 47">
                  <a:extLst>
                    <a:ext uri="{FF2B5EF4-FFF2-40B4-BE49-F238E27FC236}">
                      <a16:creationId xmlns:a16="http://schemas.microsoft.com/office/drawing/2014/main" id="{3422D2BB-B22A-876E-5063-C5F5DCC4B25E}"/>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151" name="Graphic 47">
                  <a:extLst>
                    <a:ext uri="{FF2B5EF4-FFF2-40B4-BE49-F238E27FC236}">
                      <a16:creationId xmlns:a16="http://schemas.microsoft.com/office/drawing/2014/main" id="{37F9EEE3-3C94-E734-8116-B0B7801632E4}"/>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159" name="Rectangle: Rounded Corners 122">
                <a:extLst>
                  <a:ext uri="{FF2B5EF4-FFF2-40B4-BE49-F238E27FC236}">
                    <a16:creationId xmlns:a16="http://schemas.microsoft.com/office/drawing/2014/main" id="{7DBB4A95-B158-E7EE-B8CD-0E00FD35986F}"/>
                  </a:ext>
                </a:extLst>
              </p:cNvPr>
              <p:cNvSpPr/>
              <p:nvPr/>
            </p:nvSpPr>
            <p:spPr>
              <a:xfrm>
                <a:off x="1165058" y="3088099"/>
                <a:ext cx="856716" cy="1026542"/>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grpSp>
            <p:nvGrpSpPr>
              <p:cNvPr id="238" name="Group 237">
                <a:extLst>
                  <a:ext uri="{FF2B5EF4-FFF2-40B4-BE49-F238E27FC236}">
                    <a16:creationId xmlns:a16="http://schemas.microsoft.com/office/drawing/2014/main" id="{044FC1D0-2FC0-142A-986D-1701070C5434}"/>
                  </a:ext>
                </a:extLst>
              </p:cNvPr>
              <p:cNvGrpSpPr/>
              <p:nvPr/>
            </p:nvGrpSpPr>
            <p:grpSpPr>
              <a:xfrm>
                <a:off x="1426397" y="4229594"/>
                <a:ext cx="338704" cy="335690"/>
                <a:chOff x="10557745" y="5096347"/>
                <a:chExt cx="369015" cy="369015"/>
              </a:xfrm>
            </p:grpSpPr>
            <p:sp>
              <p:nvSpPr>
                <p:cNvPr id="239" name="Oval 238">
                  <a:extLst>
                    <a:ext uri="{FF2B5EF4-FFF2-40B4-BE49-F238E27FC236}">
                      <a16:creationId xmlns:a16="http://schemas.microsoft.com/office/drawing/2014/main" id="{E2F8DA2C-3994-F7C2-D0AA-53DC5540FF3C}"/>
                    </a:ext>
                  </a:extLst>
                </p:cNvPr>
                <p:cNvSpPr/>
                <p:nvPr/>
              </p:nvSpPr>
              <p:spPr>
                <a:xfrm>
                  <a:off x="10557745" y="5096347"/>
                  <a:ext cx="369015" cy="369015"/>
                </a:xfrm>
                <a:prstGeom prst="ellipse">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240" name="Graphic 32">
                  <a:extLst>
                    <a:ext uri="{FF2B5EF4-FFF2-40B4-BE49-F238E27FC236}">
                      <a16:creationId xmlns:a16="http://schemas.microsoft.com/office/drawing/2014/main" id="{6A4201DF-883F-4DD4-B3BD-9757526BF6F5}"/>
                    </a:ext>
                  </a:extLst>
                </p:cNvPr>
                <p:cNvSpPr/>
                <p:nvPr/>
              </p:nvSpPr>
              <p:spPr>
                <a:xfrm>
                  <a:off x="10637822" y="5151069"/>
                  <a:ext cx="208860" cy="259570"/>
                </a:xfrm>
                <a:custGeom>
                  <a:avLst/>
                  <a:gdLst>
                    <a:gd name="connsiteX0" fmla="*/ 449737 w 899474"/>
                    <a:gd name="connsiteY0" fmla="*/ 0 h 1117872"/>
                    <a:gd name="connsiteX1" fmla="*/ 0 w 899474"/>
                    <a:gd name="connsiteY1" fmla="*/ 445121 h 1117872"/>
                    <a:gd name="connsiteX2" fmla="*/ 106891 w 899474"/>
                    <a:gd name="connsiteY2" fmla="*/ 732939 h 1117872"/>
                    <a:gd name="connsiteX3" fmla="*/ 109877 w 899474"/>
                    <a:gd name="connsiteY3" fmla="*/ 736559 h 1117872"/>
                    <a:gd name="connsiteX4" fmla="*/ 449737 w 899474"/>
                    <a:gd name="connsiteY4" fmla="*/ 1117872 h 1117872"/>
                    <a:gd name="connsiteX5" fmla="*/ 789597 w 899474"/>
                    <a:gd name="connsiteY5" fmla="*/ 736559 h 1117872"/>
                    <a:gd name="connsiteX6" fmla="*/ 792584 w 899474"/>
                    <a:gd name="connsiteY6" fmla="*/ 732939 h 1117872"/>
                    <a:gd name="connsiteX7" fmla="*/ 899474 w 899474"/>
                    <a:gd name="connsiteY7" fmla="*/ 445121 h 1117872"/>
                    <a:gd name="connsiteX8" fmla="*/ 449737 w 899474"/>
                    <a:gd name="connsiteY8" fmla="*/ 0 h 1117872"/>
                    <a:gd name="connsiteX9" fmla="*/ 769957 w 899474"/>
                    <a:gd name="connsiteY9" fmla="*/ 714204 h 1117872"/>
                    <a:gd name="connsiteX10" fmla="*/ 767332 w 899474"/>
                    <a:gd name="connsiteY10" fmla="*/ 717371 h 1117872"/>
                    <a:gd name="connsiteX11" fmla="*/ 449737 w 899474"/>
                    <a:gd name="connsiteY11" fmla="*/ 1073613 h 1117872"/>
                    <a:gd name="connsiteX12" fmla="*/ 132233 w 899474"/>
                    <a:gd name="connsiteY12" fmla="*/ 717371 h 1117872"/>
                    <a:gd name="connsiteX13" fmla="*/ 129246 w 899474"/>
                    <a:gd name="connsiteY13" fmla="*/ 713842 h 1117872"/>
                    <a:gd name="connsiteX14" fmla="*/ 29415 w 899474"/>
                    <a:gd name="connsiteY14" fmla="*/ 445121 h 1117872"/>
                    <a:gd name="connsiteX15" fmla="*/ 449737 w 899474"/>
                    <a:gd name="connsiteY15" fmla="*/ 29415 h 1117872"/>
                    <a:gd name="connsiteX16" fmla="*/ 870059 w 899474"/>
                    <a:gd name="connsiteY16" fmla="*/ 445121 h 1117872"/>
                    <a:gd name="connsiteX17" fmla="*/ 769957 w 899474"/>
                    <a:gd name="connsiteY17" fmla="*/ 714204 h 1117872"/>
                    <a:gd name="connsiteX18" fmla="*/ 485217 w 899474"/>
                    <a:gd name="connsiteY18" fmla="*/ 263380 h 1117872"/>
                    <a:gd name="connsiteX19" fmla="*/ 295330 w 899474"/>
                    <a:gd name="connsiteY19" fmla="*/ 263380 h 1117872"/>
                    <a:gd name="connsiteX20" fmla="*/ 295330 w 899474"/>
                    <a:gd name="connsiteY20" fmla="*/ 645236 h 1117872"/>
                    <a:gd name="connsiteX21" fmla="*/ 265914 w 899474"/>
                    <a:gd name="connsiteY21" fmla="*/ 645236 h 1117872"/>
                    <a:gd name="connsiteX22" fmla="*/ 265914 w 899474"/>
                    <a:gd name="connsiteY22" fmla="*/ 233965 h 1117872"/>
                    <a:gd name="connsiteX23" fmla="*/ 514722 w 899474"/>
                    <a:gd name="connsiteY23" fmla="*/ 233965 h 1117872"/>
                    <a:gd name="connsiteX24" fmla="*/ 514722 w 899474"/>
                    <a:gd name="connsiteY24" fmla="*/ 402854 h 1117872"/>
                    <a:gd name="connsiteX25" fmla="*/ 485307 w 899474"/>
                    <a:gd name="connsiteY25" fmla="*/ 402854 h 1117872"/>
                    <a:gd name="connsiteX26" fmla="*/ 485307 w 899474"/>
                    <a:gd name="connsiteY26" fmla="*/ 263380 h 1117872"/>
                    <a:gd name="connsiteX27" fmla="*/ 424938 w 899474"/>
                    <a:gd name="connsiteY27" fmla="*/ 432179 h 1117872"/>
                    <a:gd name="connsiteX28" fmla="*/ 633741 w 899474"/>
                    <a:gd name="connsiteY28" fmla="*/ 432179 h 1117872"/>
                    <a:gd name="connsiteX29" fmla="*/ 633741 w 899474"/>
                    <a:gd name="connsiteY29" fmla="*/ 645146 h 1117872"/>
                    <a:gd name="connsiteX30" fmla="*/ 604326 w 899474"/>
                    <a:gd name="connsiteY30" fmla="*/ 645146 h 1117872"/>
                    <a:gd name="connsiteX31" fmla="*/ 604326 w 899474"/>
                    <a:gd name="connsiteY31" fmla="*/ 461594 h 1117872"/>
                    <a:gd name="connsiteX32" fmla="*/ 454353 w 899474"/>
                    <a:gd name="connsiteY32" fmla="*/ 461594 h 1117872"/>
                    <a:gd name="connsiteX33" fmla="*/ 454353 w 899474"/>
                    <a:gd name="connsiteY33" fmla="*/ 645146 h 1117872"/>
                    <a:gd name="connsiteX34" fmla="*/ 424938 w 899474"/>
                    <a:gd name="connsiteY34" fmla="*/ 645146 h 1117872"/>
                    <a:gd name="connsiteX35" fmla="*/ 424938 w 899474"/>
                    <a:gd name="connsiteY35" fmla="*/ 432179 h 111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9474" h="1117872">
                      <a:moveTo>
                        <a:pt x="449737" y="0"/>
                      </a:moveTo>
                      <a:cubicBezTo>
                        <a:pt x="201382" y="0"/>
                        <a:pt x="0" y="199300"/>
                        <a:pt x="0" y="445121"/>
                      </a:cubicBezTo>
                      <a:cubicBezTo>
                        <a:pt x="0" y="554818"/>
                        <a:pt x="40186" y="655101"/>
                        <a:pt x="106891" y="732939"/>
                      </a:cubicBezTo>
                      <a:lnTo>
                        <a:pt x="109877" y="736559"/>
                      </a:lnTo>
                      <a:lnTo>
                        <a:pt x="449737" y="1117872"/>
                      </a:lnTo>
                      <a:lnTo>
                        <a:pt x="789597" y="736559"/>
                      </a:lnTo>
                      <a:lnTo>
                        <a:pt x="792584" y="732939"/>
                      </a:lnTo>
                      <a:cubicBezTo>
                        <a:pt x="859379" y="655101"/>
                        <a:pt x="899474" y="554818"/>
                        <a:pt x="899474" y="445121"/>
                      </a:cubicBezTo>
                      <a:cubicBezTo>
                        <a:pt x="899565" y="199300"/>
                        <a:pt x="698183" y="0"/>
                        <a:pt x="449737" y="0"/>
                      </a:cubicBezTo>
                      <a:close/>
                      <a:moveTo>
                        <a:pt x="769957" y="714204"/>
                      </a:moveTo>
                      <a:lnTo>
                        <a:pt x="767332" y="717371"/>
                      </a:lnTo>
                      <a:lnTo>
                        <a:pt x="449737" y="1073613"/>
                      </a:lnTo>
                      <a:lnTo>
                        <a:pt x="132233" y="717371"/>
                      </a:lnTo>
                      <a:lnTo>
                        <a:pt x="129246" y="713842"/>
                      </a:lnTo>
                      <a:cubicBezTo>
                        <a:pt x="64895" y="638719"/>
                        <a:pt x="29415" y="543323"/>
                        <a:pt x="29415" y="445121"/>
                      </a:cubicBezTo>
                      <a:cubicBezTo>
                        <a:pt x="29415" y="215954"/>
                        <a:pt x="218035" y="29415"/>
                        <a:pt x="449737" y="29415"/>
                      </a:cubicBezTo>
                      <a:cubicBezTo>
                        <a:pt x="681530" y="29415"/>
                        <a:pt x="870059" y="215863"/>
                        <a:pt x="870059" y="445121"/>
                      </a:cubicBezTo>
                      <a:cubicBezTo>
                        <a:pt x="870150" y="543323"/>
                        <a:pt x="834670" y="638719"/>
                        <a:pt x="769957" y="714204"/>
                      </a:cubicBezTo>
                      <a:close/>
                      <a:moveTo>
                        <a:pt x="485217" y="263380"/>
                      </a:moveTo>
                      <a:lnTo>
                        <a:pt x="295330" y="263380"/>
                      </a:lnTo>
                      <a:lnTo>
                        <a:pt x="295330" y="645236"/>
                      </a:lnTo>
                      <a:lnTo>
                        <a:pt x="265914" y="645236"/>
                      </a:lnTo>
                      <a:lnTo>
                        <a:pt x="265914" y="233965"/>
                      </a:lnTo>
                      <a:lnTo>
                        <a:pt x="514722" y="233965"/>
                      </a:lnTo>
                      <a:lnTo>
                        <a:pt x="514722" y="402854"/>
                      </a:lnTo>
                      <a:lnTo>
                        <a:pt x="485307" y="402854"/>
                      </a:lnTo>
                      <a:lnTo>
                        <a:pt x="485307" y="263380"/>
                      </a:lnTo>
                      <a:close/>
                      <a:moveTo>
                        <a:pt x="424938" y="432179"/>
                      </a:moveTo>
                      <a:lnTo>
                        <a:pt x="633741" y="432179"/>
                      </a:lnTo>
                      <a:lnTo>
                        <a:pt x="633741" y="645146"/>
                      </a:lnTo>
                      <a:lnTo>
                        <a:pt x="604326" y="645146"/>
                      </a:lnTo>
                      <a:lnTo>
                        <a:pt x="604326" y="461594"/>
                      </a:lnTo>
                      <a:lnTo>
                        <a:pt x="454353" y="461594"/>
                      </a:lnTo>
                      <a:lnTo>
                        <a:pt x="454353" y="645146"/>
                      </a:lnTo>
                      <a:lnTo>
                        <a:pt x="424938" y="645146"/>
                      </a:lnTo>
                      <a:lnTo>
                        <a:pt x="424938" y="432179"/>
                      </a:lnTo>
                      <a:close/>
                    </a:path>
                  </a:pathLst>
                </a:custGeom>
                <a:solidFill>
                  <a:schemeClr val="tx1"/>
                </a:solidFill>
                <a:ln w="904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247" name="Rectangle 246">
                <a:extLst>
                  <a:ext uri="{FF2B5EF4-FFF2-40B4-BE49-F238E27FC236}">
                    <a16:creationId xmlns:a16="http://schemas.microsoft.com/office/drawing/2014/main" id="{CC23BE79-C466-A475-D402-180CD24347B8}"/>
                  </a:ext>
                </a:extLst>
              </p:cNvPr>
              <p:cNvSpPr/>
              <p:nvPr/>
            </p:nvSpPr>
            <p:spPr>
              <a:xfrm>
                <a:off x="823498" y="3911300"/>
                <a:ext cx="1544986" cy="15388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grpSp>
      </p:grpSp>
      <p:sp>
        <p:nvSpPr>
          <p:cNvPr id="248" name="Rectangle 247">
            <a:extLst>
              <a:ext uri="{FF2B5EF4-FFF2-40B4-BE49-F238E27FC236}">
                <a16:creationId xmlns:a16="http://schemas.microsoft.com/office/drawing/2014/main" id="{08452BCE-39E2-10CF-447A-80E81F5A1D3A}"/>
              </a:ext>
            </a:extLst>
          </p:cNvPr>
          <p:cNvSpPr/>
          <p:nvPr/>
        </p:nvSpPr>
        <p:spPr>
          <a:xfrm>
            <a:off x="2759125" y="4505640"/>
            <a:ext cx="1544584" cy="15384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grpSp>
        <p:nvGrpSpPr>
          <p:cNvPr id="74" name="Group 73">
            <a:extLst>
              <a:ext uri="{FF2B5EF4-FFF2-40B4-BE49-F238E27FC236}">
                <a16:creationId xmlns:a16="http://schemas.microsoft.com/office/drawing/2014/main" id="{C32DC7D5-6EED-8E5F-FAFC-30E8D7C43C6F}"/>
              </a:ext>
            </a:extLst>
          </p:cNvPr>
          <p:cNvGrpSpPr/>
          <p:nvPr/>
        </p:nvGrpSpPr>
        <p:grpSpPr>
          <a:xfrm>
            <a:off x="3826530" y="4823047"/>
            <a:ext cx="338616" cy="335603"/>
            <a:chOff x="10557745" y="5096347"/>
            <a:chExt cx="369015" cy="369015"/>
          </a:xfrm>
        </p:grpSpPr>
        <p:sp>
          <p:nvSpPr>
            <p:cNvPr id="75" name="Oval 74">
              <a:extLst>
                <a:ext uri="{FF2B5EF4-FFF2-40B4-BE49-F238E27FC236}">
                  <a16:creationId xmlns:a16="http://schemas.microsoft.com/office/drawing/2014/main" id="{F3155FFC-FAC4-326F-2094-96BC7A4D0E86}"/>
                </a:ext>
              </a:extLst>
            </p:cNvPr>
            <p:cNvSpPr/>
            <p:nvPr/>
          </p:nvSpPr>
          <p:spPr>
            <a:xfrm>
              <a:off x="10557745" y="5096347"/>
              <a:ext cx="369015" cy="369015"/>
            </a:xfrm>
            <a:prstGeom prst="ellipse">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76" name="Graphic 32">
              <a:extLst>
                <a:ext uri="{FF2B5EF4-FFF2-40B4-BE49-F238E27FC236}">
                  <a16:creationId xmlns:a16="http://schemas.microsoft.com/office/drawing/2014/main" id="{1F522A21-DFE8-10DF-FAA2-5B68BE808CDC}"/>
                </a:ext>
              </a:extLst>
            </p:cNvPr>
            <p:cNvSpPr/>
            <p:nvPr/>
          </p:nvSpPr>
          <p:spPr>
            <a:xfrm>
              <a:off x="10637822" y="5151069"/>
              <a:ext cx="208860" cy="259570"/>
            </a:xfrm>
            <a:custGeom>
              <a:avLst/>
              <a:gdLst>
                <a:gd name="connsiteX0" fmla="*/ 449737 w 899474"/>
                <a:gd name="connsiteY0" fmla="*/ 0 h 1117872"/>
                <a:gd name="connsiteX1" fmla="*/ 0 w 899474"/>
                <a:gd name="connsiteY1" fmla="*/ 445121 h 1117872"/>
                <a:gd name="connsiteX2" fmla="*/ 106891 w 899474"/>
                <a:gd name="connsiteY2" fmla="*/ 732939 h 1117872"/>
                <a:gd name="connsiteX3" fmla="*/ 109877 w 899474"/>
                <a:gd name="connsiteY3" fmla="*/ 736559 h 1117872"/>
                <a:gd name="connsiteX4" fmla="*/ 449737 w 899474"/>
                <a:gd name="connsiteY4" fmla="*/ 1117872 h 1117872"/>
                <a:gd name="connsiteX5" fmla="*/ 789597 w 899474"/>
                <a:gd name="connsiteY5" fmla="*/ 736559 h 1117872"/>
                <a:gd name="connsiteX6" fmla="*/ 792584 w 899474"/>
                <a:gd name="connsiteY6" fmla="*/ 732939 h 1117872"/>
                <a:gd name="connsiteX7" fmla="*/ 899474 w 899474"/>
                <a:gd name="connsiteY7" fmla="*/ 445121 h 1117872"/>
                <a:gd name="connsiteX8" fmla="*/ 449737 w 899474"/>
                <a:gd name="connsiteY8" fmla="*/ 0 h 1117872"/>
                <a:gd name="connsiteX9" fmla="*/ 769957 w 899474"/>
                <a:gd name="connsiteY9" fmla="*/ 714204 h 1117872"/>
                <a:gd name="connsiteX10" fmla="*/ 767332 w 899474"/>
                <a:gd name="connsiteY10" fmla="*/ 717371 h 1117872"/>
                <a:gd name="connsiteX11" fmla="*/ 449737 w 899474"/>
                <a:gd name="connsiteY11" fmla="*/ 1073613 h 1117872"/>
                <a:gd name="connsiteX12" fmla="*/ 132233 w 899474"/>
                <a:gd name="connsiteY12" fmla="*/ 717371 h 1117872"/>
                <a:gd name="connsiteX13" fmla="*/ 129246 w 899474"/>
                <a:gd name="connsiteY13" fmla="*/ 713842 h 1117872"/>
                <a:gd name="connsiteX14" fmla="*/ 29415 w 899474"/>
                <a:gd name="connsiteY14" fmla="*/ 445121 h 1117872"/>
                <a:gd name="connsiteX15" fmla="*/ 449737 w 899474"/>
                <a:gd name="connsiteY15" fmla="*/ 29415 h 1117872"/>
                <a:gd name="connsiteX16" fmla="*/ 870059 w 899474"/>
                <a:gd name="connsiteY16" fmla="*/ 445121 h 1117872"/>
                <a:gd name="connsiteX17" fmla="*/ 769957 w 899474"/>
                <a:gd name="connsiteY17" fmla="*/ 714204 h 1117872"/>
                <a:gd name="connsiteX18" fmla="*/ 485217 w 899474"/>
                <a:gd name="connsiteY18" fmla="*/ 263380 h 1117872"/>
                <a:gd name="connsiteX19" fmla="*/ 295330 w 899474"/>
                <a:gd name="connsiteY19" fmla="*/ 263380 h 1117872"/>
                <a:gd name="connsiteX20" fmla="*/ 295330 w 899474"/>
                <a:gd name="connsiteY20" fmla="*/ 645236 h 1117872"/>
                <a:gd name="connsiteX21" fmla="*/ 265914 w 899474"/>
                <a:gd name="connsiteY21" fmla="*/ 645236 h 1117872"/>
                <a:gd name="connsiteX22" fmla="*/ 265914 w 899474"/>
                <a:gd name="connsiteY22" fmla="*/ 233965 h 1117872"/>
                <a:gd name="connsiteX23" fmla="*/ 514722 w 899474"/>
                <a:gd name="connsiteY23" fmla="*/ 233965 h 1117872"/>
                <a:gd name="connsiteX24" fmla="*/ 514722 w 899474"/>
                <a:gd name="connsiteY24" fmla="*/ 402854 h 1117872"/>
                <a:gd name="connsiteX25" fmla="*/ 485307 w 899474"/>
                <a:gd name="connsiteY25" fmla="*/ 402854 h 1117872"/>
                <a:gd name="connsiteX26" fmla="*/ 485307 w 899474"/>
                <a:gd name="connsiteY26" fmla="*/ 263380 h 1117872"/>
                <a:gd name="connsiteX27" fmla="*/ 424938 w 899474"/>
                <a:gd name="connsiteY27" fmla="*/ 432179 h 1117872"/>
                <a:gd name="connsiteX28" fmla="*/ 633741 w 899474"/>
                <a:gd name="connsiteY28" fmla="*/ 432179 h 1117872"/>
                <a:gd name="connsiteX29" fmla="*/ 633741 w 899474"/>
                <a:gd name="connsiteY29" fmla="*/ 645146 h 1117872"/>
                <a:gd name="connsiteX30" fmla="*/ 604326 w 899474"/>
                <a:gd name="connsiteY30" fmla="*/ 645146 h 1117872"/>
                <a:gd name="connsiteX31" fmla="*/ 604326 w 899474"/>
                <a:gd name="connsiteY31" fmla="*/ 461594 h 1117872"/>
                <a:gd name="connsiteX32" fmla="*/ 454353 w 899474"/>
                <a:gd name="connsiteY32" fmla="*/ 461594 h 1117872"/>
                <a:gd name="connsiteX33" fmla="*/ 454353 w 899474"/>
                <a:gd name="connsiteY33" fmla="*/ 645146 h 1117872"/>
                <a:gd name="connsiteX34" fmla="*/ 424938 w 899474"/>
                <a:gd name="connsiteY34" fmla="*/ 645146 h 1117872"/>
                <a:gd name="connsiteX35" fmla="*/ 424938 w 899474"/>
                <a:gd name="connsiteY35" fmla="*/ 432179 h 111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9474" h="1117872">
                  <a:moveTo>
                    <a:pt x="449737" y="0"/>
                  </a:moveTo>
                  <a:cubicBezTo>
                    <a:pt x="201382" y="0"/>
                    <a:pt x="0" y="199300"/>
                    <a:pt x="0" y="445121"/>
                  </a:cubicBezTo>
                  <a:cubicBezTo>
                    <a:pt x="0" y="554818"/>
                    <a:pt x="40186" y="655101"/>
                    <a:pt x="106891" y="732939"/>
                  </a:cubicBezTo>
                  <a:lnTo>
                    <a:pt x="109877" y="736559"/>
                  </a:lnTo>
                  <a:lnTo>
                    <a:pt x="449737" y="1117872"/>
                  </a:lnTo>
                  <a:lnTo>
                    <a:pt x="789597" y="736559"/>
                  </a:lnTo>
                  <a:lnTo>
                    <a:pt x="792584" y="732939"/>
                  </a:lnTo>
                  <a:cubicBezTo>
                    <a:pt x="859379" y="655101"/>
                    <a:pt x="899474" y="554818"/>
                    <a:pt x="899474" y="445121"/>
                  </a:cubicBezTo>
                  <a:cubicBezTo>
                    <a:pt x="899565" y="199300"/>
                    <a:pt x="698183" y="0"/>
                    <a:pt x="449737" y="0"/>
                  </a:cubicBezTo>
                  <a:close/>
                  <a:moveTo>
                    <a:pt x="769957" y="714204"/>
                  </a:moveTo>
                  <a:lnTo>
                    <a:pt x="767332" y="717371"/>
                  </a:lnTo>
                  <a:lnTo>
                    <a:pt x="449737" y="1073613"/>
                  </a:lnTo>
                  <a:lnTo>
                    <a:pt x="132233" y="717371"/>
                  </a:lnTo>
                  <a:lnTo>
                    <a:pt x="129246" y="713842"/>
                  </a:lnTo>
                  <a:cubicBezTo>
                    <a:pt x="64895" y="638719"/>
                    <a:pt x="29415" y="543323"/>
                    <a:pt x="29415" y="445121"/>
                  </a:cubicBezTo>
                  <a:cubicBezTo>
                    <a:pt x="29415" y="215954"/>
                    <a:pt x="218035" y="29415"/>
                    <a:pt x="449737" y="29415"/>
                  </a:cubicBezTo>
                  <a:cubicBezTo>
                    <a:pt x="681530" y="29415"/>
                    <a:pt x="870059" y="215863"/>
                    <a:pt x="870059" y="445121"/>
                  </a:cubicBezTo>
                  <a:cubicBezTo>
                    <a:pt x="870150" y="543323"/>
                    <a:pt x="834670" y="638719"/>
                    <a:pt x="769957" y="714204"/>
                  </a:cubicBezTo>
                  <a:close/>
                  <a:moveTo>
                    <a:pt x="485217" y="263380"/>
                  </a:moveTo>
                  <a:lnTo>
                    <a:pt x="295330" y="263380"/>
                  </a:lnTo>
                  <a:lnTo>
                    <a:pt x="295330" y="645236"/>
                  </a:lnTo>
                  <a:lnTo>
                    <a:pt x="265914" y="645236"/>
                  </a:lnTo>
                  <a:lnTo>
                    <a:pt x="265914" y="233965"/>
                  </a:lnTo>
                  <a:lnTo>
                    <a:pt x="514722" y="233965"/>
                  </a:lnTo>
                  <a:lnTo>
                    <a:pt x="514722" y="402854"/>
                  </a:lnTo>
                  <a:lnTo>
                    <a:pt x="485307" y="402854"/>
                  </a:lnTo>
                  <a:lnTo>
                    <a:pt x="485307" y="263380"/>
                  </a:lnTo>
                  <a:close/>
                  <a:moveTo>
                    <a:pt x="424938" y="432179"/>
                  </a:moveTo>
                  <a:lnTo>
                    <a:pt x="633741" y="432179"/>
                  </a:lnTo>
                  <a:lnTo>
                    <a:pt x="633741" y="645146"/>
                  </a:lnTo>
                  <a:lnTo>
                    <a:pt x="604326" y="645146"/>
                  </a:lnTo>
                  <a:lnTo>
                    <a:pt x="604326" y="461594"/>
                  </a:lnTo>
                  <a:lnTo>
                    <a:pt x="454353" y="461594"/>
                  </a:lnTo>
                  <a:lnTo>
                    <a:pt x="454353" y="645146"/>
                  </a:lnTo>
                  <a:lnTo>
                    <a:pt x="424938" y="645146"/>
                  </a:lnTo>
                  <a:lnTo>
                    <a:pt x="424938" y="432179"/>
                  </a:lnTo>
                  <a:close/>
                </a:path>
              </a:pathLst>
            </a:custGeom>
            <a:solidFill>
              <a:schemeClr val="tx1"/>
            </a:solidFill>
            <a:ln w="904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252" name="TextBox 251">
            <a:extLst>
              <a:ext uri="{FF2B5EF4-FFF2-40B4-BE49-F238E27FC236}">
                <a16:creationId xmlns:a16="http://schemas.microsoft.com/office/drawing/2014/main" id="{DC498DCC-4A54-D465-139C-6CF024800278}"/>
              </a:ext>
            </a:extLst>
          </p:cNvPr>
          <p:cNvSpPr txBox="1"/>
          <p:nvPr/>
        </p:nvSpPr>
        <p:spPr>
          <a:xfrm>
            <a:off x="2901024" y="4979995"/>
            <a:ext cx="2227769" cy="707061"/>
          </a:xfrm>
          <a:prstGeom prst="rect">
            <a:avLst/>
          </a:prstGeom>
        </p:spPr>
        <p:txBody>
          <a:bodyPr wrap="square" lIns="0" tIns="0" rIns="0" bIns="0" rtlCol="0">
            <a:spAutoFit/>
          </a:bodyPr>
          <a:lstStyle/>
          <a:p>
            <a:pPr algn="ctr" defTabSz="913578">
              <a:lnSpc>
                <a:spcPct val="150000"/>
              </a:lnSpc>
              <a:spcAft>
                <a:spcPts val="600"/>
              </a:spcAft>
              <a:buClr>
                <a:srgbClr val="F2F2F2">
                  <a:lumMod val="50000"/>
                </a:srgbClr>
              </a:buClr>
              <a:defRPr/>
            </a:pP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Central VCF DC Site</a:t>
            </a:r>
            <a:br>
              <a:rPr lang="en-US" sz="1000" dirty="0">
                <a:solidFill>
                  <a:srgbClr val="1B1E35"/>
                </a:solidFill>
                <a:latin typeface="Arial" panose="020B0604020202020204" pitchFamily="34" charset="0"/>
              </a:rPr>
            </a:br>
            <a:endParaRPr lang="en-US" sz="1200" dirty="0">
              <a:solidFill>
                <a:srgbClr val="1B1E35"/>
              </a:solidFill>
              <a:latin typeface="Arial" panose="020B0604020202020204" pitchFamily="34" charset="0"/>
            </a:endParaRPr>
          </a:p>
        </p:txBody>
      </p:sp>
      <p:sp>
        <p:nvSpPr>
          <p:cNvPr id="258" name="TextBox 257">
            <a:extLst>
              <a:ext uri="{FF2B5EF4-FFF2-40B4-BE49-F238E27FC236}">
                <a16:creationId xmlns:a16="http://schemas.microsoft.com/office/drawing/2014/main" id="{31B8130F-2C32-6927-A847-1B0C78F4789E}"/>
              </a:ext>
            </a:extLst>
          </p:cNvPr>
          <p:cNvSpPr txBox="1"/>
          <p:nvPr/>
        </p:nvSpPr>
        <p:spPr>
          <a:xfrm>
            <a:off x="5312603" y="4991427"/>
            <a:ext cx="2889148" cy="1165784"/>
          </a:xfrm>
          <a:prstGeom prst="rect">
            <a:avLst/>
          </a:prstGeom>
        </p:spPr>
        <p:txBody>
          <a:bodyPr wrap="square" lIns="0" tIns="0" rIns="0" bIns="0" rtlCol="0">
            <a:spAutoFit/>
          </a:bodyPr>
          <a:lstStyle/>
          <a:p>
            <a:pPr defTabSz="913578">
              <a:lnSpc>
                <a:spcPct val="150000"/>
              </a:lnSpc>
              <a:spcAft>
                <a:spcPts val="600"/>
              </a:spcAft>
              <a:buClr>
                <a:srgbClr val="F2F2F2">
                  <a:lumMod val="50000"/>
                </a:srgbClr>
              </a:buClr>
              <a:defRPr/>
            </a:pPr>
            <a:br>
              <a:rPr lang="en-US" sz="1000" dirty="0">
                <a:solidFill>
                  <a:srgbClr val="1B1E35"/>
                </a:solidFill>
                <a:latin typeface="Arial" panose="020B0604020202020204" pitchFamily="34" charset="0"/>
              </a:rPr>
            </a:br>
            <a:r>
              <a:rPr lang="en-US" sz="1000" b="1" dirty="0">
                <a:solidFill>
                  <a:schemeClr val="accent2"/>
                </a:solidFill>
                <a:latin typeface="Arial" panose="020B0604020202020204" pitchFamily="34" charset="0"/>
              </a:rPr>
              <a:t>Remote Cluster Example</a:t>
            </a: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Workload Domain: Per site or across sites</a:t>
            </a: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Clusters: Multiple per domain</a:t>
            </a:r>
            <a:br>
              <a:rPr lang="en-US" sz="1000" dirty="0">
                <a:solidFill>
                  <a:srgbClr val="1B1E35"/>
                </a:solidFill>
                <a:latin typeface="Arial" panose="020B0604020202020204" pitchFamily="34" charset="0"/>
              </a:rPr>
            </a:br>
            <a:endParaRPr lang="en-US" sz="1200" dirty="0">
              <a:solidFill>
                <a:srgbClr val="1B1E35"/>
              </a:solidFill>
              <a:latin typeface="Arial" panose="020B0604020202020204" pitchFamily="34" charset="0"/>
            </a:endParaRPr>
          </a:p>
        </p:txBody>
      </p:sp>
      <p:sp>
        <p:nvSpPr>
          <p:cNvPr id="65" name="Rectangle 64">
            <a:extLst>
              <a:ext uri="{FF2B5EF4-FFF2-40B4-BE49-F238E27FC236}">
                <a16:creationId xmlns:a16="http://schemas.microsoft.com/office/drawing/2014/main" id="{62F89B87-8828-779B-B573-517F1FC93AE3}"/>
              </a:ext>
            </a:extLst>
          </p:cNvPr>
          <p:cNvSpPr/>
          <p:nvPr/>
        </p:nvSpPr>
        <p:spPr>
          <a:xfrm>
            <a:off x="3101256" y="2619546"/>
            <a:ext cx="1818335" cy="464347"/>
          </a:xfrm>
          <a:prstGeom prst="rect">
            <a:avLst/>
          </a:prstGeom>
          <a:solidFill>
            <a:schemeClr val="bg1"/>
          </a:solidFill>
          <a:ln w="254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prstTxWarp prst="textNoShape">
              <a:avLst/>
            </a:prstTxWarp>
            <a:noAutofit/>
          </a:bodyPr>
          <a:lstStyle/>
          <a:p>
            <a:pPr algn="ctr">
              <a:spcAft>
                <a:spcPts val="600"/>
              </a:spcAft>
              <a:defRPr/>
            </a:pPr>
            <a:r>
              <a:rPr lang="en-US" sz="1200" dirty="0">
                <a:solidFill>
                  <a:srgbClr val="000001"/>
                </a:solidFill>
                <a:latin typeface="Arial" panose="020B0604020202020204" pitchFamily="34" charset="0"/>
              </a:rPr>
              <a:t>SDDC Manager</a:t>
            </a:r>
          </a:p>
        </p:txBody>
      </p:sp>
      <p:sp>
        <p:nvSpPr>
          <p:cNvPr id="69" name="Rectangle: Rounded Corners 122">
            <a:extLst>
              <a:ext uri="{FF2B5EF4-FFF2-40B4-BE49-F238E27FC236}">
                <a16:creationId xmlns:a16="http://schemas.microsoft.com/office/drawing/2014/main" id="{0C091F68-5D89-FFFC-FC41-1B9164B8679A}"/>
              </a:ext>
            </a:extLst>
          </p:cNvPr>
          <p:cNvSpPr/>
          <p:nvPr/>
        </p:nvSpPr>
        <p:spPr>
          <a:xfrm>
            <a:off x="3022542" y="3306640"/>
            <a:ext cx="1969669" cy="1489055"/>
          </a:xfrm>
          <a:prstGeom prst="roundRect">
            <a:avLst>
              <a:gd name="adj" fmla="val 6821"/>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grpSp>
        <p:nvGrpSpPr>
          <p:cNvPr id="81" name="Group 80">
            <a:extLst>
              <a:ext uri="{FF2B5EF4-FFF2-40B4-BE49-F238E27FC236}">
                <a16:creationId xmlns:a16="http://schemas.microsoft.com/office/drawing/2014/main" id="{21D20C7D-E69F-2DD8-41A3-1D0FAF5F1553}"/>
              </a:ext>
            </a:extLst>
          </p:cNvPr>
          <p:cNvGrpSpPr/>
          <p:nvPr/>
        </p:nvGrpSpPr>
        <p:grpSpPr>
          <a:xfrm>
            <a:off x="3177518" y="3753563"/>
            <a:ext cx="711820" cy="666392"/>
            <a:chOff x="928971" y="4196892"/>
            <a:chExt cx="385619" cy="361009"/>
          </a:xfrm>
          <a:solidFill>
            <a:schemeClr val="accent2"/>
          </a:solidFill>
        </p:grpSpPr>
        <p:sp>
          <p:nvSpPr>
            <p:cNvPr id="88" name="Graphic 47">
              <a:extLst>
                <a:ext uri="{FF2B5EF4-FFF2-40B4-BE49-F238E27FC236}">
                  <a16:creationId xmlns:a16="http://schemas.microsoft.com/office/drawing/2014/main" id="{BF635F45-2A9A-6769-1814-EAB05B791115}"/>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89" name="Graphic 47">
              <a:extLst>
                <a:ext uri="{FF2B5EF4-FFF2-40B4-BE49-F238E27FC236}">
                  <a16:creationId xmlns:a16="http://schemas.microsoft.com/office/drawing/2014/main" id="{34885672-4F2F-096E-695B-1D6013E60484}"/>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90" name="Graphic 47">
              <a:extLst>
                <a:ext uri="{FF2B5EF4-FFF2-40B4-BE49-F238E27FC236}">
                  <a16:creationId xmlns:a16="http://schemas.microsoft.com/office/drawing/2014/main" id="{5A746AD9-70B6-2E81-FEAB-0F6C11FBE002}"/>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70" name="Rectangle 69">
            <a:extLst>
              <a:ext uri="{FF2B5EF4-FFF2-40B4-BE49-F238E27FC236}">
                <a16:creationId xmlns:a16="http://schemas.microsoft.com/office/drawing/2014/main" id="{42441751-7680-A58A-3D42-DD3BEB391A13}"/>
              </a:ext>
            </a:extLst>
          </p:cNvPr>
          <p:cNvSpPr/>
          <p:nvPr/>
        </p:nvSpPr>
        <p:spPr>
          <a:xfrm>
            <a:off x="3296352" y="3362240"/>
            <a:ext cx="1428820" cy="184618"/>
          </a:xfrm>
          <a:prstGeom prst="rect">
            <a:avLst/>
          </a:prstGeom>
        </p:spPr>
        <p:txBody>
          <a:bodyPr wrap="square" lIns="0" tIns="0" rIns="0" bIns="0">
            <a:spAutoFit/>
          </a:bodyPr>
          <a:lstStyle/>
          <a:p>
            <a:pPr algn="ctr" defTabSz="912208">
              <a:defRPr/>
            </a:pPr>
            <a:r>
              <a:rPr lang="en-US" sz="1200" kern="0" dirty="0">
                <a:solidFill>
                  <a:srgbClr val="000001"/>
                </a:solidFill>
                <a:latin typeface="Arial" panose="020B0604020202020204" pitchFamily="34" charset="0"/>
              </a:rPr>
              <a:t>Workload Domain</a:t>
            </a:r>
          </a:p>
        </p:txBody>
      </p:sp>
      <p:sp>
        <p:nvSpPr>
          <p:cNvPr id="125" name="Rectangle: Rounded Corners 122">
            <a:extLst>
              <a:ext uri="{FF2B5EF4-FFF2-40B4-BE49-F238E27FC236}">
                <a16:creationId xmlns:a16="http://schemas.microsoft.com/office/drawing/2014/main" id="{89DE4025-B02F-B04D-9E40-3C34C41759EC}"/>
              </a:ext>
            </a:extLst>
          </p:cNvPr>
          <p:cNvSpPr/>
          <p:nvPr/>
        </p:nvSpPr>
        <p:spPr>
          <a:xfrm>
            <a:off x="3103156" y="3675543"/>
            <a:ext cx="860133" cy="1045925"/>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grpSp>
        <p:nvGrpSpPr>
          <p:cNvPr id="126" name="Group 125">
            <a:extLst>
              <a:ext uri="{FF2B5EF4-FFF2-40B4-BE49-F238E27FC236}">
                <a16:creationId xmlns:a16="http://schemas.microsoft.com/office/drawing/2014/main" id="{9D0BB13E-CD9D-5EDD-920A-1297B24C8F35}"/>
              </a:ext>
            </a:extLst>
          </p:cNvPr>
          <p:cNvGrpSpPr/>
          <p:nvPr/>
        </p:nvGrpSpPr>
        <p:grpSpPr>
          <a:xfrm>
            <a:off x="4120021" y="3753563"/>
            <a:ext cx="711820" cy="666392"/>
            <a:chOff x="928971" y="4196892"/>
            <a:chExt cx="385619" cy="361009"/>
          </a:xfrm>
          <a:solidFill>
            <a:schemeClr val="accent2"/>
          </a:solidFill>
        </p:grpSpPr>
        <p:sp>
          <p:nvSpPr>
            <p:cNvPr id="128" name="Graphic 47">
              <a:extLst>
                <a:ext uri="{FF2B5EF4-FFF2-40B4-BE49-F238E27FC236}">
                  <a16:creationId xmlns:a16="http://schemas.microsoft.com/office/drawing/2014/main" id="{3ACD5410-D69B-F69E-D794-9BDC627E072F}"/>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129" name="Graphic 47">
              <a:extLst>
                <a:ext uri="{FF2B5EF4-FFF2-40B4-BE49-F238E27FC236}">
                  <a16:creationId xmlns:a16="http://schemas.microsoft.com/office/drawing/2014/main" id="{8A619D12-167F-F6E5-9148-03F24D1AE0DA}"/>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130" name="Graphic 47">
              <a:extLst>
                <a:ext uri="{FF2B5EF4-FFF2-40B4-BE49-F238E27FC236}">
                  <a16:creationId xmlns:a16="http://schemas.microsoft.com/office/drawing/2014/main" id="{79255606-4DB4-B292-CBF3-E26F64B92E07}"/>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131" name="Rectangle: Rounded Corners 122">
            <a:extLst>
              <a:ext uri="{FF2B5EF4-FFF2-40B4-BE49-F238E27FC236}">
                <a16:creationId xmlns:a16="http://schemas.microsoft.com/office/drawing/2014/main" id="{F139702D-C85F-72C4-8D5D-4681173CB203}"/>
              </a:ext>
            </a:extLst>
          </p:cNvPr>
          <p:cNvSpPr/>
          <p:nvPr/>
        </p:nvSpPr>
        <p:spPr>
          <a:xfrm>
            <a:off x="4045658" y="3675543"/>
            <a:ext cx="860133" cy="1045925"/>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249" name="Rectangle 248">
            <a:extLst>
              <a:ext uri="{FF2B5EF4-FFF2-40B4-BE49-F238E27FC236}">
                <a16:creationId xmlns:a16="http://schemas.microsoft.com/office/drawing/2014/main" id="{8735A1BE-25DF-1FBC-2A4C-C6F1D1FAC461}"/>
              </a:ext>
            </a:extLst>
          </p:cNvPr>
          <p:cNvSpPr/>
          <p:nvPr/>
        </p:nvSpPr>
        <p:spPr>
          <a:xfrm>
            <a:off x="3705333" y="4503283"/>
            <a:ext cx="1544584" cy="15384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sp>
        <p:nvSpPr>
          <p:cNvPr id="255" name="Rectangle 254">
            <a:extLst>
              <a:ext uri="{FF2B5EF4-FFF2-40B4-BE49-F238E27FC236}">
                <a16:creationId xmlns:a16="http://schemas.microsoft.com/office/drawing/2014/main" id="{C5C54848-0855-5903-7991-ACE9DB9C3417}"/>
              </a:ext>
            </a:extLst>
          </p:cNvPr>
          <p:cNvSpPr/>
          <p:nvPr/>
        </p:nvSpPr>
        <p:spPr>
          <a:xfrm>
            <a:off x="2773404" y="4505965"/>
            <a:ext cx="1544584" cy="15384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sp>
        <p:nvSpPr>
          <p:cNvPr id="9" name="Rectangle 8">
            <a:extLst>
              <a:ext uri="{FF2B5EF4-FFF2-40B4-BE49-F238E27FC236}">
                <a16:creationId xmlns:a16="http://schemas.microsoft.com/office/drawing/2014/main" id="{8F21647A-7BBE-F8E5-25A4-A53EAE841EB8}"/>
              </a:ext>
            </a:extLst>
          </p:cNvPr>
          <p:cNvSpPr/>
          <p:nvPr/>
        </p:nvSpPr>
        <p:spPr>
          <a:xfrm>
            <a:off x="3107883" y="1977174"/>
            <a:ext cx="1818335" cy="464347"/>
          </a:xfrm>
          <a:prstGeom prst="rect">
            <a:avLst/>
          </a:prstGeom>
          <a:solidFill>
            <a:schemeClr val="bg1"/>
          </a:solidFill>
          <a:ln w="254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prstTxWarp prst="textNoShape">
              <a:avLst/>
            </a:prstTxWarp>
            <a:noAutofit/>
          </a:bodyPr>
          <a:lstStyle/>
          <a:p>
            <a:pPr algn="ctr">
              <a:spcAft>
                <a:spcPts val="600"/>
              </a:spcAft>
              <a:defRPr/>
            </a:pPr>
            <a:r>
              <a:rPr lang="en-US" sz="1200" dirty="0">
                <a:solidFill>
                  <a:srgbClr val="000001"/>
                </a:solidFill>
                <a:latin typeface="Arial" panose="020B0604020202020204" pitchFamily="34" charset="0"/>
              </a:rPr>
              <a:t>VCF Operations</a:t>
            </a:r>
          </a:p>
        </p:txBody>
      </p:sp>
      <p:cxnSp>
        <p:nvCxnSpPr>
          <p:cNvPr id="10" name="Straight Connector 9">
            <a:extLst>
              <a:ext uri="{FF2B5EF4-FFF2-40B4-BE49-F238E27FC236}">
                <a16:creationId xmlns:a16="http://schemas.microsoft.com/office/drawing/2014/main" id="{1AC7B21E-9644-1802-7130-624E890E0C20}"/>
              </a:ext>
            </a:extLst>
          </p:cNvPr>
          <p:cNvCxnSpPr>
            <a:cxnSpLocks/>
          </p:cNvCxnSpPr>
          <p:nvPr/>
        </p:nvCxnSpPr>
        <p:spPr bwMode="gray">
          <a:xfrm flipH="1">
            <a:off x="4010776" y="2439419"/>
            <a:ext cx="1" cy="159369"/>
          </a:xfrm>
          <a:prstGeom prst="line">
            <a:avLst/>
          </a:prstGeom>
          <a:ln w="1905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4899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par>
                          <p:cTn id="8" fill="hold">
                            <p:stCondLst>
                              <p:cond delay="500"/>
                            </p:stCondLst>
                            <p:childTnLst>
                              <p:par>
                                <p:cTn id="9" presetID="9" presetClass="entr" presetSubtype="0" fill="hold" grpId="0" nodeType="afterEffect">
                                  <p:stCondLst>
                                    <p:cond delay="500"/>
                                  </p:stCondLst>
                                  <p:childTnLst>
                                    <p:set>
                                      <p:cBhvr>
                                        <p:cTn id="10" dur="1" fill="hold">
                                          <p:stCondLst>
                                            <p:cond delay="0"/>
                                          </p:stCondLst>
                                        </p:cTn>
                                        <p:tgtEl>
                                          <p:spTgt spid="50"/>
                                        </p:tgtEl>
                                        <p:attrNameLst>
                                          <p:attrName>style.visibility</p:attrName>
                                        </p:attrNameLst>
                                      </p:cBhvr>
                                      <p:to>
                                        <p:strVal val="visible"/>
                                      </p:to>
                                    </p:set>
                                    <p:animEffect transition="in" filter="dissolve">
                                      <p:cBhvr>
                                        <p:cTn id="11" dur="1000"/>
                                        <p:tgtEl>
                                          <p:spTgt spid="5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par>
                          <p:cTn id="17" fill="hold">
                            <p:stCondLst>
                              <p:cond delay="500"/>
                            </p:stCondLst>
                            <p:childTnLst>
                              <p:par>
                                <p:cTn id="18" presetID="9" presetClass="entr" presetSubtype="0" fill="hold" grpId="0" nodeType="afterEffect">
                                  <p:stCondLst>
                                    <p:cond delay="500"/>
                                  </p:stCondLst>
                                  <p:childTnLst>
                                    <p:set>
                                      <p:cBhvr>
                                        <p:cTn id="19" dur="1" fill="hold">
                                          <p:stCondLst>
                                            <p:cond delay="0"/>
                                          </p:stCondLst>
                                        </p:cTn>
                                        <p:tgtEl>
                                          <p:spTgt spid="258"/>
                                        </p:tgtEl>
                                        <p:attrNameLst>
                                          <p:attrName>style.visibility</p:attrName>
                                        </p:attrNameLst>
                                      </p:cBhvr>
                                      <p:to>
                                        <p:strVal val="visible"/>
                                      </p:to>
                                    </p:set>
                                    <p:animEffect transition="in" filter="dissolve">
                                      <p:cBhvr>
                                        <p:cTn id="20" dur="1000"/>
                                        <p:tgtEl>
                                          <p:spTgt spid="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25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45322-EEC5-4B4F-3C2E-392269798B6D}"/>
              </a:ext>
            </a:extLst>
          </p:cNvPr>
          <p:cNvSpPr>
            <a:spLocks noGrp="1"/>
          </p:cNvSpPr>
          <p:nvPr>
            <p:ph type="title"/>
          </p:nvPr>
        </p:nvSpPr>
        <p:spPr/>
        <p:txBody>
          <a:bodyPr/>
          <a:lstStyle/>
          <a:p>
            <a:r>
              <a:rPr lang="en-US" dirty="0"/>
              <a:t>VCF Design</a:t>
            </a:r>
          </a:p>
        </p:txBody>
      </p:sp>
      <p:sp>
        <p:nvSpPr>
          <p:cNvPr id="3" name="Subtitle 2">
            <a:extLst>
              <a:ext uri="{FF2B5EF4-FFF2-40B4-BE49-F238E27FC236}">
                <a16:creationId xmlns:a16="http://schemas.microsoft.com/office/drawing/2014/main" id="{82E61524-8D02-AD05-8413-D99714EBDB64}"/>
              </a:ext>
            </a:extLst>
          </p:cNvPr>
          <p:cNvSpPr>
            <a:spLocks noGrp="1"/>
          </p:cNvSpPr>
          <p:nvPr>
            <p:ph type="subTitle" idx="10"/>
          </p:nvPr>
        </p:nvSpPr>
        <p:spPr/>
        <p:txBody>
          <a:bodyPr/>
          <a:lstStyle/>
          <a:p>
            <a:r>
              <a:rPr lang="en-US" dirty="0"/>
              <a:t>Logical Design - VCF Fleet in a Single Site with Minimal Footprint</a:t>
            </a:r>
          </a:p>
        </p:txBody>
      </p:sp>
      <p:pic>
        <p:nvPicPr>
          <p:cNvPr id="7" name="Content Placeholder 6">
            <a:extLst>
              <a:ext uri="{FF2B5EF4-FFF2-40B4-BE49-F238E27FC236}">
                <a16:creationId xmlns:a16="http://schemas.microsoft.com/office/drawing/2014/main" id="{C2B88728-60D8-4775-FD71-785A3B637460}"/>
              </a:ext>
            </a:extLst>
          </p:cNvPr>
          <p:cNvPicPr>
            <a:picLocks noGrp="1" noChangeAspect="1"/>
          </p:cNvPicPr>
          <p:nvPr>
            <p:ph sz="quarter" idx="14"/>
          </p:nvPr>
        </p:nvPicPr>
        <p:blipFill>
          <a:blip r:embed="rId2"/>
          <a:stretch>
            <a:fillRect/>
          </a:stretch>
        </p:blipFill>
        <p:spPr>
          <a:xfrm>
            <a:off x="592866" y="1600200"/>
            <a:ext cx="7410450" cy="4167095"/>
          </a:xfrm>
        </p:spPr>
      </p:pic>
      <p:sp>
        <p:nvSpPr>
          <p:cNvPr id="5" name="Text Placeholder 4">
            <a:extLst>
              <a:ext uri="{FF2B5EF4-FFF2-40B4-BE49-F238E27FC236}">
                <a16:creationId xmlns:a16="http://schemas.microsoft.com/office/drawing/2014/main" id="{F9876CF1-FB34-1231-5F98-68E03C6E2C8B}"/>
              </a:ext>
            </a:extLst>
          </p:cNvPr>
          <p:cNvSpPr>
            <a:spLocks noGrp="1"/>
          </p:cNvSpPr>
          <p:nvPr>
            <p:ph type="body" sz="quarter" idx="17"/>
          </p:nvPr>
        </p:nvSpPr>
        <p:spPr>
          <a:xfrm>
            <a:off x="8380413" y="1402233"/>
            <a:ext cx="3808412" cy="4572000"/>
          </a:xfrm>
        </p:spPr>
        <p:txBody>
          <a:bodyPr/>
          <a:lstStyle/>
          <a:p>
            <a:pPr>
              <a:spcBef>
                <a:spcPts val="300"/>
              </a:spcBef>
            </a:pPr>
            <a:r>
              <a:rPr lang="en-US" dirty="0"/>
              <a:t>Physical Site Configuration:</a:t>
            </a:r>
          </a:p>
          <a:p>
            <a:pPr lvl="1">
              <a:spcBef>
                <a:spcPts val="300"/>
              </a:spcBef>
            </a:pPr>
            <a:r>
              <a:rPr lang="en-US" dirty="0"/>
              <a:t>Single Site (Single Instance)</a:t>
            </a:r>
          </a:p>
          <a:p>
            <a:pPr>
              <a:spcBef>
                <a:spcPts val="300"/>
              </a:spcBef>
            </a:pPr>
            <a:r>
              <a:rPr lang="en-US" dirty="0"/>
              <a:t>Availability</a:t>
            </a:r>
          </a:p>
          <a:p>
            <a:pPr lvl="1">
              <a:spcBef>
                <a:spcPts val="300"/>
              </a:spcBef>
            </a:pPr>
            <a:r>
              <a:rPr lang="en-US" dirty="0"/>
              <a:t>Tolerates failure of a single ESX host</a:t>
            </a:r>
          </a:p>
          <a:p>
            <a:pPr lvl="1">
              <a:spcBef>
                <a:spcPts val="300"/>
              </a:spcBef>
            </a:pPr>
            <a:r>
              <a:rPr lang="en-CA" b="0" i="0" dirty="0">
                <a:effectLst/>
              </a:rPr>
              <a:t>Tolerates failure of an individual network path</a:t>
            </a:r>
          </a:p>
          <a:p>
            <a:pPr>
              <a:spcBef>
                <a:spcPts val="300"/>
              </a:spcBef>
            </a:pPr>
            <a:r>
              <a:rPr lang="en-US" dirty="0"/>
              <a:t>Isolation</a:t>
            </a:r>
          </a:p>
          <a:p>
            <a:pPr lvl="1">
              <a:spcBef>
                <a:spcPts val="300"/>
              </a:spcBef>
            </a:pPr>
            <a:r>
              <a:rPr lang="en-US" dirty="0"/>
              <a:t>Hypervisor-Based (Logical Isolation)</a:t>
            </a:r>
          </a:p>
          <a:p>
            <a:pPr lvl="1">
              <a:spcBef>
                <a:spcPts val="300"/>
              </a:spcBef>
            </a:pPr>
            <a:r>
              <a:rPr lang="en-US" dirty="0"/>
              <a:t>Tenant / Tenant Isolation</a:t>
            </a:r>
          </a:p>
          <a:p>
            <a:pPr>
              <a:spcBef>
                <a:spcPts val="300"/>
              </a:spcBef>
            </a:pPr>
            <a:r>
              <a:rPr lang="en-US" dirty="0"/>
              <a:t>Recoverability</a:t>
            </a:r>
          </a:p>
          <a:p>
            <a:pPr lvl="1">
              <a:spcBef>
                <a:spcPts val="300"/>
              </a:spcBef>
            </a:pPr>
            <a:r>
              <a:rPr lang="en-CA" b="0" i="0" dirty="0">
                <a:effectLst/>
              </a:rPr>
              <a:t>Not well suited for adding a disaster recovery solution. </a:t>
            </a:r>
          </a:p>
          <a:p>
            <a:pPr lvl="1">
              <a:spcBef>
                <a:spcPts val="300"/>
              </a:spcBef>
            </a:pPr>
            <a:r>
              <a:rPr lang="en-CA" b="0" i="0" dirty="0">
                <a:effectLst/>
              </a:rPr>
              <a:t>Backup and restore functionality can provide a recovery option</a:t>
            </a:r>
            <a:endParaRPr lang="en-US" dirty="0"/>
          </a:p>
        </p:txBody>
      </p:sp>
    </p:spTree>
    <p:extLst>
      <p:ext uri="{BB962C8B-B14F-4D97-AF65-F5344CB8AC3E}">
        <p14:creationId xmlns:p14="http://schemas.microsoft.com/office/powerpoint/2010/main" val="298107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E4948-6899-71AD-4C71-09E5F47DD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D71EFE-A462-FB3B-46B7-EE7523D67377}"/>
              </a:ext>
            </a:extLst>
          </p:cNvPr>
          <p:cNvSpPr>
            <a:spLocks noGrp="1"/>
          </p:cNvSpPr>
          <p:nvPr>
            <p:ph type="title"/>
          </p:nvPr>
        </p:nvSpPr>
        <p:spPr/>
        <p:txBody>
          <a:bodyPr/>
          <a:lstStyle/>
          <a:p>
            <a:r>
              <a:rPr lang="en-US" dirty="0"/>
              <a:t>VCF Design</a:t>
            </a:r>
          </a:p>
        </p:txBody>
      </p:sp>
      <p:sp>
        <p:nvSpPr>
          <p:cNvPr id="3" name="Subtitle 2">
            <a:extLst>
              <a:ext uri="{FF2B5EF4-FFF2-40B4-BE49-F238E27FC236}">
                <a16:creationId xmlns:a16="http://schemas.microsoft.com/office/drawing/2014/main" id="{6FDFB4A8-C391-87C6-BFDB-265E1482EBC3}"/>
              </a:ext>
            </a:extLst>
          </p:cNvPr>
          <p:cNvSpPr>
            <a:spLocks noGrp="1"/>
          </p:cNvSpPr>
          <p:nvPr>
            <p:ph type="subTitle" idx="10"/>
          </p:nvPr>
        </p:nvSpPr>
        <p:spPr/>
        <p:txBody>
          <a:bodyPr/>
          <a:lstStyle/>
          <a:p>
            <a:r>
              <a:rPr lang="en-US" dirty="0"/>
              <a:t>Logical Design - VCF Fleet in a Single Site</a:t>
            </a:r>
          </a:p>
        </p:txBody>
      </p:sp>
      <p:sp>
        <p:nvSpPr>
          <p:cNvPr id="5" name="Text Placeholder 4">
            <a:extLst>
              <a:ext uri="{FF2B5EF4-FFF2-40B4-BE49-F238E27FC236}">
                <a16:creationId xmlns:a16="http://schemas.microsoft.com/office/drawing/2014/main" id="{A35814BB-826B-7AC0-7181-96B3CF1DB44F}"/>
              </a:ext>
            </a:extLst>
          </p:cNvPr>
          <p:cNvSpPr>
            <a:spLocks noGrp="1"/>
          </p:cNvSpPr>
          <p:nvPr>
            <p:ph type="body" sz="quarter" idx="17"/>
          </p:nvPr>
        </p:nvSpPr>
        <p:spPr>
          <a:xfrm>
            <a:off x="8380413" y="1282045"/>
            <a:ext cx="3808412" cy="4692188"/>
          </a:xfrm>
        </p:spPr>
        <p:txBody>
          <a:bodyPr/>
          <a:lstStyle/>
          <a:p>
            <a:pPr>
              <a:spcBef>
                <a:spcPts val="300"/>
              </a:spcBef>
            </a:pPr>
            <a:r>
              <a:rPr lang="en-US" dirty="0"/>
              <a:t>Physical Site Configuration:</a:t>
            </a:r>
          </a:p>
          <a:p>
            <a:pPr lvl="1">
              <a:spcBef>
                <a:spcPts val="300"/>
              </a:spcBef>
            </a:pPr>
            <a:r>
              <a:rPr lang="en-US" dirty="0"/>
              <a:t>Single Site (Single Instance)</a:t>
            </a:r>
          </a:p>
          <a:p>
            <a:pPr>
              <a:spcBef>
                <a:spcPts val="300"/>
              </a:spcBef>
            </a:pPr>
            <a:r>
              <a:rPr lang="en-US" dirty="0"/>
              <a:t>Availability</a:t>
            </a:r>
          </a:p>
          <a:p>
            <a:pPr lvl="1">
              <a:spcBef>
                <a:spcPts val="300"/>
              </a:spcBef>
            </a:pPr>
            <a:r>
              <a:rPr lang="en-US" dirty="0"/>
              <a:t>Tolerates failure of a single ESX host</a:t>
            </a:r>
          </a:p>
          <a:p>
            <a:pPr lvl="1">
              <a:spcBef>
                <a:spcPts val="300"/>
              </a:spcBef>
            </a:pPr>
            <a:r>
              <a:rPr lang="en-CA" b="0" i="0" dirty="0">
                <a:effectLst/>
              </a:rPr>
              <a:t>Tolerates failure of an individual network path</a:t>
            </a:r>
          </a:p>
          <a:p>
            <a:pPr lvl="1">
              <a:spcBef>
                <a:spcPts val="300"/>
              </a:spcBef>
            </a:pPr>
            <a:r>
              <a:rPr lang="en-CA" b="0" i="0" dirty="0">
                <a:effectLst/>
              </a:rPr>
              <a:t>Tolerates failure of a single rack *</a:t>
            </a:r>
          </a:p>
          <a:p>
            <a:pPr lvl="1">
              <a:spcBef>
                <a:spcPts val="300"/>
              </a:spcBef>
            </a:pPr>
            <a:r>
              <a:rPr lang="en-CA" b="0" i="0" dirty="0">
                <a:effectLst/>
              </a:rPr>
              <a:t>Tolerates failure of a single management component</a:t>
            </a:r>
          </a:p>
          <a:p>
            <a:pPr>
              <a:spcBef>
                <a:spcPts val="300"/>
              </a:spcBef>
            </a:pPr>
            <a:r>
              <a:rPr lang="en-US" dirty="0"/>
              <a:t>Isolation</a:t>
            </a:r>
          </a:p>
          <a:p>
            <a:pPr lvl="1">
              <a:spcBef>
                <a:spcPts val="300"/>
              </a:spcBef>
            </a:pPr>
            <a:r>
              <a:rPr lang="en-US" dirty="0"/>
              <a:t>Hypervisor-Based (Logical Isolation)</a:t>
            </a:r>
          </a:p>
          <a:p>
            <a:pPr lvl="1">
              <a:spcBef>
                <a:spcPts val="300"/>
              </a:spcBef>
            </a:pPr>
            <a:r>
              <a:rPr lang="en-US" dirty="0"/>
              <a:t>Network traffic type isolation</a:t>
            </a:r>
          </a:p>
          <a:p>
            <a:pPr lvl="1">
              <a:spcBef>
                <a:spcPts val="300"/>
              </a:spcBef>
            </a:pPr>
            <a:r>
              <a:rPr lang="en-US" dirty="0"/>
              <a:t>Cluster-based (physical isolation)</a:t>
            </a:r>
          </a:p>
          <a:p>
            <a:pPr lvl="1">
              <a:spcBef>
                <a:spcPts val="300"/>
              </a:spcBef>
            </a:pPr>
            <a:r>
              <a:rPr lang="en-US" dirty="0"/>
              <a:t>Tenant / Tenant Isolation</a:t>
            </a:r>
          </a:p>
          <a:p>
            <a:pPr>
              <a:spcBef>
                <a:spcPts val="300"/>
              </a:spcBef>
            </a:pPr>
            <a:r>
              <a:rPr lang="en-US" dirty="0"/>
              <a:t>Recoverability</a:t>
            </a:r>
          </a:p>
          <a:p>
            <a:pPr lvl="1">
              <a:spcBef>
                <a:spcPts val="300"/>
              </a:spcBef>
            </a:pPr>
            <a:r>
              <a:rPr lang="en-CA" b="0" i="0" dirty="0">
                <a:effectLst/>
              </a:rPr>
              <a:t>Not well suited for adding a disaster recovery solution. </a:t>
            </a:r>
          </a:p>
          <a:p>
            <a:pPr lvl="1">
              <a:spcBef>
                <a:spcPts val="300"/>
              </a:spcBef>
            </a:pPr>
            <a:r>
              <a:rPr lang="en-CA" b="0" i="0" dirty="0">
                <a:effectLst/>
              </a:rPr>
              <a:t>Backup and restore functionality can provide a recovery option</a:t>
            </a:r>
            <a:endParaRPr lang="en-US" dirty="0"/>
          </a:p>
        </p:txBody>
      </p:sp>
      <p:pic>
        <p:nvPicPr>
          <p:cNvPr id="9" name="Content Placeholder 8">
            <a:extLst>
              <a:ext uri="{FF2B5EF4-FFF2-40B4-BE49-F238E27FC236}">
                <a16:creationId xmlns:a16="http://schemas.microsoft.com/office/drawing/2014/main" id="{91A3D6AF-B846-7497-1875-F6E83B808208}"/>
              </a:ext>
            </a:extLst>
          </p:cNvPr>
          <p:cNvPicPr>
            <a:picLocks noGrp="1" noChangeAspect="1"/>
          </p:cNvPicPr>
          <p:nvPr>
            <p:ph sz="quarter" idx="14"/>
          </p:nvPr>
        </p:nvPicPr>
        <p:blipFill>
          <a:blip r:embed="rId2"/>
          <a:stretch>
            <a:fillRect/>
          </a:stretch>
        </p:blipFill>
        <p:spPr>
          <a:xfrm>
            <a:off x="592866" y="1345452"/>
            <a:ext cx="7410450" cy="4167095"/>
          </a:xfrm>
        </p:spPr>
      </p:pic>
    </p:spTree>
    <p:extLst>
      <p:ext uri="{BB962C8B-B14F-4D97-AF65-F5344CB8AC3E}">
        <p14:creationId xmlns:p14="http://schemas.microsoft.com/office/powerpoint/2010/main" val="2667348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4200-E7F6-FD56-98F8-2F9CCBD13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0876B-2253-E6FE-7EC9-3D815BCA573D}"/>
              </a:ext>
            </a:extLst>
          </p:cNvPr>
          <p:cNvSpPr>
            <a:spLocks noGrp="1"/>
          </p:cNvSpPr>
          <p:nvPr>
            <p:ph type="title"/>
          </p:nvPr>
        </p:nvSpPr>
        <p:spPr/>
        <p:txBody>
          <a:bodyPr/>
          <a:lstStyle/>
          <a:p>
            <a:r>
              <a:rPr lang="en-US" dirty="0"/>
              <a:t>VCF Design</a:t>
            </a:r>
          </a:p>
        </p:txBody>
      </p:sp>
      <p:sp>
        <p:nvSpPr>
          <p:cNvPr id="3" name="Subtitle 2">
            <a:extLst>
              <a:ext uri="{FF2B5EF4-FFF2-40B4-BE49-F238E27FC236}">
                <a16:creationId xmlns:a16="http://schemas.microsoft.com/office/drawing/2014/main" id="{B8141977-00EF-EE1B-7AD8-18F097B4337E}"/>
              </a:ext>
            </a:extLst>
          </p:cNvPr>
          <p:cNvSpPr>
            <a:spLocks noGrp="1"/>
          </p:cNvSpPr>
          <p:nvPr>
            <p:ph type="subTitle" idx="10"/>
          </p:nvPr>
        </p:nvSpPr>
        <p:spPr/>
        <p:txBody>
          <a:bodyPr/>
          <a:lstStyle/>
          <a:p>
            <a:r>
              <a:rPr lang="en-US" dirty="0"/>
              <a:t>Logical Design - VCF Fleet with Multiple Sites in a Single Region</a:t>
            </a:r>
          </a:p>
        </p:txBody>
      </p:sp>
      <p:sp>
        <p:nvSpPr>
          <p:cNvPr id="5" name="Text Placeholder 4">
            <a:extLst>
              <a:ext uri="{FF2B5EF4-FFF2-40B4-BE49-F238E27FC236}">
                <a16:creationId xmlns:a16="http://schemas.microsoft.com/office/drawing/2014/main" id="{4DBE2662-9D07-FABD-4294-A4826F69D356}"/>
              </a:ext>
            </a:extLst>
          </p:cNvPr>
          <p:cNvSpPr>
            <a:spLocks noGrp="1"/>
          </p:cNvSpPr>
          <p:nvPr>
            <p:ph type="body" sz="quarter" idx="17"/>
          </p:nvPr>
        </p:nvSpPr>
        <p:spPr>
          <a:xfrm>
            <a:off x="8380413" y="1282045"/>
            <a:ext cx="3808412" cy="4692188"/>
          </a:xfrm>
        </p:spPr>
        <p:txBody>
          <a:bodyPr/>
          <a:lstStyle/>
          <a:p>
            <a:pPr>
              <a:spcBef>
                <a:spcPts val="300"/>
              </a:spcBef>
            </a:pPr>
            <a:r>
              <a:rPr lang="en-US" sz="1400" dirty="0"/>
              <a:t>Physical Site Configuration:</a:t>
            </a:r>
          </a:p>
          <a:p>
            <a:pPr lvl="1">
              <a:spcBef>
                <a:spcPts val="300"/>
              </a:spcBef>
            </a:pPr>
            <a:r>
              <a:rPr lang="en-US" sz="1200" dirty="0"/>
              <a:t>Multiple Sites within a single region (Single instance, stretched cluster between the sites for maximum availability)</a:t>
            </a:r>
          </a:p>
          <a:p>
            <a:pPr>
              <a:spcBef>
                <a:spcPts val="300"/>
              </a:spcBef>
            </a:pPr>
            <a:r>
              <a:rPr lang="en-US" sz="1400" dirty="0"/>
              <a:t>Availability</a:t>
            </a:r>
          </a:p>
          <a:p>
            <a:pPr lvl="1">
              <a:spcBef>
                <a:spcPts val="300"/>
              </a:spcBef>
            </a:pPr>
            <a:r>
              <a:rPr lang="en-US" sz="1200" dirty="0"/>
              <a:t>Tolerates failure of a single ESX host</a:t>
            </a:r>
          </a:p>
          <a:p>
            <a:pPr lvl="1">
              <a:spcBef>
                <a:spcPts val="300"/>
              </a:spcBef>
            </a:pPr>
            <a:r>
              <a:rPr lang="en-CA" sz="1200" b="0" i="0" dirty="0">
                <a:effectLst/>
              </a:rPr>
              <a:t>Tolerates failure of an individual network path</a:t>
            </a:r>
          </a:p>
          <a:p>
            <a:pPr lvl="1">
              <a:spcBef>
                <a:spcPts val="300"/>
              </a:spcBef>
            </a:pPr>
            <a:r>
              <a:rPr lang="en-CA" sz="1200" b="0" i="0" dirty="0">
                <a:effectLst/>
              </a:rPr>
              <a:t>Tolerates failure of a single rack </a:t>
            </a:r>
            <a:r>
              <a:rPr lang="en-CA" sz="1200" dirty="0"/>
              <a:t>(vSAN Stretch Cluster)</a:t>
            </a:r>
            <a:endParaRPr lang="en-CA" sz="1200" b="0" i="0" dirty="0">
              <a:effectLst/>
            </a:endParaRPr>
          </a:p>
          <a:p>
            <a:pPr lvl="1">
              <a:spcBef>
                <a:spcPts val="300"/>
              </a:spcBef>
            </a:pPr>
            <a:r>
              <a:rPr lang="en-CA" sz="1200" b="0" i="0" dirty="0">
                <a:effectLst/>
              </a:rPr>
              <a:t>Tolerates failure of a single management component</a:t>
            </a:r>
          </a:p>
          <a:p>
            <a:pPr lvl="1">
              <a:spcBef>
                <a:spcPts val="300"/>
              </a:spcBef>
            </a:pPr>
            <a:r>
              <a:rPr lang="en-CA" sz="1200" b="0" i="0" dirty="0">
                <a:effectLst/>
              </a:rPr>
              <a:t>Tolerates failure of a single availability zone</a:t>
            </a:r>
          </a:p>
          <a:p>
            <a:pPr>
              <a:spcBef>
                <a:spcPts val="300"/>
              </a:spcBef>
            </a:pPr>
            <a:r>
              <a:rPr lang="en-US" sz="1400" dirty="0"/>
              <a:t>Isolation</a:t>
            </a:r>
          </a:p>
          <a:p>
            <a:pPr lvl="1">
              <a:spcBef>
                <a:spcPts val="300"/>
              </a:spcBef>
            </a:pPr>
            <a:r>
              <a:rPr lang="en-US" sz="1200" dirty="0"/>
              <a:t>Hypervisor-Based (Logical Isolation)</a:t>
            </a:r>
          </a:p>
          <a:p>
            <a:pPr lvl="1">
              <a:spcBef>
                <a:spcPts val="300"/>
              </a:spcBef>
            </a:pPr>
            <a:r>
              <a:rPr lang="en-US" sz="1200" dirty="0"/>
              <a:t>Network traffic type isolation</a:t>
            </a:r>
          </a:p>
          <a:p>
            <a:pPr lvl="1">
              <a:spcBef>
                <a:spcPts val="300"/>
              </a:spcBef>
            </a:pPr>
            <a:r>
              <a:rPr lang="en-US" sz="1200" dirty="0"/>
              <a:t>Cluster-based (physical isolation)</a:t>
            </a:r>
          </a:p>
          <a:p>
            <a:pPr lvl="1">
              <a:spcBef>
                <a:spcPts val="300"/>
              </a:spcBef>
            </a:pPr>
            <a:r>
              <a:rPr lang="en-US" sz="1200" dirty="0"/>
              <a:t>Tenant / Tenant Isolation</a:t>
            </a:r>
          </a:p>
          <a:p>
            <a:pPr>
              <a:spcBef>
                <a:spcPts val="300"/>
              </a:spcBef>
            </a:pPr>
            <a:r>
              <a:rPr lang="en-US" sz="1400" dirty="0"/>
              <a:t>Recoverability</a:t>
            </a:r>
          </a:p>
          <a:p>
            <a:pPr lvl="1">
              <a:spcBef>
                <a:spcPts val="300"/>
              </a:spcBef>
            </a:pPr>
            <a:r>
              <a:rPr lang="en-CA" sz="1200" dirty="0"/>
              <a:t>Recovery to a second site Available.</a:t>
            </a:r>
          </a:p>
          <a:p>
            <a:pPr lvl="1">
              <a:spcBef>
                <a:spcPts val="300"/>
              </a:spcBef>
            </a:pPr>
            <a:r>
              <a:rPr lang="en-CA" sz="1200" b="0" i="0" dirty="0">
                <a:effectLst/>
              </a:rPr>
              <a:t>Backup and restore functionality can provide a recovery option</a:t>
            </a:r>
            <a:endParaRPr lang="en-US" sz="1200" dirty="0"/>
          </a:p>
        </p:txBody>
      </p:sp>
      <p:pic>
        <p:nvPicPr>
          <p:cNvPr id="8" name="Content Placeholder 7">
            <a:extLst>
              <a:ext uri="{FF2B5EF4-FFF2-40B4-BE49-F238E27FC236}">
                <a16:creationId xmlns:a16="http://schemas.microsoft.com/office/drawing/2014/main" id="{D4DFB167-5D37-955F-5167-E66D3D783DDB}"/>
              </a:ext>
            </a:extLst>
          </p:cNvPr>
          <p:cNvPicPr>
            <a:picLocks noGrp="1" noChangeAspect="1"/>
          </p:cNvPicPr>
          <p:nvPr>
            <p:ph sz="quarter" idx="14"/>
          </p:nvPr>
        </p:nvPicPr>
        <p:blipFill>
          <a:blip r:embed="rId2"/>
          <a:stretch>
            <a:fillRect/>
          </a:stretch>
        </p:blipFill>
        <p:spPr>
          <a:xfrm>
            <a:off x="579809" y="1544591"/>
            <a:ext cx="7410450" cy="4167095"/>
          </a:xfrm>
        </p:spPr>
      </p:pic>
    </p:spTree>
    <p:extLst>
      <p:ext uri="{BB962C8B-B14F-4D97-AF65-F5344CB8AC3E}">
        <p14:creationId xmlns:p14="http://schemas.microsoft.com/office/powerpoint/2010/main" val="1012489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89F62-94C8-4D48-8F18-A946A5B1A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5E7B89-5A6E-87F3-9D95-6C9D55D35A7B}"/>
              </a:ext>
            </a:extLst>
          </p:cNvPr>
          <p:cNvSpPr>
            <a:spLocks noGrp="1"/>
          </p:cNvSpPr>
          <p:nvPr>
            <p:ph type="title"/>
          </p:nvPr>
        </p:nvSpPr>
        <p:spPr/>
        <p:txBody>
          <a:bodyPr/>
          <a:lstStyle/>
          <a:p>
            <a:r>
              <a:rPr lang="en-US" dirty="0"/>
              <a:t>VCF Design</a:t>
            </a:r>
          </a:p>
        </p:txBody>
      </p:sp>
      <p:sp>
        <p:nvSpPr>
          <p:cNvPr id="3" name="Subtitle 2">
            <a:extLst>
              <a:ext uri="{FF2B5EF4-FFF2-40B4-BE49-F238E27FC236}">
                <a16:creationId xmlns:a16="http://schemas.microsoft.com/office/drawing/2014/main" id="{E51714E7-964D-ABEC-9495-75EDC34680EC}"/>
              </a:ext>
            </a:extLst>
          </p:cNvPr>
          <p:cNvSpPr>
            <a:spLocks noGrp="1"/>
          </p:cNvSpPr>
          <p:nvPr>
            <p:ph type="subTitle" idx="10"/>
          </p:nvPr>
        </p:nvSpPr>
        <p:spPr/>
        <p:txBody>
          <a:bodyPr/>
          <a:lstStyle/>
          <a:p>
            <a:r>
              <a:rPr lang="en-US" dirty="0"/>
              <a:t>Logical Design - VCF Fleet with Multiple Sites Across Multiple Regions</a:t>
            </a:r>
          </a:p>
        </p:txBody>
      </p:sp>
      <p:pic>
        <p:nvPicPr>
          <p:cNvPr id="7" name="Content Placeholder 6">
            <a:extLst>
              <a:ext uri="{FF2B5EF4-FFF2-40B4-BE49-F238E27FC236}">
                <a16:creationId xmlns:a16="http://schemas.microsoft.com/office/drawing/2014/main" id="{601180D6-DDF2-64AD-3B8A-CB6BA2BE3937}"/>
              </a:ext>
            </a:extLst>
          </p:cNvPr>
          <p:cNvPicPr>
            <a:picLocks noGrp="1" noChangeAspect="1"/>
          </p:cNvPicPr>
          <p:nvPr>
            <p:ph sz="quarter" idx="14"/>
          </p:nvPr>
        </p:nvPicPr>
        <p:blipFill>
          <a:blip r:embed="rId2">
            <a:extLst>
              <a:ext uri="{96DAC541-7B7A-43D3-8B79-37D633B846F1}">
                <asvg:svgBlip xmlns:asvg="http://schemas.microsoft.com/office/drawing/2016/SVG/main" r:embed="rId3"/>
              </a:ext>
            </a:extLst>
          </a:blip>
          <a:stretch>
            <a:fillRect/>
          </a:stretch>
        </p:blipFill>
        <p:spPr>
          <a:xfrm>
            <a:off x="595313" y="1920238"/>
            <a:ext cx="7410450" cy="3931923"/>
          </a:xfrm>
        </p:spPr>
      </p:pic>
      <p:sp>
        <p:nvSpPr>
          <p:cNvPr id="11" name="Text Placeholder 4">
            <a:extLst>
              <a:ext uri="{FF2B5EF4-FFF2-40B4-BE49-F238E27FC236}">
                <a16:creationId xmlns:a16="http://schemas.microsoft.com/office/drawing/2014/main" id="{FF80E7DA-D1BC-C871-B3A6-B25C9C04E6A0}"/>
              </a:ext>
            </a:extLst>
          </p:cNvPr>
          <p:cNvSpPr>
            <a:spLocks noGrp="1"/>
          </p:cNvSpPr>
          <p:nvPr>
            <p:ph type="body" sz="quarter" idx="17"/>
          </p:nvPr>
        </p:nvSpPr>
        <p:spPr>
          <a:xfrm>
            <a:off x="8380413" y="1358667"/>
            <a:ext cx="3808412" cy="4572000"/>
          </a:xfrm>
        </p:spPr>
        <p:txBody>
          <a:bodyPr/>
          <a:lstStyle/>
          <a:p>
            <a:pPr>
              <a:spcBef>
                <a:spcPts val="300"/>
              </a:spcBef>
            </a:pPr>
            <a:r>
              <a:rPr lang="en-US" sz="1400" dirty="0"/>
              <a:t>Physical Site Configuration:</a:t>
            </a:r>
          </a:p>
          <a:p>
            <a:pPr lvl="1">
              <a:spcBef>
                <a:spcPts val="300"/>
              </a:spcBef>
            </a:pPr>
            <a:r>
              <a:rPr lang="en-US" sz="1200" dirty="0"/>
              <a:t>Multiple Sites (across multiple regions)</a:t>
            </a:r>
          </a:p>
          <a:p>
            <a:pPr>
              <a:spcBef>
                <a:spcPts val="300"/>
              </a:spcBef>
            </a:pPr>
            <a:r>
              <a:rPr lang="en-US" sz="1400" dirty="0"/>
              <a:t>Availability</a:t>
            </a:r>
          </a:p>
          <a:p>
            <a:pPr lvl="1">
              <a:spcBef>
                <a:spcPts val="300"/>
              </a:spcBef>
            </a:pPr>
            <a:r>
              <a:rPr lang="en-US" sz="1200" dirty="0"/>
              <a:t>Tolerates failure of a single ESX host</a:t>
            </a:r>
          </a:p>
          <a:p>
            <a:pPr lvl="1">
              <a:spcBef>
                <a:spcPts val="300"/>
              </a:spcBef>
            </a:pPr>
            <a:r>
              <a:rPr lang="en-CA" sz="1200" b="0" i="0" dirty="0">
                <a:effectLst/>
              </a:rPr>
              <a:t>Tolerates failure of an individual network path</a:t>
            </a:r>
          </a:p>
          <a:p>
            <a:pPr lvl="1">
              <a:spcBef>
                <a:spcPts val="300"/>
              </a:spcBef>
            </a:pPr>
            <a:r>
              <a:rPr lang="en-CA" sz="1200" b="0" i="0" dirty="0">
                <a:effectLst/>
              </a:rPr>
              <a:t>Tolerates failure of a single rack (Rack Fault tolerance via the Multi-Rack Cluster Model)</a:t>
            </a:r>
          </a:p>
          <a:p>
            <a:pPr lvl="1">
              <a:spcBef>
                <a:spcPts val="300"/>
              </a:spcBef>
            </a:pPr>
            <a:r>
              <a:rPr lang="en-CA" sz="1200" dirty="0"/>
              <a:t>Tolerates failure of a vSphere cluster</a:t>
            </a:r>
            <a:endParaRPr lang="en-CA" sz="1200" b="0" i="0" dirty="0">
              <a:effectLst/>
            </a:endParaRPr>
          </a:p>
          <a:p>
            <a:pPr lvl="1">
              <a:spcBef>
                <a:spcPts val="300"/>
              </a:spcBef>
            </a:pPr>
            <a:r>
              <a:rPr lang="en-CA" sz="1200" b="0" i="0" dirty="0">
                <a:effectLst/>
              </a:rPr>
              <a:t>Tolerates failure of a single management component</a:t>
            </a:r>
          </a:p>
          <a:p>
            <a:pPr>
              <a:spcBef>
                <a:spcPts val="300"/>
              </a:spcBef>
            </a:pPr>
            <a:r>
              <a:rPr lang="en-US" sz="1400" dirty="0"/>
              <a:t>Isolation</a:t>
            </a:r>
          </a:p>
          <a:p>
            <a:pPr lvl="1">
              <a:spcBef>
                <a:spcPts val="300"/>
              </a:spcBef>
            </a:pPr>
            <a:r>
              <a:rPr lang="en-US" sz="1200" dirty="0"/>
              <a:t>Hypervisor-Based (Logical Isolation)</a:t>
            </a:r>
          </a:p>
          <a:p>
            <a:pPr lvl="1">
              <a:spcBef>
                <a:spcPts val="300"/>
              </a:spcBef>
            </a:pPr>
            <a:r>
              <a:rPr lang="en-US" sz="1200" dirty="0"/>
              <a:t>Network traffic type isolation</a:t>
            </a:r>
          </a:p>
          <a:p>
            <a:pPr lvl="1">
              <a:spcBef>
                <a:spcPts val="300"/>
              </a:spcBef>
            </a:pPr>
            <a:r>
              <a:rPr lang="en-US" sz="1200" dirty="0"/>
              <a:t>Cluster-based (physical isolation)</a:t>
            </a:r>
          </a:p>
          <a:p>
            <a:pPr lvl="1">
              <a:spcBef>
                <a:spcPts val="300"/>
              </a:spcBef>
            </a:pPr>
            <a:r>
              <a:rPr lang="en-US" sz="1200" dirty="0"/>
              <a:t>Tenant / Tenant Isolation</a:t>
            </a:r>
          </a:p>
          <a:p>
            <a:pPr>
              <a:spcBef>
                <a:spcPts val="300"/>
              </a:spcBef>
            </a:pPr>
            <a:r>
              <a:rPr lang="en-US" sz="1400" dirty="0"/>
              <a:t>Recoverability</a:t>
            </a:r>
          </a:p>
          <a:p>
            <a:pPr lvl="1">
              <a:spcBef>
                <a:spcPts val="300"/>
              </a:spcBef>
            </a:pPr>
            <a:r>
              <a:rPr lang="en-CA" sz="1200" dirty="0"/>
              <a:t>Recovery to a second site available when augmented with a data replication solution.</a:t>
            </a:r>
          </a:p>
          <a:p>
            <a:pPr lvl="1">
              <a:spcBef>
                <a:spcPts val="300"/>
              </a:spcBef>
            </a:pPr>
            <a:r>
              <a:rPr lang="en-CA" sz="1200" b="0" i="0" dirty="0">
                <a:effectLst/>
              </a:rPr>
              <a:t>Backup and restore functionality can provide a recovery option</a:t>
            </a:r>
            <a:endParaRPr lang="en-US" sz="1200" dirty="0"/>
          </a:p>
        </p:txBody>
      </p:sp>
    </p:spTree>
    <p:extLst>
      <p:ext uri="{BB962C8B-B14F-4D97-AF65-F5344CB8AC3E}">
        <p14:creationId xmlns:p14="http://schemas.microsoft.com/office/powerpoint/2010/main" val="3775571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0B51-278E-D4DA-B518-EA0DE2AB8C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873CF-2AE5-7B1D-3E45-2A752E60AFCF}"/>
              </a:ext>
            </a:extLst>
          </p:cNvPr>
          <p:cNvSpPr>
            <a:spLocks noGrp="1"/>
          </p:cNvSpPr>
          <p:nvPr>
            <p:ph type="title"/>
          </p:nvPr>
        </p:nvSpPr>
        <p:spPr/>
        <p:txBody>
          <a:bodyPr/>
          <a:lstStyle/>
          <a:p>
            <a:r>
              <a:rPr lang="en-US" dirty="0"/>
              <a:t>VCF Design</a:t>
            </a:r>
          </a:p>
        </p:txBody>
      </p:sp>
      <p:sp>
        <p:nvSpPr>
          <p:cNvPr id="3" name="Subtitle 2">
            <a:extLst>
              <a:ext uri="{FF2B5EF4-FFF2-40B4-BE49-F238E27FC236}">
                <a16:creationId xmlns:a16="http://schemas.microsoft.com/office/drawing/2014/main" id="{FB515D8E-F9DF-A54D-97E2-833917B0CE1B}"/>
              </a:ext>
            </a:extLst>
          </p:cNvPr>
          <p:cNvSpPr>
            <a:spLocks noGrp="1"/>
          </p:cNvSpPr>
          <p:nvPr>
            <p:ph type="subTitle" idx="10"/>
          </p:nvPr>
        </p:nvSpPr>
        <p:spPr/>
        <p:txBody>
          <a:bodyPr/>
          <a:lstStyle/>
          <a:p>
            <a:r>
              <a:rPr lang="en-US" dirty="0"/>
              <a:t>Logical Design - VCF Fleet with Multiple Sites in a Single Region plus Additional Region(s)</a:t>
            </a:r>
          </a:p>
        </p:txBody>
      </p:sp>
      <p:pic>
        <p:nvPicPr>
          <p:cNvPr id="7" name="Content Placeholder 6">
            <a:extLst>
              <a:ext uri="{FF2B5EF4-FFF2-40B4-BE49-F238E27FC236}">
                <a16:creationId xmlns:a16="http://schemas.microsoft.com/office/drawing/2014/main" id="{2A9B0E13-E3AC-09A8-EDD0-A01B63CC0AC8}"/>
              </a:ext>
            </a:extLst>
          </p:cNvPr>
          <p:cNvPicPr>
            <a:picLocks noGrp="1" noChangeAspect="1"/>
          </p:cNvPicPr>
          <p:nvPr>
            <p:ph sz="quarter" idx="14"/>
          </p:nvPr>
        </p:nvPicPr>
        <p:blipFill>
          <a:blip r:embed="rId2">
            <a:extLst>
              <a:ext uri="{96DAC541-7B7A-43D3-8B79-37D633B846F1}">
                <asvg:svgBlip xmlns:asvg="http://schemas.microsoft.com/office/drawing/2016/SVG/main" r:embed="rId3"/>
              </a:ext>
            </a:extLst>
          </a:blip>
          <a:stretch>
            <a:fillRect/>
          </a:stretch>
        </p:blipFill>
        <p:spPr>
          <a:xfrm>
            <a:off x="595313" y="1953685"/>
            <a:ext cx="7410450" cy="3865029"/>
          </a:xfrm>
        </p:spPr>
      </p:pic>
      <p:sp>
        <p:nvSpPr>
          <p:cNvPr id="9" name="Text Placeholder 8">
            <a:extLst>
              <a:ext uri="{FF2B5EF4-FFF2-40B4-BE49-F238E27FC236}">
                <a16:creationId xmlns:a16="http://schemas.microsoft.com/office/drawing/2014/main" id="{61AD69D4-A908-E24B-1909-5DF101034676}"/>
              </a:ext>
            </a:extLst>
          </p:cNvPr>
          <p:cNvSpPr>
            <a:spLocks noGrp="1"/>
          </p:cNvSpPr>
          <p:nvPr>
            <p:ph type="body" sz="quarter" idx="17"/>
          </p:nvPr>
        </p:nvSpPr>
        <p:spPr>
          <a:xfrm>
            <a:off x="8393494" y="1289662"/>
            <a:ext cx="3959225" cy="4572000"/>
          </a:xfrm>
        </p:spPr>
        <p:txBody>
          <a:bodyPr/>
          <a:lstStyle/>
          <a:p>
            <a:pPr>
              <a:spcBef>
                <a:spcPts val="300"/>
              </a:spcBef>
            </a:pPr>
            <a:r>
              <a:rPr lang="en-US" sz="1400" dirty="0"/>
              <a:t>Physical Site Configuration:</a:t>
            </a:r>
          </a:p>
          <a:p>
            <a:pPr lvl="1">
              <a:spcBef>
                <a:spcPts val="300"/>
              </a:spcBef>
            </a:pPr>
            <a:r>
              <a:rPr lang="en-US" sz="1200" dirty="0"/>
              <a:t>Multiple Sites in a Single Region</a:t>
            </a:r>
          </a:p>
          <a:p>
            <a:pPr lvl="1">
              <a:spcBef>
                <a:spcPts val="300"/>
              </a:spcBef>
            </a:pPr>
            <a:r>
              <a:rPr lang="en-US" sz="1200" dirty="0"/>
              <a:t>Multiple Sites across multiple regions</a:t>
            </a:r>
          </a:p>
          <a:p>
            <a:pPr>
              <a:spcBef>
                <a:spcPts val="300"/>
              </a:spcBef>
            </a:pPr>
            <a:r>
              <a:rPr lang="en-US" sz="1400" dirty="0"/>
              <a:t>Availability</a:t>
            </a:r>
          </a:p>
          <a:p>
            <a:pPr lvl="1">
              <a:spcBef>
                <a:spcPts val="300"/>
              </a:spcBef>
            </a:pPr>
            <a:r>
              <a:rPr lang="en-US" sz="1200" dirty="0"/>
              <a:t>Tolerates failure of a single ESX host</a:t>
            </a:r>
          </a:p>
          <a:p>
            <a:pPr lvl="1">
              <a:spcBef>
                <a:spcPts val="300"/>
              </a:spcBef>
            </a:pPr>
            <a:r>
              <a:rPr lang="en-CA" sz="1200" b="0" i="0" dirty="0">
                <a:effectLst/>
              </a:rPr>
              <a:t>Tolerates failure of an individual network path</a:t>
            </a:r>
          </a:p>
          <a:p>
            <a:pPr lvl="1">
              <a:spcBef>
                <a:spcPts val="300"/>
              </a:spcBef>
            </a:pPr>
            <a:r>
              <a:rPr lang="en-CA" sz="1200" b="0" i="0" dirty="0">
                <a:effectLst/>
              </a:rPr>
              <a:t>Tolerates failure of a single rack (vSAN Stretched cluster model)</a:t>
            </a:r>
          </a:p>
          <a:p>
            <a:pPr lvl="1">
              <a:spcBef>
                <a:spcPts val="300"/>
              </a:spcBef>
            </a:pPr>
            <a:r>
              <a:rPr lang="en-CA" sz="1200" dirty="0"/>
              <a:t>Tolerates failure of a vSphere cluster</a:t>
            </a:r>
            <a:endParaRPr lang="en-CA" sz="1200" b="0" i="0" dirty="0">
              <a:effectLst/>
            </a:endParaRPr>
          </a:p>
          <a:p>
            <a:pPr lvl="1">
              <a:spcBef>
                <a:spcPts val="300"/>
              </a:spcBef>
            </a:pPr>
            <a:r>
              <a:rPr lang="en-CA" sz="1200" b="0" i="0" dirty="0">
                <a:effectLst/>
              </a:rPr>
              <a:t>Tolerates failure of a single management component</a:t>
            </a:r>
          </a:p>
          <a:p>
            <a:pPr lvl="1">
              <a:spcBef>
                <a:spcPts val="300"/>
              </a:spcBef>
            </a:pPr>
            <a:r>
              <a:rPr lang="en-CA" sz="1200" b="0" i="0" dirty="0">
                <a:effectLst/>
              </a:rPr>
              <a:t>Tolerates the failure of a single availability zone</a:t>
            </a:r>
          </a:p>
          <a:p>
            <a:pPr>
              <a:spcBef>
                <a:spcPts val="300"/>
              </a:spcBef>
            </a:pPr>
            <a:r>
              <a:rPr lang="en-US" sz="1400" dirty="0"/>
              <a:t>Isolation</a:t>
            </a:r>
          </a:p>
          <a:p>
            <a:pPr lvl="1">
              <a:spcBef>
                <a:spcPts val="300"/>
              </a:spcBef>
            </a:pPr>
            <a:r>
              <a:rPr lang="en-US" sz="1200" dirty="0"/>
              <a:t>Hypervisor-Based (Logical Isolation)</a:t>
            </a:r>
          </a:p>
          <a:p>
            <a:pPr lvl="1">
              <a:spcBef>
                <a:spcPts val="300"/>
              </a:spcBef>
            </a:pPr>
            <a:r>
              <a:rPr lang="en-US" sz="1200" dirty="0"/>
              <a:t>Network traffic type isolation</a:t>
            </a:r>
          </a:p>
          <a:p>
            <a:pPr lvl="1">
              <a:spcBef>
                <a:spcPts val="300"/>
              </a:spcBef>
            </a:pPr>
            <a:r>
              <a:rPr lang="en-US" sz="1200" dirty="0"/>
              <a:t>Cluster-based (physical isolation)</a:t>
            </a:r>
          </a:p>
          <a:p>
            <a:pPr lvl="1">
              <a:spcBef>
                <a:spcPts val="300"/>
              </a:spcBef>
            </a:pPr>
            <a:r>
              <a:rPr lang="en-US" sz="1200" dirty="0"/>
              <a:t>Tenant / Tenant Isolation</a:t>
            </a:r>
          </a:p>
          <a:p>
            <a:pPr>
              <a:spcBef>
                <a:spcPts val="300"/>
              </a:spcBef>
            </a:pPr>
            <a:r>
              <a:rPr lang="en-US" sz="1400" dirty="0"/>
              <a:t>Recoverability</a:t>
            </a:r>
          </a:p>
          <a:p>
            <a:pPr lvl="1">
              <a:spcBef>
                <a:spcPts val="300"/>
              </a:spcBef>
            </a:pPr>
            <a:r>
              <a:rPr lang="en-CA" sz="1200" dirty="0"/>
              <a:t>Recovery to a both single site and secondary second site available.</a:t>
            </a:r>
          </a:p>
          <a:p>
            <a:pPr lvl="1">
              <a:spcBef>
                <a:spcPts val="300"/>
              </a:spcBef>
            </a:pPr>
            <a:r>
              <a:rPr lang="en-CA" sz="1200" b="0" i="0" dirty="0">
                <a:effectLst/>
              </a:rPr>
              <a:t>Backup and restore functionality can provide a recovery option</a:t>
            </a:r>
            <a:endParaRPr lang="en-US" sz="1200" dirty="0"/>
          </a:p>
          <a:p>
            <a:endParaRPr lang="en-US" dirty="0"/>
          </a:p>
        </p:txBody>
      </p:sp>
    </p:spTree>
    <p:extLst>
      <p:ext uri="{BB962C8B-B14F-4D97-AF65-F5344CB8AC3E}">
        <p14:creationId xmlns:p14="http://schemas.microsoft.com/office/powerpoint/2010/main" val="3258181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40"/>
        <p:cNvGrpSpPr/>
        <p:nvPr/>
      </p:nvGrpSpPr>
      <p:grpSpPr>
        <a:xfrm>
          <a:off x="0" y="0"/>
          <a:ext cx="0" cy="0"/>
          <a:chOff x="0" y="0"/>
          <a:chExt cx="0" cy="0"/>
        </a:xfrm>
      </p:grpSpPr>
      <p:sp>
        <p:nvSpPr>
          <p:cNvPr id="2" name="Title 1">
            <a:extLst>
              <a:ext uri="{FF2B5EF4-FFF2-40B4-BE49-F238E27FC236}">
                <a16:creationId xmlns:a16="http://schemas.microsoft.com/office/drawing/2014/main" id="{9AD6312C-64A0-CAE5-7583-5C7BAC110E80}"/>
              </a:ext>
            </a:extLst>
          </p:cNvPr>
          <p:cNvSpPr>
            <a:spLocks noGrp="1"/>
          </p:cNvSpPr>
          <p:nvPr>
            <p:ph type="title"/>
          </p:nvPr>
        </p:nvSpPr>
        <p:spPr>
          <a:xfrm>
            <a:off x="589108" y="938794"/>
            <a:ext cx="6427626" cy="1229360"/>
          </a:xfrm>
        </p:spPr>
        <p:txBody>
          <a:bodyPr/>
          <a:lstStyle/>
          <a:p>
            <a:r>
              <a:rPr lang="en-US" dirty="0"/>
              <a:t>VMware Pro Cloud Services for Private Cloud</a:t>
            </a:r>
          </a:p>
        </p:txBody>
      </p:sp>
      <p:sp>
        <p:nvSpPr>
          <p:cNvPr id="1341" name="Google Shape;1341;p124"/>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US" dirty="0"/>
              <a:t>Networking Architecture Patterns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88"/>
        <p:cNvGrpSpPr/>
        <p:nvPr/>
      </p:nvGrpSpPr>
      <p:grpSpPr>
        <a:xfrm>
          <a:off x="0" y="0"/>
          <a:ext cx="0" cy="0"/>
          <a:chOff x="0" y="0"/>
          <a:chExt cx="0" cy="0"/>
        </a:xfrm>
      </p:grpSpPr>
      <p:sp>
        <p:nvSpPr>
          <p:cNvPr id="1889" name="Google Shape;1889;p71"/>
          <p:cNvSpPr txBox="1">
            <a:spLocks noGrp="1"/>
          </p:cNvSpPr>
          <p:nvPr>
            <p:ph type="title"/>
          </p:nvPr>
        </p:nvSpPr>
        <p:spPr>
          <a:xfrm>
            <a:off x="589108" y="938794"/>
            <a:ext cx="6427626" cy="1229360"/>
          </a:xfrm>
          <a:noFill/>
          <a:ln>
            <a:noFill/>
          </a:ln>
        </p:spPr>
        <p:txBody>
          <a:bodyPr spcFirstLastPara="1" wrap="square" lIns="0" tIns="0" rIns="0" bIns="0" anchor="b" anchorCtr="0">
            <a:noAutofit/>
          </a:bodyPr>
          <a:lstStyle/>
          <a:p>
            <a:pPr lvl="0"/>
            <a:r>
              <a:rPr lang="en-US"/>
              <a:t>Distributed Switch Models</a:t>
            </a:r>
          </a:p>
        </p:txBody>
      </p:sp>
      <p:sp>
        <p:nvSpPr>
          <p:cNvPr id="4" name="Subtitle 3">
            <a:extLst>
              <a:ext uri="{FF2B5EF4-FFF2-40B4-BE49-F238E27FC236}">
                <a16:creationId xmlns:a16="http://schemas.microsoft.com/office/drawing/2014/main" id="{C587D1C1-407C-AF1F-409F-FF2CD5D4CDAF}"/>
              </a:ext>
            </a:extLst>
          </p:cNvPr>
          <p:cNvSpPr>
            <a:spLocks noGrp="1"/>
          </p:cNvSpPr>
          <p:nvPr>
            <p:ph type="subTitle" idx="10"/>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94"/>
        <p:cNvGrpSpPr/>
        <p:nvPr/>
      </p:nvGrpSpPr>
      <p:grpSpPr>
        <a:xfrm>
          <a:off x="0" y="0"/>
          <a:ext cx="0" cy="0"/>
          <a:chOff x="0" y="0"/>
          <a:chExt cx="0" cy="0"/>
        </a:xfrm>
      </p:grpSpPr>
      <p:sp>
        <p:nvSpPr>
          <p:cNvPr id="1895" name="Google Shape;1895;p7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dirty="0"/>
              <a:t>Distributed Switch Models</a:t>
            </a:r>
            <a:endParaRPr dirty="0"/>
          </a:p>
        </p:txBody>
      </p:sp>
      <p:grpSp>
        <p:nvGrpSpPr>
          <p:cNvPr id="2" name="Group 1">
            <a:extLst>
              <a:ext uri="{FF2B5EF4-FFF2-40B4-BE49-F238E27FC236}">
                <a16:creationId xmlns:a16="http://schemas.microsoft.com/office/drawing/2014/main" id="{6FF02510-A725-8EE0-27E6-2DFA942CEE91}"/>
              </a:ext>
            </a:extLst>
          </p:cNvPr>
          <p:cNvGrpSpPr/>
          <p:nvPr/>
        </p:nvGrpSpPr>
        <p:grpSpPr>
          <a:xfrm>
            <a:off x="340910" y="1101146"/>
            <a:ext cx="2538919" cy="5007822"/>
            <a:chOff x="340910" y="1101146"/>
            <a:chExt cx="2538919" cy="5007822"/>
          </a:xfrm>
        </p:grpSpPr>
        <p:sp>
          <p:nvSpPr>
            <p:cNvPr id="1896" name="Google Shape;1896;p72"/>
            <p:cNvSpPr/>
            <p:nvPr/>
          </p:nvSpPr>
          <p:spPr>
            <a:xfrm>
              <a:off x="612557" y="2074076"/>
              <a:ext cx="985149" cy="2938796"/>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97" name="Google Shape;1897;p72"/>
            <p:cNvSpPr/>
            <p:nvPr/>
          </p:nvSpPr>
          <p:spPr>
            <a:xfrm>
              <a:off x="1597707" y="2252240"/>
              <a:ext cx="503968" cy="654345"/>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vDS Uplinks</a:t>
              </a:r>
              <a:endParaRPr sz="1400" b="0" i="0" u="none" strike="noStrike" cap="none">
                <a:solidFill>
                  <a:srgbClr val="000000"/>
                </a:solidFill>
                <a:latin typeface="Arial"/>
                <a:ea typeface="Arial"/>
                <a:cs typeface="Arial"/>
                <a:sym typeface="Arial"/>
              </a:endParaRPr>
            </a:p>
          </p:txBody>
        </p:sp>
        <p:sp>
          <p:nvSpPr>
            <p:cNvPr id="1898" name="Google Shape;1898;p72"/>
            <p:cNvSpPr/>
            <p:nvPr/>
          </p:nvSpPr>
          <p:spPr>
            <a:xfrm>
              <a:off x="726393" y="2252240"/>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VM Mgmt</a:t>
              </a:r>
              <a:endParaRPr sz="1400" b="0" i="0" u="none" strike="noStrike" cap="none">
                <a:solidFill>
                  <a:srgbClr val="000000"/>
                </a:solidFill>
                <a:latin typeface="Arial"/>
                <a:ea typeface="Arial"/>
                <a:cs typeface="Arial"/>
                <a:sym typeface="Arial"/>
              </a:endParaRPr>
            </a:p>
          </p:txBody>
        </p:sp>
        <p:sp>
          <p:nvSpPr>
            <p:cNvPr id="1899" name="Google Shape;1899;p72"/>
            <p:cNvSpPr/>
            <p:nvPr/>
          </p:nvSpPr>
          <p:spPr>
            <a:xfrm>
              <a:off x="726393" y="2794562"/>
              <a:ext cx="726007"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ESX Mgmt</a:t>
              </a:r>
              <a:endParaRPr sz="1400" b="0" i="0" u="none" strike="noStrike" cap="none">
                <a:solidFill>
                  <a:srgbClr val="000000"/>
                </a:solidFill>
                <a:latin typeface="Arial"/>
                <a:ea typeface="Arial"/>
                <a:cs typeface="Arial"/>
                <a:sym typeface="Arial"/>
              </a:endParaRPr>
            </a:p>
          </p:txBody>
        </p:sp>
        <p:sp>
          <p:nvSpPr>
            <p:cNvPr id="1900" name="Google Shape;1900;p72"/>
            <p:cNvSpPr/>
            <p:nvPr/>
          </p:nvSpPr>
          <p:spPr>
            <a:xfrm>
              <a:off x="726394" y="3336884"/>
              <a:ext cx="726006"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vMotion</a:t>
              </a:r>
              <a:endParaRPr sz="700" b="0" i="0" u="none" strike="noStrike" cap="none">
                <a:solidFill>
                  <a:schemeClr val="dk1"/>
                </a:solidFill>
                <a:latin typeface="Arial"/>
                <a:ea typeface="Arial"/>
                <a:cs typeface="Arial"/>
                <a:sym typeface="Arial"/>
              </a:endParaRPr>
            </a:p>
          </p:txBody>
        </p:sp>
        <p:sp>
          <p:nvSpPr>
            <p:cNvPr id="1901" name="Google Shape;1901;p72"/>
            <p:cNvSpPr/>
            <p:nvPr/>
          </p:nvSpPr>
          <p:spPr>
            <a:xfrm>
              <a:off x="726394" y="3875996"/>
              <a:ext cx="726006"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Storage</a:t>
              </a:r>
              <a:endParaRPr sz="1400" b="0" i="0" u="none" strike="noStrike" cap="none">
                <a:solidFill>
                  <a:srgbClr val="000000"/>
                </a:solidFill>
                <a:latin typeface="Arial"/>
                <a:ea typeface="Arial"/>
                <a:cs typeface="Arial"/>
                <a:sym typeface="Arial"/>
              </a:endParaRPr>
            </a:p>
          </p:txBody>
        </p:sp>
        <p:sp>
          <p:nvSpPr>
            <p:cNvPr id="1902" name="Google Shape;1902;p72"/>
            <p:cNvSpPr/>
            <p:nvPr/>
          </p:nvSpPr>
          <p:spPr>
            <a:xfrm>
              <a:off x="726394" y="4421070"/>
              <a:ext cx="726006"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Virtual Networking</a:t>
              </a:r>
              <a:endParaRPr sz="1400" b="0" i="0" u="none" strike="noStrike" cap="none">
                <a:solidFill>
                  <a:srgbClr val="000000"/>
                </a:solidFill>
                <a:latin typeface="Arial"/>
                <a:ea typeface="Arial"/>
                <a:cs typeface="Arial"/>
                <a:sym typeface="Arial"/>
              </a:endParaRPr>
            </a:p>
          </p:txBody>
        </p:sp>
        <p:sp>
          <p:nvSpPr>
            <p:cNvPr id="1903" name="Google Shape;1903;p72"/>
            <p:cNvSpPr/>
            <p:nvPr/>
          </p:nvSpPr>
          <p:spPr>
            <a:xfrm>
              <a:off x="480096" y="1669364"/>
              <a:ext cx="1725611" cy="4342329"/>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ESX Host</a:t>
              </a:r>
              <a:endParaRPr sz="1400" b="0" i="0" u="none" strike="noStrike" cap="none">
                <a:solidFill>
                  <a:srgbClr val="000000"/>
                </a:solidFill>
                <a:latin typeface="Arial"/>
                <a:ea typeface="Arial"/>
                <a:cs typeface="Arial"/>
                <a:sym typeface="Arial"/>
              </a:endParaRPr>
            </a:p>
          </p:txBody>
        </p:sp>
        <p:sp>
          <p:nvSpPr>
            <p:cNvPr id="1904" name="Google Shape;1904;p72"/>
            <p:cNvSpPr/>
            <p:nvPr/>
          </p:nvSpPr>
          <p:spPr>
            <a:xfrm>
              <a:off x="340910" y="1101146"/>
              <a:ext cx="2538919" cy="5007822"/>
            </a:xfrm>
            <a:prstGeom prst="rect">
              <a:avLst/>
            </a:prstGeom>
            <a:noFill/>
            <a:ln w="12700" cap="flat" cmpd="sng">
              <a:solidFill>
                <a:schemeClr val="dk1"/>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900" b="0" i="0" u="none" strike="noStrike" cap="none">
                  <a:solidFill>
                    <a:srgbClr val="000000"/>
                  </a:solidFill>
                  <a:latin typeface="Arial"/>
                  <a:ea typeface="Arial"/>
                  <a:cs typeface="Arial"/>
                  <a:sym typeface="Arial"/>
                </a:rPr>
                <a:t>Single</a:t>
              </a:r>
              <a:endParaRPr sz="9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800"/>
                <a:buFont typeface="Arial"/>
                <a:buNone/>
              </a:pPr>
              <a:r>
                <a:rPr lang="en-US" sz="900" b="0" i="0" u="none" strike="noStrike" cap="none">
                  <a:solidFill>
                    <a:srgbClr val="000000"/>
                  </a:solidFill>
                  <a:latin typeface="Arial"/>
                  <a:ea typeface="Arial"/>
                  <a:cs typeface="Arial"/>
                  <a:sym typeface="Arial"/>
                </a:rPr>
                <a:t>Distributed Switch</a:t>
              </a:r>
              <a:endParaRPr sz="1400" b="0" i="0" u="none" strike="noStrike" cap="none">
                <a:solidFill>
                  <a:srgbClr val="000000"/>
                </a:solidFill>
                <a:latin typeface="Arial"/>
                <a:ea typeface="Arial"/>
                <a:cs typeface="Arial"/>
                <a:sym typeface="Arial"/>
              </a:endParaRPr>
            </a:p>
          </p:txBody>
        </p:sp>
        <p:grpSp>
          <p:nvGrpSpPr>
            <p:cNvPr id="1932" name="Google Shape;1932;p72"/>
            <p:cNvGrpSpPr/>
            <p:nvPr/>
          </p:nvGrpSpPr>
          <p:grpSpPr>
            <a:xfrm>
              <a:off x="2101675" y="2194570"/>
              <a:ext cx="627111" cy="734813"/>
              <a:chOff x="2101675" y="2194570"/>
              <a:chExt cx="627111" cy="734813"/>
            </a:xfrm>
          </p:grpSpPr>
          <p:cxnSp>
            <p:nvCxnSpPr>
              <p:cNvPr id="1933" name="Google Shape;1933;p72"/>
              <p:cNvCxnSpPr/>
              <p:nvPr/>
            </p:nvCxnSpPr>
            <p:spPr>
              <a:xfrm>
                <a:off x="2101675" y="2754300"/>
                <a:ext cx="268056" cy="0"/>
              </a:xfrm>
              <a:prstGeom prst="straightConnector1">
                <a:avLst/>
              </a:prstGeom>
              <a:noFill/>
              <a:ln w="12700" cap="flat" cmpd="sng">
                <a:solidFill>
                  <a:schemeClr val="dk1"/>
                </a:solidFill>
                <a:prstDash val="solid"/>
                <a:round/>
                <a:headEnd type="none" w="sm" len="sm"/>
                <a:tailEnd type="triangle" w="med" len="med"/>
              </a:ln>
            </p:spPr>
          </p:cxnSp>
          <p:cxnSp>
            <p:nvCxnSpPr>
              <p:cNvPr id="1934" name="Google Shape;1934;p72"/>
              <p:cNvCxnSpPr/>
              <p:nvPr/>
            </p:nvCxnSpPr>
            <p:spPr>
              <a:xfrm>
                <a:off x="2101675" y="2399454"/>
                <a:ext cx="269165" cy="0"/>
              </a:xfrm>
              <a:prstGeom prst="straightConnector1">
                <a:avLst/>
              </a:prstGeom>
              <a:noFill/>
              <a:ln w="12700" cap="flat" cmpd="sng">
                <a:solidFill>
                  <a:schemeClr val="dk1"/>
                </a:solidFill>
                <a:prstDash val="solid"/>
                <a:round/>
                <a:headEnd type="none" w="sm" len="sm"/>
                <a:tailEnd type="triangle" w="med" len="med"/>
              </a:ln>
            </p:spPr>
          </p:cxnSp>
          <p:grpSp>
            <p:nvGrpSpPr>
              <p:cNvPr id="1935" name="Google Shape;1935;p72"/>
              <p:cNvGrpSpPr/>
              <p:nvPr/>
            </p:nvGrpSpPr>
            <p:grpSpPr>
              <a:xfrm>
                <a:off x="2380094" y="2194570"/>
                <a:ext cx="348692" cy="350167"/>
                <a:chOff x="9952875" y="192377"/>
                <a:chExt cx="376421" cy="380999"/>
              </a:xfrm>
            </p:grpSpPr>
            <p:sp>
              <p:nvSpPr>
                <p:cNvPr id="1936" name="Google Shape;1936;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937" name="Google Shape;1937;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38" name="Google Shape;1938;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1939" name="Google Shape;1939;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40" name="Google Shape;1940;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nvGrpSpPr>
              <p:cNvPr id="1941" name="Google Shape;1941;p72"/>
              <p:cNvGrpSpPr/>
              <p:nvPr/>
            </p:nvGrpSpPr>
            <p:grpSpPr>
              <a:xfrm>
                <a:off x="2380093" y="2579216"/>
                <a:ext cx="348692" cy="350167"/>
                <a:chOff x="9952875" y="192377"/>
                <a:chExt cx="376421" cy="380999"/>
              </a:xfrm>
            </p:grpSpPr>
            <p:sp>
              <p:nvSpPr>
                <p:cNvPr id="1942" name="Google Shape;1942;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943" name="Google Shape;1943;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44" name="Google Shape;1944;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1945" name="Google Shape;1945;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46" name="Google Shape;1946;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grpSp>
      <p:grpSp>
        <p:nvGrpSpPr>
          <p:cNvPr id="3" name="Group 2">
            <a:extLst>
              <a:ext uri="{FF2B5EF4-FFF2-40B4-BE49-F238E27FC236}">
                <a16:creationId xmlns:a16="http://schemas.microsoft.com/office/drawing/2014/main" id="{30A49051-69FE-5C2E-5AD2-297AAA3F74AA}"/>
              </a:ext>
            </a:extLst>
          </p:cNvPr>
          <p:cNvGrpSpPr/>
          <p:nvPr/>
        </p:nvGrpSpPr>
        <p:grpSpPr>
          <a:xfrm>
            <a:off x="3197600" y="1101146"/>
            <a:ext cx="2538919" cy="5007821"/>
            <a:chOff x="3197600" y="1101146"/>
            <a:chExt cx="2538919" cy="5007821"/>
          </a:xfrm>
        </p:grpSpPr>
        <p:sp>
          <p:nvSpPr>
            <p:cNvPr id="1905" name="Google Shape;1905;p72"/>
            <p:cNvSpPr/>
            <p:nvPr/>
          </p:nvSpPr>
          <p:spPr>
            <a:xfrm>
              <a:off x="3469247" y="2074076"/>
              <a:ext cx="985149" cy="2346994"/>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06" name="Google Shape;1906;p72"/>
            <p:cNvSpPr/>
            <p:nvPr/>
          </p:nvSpPr>
          <p:spPr>
            <a:xfrm>
              <a:off x="4454397" y="2252240"/>
              <a:ext cx="503968" cy="654345"/>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vDS Uplinks</a:t>
              </a:r>
              <a:endParaRPr sz="1400" b="0" i="0" u="none" strike="noStrike" cap="none">
                <a:solidFill>
                  <a:srgbClr val="000000"/>
                </a:solidFill>
                <a:latin typeface="Arial"/>
                <a:ea typeface="Arial"/>
                <a:cs typeface="Arial"/>
                <a:sym typeface="Arial"/>
              </a:endParaRPr>
            </a:p>
          </p:txBody>
        </p:sp>
        <p:sp>
          <p:nvSpPr>
            <p:cNvPr id="1907" name="Google Shape;1907;p72"/>
            <p:cNvSpPr/>
            <p:nvPr/>
          </p:nvSpPr>
          <p:spPr>
            <a:xfrm>
              <a:off x="3598816" y="2794562"/>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ESX Mgmt</a:t>
              </a:r>
              <a:endParaRPr sz="1400" b="0" i="0" u="none" strike="noStrike" cap="none">
                <a:solidFill>
                  <a:srgbClr val="000000"/>
                </a:solidFill>
                <a:latin typeface="Arial"/>
                <a:ea typeface="Arial"/>
                <a:cs typeface="Arial"/>
                <a:sym typeface="Arial"/>
              </a:endParaRPr>
            </a:p>
          </p:txBody>
        </p:sp>
        <p:sp>
          <p:nvSpPr>
            <p:cNvPr id="1908" name="Google Shape;1908;p72"/>
            <p:cNvSpPr/>
            <p:nvPr/>
          </p:nvSpPr>
          <p:spPr>
            <a:xfrm>
              <a:off x="3598816" y="3336884"/>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vMotion</a:t>
              </a:r>
              <a:endParaRPr sz="700" b="0" i="0" u="none" strike="noStrike" cap="none">
                <a:solidFill>
                  <a:schemeClr val="dk1"/>
                </a:solidFill>
                <a:latin typeface="Arial"/>
                <a:ea typeface="Arial"/>
                <a:cs typeface="Arial"/>
                <a:sym typeface="Arial"/>
              </a:endParaRPr>
            </a:p>
          </p:txBody>
        </p:sp>
        <p:sp>
          <p:nvSpPr>
            <p:cNvPr id="1909" name="Google Shape;1909;p72"/>
            <p:cNvSpPr/>
            <p:nvPr/>
          </p:nvSpPr>
          <p:spPr>
            <a:xfrm>
              <a:off x="3598816" y="3875996"/>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Virtual Networking</a:t>
              </a:r>
              <a:endParaRPr sz="1400" b="0" i="0" u="none" strike="noStrike" cap="none">
                <a:solidFill>
                  <a:srgbClr val="000000"/>
                </a:solidFill>
                <a:latin typeface="Arial"/>
                <a:ea typeface="Arial"/>
                <a:cs typeface="Arial"/>
                <a:sym typeface="Arial"/>
              </a:endParaRPr>
            </a:p>
          </p:txBody>
        </p:sp>
        <p:sp>
          <p:nvSpPr>
            <p:cNvPr id="1910" name="Google Shape;1910;p72"/>
            <p:cNvSpPr/>
            <p:nvPr/>
          </p:nvSpPr>
          <p:spPr>
            <a:xfrm>
              <a:off x="3598816" y="4807410"/>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Storage</a:t>
              </a:r>
              <a:endParaRPr sz="1400" b="0" i="0" u="none" strike="noStrike" cap="none">
                <a:solidFill>
                  <a:srgbClr val="000000"/>
                </a:solidFill>
                <a:latin typeface="Arial"/>
                <a:ea typeface="Arial"/>
                <a:cs typeface="Arial"/>
                <a:sym typeface="Arial"/>
              </a:endParaRPr>
            </a:p>
          </p:txBody>
        </p:sp>
        <p:sp>
          <p:nvSpPr>
            <p:cNvPr id="1911" name="Google Shape;1911;p72"/>
            <p:cNvSpPr/>
            <p:nvPr/>
          </p:nvSpPr>
          <p:spPr>
            <a:xfrm>
              <a:off x="3336786" y="1669365"/>
              <a:ext cx="1725611" cy="4342328"/>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ESX Host</a:t>
              </a:r>
              <a:endParaRPr sz="1400" b="0" i="0" u="none" strike="noStrike" cap="none">
                <a:solidFill>
                  <a:srgbClr val="000000"/>
                </a:solidFill>
                <a:latin typeface="Arial"/>
                <a:ea typeface="Arial"/>
                <a:cs typeface="Arial"/>
                <a:sym typeface="Arial"/>
              </a:endParaRPr>
            </a:p>
          </p:txBody>
        </p:sp>
        <p:sp>
          <p:nvSpPr>
            <p:cNvPr id="1912" name="Google Shape;1912;p72"/>
            <p:cNvSpPr/>
            <p:nvPr/>
          </p:nvSpPr>
          <p:spPr>
            <a:xfrm>
              <a:off x="3197600" y="1101146"/>
              <a:ext cx="2538919" cy="5007821"/>
            </a:xfrm>
            <a:prstGeom prst="rect">
              <a:avLst/>
            </a:prstGeom>
            <a:noFill/>
            <a:ln w="12700" cap="flat" cmpd="sng">
              <a:solidFill>
                <a:schemeClr val="dk1"/>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900" b="0" i="0" u="none" strike="noStrike" cap="none">
                  <a:solidFill>
                    <a:srgbClr val="000000"/>
                  </a:solidFill>
                  <a:latin typeface="Arial"/>
                  <a:ea typeface="Arial"/>
                  <a:cs typeface="Arial"/>
                  <a:sym typeface="Arial"/>
                </a:rPr>
                <a:t>Storage Separation</a:t>
              </a:r>
              <a:endParaRPr sz="9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800"/>
                <a:buFont typeface="Arial"/>
                <a:buNone/>
              </a:pPr>
              <a:r>
                <a:rPr lang="en-US" sz="900" b="0" i="0" u="none" strike="noStrike" cap="none">
                  <a:solidFill>
                    <a:srgbClr val="000000"/>
                  </a:solidFill>
                  <a:latin typeface="Arial"/>
                  <a:ea typeface="Arial"/>
                  <a:cs typeface="Arial"/>
                  <a:sym typeface="Arial"/>
                </a:rPr>
                <a:t>Distributed Switch</a:t>
              </a:r>
              <a:endParaRPr sz="1400" b="0" i="0" u="none" strike="noStrike" cap="none">
                <a:solidFill>
                  <a:srgbClr val="000000"/>
                </a:solidFill>
                <a:latin typeface="Arial"/>
                <a:ea typeface="Arial"/>
                <a:cs typeface="Arial"/>
                <a:sym typeface="Arial"/>
              </a:endParaRPr>
            </a:p>
          </p:txBody>
        </p:sp>
        <p:sp>
          <p:nvSpPr>
            <p:cNvPr id="1913" name="Google Shape;1913;p72"/>
            <p:cNvSpPr/>
            <p:nvPr/>
          </p:nvSpPr>
          <p:spPr>
            <a:xfrm>
              <a:off x="4454396" y="4636974"/>
              <a:ext cx="503968" cy="654345"/>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vDS Uplinks</a:t>
              </a:r>
              <a:endParaRPr sz="1400" b="0" i="0" u="none" strike="noStrike" cap="none">
                <a:solidFill>
                  <a:srgbClr val="000000"/>
                </a:solidFill>
                <a:latin typeface="Arial"/>
                <a:ea typeface="Arial"/>
                <a:cs typeface="Arial"/>
                <a:sym typeface="Arial"/>
              </a:endParaRPr>
            </a:p>
          </p:txBody>
        </p:sp>
        <p:sp>
          <p:nvSpPr>
            <p:cNvPr id="1914" name="Google Shape;1914;p72"/>
            <p:cNvSpPr/>
            <p:nvPr/>
          </p:nvSpPr>
          <p:spPr>
            <a:xfrm>
              <a:off x="3469246" y="4548469"/>
              <a:ext cx="985149" cy="93985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947" name="Google Shape;1947;p72"/>
            <p:cNvGrpSpPr/>
            <p:nvPr/>
          </p:nvGrpSpPr>
          <p:grpSpPr>
            <a:xfrm>
              <a:off x="4958364" y="2207852"/>
              <a:ext cx="627111" cy="734813"/>
              <a:chOff x="2101675" y="2194570"/>
              <a:chExt cx="627111" cy="734813"/>
            </a:xfrm>
          </p:grpSpPr>
          <p:cxnSp>
            <p:nvCxnSpPr>
              <p:cNvPr id="1948" name="Google Shape;1948;p72"/>
              <p:cNvCxnSpPr/>
              <p:nvPr/>
            </p:nvCxnSpPr>
            <p:spPr>
              <a:xfrm>
                <a:off x="2101675" y="2754300"/>
                <a:ext cx="268056" cy="0"/>
              </a:xfrm>
              <a:prstGeom prst="straightConnector1">
                <a:avLst/>
              </a:prstGeom>
              <a:noFill/>
              <a:ln w="12700" cap="flat" cmpd="sng">
                <a:solidFill>
                  <a:schemeClr val="dk1"/>
                </a:solidFill>
                <a:prstDash val="solid"/>
                <a:round/>
                <a:headEnd type="none" w="sm" len="sm"/>
                <a:tailEnd type="triangle" w="med" len="med"/>
              </a:ln>
            </p:spPr>
          </p:cxnSp>
          <p:cxnSp>
            <p:nvCxnSpPr>
              <p:cNvPr id="1949" name="Google Shape;1949;p72"/>
              <p:cNvCxnSpPr/>
              <p:nvPr/>
            </p:nvCxnSpPr>
            <p:spPr>
              <a:xfrm>
                <a:off x="2101675" y="2399454"/>
                <a:ext cx="269165" cy="0"/>
              </a:xfrm>
              <a:prstGeom prst="straightConnector1">
                <a:avLst/>
              </a:prstGeom>
              <a:noFill/>
              <a:ln w="12700" cap="flat" cmpd="sng">
                <a:solidFill>
                  <a:schemeClr val="dk1"/>
                </a:solidFill>
                <a:prstDash val="solid"/>
                <a:round/>
                <a:headEnd type="none" w="sm" len="sm"/>
                <a:tailEnd type="triangle" w="med" len="med"/>
              </a:ln>
            </p:spPr>
          </p:cxnSp>
          <p:grpSp>
            <p:nvGrpSpPr>
              <p:cNvPr id="1950" name="Google Shape;1950;p72"/>
              <p:cNvGrpSpPr/>
              <p:nvPr/>
            </p:nvGrpSpPr>
            <p:grpSpPr>
              <a:xfrm>
                <a:off x="2380094" y="2194570"/>
                <a:ext cx="348692" cy="350167"/>
                <a:chOff x="9952875" y="192377"/>
                <a:chExt cx="376421" cy="380999"/>
              </a:xfrm>
            </p:grpSpPr>
            <p:sp>
              <p:nvSpPr>
                <p:cNvPr id="1951" name="Google Shape;1951;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952" name="Google Shape;1952;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53" name="Google Shape;1953;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1954" name="Google Shape;1954;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55" name="Google Shape;1955;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nvGrpSpPr>
              <p:cNvPr id="1956" name="Google Shape;1956;p72"/>
              <p:cNvGrpSpPr/>
              <p:nvPr/>
            </p:nvGrpSpPr>
            <p:grpSpPr>
              <a:xfrm>
                <a:off x="2380093" y="2579216"/>
                <a:ext cx="348692" cy="350167"/>
                <a:chOff x="9952875" y="192377"/>
                <a:chExt cx="376421" cy="380999"/>
              </a:xfrm>
            </p:grpSpPr>
            <p:sp>
              <p:nvSpPr>
                <p:cNvPr id="1957" name="Google Shape;1957;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958" name="Google Shape;1958;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59" name="Google Shape;1959;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1960" name="Google Shape;1960;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61" name="Google Shape;1961;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grpSp>
          <p:nvGrpSpPr>
            <p:cNvPr id="1992" name="Google Shape;1992;p72"/>
            <p:cNvGrpSpPr/>
            <p:nvPr/>
          </p:nvGrpSpPr>
          <p:grpSpPr>
            <a:xfrm>
              <a:off x="4962579" y="4596739"/>
              <a:ext cx="627111" cy="734813"/>
              <a:chOff x="2101675" y="2194570"/>
              <a:chExt cx="627111" cy="734813"/>
            </a:xfrm>
          </p:grpSpPr>
          <p:cxnSp>
            <p:nvCxnSpPr>
              <p:cNvPr id="1993" name="Google Shape;1993;p72"/>
              <p:cNvCxnSpPr/>
              <p:nvPr/>
            </p:nvCxnSpPr>
            <p:spPr>
              <a:xfrm>
                <a:off x="2101675" y="2754300"/>
                <a:ext cx="268056" cy="0"/>
              </a:xfrm>
              <a:prstGeom prst="straightConnector1">
                <a:avLst/>
              </a:prstGeom>
              <a:noFill/>
              <a:ln w="12700" cap="flat" cmpd="sng">
                <a:solidFill>
                  <a:schemeClr val="dk1"/>
                </a:solidFill>
                <a:prstDash val="solid"/>
                <a:round/>
                <a:headEnd type="none" w="sm" len="sm"/>
                <a:tailEnd type="triangle" w="med" len="med"/>
              </a:ln>
            </p:spPr>
          </p:cxnSp>
          <p:cxnSp>
            <p:nvCxnSpPr>
              <p:cNvPr id="1994" name="Google Shape;1994;p72"/>
              <p:cNvCxnSpPr/>
              <p:nvPr/>
            </p:nvCxnSpPr>
            <p:spPr>
              <a:xfrm>
                <a:off x="2101675" y="2399454"/>
                <a:ext cx="269165" cy="0"/>
              </a:xfrm>
              <a:prstGeom prst="straightConnector1">
                <a:avLst/>
              </a:prstGeom>
              <a:noFill/>
              <a:ln w="12700" cap="flat" cmpd="sng">
                <a:solidFill>
                  <a:schemeClr val="dk1"/>
                </a:solidFill>
                <a:prstDash val="solid"/>
                <a:round/>
                <a:headEnd type="none" w="sm" len="sm"/>
                <a:tailEnd type="triangle" w="med" len="med"/>
              </a:ln>
            </p:spPr>
          </p:cxnSp>
          <p:grpSp>
            <p:nvGrpSpPr>
              <p:cNvPr id="1995" name="Google Shape;1995;p72"/>
              <p:cNvGrpSpPr/>
              <p:nvPr/>
            </p:nvGrpSpPr>
            <p:grpSpPr>
              <a:xfrm>
                <a:off x="2380094" y="2194570"/>
                <a:ext cx="348692" cy="350167"/>
                <a:chOff x="9952875" y="192377"/>
                <a:chExt cx="376421" cy="380999"/>
              </a:xfrm>
            </p:grpSpPr>
            <p:sp>
              <p:nvSpPr>
                <p:cNvPr id="1996" name="Google Shape;1996;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997" name="Google Shape;1997;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98" name="Google Shape;1998;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1999" name="Google Shape;1999;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00" name="Google Shape;2000;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nvGrpSpPr>
              <p:cNvPr id="2001" name="Google Shape;2001;p72"/>
              <p:cNvGrpSpPr/>
              <p:nvPr/>
            </p:nvGrpSpPr>
            <p:grpSpPr>
              <a:xfrm>
                <a:off x="2380093" y="2579216"/>
                <a:ext cx="348692" cy="350167"/>
                <a:chOff x="9952875" y="192377"/>
                <a:chExt cx="376421" cy="380999"/>
              </a:xfrm>
            </p:grpSpPr>
            <p:sp>
              <p:nvSpPr>
                <p:cNvPr id="2002" name="Google Shape;2002;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003" name="Google Shape;2003;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04" name="Google Shape;2004;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2005" name="Google Shape;2005;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06" name="Google Shape;2006;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sp>
          <p:nvSpPr>
            <p:cNvPr id="2052" name="Google Shape;2052;p72"/>
            <p:cNvSpPr/>
            <p:nvPr/>
          </p:nvSpPr>
          <p:spPr>
            <a:xfrm>
              <a:off x="3598816" y="2249488"/>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VM Mgmt</a:t>
              </a:r>
              <a:endParaRPr sz="1400" b="0" i="0" u="none" strike="noStrike" cap="none">
                <a:solidFill>
                  <a:srgbClr val="000000"/>
                </a:solidFill>
                <a:latin typeface="Arial"/>
                <a:ea typeface="Arial"/>
                <a:cs typeface="Arial"/>
                <a:sym typeface="Arial"/>
              </a:endParaRPr>
            </a:p>
          </p:txBody>
        </p:sp>
      </p:grpSp>
      <p:grpSp>
        <p:nvGrpSpPr>
          <p:cNvPr id="4" name="Group 3">
            <a:extLst>
              <a:ext uri="{FF2B5EF4-FFF2-40B4-BE49-F238E27FC236}">
                <a16:creationId xmlns:a16="http://schemas.microsoft.com/office/drawing/2014/main" id="{6788DFE9-E056-90A1-8D55-EF63E134CB3A}"/>
              </a:ext>
            </a:extLst>
          </p:cNvPr>
          <p:cNvGrpSpPr/>
          <p:nvPr/>
        </p:nvGrpSpPr>
        <p:grpSpPr>
          <a:xfrm>
            <a:off x="6054290" y="1101147"/>
            <a:ext cx="2538919" cy="5007820"/>
            <a:chOff x="6054290" y="1101147"/>
            <a:chExt cx="2538919" cy="5007820"/>
          </a:xfrm>
        </p:grpSpPr>
        <p:sp>
          <p:nvSpPr>
            <p:cNvPr id="1915" name="Google Shape;1915;p72"/>
            <p:cNvSpPr/>
            <p:nvPr/>
          </p:nvSpPr>
          <p:spPr>
            <a:xfrm>
              <a:off x="6325937" y="2074076"/>
              <a:ext cx="985149" cy="2346994"/>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16" name="Google Shape;1916;p72"/>
            <p:cNvSpPr/>
            <p:nvPr/>
          </p:nvSpPr>
          <p:spPr>
            <a:xfrm>
              <a:off x="7311087" y="2252240"/>
              <a:ext cx="503968" cy="654345"/>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vDS Uplinks</a:t>
              </a:r>
              <a:endParaRPr sz="1400" b="0" i="0" u="none" strike="noStrike" cap="none">
                <a:solidFill>
                  <a:srgbClr val="000000"/>
                </a:solidFill>
                <a:latin typeface="Arial"/>
                <a:ea typeface="Arial"/>
                <a:cs typeface="Arial"/>
                <a:sym typeface="Arial"/>
              </a:endParaRPr>
            </a:p>
          </p:txBody>
        </p:sp>
        <p:sp>
          <p:nvSpPr>
            <p:cNvPr id="1917" name="Google Shape;1917;p72"/>
            <p:cNvSpPr/>
            <p:nvPr/>
          </p:nvSpPr>
          <p:spPr>
            <a:xfrm>
              <a:off x="6445870" y="4807410"/>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Virtual Networking</a:t>
              </a:r>
              <a:endParaRPr sz="1400" b="0" i="0" u="none" strike="noStrike" cap="none">
                <a:solidFill>
                  <a:srgbClr val="000000"/>
                </a:solidFill>
                <a:latin typeface="Arial"/>
                <a:ea typeface="Arial"/>
                <a:cs typeface="Arial"/>
                <a:sym typeface="Arial"/>
              </a:endParaRPr>
            </a:p>
          </p:txBody>
        </p:sp>
        <p:sp>
          <p:nvSpPr>
            <p:cNvPr id="1918" name="Google Shape;1918;p72"/>
            <p:cNvSpPr/>
            <p:nvPr/>
          </p:nvSpPr>
          <p:spPr>
            <a:xfrm>
              <a:off x="6193476" y="1669365"/>
              <a:ext cx="1725611" cy="4342328"/>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ESX Host</a:t>
              </a:r>
              <a:endParaRPr sz="1400" b="0" i="0" u="none" strike="noStrike" cap="none">
                <a:solidFill>
                  <a:srgbClr val="000000"/>
                </a:solidFill>
                <a:latin typeface="Arial"/>
                <a:ea typeface="Arial"/>
                <a:cs typeface="Arial"/>
                <a:sym typeface="Arial"/>
              </a:endParaRPr>
            </a:p>
          </p:txBody>
        </p:sp>
        <p:sp>
          <p:nvSpPr>
            <p:cNvPr id="1919" name="Google Shape;1919;p72"/>
            <p:cNvSpPr/>
            <p:nvPr/>
          </p:nvSpPr>
          <p:spPr>
            <a:xfrm>
              <a:off x="6054290" y="1101147"/>
              <a:ext cx="2538919" cy="5007820"/>
            </a:xfrm>
            <a:prstGeom prst="rect">
              <a:avLst/>
            </a:prstGeom>
            <a:noFill/>
            <a:ln w="12700" cap="flat" cmpd="sng">
              <a:solidFill>
                <a:schemeClr val="dk1"/>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900" b="0" i="0" u="none" strike="noStrike" cap="none">
                  <a:solidFill>
                    <a:srgbClr val="000000"/>
                  </a:solidFill>
                  <a:latin typeface="Arial"/>
                  <a:ea typeface="Arial"/>
                  <a:cs typeface="Arial"/>
                  <a:sym typeface="Arial"/>
                </a:rPr>
                <a:t>Workload Separation</a:t>
              </a:r>
              <a:endParaRPr sz="9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800"/>
                <a:buFont typeface="Arial"/>
                <a:buNone/>
              </a:pPr>
              <a:r>
                <a:rPr lang="en-US" sz="900" b="0" i="0" u="none" strike="noStrike" cap="none">
                  <a:solidFill>
                    <a:srgbClr val="000000"/>
                  </a:solidFill>
                  <a:latin typeface="Arial"/>
                  <a:ea typeface="Arial"/>
                  <a:cs typeface="Arial"/>
                  <a:sym typeface="Arial"/>
                </a:rPr>
                <a:t>Distributed Switch</a:t>
              </a:r>
              <a:endParaRPr sz="1400" b="0" i="0" u="none" strike="noStrike" cap="none">
                <a:solidFill>
                  <a:srgbClr val="000000"/>
                </a:solidFill>
                <a:latin typeface="Arial"/>
                <a:ea typeface="Arial"/>
                <a:cs typeface="Arial"/>
                <a:sym typeface="Arial"/>
              </a:endParaRPr>
            </a:p>
          </p:txBody>
        </p:sp>
        <p:sp>
          <p:nvSpPr>
            <p:cNvPr id="1920" name="Google Shape;1920;p72"/>
            <p:cNvSpPr/>
            <p:nvPr/>
          </p:nvSpPr>
          <p:spPr>
            <a:xfrm>
              <a:off x="7311086" y="4636974"/>
              <a:ext cx="503968" cy="654345"/>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vDS Uplinks</a:t>
              </a:r>
              <a:endParaRPr sz="1400" b="0" i="0" u="none" strike="noStrike" cap="none">
                <a:solidFill>
                  <a:srgbClr val="000000"/>
                </a:solidFill>
                <a:latin typeface="Arial"/>
                <a:ea typeface="Arial"/>
                <a:cs typeface="Arial"/>
                <a:sym typeface="Arial"/>
              </a:endParaRPr>
            </a:p>
          </p:txBody>
        </p:sp>
        <p:sp>
          <p:nvSpPr>
            <p:cNvPr id="1921" name="Google Shape;1921;p72"/>
            <p:cNvSpPr/>
            <p:nvPr/>
          </p:nvSpPr>
          <p:spPr>
            <a:xfrm>
              <a:off x="6325936" y="4548469"/>
              <a:ext cx="985149" cy="93985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962" name="Google Shape;1962;p72"/>
            <p:cNvGrpSpPr/>
            <p:nvPr/>
          </p:nvGrpSpPr>
          <p:grpSpPr>
            <a:xfrm>
              <a:off x="7819270" y="2207853"/>
              <a:ext cx="627111" cy="734813"/>
              <a:chOff x="2101675" y="2194570"/>
              <a:chExt cx="627111" cy="734813"/>
            </a:xfrm>
          </p:grpSpPr>
          <p:cxnSp>
            <p:nvCxnSpPr>
              <p:cNvPr id="1963" name="Google Shape;1963;p72"/>
              <p:cNvCxnSpPr/>
              <p:nvPr/>
            </p:nvCxnSpPr>
            <p:spPr>
              <a:xfrm>
                <a:off x="2101675" y="2754300"/>
                <a:ext cx="268056" cy="0"/>
              </a:xfrm>
              <a:prstGeom prst="straightConnector1">
                <a:avLst/>
              </a:prstGeom>
              <a:noFill/>
              <a:ln w="12700" cap="flat" cmpd="sng">
                <a:solidFill>
                  <a:schemeClr val="dk1"/>
                </a:solidFill>
                <a:prstDash val="solid"/>
                <a:round/>
                <a:headEnd type="none" w="sm" len="sm"/>
                <a:tailEnd type="triangle" w="med" len="med"/>
              </a:ln>
            </p:spPr>
          </p:cxnSp>
          <p:cxnSp>
            <p:nvCxnSpPr>
              <p:cNvPr id="1964" name="Google Shape;1964;p72"/>
              <p:cNvCxnSpPr/>
              <p:nvPr/>
            </p:nvCxnSpPr>
            <p:spPr>
              <a:xfrm>
                <a:off x="2101675" y="2399454"/>
                <a:ext cx="269165" cy="0"/>
              </a:xfrm>
              <a:prstGeom prst="straightConnector1">
                <a:avLst/>
              </a:prstGeom>
              <a:noFill/>
              <a:ln w="12700" cap="flat" cmpd="sng">
                <a:solidFill>
                  <a:schemeClr val="dk1"/>
                </a:solidFill>
                <a:prstDash val="solid"/>
                <a:round/>
                <a:headEnd type="none" w="sm" len="sm"/>
                <a:tailEnd type="triangle" w="med" len="med"/>
              </a:ln>
            </p:spPr>
          </p:cxnSp>
          <p:grpSp>
            <p:nvGrpSpPr>
              <p:cNvPr id="1965" name="Google Shape;1965;p72"/>
              <p:cNvGrpSpPr/>
              <p:nvPr/>
            </p:nvGrpSpPr>
            <p:grpSpPr>
              <a:xfrm>
                <a:off x="2380094" y="2194570"/>
                <a:ext cx="348692" cy="350167"/>
                <a:chOff x="9952875" y="192377"/>
                <a:chExt cx="376421" cy="380999"/>
              </a:xfrm>
            </p:grpSpPr>
            <p:sp>
              <p:nvSpPr>
                <p:cNvPr id="1966" name="Google Shape;1966;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967" name="Google Shape;1967;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68" name="Google Shape;1968;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1969" name="Google Shape;1969;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70" name="Google Shape;1970;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nvGrpSpPr>
              <p:cNvPr id="1971" name="Google Shape;1971;p72"/>
              <p:cNvGrpSpPr/>
              <p:nvPr/>
            </p:nvGrpSpPr>
            <p:grpSpPr>
              <a:xfrm>
                <a:off x="2380093" y="2579216"/>
                <a:ext cx="348692" cy="350167"/>
                <a:chOff x="9952875" y="192377"/>
                <a:chExt cx="376421" cy="380999"/>
              </a:xfrm>
            </p:grpSpPr>
            <p:sp>
              <p:nvSpPr>
                <p:cNvPr id="1972" name="Google Shape;1972;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973" name="Google Shape;1973;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74" name="Google Shape;1974;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1975" name="Google Shape;1975;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76" name="Google Shape;1976;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grpSp>
          <p:nvGrpSpPr>
            <p:cNvPr id="2007" name="Google Shape;2007;p72"/>
            <p:cNvGrpSpPr/>
            <p:nvPr/>
          </p:nvGrpSpPr>
          <p:grpSpPr>
            <a:xfrm>
              <a:off x="7815053" y="4596739"/>
              <a:ext cx="627111" cy="734813"/>
              <a:chOff x="2101675" y="2194570"/>
              <a:chExt cx="627111" cy="734813"/>
            </a:xfrm>
          </p:grpSpPr>
          <p:cxnSp>
            <p:nvCxnSpPr>
              <p:cNvPr id="2008" name="Google Shape;2008;p72"/>
              <p:cNvCxnSpPr/>
              <p:nvPr/>
            </p:nvCxnSpPr>
            <p:spPr>
              <a:xfrm>
                <a:off x="2101675" y="2754300"/>
                <a:ext cx="268056" cy="0"/>
              </a:xfrm>
              <a:prstGeom prst="straightConnector1">
                <a:avLst/>
              </a:prstGeom>
              <a:noFill/>
              <a:ln w="12700" cap="flat" cmpd="sng">
                <a:solidFill>
                  <a:schemeClr val="dk1"/>
                </a:solidFill>
                <a:prstDash val="solid"/>
                <a:round/>
                <a:headEnd type="none" w="sm" len="sm"/>
                <a:tailEnd type="triangle" w="med" len="med"/>
              </a:ln>
            </p:spPr>
          </p:cxnSp>
          <p:cxnSp>
            <p:nvCxnSpPr>
              <p:cNvPr id="2009" name="Google Shape;2009;p72"/>
              <p:cNvCxnSpPr/>
              <p:nvPr/>
            </p:nvCxnSpPr>
            <p:spPr>
              <a:xfrm>
                <a:off x="2101675" y="2399454"/>
                <a:ext cx="269165" cy="0"/>
              </a:xfrm>
              <a:prstGeom prst="straightConnector1">
                <a:avLst/>
              </a:prstGeom>
              <a:noFill/>
              <a:ln w="12700" cap="flat" cmpd="sng">
                <a:solidFill>
                  <a:schemeClr val="dk1"/>
                </a:solidFill>
                <a:prstDash val="solid"/>
                <a:round/>
                <a:headEnd type="none" w="sm" len="sm"/>
                <a:tailEnd type="triangle" w="med" len="med"/>
              </a:ln>
            </p:spPr>
          </p:cxnSp>
          <p:grpSp>
            <p:nvGrpSpPr>
              <p:cNvPr id="2010" name="Google Shape;2010;p72"/>
              <p:cNvGrpSpPr/>
              <p:nvPr/>
            </p:nvGrpSpPr>
            <p:grpSpPr>
              <a:xfrm>
                <a:off x="2380094" y="2194570"/>
                <a:ext cx="348692" cy="350167"/>
                <a:chOff x="9952875" y="192377"/>
                <a:chExt cx="376421" cy="380999"/>
              </a:xfrm>
            </p:grpSpPr>
            <p:sp>
              <p:nvSpPr>
                <p:cNvPr id="2011" name="Google Shape;2011;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012" name="Google Shape;2012;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13" name="Google Shape;2013;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2014" name="Google Shape;2014;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15" name="Google Shape;2015;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nvGrpSpPr>
              <p:cNvPr id="2016" name="Google Shape;2016;p72"/>
              <p:cNvGrpSpPr/>
              <p:nvPr/>
            </p:nvGrpSpPr>
            <p:grpSpPr>
              <a:xfrm>
                <a:off x="2380093" y="2579216"/>
                <a:ext cx="348692" cy="350167"/>
                <a:chOff x="9952875" y="192377"/>
                <a:chExt cx="376421" cy="380999"/>
              </a:xfrm>
            </p:grpSpPr>
            <p:sp>
              <p:nvSpPr>
                <p:cNvPr id="2017" name="Google Shape;2017;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018" name="Google Shape;2018;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19" name="Google Shape;2019;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2020" name="Google Shape;2020;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21" name="Google Shape;2021;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sp>
          <p:nvSpPr>
            <p:cNvPr id="2053" name="Google Shape;2053;p72"/>
            <p:cNvSpPr/>
            <p:nvPr/>
          </p:nvSpPr>
          <p:spPr>
            <a:xfrm>
              <a:off x="6445870" y="2794562"/>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ESX Mgmt</a:t>
              </a:r>
              <a:endParaRPr sz="1400" b="0" i="0" u="none" strike="noStrike" cap="none">
                <a:solidFill>
                  <a:srgbClr val="000000"/>
                </a:solidFill>
                <a:latin typeface="Arial"/>
                <a:ea typeface="Arial"/>
                <a:cs typeface="Arial"/>
                <a:sym typeface="Arial"/>
              </a:endParaRPr>
            </a:p>
          </p:txBody>
        </p:sp>
        <p:sp>
          <p:nvSpPr>
            <p:cNvPr id="2054" name="Google Shape;2054;p72"/>
            <p:cNvSpPr/>
            <p:nvPr/>
          </p:nvSpPr>
          <p:spPr>
            <a:xfrm>
              <a:off x="6445870" y="3336884"/>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vMotion</a:t>
              </a:r>
              <a:endParaRPr sz="700" b="0" i="0" u="none" strike="noStrike" cap="none">
                <a:solidFill>
                  <a:schemeClr val="dk1"/>
                </a:solidFill>
                <a:latin typeface="Arial"/>
                <a:ea typeface="Arial"/>
                <a:cs typeface="Arial"/>
                <a:sym typeface="Arial"/>
              </a:endParaRPr>
            </a:p>
          </p:txBody>
        </p:sp>
        <p:sp>
          <p:nvSpPr>
            <p:cNvPr id="2055" name="Google Shape;2055;p72"/>
            <p:cNvSpPr/>
            <p:nvPr/>
          </p:nvSpPr>
          <p:spPr>
            <a:xfrm>
              <a:off x="6445870" y="3875996"/>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Storage</a:t>
              </a:r>
              <a:endParaRPr sz="1400" b="0" i="0" u="none" strike="noStrike" cap="none">
                <a:solidFill>
                  <a:srgbClr val="000000"/>
                </a:solidFill>
                <a:latin typeface="Arial"/>
                <a:ea typeface="Arial"/>
                <a:cs typeface="Arial"/>
                <a:sym typeface="Arial"/>
              </a:endParaRPr>
            </a:p>
          </p:txBody>
        </p:sp>
        <p:sp>
          <p:nvSpPr>
            <p:cNvPr id="2056" name="Google Shape;2056;p72"/>
            <p:cNvSpPr/>
            <p:nvPr/>
          </p:nvSpPr>
          <p:spPr>
            <a:xfrm>
              <a:off x="6445870" y="2249488"/>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VM Mgmt</a:t>
              </a:r>
              <a:endParaRPr sz="1400" b="0" i="0" u="none" strike="noStrike" cap="none">
                <a:solidFill>
                  <a:srgbClr val="000000"/>
                </a:solidFill>
                <a:latin typeface="Arial"/>
                <a:ea typeface="Arial"/>
                <a:cs typeface="Arial"/>
                <a:sym typeface="Arial"/>
              </a:endParaRPr>
            </a:p>
          </p:txBody>
        </p:sp>
      </p:grpSp>
      <p:grpSp>
        <p:nvGrpSpPr>
          <p:cNvPr id="5" name="Group 4">
            <a:extLst>
              <a:ext uri="{FF2B5EF4-FFF2-40B4-BE49-F238E27FC236}">
                <a16:creationId xmlns:a16="http://schemas.microsoft.com/office/drawing/2014/main" id="{BF856236-10A7-AB3B-2163-961536F514E1}"/>
              </a:ext>
            </a:extLst>
          </p:cNvPr>
          <p:cNvGrpSpPr/>
          <p:nvPr/>
        </p:nvGrpSpPr>
        <p:grpSpPr>
          <a:xfrm>
            <a:off x="8871627" y="1101147"/>
            <a:ext cx="2538919" cy="5007822"/>
            <a:chOff x="8871627" y="1101147"/>
            <a:chExt cx="2538919" cy="5007822"/>
          </a:xfrm>
        </p:grpSpPr>
        <p:sp>
          <p:nvSpPr>
            <p:cNvPr id="1922" name="Google Shape;1922;p72"/>
            <p:cNvSpPr/>
            <p:nvPr/>
          </p:nvSpPr>
          <p:spPr>
            <a:xfrm>
              <a:off x="9143274" y="2074076"/>
              <a:ext cx="985149" cy="1801920"/>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23" name="Google Shape;1923;p72"/>
            <p:cNvSpPr/>
            <p:nvPr/>
          </p:nvSpPr>
          <p:spPr>
            <a:xfrm>
              <a:off x="10128424" y="2252240"/>
              <a:ext cx="503968" cy="654345"/>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vDS Uplinks</a:t>
              </a:r>
              <a:endParaRPr sz="1400" b="0" i="0" u="none" strike="noStrike" cap="none">
                <a:solidFill>
                  <a:srgbClr val="000000"/>
                </a:solidFill>
                <a:latin typeface="Arial"/>
                <a:ea typeface="Arial"/>
                <a:cs typeface="Arial"/>
                <a:sym typeface="Arial"/>
              </a:endParaRPr>
            </a:p>
          </p:txBody>
        </p:sp>
        <p:sp>
          <p:nvSpPr>
            <p:cNvPr id="1924" name="Google Shape;1924;p72"/>
            <p:cNvSpPr/>
            <p:nvPr/>
          </p:nvSpPr>
          <p:spPr>
            <a:xfrm>
              <a:off x="9276261" y="4224603"/>
              <a:ext cx="726007"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Storage</a:t>
              </a:r>
              <a:endParaRPr sz="1400" b="0" i="0" u="none" strike="noStrike" cap="none">
                <a:solidFill>
                  <a:srgbClr val="000000"/>
                </a:solidFill>
                <a:latin typeface="Arial"/>
                <a:ea typeface="Arial"/>
                <a:cs typeface="Arial"/>
                <a:sym typeface="Arial"/>
              </a:endParaRPr>
            </a:p>
          </p:txBody>
        </p:sp>
        <p:sp>
          <p:nvSpPr>
            <p:cNvPr id="1925" name="Google Shape;1925;p72"/>
            <p:cNvSpPr/>
            <p:nvPr/>
          </p:nvSpPr>
          <p:spPr>
            <a:xfrm>
              <a:off x="9010813" y="1669365"/>
              <a:ext cx="1725611" cy="4342328"/>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ESX Host</a:t>
              </a:r>
              <a:endParaRPr sz="1400" b="0" i="0" u="none" strike="noStrike" cap="none">
                <a:solidFill>
                  <a:srgbClr val="000000"/>
                </a:solidFill>
                <a:latin typeface="Arial"/>
                <a:ea typeface="Arial"/>
                <a:cs typeface="Arial"/>
                <a:sym typeface="Arial"/>
              </a:endParaRPr>
            </a:p>
          </p:txBody>
        </p:sp>
        <p:sp>
          <p:nvSpPr>
            <p:cNvPr id="1926" name="Google Shape;1926;p72"/>
            <p:cNvSpPr/>
            <p:nvPr/>
          </p:nvSpPr>
          <p:spPr>
            <a:xfrm>
              <a:off x="8871627" y="1101147"/>
              <a:ext cx="2538919" cy="5007822"/>
            </a:xfrm>
            <a:prstGeom prst="rect">
              <a:avLst/>
            </a:prstGeom>
            <a:noFill/>
            <a:ln w="12700" cap="flat" cmpd="sng">
              <a:solidFill>
                <a:schemeClr val="dk1"/>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900" b="0" i="0" u="none" strike="noStrike" cap="none">
                  <a:solidFill>
                    <a:srgbClr val="000000"/>
                  </a:solidFill>
                  <a:latin typeface="Arial"/>
                  <a:ea typeface="Arial"/>
                  <a:cs typeface="Arial"/>
                  <a:sym typeface="Arial"/>
                </a:rPr>
                <a:t>Storage and Workload Separation</a:t>
              </a:r>
              <a:endParaRPr sz="9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800"/>
                <a:buFont typeface="Arial"/>
                <a:buNone/>
              </a:pPr>
              <a:r>
                <a:rPr lang="en-US" sz="900" b="0" i="0" u="none" strike="noStrike" cap="none">
                  <a:solidFill>
                    <a:srgbClr val="000000"/>
                  </a:solidFill>
                  <a:latin typeface="Arial"/>
                  <a:ea typeface="Arial"/>
                  <a:cs typeface="Arial"/>
                  <a:sym typeface="Arial"/>
                </a:rPr>
                <a:t>Distributed Switch</a:t>
              </a:r>
              <a:endParaRPr sz="1400" b="0" i="0" u="none" strike="noStrike" cap="none">
                <a:solidFill>
                  <a:srgbClr val="000000"/>
                </a:solidFill>
                <a:latin typeface="Arial"/>
                <a:ea typeface="Arial"/>
                <a:cs typeface="Arial"/>
                <a:sym typeface="Arial"/>
              </a:endParaRPr>
            </a:p>
          </p:txBody>
        </p:sp>
        <p:sp>
          <p:nvSpPr>
            <p:cNvPr id="1927" name="Google Shape;1927;p72"/>
            <p:cNvSpPr/>
            <p:nvPr/>
          </p:nvSpPr>
          <p:spPr>
            <a:xfrm>
              <a:off x="10128424" y="4054167"/>
              <a:ext cx="503968" cy="654345"/>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vDS Uplinks</a:t>
              </a:r>
              <a:endParaRPr sz="1400" b="0" i="0" u="none" strike="noStrike" cap="none">
                <a:solidFill>
                  <a:srgbClr val="000000"/>
                </a:solidFill>
                <a:latin typeface="Arial"/>
                <a:ea typeface="Arial"/>
                <a:cs typeface="Arial"/>
                <a:sym typeface="Arial"/>
              </a:endParaRPr>
            </a:p>
          </p:txBody>
        </p:sp>
        <p:sp>
          <p:nvSpPr>
            <p:cNvPr id="1928" name="Google Shape;1928;p72"/>
            <p:cNvSpPr/>
            <p:nvPr/>
          </p:nvSpPr>
          <p:spPr>
            <a:xfrm>
              <a:off x="9143274" y="3965662"/>
              <a:ext cx="985149" cy="93985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29" name="Google Shape;1929;p72"/>
            <p:cNvSpPr/>
            <p:nvPr/>
          </p:nvSpPr>
          <p:spPr>
            <a:xfrm>
              <a:off x="9279002" y="5254482"/>
              <a:ext cx="723266"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Virtual Networking</a:t>
              </a:r>
              <a:endParaRPr sz="1400" b="0" i="0" u="none" strike="noStrike" cap="none">
                <a:solidFill>
                  <a:srgbClr val="000000"/>
                </a:solidFill>
                <a:latin typeface="Arial"/>
                <a:ea typeface="Arial"/>
                <a:cs typeface="Arial"/>
                <a:sym typeface="Arial"/>
              </a:endParaRPr>
            </a:p>
          </p:txBody>
        </p:sp>
        <p:sp>
          <p:nvSpPr>
            <p:cNvPr id="1930" name="Google Shape;1930;p72"/>
            <p:cNvSpPr/>
            <p:nvPr/>
          </p:nvSpPr>
          <p:spPr>
            <a:xfrm>
              <a:off x="10128424" y="5082524"/>
              <a:ext cx="503968" cy="654345"/>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vDS Uplinks</a:t>
              </a:r>
              <a:endParaRPr sz="1400" b="0" i="0" u="none" strike="noStrike" cap="none">
                <a:solidFill>
                  <a:srgbClr val="000000"/>
                </a:solidFill>
                <a:latin typeface="Arial"/>
                <a:ea typeface="Arial"/>
                <a:cs typeface="Arial"/>
                <a:sym typeface="Arial"/>
              </a:endParaRPr>
            </a:p>
          </p:txBody>
        </p:sp>
        <p:sp>
          <p:nvSpPr>
            <p:cNvPr id="1931" name="Google Shape;1931;p72"/>
            <p:cNvSpPr/>
            <p:nvPr/>
          </p:nvSpPr>
          <p:spPr>
            <a:xfrm>
              <a:off x="9143274" y="4994019"/>
              <a:ext cx="985149" cy="93985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977" name="Google Shape;1977;p72"/>
            <p:cNvGrpSpPr/>
            <p:nvPr/>
          </p:nvGrpSpPr>
          <p:grpSpPr>
            <a:xfrm>
              <a:off x="10632392" y="2212005"/>
              <a:ext cx="627111" cy="734813"/>
              <a:chOff x="2101675" y="2194570"/>
              <a:chExt cx="627111" cy="734813"/>
            </a:xfrm>
          </p:grpSpPr>
          <p:cxnSp>
            <p:nvCxnSpPr>
              <p:cNvPr id="1978" name="Google Shape;1978;p72"/>
              <p:cNvCxnSpPr/>
              <p:nvPr/>
            </p:nvCxnSpPr>
            <p:spPr>
              <a:xfrm>
                <a:off x="2101675" y="2754300"/>
                <a:ext cx="268056" cy="0"/>
              </a:xfrm>
              <a:prstGeom prst="straightConnector1">
                <a:avLst/>
              </a:prstGeom>
              <a:noFill/>
              <a:ln w="12700" cap="flat" cmpd="sng">
                <a:solidFill>
                  <a:schemeClr val="dk1"/>
                </a:solidFill>
                <a:prstDash val="solid"/>
                <a:round/>
                <a:headEnd type="none" w="sm" len="sm"/>
                <a:tailEnd type="triangle" w="med" len="med"/>
              </a:ln>
            </p:spPr>
          </p:cxnSp>
          <p:cxnSp>
            <p:nvCxnSpPr>
              <p:cNvPr id="1979" name="Google Shape;1979;p72"/>
              <p:cNvCxnSpPr/>
              <p:nvPr/>
            </p:nvCxnSpPr>
            <p:spPr>
              <a:xfrm>
                <a:off x="2101675" y="2399454"/>
                <a:ext cx="269165" cy="0"/>
              </a:xfrm>
              <a:prstGeom prst="straightConnector1">
                <a:avLst/>
              </a:prstGeom>
              <a:noFill/>
              <a:ln w="12700" cap="flat" cmpd="sng">
                <a:solidFill>
                  <a:schemeClr val="dk1"/>
                </a:solidFill>
                <a:prstDash val="solid"/>
                <a:round/>
                <a:headEnd type="none" w="sm" len="sm"/>
                <a:tailEnd type="triangle" w="med" len="med"/>
              </a:ln>
            </p:spPr>
          </p:cxnSp>
          <p:grpSp>
            <p:nvGrpSpPr>
              <p:cNvPr id="1980" name="Google Shape;1980;p72"/>
              <p:cNvGrpSpPr/>
              <p:nvPr/>
            </p:nvGrpSpPr>
            <p:grpSpPr>
              <a:xfrm>
                <a:off x="2380094" y="2194570"/>
                <a:ext cx="348692" cy="350167"/>
                <a:chOff x="9952875" y="192377"/>
                <a:chExt cx="376421" cy="380999"/>
              </a:xfrm>
            </p:grpSpPr>
            <p:sp>
              <p:nvSpPr>
                <p:cNvPr id="1981" name="Google Shape;1981;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982" name="Google Shape;1982;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83" name="Google Shape;1983;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1984" name="Google Shape;1984;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85" name="Google Shape;1985;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nvGrpSpPr>
              <p:cNvPr id="1986" name="Google Shape;1986;p72"/>
              <p:cNvGrpSpPr/>
              <p:nvPr/>
            </p:nvGrpSpPr>
            <p:grpSpPr>
              <a:xfrm>
                <a:off x="2380093" y="2579216"/>
                <a:ext cx="348692" cy="350167"/>
                <a:chOff x="9952875" y="192377"/>
                <a:chExt cx="376421" cy="380999"/>
              </a:xfrm>
            </p:grpSpPr>
            <p:sp>
              <p:nvSpPr>
                <p:cNvPr id="1987" name="Google Shape;1987;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988" name="Google Shape;1988;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89" name="Google Shape;1989;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1990" name="Google Shape;1990;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1991" name="Google Shape;1991;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grpSp>
          <p:nvGrpSpPr>
            <p:cNvPr id="2022" name="Google Shape;2022;p72"/>
            <p:cNvGrpSpPr/>
            <p:nvPr/>
          </p:nvGrpSpPr>
          <p:grpSpPr>
            <a:xfrm>
              <a:off x="10636606" y="3978264"/>
              <a:ext cx="627111" cy="734813"/>
              <a:chOff x="2101675" y="2194570"/>
              <a:chExt cx="627111" cy="734813"/>
            </a:xfrm>
          </p:grpSpPr>
          <p:cxnSp>
            <p:nvCxnSpPr>
              <p:cNvPr id="2023" name="Google Shape;2023;p72"/>
              <p:cNvCxnSpPr/>
              <p:nvPr/>
            </p:nvCxnSpPr>
            <p:spPr>
              <a:xfrm>
                <a:off x="2101675" y="2754300"/>
                <a:ext cx="268056" cy="0"/>
              </a:xfrm>
              <a:prstGeom prst="straightConnector1">
                <a:avLst/>
              </a:prstGeom>
              <a:noFill/>
              <a:ln w="12700" cap="flat" cmpd="sng">
                <a:solidFill>
                  <a:schemeClr val="dk1"/>
                </a:solidFill>
                <a:prstDash val="solid"/>
                <a:round/>
                <a:headEnd type="none" w="sm" len="sm"/>
                <a:tailEnd type="triangle" w="med" len="med"/>
              </a:ln>
            </p:spPr>
          </p:cxnSp>
          <p:cxnSp>
            <p:nvCxnSpPr>
              <p:cNvPr id="2024" name="Google Shape;2024;p72"/>
              <p:cNvCxnSpPr/>
              <p:nvPr/>
            </p:nvCxnSpPr>
            <p:spPr>
              <a:xfrm>
                <a:off x="2101675" y="2399454"/>
                <a:ext cx="269165" cy="0"/>
              </a:xfrm>
              <a:prstGeom prst="straightConnector1">
                <a:avLst/>
              </a:prstGeom>
              <a:noFill/>
              <a:ln w="12700" cap="flat" cmpd="sng">
                <a:solidFill>
                  <a:schemeClr val="dk1"/>
                </a:solidFill>
                <a:prstDash val="solid"/>
                <a:round/>
                <a:headEnd type="none" w="sm" len="sm"/>
                <a:tailEnd type="triangle" w="med" len="med"/>
              </a:ln>
            </p:spPr>
          </p:cxnSp>
          <p:grpSp>
            <p:nvGrpSpPr>
              <p:cNvPr id="2025" name="Google Shape;2025;p72"/>
              <p:cNvGrpSpPr/>
              <p:nvPr/>
            </p:nvGrpSpPr>
            <p:grpSpPr>
              <a:xfrm>
                <a:off x="2380094" y="2194570"/>
                <a:ext cx="348692" cy="350167"/>
                <a:chOff x="9952875" y="192377"/>
                <a:chExt cx="376421" cy="380999"/>
              </a:xfrm>
            </p:grpSpPr>
            <p:sp>
              <p:nvSpPr>
                <p:cNvPr id="2026" name="Google Shape;2026;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027" name="Google Shape;2027;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28" name="Google Shape;2028;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2029" name="Google Shape;2029;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30" name="Google Shape;2030;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nvGrpSpPr>
              <p:cNvPr id="2031" name="Google Shape;2031;p72"/>
              <p:cNvGrpSpPr/>
              <p:nvPr/>
            </p:nvGrpSpPr>
            <p:grpSpPr>
              <a:xfrm>
                <a:off x="2380093" y="2579216"/>
                <a:ext cx="348692" cy="350167"/>
                <a:chOff x="9952875" y="192377"/>
                <a:chExt cx="376421" cy="380999"/>
              </a:xfrm>
            </p:grpSpPr>
            <p:sp>
              <p:nvSpPr>
                <p:cNvPr id="2032" name="Google Shape;2032;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033" name="Google Shape;2033;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34" name="Google Shape;2034;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2035" name="Google Shape;2035;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36" name="Google Shape;2036;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grpSp>
          <p:nvGrpSpPr>
            <p:cNvPr id="2037" name="Google Shape;2037;p72"/>
            <p:cNvGrpSpPr/>
            <p:nvPr/>
          </p:nvGrpSpPr>
          <p:grpSpPr>
            <a:xfrm>
              <a:off x="10636606" y="5022040"/>
              <a:ext cx="627111" cy="734813"/>
              <a:chOff x="2101675" y="2194570"/>
              <a:chExt cx="627111" cy="734813"/>
            </a:xfrm>
          </p:grpSpPr>
          <p:cxnSp>
            <p:nvCxnSpPr>
              <p:cNvPr id="2038" name="Google Shape;2038;p72"/>
              <p:cNvCxnSpPr/>
              <p:nvPr/>
            </p:nvCxnSpPr>
            <p:spPr>
              <a:xfrm>
                <a:off x="2101675" y="2754300"/>
                <a:ext cx="268056" cy="0"/>
              </a:xfrm>
              <a:prstGeom prst="straightConnector1">
                <a:avLst/>
              </a:prstGeom>
              <a:noFill/>
              <a:ln w="12700" cap="flat" cmpd="sng">
                <a:solidFill>
                  <a:schemeClr val="dk1"/>
                </a:solidFill>
                <a:prstDash val="solid"/>
                <a:round/>
                <a:headEnd type="none" w="sm" len="sm"/>
                <a:tailEnd type="triangle" w="med" len="med"/>
              </a:ln>
            </p:spPr>
          </p:cxnSp>
          <p:cxnSp>
            <p:nvCxnSpPr>
              <p:cNvPr id="2039" name="Google Shape;2039;p72"/>
              <p:cNvCxnSpPr/>
              <p:nvPr/>
            </p:nvCxnSpPr>
            <p:spPr>
              <a:xfrm>
                <a:off x="2101675" y="2399454"/>
                <a:ext cx="269165" cy="0"/>
              </a:xfrm>
              <a:prstGeom prst="straightConnector1">
                <a:avLst/>
              </a:prstGeom>
              <a:noFill/>
              <a:ln w="12700" cap="flat" cmpd="sng">
                <a:solidFill>
                  <a:schemeClr val="dk1"/>
                </a:solidFill>
                <a:prstDash val="solid"/>
                <a:round/>
                <a:headEnd type="none" w="sm" len="sm"/>
                <a:tailEnd type="triangle" w="med" len="med"/>
              </a:ln>
            </p:spPr>
          </p:cxnSp>
          <p:grpSp>
            <p:nvGrpSpPr>
              <p:cNvPr id="2040" name="Google Shape;2040;p72"/>
              <p:cNvGrpSpPr/>
              <p:nvPr/>
            </p:nvGrpSpPr>
            <p:grpSpPr>
              <a:xfrm>
                <a:off x="2380094" y="2194570"/>
                <a:ext cx="348692" cy="350167"/>
                <a:chOff x="9952875" y="192377"/>
                <a:chExt cx="376421" cy="380999"/>
              </a:xfrm>
            </p:grpSpPr>
            <p:sp>
              <p:nvSpPr>
                <p:cNvPr id="2041" name="Google Shape;2041;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042" name="Google Shape;2042;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43" name="Google Shape;2043;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2044" name="Google Shape;2044;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45" name="Google Shape;2045;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nvGrpSpPr>
              <p:cNvPr id="2046" name="Google Shape;2046;p72"/>
              <p:cNvGrpSpPr/>
              <p:nvPr/>
            </p:nvGrpSpPr>
            <p:grpSpPr>
              <a:xfrm>
                <a:off x="2380093" y="2579216"/>
                <a:ext cx="348692" cy="350167"/>
                <a:chOff x="9952875" y="192377"/>
                <a:chExt cx="376421" cy="380999"/>
              </a:xfrm>
            </p:grpSpPr>
            <p:sp>
              <p:nvSpPr>
                <p:cNvPr id="2047" name="Google Shape;2047;p72"/>
                <p:cNvSpPr/>
                <p:nvPr/>
              </p:nvSpPr>
              <p:spPr>
                <a:xfrm>
                  <a:off x="9952875" y="192377"/>
                  <a:ext cx="376421" cy="380999"/>
                </a:xfrm>
                <a:prstGeom prst="rect">
                  <a:avLst/>
                </a:prstGeom>
                <a:noFill/>
                <a:ln w="12700" cap="flat" cmpd="sng">
                  <a:solidFill>
                    <a:srgbClr val="0033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048" name="Google Shape;2048;p72"/>
                <p:cNvCxnSpPr/>
                <p:nvPr/>
              </p:nvCxnSpPr>
              <p:spPr>
                <a:xfrm>
                  <a:off x="9999101" y="271124"/>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49" name="Google Shape;2049;p72"/>
                <p:cNvCxnSpPr/>
                <p:nvPr/>
              </p:nvCxnSpPr>
              <p:spPr>
                <a:xfrm rot="10800000">
                  <a:off x="10002144" y="349782"/>
                  <a:ext cx="277883" cy="0"/>
                </a:xfrm>
                <a:prstGeom prst="straightConnector1">
                  <a:avLst/>
                </a:prstGeom>
                <a:noFill/>
                <a:ln w="12700" cap="flat" cmpd="sng">
                  <a:solidFill>
                    <a:schemeClr val="dk1"/>
                  </a:solidFill>
                  <a:prstDash val="solid"/>
                  <a:round/>
                  <a:headEnd type="none" w="sm" len="sm"/>
                  <a:tailEnd type="triangle" w="med" len="med"/>
                </a:ln>
              </p:spPr>
            </p:cxnSp>
            <p:cxnSp>
              <p:nvCxnSpPr>
                <p:cNvPr id="2050" name="Google Shape;2050;p72"/>
                <p:cNvCxnSpPr/>
                <p:nvPr/>
              </p:nvCxnSpPr>
              <p:spPr>
                <a:xfrm>
                  <a:off x="10005756" y="423038"/>
                  <a:ext cx="283969" cy="0"/>
                </a:xfrm>
                <a:prstGeom prst="straightConnector1">
                  <a:avLst/>
                </a:prstGeom>
                <a:noFill/>
                <a:ln w="12700" cap="flat" cmpd="sng">
                  <a:solidFill>
                    <a:schemeClr val="dk1"/>
                  </a:solidFill>
                  <a:prstDash val="solid"/>
                  <a:round/>
                  <a:headEnd type="none" w="sm" len="sm"/>
                  <a:tailEnd type="triangle" w="med" len="med"/>
                </a:ln>
              </p:spPr>
            </p:cxnSp>
            <p:cxnSp>
              <p:nvCxnSpPr>
                <p:cNvPr id="2051" name="Google Shape;2051;p72"/>
                <p:cNvCxnSpPr/>
                <p:nvPr/>
              </p:nvCxnSpPr>
              <p:spPr>
                <a:xfrm rot="10800000">
                  <a:off x="10002144" y="502182"/>
                  <a:ext cx="277883" cy="0"/>
                </a:xfrm>
                <a:prstGeom prst="straightConnector1">
                  <a:avLst/>
                </a:prstGeom>
                <a:noFill/>
                <a:ln w="12700" cap="flat" cmpd="sng">
                  <a:solidFill>
                    <a:schemeClr val="dk1"/>
                  </a:solidFill>
                  <a:prstDash val="solid"/>
                  <a:round/>
                  <a:headEnd type="none" w="sm" len="sm"/>
                  <a:tailEnd type="triangle" w="med" len="med"/>
                </a:ln>
              </p:spPr>
            </p:cxnSp>
          </p:grpSp>
        </p:grpSp>
        <p:sp>
          <p:nvSpPr>
            <p:cNvPr id="2057" name="Google Shape;2057;p72"/>
            <p:cNvSpPr/>
            <p:nvPr/>
          </p:nvSpPr>
          <p:spPr>
            <a:xfrm>
              <a:off x="9276261" y="2794562"/>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ESX Mgmt</a:t>
              </a:r>
              <a:endParaRPr sz="1400" b="0" i="0" u="none" strike="noStrike" cap="none">
                <a:solidFill>
                  <a:srgbClr val="000000"/>
                </a:solidFill>
                <a:latin typeface="Arial"/>
                <a:ea typeface="Arial"/>
                <a:cs typeface="Arial"/>
                <a:sym typeface="Arial"/>
              </a:endParaRPr>
            </a:p>
          </p:txBody>
        </p:sp>
        <p:sp>
          <p:nvSpPr>
            <p:cNvPr id="2058" name="Google Shape;2058;p72"/>
            <p:cNvSpPr/>
            <p:nvPr/>
          </p:nvSpPr>
          <p:spPr>
            <a:xfrm>
              <a:off x="9276261" y="3336884"/>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vMotion</a:t>
              </a:r>
              <a:endParaRPr sz="700" b="0" i="0" u="none" strike="noStrike" cap="none">
                <a:solidFill>
                  <a:schemeClr val="dk1"/>
                </a:solidFill>
                <a:latin typeface="Arial"/>
                <a:ea typeface="Arial"/>
                <a:cs typeface="Arial"/>
                <a:sym typeface="Arial"/>
              </a:endParaRPr>
            </a:p>
          </p:txBody>
        </p:sp>
        <p:sp>
          <p:nvSpPr>
            <p:cNvPr id="2059" name="Google Shape;2059;p72"/>
            <p:cNvSpPr/>
            <p:nvPr/>
          </p:nvSpPr>
          <p:spPr>
            <a:xfrm>
              <a:off x="9276261" y="2249488"/>
              <a:ext cx="726008" cy="406392"/>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VM Mgmt</a:t>
              </a:r>
              <a:endParaRPr sz="1400" b="0" i="0" u="none" strike="noStrike" cap="none">
                <a:solidFill>
                  <a:srgbClr val="000000"/>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63"/>
        <p:cNvGrpSpPr/>
        <p:nvPr/>
      </p:nvGrpSpPr>
      <p:grpSpPr>
        <a:xfrm>
          <a:off x="0" y="0"/>
          <a:ext cx="0" cy="0"/>
          <a:chOff x="0" y="0"/>
          <a:chExt cx="0" cy="0"/>
        </a:xfrm>
      </p:grpSpPr>
      <p:sp>
        <p:nvSpPr>
          <p:cNvPr id="2064" name="Google Shape;2064;g35c6e7e29b5_0_0"/>
          <p:cNvSpPr txBox="1">
            <a:spLocks noGrp="1"/>
          </p:cNvSpPr>
          <p:nvPr>
            <p:ph type="title"/>
          </p:nvPr>
        </p:nvSpPr>
        <p:spPr>
          <a:xfrm>
            <a:off x="589108" y="938794"/>
            <a:ext cx="6427626" cy="1229360"/>
          </a:xfrm>
          <a:noFill/>
          <a:ln>
            <a:noFill/>
          </a:ln>
        </p:spPr>
        <p:txBody>
          <a:bodyPr spcFirstLastPara="1" wrap="square" lIns="0" tIns="0" rIns="0" bIns="0" anchor="b" anchorCtr="0">
            <a:noAutofit/>
          </a:bodyPr>
          <a:lstStyle/>
          <a:p>
            <a:pPr lvl="0"/>
            <a:r>
              <a:rPr lang="en-US" dirty="0"/>
              <a:t>NSX Edge Cluster Models </a:t>
            </a:r>
          </a:p>
        </p:txBody>
      </p:sp>
      <p:sp>
        <p:nvSpPr>
          <p:cNvPr id="2065" name="Google Shape;2065;g35c6e7e29b5_0_0"/>
          <p:cNvSpPr txBox="1">
            <a:spLocks noGrp="1"/>
          </p:cNvSpPr>
          <p:nvPr>
            <p:ph type="subTitle" idx="10"/>
          </p:nvPr>
        </p:nvSpPr>
        <p:spPr>
          <a:xfrm>
            <a:off x="602966" y="2267712"/>
            <a:ext cx="6408402" cy="700882"/>
          </a:xfrm>
          <a:noFill/>
          <a:ln>
            <a:noFill/>
          </a:ln>
        </p:spPr>
        <p:txBody>
          <a:bodyPr spcFirstLastPara="1" wrap="square" lIns="0" tIns="0" rIns="0" bIns="0" anchor="t" anchorCtr="0">
            <a:noAutofit/>
          </a:bodyPr>
          <a:lstStyle/>
          <a:p>
            <a:pPr lvl="0"/>
            <a:r>
              <a:rPr lang="en-US" dirty="0"/>
              <a:t>Single Availability Zones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69"/>
        <p:cNvGrpSpPr/>
        <p:nvPr/>
      </p:nvGrpSpPr>
      <p:grpSpPr>
        <a:xfrm>
          <a:off x="0" y="0"/>
          <a:ext cx="0" cy="0"/>
          <a:chOff x="0" y="0"/>
          <a:chExt cx="0" cy="0"/>
        </a:xfrm>
      </p:grpSpPr>
      <p:sp>
        <p:nvSpPr>
          <p:cNvPr id="2070" name="Google Shape;2070;g35c6e7e29b5_0_16"/>
          <p:cNvSpPr txBox="1">
            <a:spLocks noGrp="1"/>
          </p:cNvSpPr>
          <p:nvPr>
            <p:ph type="title"/>
          </p:nvPr>
        </p:nvSpPr>
        <p:spPr>
          <a:noFill/>
          <a:ln>
            <a:noFill/>
          </a:ln>
        </p:spPr>
        <p:txBody>
          <a:bodyPr spcFirstLastPara="1" wrap="square" lIns="0" tIns="0" rIns="0" bIns="0" anchor="b" anchorCtr="0">
            <a:noAutofit/>
          </a:bodyPr>
          <a:lstStyle/>
          <a:p>
            <a:pPr lvl="0"/>
            <a:r>
              <a:rPr lang="en-US" dirty="0"/>
              <a:t>NSX Edge Cluster Architecture</a:t>
            </a:r>
          </a:p>
        </p:txBody>
      </p:sp>
      <p:sp>
        <p:nvSpPr>
          <p:cNvPr id="3" name="Subtitle 2">
            <a:extLst>
              <a:ext uri="{FF2B5EF4-FFF2-40B4-BE49-F238E27FC236}">
                <a16:creationId xmlns:a16="http://schemas.microsoft.com/office/drawing/2014/main" id="{B0535552-309C-D42F-F26D-63878BA0A2E9}"/>
              </a:ext>
            </a:extLst>
          </p:cNvPr>
          <p:cNvSpPr>
            <a:spLocks noGrp="1"/>
          </p:cNvSpPr>
          <p:nvPr>
            <p:ph type="subTitle" idx="10"/>
          </p:nvPr>
        </p:nvSpPr>
        <p:spPr/>
        <p:txBody>
          <a:bodyPr/>
          <a:lstStyle/>
          <a:p>
            <a:r>
              <a:rPr lang="en-US" dirty="0"/>
              <a:t>Host Fault Tolerant NSX Edge Cluster</a:t>
            </a:r>
          </a:p>
        </p:txBody>
      </p:sp>
      <p:pic>
        <p:nvPicPr>
          <p:cNvPr id="2071" name="Google Shape;2071;g35c6e7e29b5_0_16"/>
          <p:cNvPicPr preferRelativeResize="0"/>
          <p:nvPr/>
        </p:nvPicPr>
        <p:blipFill rotWithShape="1">
          <a:blip r:embed="rId3">
            <a:alphaModFix/>
          </a:blip>
          <a:srcRect/>
          <a:stretch/>
        </p:blipFill>
        <p:spPr>
          <a:xfrm>
            <a:off x="5212378" y="1077652"/>
            <a:ext cx="1764068" cy="521514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75"/>
        <p:cNvGrpSpPr/>
        <p:nvPr/>
      </p:nvGrpSpPr>
      <p:grpSpPr>
        <a:xfrm>
          <a:off x="0" y="0"/>
          <a:ext cx="0" cy="0"/>
          <a:chOff x="0" y="0"/>
          <a:chExt cx="0" cy="0"/>
        </a:xfrm>
      </p:grpSpPr>
      <p:sp>
        <p:nvSpPr>
          <p:cNvPr id="2076" name="Google Shape;2076;g35c6e7e29b5_0_20"/>
          <p:cNvSpPr txBox="1">
            <a:spLocks noGrp="1"/>
          </p:cNvSpPr>
          <p:nvPr>
            <p:ph type="title"/>
          </p:nvPr>
        </p:nvSpPr>
        <p:spPr>
          <a:noFill/>
          <a:ln>
            <a:noFill/>
          </a:ln>
        </p:spPr>
        <p:txBody>
          <a:bodyPr spcFirstLastPara="1" wrap="square" lIns="0" tIns="0" rIns="0" bIns="0" anchor="b" anchorCtr="0">
            <a:noAutofit/>
          </a:bodyPr>
          <a:lstStyle/>
          <a:p>
            <a:pPr lvl="0"/>
            <a:r>
              <a:rPr lang="en-US" dirty="0"/>
              <a:t>NSX Edge Cluster Architecture</a:t>
            </a:r>
          </a:p>
        </p:txBody>
      </p:sp>
      <p:sp>
        <p:nvSpPr>
          <p:cNvPr id="2" name="Subtitle 1">
            <a:extLst>
              <a:ext uri="{FF2B5EF4-FFF2-40B4-BE49-F238E27FC236}">
                <a16:creationId xmlns:a16="http://schemas.microsoft.com/office/drawing/2014/main" id="{70B30C0A-28D1-959A-F5D0-EC3820E8FF6E}"/>
              </a:ext>
            </a:extLst>
          </p:cNvPr>
          <p:cNvSpPr>
            <a:spLocks noGrp="1"/>
          </p:cNvSpPr>
          <p:nvPr>
            <p:ph type="subTitle" idx="10"/>
          </p:nvPr>
        </p:nvSpPr>
        <p:spPr/>
        <p:txBody>
          <a:bodyPr/>
          <a:lstStyle/>
          <a:p>
            <a:r>
              <a:rPr lang="en-US" dirty="0"/>
              <a:t>Rack Fault Tolerant Design using two or more vertical Layer 2 vSphere clusters in separate racks</a:t>
            </a:r>
          </a:p>
        </p:txBody>
      </p:sp>
      <p:pic>
        <p:nvPicPr>
          <p:cNvPr id="2077" name="Google Shape;2077;g35c6e7e29b5_0_20"/>
          <p:cNvPicPr preferRelativeResize="0"/>
          <p:nvPr/>
        </p:nvPicPr>
        <p:blipFill rotWithShape="1">
          <a:blip r:embed="rId3">
            <a:alphaModFix/>
          </a:blip>
          <a:srcRect/>
          <a:stretch/>
        </p:blipFill>
        <p:spPr>
          <a:xfrm>
            <a:off x="4683623" y="1411664"/>
            <a:ext cx="3223760" cy="492817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075">
          <a:extLst>
            <a:ext uri="{FF2B5EF4-FFF2-40B4-BE49-F238E27FC236}">
              <a16:creationId xmlns:a16="http://schemas.microsoft.com/office/drawing/2014/main" id="{DBC5A96D-84B2-DEB6-B541-8C4E28A4CE3A}"/>
            </a:ext>
          </a:extLst>
        </p:cNvPr>
        <p:cNvGrpSpPr/>
        <p:nvPr/>
      </p:nvGrpSpPr>
      <p:grpSpPr>
        <a:xfrm>
          <a:off x="0" y="0"/>
          <a:ext cx="0" cy="0"/>
          <a:chOff x="0" y="0"/>
          <a:chExt cx="0" cy="0"/>
        </a:xfrm>
      </p:grpSpPr>
      <p:sp>
        <p:nvSpPr>
          <p:cNvPr id="2076" name="Google Shape;2076;g35c6e7e29b5_0_20">
            <a:extLst>
              <a:ext uri="{FF2B5EF4-FFF2-40B4-BE49-F238E27FC236}">
                <a16:creationId xmlns:a16="http://schemas.microsoft.com/office/drawing/2014/main" id="{3D6388F7-0DC0-5C67-5E9C-F48FE699DAF4}"/>
              </a:ext>
            </a:extLst>
          </p:cNvPr>
          <p:cNvSpPr txBox="1">
            <a:spLocks noGrp="1"/>
          </p:cNvSpPr>
          <p:nvPr>
            <p:ph type="title"/>
          </p:nvPr>
        </p:nvSpPr>
        <p:spPr>
          <a:noFill/>
          <a:ln>
            <a:noFill/>
          </a:ln>
        </p:spPr>
        <p:txBody>
          <a:bodyPr spcFirstLastPara="1" wrap="square" lIns="0" tIns="0" rIns="0" bIns="0" anchor="b" anchorCtr="0">
            <a:noAutofit/>
          </a:bodyPr>
          <a:lstStyle/>
          <a:p>
            <a:pPr lvl="0"/>
            <a:r>
              <a:rPr lang="en-US" dirty="0"/>
              <a:t>NSX Edge Cluster Architecture</a:t>
            </a:r>
          </a:p>
        </p:txBody>
      </p:sp>
      <p:sp>
        <p:nvSpPr>
          <p:cNvPr id="2" name="Subtitle 1">
            <a:extLst>
              <a:ext uri="{FF2B5EF4-FFF2-40B4-BE49-F238E27FC236}">
                <a16:creationId xmlns:a16="http://schemas.microsoft.com/office/drawing/2014/main" id="{5A2FDE7B-57F1-3018-676D-C2E6649591DB}"/>
              </a:ext>
            </a:extLst>
          </p:cNvPr>
          <p:cNvSpPr>
            <a:spLocks noGrp="1"/>
          </p:cNvSpPr>
          <p:nvPr>
            <p:ph type="subTitle" idx="10"/>
          </p:nvPr>
        </p:nvSpPr>
        <p:spPr/>
        <p:txBody>
          <a:bodyPr/>
          <a:lstStyle/>
          <a:p>
            <a:r>
              <a:rPr lang="en-US" dirty="0"/>
              <a:t>Rack Fault Tolerant Design using a single Layer 3 </a:t>
            </a:r>
            <a:r>
              <a:rPr lang="en-US" dirty="0" err="1"/>
              <a:t>vsphere</a:t>
            </a:r>
            <a:r>
              <a:rPr lang="en-US" dirty="0"/>
              <a:t> Cluster deployed across multiple racks</a:t>
            </a:r>
          </a:p>
        </p:txBody>
      </p:sp>
      <p:pic>
        <p:nvPicPr>
          <p:cNvPr id="3" name="Google Shape;2083;g35c6e7e29b5_0_24">
            <a:extLst>
              <a:ext uri="{FF2B5EF4-FFF2-40B4-BE49-F238E27FC236}">
                <a16:creationId xmlns:a16="http://schemas.microsoft.com/office/drawing/2014/main" id="{D26CE9CF-423C-CA1B-D16F-BC73084E18E9}"/>
              </a:ext>
            </a:extLst>
          </p:cNvPr>
          <p:cNvPicPr preferRelativeResize="0"/>
          <p:nvPr/>
        </p:nvPicPr>
        <p:blipFill rotWithShape="1">
          <a:blip r:embed="rId3">
            <a:alphaModFix/>
          </a:blip>
          <a:srcRect/>
          <a:stretch/>
        </p:blipFill>
        <p:spPr>
          <a:xfrm>
            <a:off x="2103596" y="1190864"/>
            <a:ext cx="7981632" cy="5088891"/>
          </a:xfrm>
          <a:prstGeom prst="rect">
            <a:avLst/>
          </a:prstGeom>
          <a:noFill/>
          <a:ln>
            <a:noFill/>
          </a:ln>
        </p:spPr>
      </p:pic>
    </p:spTree>
    <p:extLst>
      <p:ext uri="{BB962C8B-B14F-4D97-AF65-F5344CB8AC3E}">
        <p14:creationId xmlns:p14="http://schemas.microsoft.com/office/powerpoint/2010/main" val="3353142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075">
          <a:extLst>
            <a:ext uri="{FF2B5EF4-FFF2-40B4-BE49-F238E27FC236}">
              <a16:creationId xmlns:a16="http://schemas.microsoft.com/office/drawing/2014/main" id="{849809CB-B058-5DE3-F10A-A341A489EA2F}"/>
            </a:ext>
          </a:extLst>
        </p:cNvPr>
        <p:cNvGrpSpPr/>
        <p:nvPr/>
      </p:nvGrpSpPr>
      <p:grpSpPr>
        <a:xfrm>
          <a:off x="0" y="0"/>
          <a:ext cx="0" cy="0"/>
          <a:chOff x="0" y="0"/>
          <a:chExt cx="0" cy="0"/>
        </a:xfrm>
      </p:grpSpPr>
      <p:sp>
        <p:nvSpPr>
          <p:cNvPr id="2076" name="Google Shape;2076;g35c6e7e29b5_0_20">
            <a:extLst>
              <a:ext uri="{FF2B5EF4-FFF2-40B4-BE49-F238E27FC236}">
                <a16:creationId xmlns:a16="http://schemas.microsoft.com/office/drawing/2014/main" id="{92FAE659-FA2C-D3C7-01C5-FF7093A94A70}"/>
              </a:ext>
            </a:extLst>
          </p:cNvPr>
          <p:cNvSpPr txBox="1">
            <a:spLocks noGrp="1"/>
          </p:cNvSpPr>
          <p:nvPr>
            <p:ph type="title"/>
          </p:nvPr>
        </p:nvSpPr>
        <p:spPr>
          <a:noFill/>
          <a:ln>
            <a:noFill/>
          </a:ln>
        </p:spPr>
        <p:txBody>
          <a:bodyPr spcFirstLastPara="1" wrap="square" lIns="0" tIns="0" rIns="0" bIns="0" anchor="b" anchorCtr="0">
            <a:noAutofit/>
          </a:bodyPr>
          <a:lstStyle/>
          <a:p>
            <a:pPr lvl="0"/>
            <a:r>
              <a:rPr lang="en-US" dirty="0"/>
              <a:t>NSX Edge Cluster Architecture</a:t>
            </a:r>
          </a:p>
        </p:txBody>
      </p:sp>
      <p:sp>
        <p:nvSpPr>
          <p:cNvPr id="2" name="Subtitle 1">
            <a:extLst>
              <a:ext uri="{FF2B5EF4-FFF2-40B4-BE49-F238E27FC236}">
                <a16:creationId xmlns:a16="http://schemas.microsoft.com/office/drawing/2014/main" id="{619C4828-D23D-696C-33A4-71CAAE8DC5F0}"/>
              </a:ext>
            </a:extLst>
          </p:cNvPr>
          <p:cNvSpPr>
            <a:spLocks noGrp="1"/>
          </p:cNvSpPr>
          <p:nvPr>
            <p:ph type="subTitle" idx="10"/>
          </p:nvPr>
        </p:nvSpPr>
        <p:spPr/>
        <p:txBody>
          <a:bodyPr/>
          <a:lstStyle/>
          <a:p>
            <a:r>
              <a:rPr lang="en-US" sz="2000" dirty="0"/>
              <a:t>Rack Fault Tolerant Design using a single Layer 2 vSphere Cluster deployed across multiple racks</a:t>
            </a:r>
            <a:endParaRPr lang="en-US" dirty="0"/>
          </a:p>
        </p:txBody>
      </p:sp>
      <p:pic>
        <p:nvPicPr>
          <p:cNvPr id="4" name="Google Shape;2089;g35c6e7e29b5_0_38">
            <a:extLst>
              <a:ext uri="{FF2B5EF4-FFF2-40B4-BE49-F238E27FC236}">
                <a16:creationId xmlns:a16="http://schemas.microsoft.com/office/drawing/2014/main" id="{2F1248BF-1607-32EC-5A58-98A49254EDEF}"/>
              </a:ext>
            </a:extLst>
          </p:cNvPr>
          <p:cNvPicPr preferRelativeResize="0"/>
          <p:nvPr/>
        </p:nvPicPr>
        <p:blipFill rotWithShape="1">
          <a:blip r:embed="rId3">
            <a:alphaModFix/>
          </a:blip>
          <a:srcRect/>
          <a:stretch/>
        </p:blipFill>
        <p:spPr>
          <a:xfrm>
            <a:off x="2159463" y="1077652"/>
            <a:ext cx="7628971" cy="5175320"/>
          </a:xfrm>
          <a:prstGeom prst="rect">
            <a:avLst/>
          </a:prstGeom>
          <a:noFill/>
          <a:ln>
            <a:noFill/>
          </a:ln>
        </p:spPr>
      </p:pic>
    </p:spTree>
    <p:extLst>
      <p:ext uri="{BB962C8B-B14F-4D97-AF65-F5344CB8AC3E}">
        <p14:creationId xmlns:p14="http://schemas.microsoft.com/office/powerpoint/2010/main" val="2792370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093"/>
        <p:cNvGrpSpPr/>
        <p:nvPr/>
      </p:nvGrpSpPr>
      <p:grpSpPr>
        <a:xfrm>
          <a:off x="0" y="0"/>
          <a:ext cx="0" cy="0"/>
          <a:chOff x="0" y="0"/>
          <a:chExt cx="0" cy="0"/>
        </a:xfrm>
      </p:grpSpPr>
      <p:sp>
        <p:nvSpPr>
          <p:cNvPr id="2094" name="Google Shape;2094;g35c6e7e29b5_0_44"/>
          <p:cNvSpPr txBox="1">
            <a:spLocks noGrp="1"/>
          </p:cNvSpPr>
          <p:nvPr>
            <p:ph type="title"/>
          </p:nvPr>
        </p:nvSpPr>
        <p:spPr>
          <a:xfrm>
            <a:off x="589108" y="938794"/>
            <a:ext cx="6427626" cy="1229360"/>
          </a:xfrm>
          <a:noFill/>
          <a:ln>
            <a:noFill/>
          </a:ln>
        </p:spPr>
        <p:txBody>
          <a:bodyPr spcFirstLastPara="1" wrap="square" lIns="0" tIns="0" rIns="0" bIns="0" anchor="b" anchorCtr="0">
            <a:noAutofit/>
          </a:bodyPr>
          <a:lstStyle/>
          <a:p>
            <a:pPr lvl="0"/>
            <a:r>
              <a:rPr lang="en-US"/>
              <a:t>NSX Edge Cluster Models </a:t>
            </a:r>
          </a:p>
        </p:txBody>
      </p:sp>
      <p:sp>
        <p:nvSpPr>
          <p:cNvPr id="2095" name="Google Shape;2095;g35c6e7e29b5_0_44"/>
          <p:cNvSpPr txBox="1">
            <a:spLocks noGrp="1"/>
          </p:cNvSpPr>
          <p:nvPr>
            <p:ph type="subTitle" idx="10"/>
          </p:nvPr>
        </p:nvSpPr>
        <p:spPr>
          <a:xfrm>
            <a:off x="602966" y="2267712"/>
            <a:ext cx="6408402" cy="700882"/>
          </a:xfrm>
          <a:noFill/>
          <a:ln>
            <a:noFill/>
          </a:ln>
        </p:spPr>
        <p:txBody>
          <a:bodyPr spcFirstLastPara="1" wrap="square" lIns="0" tIns="0" rIns="0" bIns="0" anchor="t" anchorCtr="0">
            <a:noAutofit/>
          </a:bodyPr>
          <a:lstStyle/>
          <a:p>
            <a:pPr lvl="0"/>
            <a:r>
              <a:rPr lang="en-US"/>
              <a:t>Dual Availability Zones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069">
          <a:extLst>
            <a:ext uri="{FF2B5EF4-FFF2-40B4-BE49-F238E27FC236}">
              <a16:creationId xmlns:a16="http://schemas.microsoft.com/office/drawing/2014/main" id="{DF31306E-0263-E09C-6D2E-CFCD92B73297}"/>
            </a:ext>
          </a:extLst>
        </p:cNvPr>
        <p:cNvGrpSpPr/>
        <p:nvPr/>
      </p:nvGrpSpPr>
      <p:grpSpPr>
        <a:xfrm>
          <a:off x="0" y="0"/>
          <a:ext cx="0" cy="0"/>
          <a:chOff x="0" y="0"/>
          <a:chExt cx="0" cy="0"/>
        </a:xfrm>
      </p:grpSpPr>
      <p:sp>
        <p:nvSpPr>
          <p:cNvPr id="2070" name="Google Shape;2070;g35c6e7e29b5_0_16">
            <a:extLst>
              <a:ext uri="{FF2B5EF4-FFF2-40B4-BE49-F238E27FC236}">
                <a16:creationId xmlns:a16="http://schemas.microsoft.com/office/drawing/2014/main" id="{73F17F25-4239-7079-2C35-501263F02908}"/>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NSX Edge Cluster Architecture</a:t>
            </a:r>
          </a:p>
        </p:txBody>
      </p:sp>
      <p:sp>
        <p:nvSpPr>
          <p:cNvPr id="3" name="Subtitle 2">
            <a:extLst>
              <a:ext uri="{FF2B5EF4-FFF2-40B4-BE49-F238E27FC236}">
                <a16:creationId xmlns:a16="http://schemas.microsoft.com/office/drawing/2014/main" id="{70110409-D882-BA22-BC4D-024D4DE60799}"/>
              </a:ext>
            </a:extLst>
          </p:cNvPr>
          <p:cNvSpPr>
            <a:spLocks noGrp="1"/>
          </p:cNvSpPr>
          <p:nvPr>
            <p:ph type="subTitle" idx="10"/>
          </p:nvPr>
        </p:nvSpPr>
        <p:spPr>
          <a:xfrm>
            <a:off x="592866" y="811830"/>
            <a:ext cx="10962687" cy="247743"/>
          </a:xfrm>
        </p:spPr>
        <p:txBody>
          <a:bodyPr/>
          <a:lstStyle/>
          <a:p>
            <a:r>
              <a:rPr lang="en-US" dirty="0"/>
              <a:t>Dual Availability Zone Design based on NSX Edge Node HA - Dedicated vSphere cluster</a:t>
            </a:r>
          </a:p>
        </p:txBody>
      </p:sp>
      <p:pic>
        <p:nvPicPr>
          <p:cNvPr id="5" name="Google Shape;2101;g35c6e7e29b5_0_28">
            <a:extLst>
              <a:ext uri="{FF2B5EF4-FFF2-40B4-BE49-F238E27FC236}">
                <a16:creationId xmlns:a16="http://schemas.microsoft.com/office/drawing/2014/main" id="{0BFE9959-59B0-F8EC-1D0B-E198EFCC0AB9}"/>
              </a:ext>
            </a:extLst>
          </p:cNvPr>
          <p:cNvPicPr preferRelativeResize="0"/>
          <p:nvPr/>
        </p:nvPicPr>
        <p:blipFill rotWithShape="1">
          <a:blip r:embed="rId3">
            <a:alphaModFix/>
          </a:blip>
          <a:srcRect/>
          <a:stretch/>
        </p:blipFill>
        <p:spPr>
          <a:xfrm>
            <a:off x="5000325" y="1262741"/>
            <a:ext cx="4291721" cy="5346427"/>
          </a:xfrm>
          <a:prstGeom prst="rect">
            <a:avLst/>
          </a:prstGeom>
          <a:noFill/>
          <a:ln>
            <a:noFill/>
          </a:ln>
        </p:spPr>
      </p:pic>
    </p:spTree>
    <p:extLst>
      <p:ext uri="{BB962C8B-B14F-4D97-AF65-F5344CB8AC3E}">
        <p14:creationId xmlns:p14="http://schemas.microsoft.com/office/powerpoint/2010/main" val="3379932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069">
          <a:extLst>
            <a:ext uri="{FF2B5EF4-FFF2-40B4-BE49-F238E27FC236}">
              <a16:creationId xmlns:a16="http://schemas.microsoft.com/office/drawing/2014/main" id="{E89F42EA-95DB-EDA0-59BA-8F65563609DA}"/>
            </a:ext>
          </a:extLst>
        </p:cNvPr>
        <p:cNvGrpSpPr/>
        <p:nvPr/>
      </p:nvGrpSpPr>
      <p:grpSpPr>
        <a:xfrm>
          <a:off x="0" y="0"/>
          <a:ext cx="0" cy="0"/>
          <a:chOff x="0" y="0"/>
          <a:chExt cx="0" cy="0"/>
        </a:xfrm>
      </p:grpSpPr>
      <p:sp>
        <p:nvSpPr>
          <p:cNvPr id="2070" name="Google Shape;2070;g35c6e7e29b5_0_16">
            <a:extLst>
              <a:ext uri="{FF2B5EF4-FFF2-40B4-BE49-F238E27FC236}">
                <a16:creationId xmlns:a16="http://schemas.microsoft.com/office/drawing/2014/main" id="{607B480F-D319-C46C-8DB9-8B1A77B8231C}"/>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NSX Edge Cluster Architecture</a:t>
            </a:r>
          </a:p>
        </p:txBody>
      </p:sp>
      <p:sp>
        <p:nvSpPr>
          <p:cNvPr id="3" name="Subtitle 2">
            <a:extLst>
              <a:ext uri="{FF2B5EF4-FFF2-40B4-BE49-F238E27FC236}">
                <a16:creationId xmlns:a16="http://schemas.microsoft.com/office/drawing/2014/main" id="{B4D54B3E-C0A1-4A18-BAF2-4383706D258F}"/>
              </a:ext>
            </a:extLst>
          </p:cNvPr>
          <p:cNvSpPr>
            <a:spLocks noGrp="1"/>
          </p:cNvSpPr>
          <p:nvPr>
            <p:ph type="subTitle" idx="10"/>
          </p:nvPr>
        </p:nvSpPr>
        <p:spPr>
          <a:xfrm>
            <a:off x="592866" y="811830"/>
            <a:ext cx="10962687" cy="247743"/>
          </a:xfrm>
        </p:spPr>
        <p:txBody>
          <a:bodyPr/>
          <a:lstStyle/>
          <a:p>
            <a:r>
              <a:rPr lang="en-US" dirty="0"/>
              <a:t>Dual Availability Zone Design based on NSX Edge Node HA - stretched vSAN cluster</a:t>
            </a:r>
          </a:p>
        </p:txBody>
      </p:sp>
      <p:pic>
        <p:nvPicPr>
          <p:cNvPr id="6" name="Google Shape;2107;g35c6e7e29b5_0_61">
            <a:extLst>
              <a:ext uri="{FF2B5EF4-FFF2-40B4-BE49-F238E27FC236}">
                <a16:creationId xmlns:a16="http://schemas.microsoft.com/office/drawing/2014/main" id="{F788727B-E983-6771-A8BB-CE189DE161EC}"/>
              </a:ext>
            </a:extLst>
          </p:cNvPr>
          <p:cNvPicPr preferRelativeResize="0"/>
          <p:nvPr/>
        </p:nvPicPr>
        <p:blipFill rotWithShape="1">
          <a:blip r:embed="rId3">
            <a:alphaModFix/>
          </a:blip>
          <a:srcRect/>
          <a:stretch/>
        </p:blipFill>
        <p:spPr>
          <a:xfrm>
            <a:off x="5060078" y="1386721"/>
            <a:ext cx="3486393" cy="4833009"/>
          </a:xfrm>
          <a:prstGeom prst="rect">
            <a:avLst/>
          </a:prstGeom>
          <a:noFill/>
          <a:ln>
            <a:noFill/>
          </a:ln>
        </p:spPr>
      </p:pic>
    </p:spTree>
    <p:extLst>
      <p:ext uri="{BB962C8B-B14F-4D97-AF65-F5344CB8AC3E}">
        <p14:creationId xmlns:p14="http://schemas.microsoft.com/office/powerpoint/2010/main" val="128085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069">
          <a:extLst>
            <a:ext uri="{FF2B5EF4-FFF2-40B4-BE49-F238E27FC236}">
              <a16:creationId xmlns:a16="http://schemas.microsoft.com/office/drawing/2014/main" id="{3EE3B5EF-37A9-5527-169D-1361D19CCC38}"/>
            </a:ext>
          </a:extLst>
        </p:cNvPr>
        <p:cNvGrpSpPr/>
        <p:nvPr/>
      </p:nvGrpSpPr>
      <p:grpSpPr>
        <a:xfrm>
          <a:off x="0" y="0"/>
          <a:ext cx="0" cy="0"/>
          <a:chOff x="0" y="0"/>
          <a:chExt cx="0" cy="0"/>
        </a:xfrm>
      </p:grpSpPr>
      <p:sp>
        <p:nvSpPr>
          <p:cNvPr id="2070" name="Google Shape;2070;g35c6e7e29b5_0_16">
            <a:extLst>
              <a:ext uri="{FF2B5EF4-FFF2-40B4-BE49-F238E27FC236}">
                <a16:creationId xmlns:a16="http://schemas.microsoft.com/office/drawing/2014/main" id="{DFA7EE65-FF84-9E76-AF38-8AA484B60FC5}"/>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NSX Edge Cluster Architecture</a:t>
            </a:r>
          </a:p>
        </p:txBody>
      </p:sp>
      <p:sp>
        <p:nvSpPr>
          <p:cNvPr id="3" name="Subtitle 2">
            <a:extLst>
              <a:ext uri="{FF2B5EF4-FFF2-40B4-BE49-F238E27FC236}">
                <a16:creationId xmlns:a16="http://schemas.microsoft.com/office/drawing/2014/main" id="{870F9422-EAE6-912C-D546-868EF5E1A5D1}"/>
              </a:ext>
            </a:extLst>
          </p:cNvPr>
          <p:cNvSpPr>
            <a:spLocks noGrp="1"/>
          </p:cNvSpPr>
          <p:nvPr>
            <p:ph type="subTitle" idx="10"/>
          </p:nvPr>
        </p:nvSpPr>
        <p:spPr>
          <a:xfrm>
            <a:off x="592866" y="811830"/>
            <a:ext cx="10962687" cy="247743"/>
          </a:xfrm>
        </p:spPr>
        <p:txBody>
          <a:bodyPr/>
          <a:lstStyle/>
          <a:p>
            <a:r>
              <a:rPr lang="en-US" dirty="0"/>
              <a:t>Dual Availability Zone Design based on vSphere HA Recovery</a:t>
            </a:r>
          </a:p>
        </p:txBody>
      </p:sp>
      <p:pic>
        <p:nvPicPr>
          <p:cNvPr id="5" name="Google Shape;2113;g35c6e7e29b5_0_65">
            <a:extLst>
              <a:ext uri="{FF2B5EF4-FFF2-40B4-BE49-F238E27FC236}">
                <a16:creationId xmlns:a16="http://schemas.microsoft.com/office/drawing/2014/main" id="{68678100-7D3D-3EB1-DE14-EA3830E21339}"/>
              </a:ext>
            </a:extLst>
          </p:cNvPr>
          <p:cNvPicPr preferRelativeResize="0"/>
          <p:nvPr/>
        </p:nvPicPr>
        <p:blipFill rotWithShape="1">
          <a:blip r:embed="rId3">
            <a:alphaModFix/>
          </a:blip>
          <a:srcRect/>
          <a:stretch/>
        </p:blipFill>
        <p:spPr>
          <a:xfrm>
            <a:off x="4581238" y="1330035"/>
            <a:ext cx="4350327" cy="4969165"/>
          </a:xfrm>
          <a:prstGeom prst="rect">
            <a:avLst/>
          </a:prstGeom>
          <a:noFill/>
          <a:ln>
            <a:noFill/>
          </a:ln>
        </p:spPr>
      </p:pic>
    </p:spTree>
    <p:extLst>
      <p:ext uri="{BB962C8B-B14F-4D97-AF65-F5344CB8AC3E}">
        <p14:creationId xmlns:p14="http://schemas.microsoft.com/office/powerpoint/2010/main" val="310803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sp>
        <p:nvSpPr>
          <p:cNvPr id="2" name="Title 1">
            <a:extLst>
              <a:ext uri="{FF2B5EF4-FFF2-40B4-BE49-F238E27FC236}">
                <a16:creationId xmlns:a16="http://schemas.microsoft.com/office/drawing/2014/main" id="{7B7C6E9E-1F4E-4C29-A0DB-CCA79A13B555}"/>
              </a:ext>
            </a:extLst>
          </p:cNvPr>
          <p:cNvSpPr>
            <a:spLocks noGrp="1"/>
          </p:cNvSpPr>
          <p:nvPr>
            <p:ph type="title"/>
          </p:nvPr>
        </p:nvSpPr>
        <p:spPr>
          <a:xfrm>
            <a:off x="589108" y="938794"/>
            <a:ext cx="6427626" cy="1229360"/>
          </a:xfrm>
        </p:spPr>
        <p:txBody>
          <a:bodyPr/>
          <a:lstStyle/>
          <a:p>
            <a:r>
              <a:rPr lang="en-US" dirty="0"/>
              <a:t>VMware Pro Cloud Services for Private Cloud Infrastructure</a:t>
            </a:r>
          </a:p>
        </p:txBody>
      </p:sp>
      <p:sp>
        <p:nvSpPr>
          <p:cNvPr id="1442" name="Google Shape;1442;p131"/>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US" dirty="0"/>
              <a:t>VCF Automation Architecture Patterns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446"/>
        <p:cNvGrpSpPr/>
        <p:nvPr/>
      </p:nvGrpSpPr>
      <p:grpSpPr>
        <a:xfrm>
          <a:off x="0" y="0"/>
          <a:ext cx="0" cy="0"/>
          <a:chOff x="0" y="0"/>
          <a:chExt cx="0" cy="0"/>
        </a:xfrm>
      </p:grpSpPr>
      <p:sp>
        <p:nvSpPr>
          <p:cNvPr id="1447" name="Google Shape;1447;p39"/>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a:t>
            </a:r>
          </a:p>
        </p:txBody>
      </p:sp>
      <p:sp>
        <p:nvSpPr>
          <p:cNvPr id="1448" name="Google Shape;1448;p39"/>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Logical Design</a:t>
            </a:r>
          </a:p>
        </p:txBody>
      </p:sp>
      <p:pic>
        <p:nvPicPr>
          <p:cNvPr id="2" name="Google Shape;1533;p6">
            <a:extLst>
              <a:ext uri="{FF2B5EF4-FFF2-40B4-BE49-F238E27FC236}">
                <a16:creationId xmlns:a16="http://schemas.microsoft.com/office/drawing/2014/main" id="{E94AB3A2-D64A-4566-EA94-A068F5E7362F}"/>
              </a:ext>
            </a:extLst>
          </p:cNvPr>
          <p:cNvPicPr preferRelativeResize="0"/>
          <p:nvPr/>
        </p:nvPicPr>
        <p:blipFill rotWithShape="1">
          <a:blip r:embed="rId3">
            <a:alphaModFix/>
          </a:blip>
          <a:srcRect/>
          <a:stretch/>
        </p:blipFill>
        <p:spPr>
          <a:xfrm>
            <a:off x="1031362" y="1341092"/>
            <a:ext cx="10360501" cy="454121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46"/>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 (2)</a:t>
            </a:r>
          </a:p>
        </p:txBody>
      </p:sp>
      <p:sp>
        <p:nvSpPr>
          <p:cNvPr id="1592" name="Google Shape;1592;p46"/>
          <p:cNvSpPr txBox="1">
            <a:spLocks noGrp="1"/>
          </p:cNvSpPr>
          <p:nvPr>
            <p:ph type="subTitle" idx="10"/>
          </p:nvPr>
        </p:nvSpPr>
        <p:spPr>
          <a:xfrm>
            <a:off x="592866" y="811830"/>
            <a:ext cx="10987947" cy="247743"/>
          </a:xfrm>
          <a:noFill/>
          <a:ln>
            <a:noFill/>
          </a:ln>
        </p:spPr>
        <p:txBody>
          <a:bodyPr spcFirstLastPara="1" wrap="square" lIns="0" tIns="0" rIns="0" bIns="0" anchor="t" anchorCtr="0">
            <a:noAutofit/>
          </a:bodyPr>
          <a:lstStyle/>
          <a:p>
            <a:r>
              <a:rPr lang="en-US" dirty="0"/>
              <a:t>Logical Design</a:t>
            </a:r>
          </a:p>
          <a:p>
            <a:pPr lvl="0"/>
            <a:endParaRPr lang="en-US" dirty="0"/>
          </a:p>
        </p:txBody>
      </p:sp>
      <p:pic>
        <p:nvPicPr>
          <p:cNvPr id="1593" name="Google Shape;1593;p46"/>
          <p:cNvPicPr preferRelativeResize="0"/>
          <p:nvPr/>
        </p:nvPicPr>
        <p:blipFill rotWithShape="1">
          <a:blip r:embed="rId3">
            <a:alphaModFix/>
          </a:blip>
          <a:srcRect/>
          <a:stretch/>
        </p:blipFill>
        <p:spPr>
          <a:xfrm>
            <a:off x="1381400" y="1303143"/>
            <a:ext cx="9426025" cy="464191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53"/>
        <p:cNvGrpSpPr/>
        <p:nvPr/>
      </p:nvGrpSpPr>
      <p:grpSpPr>
        <a:xfrm>
          <a:off x="0" y="0"/>
          <a:ext cx="0" cy="0"/>
          <a:chOff x="0" y="0"/>
          <a:chExt cx="0" cy="0"/>
        </a:xfrm>
      </p:grpSpPr>
      <p:sp>
        <p:nvSpPr>
          <p:cNvPr id="1454" name="Google Shape;1454;p40"/>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a:t>
            </a:r>
          </a:p>
        </p:txBody>
      </p:sp>
      <p:sp>
        <p:nvSpPr>
          <p:cNvPr id="1455" name="Google Shape;1455;p40"/>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Organizational Construct Hierarchy Object Flow</a:t>
            </a:r>
          </a:p>
        </p:txBody>
      </p:sp>
      <p:pic>
        <p:nvPicPr>
          <p:cNvPr id="2" name="Google Shape;1621;p74">
            <a:extLst>
              <a:ext uri="{FF2B5EF4-FFF2-40B4-BE49-F238E27FC236}">
                <a16:creationId xmlns:a16="http://schemas.microsoft.com/office/drawing/2014/main" id="{22C167B4-B59F-1F6C-81E5-A99E01088D03}"/>
              </a:ext>
            </a:extLst>
          </p:cNvPr>
          <p:cNvPicPr preferRelativeResize="0"/>
          <p:nvPr/>
        </p:nvPicPr>
        <p:blipFill rotWithShape="1">
          <a:blip r:embed="rId3">
            <a:alphaModFix/>
          </a:blip>
          <a:srcRect/>
          <a:stretch/>
        </p:blipFill>
        <p:spPr>
          <a:xfrm>
            <a:off x="1120317" y="1640724"/>
            <a:ext cx="9756139" cy="401215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460"/>
        <p:cNvGrpSpPr/>
        <p:nvPr/>
      </p:nvGrpSpPr>
      <p:grpSpPr>
        <a:xfrm>
          <a:off x="0" y="0"/>
          <a:ext cx="0" cy="0"/>
          <a:chOff x="0" y="0"/>
          <a:chExt cx="0" cy="0"/>
        </a:xfrm>
      </p:grpSpPr>
      <p:sp>
        <p:nvSpPr>
          <p:cNvPr id="1461" name="Google Shape;1461;p41"/>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a:t>
            </a:r>
          </a:p>
        </p:txBody>
      </p:sp>
      <p:sp>
        <p:nvSpPr>
          <p:cNvPr id="1462" name="Google Shape;1462;p41"/>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Org Hierarchy with VPCs</a:t>
            </a:r>
          </a:p>
        </p:txBody>
      </p:sp>
      <p:pic>
        <p:nvPicPr>
          <p:cNvPr id="2" name="Google Shape;1689;p76">
            <a:extLst>
              <a:ext uri="{FF2B5EF4-FFF2-40B4-BE49-F238E27FC236}">
                <a16:creationId xmlns:a16="http://schemas.microsoft.com/office/drawing/2014/main" id="{A49F71C4-8DA1-1D79-7F36-16AEF4FFF2CF}"/>
              </a:ext>
            </a:extLst>
          </p:cNvPr>
          <p:cNvPicPr preferRelativeResize="0"/>
          <p:nvPr/>
        </p:nvPicPr>
        <p:blipFill rotWithShape="1">
          <a:blip r:embed="rId3">
            <a:alphaModFix/>
          </a:blip>
          <a:srcRect/>
          <a:stretch/>
        </p:blipFill>
        <p:spPr>
          <a:xfrm>
            <a:off x="743329" y="1660701"/>
            <a:ext cx="10725860" cy="369507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460">
          <a:extLst>
            <a:ext uri="{FF2B5EF4-FFF2-40B4-BE49-F238E27FC236}">
              <a16:creationId xmlns:a16="http://schemas.microsoft.com/office/drawing/2014/main" id="{D491223E-EAF3-90EE-48AB-0914DD338A95}"/>
            </a:ext>
          </a:extLst>
        </p:cNvPr>
        <p:cNvGrpSpPr/>
        <p:nvPr/>
      </p:nvGrpSpPr>
      <p:grpSpPr>
        <a:xfrm>
          <a:off x="0" y="0"/>
          <a:ext cx="0" cy="0"/>
          <a:chOff x="0" y="0"/>
          <a:chExt cx="0" cy="0"/>
        </a:xfrm>
      </p:grpSpPr>
      <p:sp>
        <p:nvSpPr>
          <p:cNvPr id="1461" name="Google Shape;1461;p41">
            <a:extLst>
              <a:ext uri="{FF2B5EF4-FFF2-40B4-BE49-F238E27FC236}">
                <a16:creationId xmlns:a16="http://schemas.microsoft.com/office/drawing/2014/main" id="{030FA162-78A7-061D-310D-C1DB10829649}"/>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a:t>
            </a:r>
          </a:p>
        </p:txBody>
      </p:sp>
      <p:sp>
        <p:nvSpPr>
          <p:cNvPr id="1462" name="Google Shape;1462;p41">
            <a:extLst>
              <a:ext uri="{FF2B5EF4-FFF2-40B4-BE49-F238E27FC236}">
                <a16:creationId xmlns:a16="http://schemas.microsoft.com/office/drawing/2014/main" id="{597F36AB-B4B3-5A60-04C4-20101103753A}"/>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Provider Consumption Org Flowchart</a:t>
            </a:r>
          </a:p>
        </p:txBody>
      </p:sp>
      <p:pic>
        <p:nvPicPr>
          <p:cNvPr id="3" name="Google Shape;1715;p78">
            <a:extLst>
              <a:ext uri="{FF2B5EF4-FFF2-40B4-BE49-F238E27FC236}">
                <a16:creationId xmlns:a16="http://schemas.microsoft.com/office/drawing/2014/main" id="{038BEA93-0CFE-1755-DE8A-0E7EA017EEEC}"/>
              </a:ext>
            </a:extLst>
          </p:cNvPr>
          <p:cNvPicPr preferRelativeResize="0"/>
          <p:nvPr/>
        </p:nvPicPr>
        <p:blipFill rotWithShape="1">
          <a:blip r:embed="rId3">
            <a:alphaModFix/>
          </a:blip>
          <a:srcRect/>
          <a:stretch/>
        </p:blipFill>
        <p:spPr>
          <a:xfrm>
            <a:off x="2746975" y="1460125"/>
            <a:ext cx="6388976" cy="4586045"/>
          </a:xfrm>
          <a:prstGeom prst="rect">
            <a:avLst/>
          </a:prstGeom>
          <a:noFill/>
          <a:ln>
            <a:noFill/>
          </a:ln>
        </p:spPr>
      </p:pic>
    </p:spTree>
    <p:extLst>
      <p:ext uri="{BB962C8B-B14F-4D97-AF65-F5344CB8AC3E}">
        <p14:creationId xmlns:p14="http://schemas.microsoft.com/office/powerpoint/2010/main" val="2562432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460">
          <a:extLst>
            <a:ext uri="{FF2B5EF4-FFF2-40B4-BE49-F238E27FC236}">
              <a16:creationId xmlns:a16="http://schemas.microsoft.com/office/drawing/2014/main" id="{38256353-D9D2-0DC9-B6DD-B0889EEB0F11}"/>
            </a:ext>
          </a:extLst>
        </p:cNvPr>
        <p:cNvGrpSpPr/>
        <p:nvPr/>
      </p:nvGrpSpPr>
      <p:grpSpPr>
        <a:xfrm>
          <a:off x="0" y="0"/>
          <a:ext cx="0" cy="0"/>
          <a:chOff x="0" y="0"/>
          <a:chExt cx="0" cy="0"/>
        </a:xfrm>
      </p:grpSpPr>
      <p:sp>
        <p:nvSpPr>
          <p:cNvPr id="1461" name="Google Shape;1461;p41">
            <a:extLst>
              <a:ext uri="{FF2B5EF4-FFF2-40B4-BE49-F238E27FC236}">
                <a16:creationId xmlns:a16="http://schemas.microsoft.com/office/drawing/2014/main" id="{55A7A092-6D31-1FE8-0A4D-F0BED291CECF}"/>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a:t>
            </a:r>
          </a:p>
        </p:txBody>
      </p:sp>
      <p:sp>
        <p:nvSpPr>
          <p:cNvPr id="1462" name="Google Shape;1462;p41">
            <a:extLst>
              <a:ext uri="{FF2B5EF4-FFF2-40B4-BE49-F238E27FC236}">
                <a16:creationId xmlns:a16="http://schemas.microsoft.com/office/drawing/2014/main" id="{90EF1CF9-D2E7-2D6A-24D5-5352B95D670A}"/>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Example: Supervisor to Organization Relationship</a:t>
            </a:r>
          </a:p>
        </p:txBody>
      </p:sp>
      <p:pic>
        <p:nvPicPr>
          <p:cNvPr id="2" name="Graphic 1">
            <a:extLst>
              <a:ext uri="{FF2B5EF4-FFF2-40B4-BE49-F238E27FC236}">
                <a16:creationId xmlns:a16="http://schemas.microsoft.com/office/drawing/2014/main" id="{B132AEAC-CBCE-0798-D5F2-B3A44B65BF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0999" y="1281689"/>
            <a:ext cx="11538754" cy="4763799"/>
          </a:xfrm>
          <a:prstGeom prst="rect">
            <a:avLst/>
          </a:prstGeom>
        </p:spPr>
      </p:pic>
    </p:spTree>
    <p:extLst>
      <p:ext uri="{BB962C8B-B14F-4D97-AF65-F5344CB8AC3E}">
        <p14:creationId xmlns:p14="http://schemas.microsoft.com/office/powerpoint/2010/main" val="2434599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460">
          <a:extLst>
            <a:ext uri="{FF2B5EF4-FFF2-40B4-BE49-F238E27FC236}">
              <a16:creationId xmlns:a16="http://schemas.microsoft.com/office/drawing/2014/main" id="{8BBCBC63-84D7-7C09-3969-DB542AE765E1}"/>
            </a:ext>
          </a:extLst>
        </p:cNvPr>
        <p:cNvGrpSpPr/>
        <p:nvPr/>
      </p:nvGrpSpPr>
      <p:grpSpPr>
        <a:xfrm>
          <a:off x="0" y="0"/>
          <a:ext cx="0" cy="0"/>
          <a:chOff x="0" y="0"/>
          <a:chExt cx="0" cy="0"/>
        </a:xfrm>
      </p:grpSpPr>
      <p:sp>
        <p:nvSpPr>
          <p:cNvPr id="1461" name="Google Shape;1461;p41">
            <a:extLst>
              <a:ext uri="{FF2B5EF4-FFF2-40B4-BE49-F238E27FC236}">
                <a16:creationId xmlns:a16="http://schemas.microsoft.com/office/drawing/2014/main" id="{D15062EC-7EF2-BAD9-B89F-D610447E276F}"/>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a:t>
            </a:r>
          </a:p>
        </p:txBody>
      </p:sp>
      <p:sp>
        <p:nvSpPr>
          <p:cNvPr id="1462" name="Google Shape;1462;p41">
            <a:extLst>
              <a:ext uri="{FF2B5EF4-FFF2-40B4-BE49-F238E27FC236}">
                <a16:creationId xmlns:a16="http://schemas.microsoft.com/office/drawing/2014/main" id="{F92F591F-C559-CE99-05F3-5BD1462AFF20}"/>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Org / Tennant Model</a:t>
            </a:r>
          </a:p>
        </p:txBody>
      </p:sp>
      <p:pic>
        <p:nvPicPr>
          <p:cNvPr id="3" name="Graphic 2">
            <a:extLst>
              <a:ext uri="{FF2B5EF4-FFF2-40B4-BE49-F238E27FC236}">
                <a16:creationId xmlns:a16="http://schemas.microsoft.com/office/drawing/2014/main" id="{0984C8C0-7E5C-D4E9-FE3E-C7DC4E3525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07509" y="1231584"/>
            <a:ext cx="9161933" cy="4814586"/>
          </a:xfrm>
          <a:prstGeom prst="rect">
            <a:avLst/>
          </a:prstGeom>
        </p:spPr>
      </p:pic>
    </p:spTree>
    <p:extLst>
      <p:ext uri="{BB962C8B-B14F-4D97-AF65-F5344CB8AC3E}">
        <p14:creationId xmlns:p14="http://schemas.microsoft.com/office/powerpoint/2010/main" val="4019954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467"/>
        <p:cNvGrpSpPr/>
        <p:nvPr/>
      </p:nvGrpSpPr>
      <p:grpSpPr>
        <a:xfrm>
          <a:off x="0" y="0"/>
          <a:ext cx="0" cy="0"/>
          <a:chOff x="0" y="0"/>
          <a:chExt cx="0" cy="0"/>
        </a:xfrm>
      </p:grpSpPr>
      <p:sp>
        <p:nvSpPr>
          <p:cNvPr id="2" name="Title 1">
            <a:extLst>
              <a:ext uri="{FF2B5EF4-FFF2-40B4-BE49-F238E27FC236}">
                <a16:creationId xmlns:a16="http://schemas.microsoft.com/office/drawing/2014/main" id="{FCD36905-EB35-2E8D-FB20-FB1D526D6299}"/>
              </a:ext>
            </a:extLst>
          </p:cNvPr>
          <p:cNvSpPr>
            <a:spLocks noGrp="1"/>
          </p:cNvSpPr>
          <p:nvPr>
            <p:ph type="title"/>
          </p:nvPr>
        </p:nvSpPr>
        <p:spPr>
          <a:xfrm>
            <a:off x="589107" y="938794"/>
            <a:ext cx="6864115" cy="1229360"/>
          </a:xfrm>
        </p:spPr>
        <p:txBody>
          <a:bodyPr/>
          <a:lstStyle/>
          <a:p>
            <a:r>
              <a:rPr lang="en-US" dirty="0"/>
              <a:t>VMware Pro Cloud Services for Private Cloud</a:t>
            </a:r>
          </a:p>
        </p:txBody>
      </p:sp>
      <p:sp>
        <p:nvSpPr>
          <p:cNvPr id="1468" name="Google Shape;1468;p132"/>
          <p:cNvSpPr txBox="1">
            <a:spLocks noGrp="1"/>
          </p:cNvSpPr>
          <p:nvPr>
            <p:ph type="subTitle" idx="10"/>
          </p:nvPr>
        </p:nvSpPr>
        <p:spPr>
          <a:prstGeom prst="rect">
            <a:avLst/>
          </a:prstGeom>
          <a:noFill/>
          <a:ln>
            <a:noFill/>
          </a:ln>
        </p:spPr>
        <p:txBody>
          <a:bodyPr spcFirstLastPara="1" wrap="square" lIns="0" tIns="0" rIns="0" bIns="0" anchor="b" anchorCtr="0">
            <a:normAutofit/>
          </a:bodyPr>
          <a:lstStyle/>
          <a:p>
            <a:pPr marL="0" marR="0" lvl="0" indent="0" algn="l" rtl="0">
              <a:lnSpc>
                <a:spcPct val="85000"/>
              </a:lnSpc>
              <a:spcBef>
                <a:spcPts val="1200"/>
              </a:spcBef>
              <a:spcAft>
                <a:spcPts val="0"/>
              </a:spcAft>
              <a:buClr>
                <a:schemeClr val="dk2"/>
              </a:buClr>
              <a:buSzPts val="3100"/>
              <a:buFont typeface="Arial"/>
              <a:buNone/>
            </a:pPr>
            <a:r>
              <a:rPr lang="en-US" dirty="0">
                <a:solidFill>
                  <a:schemeClr val="dk2"/>
                </a:solidFill>
              </a:rPr>
              <a:t>VCF Operations Architecture Patterns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472"/>
        <p:cNvGrpSpPr/>
        <p:nvPr/>
      </p:nvGrpSpPr>
      <p:grpSpPr>
        <a:xfrm>
          <a:off x="0" y="0"/>
          <a:ext cx="0" cy="0"/>
          <a:chOff x="0" y="0"/>
          <a:chExt cx="0" cy="0"/>
        </a:xfrm>
      </p:grpSpPr>
      <p:sp>
        <p:nvSpPr>
          <p:cNvPr id="1473" name="Google Shape;1473;p43"/>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Operations</a:t>
            </a:r>
          </a:p>
        </p:txBody>
      </p:sp>
      <p:sp>
        <p:nvSpPr>
          <p:cNvPr id="1474" name="Google Shape;1474;p43"/>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a:t>Logical Design</a:t>
            </a:r>
          </a:p>
        </p:txBody>
      </p:sp>
      <p:pic>
        <p:nvPicPr>
          <p:cNvPr id="2" name="Google Shape;1326;p59">
            <a:extLst>
              <a:ext uri="{FF2B5EF4-FFF2-40B4-BE49-F238E27FC236}">
                <a16:creationId xmlns:a16="http://schemas.microsoft.com/office/drawing/2014/main" id="{66222FA1-DEA9-8162-2C70-9D2B086B5608}"/>
              </a:ext>
            </a:extLst>
          </p:cNvPr>
          <p:cNvPicPr preferRelativeResize="0"/>
          <p:nvPr/>
        </p:nvPicPr>
        <p:blipFill rotWithShape="1">
          <a:blip r:embed="rId3">
            <a:alphaModFix/>
          </a:blip>
          <a:srcRect/>
          <a:stretch/>
        </p:blipFill>
        <p:spPr>
          <a:xfrm>
            <a:off x="1119391" y="1469181"/>
            <a:ext cx="9468993" cy="412864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486"/>
        <p:cNvGrpSpPr/>
        <p:nvPr/>
      </p:nvGrpSpPr>
      <p:grpSpPr>
        <a:xfrm>
          <a:off x="0" y="0"/>
          <a:ext cx="0" cy="0"/>
          <a:chOff x="0" y="0"/>
          <a:chExt cx="0" cy="0"/>
        </a:xfrm>
      </p:grpSpPr>
      <p:sp>
        <p:nvSpPr>
          <p:cNvPr id="2" name="Title 1">
            <a:extLst>
              <a:ext uri="{FF2B5EF4-FFF2-40B4-BE49-F238E27FC236}">
                <a16:creationId xmlns:a16="http://schemas.microsoft.com/office/drawing/2014/main" id="{0A0230E5-32D2-3D10-773B-3F29C474A03B}"/>
              </a:ext>
            </a:extLst>
          </p:cNvPr>
          <p:cNvSpPr>
            <a:spLocks noGrp="1"/>
          </p:cNvSpPr>
          <p:nvPr>
            <p:ph type="title"/>
          </p:nvPr>
        </p:nvSpPr>
        <p:spPr>
          <a:xfrm>
            <a:off x="588963" y="938213"/>
            <a:ext cx="6933271" cy="1230312"/>
          </a:xfrm>
        </p:spPr>
        <p:txBody>
          <a:bodyPr/>
          <a:lstStyle/>
          <a:p>
            <a:r>
              <a:rPr lang="en-US" dirty="0"/>
              <a:t>VMware Pro Cloud Services for Private Cloud</a:t>
            </a:r>
          </a:p>
        </p:txBody>
      </p:sp>
      <p:sp>
        <p:nvSpPr>
          <p:cNvPr id="1487" name="Google Shape;1487;p133"/>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US" dirty="0"/>
              <a:t>VCF Operations for Logs Architecture Patterns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491"/>
        <p:cNvGrpSpPr/>
        <p:nvPr/>
      </p:nvGrpSpPr>
      <p:grpSpPr>
        <a:xfrm>
          <a:off x="0" y="0"/>
          <a:ext cx="0" cy="0"/>
          <a:chOff x="0" y="0"/>
          <a:chExt cx="0" cy="0"/>
        </a:xfrm>
      </p:grpSpPr>
      <p:sp>
        <p:nvSpPr>
          <p:cNvPr id="1492" name="Google Shape;1492;p46"/>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Operations for Logs</a:t>
            </a:r>
          </a:p>
        </p:txBody>
      </p:sp>
      <p:sp>
        <p:nvSpPr>
          <p:cNvPr id="1493" name="Google Shape;1493;p46"/>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a:t>Logical Design</a:t>
            </a:r>
          </a:p>
        </p:txBody>
      </p:sp>
      <p:pic>
        <p:nvPicPr>
          <p:cNvPr id="2" name="Google Shape;1385;p62">
            <a:extLst>
              <a:ext uri="{FF2B5EF4-FFF2-40B4-BE49-F238E27FC236}">
                <a16:creationId xmlns:a16="http://schemas.microsoft.com/office/drawing/2014/main" id="{884A674F-3056-C2F5-CECB-158AB18B497E}"/>
              </a:ext>
            </a:extLst>
          </p:cNvPr>
          <p:cNvPicPr preferRelativeResize="0"/>
          <p:nvPr/>
        </p:nvPicPr>
        <p:blipFill rotWithShape="1">
          <a:blip r:embed="rId3">
            <a:alphaModFix/>
          </a:blip>
          <a:srcRect/>
          <a:stretch/>
        </p:blipFill>
        <p:spPr>
          <a:xfrm>
            <a:off x="1355904" y="1306767"/>
            <a:ext cx="8920210" cy="473940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486">
          <a:extLst>
            <a:ext uri="{FF2B5EF4-FFF2-40B4-BE49-F238E27FC236}">
              <a16:creationId xmlns:a16="http://schemas.microsoft.com/office/drawing/2014/main" id="{55269112-7665-AD66-3680-EC2E17A67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D938C-C948-F07A-6C9E-EE1933F69B91}"/>
              </a:ext>
            </a:extLst>
          </p:cNvPr>
          <p:cNvSpPr>
            <a:spLocks noGrp="1"/>
          </p:cNvSpPr>
          <p:nvPr>
            <p:ph type="title"/>
          </p:nvPr>
        </p:nvSpPr>
        <p:spPr>
          <a:xfrm>
            <a:off x="588963" y="938213"/>
            <a:ext cx="6933271" cy="1230312"/>
          </a:xfrm>
        </p:spPr>
        <p:txBody>
          <a:bodyPr/>
          <a:lstStyle/>
          <a:p>
            <a:r>
              <a:rPr lang="en-US" dirty="0"/>
              <a:t>VMware Pro Cloud Services for Private Cloud</a:t>
            </a:r>
          </a:p>
        </p:txBody>
      </p:sp>
      <p:sp>
        <p:nvSpPr>
          <p:cNvPr id="1487" name="Google Shape;1487;p133">
            <a:extLst>
              <a:ext uri="{FF2B5EF4-FFF2-40B4-BE49-F238E27FC236}">
                <a16:creationId xmlns:a16="http://schemas.microsoft.com/office/drawing/2014/main" id="{61B1C619-5E8F-9AEE-A192-409028715928}"/>
              </a:ext>
            </a:extLst>
          </p:cNvPr>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US" dirty="0"/>
              <a:t>VCF Operations for Networks Architecture Patterns</a:t>
            </a:r>
          </a:p>
        </p:txBody>
      </p:sp>
    </p:spTree>
    <p:extLst>
      <p:ext uri="{BB962C8B-B14F-4D97-AF65-F5344CB8AC3E}">
        <p14:creationId xmlns:p14="http://schemas.microsoft.com/office/powerpoint/2010/main" val="58853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491">
          <a:extLst>
            <a:ext uri="{FF2B5EF4-FFF2-40B4-BE49-F238E27FC236}">
              <a16:creationId xmlns:a16="http://schemas.microsoft.com/office/drawing/2014/main" id="{62EEC8DA-D377-A849-6396-1F4812A37C3C}"/>
            </a:ext>
          </a:extLst>
        </p:cNvPr>
        <p:cNvGrpSpPr/>
        <p:nvPr/>
      </p:nvGrpSpPr>
      <p:grpSpPr>
        <a:xfrm>
          <a:off x="0" y="0"/>
          <a:ext cx="0" cy="0"/>
          <a:chOff x="0" y="0"/>
          <a:chExt cx="0" cy="0"/>
        </a:xfrm>
      </p:grpSpPr>
      <p:sp>
        <p:nvSpPr>
          <p:cNvPr id="1492" name="Google Shape;1492;p46">
            <a:extLst>
              <a:ext uri="{FF2B5EF4-FFF2-40B4-BE49-F238E27FC236}">
                <a16:creationId xmlns:a16="http://schemas.microsoft.com/office/drawing/2014/main" id="{AB6E6698-5A34-F270-8055-0A17D937266B}"/>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Infrastructure – VCF Operations for Networks</a:t>
            </a:r>
          </a:p>
        </p:txBody>
      </p:sp>
      <p:sp>
        <p:nvSpPr>
          <p:cNvPr id="1493" name="Google Shape;1493;p46">
            <a:extLst>
              <a:ext uri="{FF2B5EF4-FFF2-40B4-BE49-F238E27FC236}">
                <a16:creationId xmlns:a16="http://schemas.microsoft.com/office/drawing/2014/main" id="{F67467FC-4D11-E95B-8658-85A5CABBB1F9}"/>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a:t>Logical Design</a:t>
            </a:r>
          </a:p>
        </p:txBody>
      </p:sp>
      <p:pic>
        <p:nvPicPr>
          <p:cNvPr id="3" name="Google Shape;1443;p65">
            <a:extLst>
              <a:ext uri="{FF2B5EF4-FFF2-40B4-BE49-F238E27FC236}">
                <a16:creationId xmlns:a16="http://schemas.microsoft.com/office/drawing/2014/main" id="{D2C58055-29DF-C670-E691-D475D9ACC769}"/>
              </a:ext>
            </a:extLst>
          </p:cNvPr>
          <p:cNvPicPr preferRelativeResize="0"/>
          <p:nvPr/>
        </p:nvPicPr>
        <p:blipFill rotWithShape="1">
          <a:blip r:embed="rId3">
            <a:alphaModFix/>
          </a:blip>
          <a:srcRect/>
          <a:stretch/>
        </p:blipFill>
        <p:spPr>
          <a:xfrm>
            <a:off x="1488276" y="1210491"/>
            <a:ext cx="9212271" cy="5005027"/>
          </a:xfrm>
          <a:prstGeom prst="rect">
            <a:avLst/>
          </a:prstGeom>
          <a:noFill/>
          <a:ln>
            <a:noFill/>
          </a:ln>
        </p:spPr>
      </p:pic>
    </p:spTree>
    <p:extLst>
      <p:ext uri="{BB962C8B-B14F-4D97-AF65-F5344CB8AC3E}">
        <p14:creationId xmlns:p14="http://schemas.microsoft.com/office/powerpoint/2010/main" val="2495756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486">
          <a:extLst>
            <a:ext uri="{FF2B5EF4-FFF2-40B4-BE49-F238E27FC236}">
              <a16:creationId xmlns:a16="http://schemas.microsoft.com/office/drawing/2014/main" id="{11072015-87EE-D891-D826-C36A65A90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CFE47D-54F8-4C38-65FD-43BA12C2B953}"/>
              </a:ext>
            </a:extLst>
          </p:cNvPr>
          <p:cNvSpPr>
            <a:spLocks noGrp="1"/>
          </p:cNvSpPr>
          <p:nvPr>
            <p:ph type="title"/>
          </p:nvPr>
        </p:nvSpPr>
        <p:spPr>
          <a:xfrm>
            <a:off x="588963" y="938213"/>
            <a:ext cx="6933271" cy="1230312"/>
          </a:xfrm>
        </p:spPr>
        <p:txBody>
          <a:bodyPr/>
          <a:lstStyle/>
          <a:p>
            <a:r>
              <a:rPr lang="en-US" dirty="0"/>
              <a:t>VMware Pro Cloud Services for Private Cloud</a:t>
            </a:r>
          </a:p>
        </p:txBody>
      </p:sp>
      <p:sp>
        <p:nvSpPr>
          <p:cNvPr id="1487" name="Google Shape;1487;p133">
            <a:extLst>
              <a:ext uri="{FF2B5EF4-FFF2-40B4-BE49-F238E27FC236}">
                <a16:creationId xmlns:a16="http://schemas.microsoft.com/office/drawing/2014/main" id="{48CF3F1F-314B-68BC-B729-1A722C8F79A8}"/>
              </a:ext>
            </a:extLst>
          </p:cNvPr>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US" dirty="0"/>
              <a:t>vSphere Kubernetes Service Architecture Patterns</a:t>
            </a:r>
          </a:p>
        </p:txBody>
      </p:sp>
    </p:spTree>
    <p:extLst>
      <p:ext uri="{BB962C8B-B14F-4D97-AF65-F5344CB8AC3E}">
        <p14:creationId xmlns:p14="http://schemas.microsoft.com/office/powerpoint/2010/main" val="3718251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491">
          <a:extLst>
            <a:ext uri="{FF2B5EF4-FFF2-40B4-BE49-F238E27FC236}">
              <a16:creationId xmlns:a16="http://schemas.microsoft.com/office/drawing/2014/main" id="{A5BBA2D3-E989-6E35-DA86-475F59965178}"/>
            </a:ext>
          </a:extLst>
        </p:cNvPr>
        <p:cNvGrpSpPr/>
        <p:nvPr/>
      </p:nvGrpSpPr>
      <p:grpSpPr>
        <a:xfrm>
          <a:off x="0" y="0"/>
          <a:ext cx="0" cy="0"/>
          <a:chOff x="0" y="0"/>
          <a:chExt cx="0" cy="0"/>
        </a:xfrm>
      </p:grpSpPr>
      <p:sp>
        <p:nvSpPr>
          <p:cNvPr id="1492" name="Google Shape;1492;p46">
            <a:extLst>
              <a:ext uri="{FF2B5EF4-FFF2-40B4-BE49-F238E27FC236}">
                <a16:creationId xmlns:a16="http://schemas.microsoft.com/office/drawing/2014/main" id="{F96C8563-679D-4599-C53A-47530530A9B7}"/>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vSphere Kubernetes Service</a:t>
            </a:r>
          </a:p>
        </p:txBody>
      </p:sp>
      <p:sp>
        <p:nvSpPr>
          <p:cNvPr id="1493" name="Google Shape;1493;p46">
            <a:extLst>
              <a:ext uri="{FF2B5EF4-FFF2-40B4-BE49-F238E27FC236}">
                <a16:creationId xmlns:a16="http://schemas.microsoft.com/office/drawing/2014/main" id="{5C44BEB8-1BF2-8B47-D076-E1B5E0401512}"/>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Logical Design – Simplified Supervisor</a:t>
            </a:r>
          </a:p>
        </p:txBody>
      </p:sp>
      <p:pic>
        <p:nvPicPr>
          <p:cNvPr id="2" name="Google Shape;2148;p82" descr="SVG&#10;">
            <a:extLst>
              <a:ext uri="{FF2B5EF4-FFF2-40B4-BE49-F238E27FC236}">
                <a16:creationId xmlns:a16="http://schemas.microsoft.com/office/drawing/2014/main" id="{4C5F769A-29F0-4521-68E1-E1395BF47D01}"/>
              </a:ext>
            </a:extLst>
          </p:cNvPr>
          <p:cNvPicPr preferRelativeResize="0"/>
          <p:nvPr/>
        </p:nvPicPr>
        <p:blipFill rotWithShape="1">
          <a:blip r:embed="rId3">
            <a:alphaModFix/>
          </a:blip>
          <a:srcRect/>
          <a:stretch/>
        </p:blipFill>
        <p:spPr>
          <a:xfrm>
            <a:off x="4333991" y="1412956"/>
            <a:ext cx="3480435" cy="4633214"/>
          </a:xfrm>
          <a:prstGeom prst="rect">
            <a:avLst/>
          </a:prstGeom>
          <a:noFill/>
          <a:ln>
            <a:noFill/>
          </a:ln>
        </p:spPr>
      </p:pic>
    </p:spTree>
    <p:extLst>
      <p:ext uri="{BB962C8B-B14F-4D97-AF65-F5344CB8AC3E}">
        <p14:creationId xmlns:p14="http://schemas.microsoft.com/office/powerpoint/2010/main" val="1090714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491">
          <a:extLst>
            <a:ext uri="{FF2B5EF4-FFF2-40B4-BE49-F238E27FC236}">
              <a16:creationId xmlns:a16="http://schemas.microsoft.com/office/drawing/2014/main" id="{5BB64FFF-4C9D-0EED-9D07-B670292C2F69}"/>
            </a:ext>
          </a:extLst>
        </p:cNvPr>
        <p:cNvGrpSpPr/>
        <p:nvPr/>
      </p:nvGrpSpPr>
      <p:grpSpPr>
        <a:xfrm>
          <a:off x="0" y="0"/>
          <a:ext cx="0" cy="0"/>
          <a:chOff x="0" y="0"/>
          <a:chExt cx="0" cy="0"/>
        </a:xfrm>
      </p:grpSpPr>
      <p:sp>
        <p:nvSpPr>
          <p:cNvPr id="1492" name="Google Shape;1492;p46">
            <a:extLst>
              <a:ext uri="{FF2B5EF4-FFF2-40B4-BE49-F238E27FC236}">
                <a16:creationId xmlns:a16="http://schemas.microsoft.com/office/drawing/2014/main" id="{F7291907-C14D-086F-895B-FFF53FBFD4D8}"/>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vSphere Kubernetes Service</a:t>
            </a:r>
          </a:p>
        </p:txBody>
      </p:sp>
      <p:sp>
        <p:nvSpPr>
          <p:cNvPr id="1493" name="Google Shape;1493;p46">
            <a:extLst>
              <a:ext uri="{FF2B5EF4-FFF2-40B4-BE49-F238E27FC236}">
                <a16:creationId xmlns:a16="http://schemas.microsoft.com/office/drawing/2014/main" id="{C107F5D4-7EDB-C989-8266-DC33372DEA08}"/>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r>
              <a:rPr lang="en-US" dirty="0"/>
              <a:t>Logical Design – </a:t>
            </a:r>
            <a:r>
              <a:rPr lang="en-US" dirty="0">
                <a:sym typeface="Arial"/>
              </a:rPr>
              <a:t>Single Management Zone with Combined Workload Zones Model</a:t>
            </a:r>
          </a:p>
          <a:p>
            <a:pPr lvl="0"/>
            <a:endParaRPr lang="en-US" dirty="0"/>
          </a:p>
        </p:txBody>
      </p:sp>
      <p:pic>
        <p:nvPicPr>
          <p:cNvPr id="5" name="Google Shape;2206;p83">
            <a:extLst>
              <a:ext uri="{FF2B5EF4-FFF2-40B4-BE49-F238E27FC236}">
                <a16:creationId xmlns:a16="http://schemas.microsoft.com/office/drawing/2014/main" id="{3729088A-4BFF-2A71-8534-D1E97432CB99}"/>
              </a:ext>
            </a:extLst>
          </p:cNvPr>
          <p:cNvPicPr preferRelativeResize="0"/>
          <p:nvPr/>
        </p:nvPicPr>
        <p:blipFill rotWithShape="1">
          <a:blip r:embed="rId3">
            <a:alphaModFix/>
          </a:blip>
          <a:srcRect/>
          <a:stretch/>
        </p:blipFill>
        <p:spPr>
          <a:xfrm>
            <a:off x="4696188" y="1257618"/>
            <a:ext cx="3469386" cy="5089906"/>
          </a:xfrm>
          <a:prstGeom prst="rect">
            <a:avLst/>
          </a:prstGeom>
          <a:noFill/>
          <a:ln>
            <a:noFill/>
          </a:ln>
        </p:spPr>
      </p:pic>
    </p:spTree>
    <p:extLst>
      <p:ext uri="{BB962C8B-B14F-4D97-AF65-F5344CB8AC3E}">
        <p14:creationId xmlns:p14="http://schemas.microsoft.com/office/powerpoint/2010/main" val="4200734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491">
          <a:extLst>
            <a:ext uri="{FF2B5EF4-FFF2-40B4-BE49-F238E27FC236}">
              <a16:creationId xmlns:a16="http://schemas.microsoft.com/office/drawing/2014/main" id="{57E2A40F-9A92-F5C4-7ACC-94CA2932D700}"/>
            </a:ext>
          </a:extLst>
        </p:cNvPr>
        <p:cNvGrpSpPr/>
        <p:nvPr/>
      </p:nvGrpSpPr>
      <p:grpSpPr>
        <a:xfrm>
          <a:off x="0" y="0"/>
          <a:ext cx="0" cy="0"/>
          <a:chOff x="0" y="0"/>
          <a:chExt cx="0" cy="0"/>
        </a:xfrm>
      </p:grpSpPr>
      <p:sp>
        <p:nvSpPr>
          <p:cNvPr id="1492" name="Google Shape;1492;p46">
            <a:extLst>
              <a:ext uri="{FF2B5EF4-FFF2-40B4-BE49-F238E27FC236}">
                <a16:creationId xmlns:a16="http://schemas.microsoft.com/office/drawing/2014/main" id="{ADED8D2E-A49D-CE67-909F-80F0525B3189}"/>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vSphere Kubernetes Service</a:t>
            </a:r>
          </a:p>
        </p:txBody>
      </p:sp>
      <p:sp>
        <p:nvSpPr>
          <p:cNvPr id="1493" name="Google Shape;1493;p46">
            <a:extLst>
              <a:ext uri="{FF2B5EF4-FFF2-40B4-BE49-F238E27FC236}">
                <a16:creationId xmlns:a16="http://schemas.microsoft.com/office/drawing/2014/main" id="{D84E4DC7-590D-15D4-8946-D04D48351B71}"/>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r>
              <a:rPr lang="en-US" dirty="0"/>
              <a:t>Logical Design – </a:t>
            </a:r>
            <a:r>
              <a:rPr lang="en-US" dirty="0">
                <a:sym typeface="Arial"/>
              </a:rPr>
              <a:t>Single Management Zone with Isolated Workload Zones Model </a:t>
            </a:r>
            <a:endParaRPr lang="en-US" dirty="0"/>
          </a:p>
        </p:txBody>
      </p:sp>
      <p:pic>
        <p:nvPicPr>
          <p:cNvPr id="2" name="Google Shape;2301;p85">
            <a:extLst>
              <a:ext uri="{FF2B5EF4-FFF2-40B4-BE49-F238E27FC236}">
                <a16:creationId xmlns:a16="http://schemas.microsoft.com/office/drawing/2014/main" id="{F222A08F-B603-0C1F-7D38-FB99ED6DBB0B}"/>
              </a:ext>
            </a:extLst>
          </p:cNvPr>
          <p:cNvPicPr preferRelativeResize="0"/>
          <p:nvPr/>
        </p:nvPicPr>
        <p:blipFill rotWithShape="1">
          <a:blip r:embed="rId3">
            <a:alphaModFix/>
          </a:blip>
          <a:srcRect/>
          <a:stretch/>
        </p:blipFill>
        <p:spPr>
          <a:xfrm>
            <a:off x="2299612" y="1305535"/>
            <a:ext cx="6599291" cy="4991570"/>
          </a:xfrm>
          <a:prstGeom prst="rect">
            <a:avLst/>
          </a:prstGeom>
          <a:noFill/>
          <a:ln>
            <a:noFill/>
          </a:ln>
        </p:spPr>
      </p:pic>
    </p:spTree>
    <p:extLst>
      <p:ext uri="{BB962C8B-B14F-4D97-AF65-F5344CB8AC3E}">
        <p14:creationId xmlns:p14="http://schemas.microsoft.com/office/powerpoint/2010/main" val="394230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491">
          <a:extLst>
            <a:ext uri="{FF2B5EF4-FFF2-40B4-BE49-F238E27FC236}">
              <a16:creationId xmlns:a16="http://schemas.microsoft.com/office/drawing/2014/main" id="{3784B271-1BD8-3DFC-85BE-B1B023779B87}"/>
            </a:ext>
          </a:extLst>
        </p:cNvPr>
        <p:cNvGrpSpPr/>
        <p:nvPr/>
      </p:nvGrpSpPr>
      <p:grpSpPr>
        <a:xfrm>
          <a:off x="0" y="0"/>
          <a:ext cx="0" cy="0"/>
          <a:chOff x="0" y="0"/>
          <a:chExt cx="0" cy="0"/>
        </a:xfrm>
      </p:grpSpPr>
      <p:sp>
        <p:nvSpPr>
          <p:cNvPr id="1492" name="Google Shape;1492;p46">
            <a:extLst>
              <a:ext uri="{FF2B5EF4-FFF2-40B4-BE49-F238E27FC236}">
                <a16:creationId xmlns:a16="http://schemas.microsoft.com/office/drawing/2014/main" id="{8AB8B95D-7E04-87A3-1831-2600DC9E489D}"/>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vSphere Kubernetes Service</a:t>
            </a:r>
          </a:p>
        </p:txBody>
      </p:sp>
      <p:sp>
        <p:nvSpPr>
          <p:cNvPr id="1493" name="Google Shape;1493;p46">
            <a:extLst>
              <a:ext uri="{FF2B5EF4-FFF2-40B4-BE49-F238E27FC236}">
                <a16:creationId xmlns:a16="http://schemas.microsoft.com/office/drawing/2014/main" id="{18DE6256-4B50-CFAA-8B7E-080B14A8B0A5}"/>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r>
              <a:rPr lang="en-US" dirty="0"/>
              <a:t>Logical Design – </a:t>
            </a:r>
            <a:r>
              <a:rPr lang="en-US" dirty="0">
                <a:sym typeface="Arial"/>
              </a:rPr>
              <a:t>Three Management Zones with Combined Workload Zones Model </a:t>
            </a:r>
            <a:endParaRPr lang="en-US" dirty="0"/>
          </a:p>
        </p:txBody>
      </p:sp>
      <p:pic>
        <p:nvPicPr>
          <p:cNvPr id="5" name="Google Shape;2394;p87">
            <a:extLst>
              <a:ext uri="{FF2B5EF4-FFF2-40B4-BE49-F238E27FC236}">
                <a16:creationId xmlns:a16="http://schemas.microsoft.com/office/drawing/2014/main" id="{283A53ED-394C-5197-D4EA-8B66E8D61537}"/>
              </a:ext>
            </a:extLst>
          </p:cNvPr>
          <p:cNvPicPr preferRelativeResize="0"/>
          <p:nvPr/>
        </p:nvPicPr>
        <p:blipFill rotWithShape="1">
          <a:blip r:embed="rId3">
            <a:alphaModFix/>
          </a:blip>
          <a:srcRect/>
          <a:stretch/>
        </p:blipFill>
        <p:spPr>
          <a:xfrm>
            <a:off x="2064469" y="1366886"/>
            <a:ext cx="7017447" cy="4792226"/>
          </a:xfrm>
          <a:prstGeom prst="rect">
            <a:avLst/>
          </a:prstGeom>
          <a:noFill/>
          <a:ln>
            <a:noFill/>
          </a:ln>
        </p:spPr>
      </p:pic>
    </p:spTree>
    <p:extLst>
      <p:ext uri="{BB962C8B-B14F-4D97-AF65-F5344CB8AC3E}">
        <p14:creationId xmlns:p14="http://schemas.microsoft.com/office/powerpoint/2010/main" val="106405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491">
          <a:extLst>
            <a:ext uri="{FF2B5EF4-FFF2-40B4-BE49-F238E27FC236}">
              <a16:creationId xmlns:a16="http://schemas.microsoft.com/office/drawing/2014/main" id="{8A336897-04A0-5E2C-A1F3-A87321F0BD6A}"/>
            </a:ext>
          </a:extLst>
        </p:cNvPr>
        <p:cNvGrpSpPr/>
        <p:nvPr/>
      </p:nvGrpSpPr>
      <p:grpSpPr>
        <a:xfrm>
          <a:off x="0" y="0"/>
          <a:ext cx="0" cy="0"/>
          <a:chOff x="0" y="0"/>
          <a:chExt cx="0" cy="0"/>
        </a:xfrm>
      </p:grpSpPr>
      <p:sp>
        <p:nvSpPr>
          <p:cNvPr id="1492" name="Google Shape;1492;p46">
            <a:extLst>
              <a:ext uri="{FF2B5EF4-FFF2-40B4-BE49-F238E27FC236}">
                <a16:creationId xmlns:a16="http://schemas.microsoft.com/office/drawing/2014/main" id="{E5F835BE-2597-AF46-CC28-C6418920F929}"/>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vSphere Kubernetes Service</a:t>
            </a:r>
          </a:p>
        </p:txBody>
      </p:sp>
      <p:sp>
        <p:nvSpPr>
          <p:cNvPr id="1493" name="Google Shape;1493;p46">
            <a:extLst>
              <a:ext uri="{FF2B5EF4-FFF2-40B4-BE49-F238E27FC236}">
                <a16:creationId xmlns:a16="http://schemas.microsoft.com/office/drawing/2014/main" id="{C75C1D32-87BA-494A-E1F2-9FDD18E9D73D}"/>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r>
              <a:rPr lang="en-US" dirty="0"/>
              <a:t>Logical Design – </a:t>
            </a:r>
            <a:r>
              <a:rPr lang="en-US" dirty="0">
                <a:sym typeface="Arial"/>
              </a:rPr>
              <a:t>Three Management Zones with Isolated Workload Zones Model </a:t>
            </a:r>
            <a:endParaRPr lang="en-US" dirty="0"/>
          </a:p>
        </p:txBody>
      </p:sp>
      <p:pic>
        <p:nvPicPr>
          <p:cNvPr id="2" name="Google Shape;2491;p89">
            <a:extLst>
              <a:ext uri="{FF2B5EF4-FFF2-40B4-BE49-F238E27FC236}">
                <a16:creationId xmlns:a16="http://schemas.microsoft.com/office/drawing/2014/main" id="{3B0BD8FE-9730-500D-5E02-FA88C7D32417}"/>
              </a:ext>
            </a:extLst>
          </p:cNvPr>
          <p:cNvPicPr preferRelativeResize="0"/>
          <p:nvPr/>
        </p:nvPicPr>
        <p:blipFill rotWithShape="1">
          <a:blip r:embed="rId3">
            <a:alphaModFix/>
          </a:blip>
          <a:srcRect/>
          <a:stretch/>
        </p:blipFill>
        <p:spPr>
          <a:xfrm>
            <a:off x="1013272" y="1198930"/>
            <a:ext cx="9940674" cy="5051042"/>
          </a:xfrm>
          <a:prstGeom prst="rect">
            <a:avLst/>
          </a:prstGeom>
          <a:noFill/>
          <a:ln>
            <a:noFill/>
          </a:ln>
        </p:spPr>
      </p:pic>
    </p:spTree>
    <p:extLst>
      <p:ext uri="{BB962C8B-B14F-4D97-AF65-F5344CB8AC3E}">
        <p14:creationId xmlns:p14="http://schemas.microsoft.com/office/powerpoint/2010/main" val="3881426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491">
          <a:extLst>
            <a:ext uri="{FF2B5EF4-FFF2-40B4-BE49-F238E27FC236}">
              <a16:creationId xmlns:a16="http://schemas.microsoft.com/office/drawing/2014/main" id="{9590125D-FA23-6DBB-C568-037291620EA4}"/>
            </a:ext>
          </a:extLst>
        </p:cNvPr>
        <p:cNvGrpSpPr/>
        <p:nvPr/>
      </p:nvGrpSpPr>
      <p:grpSpPr>
        <a:xfrm>
          <a:off x="0" y="0"/>
          <a:ext cx="0" cy="0"/>
          <a:chOff x="0" y="0"/>
          <a:chExt cx="0" cy="0"/>
        </a:xfrm>
      </p:grpSpPr>
      <p:sp>
        <p:nvSpPr>
          <p:cNvPr id="1492" name="Google Shape;1492;p46">
            <a:extLst>
              <a:ext uri="{FF2B5EF4-FFF2-40B4-BE49-F238E27FC236}">
                <a16:creationId xmlns:a16="http://schemas.microsoft.com/office/drawing/2014/main" id="{54DF51E8-505E-41F8-2C73-3DFB467751A0}"/>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vSphere Kubernetes Service</a:t>
            </a:r>
          </a:p>
        </p:txBody>
      </p:sp>
      <p:sp>
        <p:nvSpPr>
          <p:cNvPr id="1493" name="Google Shape;1493;p46">
            <a:extLst>
              <a:ext uri="{FF2B5EF4-FFF2-40B4-BE49-F238E27FC236}">
                <a16:creationId xmlns:a16="http://schemas.microsoft.com/office/drawing/2014/main" id="{4A0B39A4-6CE3-898E-AFE6-9FA55FBA8398}"/>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r>
              <a:rPr lang="en-US" dirty="0"/>
              <a:t>Control Plane Logical Design</a:t>
            </a:r>
          </a:p>
        </p:txBody>
      </p:sp>
      <p:pic>
        <p:nvPicPr>
          <p:cNvPr id="3" name="Google Shape;2510;p90">
            <a:extLst>
              <a:ext uri="{FF2B5EF4-FFF2-40B4-BE49-F238E27FC236}">
                <a16:creationId xmlns:a16="http://schemas.microsoft.com/office/drawing/2014/main" id="{BEC38C30-574A-7710-0B53-DEF5E8E7194F}"/>
              </a:ext>
            </a:extLst>
          </p:cNvPr>
          <p:cNvPicPr preferRelativeResize="0"/>
          <p:nvPr/>
        </p:nvPicPr>
        <p:blipFill rotWithShape="1">
          <a:blip r:embed="rId3">
            <a:alphaModFix/>
          </a:blip>
          <a:srcRect/>
          <a:stretch/>
        </p:blipFill>
        <p:spPr>
          <a:xfrm>
            <a:off x="781402" y="2597821"/>
            <a:ext cx="2829064" cy="2388959"/>
          </a:xfrm>
          <a:prstGeom prst="rect">
            <a:avLst/>
          </a:prstGeom>
          <a:noFill/>
          <a:ln>
            <a:noFill/>
          </a:ln>
        </p:spPr>
      </p:pic>
      <p:sp>
        <p:nvSpPr>
          <p:cNvPr id="4" name="TextBox 3">
            <a:extLst>
              <a:ext uri="{FF2B5EF4-FFF2-40B4-BE49-F238E27FC236}">
                <a16:creationId xmlns:a16="http://schemas.microsoft.com/office/drawing/2014/main" id="{05D68C17-0D91-F03F-1054-090BE798B4F6}"/>
              </a:ext>
            </a:extLst>
          </p:cNvPr>
          <p:cNvSpPr txBox="1"/>
          <p:nvPr/>
        </p:nvSpPr>
        <p:spPr>
          <a:xfrm>
            <a:off x="1785517" y="2084198"/>
            <a:ext cx="782425" cy="250903"/>
          </a:xfrm>
          <a:prstGeom prst="rect">
            <a:avLst/>
          </a:prstGeom>
          <a:noFill/>
        </p:spPr>
        <p:txBody>
          <a:bodyPr wrap="square" lIns="0" tIns="0" rIns="0" bIns="0" rtlCol="0">
            <a:spAutoFit/>
          </a:bodyPr>
          <a:lstStyle/>
          <a:p>
            <a:pPr algn="l">
              <a:lnSpc>
                <a:spcPct val="130000"/>
              </a:lnSpc>
            </a:pPr>
            <a:r>
              <a:rPr lang="en-US" dirty="0">
                <a:solidFill>
                  <a:schemeClr val="tx2"/>
                </a:solidFill>
              </a:rPr>
              <a:t>Simple</a:t>
            </a:r>
          </a:p>
        </p:txBody>
      </p:sp>
      <p:sp>
        <p:nvSpPr>
          <p:cNvPr id="5" name="Google Shape;2577;p92">
            <a:extLst>
              <a:ext uri="{FF2B5EF4-FFF2-40B4-BE49-F238E27FC236}">
                <a16:creationId xmlns:a16="http://schemas.microsoft.com/office/drawing/2014/main" id="{3F9312BB-0C48-37DF-9D30-439EC9AC7C94}"/>
              </a:ext>
            </a:extLst>
          </p:cNvPr>
          <p:cNvSpPr txBox="1"/>
          <p:nvPr/>
        </p:nvSpPr>
        <p:spPr>
          <a:xfrm>
            <a:off x="4503103" y="2090440"/>
            <a:ext cx="2322181" cy="24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1200"/>
              </a:spcAft>
              <a:buClr>
                <a:srgbClr val="666666"/>
              </a:buClr>
              <a:buSzPts val="1800"/>
              <a:buFont typeface="Arial"/>
              <a:buNone/>
            </a:pPr>
            <a:r>
              <a:rPr lang="en-US" sz="1400" b="0" i="0" u="none" strike="noStrike" cap="none" dirty="0">
                <a:solidFill>
                  <a:schemeClr val="dk1"/>
                </a:solidFill>
                <a:latin typeface="Arial"/>
                <a:ea typeface="Arial"/>
                <a:cs typeface="Arial"/>
                <a:sym typeface="Arial"/>
              </a:rPr>
              <a:t>Single Management Zone</a:t>
            </a:r>
            <a:endParaRPr dirty="0"/>
          </a:p>
        </p:txBody>
      </p:sp>
      <p:sp>
        <p:nvSpPr>
          <p:cNvPr id="6" name="Google Shape;2578;p92">
            <a:extLst>
              <a:ext uri="{FF2B5EF4-FFF2-40B4-BE49-F238E27FC236}">
                <a16:creationId xmlns:a16="http://schemas.microsoft.com/office/drawing/2014/main" id="{AE3C810C-EC58-5308-A5C4-7EA332F5465E}"/>
              </a:ext>
            </a:extLst>
          </p:cNvPr>
          <p:cNvSpPr txBox="1"/>
          <p:nvPr/>
        </p:nvSpPr>
        <p:spPr>
          <a:xfrm>
            <a:off x="8421080" y="2084198"/>
            <a:ext cx="2322181" cy="24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1200"/>
              </a:spcAft>
              <a:buClr>
                <a:srgbClr val="666666"/>
              </a:buClr>
              <a:buSzPts val="1800"/>
              <a:buFont typeface="Arial"/>
              <a:buNone/>
            </a:pPr>
            <a:r>
              <a:rPr lang="en-US" sz="1400" b="0" i="0" u="none" strike="noStrike" cap="none" dirty="0">
                <a:solidFill>
                  <a:schemeClr val="dk1"/>
                </a:solidFill>
                <a:latin typeface="Arial"/>
                <a:ea typeface="Arial"/>
                <a:cs typeface="Arial"/>
                <a:sym typeface="Arial"/>
              </a:rPr>
              <a:t>Three Management Zones</a:t>
            </a:r>
            <a:endParaRPr dirty="0"/>
          </a:p>
        </p:txBody>
      </p:sp>
      <p:pic>
        <p:nvPicPr>
          <p:cNvPr id="7" name="Google Shape;2579;p92">
            <a:extLst>
              <a:ext uri="{FF2B5EF4-FFF2-40B4-BE49-F238E27FC236}">
                <a16:creationId xmlns:a16="http://schemas.microsoft.com/office/drawing/2014/main" id="{40A65671-9A5A-3012-8ED9-FC042CE3C41A}"/>
              </a:ext>
            </a:extLst>
          </p:cNvPr>
          <p:cNvPicPr preferRelativeResize="0"/>
          <p:nvPr/>
        </p:nvPicPr>
        <p:blipFill rotWithShape="1">
          <a:blip r:embed="rId4">
            <a:alphaModFix/>
          </a:blip>
          <a:srcRect/>
          <a:stretch/>
        </p:blipFill>
        <p:spPr>
          <a:xfrm>
            <a:off x="4039700" y="2597821"/>
            <a:ext cx="2829065" cy="2388959"/>
          </a:xfrm>
          <a:prstGeom prst="rect">
            <a:avLst/>
          </a:prstGeom>
          <a:noFill/>
          <a:ln>
            <a:noFill/>
          </a:ln>
        </p:spPr>
      </p:pic>
      <p:pic>
        <p:nvPicPr>
          <p:cNvPr id="8" name="Google Shape;2580;p92">
            <a:extLst>
              <a:ext uri="{FF2B5EF4-FFF2-40B4-BE49-F238E27FC236}">
                <a16:creationId xmlns:a16="http://schemas.microsoft.com/office/drawing/2014/main" id="{1D066CA8-8B7F-AFA2-E0BD-673EA672DE3D}"/>
              </a:ext>
            </a:extLst>
          </p:cNvPr>
          <p:cNvPicPr preferRelativeResize="0"/>
          <p:nvPr/>
        </p:nvPicPr>
        <p:blipFill rotWithShape="1">
          <a:blip r:embed="rId5">
            <a:alphaModFix/>
          </a:blip>
          <a:srcRect/>
          <a:stretch/>
        </p:blipFill>
        <p:spPr>
          <a:xfrm>
            <a:off x="7280436" y="2597820"/>
            <a:ext cx="4173131" cy="2388960"/>
          </a:xfrm>
          <a:prstGeom prst="rect">
            <a:avLst/>
          </a:prstGeom>
          <a:noFill/>
          <a:ln>
            <a:noFill/>
          </a:ln>
        </p:spPr>
      </p:pic>
    </p:spTree>
    <p:extLst>
      <p:ext uri="{BB962C8B-B14F-4D97-AF65-F5344CB8AC3E}">
        <p14:creationId xmlns:p14="http://schemas.microsoft.com/office/powerpoint/2010/main" val="3736011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505"/>
        <p:cNvGrpSpPr/>
        <p:nvPr/>
      </p:nvGrpSpPr>
      <p:grpSpPr>
        <a:xfrm>
          <a:off x="0" y="0"/>
          <a:ext cx="0" cy="0"/>
          <a:chOff x="0" y="0"/>
          <a:chExt cx="0" cy="0"/>
        </a:xfrm>
      </p:grpSpPr>
      <p:sp>
        <p:nvSpPr>
          <p:cNvPr id="2" name="Title 1">
            <a:extLst>
              <a:ext uri="{FF2B5EF4-FFF2-40B4-BE49-F238E27FC236}">
                <a16:creationId xmlns:a16="http://schemas.microsoft.com/office/drawing/2014/main" id="{03DCE847-7B3B-1489-A0F2-8E207C5164BC}"/>
              </a:ext>
            </a:extLst>
          </p:cNvPr>
          <p:cNvSpPr>
            <a:spLocks noGrp="1"/>
          </p:cNvSpPr>
          <p:nvPr>
            <p:ph type="title"/>
          </p:nvPr>
        </p:nvSpPr>
        <p:spPr>
          <a:xfrm>
            <a:off x="588963" y="938213"/>
            <a:ext cx="7028162" cy="1230312"/>
          </a:xfrm>
        </p:spPr>
        <p:txBody>
          <a:bodyPr/>
          <a:lstStyle/>
          <a:p>
            <a:r>
              <a:rPr lang="en-US" dirty="0"/>
              <a:t>VMware Pro Cloud Services for Private Cloud</a:t>
            </a:r>
          </a:p>
        </p:txBody>
      </p:sp>
      <p:sp>
        <p:nvSpPr>
          <p:cNvPr id="1506" name="Google Shape;1506;p134"/>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US" dirty="0"/>
              <a:t>Security Architecture Pattern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9EA86-FA13-E96A-7811-F85A68507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69184-48A3-A26E-14C2-1A09B3DE26FA}"/>
              </a:ext>
            </a:extLst>
          </p:cNvPr>
          <p:cNvSpPr>
            <a:spLocks noGrp="1"/>
          </p:cNvSpPr>
          <p:nvPr>
            <p:ph type="title"/>
          </p:nvPr>
        </p:nvSpPr>
        <p:spPr/>
        <p:txBody>
          <a:bodyPr/>
          <a:lstStyle/>
          <a:p>
            <a:r>
              <a:rPr lang="en-US" dirty="0"/>
              <a:t>Philosophy &amp; Approach</a:t>
            </a:r>
          </a:p>
        </p:txBody>
      </p:sp>
      <p:sp>
        <p:nvSpPr>
          <p:cNvPr id="3" name="Subtitle 2">
            <a:extLst>
              <a:ext uri="{FF2B5EF4-FFF2-40B4-BE49-F238E27FC236}">
                <a16:creationId xmlns:a16="http://schemas.microsoft.com/office/drawing/2014/main" id="{0CDF6EE8-E671-AFD3-CB1B-175341127236}"/>
              </a:ext>
            </a:extLst>
          </p:cNvPr>
          <p:cNvSpPr>
            <a:spLocks noGrp="1"/>
          </p:cNvSpPr>
          <p:nvPr>
            <p:ph type="subTitle" idx="10"/>
          </p:nvPr>
        </p:nvSpPr>
        <p:spPr/>
        <p:txBody>
          <a:bodyPr/>
          <a:lstStyle/>
          <a:p>
            <a:r>
              <a:rPr lang="en-US" dirty="0"/>
              <a:t>VMware Cloud Foundation 9.0</a:t>
            </a:r>
          </a:p>
        </p:txBody>
      </p:sp>
    </p:spTree>
    <p:extLst>
      <p:ext uri="{BB962C8B-B14F-4D97-AF65-F5344CB8AC3E}">
        <p14:creationId xmlns:p14="http://schemas.microsoft.com/office/powerpoint/2010/main" val="374302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6A44E-2166-63D0-D85F-EE1EC0765F69}"/>
              </a:ext>
            </a:extLst>
          </p:cNvPr>
          <p:cNvSpPr>
            <a:spLocks noGrp="1"/>
          </p:cNvSpPr>
          <p:nvPr>
            <p:ph type="title"/>
          </p:nvPr>
        </p:nvSpPr>
        <p:spPr/>
        <p:txBody>
          <a:bodyPr/>
          <a:lstStyle/>
          <a:p>
            <a:r>
              <a:rPr lang="en-US" dirty="0"/>
              <a:t>Security in</a:t>
            </a:r>
            <a:br>
              <a:rPr lang="en-US" dirty="0"/>
            </a:br>
            <a:r>
              <a:rPr lang="en-US" dirty="0"/>
              <a:t>Cloud Foundation</a:t>
            </a:r>
            <a:endParaRPr lang="en-US" dirty="0">
              <a:latin typeface="Arial" panose="020B0604020202020204" pitchFamily="34" charset="0"/>
            </a:endParaRPr>
          </a:p>
        </p:txBody>
      </p:sp>
      <p:sp>
        <p:nvSpPr>
          <p:cNvPr id="3" name="Text Placeholder 2">
            <a:extLst>
              <a:ext uri="{FF2B5EF4-FFF2-40B4-BE49-F238E27FC236}">
                <a16:creationId xmlns:a16="http://schemas.microsoft.com/office/drawing/2014/main" id="{538291BD-F93B-5C49-A15D-B43560061FAD}"/>
              </a:ext>
            </a:extLst>
          </p:cNvPr>
          <p:cNvSpPr>
            <a:spLocks noGrp="1"/>
          </p:cNvSpPr>
          <p:nvPr>
            <p:ph type="body" sz="quarter" idx="12"/>
          </p:nvPr>
        </p:nvSpPr>
        <p:spPr/>
        <p:txBody>
          <a:bodyPr/>
          <a:lstStyle/>
          <a:p>
            <a:r>
              <a:rPr lang="en-US" dirty="0"/>
              <a:t>Inherent Trust</a:t>
            </a:r>
          </a:p>
        </p:txBody>
      </p:sp>
      <p:sp>
        <p:nvSpPr>
          <p:cNvPr id="4" name="Text Placeholder 3">
            <a:extLst>
              <a:ext uri="{FF2B5EF4-FFF2-40B4-BE49-F238E27FC236}">
                <a16:creationId xmlns:a16="http://schemas.microsoft.com/office/drawing/2014/main" id="{E2E742AD-19AF-4A31-BE84-8432FC7EA9E7}"/>
              </a:ext>
            </a:extLst>
          </p:cNvPr>
          <p:cNvSpPr>
            <a:spLocks noGrp="1"/>
          </p:cNvSpPr>
          <p:nvPr>
            <p:ph type="body" sz="quarter" idx="13"/>
          </p:nvPr>
        </p:nvSpPr>
        <p:spPr/>
        <p:txBody>
          <a:bodyPr/>
          <a:lstStyle/>
          <a:p>
            <a:r>
              <a:rPr lang="en-US" dirty="0"/>
              <a:t>Visibility into, and control of, the entire infrastructure stack is very important.</a:t>
            </a:r>
            <a:br>
              <a:rPr lang="en-US" dirty="0"/>
            </a:br>
            <a:r>
              <a:rPr lang="en-US" dirty="0"/>
              <a:t>Replace trust with continuous verification.</a:t>
            </a:r>
          </a:p>
        </p:txBody>
      </p:sp>
      <p:sp>
        <p:nvSpPr>
          <p:cNvPr id="5" name="Text Placeholder 4">
            <a:extLst>
              <a:ext uri="{FF2B5EF4-FFF2-40B4-BE49-F238E27FC236}">
                <a16:creationId xmlns:a16="http://schemas.microsoft.com/office/drawing/2014/main" id="{795C04DD-F0B5-25DC-9277-09C1517FA9A4}"/>
              </a:ext>
            </a:extLst>
          </p:cNvPr>
          <p:cNvSpPr>
            <a:spLocks noGrp="1"/>
          </p:cNvSpPr>
          <p:nvPr>
            <p:ph type="body" sz="quarter" idx="14"/>
          </p:nvPr>
        </p:nvSpPr>
        <p:spPr/>
        <p:txBody>
          <a:bodyPr/>
          <a:lstStyle/>
          <a:p>
            <a:r>
              <a:rPr lang="en-US" dirty="0"/>
              <a:t>Be Secure, Faster</a:t>
            </a:r>
          </a:p>
        </p:txBody>
      </p:sp>
      <p:sp>
        <p:nvSpPr>
          <p:cNvPr id="6" name="Text Placeholder 5">
            <a:extLst>
              <a:ext uri="{FF2B5EF4-FFF2-40B4-BE49-F238E27FC236}">
                <a16:creationId xmlns:a16="http://schemas.microsoft.com/office/drawing/2014/main" id="{0D48177B-C99E-E1FC-3180-579D70111F17}"/>
              </a:ext>
            </a:extLst>
          </p:cNvPr>
          <p:cNvSpPr>
            <a:spLocks noGrp="1"/>
          </p:cNvSpPr>
          <p:nvPr>
            <p:ph type="body" sz="quarter" idx="15"/>
          </p:nvPr>
        </p:nvSpPr>
        <p:spPr/>
        <p:txBody>
          <a:bodyPr/>
          <a:lstStyle/>
          <a:p>
            <a:r>
              <a:rPr lang="en-US" dirty="0"/>
              <a:t>All the capabilities you need to succeed,</a:t>
            </a:r>
            <a:br>
              <a:rPr lang="en-US" dirty="0"/>
            </a:br>
            <a:r>
              <a:rPr lang="en-US" dirty="0"/>
              <a:t>turned on and ready to use, flexible to meet any workload or environment’s needs.</a:t>
            </a:r>
          </a:p>
        </p:txBody>
      </p:sp>
      <p:sp>
        <p:nvSpPr>
          <p:cNvPr id="7" name="Text Placeholder 6">
            <a:extLst>
              <a:ext uri="{FF2B5EF4-FFF2-40B4-BE49-F238E27FC236}">
                <a16:creationId xmlns:a16="http://schemas.microsoft.com/office/drawing/2014/main" id="{2B8D3E27-460A-0A43-A390-C1CB65A00649}"/>
              </a:ext>
            </a:extLst>
          </p:cNvPr>
          <p:cNvSpPr>
            <a:spLocks noGrp="1"/>
          </p:cNvSpPr>
          <p:nvPr>
            <p:ph type="body" sz="quarter" idx="16"/>
          </p:nvPr>
        </p:nvSpPr>
        <p:spPr/>
        <p:txBody>
          <a:bodyPr/>
          <a:lstStyle/>
          <a:p>
            <a:r>
              <a:rPr lang="en-US" dirty="0"/>
              <a:t>Recover Quickly </a:t>
            </a:r>
          </a:p>
        </p:txBody>
      </p:sp>
      <p:sp>
        <p:nvSpPr>
          <p:cNvPr id="8" name="Text Placeholder 7">
            <a:extLst>
              <a:ext uri="{FF2B5EF4-FFF2-40B4-BE49-F238E27FC236}">
                <a16:creationId xmlns:a16="http://schemas.microsoft.com/office/drawing/2014/main" id="{94153580-F0B3-471E-E6B4-DCCB0ADB1BF4}"/>
              </a:ext>
            </a:extLst>
          </p:cNvPr>
          <p:cNvSpPr>
            <a:spLocks noGrp="1"/>
          </p:cNvSpPr>
          <p:nvPr>
            <p:ph type="body" sz="quarter" idx="17"/>
          </p:nvPr>
        </p:nvSpPr>
        <p:spPr/>
        <p:txBody>
          <a:bodyPr/>
          <a:lstStyle/>
          <a:p>
            <a:r>
              <a:rPr lang="en-US" dirty="0"/>
              <a:t>Resilience has always been the primary feature of VMware infrastructure products, whether you face a failed application upgrade or a natural disaster.</a:t>
            </a:r>
          </a:p>
        </p:txBody>
      </p:sp>
      <p:grpSp>
        <p:nvGrpSpPr>
          <p:cNvPr id="10" name="Picture Placeholder 85" descr="Fixed Function Device&#10;">
            <a:extLst>
              <a:ext uri="{FF2B5EF4-FFF2-40B4-BE49-F238E27FC236}">
                <a16:creationId xmlns:a16="http://schemas.microsoft.com/office/drawing/2014/main" id="{0BE7FD12-313F-E99C-7A1D-E8CAE031B8B0}"/>
              </a:ext>
            </a:extLst>
          </p:cNvPr>
          <p:cNvGrpSpPr>
            <a:grpSpLocks noChangeAspect="1"/>
          </p:cNvGrpSpPr>
          <p:nvPr/>
        </p:nvGrpSpPr>
        <p:grpSpPr>
          <a:xfrm>
            <a:off x="5740729" y="1257360"/>
            <a:ext cx="785348" cy="822746"/>
            <a:chOff x="3166929" y="1945416"/>
            <a:chExt cx="574129" cy="601469"/>
          </a:xfrm>
          <a:solidFill>
            <a:schemeClr val="bg1"/>
          </a:solidFill>
        </p:grpSpPr>
        <p:sp>
          <p:nvSpPr>
            <p:cNvPr id="11" name="Picture Placeholder 85">
              <a:extLst>
                <a:ext uri="{FF2B5EF4-FFF2-40B4-BE49-F238E27FC236}">
                  <a16:creationId xmlns:a16="http://schemas.microsoft.com/office/drawing/2014/main" id="{ADE7D8EF-B155-1BD2-D4C2-885C60661D4A}"/>
                </a:ext>
              </a:extLst>
            </p:cNvPr>
            <p:cNvSpPr/>
            <p:nvPr/>
          </p:nvSpPr>
          <p:spPr>
            <a:xfrm>
              <a:off x="3557970" y="2357147"/>
              <a:ext cx="131192" cy="104988"/>
            </a:xfrm>
            <a:custGeom>
              <a:avLst/>
              <a:gdLst>
                <a:gd name="connsiteX0" fmla="*/ 48167 w 131192"/>
                <a:gd name="connsiteY0" fmla="*/ 104988 h 104988"/>
                <a:gd name="connsiteX1" fmla="*/ 0 w 131192"/>
                <a:gd name="connsiteY1" fmla="*/ 55024 h 104988"/>
                <a:gd name="connsiteX2" fmla="*/ 12042 w 131192"/>
                <a:gd name="connsiteY2" fmla="*/ 44272 h 104988"/>
                <a:gd name="connsiteX3" fmla="*/ 48167 w 131192"/>
                <a:gd name="connsiteY3" fmla="*/ 81587 h 104988"/>
                <a:gd name="connsiteX4" fmla="*/ 119784 w 131192"/>
                <a:gd name="connsiteY4" fmla="*/ 0 h 104988"/>
                <a:gd name="connsiteX5" fmla="*/ 131192 w 131192"/>
                <a:gd name="connsiteY5" fmla="*/ 10752 h 104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192" h="104988">
                  <a:moveTo>
                    <a:pt x="48167" y="104988"/>
                  </a:moveTo>
                  <a:lnTo>
                    <a:pt x="0" y="55024"/>
                  </a:lnTo>
                  <a:lnTo>
                    <a:pt x="12042" y="44272"/>
                  </a:lnTo>
                  <a:lnTo>
                    <a:pt x="48167" y="81587"/>
                  </a:lnTo>
                  <a:lnTo>
                    <a:pt x="119784" y="0"/>
                  </a:lnTo>
                  <a:lnTo>
                    <a:pt x="131192" y="10752"/>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2" name="Picture Placeholder 85">
              <a:extLst>
                <a:ext uri="{FF2B5EF4-FFF2-40B4-BE49-F238E27FC236}">
                  <a16:creationId xmlns:a16="http://schemas.microsoft.com/office/drawing/2014/main" id="{C733F90C-F130-33A0-DF46-D9B6B38AB501}"/>
                </a:ext>
              </a:extLst>
            </p:cNvPr>
            <p:cNvSpPr/>
            <p:nvPr/>
          </p:nvSpPr>
          <p:spPr>
            <a:xfrm>
              <a:off x="3211294" y="2011824"/>
              <a:ext cx="179993" cy="15811"/>
            </a:xfrm>
            <a:custGeom>
              <a:avLst/>
              <a:gdLst>
                <a:gd name="connsiteX0" fmla="*/ 0 w 179993"/>
                <a:gd name="connsiteY0" fmla="*/ 0 h 15811"/>
                <a:gd name="connsiteX1" fmla="*/ 179993 w 179993"/>
                <a:gd name="connsiteY1" fmla="*/ 0 h 15811"/>
                <a:gd name="connsiteX2" fmla="*/ 179993 w 179993"/>
                <a:gd name="connsiteY2" fmla="*/ 15811 h 15811"/>
                <a:gd name="connsiteX3" fmla="*/ 0 w 179993"/>
                <a:gd name="connsiteY3" fmla="*/ 15811 h 15811"/>
              </a:gdLst>
              <a:ahLst/>
              <a:cxnLst>
                <a:cxn ang="0">
                  <a:pos x="connsiteX0" y="connsiteY0"/>
                </a:cxn>
                <a:cxn ang="0">
                  <a:pos x="connsiteX1" y="connsiteY1"/>
                </a:cxn>
                <a:cxn ang="0">
                  <a:pos x="connsiteX2" y="connsiteY2"/>
                </a:cxn>
                <a:cxn ang="0">
                  <a:pos x="connsiteX3" y="connsiteY3"/>
                </a:cxn>
              </a:cxnLst>
              <a:rect l="l" t="t" r="r" b="b"/>
              <a:pathLst>
                <a:path w="179993" h="15811">
                  <a:moveTo>
                    <a:pt x="0" y="0"/>
                  </a:moveTo>
                  <a:lnTo>
                    <a:pt x="179993" y="0"/>
                  </a:lnTo>
                  <a:lnTo>
                    <a:pt x="179993" y="15811"/>
                  </a:lnTo>
                  <a:lnTo>
                    <a:pt x="0" y="15811"/>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13" name="Picture Placeholder 85">
              <a:extLst>
                <a:ext uri="{FF2B5EF4-FFF2-40B4-BE49-F238E27FC236}">
                  <a16:creationId xmlns:a16="http://schemas.microsoft.com/office/drawing/2014/main" id="{872D8D60-8B8D-473D-24A5-67C1C1A62033}"/>
                </a:ext>
              </a:extLst>
            </p:cNvPr>
            <p:cNvGrpSpPr/>
            <p:nvPr/>
          </p:nvGrpSpPr>
          <p:grpSpPr>
            <a:xfrm>
              <a:off x="3211294" y="2129462"/>
              <a:ext cx="182908" cy="24033"/>
              <a:chOff x="3211294" y="2129462"/>
              <a:chExt cx="182908" cy="24033"/>
            </a:xfrm>
            <a:grpFill/>
          </p:grpSpPr>
          <p:sp>
            <p:nvSpPr>
              <p:cNvPr id="26" name="Picture Placeholder 85">
                <a:extLst>
                  <a:ext uri="{FF2B5EF4-FFF2-40B4-BE49-F238E27FC236}">
                    <a16:creationId xmlns:a16="http://schemas.microsoft.com/office/drawing/2014/main" id="{C57A4A86-EC4F-EF5F-DECE-4859FA6621CB}"/>
                  </a:ext>
                </a:extLst>
              </p:cNvPr>
              <p:cNvSpPr/>
              <p:nvPr/>
            </p:nvSpPr>
            <p:spPr>
              <a:xfrm>
                <a:off x="3211294"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 name="Picture Placeholder 85">
                <a:extLst>
                  <a:ext uri="{FF2B5EF4-FFF2-40B4-BE49-F238E27FC236}">
                    <a16:creationId xmlns:a16="http://schemas.microsoft.com/office/drawing/2014/main" id="{D0402109-B40B-AA02-ED7A-A4DAFCD9D96D}"/>
                  </a:ext>
                </a:extLst>
              </p:cNvPr>
              <p:cNvSpPr/>
              <p:nvPr/>
            </p:nvSpPr>
            <p:spPr>
              <a:xfrm>
                <a:off x="3263897"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8" name="Picture Placeholder 85">
                <a:extLst>
                  <a:ext uri="{FF2B5EF4-FFF2-40B4-BE49-F238E27FC236}">
                    <a16:creationId xmlns:a16="http://schemas.microsoft.com/office/drawing/2014/main" id="{12B430A4-78B7-E2AE-B9C4-A776E53A6AD6}"/>
                  </a:ext>
                </a:extLst>
              </p:cNvPr>
              <p:cNvSpPr/>
              <p:nvPr/>
            </p:nvSpPr>
            <p:spPr>
              <a:xfrm>
                <a:off x="3317135"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9" name="Picture Placeholder 85">
                <a:extLst>
                  <a:ext uri="{FF2B5EF4-FFF2-40B4-BE49-F238E27FC236}">
                    <a16:creationId xmlns:a16="http://schemas.microsoft.com/office/drawing/2014/main" id="{538289A4-C13A-4F9E-96BC-58A0257AD609}"/>
                  </a:ext>
                </a:extLst>
              </p:cNvPr>
              <p:cNvSpPr/>
              <p:nvPr/>
            </p:nvSpPr>
            <p:spPr>
              <a:xfrm>
                <a:off x="3369738"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4" name="Picture Placeholder 85">
              <a:extLst>
                <a:ext uri="{FF2B5EF4-FFF2-40B4-BE49-F238E27FC236}">
                  <a16:creationId xmlns:a16="http://schemas.microsoft.com/office/drawing/2014/main" id="{D1C184A5-90E7-442E-DB0A-E7DD887FD6F2}"/>
                </a:ext>
              </a:extLst>
            </p:cNvPr>
            <p:cNvGrpSpPr/>
            <p:nvPr/>
          </p:nvGrpSpPr>
          <p:grpSpPr>
            <a:xfrm>
              <a:off x="3211294" y="2250894"/>
              <a:ext cx="182908" cy="24033"/>
              <a:chOff x="3211294" y="2250894"/>
              <a:chExt cx="182908" cy="24033"/>
            </a:xfrm>
            <a:grpFill/>
          </p:grpSpPr>
          <p:sp>
            <p:nvSpPr>
              <p:cNvPr id="22" name="Picture Placeholder 85">
                <a:extLst>
                  <a:ext uri="{FF2B5EF4-FFF2-40B4-BE49-F238E27FC236}">
                    <a16:creationId xmlns:a16="http://schemas.microsoft.com/office/drawing/2014/main" id="{7547C307-316A-254C-1835-E095EC8EF8D8}"/>
                  </a:ext>
                </a:extLst>
              </p:cNvPr>
              <p:cNvSpPr/>
              <p:nvPr/>
            </p:nvSpPr>
            <p:spPr>
              <a:xfrm>
                <a:off x="3211294"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3" name="Picture Placeholder 85">
                <a:extLst>
                  <a:ext uri="{FF2B5EF4-FFF2-40B4-BE49-F238E27FC236}">
                    <a16:creationId xmlns:a16="http://schemas.microsoft.com/office/drawing/2014/main" id="{6A5A93D2-7537-7D79-1431-867625C9DA7B}"/>
                  </a:ext>
                </a:extLst>
              </p:cNvPr>
              <p:cNvSpPr/>
              <p:nvPr/>
            </p:nvSpPr>
            <p:spPr>
              <a:xfrm>
                <a:off x="3263897"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4" name="Picture Placeholder 85">
                <a:extLst>
                  <a:ext uri="{FF2B5EF4-FFF2-40B4-BE49-F238E27FC236}">
                    <a16:creationId xmlns:a16="http://schemas.microsoft.com/office/drawing/2014/main" id="{826BBC0B-5790-E0FF-3E82-F060AF289FA7}"/>
                  </a:ext>
                </a:extLst>
              </p:cNvPr>
              <p:cNvSpPr/>
              <p:nvPr/>
            </p:nvSpPr>
            <p:spPr>
              <a:xfrm>
                <a:off x="3317135"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5" name="Picture Placeholder 85">
                <a:extLst>
                  <a:ext uri="{FF2B5EF4-FFF2-40B4-BE49-F238E27FC236}">
                    <a16:creationId xmlns:a16="http://schemas.microsoft.com/office/drawing/2014/main" id="{350B9882-843A-D469-62B3-2ECDFB1F0AE4}"/>
                  </a:ext>
                </a:extLst>
              </p:cNvPr>
              <p:cNvSpPr/>
              <p:nvPr/>
            </p:nvSpPr>
            <p:spPr>
              <a:xfrm>
                <a:off x="3369738"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5" name="Picture Placeholder 85">
              <a:extLst>
                <a:ext uri="{FF2B5EF4-FFF2-40B4-BE49-F238E27FC236}">
                  <a16:creationId xmlns:a16="http://schemas.microsoft.com/office/drawing/2014/main" id="{F4380F34-DB76-7A2E-3B77-469086F32D0E}"/>
                </a:ext>
              </a:extLst>
            </p:cNvPr>
            <p:cNvGrpSpPr/>
            <p:nvPr/>
          </p:nvGrpSpPr>
          <p:grpSpPr>
            <a:xfrm>
              <a:off x="3211294" y="2372326"/>
              <a:ext cx="182908" cy="24033"/>
              <a:chOff x="3211294" y="2372326"/>
              <a:chExt cx="182908" cy="24033"/>
            </a:xfrm>
            <a:grpFill/>
          </p:grpSpPr>
          <p:sp>
            <p:nvSpPr>
              <p:cNvPr id="18" name="Picture Placeholder 85">
                <a:extLst>
                  <a:ext uri="{FF2B5EF4-FFF2-40B4-BE49-F238E27FC236}">
                    <a16:creationId xmlns:a16="http://schemas.microsoft.com/office/drawing/2014/main" id="{7252CD66-15B5-C7A3-8C51-F3803AAD222A}"/>
                  </a:ext>
                </a:extLst>
              </p:cNvPr>
              <p:cNvSpPr/>
              <p:nvPr/>
            </p:nvSpPr>
            <p:spPr>
              <a:xfrm>
                <a:off x="3211294"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 name="Picture Placeholder 85">
                <a:extLst>
                  <a:ext uri="{FF2B5EF4-FFF2-40B4-BE49-F238E27FC236}">
                    <a16:creationId xmlns:a16="http://schemas.microsoft.com/office/drawing/2014/main" id="{731FE350-8DC6-0009-E7B7-8A7215F6133F}"/>
                  </a:ext>
                </a:extLst>
              </p:cNvPr>
              <p:cNvSpPr/>
              <p:nvPr/>
            </p:nvSpPr>
            <p:spPr>
              <a:xfrm>
                <a:off x="3263897"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0" name="Picture Placeholder 85">
                <a:extLst>
                  <a:ext uri="{FF2B5EF4-FFF2-40B4-BE49-F238E27FC236}">
                    <a16:creationId xmlns:a16="http://schemas.microsoft.com/office/drawing/2014/main" id="{191F46AF-AA23-EE7E-5612-380DE867DF3A}"/>
                  </a:ext>
                </a:extLst>
              </p:cNvPr>
              <p:cNvSpPr/>
              <p:nvPr/>
            </p:nvSpPr>
            <p:spPr>
              <a:xfrm>
                <a:off x="3317135"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1" name="Picture Placeholder 85">
                <a:extLst>
                  <a:ext uri="{FF2B5EF4-FFF2-40B4-BE49-F238E27FC236}">
                    <a16:creationId xmlns:a16="http://schemas.microsoft.com/office/drawing/2014/main" id="{40B84DA5-8A65-780F-0510-C03A1B70BB5F}"/>
                  </a:ext>
                </a:extLst>
              </p:cNvPr>
              <p:cNvSpPr/>
              <p:nvPr/>
            </p:nvSpPr>
            <p:spPr>
              <a:xfrm>
                <a:off x="3369738"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16" name="Picture Placeholder 85">
              <a:extLst>
                <a:ext uri="{FF2B5EF4-FFF2-40B4-BE49-F238E27FC236}">
                  <a16:creationId xmlns:a16="http://schemas.microsoft.com/office/drawing/2014/main" id="{D8FD8D25-2A12-B169-96E9-FBF6BA370E0C}"/>
                </a:ext>
              </a:extLst>
            </p:cNvPr>
            <p:cNvSpPr/>
            <p:nvPr/>
          </p:nvSpPr>
          <p:spPr>
            <a:xfrm>
              <a:off x="3166929" y="1945416"/>
              <a:ext cx="526669" cy="512925"/>
            </a:xfrm>
            <a:custGeom>
              <a:avLst/>
              <a:gdLst>
                <a:gd name="connsiteX0" fmla="*/ 295341 w 526669"/>
                <a:gd name="connsiteY0" fmla="*/ 497114 h 512925"/>
                <a:gd name="connsiteX1" fmla="*/ 15844 w 526669"/>
                <a:gd name="connsiteY1" fmla="*/ 497114 h 512925"/>
                <a:gd name="connsiteX2" fmla="*/ 15844 w 526669"/>
                <a:gd name="connsiteY2" fmla="*/ 385801 h 512925"/>
                <a:gd name="connsiteX3" fmla="*/ 295341 w 526669"/>
                <a:gd name="connsiteY3" fmla="*/ 385801 h 512925"/>
                <a:gd name="connsiteX4" fmla="*/ 295341 w 526669"/>
                <a:gd name="connsiteY4" fmla="*/ 369989 h 512925"/>
                <a:gd name="connsiteX5" fmla="*/ 15844 w 526669"/>
                <a:gd name="connsiteY5" fmla="*/ 369989 h 512925"/>
                <a:gd name="connsiteX6" fmla="*/ 15844 w 526669"/>
                <a:gd name="connsiteY6" fmla="*/ 264368 h 512925"/>
                <a:gd name="connsiteX7" fmla="*/ 510825 w 526669"/>
                <a:gd name="connsiteY7" fmla="*/ 264368 h 512925"/>
                <a:gd name="connsiteX8" fmla="*/ 510825 w 526669"/>
                <a:gd name="connsiteY8" fmla="*/ 304846 h 512925"/>
                <a:gd name="connsiteX9" fmla="*/ 526670 w 526669"/>
                <a:gd name="connsiteY9" fmla="*/ 304846 h 512925"/>
                <a:gd name="connsiteX10" fmla="*/ 526670 w 526669"/>
                <a:gd name="connsiteY10" fmla="*/ 0 h 512925"/>
                <a:gd name="connsiteX11" fmla="*/ 0 w 526669"/>
                <a:gd name="connsiteY11" fmla="*/ 0 h 512925"/>
                <a:gd name="connsiteX12" fmla="*/ 0 w 526669"/>
                <a:gd name="connsiteY12" fmla="*/ 512925 h 512925"/>
                <a:gd name="connsiteX13" fmla="*/ 295341 w 526669"/>
                <a:gd name="connsiteY13" fmla="*/ 512925 h 512925"/>
                <a:gd name="connsiteX14" fmla="*/ 295341 w 526669"/>
                <a:gd name="connsiteY14" fmla="*/ 497114 h 512925"/>
                <a:gd name="connsiteX15" fmla="*/ 15844 w 526669"/>
                <a:gd name="connsiteY15" fmla="*/ 15812 h 512925"/>
                <a:gd name="connsiteX16" fmla="*/ 510825 w 526669"/>
                <a:gd name="connsiteY16" fmla="*/ 15812 h 512925"/>
                <a:gd name="connsiteX17" fmla="*/ 510825 w 526669"/>
                <a:gd name="connsiteY17" fmla="*/ 127124 h 512925"/>
                <a:gd name="connsiteX18" fmla="*/ 15844 w 526669"/>
                <a:gd name="connsiteY18" fmla="*/ 127124 h 512925"/>
                <a:gd name="connsiteX19" fmla="*/ 15844 w 526669"/>
                <a:gd name="connsiteY19" fmla="*/ 15812 h 512925"/>
                <a:gd name="connsiteX20" fmla="*/ 15844 w 526669"/>
                <a:gd name="connsiteY20" fmla="*/ 142936 h 512925"/>
                <a:gd name="connsiteX21" fmla="*/ 510825 w 526669"/>
                <a:gd name="connsiteY21" fmla="*/ 142936 h 512925"/>
                <a:gd name="connsiteX22" fmla="*/ 510825 w 526669"/>
                <a:gd name="connsiteY22" fmla="*/ 248557 h 512925"/>
                <a:gd name="connsiteX23" fmla="*/ 15844 w 526669"/>
                <a:gd name="connsiteY23" fmla="*/ 248557 h 512925"/>
                <a:gd name="connsiteX24" fmla="*/ 15844 w 526669"/>
                <a:gd name="connsiteY24" fmla="*/ 142936 h 51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6669" h="512925">
                  <a:moveTo>
                    <a:pt x="295341" y="497114"/>
                  </a:moveTo>
                  <a:lnTo>
                    <a:pt x="15844" y="497114"/>
                  </a:lnTo>
                  <a:lnTo>
                    <a:pt x="15844" y="385801"/>
                  </a:lnTo>
                  <a:lnTo>
                    <a:pt x="295341" y="385801"/>
                  </a:lnTo>
                  <a:lnTo>
                    <a:pt x="295341" y="369989"/>
                  </a:lnTo>
                  <a:lnTo>
                    <a:pt x="15844" y="369989"/>
                  </a:lnTo>
                  <a:lnTo>
                    <a:pt x="15844" y="264368"/>
                  </a:lnTo>
                  <a:lnTo>
                    <a:pt x="510825" y="264368"/>
                  </a:lnTo>
                  <a:lnTo>
                    <a:pt x="510825" y="304846"/>
                  </a:lnTo>
                  <a:lnTo>
                    <a:pt x="526670" y="304846"/>
                  </a:lnTo>
                  <a:lnTo>
                    <a:pt x="526670" y="0"/>
                  </a:lnTo>
                  <a:lnTo>
                    <a:pt x="0" y="0"/>
                  </a:lnTo>
                  <a:lnTo>
                    <a:pt x="0" y="512925"/>
                  </a:lnTo>
                  <a:lnTo>
                    <a:pt x="295341" y="512925"/>
                  </a:lnTo>
                  <a:lnTo>
                    <a:pt x="295341" y="497114"/>
                  </a:lnTo>
                  <a:close/>
                  <a:moveTo>
                    <a:pt x="15844" y="15812"/>
                  </a:moveTo>
                  <a:lnTo>
                    <a:pt x="510825" y="15812"/>
                  </a:lnTo>
                  <a:lnTo>
                    <a:pt x="510825" y="127124"/>
                  </a:lnTo>
                  <a:lnTo>
                    <a:pt x="15844" y="127124"/>
                  </a:lnTo>
                  <a:lnTo>
                    <a:pt x="15844" y="15812"/>
                  </a:lnTo>
                  <a:close/>
                  <a:moveTo>
                    <a:pt x="15844" y="142936"/>
                  </a:moveTo>
                  <a:lnTo>
                    <a:pt x="510825" y="142936"/>
                  </a:lnTo>
                  <a:lnTo>
                    <a:pt x="510825" y="248557"/>
                  </a:lnTo>
                  <a:lnTo>
                    <a:pt x="15844" y="248557"/>
                  </a:lnTo>
                  <a:lnTo>
                    <a:pt x="15844" y="142936"/>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 name="Picture Placeholder 85">
              <a:extLst>
                <a:ext uri="{FF2B5EF4-FFF2-40B4-BE49-F238E27FC236}">
                  <a16:creationId xmlns:a16="http://schemas.microsoft.com/office/drawing/2014/main" id="{3FD6B3E2-668F-9A2C-E27B-EA7B16786FE3}"/>
                </a:ext>
              </a:extLst>
            </p:cNvPr>
            <p:cNvSpPr/>
            <p:nvPr/>
          </p:nvSpPr>
          <p:spPr>
            <a:xfrm>
              <a:off x="3500930" y="2265441"/>
              <a:ext cx="238934" cy="281444"/>
            </a:xfrm>
            <a:custGeom>
              <a:avLst/>
              <a:gdLst>
                <a:gd name="connsiteX0" fmla="*/ 119784 w 238934"/>
                <a:gd name="connsiteY0" fmla="*/ 281445 h 281444"/>
                <a:gd name="connsiteX1" fmla="*/ 115348 w 238934"/>
                <a:gd name="connsiteY1" fmla="*/ 280180 h 281444"/>
                <a:gd name="connsiteX2" fmla="*/ 0 w 238934"/>
                <a:gd name="connsiteY2" fmla="*/ 123962 h 281444"/>
                <a:gd name="connsiteX3" fmla="*/ 0 w 238934"/>
                <a:gd name="connsiteY3" fmla="*/ 51862 h 281444"/>
                <a:gd name="connsiteX4" fmla="*/ 9507 w 238934"/>
                <a:gd name="connsiteY4" fmla="*/ 49332 h 281444"/>
                <a:gd name="connsiteX5" fmla="*/ 63378 w 238934"/>
                <a:gd name="connsiteY5" fmla="*/ 30358 h 281444"/>
                <a:gd name="connsiteX6" fmla="*/ 112813 w 238934"/>
                <a:gd name="connsiteY6" fmla="*/ 4427 h 281444"/>
                <a:gd name="connsiteX7" fmla="*/ 119150 w 238934"/>
                <a:gd name="connsiteY7" fmla="*/ 0 h 281444"/>
                <a:gd name="connsiteX8" fmla="*/ 126122 w 238934"/>
                <a:gd name="connsiteY8" fmla="*/ 4427 h 281444"/>
                <a:gd name="connsiteX9" fmla="*/ 175557 w 238934"/>
                <a:gd name="connsiteY9" fmla="*/ 30358 h 281444"/>
                <a:gd name="connsiteX10" fmla="*/ 229428 w 238934"/>
                <a:gd name="connsiteY10" fmla="*/ 49332 h 281444"/>
                <a:gd name="connsiteX11" fmla="*/ 238934 w 238934"/>
                <a:gd name="connsiteY11" fmla="*/ 51862 h 281444"/>
                <a:gd name="connsiteX12" fmla="*/ 238934 w 238934"/>
                <a:gd name="connsiteY12" fmla="*/ 123962 h 281444"/>
                <a:gd name="connsiteX13" fmla="*/ 124221 w 238934"/>
                <a:gd name="connsiteY13" fmla="*/ 279547 h 281444"/>
                <a:gd name="connsiteX14" fmla="*/ 119784 w 238934"/>
                <a:gd name="connsiteY14" fmla="*/ 281445 h 281444"/>
                <a:gd name="connsiteX15" fmla="*/ 15844 w 238934"/>
                <a:gd name="connsiteY15" fmla="*/ 63878 h 281444"/>
                <a:gd name="connsiteX16" fmla="*/ 15844 w 238934"/>
                <a:gd name="connsiteY16" fmla="*/ 123962 h 281444"/>
                <a:gd name="connsiteX17" fmla="*/ 119784 w 238934"/>
                <a:gd name="connsiteY17" fmla="*/ 264368 h 281444"/>
                <a:gd name="connsiteX18" fmla="*/ 223724 w 238934"/>
                <a:gd name="connsiteY18" fmla="*/ 123962 h 281444"/>
                <a:gd name="connsiteX19" fmla="*/ 223724 w 238934"/>
                <a:gd name="connsiteY19" fmla="*/ 64511 h 281444"/>
                <a:gd name="connsiteX20" fmla="*/ 169853 w 238934"/>
                <a:gd name="connsiteY20" fmla="*/ 44905 h 281444"/>
                <a:gd name="connsiteX21" fmla="*/ 119784 w 238934"/>
                <a:gd name="connsiteY21" fmla="*/ 18974 h 281444"/>
                <a:gd name="connsiteX22" fmla="*/ 69716 w 238934"/>
                <a:gd name="connsiteY22" fmla="*/ 45537 h 281444"/>
                <a:gd name="connsiteX23" fmla="*/ 15844 w 238934"/>
                <a:gd name="connsiteY23" fmla="*/ 63878 h 28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8934" h="281444">
                  <a:moveTo>
                    <a:pt x="119784" y="281445"/>
                  </a:moveTo>
                  <a:lnTo>
                    <a:pt x="115348" y="280180"/>
                  </a:lnTo>
                  <a:cubicBezTo>
                    <a:pt x="110277" y="278282"/>
                    <a:pt x="0" y="235275"/>
                    <a:pt x="0" y="123962"/>
                  </a:cubicBezTo>
                  <a:lnTo>
                    <a:pt x="0" y="51862"/>
                  </a:lnTo>
                  <a:lnTo>
                    <a:pt x="9507" y="49332"/>
                  </a:lnTo>
                  <a:cubicBezTo>
                    <a:pt x="27886" y="44272"/>
                    <a:pt x="46266" y="37948"/>
                    <a:pt x="63378" y="30358"/>
                  </a:cubicBezTo>
                  <a:cubicBezTo>
                    <a:pt x="80490" y="22769"/>
                    <a:pt x="97602" y="13914"/>
                    <a:pt x="112813" y="4427"/>
                  </a:cubicBezTo>
                  <a:lnTo>
                    <a:pt x="119150" y="0"/>
                  </a:lnTo>
                  <a:lnTo>
                    <a:pt x="126122" y="4427"/>
                  </a:lnTo>
                  <a:cubicBezTo>
                    <a:pt x="141966" y="14547"/>
                    <a:pt x="158445" y="23401"/>
                    <a:pt x="175557" y="30358"/>
                  </a:cubicBezTo>
                  <a:cubicBezTo>
                    <a:pt x="193302" y="37948"/>
                    <a:pt x="211048" y="44905"/>
                    <a:pt x="229428" y="49332"/>
                  </a:cubicBezTo>
                  <a:lnTo>
                    <a:pt x="238934" y="51862"/>
                  </a:lnTo>
                  <a:lnTo>
                    <a:pt x="238934" y="123962"/>
                  </a:lnTo>
                  <a:cubicBezTo>
                    <a:pt x="238934" y="235908"/>
                    <a:pt x="128657" y="277650"/>
                    <a:pt x="124221" y="279547"/>
                  </a:cubicBezTo>
                  <a:lnTo>
                    <a:pt x="119784" y="281445"/>
                  </a:lnTo>
                  <a:close/>
                  <a:moveTo>
                    <a:pt x="15844" y="63878"/>
                  </a:moveTo>
                  <a:lnTo>
                    <a:pt x="15844" y="123962"/>
                  </a:lnTo>
                  <a:cubicBezTo>
                    <a:pt x="15844" y="219464"/>
                    <a:pt x="107742" y="259941"/>
                    <a:pt x="119784" y="264368"/>
                  </a:cubicBezTo>
                  <a:cubicBezTo>
                    <a:pt x="128023" y="261206"/>
                    <a:pt x="223724" y="221993"/>
                    <a:pt x="223724" y="123962"/>
                  </a:cubicBezTo>
                  <a:lnTo>
                    <a:pt x="223724" y="64511"/>
                  </a:lnTo>
                  <a:cubicBezTo>
                    <a:pt x="205344" y="59451"/>
                    <a:pt x="186965" y="53127"/>
                    <a:pt x="169853" y="44905"/>
                  </a:cubicBezTo>
                  <a:cubicBezTo>
                    <a:pt x="152741" y="37315"/>
                    <a:pt x="135629" y="28461"/>
                    <a:pt x="119784" y="18974"/>
                  </a:cubicBezTo>
                  <a:cubicBezTo>
                    <a:pt x="103940" y="29093"/>
                    <a:pt x="86828" y="37948"/>
                    <a:pt x="69716" y="45537"/>
                  </a:cubicBezTo>
                  <a:cubicBezTo>
                    <a:pt x="51970" y="52494"/>
                    <a:pt x="34224" y="59451"/>
                    <a:pt x="15844" y="638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30" name="Picture Placeholder 103" descr="Nurture">
            <a:extLst>
              <a:ext uri="{FF2B5EF4-FFF2-40B4-BE49-F238E27FC236}">
                <a16:creationId xmlns:a16="http://schemas.microsoft.com/office/drawing/2014/main" id="{83EF7F79-D9B0-30A9-5C3A-6CC4A71E4084}"/>
              </a:ext>
            </a:extLst>
          </p:cNvPr>
          <p:cNvGrpSpPr>
            <a:grpSpLocks noChangeAspect="1"/>
          </p:cNvGrpSpPr>
          <p:nvPr/>
        </p:nvGrpSpPr>
        <p:grpSpPr>
          <a:xfrm>
            <a:off x="5760908" y="2988139"/>
            <a:ext cx="686668" cy="822746"/>
            <a:chOff x="4507625" y="682691"/>
            <a:chExt cx="563347" cy="674986"/>
          </a:xfrm>
          <a:solidFill>
            <a:schemeClr val="bg1"/>
          </a:solidFill>
        </p:grpSpPr>
        <p:grpSp>
          <p:nvGrpSpPr>
            <p:cNvPr id="31" name="Picture Placeholder 103">
              <a:extLst>
                <a:ext uri="{FF2B5EF4-FFF2-40B4-BE49-F238E27FC236}">
                  <a16:creationId xmlns:a16="http://schemas.microsoft.com/office/drawing/2014/main" id="{ED867777-21ED-5A28-3209-9A7CA1EEB4F0}"/>
                </a:ext>
              </a:extLst>
            </p:cNvPr>
            <p:cNvGrpSpPr/>
            <p:nvPr/>
          </p:nvGrpSpPr>
          <p:grpSpPr>
            <a:xfrm>
              <a:off x="4507625" y="1096639"/>
              <a:ext cx="563347" cy="261038"/>
              <a:chOff x="4507625" y="1096639"/>
              <a:chExt cx="563347" cy="261038"/>
            </a:xfrm>
            <a:grpFill/>
          </p:grpSpPr>
          <p:sp>
            <p:nvSpPr>
              <p:cNvPr id="39" name="Picture Placeholder 103">
                <a:extLst>
                  <a:ext uri="{FF2B5EF4-FFF2-40B4-BE49-F238E27FC236}">
                    <a16:creationId xmlns:a16="http://schemas.microsoft.com/office/drawing/2014/main" id="{E309AE3C-9842-D567-8934-B2DC86163290}"/>
                  </a:ext>
                </a:extLst>
              </p:cNvPr>
              <p:cNvSpPr/>
              <p:nvPr/>
            </p:nvSpPr>
            <p:spPr>
              <a:xfrm>
                <a:off x="4507625" y="1147498"/>
                <a:ext cx="394857" cy="112274"/>
              </a:xfrm>
              <a:custGeom>
                <a:avLst/>
                <a:gdLst>
                  <a:gd name="connsiteX0" fmla="*/ 11182 w 394857"/>
                  <a:gd name="connsiteY0" fmla="*/ 112274 h 112274"/>
                  <a:gd name="connsiteX1" fmla="*/ 0 w 394857"/>
                  <a:gd name="connsiteY1" fmla="*/ 101092 h 112274"/>
                  <a:gd name="connsiteX2" fmla="*/ 86305 w 394857"/>
                  <a:gd name="connsiteY2" fmla="*/ 14793 h 112274"/>
                  <a:gd name="connsiteX3" fmla="*/ 122027 w 394857"/>
                  <a:gd name="connsiteY3" fmla="*/ 0 h 112274"/>
                  <a:gd name="connsiteX4" fmla="*/ 208560 w 394857"/>
                  <a:gd name="connsiteY4" fmla="*/ 0 h 112274"/>
                  <a:gd name="connsiteX5" fmla="*/ 229121 w 394857"/>
                  <a:gd name="connsiteY5" fmla="*/ 6040 h 112274"/>
                  <a:gd name="connsiteX6" fmla="*/ 251181 w 394857"/>
                  <a:gd name="connsiteY6" fmla="*/ 20220 h 112274"/>
                  <a:gd name="connsiteX7" fmla="*/ 258733 w 394857"/>
                  <a:gd name="connsiteY7" fmla="*/ 22440 h 112274"/>
                  <a:gd name="connsiteX8" fmla="*/ 352875 w 394857"/>
                  <a:gd name="connsiteY8" fmla="*/ 22440 h 112274"/>
                  <a:gd name="connsiteX9" fmla="*/ 394857 w 394857"/>
                  <a:gd name="connsiteY9" fmla="*/ 64422 h 112274"/>
                  <a:gd name="connsiteX10" fmla="*/ 352875 w 394857"/>
                  <a:gd name="connsiteY10" fmla="*/ 106405 h 112274"/>
                  <a:gd name="connsiteX11" fmla="*/ 240676 w 394857"/>
                  <a:gd name="connsiteY11" fmla="*/ 106405 h 112274"/>
                  <a:gd name="connsiteX12" fmla="*/ 240676 w 394857"/>
                  <a:gd name="connsiteY12" fmla="*/ 90594 h 112274"/>
                  <a:gd name="connsiteX13" fmla="*/ 352875 w 394857"/>
                  <a:gd name="connsiteY13" fmla="*/ 90594 h 112274"/>
                  <a:gd name="connsiteX14" fmla="*/ 379046 w 394857"/>
                  <a:gd name="connsiteY14" fmla="*/ 64422 h 112274"/>
                  <a:gd name="connsiteX15" fmla="*/ 352875 w 394857"/>
                  <a:gd name="connsiteY15" fmla="*/ 38251 h 112274"/>
                  <a:gd name="connsiteX16" fmla="*/ 258739 w 394857"/>
                  <a:gd name="connsiteY16" fmla="*/ 38251 h 112274"/>
                  <a:gd name="connsiteX17" fmla="*/ 242637 w 394857"/>
                  <a:gd name="connsiteY17" fmla="*/ 33520 h 112274"/>
                  <a:gd name="connsiteX18" fmla="*/ 220577 w 394857"/>
                  <a:gd name="connsiteY18" fmla="*/ 19334 h 112274"/>
                  <a:gd name="connsiteX19" fmla="*/ 208566 w 394857"/>
                  <a:gd name="connsiteY19" fmla="*/ 15805 h 112274"/>
                  <a:gd name="connsiteX20" fmla="*/ 122033 w 394857"/>
                  <a:gd name="connsiteY20" fmla="*/ 15805 h 112274"/>
                  <a:gd name="connsiteX21" fmla="*/ 97487 w 394857"/>
                  <a:gd name="connsiteY21" fmla="*/ 25969 h 112274"/>
                  <a:gd name="connsiteX22" fmla="*/ 11182 w 394857"/>
                  <a:gd name="connsiteY22" fmla="*/ 112274 h 11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857" h="112274">
                    <a:moveTo>
                      <a:pt x="11182" y="112274"/>
                    </a:moveTo>
                    <a:lnTo>
                      <a:pt x="0" y="101092"/>
                    </a:lnTo>
                    <a:lnTo>
                      <a:pt x="86305" y="14793"/>
                    </a:lnTo>
                    <a:cubicBezTo>
                      <a:pt x="95849" y="5249"/>
                      <a:pt x="108536" y="0"/>
                      <a:pt x="122027" y="0"/>
                    </a:cubicBezTo>
                    <a:lnTo>
                      <a:pt x="208560" y="0"/>
                    </a:lnTo>
                    <a:cubicBezTo>
                      <a:pt x="215865" y="0"/>
                      <a:pt x="222974" y="2087"/>
                      <a:pt x="229121" y="6040"/>
                    </a:cubicBezTo>
                    <a:lnTo>
                      <a:pt x="251181" y="20220"/>
                    </a:lnTo>
                    <a:cubicBezTo>
                      <a:pt x="253439" y="21668"/>
                      <a:pt x="256058" y="22440"/>
                      <a:pt x="258733" y="22440"/>
                    </a:cubicBezTo>
                    <a:lnTo>
                      <a:pt x="352875" y="22440"/>
                    </a:lnTo>
                    <a:cubicBezTo>
                      <a:pt x="376023" y="22440"/>
                      <a:pt x="394857" y="41274"/>
                      <a:pt x="394857" y="64422"/>
                    </a:cubicBezTo>
                    <a:cubicBezTo>
                      <a:pt x="394857" y="87570"/>
                      <a:pt x="376023" y="106405"/>
                      <a:pt x="352875" y="106405"/>
                    </a:cubicBezTo>
                    <a:lnTo>
                      <a:pt x="240676" y="106405"/>
                    </a:lnTo>
                    <a:lnTo>
                      <a:pt x="240676" y="90594"/>
                    </a:lnTo>
                    <a:lnTo>
                      <a:pt x="352875" y="90594"/>
                    </a:lnTo>
                    <a:cubicBezTo>
                      <a:pt x="367301" y="90594"/>
                      <a:pt x="379046" y="78855"/>
                      <a:pt x="379046" y="64422"/>
                    </a:cubicBezTo>
                    <a:cubicBezTo>
                      <a:pt x="379046" y="49990"/>
                      <a:pt x="367307" y="38251"/>
                      <a:pt x="352875" y="38251"/>
                    </a:cubicBezTo>
                    <a:lnTo>
                      <a:pt x="258739" y="38251"/>
                    </a:lnTo>
                    <a:cubicBezTo>
                      <a:pt x="253022" y="38251"/>
                      <a:pt x="247450" y="36613"/>
                      <a:pt x="242637" y="33520"/>
                    </a:cubicBezTo>
                    <a:lnTo>
                      <a:pt x="220577" y="19334"/>
                    </a:lnTo>
                    <a:cubicBezTo>
                      <a:pt x="216991" y="17026"/>
                      <a:pt x="212829" y="15805"/>
                      <a:pt x="208566" y="15805"/>
                    </a:cubicBezTo>
                    <a:lnTo>
                      <a:pt x="122033" y="15805"/>
                    </a:lnTo>
                    <a:cubicBezTo>
                      <a:pt x="112761" y="15805"/>
                      <a:pt x="104040" y="19417"/>
                      <a:pt x="97487" y="25969"/>
                    </a:cubicBezTo>
                    <a:lnTo>
                      <a:pt x="11182" y="11227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 name="Picture Placeholder 103">
                <a:extLst>
                  <a:ext uri="{FF2B5EF4-FFF2-40B4-BE49-F238E27FC236}">
                    <a16:creationId xmlns:a16="http://schemas.microsoft.com/office/drawing/2014/main" id="{DFD8B257-35B4-DAAC-0001-78BB69554B9E}"/>
                  </a:ext>
                </a:extLst>
              </p:cNvPr>
              <p:cNvSpPr/>
              <p:nvPr/>
            </p:nvSpPr>
            <p:spPr>
              <a:xfrm>
                <a:off x="4605529" y="1096639"/>
                <a:ext cx="465442" cy="261038"/>
              </a:xfrm>
              <a:custGeom>
                <a:avLst/>
                <a:gdLst>
                  <a:gd name="connsiteX0" fmla="*/ 11182 w 465442"/>
                  <a:gd name="connsiteY0" fmla="*/ 261039 h 261038"/>
                  <a:gd name="connsiteX1" fmla="*/ 0 w 465442"/>
                  <a:gd name="connsiteY1" fmla="*/ 249857 h 261038"/>
                  <a:gd name="connsiteX2" fmla="*/ 21687 w 465442"/>
                  <a:gd name="connsiteY2" fmla="*/ 228480 h 261038"/>
                  <a:gd name="connsiteX3" fmla="*/ 47416 w 465442"/>
                  <a:gd name="connsiteY3" fmla="*/ 221225 h 261038"/>
                  <a:gd name="connsiteX4" fmla="*/ 245584 w 465442"/>
                  <a:gd name="connsiteY4" fmla="*/ 221225 h 261038"/>
                  <a:gd name="connsiteX5" fmla="*/ 252080 w 465442"/>
                  <a:gd name="connsiteY5" fmla="*/ 219739 h 261038"/>
                  <a:gd name="connsiteX6" fmla="*/ 289034 w 465442"/>
                  <a:gd name="connsiteY6" fmla="*/ 201904 h 261038"/>
                  <a:gd name="connsiteX7" fmla="*/ 299742 w 465442"/>
                  <a:gd name="connsiteY7" fmla="*/ 195143 h 261038"/>
                  <a:gd name="connsiteX8" fmla="*/ 362855 w 465442"/>
                  <a:gd name="connsiteY8" fmla="*/ 144502 h 261038"/>
                  <a:gd name="connsiteX9" fmla="*/ 366858 w 465442"/>
                  <a:gd name="connsiteY9" fmla="*/ 140694 h 261038"/>
                  <a:gd name="connsiteX10" fmla="*/ 440534 w 465442"/>
                  <a:gd name="connsiteY10" fmla="*/ 57621 h 261038"/>
                  <a:gd name="connsiteX11" fmla="*/ 449363 w 465442"/>
                  <a:gd name="connsiteY11" fmla="*/ 32132 h 261038"/>
                  <a:gd name="connsiteX12" fmla="*/ 439648 w 465442"/>
                  <a:gd name="connsiteY12" fmla="*/ 23493 h 261038"/>
                  <a:gd name="connsiteX13" fmla="*/ 385763 w 465442"/>
                  <a:gd name="connsiteY13" fmla="*/ 30539 h 261038"/>
                  <a:gd name="connsiteX14" fmla="*/ 356069 w 465442"/>
                  <a:gd name="connsiteY14" fmla="*/ 59967 h 261038"/>
                  <a:gd name="connsiteX15" fmla="*/ 333199 w 465442"/>
                  <a:gd name="connsiteY15" fmla="*/ 81192 h 261038"/>
                  <a:gd name="connsiteX16" fmla="*/ 291754 w 465442"/>
                  <a:gd name="connsiteY16" fmla="*/ 108546 h 261038"/>
                  <a:gd name="connsiteX17" fmla="*/ 282982 w 465442"/>
                  <a:gd name="connsiteY17" fmla="*/ 95391 h 261038"/>
                  <a:gd name="connsiteX18" fmla="*/ 324648 w 465442"/>
                  <a:gd name="connsiteY18" fmla="*/ 67892 h 261038"/>
                  <a:gd name="connsiteX19" fmla="*/ 344609 w 465442"/>
                  <a:gd name="connsiteY19" fmla="*/ 49063 h 261038"/>
                  <a:gd name="connsiteX20" fmla="*/ 375137 w 465442"/>
                  <a:gd name="connsiteY20" fmla="*/ 18813 h 261038"/>
                  <a:gd name="connsiteX21" fmla="*/ 446472 w 465442"/>
                  <a:gd name="connsiteY21" fmla="*/ 9225 h 261038"/>
                  <a:gd name="connsiteX22" fmla="*/ 465023 w 465442"/>
                  <a:gd name="connsiteY22" fmla="*/ 29957 h 261038"/>
                  <a:gd name="connsiteX23" fmla="*/ 452361 w 465442"/>
                  <a:gd name="connsiteY23" fmla="*/ 68100 h 261038"/>
                  <a:gd name="connsiteX24" fmla="*/ 378692 w 465442"/>
                  <a:gd name="connsiteY24" fmla="*/ 151193 h 261038"/>
                  <a:gd name="connsiteX25" fmla="*/ 372753 w 465442"/>
                  <a:gd name="connsiteY25" fmla="*/ 156841 h 261038"/>
                  <a:gd name="connsiteX26" fmla="*/ 309640 w 465442"/>
                  <a:gd name="connsiteY26" fmla="*/ 207482 h 261038"/>
                  <a:gd name="connsiteX27" fmla="*/ 295909 w 465442"/>
                  <a:gd name="connsiteY27" fmla="*/ 216147 h 261038"/>
                  <a:gd name="connsiteX28" fmla="*/ 258954 w 465442"/>
                  <a:gd name="connsiteY28" fmla="*/ 233982 h 261038"/>
                  <a:gd name="connsiteX29" fmla="*/ 245584 w 465442"/>
                  <a:gd name="connsiteY29" fmla="*/ 237043 h 261038"/>
                  <a:gd name="connsiteX30" fmla="*/ 47416 w 465442"/>
                  <a:gd name="connsiteY30" fmla="*/ 237043 h 261038"/>
                  <a:gd name="connsiteX31" fmla="*/ 30700 w 465442"/>
                  <a:gd name="connsiteY31" fmla="*/ 241515 h 261038"/>
                  <a:gd name="connsiteX32" fmla="*/ 11182 w 465442"/>
                  <a:gd name="connsiteY32" fmla="*/ 261039 h 261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5442" h="261038">
                    <a:moveTo>
                      <a:pt x="11182" y="261039"/>
                    </a:moveTo>
                    <a:lnTo>
                      <a:pt x="0" y="249857"/>
                    </a:lnTo>
                    <a:lnTo>
                      <a:pt x="21687" y="228480"/>
                    </a:lnTo>
                    <a:cubicBezTo>
                      <a:pt x="29441" y="223736"/>
                      <a:pt x="38340" y="221225"/>
                      <a:pt x="47416" y="221225"/>
                    </a:cubicBezTo>
                    <a:lnTo>
                      <a:pt x="245584" y="221225"/>
                    </a:lnTo>
                    <a:cubicBezTo>
                      <a:pt x="247823" y="221225"/>
                      <a:pt x="250068" y="220713"/>
                      <a:pt x="252080" y="219739"/>
                    </a:cubicBezTo>
                    <a:lnTo>
                      <a:pt x="289034" y="201904"/>
                    </a:lnTo>
                    <a:cubicBezTo>
                      <a:pt x="292842" y="200063"/>
                      <a:pt x="296447" y="197786"/>
                      <a:pt x="299742" y="195143"/>
                    </a:cubicBezTo>
                    <a:lnTo>
                      <a:pt x="362855" y="144502"/>
                    </a:lnTo>
                    <a:cubicBezTo>
                      <a:pt x="364291" y="143351"/>
                      <a:pt x="365631" y="142073"/>
                      <a:pt x="366858" y="140694"/>
                    </a:cubicBezTo>
                    <a:lnTo>
                      <a:pt x="440534" y="57621"/>
                    </a:lnTo>
                    <a:cubicBezTo>
                      <a:pt x="445410" y="52124"/>
                      <a:pt x="450900" y="43245"/>
                      <a:pt x="449363" y="32132"/>
                    </a:cubicBezTo>
                    <a:cubicBezTo>
                      <a:pt x="448844" y="30343"/>
                      <a:pt x="443626" y="25403"/>
                      <a:pt x="439648" y="23493"/>
                    </a:cubicBezTo>
                    <a:cubicBezTo>
                      <a:pt x="420384" y="14272"/>
                      <a:pt x="408392" y="10034"/>
                      <a:pt x="385763" y="30539"/>
                    </a:cubicBezTo>
                    <a:cubicBezTo>
                      <a:pt x="373360" y="41771"/>
                      <a:pt x="363772" y="51859"/>
                      <a:pt x="356069" y="59967"/>
                    </a:cubicBezTo>
                    <a:cubicBezTo>
                      <a:pt x="346809" y="69713"/>
                      <a:pt x="340118" y="76752"/>
                      <a:pt x="333199" y="81192"/>
                    </a:cubicBezTo>
                    <a:cubicBezTo>
                      <a:pt x="321600" y="88655"/>
                      <a:pt x="291754" y="108546"/>
                      <a:pt x="291754" y="108546"/>
                    </a:cubicBezTo>
                    <a:lnTo>
                      <a:pt x="282982" y="95391"/>
                    </a:lnTo>
                    <a:cubicBezTo>
                      <a:pt x="282982" y="95391"/>
                      <a:pt x="312986" y="75393"/>
                      <a:pt x="324648" y="67892"/>
                    </a:cubicBezTo>
                    <a:cubicBezTo>
                      <a:pt x="329967" y="64470"/>
                      <a:pt x="336424" y="57671"/>
                      <a:pt x="344609" y="49063"/>
                    </a:cubicBezTo>
                    <a:cubicBezTo>
                      <a:pt x="352495" y="40766"/>
                      <a:pt x="362311" y="30444"/>
                      <a:pt x="375137" y="18813"/>
                    </a:cubicBezTo>
                    <a:cubicBezTo>
                      <a:pt x="404395" y="-7700"/>
                      <a:pt x="423944" y="-1565"/>
                      <a:pt x="446472" y="9225"/>
                    </a:cubicBezTo>
                    <a:cubicBezTo>
                      <a:pt x="451950" y="11856"/>
                      <a:pt x="463694" y="20375"/>
                      <a:pt x="465023" y="29957"/>
                    </a:cubicBezTo>
                    <a:cubicBezTo>
                      <a:pt x="466888" y="43466"/>
                      <a:pt x="462512" y="56659"/>
                      <a:pt x="452361" y="68100"/>
                    </a:cubicBezTo>
                    <a:lnTo>
                      <a:pt x="378692" y="151193"/>
                    </a:lnTo>
                    <a:cubicBezTo>
                      <a:pt x="376870" y="153242"/>
                      <a:pt x="374872" y="155140"/>
                      <a:pt x="372753" y="156841"/>
                    </a:cubicBezTo>
                    <a:lnTo>
                      <a:pt x="309640" y="207482"/>
                    </a:lnTo>
                    <a:cubicBezTo>
                      <a:pt x="305409" y="210878"/>
                      <a:pt x="300792" y="213794"/>
                      <a:pt x="295909" y="216147"/>
                    </a:cubicBezTo>
                    <a:lnTo>
                      <a:pt x="258954" y="233982"/>
                    </a:lnTo>
                    <a:cubicBezTo>
                      <a:pt x="254818" y="235981"/>
                      <a:pt x="250189" y="237043"/>
                      <a:pt x="245584" y="237043"/>
                    </a:cubicBezTo>
                    <a:lnTo>
                      <a:pt x="47416" y="237043"/>
                    </a:lnTo>
                    <a:cubicBezTo>
                      <a:pt x="41540" y="237043"/>
                      <a:pt x="35785" y="238586"/>
                      <a:pt x="30700" y="241515"/>
                    </a:cubicBezTo>
                    <a:lnTo>
                      <a:pt x="11182" y="261039"/>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32" name="Picture Placeholder 103">
              <a:extLst>
                <a:ext uri="{FF2B5EF4-FFF2-40B4-BE49-F238E27FC236}">
                  <a16:creationId xmlns:a16="http://schemas.microsoft.com/office/drawing/2014/main" id="{D9B710A0-D81E-5D4B-F8BD-482B5DEFE31D}"/>
                </a:ext>
              </a:extLst>
            </p:cNvPr>
            <p:cNvGrpSpPr/>
            <p:nvPr/>
          </p:nvGrpSpPr>
          <p:grpSpPr>
            <a:xfrm>
              <a:off x="4528496" y="682691"/>
              <a:ext cx="519679" cy="496632"/>
              <a:chOff x="4528496" y="682691"/>
              <a:chExt cx="519679" cy="496632"/>
            </a:xfrm>
            <a:grpFill/>
          </p:grpSpPr>
          <p:grpSp>
            <p:nvGrpSpPr>
              <p:cNvPr id="33" name="Picture Placeholder 103">
                <a:extLst>
                  <a:ext uri="{FF2B5EF4-FFF2-40B4-BE49-F238E27FC236}">
                    <a16:creationId xmlns:a16="http://schemas.microsoft.com/office/drawing/2014/main" id="{10CBE9D6-F2B7-DA0C-274F-E8C087224F6A}"/>
                  </a:ext>
                </a:extLst>
              </p:cNvPr>
              <p:cNvGrpSpPr/>
              <p:nvPr/>
            </p:nvGrpSpPr>
            <p:grpSpPr>
              <a:xfrm>
                <a:off x="4528496" y="802680"/>
                <a:ext cx="519679" cy="376643"/>
                <a:chOff x="4528496" y="802680"/>
                <a:chExt cx="519679" cy="376643"/>
              </a:xfrm>
              <a:grpFill/>
            </p:grpSpPr>
            <p:sp>
              <p:nvSpPr>
                <p:cNvPr id="35" name="Picture Placeholder 103">
                  <a:extLst>
                    <a:ext uri="{FF2B5EF4-FFF2-40B4-BE49-F238E27FC236}">
                      <a16:creationId xmlns:a16="http://schemas.microsoft.com/office/drawing/2014/main" id="{F2424E0B-689E-C5DE-2498-5B56C40F8A91}"/>
                    </a:ext>
                  </a:extLst>
                </p:cNvPr>
                <p:cNvSpPr/>
                <p:nvPr/>
              </p:nvSpPr>
              <p:spPr>
                <a:xfrm>
                  <a:off x="4820443" y="802680"/>
                  <a:ext cx="227732" cy="227737"/>
                </a:xfrm>
                <a:custGeom>
                  <a:avLst/>
                  <a:gdLst>
                    <a:gd name="connsiteX0" fmla="*/ 83462 w 227732"/>
                    <a:gd name="connsiteY0" fmla="*/ 227737 h 227737"/>
                    <a:gd name="connsiteX1" fmla="*/ 24789 w 227732"/>
                    <a:gd name="connsiteY1" fmla="*/ 202945 h 227737"/>
                    <a:gd name="connsiteX2" fmla="*/ 382 w 227732"/>
                    <a:gd name="connsiteY2" fmla="*/ 136258 h 227737"/>
                    <a:gd name="connsiteX3" fmla="*/ 43231 w 227732"/>
                    <a:gd name="connsiteY3" fmla="*/ 56682 h 227737"/>
                    <a:gd name="connsiteX4" fmla="*/ 144558 w 227732"/>
                    <a:gd name="connsiteY4" fmla="*/ 5731 h 227737"/>
                    <a:gd name="connsiteX5" fmla="*/ 220491 w 227732"/>
                    <a:gd name="connsiteY5" fmla="*/ 7237 h 227737"/>
                    <a:gd name="connsiteX6" fmla="*/ 221996 w 227732"/>
                    <a:gd name="connsiteY6" fmla="*/ 83170 h 227737"/>
                    <a:gd name="connsiteX7" fmla="*/ 171045 w 227732"/>
                    <a:gd name="connsiteY7" fmla="*/ 184496 h 227737"/>
                    <a:gd name="connsiteX8" fmla="*/ 91469 w 227732"/>
                    <a:gd name="connsiteY8" fmla="*/ 227345 h 227737"/>
                    <a:gd name="connsiteX9" fmla="*/ 83462 w 227732"/>
                    <a:gd name="connsiteY9" fmla="*/ 227737 h 227737"/>
                    <a:gd name="connsiteX10" fmla="*/ 192182 w 227732"/>
                    <a:gd name="connsiteY10" fmla="*/ 15585 h 227737"/>
                    <a:gd name="connsiteX11" fmla="*/ 54407 w 227732"/>
                    <a:gd name="connsiteY11" fmla="*/ 67864 h 227737"/>
                    <a:gd name="connsiteX12" fmla="*/ 16112 w 227732"/>
                    <a:gd name="connsiteY12" fmla="*/ 137757 h 227737"/>
                    <a:gd name="connsiteX13" fmla="*/ 35964 w 227732"/>
                    <a:gd name="connsiteY13" fmla="*/ 191769 h 227737"/>
                    <a:gd name="connsiteX14" fmla="*/ 89977 w 227732"/>
                    <a:gd name="connsiteY14" fmla="*/ 211622 h 227737"/>
                    <a:gd name="connsiteX15" fmla="*/ 159870 w 227732"/>
                    <a:gd name="connsiteY15" fmla="*/ 173333 h 227737"/>
                    <a:gd name="connsiteX16" fmla="*/ 209246 w 227732"/>
                    <a:gd name="connsiteY16" fmla="*/ 18355 h 227737"/>
                    <a:gd name="connsiteX17" fmla="*/ 192182 w 227732"/>
                    <a:gd name="connsiteY17" fmla="*/ 15585 h 227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7732" h="227737">
                      <a:moveTo>
                        <a:pt x="83462" y="227737"/>
                      </a:moveTo>
                      <a:cubicBezTo>
                        <a:pt x="61522" y="227737"/>
                        <a:pt x="40936" y="219098"/>
                        <a:pt x="24789" y="202945"/>
                      </a:cubicBezTo>
                      <a:cubicBezTo>
                        <a:pt x="6688" y="184844"/>
                        <a:pt x="-1983" y="161158"/>
                        <a:pt x="382" y="136258"/>
                      </a:cubicBezTo>
                      <a:cubicBezTo>
                        <a:pt x="2899" y="109714"/>
                        <a:pt x="17718" y="82196"/>
                        <a:pt x="43231" y="56682"/>
                      </a:cubicBezTo>
                      <a:cubicBezTo>
                        <a:pt x="74804" y="25110"/>
                        <a:pt x="120271" y="11208"/>
                        <a:pt x="144558" y="5731"/>
                      </a:cubicBezTo>
                      <a:cubicBezTo>
                        <a:pt x="167111" y="646"/>
                        <a:pt x="208500" y="-4755"/>
                        <a:pt x="220491" y="7237"/>
                      </a:cubicBezTo>
                      <a:cubicBezTo>
                        <a:pt x="232489" y="19228"/>
                        <a:pt x="227088" y="60610"/>
                        <a:pt x="221996" y="83170"/>
                      </a:cubicBezTo>
                      <a:cubicBezTo>
                        <a:pt x="216525" y="107463"/>
                        <a:pt x="202624" y="152924"/>
                        <a:pt x="171045" y="184496"/>
                      </a:cubicBezTo>
                      <a:cubicBezTo>
                        <a:pt x="145532" y="210010"/>
                        <a:pt x="118013" y="224828"/>
                        <a:pt x="91469" y="227345"/>
                      </a:cubicBezTo>
                      <a:cubicBezTo>
                        <a:pt x="88788" y="227611"/>
                        <a:pt x="86112" y="227737"/>
                        <a:pt x="83462" y="227737"/>
                      </a:cubicBezTo>
                      <a:close/>
                      <a:moveTo>
                        <a:pt x="192182" y="15585"/>
                      </a:moveTo>
                      <a:cubicBezTo>
                        <a:pt x="160218" y="15585"/>
                        <a:pt x="93227" y="29050"/>
                        <a:pt x="54407" y="67864"/>
                      </a:cubicBezTo>
                      <a:cubicBezTo>
                        <a:pt x="31525" y="90747"/>
                        <a:pt x="18281" y="114913"/>
                        <a:pt x="16112" y="137757"/>
                      </a:cubicBezTo>
                      <a:cubicBezTo>
                        <a:pt x="14176" y="158173"/>
                        <a:pt x="21038" y="176850"/>
                        <a:pt x="35964" y="191769"/>
                      </a:cubicBezTo>
                      <a:cubicBezTo>
                        <a:pt x="50878" y="206689"/>
                        <a:pt x="69561" y="213526"/>
                        <a:pt x="89977" y="211622"/>
                      </a:cubicBezTo>
                      <a:cubicBezTo>
                        <a:pt x="112815" y="209453"/>
                        <a:pt x="136987" y="196216"/>
                        <a:pt x="159870" y="173333"/>
                      </a:cubicBezTo>
                      <a:cubicBezTo>
                        <a:pt x="209277" y="123919"/>
                        <a:pt x="217613" y="28854"/>
                        <a:pt x="209246" y="18355"/>
                      </a:cubicBezTo>
                      <a:cubicBezTo>
                        <a:pt x="207020" y="16584"/>
                        <a:pt x="200904" y="15585"/>
                        <a:pt x="192182" y="15585"/>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 name="Picture Placeholder 103">
                  <a:extLst>
                    <a:ext uri="{FF2B5EF4-FFF2-40B4-BE49-F238E27FC236}">
                      <a16:creationId xmlns:a16="http://schemas.microsoft.com/office/drawing/2014/main" id="{2780C5E4-D969-41F9-DC08-06C8E25A35D9}"/>
                    </a:ext>
                  </a:extLst>
                </p:cNvPr>
                <p:cNvSpPr/>
                <p:nvPr/>
              </p:nvSpPr>
              <p:spPr>
                <a:xfrm>
                  <a:off x="4793351" y="891440"/>
                  <a:ext cx="152264" cy="287883"/>
                </a:xfrm>
                <a:custGeom>
                  <a:avLst/>
                  <a:gdLst>
                    <a:gd name="connsiteX0" fmla="*/ 15812 w 152264"/>
                    <a:gd name="connsiteY0" fmla="*/ 287883 h 287883"/>
                    <a:gd name="connsiteX1" fmla="*/ 0 w 152264"/>
                    <a:gd name="connsiteY1" fmla="*/ 287883 h 287883"/>
                    <a:gd name="connsiteX2" fmla="*/ 0 w 152264"/>
                    <a:gd name="connsiteY2" fmla="*/ 231101 h 287883"/>
                    <a:gd name="connsiteX3" fmla="*/ 99106 w 152264"/>
                    <a:gd name="connsiteY3" fmla="*/ 41976 h 287883"/>
                    <a:gd name="connsiteX4" fmla="*/ 141083 w 152264"/>
                    <a:gd name="connsiteY4" fmla="*/ 0 h 287883"/>
                    <a:gd name="connsiteX5" fmla="*/ 152265 w 152264"/>
                    <a:gd name="connsiteY5" fmla="*/ 11182 h 287883"/>
                    <a:gd name="connsiteX6" fmla="*/ 110339 w 152264"/>
                    <a:gd name="connsiteY6" fmla="*/ 53101 h 287883"/>
                    <a:gd name="connsiteX7" fmla="*/ 15818 w 152264"/>
                    <a:gd name="connsiteY7" fmla="*/ 231101 h 287883"/>
                    <a:gd name="connsiteX8" fmla="*/ 15818 w 152264"/>
                    <a:gd name="connsiteY8" fmla="*/ 287883 h 28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264" h="287883">
                      <a:moveTo>
                        <a:pt x="15812" y="287883"/>
                      </a:moveTo>
                      <a:lnTo>
                        <a:pt x="0" y="287883"/>
                      </a:lnTo>
                      <a:lnTo>
                        <a:pt x="0" y="231101"/>
                      </a:lnTo>
                      <a:cubicBezTo>
                        <a:pt x="0" y="180839"/>
                        <a:pt x="42603" y="99530"/>
                        <a:pt x="99106" y="41976"/>
                      </a:cubicBezTo>
                      <a:lnTo>
                        <a:pt x="141083" y="0"/>
                      </a:lnTo>
                      <a:lnTo>
                        <a:pt x="152265" y="11182"/>
                      </a:lnTo>
                      <a:lnTo>
                        <a:pt x="110339" y="53101"/>
                      </a:lnTo>
                      <a:cubicBezTo>
                        <a:pt x="57358" y="107075"/>
                        <a:pt x="15818" y="185285"/>
                        <a:pt x="15818" y="231101"/>
                      </a:cubicBezTo>
                      <a:lnTo>
                        <a:pt x="15818" y="287883"/>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7" name="Picture Placeholder 103">
                  <a:extLst>
                    <a:ext uri="{FF2B5EF4-FFF2-40B4-BE49-F238E27FC236}">
                      <a16:creationId xmlns:a16="http://schemas.microsoft.com/office/drawing/2014/main" id="{B4D93D27-27F5-E28F-2EFC-C70DBD84CA18}"/>
                    </a:ext>
                  </a:extLst>
                </p:cNvPr>
                <p:cNvSpPr/>
                <p:nvPr/>
              </p:nvSpPr>
              <p:spPr>
                <a:xfrm>
                  <a:off x="4528496" y="822228"/>
                  <a:ext cx="260448" cy="260455"/>
                </a:xfrm>
                <a:custGeom>
                  <a:avLst/>
                  <a:gdLst>
                    <a:gd name="connsiteX0" fmla="*/ 166128 w 260448"/>
                    <a:gd name="connsiteY0" fmla="*/ 260456 h 260455"/>
                    <a:gd name="connsiteX1" fmla="*/ 65162 w 260448"/>
                    <a:gd name="connsiteY1" fmla="*/ 210947 h 260455"/>
                    <a:gd name="connsiteX2" fmla="*/ 65162 w 260448"/>
                    <a:gd name="connsiteY2" fmla="*/ 210947 h 260455"/>
                    <a:gd name="connsiteX3" fmla="*/ 8108 w 260448"/>
                    <a:gd name="connsiteY3" fmla="*/ 8111 h 260455"/>
                    <a:gd name="connsiteX4" fmla="*/ 210944 w 260448"/>
                    <a:gd name="connsiteY4" fmla="*/ 65165 h 260455"/>
                    <a:gd name="connsiteX5" fmla="*/ 232220 w 260448"/>
                    <a:gd name="connsiteY5" fmla="*/ 232229 h 260455"/>
                    <a:gd name="connsiteX6" fmla="*/ 166128 w 260448"/>
                    <a:gd name="connsiteY6" fmla="*/ 260456 h 260455"/>
                    <a:gd name="connsiteX7" fmla="*/ 76344 w 260448"/>
                    <a:gd name="connsiteY7" fmla="*/ 199771 h 260455"/>
                    <a:gd name="connsiteX8" fmla="*/ 221044 w 260448"/>
                    <a:gd name="connsiteY8" fmla="*/ 221054 h 260455"/>
                    <a:gd name="connsiteX9" fmla="*/ 199769 w 260448"/>
                    <a:gd name="connsiteY9" fmla="*/ 76353 h 260455"/>
                    <a:gd name="connsiteX10" fmla="*/ 19277 w 260448"/>
                    <a:gd name="connsiteY10" fmla="*/ 19311 h 260455"/>
                    <a:gd name="connsiteX11" fmla="*/ 76344 w 260448"/>
                    <a:gd name="connsiteY11" fmla="*/ 199771 h 260455"/>
                    <a:gd name="connsiteX12" fmla="*/ 76344 w 260448"/>
                    <a:gd name="connsiteY12" fmla="*/ 199771 h 26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448" h="260455">
                      <a:moveTo>
                        <a:pt x="166128" y="260456"/>
                      </a:moveTo>
                      <a:cubicBezTo>
                        <a:pt x="133442" y="260456"/>
                        <a:pt x="97930" y="243721"/>
                        <a:pt x="65162" y="210947"/>
                      </a:cubicBezTo>
                      <a:lnTo>
                        <a:pt x="65162" y="210947"/>
                      </a:lnTo>
                      <a:cubicBezTo>
                        <a:pt x="5995" y="151780"/>
                        <a:pt x="-12479" y="28703"/>
                        <a:pt x="8108" y="8111"/>
                      </a:cubicBezTo>
                      <a:cubicBezTo>
                        <a:pt x="28707" y="-12482"/>
                        <a:pt x="151777" y="5998"/>
                        <a:pt x="210944" y="65165"/>
                      </a:cubicBezTo>
                      <a:cubicBezTo>
                        <a:pt x="268150" y="122371"/>
                        <a:pt x="276499" y="187951"/>
                        <a:pt x="232220" y="232229"/>
                      </a:cubicBezTo>
                      <a:cubicBezTo>
                        <a:pt x="213303" y="251146"/>
                        <a:pt x="190503" y="260456"/>
                        <a:pt x="166128" y="260456"/>
                      </a:cubicBezTo>
                      <a:close/>
                      <a:moveTo>
                        <a:pt x="76344" y="199771"/>
                      </a:moveTo>
                      <a:cubicBezTo>
                        <a:pt x="127548" y="250969"/>
                        <a:pt x="182989" y="259109"/>
                        <a:pt x="221044" y="221054"/>
                      </a:cubicBezTo>
                      <a:cubicBezTo>
                        <a:pt x="259112" y="182986"/>
                        <a:pt x="250954" y="127544"/>
                        <a:pt x="199769" y="76353"/>
                      </a:cubicBezTo>
                      <a:cubicBezTo>
                        <a:pt x="141759" y="18337"/>
                        <a:pt x="30484" y="9104"/>
                        <a:pt x="19277" y="19311"/>
                      </a:cubicBezTo>
                      <a:cubicBezTo>
                        <a:pt x="9082" y="30506"/>
                        <a:pt x="18335" y="141762"/>
                        <a:pt x="76344" y="199771"/>
                      </a:cubicBezTo>
                      <a:lnTo>
                        <a:pt x="76344" y="199771"/>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 name="Picture Placeholder 103">
                  <a:extLst>
                    <a:ext uri="{FF2B5EF4-FFF2-40B4-BE49-F238E27FC236}">
                      <a16:creationId xmlns:a16="http://schemas.microsoft.com/office/drawing/2014/main" id="{385F8A8F-D725-E8DA-69C7-B349378E18BB}"/>
                    </a:ext>
                  </a:extLst>
                </p:cNvPr>
                <p:cNvSpPr/>
                <p:nvPr/>
              </p:nvSpPr>
              <p:spPr>
                <a:xfrm>
                  <a:off x="4660946" y="939172"/>
                  <a:ext cx="148216" cy="240151"/>
                </a:xfrm>
                <a:custGeom>
                  <a:avLst/>
                  <a:gdLst>
                    <a:gd name="connsiteX0" fmla="*/ 148217 w 148216"/>
                    <a:gd name="connsiteY0" fmla="*/ 240151 h 240151"/>
                    <a:gd name="connsiteX1" fmla="*/ 132405 w 148216"/>
                    <a:gd name="connsiteY1" fmla="*/ 240151 h 240151"/>
                    <a:gd name="connsiteX2" fmla="*/ 41919 w 148216"/>
                    <a:gd name="connsiteY2" fmla="*/ 53101 h 240151"/>
                    <a:gd name="connsiteX3" fmla="*/ 0 w 148216"/>
                    <a:gd name="connsiteY3" fmla="*/ 11182 h 240151"/>
                    <a:gd name="connsiteX4" fmla="*/ 11182 w 148216"/>
                    <a:gd name="connsiteY4" fmla="*/ 0 h 240151"/>
                    <a:gd name="connsiteX5" fmla="*/ 53101 w 148216"/>
                    <a:gd name="connsiteY5" fmla="*/ 41919 h 240151"/>
                    <a:gd name="connsiteX6" fmla="*/ 148217 w 148216"/>
                    <a:gd name="connsiteY6" fmla="*/ 240151 h 24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216" h="240151">
                      <a:moveTo>
                        <a:pt x="148217" y="240151"/>
                      </a:moveTo>
                      <a:lnTo>
                        <a:pt x="132405" y="240151"/>
                      </a:lnTo>
                      <a:cubicBezTo>
                        <a:pt x="132405" y="173364"/>
                        <a:pt x="104501" y="115677"/>
                        <a:pt x="41919" y="53101"/>
                      </a:cubicBezTo>
                      <a:lnTo>
                        <a:pt x="0" y="11182"/>
                      </a:lnTo>
                      <a:lnTo>
                        <a:pt x="11182" y="0"/>
                      </a:lnTo>
                      <a:lnTo>
                        <a:pt x="53101" y="41919"/>
                      </a:lnTo>
                      <a:cubicBezTo>
                        <a:pt x="118884" y="107702"/>
                        <a:pt x="148217" y="168835"/>
                        <a:pt x="148217" y="240151"/>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34" name="Picture Placeholder 103">
                <a:extLst>
                  <a:ext uri="{FF2B5EF4-FFF2-40B4-BE49-F238E27FC236}">
                    <a16:creationId xmlns:a16="http://schemas.microsoft.com/office/drawing/2014/main" id="{9F8CE94B-7D12-E5D2-5BB1-7A2D82C51F49}"/>
                  </a:ext>
                </a:extLst>
              </p:cNvPr>
              <p:cNvSpPr/>
              <p:nvPr/>
            </p:nvSpPr>
            <p:spPr>
              <a:xfrm>
                <a:off x="4716428" y="682691"/>
                <a:ext cx="133796" cy="201438"/>
              </a:xfrm>
              <a:custGeom>
                <a:avLst/>
                <a:gdLst>
                  <a:gd name="connsiteX0" fmla="*/ 68537 w 133796"/>
                  <a:gd name="connsiteY0" fmla="*/ 201438 h 201438"/>
                  <a:gd name="connsiteX1" fmla="*/ 313 w 133796"/>
                  <a:gd name="connsiteY1" fmla="*/ 121558 h 201438"/>
                  <a:gd name="connsiteX2" fmla="*/ 57450 w 133796"/>
                  <a:gd name="connsiteY2" fmla="*/ 31 h 201438"/>
                  <a:gd name="connsiteX3" fmla="*/ 133294 w 133796"/>
                  <a:gd name="connsiteY3" fmla="*/ 110864 h 201438"/>
                  <a:gd name="connsiteX4" fmla="*/ 133294 w 133796"/>
                  <a:gd name="connsiteY4" fmla="*/ 110864 h 201438"/>
                  <a:gd name="connsiteX5" fmla="*/ 73647 w 133796"/>
                  <a:gd name="connsiteY5" fmla="*/ 201236 h 201438"/>
                  <a:gd name="connsiteX6" fmla="*/ 68537 w 133796"/>
                  <a:gd name="connsiteY6" fmla="*/ 201438 h 201438"/>
                  <a:gd name="connsiteX7" fmla="*/ 58727 w 133796"/>
                  <a:gd name="connsiteY7" fmla="*/ 15900 h 201438"/>
                  <a:gd name="connsiteX8" fmla="*/ 16074 w 133796"/>
                  <a:gd name="connsiteY8" fmla="*/ 120294 h 201438"/>
                  <a:gd name="connsiteX9" fmla="*/ 72376 w 133796"/>
                  <a:gd name="connsiteY9" fmla="*/ 185475 h 201438"/>
                  <a:gd name="connsiteX10" fmla="*/ 117534 w 133796"/>
                  <a:gd name="connsiteY10" fmla="*/ 112128 h 201438"/>
                  <a:gd name="connsiteX11" fmla="*/ 58727 w 133796"/>
                  <a:gd name="connsiteY11" fmla="*/ 15900 h 201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796" h="201438">
                    <a:moveTo>
                      <a:pt x="68537" y="201438"/>
                    </a:moveTo>
                    <a:cubicBezTo>
                      <a:pt x="38938" y="201438"/>
                      <a:pt x="5088" y="180871"/>
                      <a:pt x="313" y="121558"/>
                    </a:cubicBezTo>
                    <a:cubicBezTo>
                      <a:pt x="-4044" y="67401"/>
                      <a:pt x="38160" y="1587"/>
                      <a:pt x="57450" y="31"/>
                    </a:cubicBezTo>
                    <a:cubicBezTo>
                      <a:pt x="77024" y="-1544"/>
                      <a:pt x="128937" y="56706"/>
                      <a:pt x="133294" y="110864"/>
                    </a:cubicBezTo>
                    <a:lnTo>
                      <a:pt x="133294" y="110864"/>
                    </a:lnTo>
                    <a:cubicBezTo>
                      <a:pt x="138348" y="173616"/>
                      <a:pt x="104321" y="198763"/>
                      <a:pt x="73647" y="201236"/>
                    </a:cubicBezTo>
                    <a:cubicBezTo>
                      <a:pt x="71965" y="201369"/>
                      <a:pt x="70257" y="201438"/>
                      <a:pt x="68537" y="201438"/>
                    </a:cubicBezTo>
                    <a:close/>
                    <a:moveTo>
                      <a:pt x="58727" y="15900"/>
                    </a:moveTo>
                    <a:cubicBezTo>
                      <a:pt x="48501" y="20605"/>
                      <a:pt x="12330" y="73757"/>
                      <a:pt x="16074" y="120294"/>
                    </a:cubicBezTo>
                    <a:cubicBezTo>
                      <a:pt x="19515" y="163010"/>
                      <a:pt x="41069" y="188049"/>
                      <a:pt x="72376" y="185475"/>
                    </a:cubicBezTo>
                    <a:cubicBezTo>
                      <a:pt x="103664" y="182958"/>
                      <a:pt x="120974" y="154851"/>
                      <a:pt x="117534" y="112128"/>
                    </a:cubicBezTo>
                    <a:cubicBezTo>
                      <a:pt x="113796" y="65586"/>
                      <a:pt x="69580" y="18910"/>
                      <a:pt x="58727" y="15900"/>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41" name="Picture Placeholder 82" descr="Cloud">
            <a:extLst>
              <a:ext uri="{FF2B5EF4-FFF2-40B4-BE49-F238E27FC236}">
                <a16:creationId xmlns:a16="http://schemas.microsoft.com/office/drawing/2014/main" id="{F596C24B-A001-83BC-87F8-D9D4F85A742B}"/>
              </a:ext>
            </a:extLst>
          </p:cNvPr>
          <p:cNvGrpSpPr>
            <a:grpSpLocks noChangeAspect="1"/>
          </p:cNvGrpSpPr>
          <p:nvPr/>
        </p:nvGrpSpPr>
        <p:grpSpPr>
          <a:xfrm>
            <a:off x="5651712" y="4857062"/>
            <a:ext cx="914162" cy="550954"/>
            <a:chOff x="11078006" y="833884"/>
            <a:chExt cx="602760" cy="363276"/>
          </a:xfrm>
          <a:solidFill>
            <a:schemeClr val="bg1"/>
          </a:solidFill>
        </p:grpSpPr>
        <p:sp>
          <p:nvSpPr>
            <p:cNvPr id="42" name="Picture Placeholder 82">
              <a:extLst>
                <a:ext uri="{FF2B5EF4-FFF2-40B4-BE49-F238E27FC236}">
                  <a16:creationId xmlns:a16="http://schemas.microsoft.com/office/drawing/2014/main" id="{4F3379F7-575A-51DD-8D28-B7748C91AC68}"/>
                </a:ext>
              </a:extLst>
            </p:cNvPr>
            <p:cNvSpPr/>
            <p:nvPr/>
          </p:nvSpPr>
          <p:spPr>
            <a:xfrm>
              <a:off x="11172269" y="982822"/>
              <a:ext cx="44300" cy="44364"/>
            </a:xfrm>
            <a:custGeom>
              <a:avLst/>
              <a:gdLst>
                <a:gd name="connsiteX0" fmla="*/ 22136 w 44300"/>
                <a:gd name="connsiteY0" fmla="*/ 15844 h 44364"/>
                <a:gd name="connsiteX1" fmla="*/ 28461 w 44300"/>
                <a:gd name="connsiteY1" fmla="*/ 22182 h 44364"/>
                <a:gd name="connsiteX2" fmla="*/ 22136 w 44300"/>
                <a:gd name="connsiteY2" fmla="*/ 28520 h 44364"/>
                <a:gd name="connsiteX3" fmla="*/ 15812 w 44300"/>
                <a:gd name="connsiteY3" fmla="*/ 22182 h 44364"/>
                <a:gd name="connsiteX4" fmla="*/ 22136 w 44300"/>
                <a:gd name="connsiteY4" fmla="*/ 15844 h 44364"/>
                <a:gd name="connsiteX5" fmla="*/ 22136 w 44300"/>
                <a:gd name="connsiteY5" fmla="*/ 0 h 44364"/>
                <a:gd name="connsiteX6" fmla="*/ 0 w 44300"/>
                <a:gd name="connsiteY6" fmla="*/ 22182 h 44364"/>
                <a:gd name="connsiteX7" fmla="*/ 22136 w 44300"/>
                <a:gd name="connsiteY7" fmla="*/ 44364 h 44364"/>
                <a:gd name="connsiteX8" fmla="*/ 44272 w 44300"/>
                <a:gd name="connsiteY8" fmla="*/ 22182 h 44364"/>
                <a:gd name="connsiteX9" fmla="*/ 22136 w 44300"/>
                <a:gd name="connsiteY9" fmla="*/ 0 h 44364"/>
                <a:gd name="connsiteX10" fmla="*/ 22136 w 44300"/>
                <a:gd name="connsiteY10" fmla="*/ 0 h 4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300" h="44364">
                  <a:moveTo>
                    <a:pt x="22136" y="15844"/>
                  </a:moveTo>
                  <a:cubicBezTo>
                    <a:pt x="25931" y="15844"/>
                    <a:pt x="28461" y="19013"/>
                    <a:pt x="28461" y="22182"/>
                  </a:cubicBezTo>
                  <a:cubicBezTo>
                    <a:pt x="28461" y="25351"/>
                    <a:pt x="25298" y="28520"/>
                    <a:pt x="22136" y="28520"/>
                  </a:cubicBezTo>
                  <a:cubicBezTo>
                    <a:pt x="18974" y="28520"/>
                    <a:pt x="15812" y="25351"/>
                    <a:pt x="15812" y="22182"/>
                  </a:cubicBezTo>
                  <a:cubicBezTo>
                    <a:pt x="15812" y="19013"/>
                    <a:pt x="18974" y="15844"/>
                    <a:pt x="22136" y="15844"/>
                  </a:cubicBezTo>
                  <a:moveTo>
                    <a:pt x="22136" y="0"/>
                  </a:moveTo>
                  <a:cubicBezTo>
                    <a:pt x="9487" y="0"/>
                    <a:pt x="0" y="10140"/>
                    <a:pt x="0" y="22182"/>
                  </a:cubicBezTo>
                  <a:cubicBezTo>
                    <a:pt x="0" y="34858"/>
                    <a:pt x="10119" y="44364"/>
                    <a:pt x="22136" y="44364"/>
                  </a:cubicBezTo>
                  <a:cubicBezTo>
                    <a:pt x="34153" y="44364"/>
                    <a:pt x="44272" y="34224"/>
                    <a:pt x="44272" y="22182"/>
                  </a:cubicBezTo>
                  <a:cubicBezTo>
                    <a:pt x="44905" y="9507"/>
                    <a:pt x="34785" y="0"/>
                    <a:pt x="22136" y="0"/>
                  </a:cubicBezTo>
                  <a:lnTo>
                    <a:pt x="22136"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3" name="Picture Placeholder 82">
              <a:extLst>
                <a:ext uri="{FF2B5EF4-FFF2-40B4-BE49-F238E27FC236}">
                  <a16:creationId xmlns:a16="http://schemas.microsoft.com/office/drawing/2014/main" id="{D90B85EC-4853-F343-2E23-1C3C9843C1A9}"/>
                </a:ext>
              </a:extLst>
            </p:cNvPr>
            <p:cNvSpPr/>
            <p:nvPr/>
          </p:nvSpPr>
          <p:spPr>
            <a:xfrm>
              <a:off x="11218439" y="1067114"/>
              <a:ext cx="44300" cy="44364"/>
            </a:xfrm>
            <a:custGeom>
              <a:avLst/>
              <a:gdLst>
                <a:gd name="connsiteX0" fmla="*/ 22136 w 44300"/>
                <a:gd name="connsiteY0" fmla="*/ 15844 h 44364"/>
                <a:gd name="connsiteX1" fmla="*/ 28461 w 44300"/>
                <a:gd name="connsiteY1" fmla="*/ 22182 h 44364"/>
                <a:gd name="connsiteX2" fmla="*/ 22136 w 44300"/>
                <a:gd name="connsiteY2" fmla="*/ 28520 h 44364"/>
                <a:gd name="connsiteX3" fmla="*/ 15812 w 44300"/>
                <a:gd name="connsiteY3" fmla="*/ 22182 h 44364"/>
                <a:gd name="connsiteX4" fmla="*/ 22136 w 44300"/>
                <a:gd name="connsiteY4" fmla="*/ 15844 h 44364"/>
                <a:gd name="connsiteX5" fmla="*/ 22136 w 44300"/>
                <a:gd name="connsiteY5" fmla="*/ 0 h 44364"/>
                <a:gd name="connsiteX6" fmla="*/ 0 w 44300"/>
                <a:gd name="connsiteY6" fmla="*/ 22182 h 44364"/>
                <a:gd name="connsiteX7" fmla="*/ 22136 w 44300"/>
                <a:gd name="connsiteY7" fmla="*/ 44364 h 44364"/>
                <a:gd name="connsiteX8" fmla="*/ 44272 w 44300"/>
                <a:gd name="connsiteY8" fmla="*/ 22182 h 44364"/>
                <a:gd name="connsiteX9" fmla="*/ 22136 w 44300"/>
                <a:gd name="connsiteY9" fmla="*/ 0 h 44364"/>
                <a:gd name="connsiteX10" fmla="*/ 22136 w 44300"/>
                <a:gd name="connsiteY10" fmla="*/ 0 h 4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300" h="44364">
                  <a:moveTo>
                    <a:pt x="22136" y="15844"/>
                  </a:moveTo>
                  <a:cubicBezTo>
                    <a:pt x="25931" y="15844"/>
                    <a:pt x="28461" y="19013"/>
                    <a:pt x="28461" y="22182"/>
                  </a:cubicBezTo>
                  <a:cubicBezTo>
                    <a:pt x="28461" y="25351"/>
                    <a:pt x="25298" y="28520"/>
                    <a:pt x="22136" y="28520"/>
                  </a:cubicBezTo>
                  <a:cubicBezTo>
                    <a:pt x="18974" y="28520"/>
                    <a:pt x="15812" y="25351"/>
                    <a:pt x="15812" y="22182"/>
                  </a:cubicBezTo>
                  <a:cubicBezTo>
                    <a:pt x="15812" y="19013"/>
                    <a:pt x="18974" y="15844"/>
                    <a:pt x="22136" y="15844"/>
                  </a:cubicBezTo>
                  <a:moveTo>
                    <a:pt x="22136" y="0"/>
                  </a:moveTo>
                  <a:cubicBezTo>
                    <a:pt x="10119" y="0"/>
                    <a:pt x="0" y="10140"/>
                    <a:pt x="0" y="22182"/>
                  </a:cubicBezTo>
                  <a:cubicBezTo>
                    <a:pt x="0" y="34224"/>
                    <a:pt x="10119" y="44364"/>
                    <a:pt x="22136" y="44364"/>
                  </a:cubicBezTo>
                  <a:cubicBezTo>
                    <a:pt x="34153" y="44364"/>
                    <a:pt x="44272" y="34224"/>
                    <a:pt x="44272" y="22182"/>
                  </a:cubicBezTo>
                  <a:cubicBezTo>
                    <a:pt x="44905" y="10140"/>
                    <a:pt x="34785" y="0"/>
                    <a:pt x="22136" y="0"/>
                  </a:cubicBezTo>
                  <a:lnTo>
                    <a:pt x="22136"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 name="Picture Placeholder 82">
              <a:extLst>
                <a:ext uri="{FF2B5EF4-FFF2-40B4-BE49-F238E27FC236}">
                  <a16:creationId xmlns:a16="http://schemas.microsoft.com/office/drawing/2014/main" id="{C0B1C1F4-ABBE-93CB-0D3A-CE1DC57BA327}"/>
                </a:ext>
              </a:extLst>
            </p:cNvPr>
            <p:cNvSpPr/>
            <p:nvPr/>
          </p:nvSpPr>
          <p:spPr>
            <a:xfrm>
              <a:off x="11477747" y="1082959"/>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5" name="Picture Placeholder 82">
              <a:extLst>
                <a:ext uri="{FF2B5EF4-FFF2-40B4-BE49-F238E27FC236}">
                  <a16:creationId xmlns:a16="http://schemas.microsoft.com/office/drawing/2014/main" id="{F17391FD-E57F-FA16-2ABD-144FCF63525F}"/>
                </a:ext>
              </a:extLst>
            </p:cNvPr>
            <p:cNvSpPr/>
            <p:nvPr/>
          </p:nvSpPr>
          <p:spPr>
            <a:xfrm>
              <a:off x="11394263" y="985991"/>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6444" y="18380"/>
                    <a:pt x="19606"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6" name="Picture Placeholder 82">
              <a:extLst>
                <a:ext uri="{FF2B5EF4-FFF2-40B4-BE49-F238E27FC236}">
                  <a16:creationId xmlns:a16="http://schemas.microsoft.com/office/drawing/2014/main" id="{F0C8DF13-227F-2B54-F6E5-4410763EF60A}"/>
                </a:ext>
              </a:extLst>
            </p:cNvPr>
            <p:cNvSpPr/>
            <p:nvPr/>
          </p:nvSpPr>
          <p:spPr>
            <a:xfrm>
              <a:off x="11477115" y="833884"/>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9606"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47" name="Picture Placeholder 82">
              <a:extLst>
                <a:ext uri="{FF2B5EF4-FFF2-40B4-BE49-F238E27FC236}">
                  <a16:creationId xmlns:a16="http://schemas.microsoft.com/office/drawing/2014/main" id="{A6AC0B10-0A63-B28B-D393-9844750DEF13}"/>
                </a:ext>
              </a:extLst>
            </p:cNvPr>
            <p:cNvGrpSpPr/>
            <p:nvPr/>
          </p:nvGrpSpPr>
          <p:grpSpPr>
            <a:xfrm>
              <a:off x="11507473" y="854799"/>
              <a:ext cx="162542" cy="217838"/>
              <a:chOff x="11507473" y="854799"/>
              <a:chExt cx="162542" cy="217838"/>
            </a:xfrm>
            <a:grpFill/>
          </p:grpSpPr>
          <p:sp>
            <p:nvSpPr>
              <p:cNvPr id="93" name="Picture Placeholder 82">
                <a:extLst>
                  <a:ext uri="{FF2B5EF4-FFF2-40B4-BE49-F238E27FC236}">
                    <a16:creationId xmlns:a16="http://schemas.microsoft.com/office/drawing/2014/main" id="{2770F140-EB9A-CA14-38DC-6E3F557B397C}"/>
                  </a:ext>
                </a:extLst>
              </p:cNvPr>
              <p:cNvSpPr/>
              <p:nvPr/>
            </p:nvSpPr>
            <p:spPr>
              <a:xfrm>
                <a:off x="11581471" y="969512"/>
                <a:ext cx="88544" cy="102672"/>
              </a:xfrm>
              <a:custGeom>
                <a:avLst/>
                <a:gdLst>
                  <a:gd name="connsiteX0" fmla="*/ 11384 w 88544"/>
                  <a:gd name="connsiteY0" fmla="*/ 0 h 102672"/>
                  <a:gd name="connsiteX1" fmla="*/ 11384 w 88544"/>
                  <a:gd name="connsiteY1" fmla="*/ 0 h 102672"/>
                  <a:gd name="connsiteX2" fmla="*/ 0 w 88544"/>
                  <a:gd name="connsiteY2" fmla="*/ 14577 h 102672"/>
                  <a:gd name="connsiteX3" fmla="*/ 5060 w 88544"/>
                  <a:gd name="connsiteY3" fmla="*/ 15211 h 102672"/>
                  <a:gd name="connsiteX4" fmla="*/ 72733 w 88544"/>
                  <a:gd name="connsiteY4" fmla="*/ 95701 h 102672"/>
                  <a:gd name="connsiteX5" fmla="*/ 75895 w 88544"/>
                  <a:gd name="connsiteY5" fmla="*/ 95067 h 102672"/>
                  <a:gd name="connsiteX6" fmla="*/ 88544 w 88544"/>
                  <a:gd name="connsiteY6" fmla="*/ 102672 h 102672"/>
                  <a:gd name="connsiteX7" fmla="*/ 11384 w 88544"/>
                  <a:gd name="connsiteY7" fmla="*/ 0 h 102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544" h="102672">
                    <a:moveTo>
                      <a:pt x="11384" y="0"/>
                    </a:moveTo>
                    <a:cubicBezTo>
                      <a:pt x="11384" y="634"/>
                      <a:pt x="11384" y="634"/>
                      <a:pt x="11384" y="0"/>
                    </a:cubicBezTo>
                    <a:cubicBezTo>
                      <a:pt x="11384" y="6972"/>
                      <a:pt x="6325" y="13309"/>
                      <a:pt x="0" y="14577"/>
                    </a:cubicBezTo>
                    <a:lnTo>
                      <a:pt x="5060" y="15211"/>
                    </a:lnTo>
                    <a:cubicBezTo>
                      <a:pt x="41110" y="18380"/>
                      <a:pt x="69571" y="53237"/>
                      <a:pt x="72733" y="95701"/>
                    </a:cubicBezTo>
                    <a:cubicBezTo>
                      <a:pt x="73998" y="95701"/>
                      <a:pt x="75263" y="95067"/>
                      <a:pt x="75895" y="95067"/>
                    </a:cubicBezTo>
                    <a:cubicBezTo>
                      <a:pt x="81587" y="95067"/>
                      <a:pt x="86015" y="98236"/>
                      <a:pt x="88544" y="102672"/>
                    </a:cubicBezTo>
                    <a:cubicBezTo>
                      <a:pt x="88544" y="50068"/>
                      <a:pt x="55024" y="6972"/>
                      <a:pt x="11384" y="0"/>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94" name="Picture Placeholder 82">
                <a:extLst>
                  <a:ext uri="{FF2B5EF4-FFF2-40B4-BE49-F238E27FC236}">
                    <a16:creationId xmlns:a16="http://schemas.microsoft.com/office/drawing/2014/main" id="{DED217B8-6A91-4AF7-2D90-0CC91AF43E38}"/>
                  </a:ext>
                </a:extLst>
              </p:cNvPr>
              <p:cNvSpPr/>
              <p:nvPr/>
            </p:nvSpPr>
            <p:spPr>
              <a:xfrm>
                <a:off x="11507473" y="854799"/>
                <a:ext cx="79689" cy="103939"/>
              </a:xfrm>
              <a:custGeom>
                <a:avLst/>
                <a:gdLst>
                  <a:gd name="connsiteX0" fmla="*/ 70836 w 79689"/>
                  <a:gd name="connsiteY0" fmla="*/ 100771 h 103939"/>
                  <a:gd name="connsiteX1" fmla="*/ 79690 w 79689"/>
                  <a:gd name="connsiteY1" fmla="*/ 103940 h 103939"/>
                  <a:gd name="connsiteX2" fmla="*/ 6957 w 79689"/>
                  <a:gd name="connsiteY2" fmla="*/ 0 h 103939"/>
                  <a:gd name="connsiteX3" fmla="*/ 6957 w 79689"/>
                  <a:gd name="connsiteY3" fmla="*/ 1901 h 103939"/>
                  <a:gd name="connsiteX4" fmla="*/ 0 w 79689"/>
                  <a:gd name="connsiteY4" fmla="*/ 14577 h 103939"/>
                  <a:gd name="connsiteX5" fmla="*/ 63246 w 79689"/>
                  <a:gd name="connsiteY5" fmla="*/ 102672 h 103939"/>
                  <a:gd name="connsiteX6" fmla="*/ 70836 w 79689"/>
                  <a:gd name="connsiteY6" fmla="*/ 100771 h 103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689" h="103939">
                    <a:moveTo>
                      <a:pt x="70836" y="100771"/>
                    </a:moveTo>
                    <a:cubicBezTo>
                      <a:pt x="73998" y="100771"/>
                      <a:pt x="77160" y="102038"/>
                      <a:pt x="79690" y="103940"/>
                    </a:cubicBezTo>
                    <a:cubicBezTo>
                      <a:pt x="72100" y="57674"/>
                      <a:pt x="44905" y="19013"/>
                      <a:pt x="6957" y="0"/>
                    </a:cubicBezTo>
                    <a:cubicBezTo>
                      <a:pt x="6957" y="634"/>
                      <a:pt x="6957" y="1268"/>
                      <a:pt x="6957" y="1901"/>
                    </a:cubicBezTo>
                    <a:cubicBezTo>
                      <a:pt x="6957" y="6972"/>
                      <a:pt x="3795" y="12042"/>
                      <a:pt x="0" y="14577"/>
                    </a:cubicBezTo>
                    <a:cubicBezTo>
                      <a:pt x="31623" y="31055"/>
                      <a:pt x="55656" y="63378"/>
                      <a:pt x="63246" y="102672"/>
                    </a:cubicBezTo>
                    <a:cubicBezTo>
                      <a:pt x="65776" y="101405"/>
                      <a:pt x="68306" y="100771"/>
                      <a:pt x="70836" y="100771"/>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48" name="Picture Placeholder 82">
              <a:extLst>
                <a:ext uri="{FF2B5EF4-FFF2-40B4-BE49-F238E27FC236}">
                  <a16:creationId xmlns:a16="http://schemas.microsoft.com/office/drawing/2014/main" id="{51B20956-EAD3-E2D0-FF38-943233D90E5F}"/>
                </a:ext>
              </a:extLst>
            </p:cNvPr>
            <p:cNvSpPr/>
            <p:nvPr/>
          </p:nvSpPr>
          <p:spPr>
            <a:xfrm>
              <a:off x="11555540" y="947330"/>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9" name="Picture Placeholder 82">
              <a:extLst>
                <a:ext uri="{FF2B5EF4-FFF2-40B4-BE49-F238E27FC236}">
                  <a16:creationId xmlns:a16="http://schemas.microsoft.com/office/drawing/2014/main" id="{F287EB2E-D0FB-B6BD-C24A-CF790B99A2FA}"/>
                </a:ext>
              </a:extLst>
            </p:cNvPr>
            <p:cNvSpPr/>
            <p:nvPr/>
          </p:nvSpPr>
          <p:spPr>
            <a:xfrm>
              <a:off x="11635230" y="1056974"/>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50" name="Picture Placeholder 82">
              <a:extLst>
                <a:ext uri="{FF2B5EF4-FFF2-40B4-BE49-F238E27FC236}">
                  <a16:creationId xmlns:a16="http://schemas.microsoft.com/office/drawing/2014/main" id="{CD5ECDD2-5B8E-5CBF-3C34-13112EC5EBC0}"/>
                </a:ext>
              </a:extLst>
            </p:cNvPr>
            <p:cNvSpPr/>
            <p:nvPr/>
          </p:nvSpPr>
          <p:spPr>
            <a:xfrm>
              <a:off x="11602975" y="1088663"/>
              <a:ext cx="67040" cy="88095"/>
            </a:xfrm>
            <a:custGeom>
              <a:avLst/>
              <a:gdLst>
                <a:gd name="connsiteX0" fmla="*/ 55024 w 67040"/>
                <a:gd name="connsiteY0" fmla="*/ 5704 h 88095"/>
                <a:gd name="connsiteX1" fmla="*/ 49964 w 67040"/>
                <a:gd name="connsiteY1" fmla="*/ 5070 h 88095"/>
                <a:gd name="connsiteX2" fmla="*/ 0 w 67040"/>
                <a:gd name="connsiteY2" fmla="*/ 71617 h 88095"/>
                <a:gd name="connsiteX3" fmla="*/ 3795 w 67040"/>
                <a:gd name="connsiteY3" fmla="*/ 81124 h 88095"/>
                <a:gd name="connsiteX4" fmla="*/ 1897 w 67040"/>
                <a:gd name="connsiteY4" fmla="*/ 88095 h 88095"/>
                <a:gd name="connsiteX5" fmla="*/ 67041 w 67040"/>
                <a:gd name="connsiteY5" fmla="*/ 0 h 88095"/>
                <a:gd name="connsiteX6" fmla="*/ 55024 w 67040"/>
                <a:gd name="connsiteY6" fmla="*/ 5704 h 88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040" h="88095">
                  <a:moveTo>
                    <a:pt x="55024" y="5704"/>
                  </a:moveTo>
                  <a:cubicBezTo>
                    <a:pt x="53127" y="5704"/>
                    <a:pt x="51862" y="5070"/>
                    <a:pt x="49964" y="5070"/>
                  </a:cubicBezTo>
                  <a:cubicBezTo>
                    <a:pt x="44272" y="36125"/>
                    <a:pt x="24666" y="61477"/>
                    <a:pt x="0" y="71617"/>
                  </a:cubicBezTo>
                  <a:cubicBezTo>
                    <a:pt x="1897" y="74152"/>
                    <a:pt x="3795" y="77321"/>
                    <a:pt x="3795" y="81124"/>
                  </a:cubicBezTo>
                  <a:cubicBezTo>
                    <a:pt x="3795" y="83659"/>
                    <a:pt x="3162" y="85560"/>
                    <a:pt x="1897" y="88095"/>
                  </a:cubicBezTo>
                  <a:cubicBezTo>
                    <a:pt x="36050" y="76687"/>
                    <a:pt x="61981" y="42463"/>
                    <a:pt x="67041" y="0"/>
                  </a:cubicBezTo>
                  <a:cubicBezTo>
                    <a:pt x="64511" y="3169"/>
                    <a:pt x="60084" y="5704"/>
                    <a:pt x="55024" y="5704"/>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51" name="Picture Placeholder 82">
              <a:extLst>
                <a:ext uri="{FF2B5EF4-FFF2-40B4-BE49-F238E27FC236}">
                  <a16:creationId xmlns:a16="http://schemas.microsoft.com/office/drawing/2014/main" id="{7AB64B94-61A8-30D3-E1B3-FF360B8141A8}"/>
                </a:ext>
              </a:extLst>
            </p:cNvPr>
            <p:cNvSpPr/>
            <p:nvPr/>
          </p:nvSpPr>
          <p:spPr>
            <a:xfrm>
              <a:off x="11569454" y="1146970"/>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4785"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52" name="Picture Placeholder 82">
              <a:extLst>
                <a:ext uri="{FF2B5EF4-FFF2-40B4-BE49-F238E27FC236}">
                  <a16:creationId xmlns:a16="http://schemas.microsoft.com/office/drawing/2014/main" id="{3FBCA48F-1D6B-0CC2-3B7D-14F58FDC5083}"/>
                </a:ext>
              </a:extLst>
            </p:cNvPr>
            <p:cNvSpPr/>
            <p:nvPr/>
          </p:nvSpPr>
          <p:spPr>
            <a:xfrm>
              <a:off x="11097007" y="1121619"/>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53" name="Picture Placeholder 82">
              <a:extLst>
                <a:ext uri="{FF2B5EF4-FFF2-40B4-BE49-F238E27FC236}">
                  <a16:creationId xmlns:a16="http://schemas.microsoft.com/office/drawing/2014/main" id="{8FEAEAD0-2374-4E1B-D24A-6C1C2E0F1837}"/>
                </a:ext>
              </a:extLst>
            </p:cNvPr>
            <p:cNvSpPr/>
            <p:nvPr/>
          </p:nvSpPr>
          <p:spPr>
            <a:xfrm rot="-3334641">
              <a:off x="11537696" y="1099239"/>
              <a:ext cx="15811" cy="77321"/>
            </a:xfrm>
            <a:custGeom>
              <a:avLst/>
              <a:gdLst>
                <a:gd name="connsiteX0" fmla="*/ 0 w 15811"/>
                <a:gd name="connsiteY0" fmla="*/ 0 h 77321"/>
                <a:gd name="connsiteX1" fmla="*/ 15812 w 15811"/>
                <a:gd name="connsiteY1" fmla="*/ 0 h 77321"/>
                <a:gd name="connsiteX2" fmla="*/ 15812 w 15811"/>
                <a:gd name="connsiteY2" fmla="*/ 77322 h 77321"/>
                <a:gd name="connsiteX3" fmla="*/ 0 w 15811"/>
                <a:gd name="connsiteY3" fmla="*/ 77322 h 77321"/>
              </a:gdLst>
              <a:ahLst/>
              <a:cxnLst>
                <a:cxn ang="0">
                  <a:pos x="connsiteX0" y="connsiteY0"/>
                </a:cxn>
                <a:cxn ang="0">
                  <a:pos x="connsiteX1" y="connsiteY1"/>
                </a:cxn>
                <a:cxn ang="0">
                  <a:pos x="connsiteX2" y="connsiteY2"/>
                </a:cxn>
                <a:cxn ang="0">
                  <a:pos x="connsiteX3" y="connsiteY3"/>
                </a:cxn>
              </a:cxnLst>
              <a:rect l="l" t="t" r="r" b="b"/>
              <a:pathLst>
                <a:path w="15811" h="77321">
                  <a:moveTo>
                    <a:pt x="0" y="0"/>
                  </a:moveTo>
                  <a:lnTo>
                    <a:pt x="15812" y="0"/>
                  </a:lnTo>
                  <a:lnTo>
                    <a:pt x="15812" y="77322"/>
                  </a:lnTo>
                  <a:lnTo>
                    <a:pt x="0" y="77322"/>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54" name="Picture Placeholder 82">
              <a:extLst>
                <a:ext uri="{FF2B5EF4-FFF2-40B4-BE49-F238E27FC236}">
                  <a16:creationId xmlns:a16="http://schemas.microsoft.com/office/drawing/2014/main" id="{7B530476-34A3-2F86-B25B-3455CCDD413D}"/>
                </a:ext>
              </a:extLst>
            </p:cNvPr>
            <p:cNvSpPr/>
            <p:nvPr/>
          </p:nvSpPr>
          <p:spPr>
            <a:xfrm rot="-1309936">
              <a:off x="11332907" y="1131236"/>
              <a:ext cx="158118" cy="15844"/>
            </a:xfrm>
            <a:custGeom>
              <a:avLst/>
              <a:gdLst>
                <a:gd name="connsiteX0" fmla="*/ 0 w 158118"/>
                <a:gd name="connsiteY0" fmla="*/ 0 h 15844"/>
                <a:gd name="connsiteX1" fmla="*/ 158119 w 158118"/>
                <a:gd name="connsiteY1" fmla="*/ 0 h 15844"/>
                <a:gd name="connsiteX2" fmla="*/ 158119 w 158118"/>
                <a:gd name="connsiteY2" fmla="*/ 15845 h 15844"/>
                <a:gd name="connsiteX3" fmla="*/ 0 w 158118"/>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58118" h="15844">
                  <a:moveTo>
                    <a:pt x="0" y="0"/>
                  </a:moveTo>
                  <a:lnTo>
                    <a:pt x="158119" y="0"/>
                  </a:lnTo>
                  <a:lnTo>
                    <a:pt x="158119"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55" name="Picture Placeholder 82">
              <a:extLst>
                <a:ext uri="{FF2B5EF4-FFF2-40B4-BE49-F238E27FC236}">
                  <a16:creationId xmlns:a16="http://schemas.microsoft.com/office/drawing/2014/main" id="{4865A079-0CCC-C0C4-484A-0FD601CDC420}"/>
                </a:ext>
              </a:extLst>
            </p:cNvPr>
            <p:cNvGrpSpPr/>
            <p:nvPr/>
          </p:nvGrpSpPr>
          <p:grpSpPr>
            <a:xfrm>
              <a:off x="11245678" y="1094277"/>
              <a:ext cx="71449" cy="71956"/>
              <a:chOff x="11245678" y="1094277"/>
              <a:chExt cx="71449" cy="71956"/>
            </a:xfrm>
            <a:grpFill/>
          </p:grpSpPr>
          <p:sp>
            <p:nvSpPr>
              <p:cNvPr id="91" name="Picture Placeholder 82">
                <a:extLst>
                  <a:ext uri="{FF2B5EF4-FFF2-40B4-BE49-F238E27FC236}">
                    <a16:creationId xmlns:a16="http://schemas.microsoft.com/office/drawing/2014/main" id="{CF2B7B23-B517-F0A6-4FF6-674FAA877AAA}"/>
                  </a:ext>
                </a:extLst>
              </p:cNvPr>
              <p:cNvSpPr/>
              <p:nvPr/>
            </p:nvSpPr>
            <p:spPr>
              <a:xfrm>
                <a:off x="11251327" y="1100071"/>
                <a:ext cx="60083" cy="60208"/>
              </a:xfrm>
              <a:custGeom>
                <a:avLst/>
                <a:gdLst>
                  <a:gd name="connsiteX0" fmla="*/ 60084 w 60083"/>
                  <a:gd name="connsiteY0" fmla="*/ 60209 h 60208"/>
                  <a:gd name="connsiteX1" fmla="*/ 0 w 60083"/>
                  <a:gd name="connsiteY1" fmla="*/ 0 h 60208"/>
                </a:gdLst>
                <a:ahLst/>
                <a:cxnLst>
                  <a:cxn ang="0">
                    <a:pos x="connsiteX0" y="connsiteY0"/>
                  </a:cxn>
                  <a:cxn ang="0">
                    <a:pos x="connsiteX1" y="connsiteY1"/>
                  </a:cxn>
                </a:cxnLst>
                <a:rect l="l" t="t" r="r" b="b"/>
                <a:pathLst>
                  <a:path w="60083" h="60208">
                    <a:moveTo>
                      <a:pt x="60084" y="60209"/>
                    </a:moveTo>
                    <a:lnTo>
                      <a:pt x="0"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92" name="Picture Placeholder 82">
                <a:extLst>
                  <a:ext uri="{FF2B5EF4-FFF2-40B4-BE49-F238E27FC236}">
                    <a16:creationId xmlns:a16="http://schemas.microsoft.com/office/drawing/2014/main" id="{851D3266-00A1-DA8C-46DA-7E5A41D706D0}"/>
                  </a:ext>
                </a:extLst>
              </p:cNvPr>
              <p:cNvSpPr/>
              <p:nvPr/>
            </p:nvSpPr>
            <p:spPr>
              <a:xfrm rot="-2692707">
                <a:off x="11273497" y="1087401"/>
                <a:ext cx="15811" cy="85559"/>
              </a:xfrm>
              <a:custGeom>
                <a:avLst/>
                <a:gdLst>
                  <a:gd name="connsiteX0" fmla="*/ 0 w 15811"/>
                  <a:gd name="connsiteY0" fmla="*/ 0 h 85559"/>
                  <a:gd name="connsiteX1" fmla="*/ 15811 w 15811"/>
                  <a:gd name="connsiteY1" fmla="*/ 0 h 85559"/>
                  <a:gd name="connsiteX2" fmla="*/ 15811 w 15811"/>
                  <a:gd name="connsiteY2" fmla="*/ 85559 h 85559"/>
                  <a:gd name="connsiteX3" fmla="*/ 0 w 15811"/>
                  <a:gd name="connsiteY3" fmla="*/ 85559 h 85559"/>
                </a:gdLst>
                <a:ahLst/>
                <a:cxnLst>
                  <a:cxn ang="0">
                    <a:pos x="connsiteX0" y="connsiteY0"/>
                  </a:cxn>
                  <a:cxn ang="0">
                    <a:pos x="connsiteX1" y="connsiteY1"/>
                  </a:cxn>
                  <a:cxn ang="0">
                    <a:pos x="connsiteX2" y="connsiteY2"/>
                  </a:cxn>
                  <a:cxn ang="0">
                    <a:pos x="connsiteX3" y="connsiteY3"/>
                  </a:cxn>
                </a:cxnLst>
                <a:rect l="l" t="t" r="r" b="b"/>
                <a:pathLst>
                  <a:path w="15811" h="85559">
                    <a:moveTo>
                      <a:pt x="0" y="0"/>
                    </a:moveTo>
                    <a:lnTo>
                      <a:pt x="15811" y="0"/>
                    </a:lnTo>
                    <a:lnTo>
                      <a:pt x="15811" y="85559"/>
                    </a:lnTo>
                    <a:lnTo>
                      <a:pt x="0" y="85559"/>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56" name="Picture Placeholder 82">
              <a:extLst>
                <a:ext uri="{FF2B5EF4-FFF2-40B4-BE49-F238E27FC236}">
                  <a16:creationId xmlns:a16="http://schemas.microsoft.com/office/drawing/2014/main" id="{2CEC444D-85D5-A428-5733-3F7111D4C1B1}"/>
                </a:ext>
              </a:extLst>
            </p:cNvPr>
            <p:cNvGrpSpPr/>
            <p:nvPr/>
          </p:nvGrpSpPr>
          <p:grpSpPr>
            <a:xfrm>
              <a:off x="11131257" y="1089500"/>
              <a:ext cx="97457" cy="56153"/>
              <a:chOff x="11131257" y="1089500"/>
              <a:chExt cx="97457" cy="56153"/>
            </a:xfrm>
            <a:grpFill/>
          </p:grpSpPr>
          <p:sp>
            <p:nvSpPr>
              <p:cNvPr id="89" name="Picture Placeholder 82">
                <a:extLst>
                  <a:ext uri="{FF2B5EF4-FFF2-40B4-BE49-F238E27FC236}">
                    <a16:creationId xmlns:a16="http://schemas.microsoft.com/office/drawing/2014/main" id="{D9E27034-CA30-775A-876B-D4D1CFC606D5}"/>
                  </a:ext>
                </a:extLst>
              </p:cNvPr>
              <p:cNvSpPr/>
              <p:nvPr/>
            </p:nvSpPr>
            <p:spPr>
              <a:xfrm>
                <a:off x="11134322" y="1096268"/>
                <a:ext cx="91074" cy="41829"/>
              </a:xfrm>
              <a:custGeom>
                <a:avLst/>
                <a:gdLst>
                  <a:gd name="connsiteX0" fmla="*/ 0 w 91074"/>
                  <a:gd name="connsiteY0" fmla="*/ 41829 h 41829"/>
                  <a:gd name="connsiteX1" fmla="*/ 91074 w 91074"/>
                  <a:gd name="connsiteY1" fmla="*/ 0 h 41829"/>
                </a:gdLst>
                <a:ahLst/>
                <a:cxnLst>
                  <a:cxn ang="0">
                    <a:pos x="connsiteX0" y="connsiteY0"/>
                  </a:cxn>
                  <a:cxn ang="0">
                    <a:pos x="connsiteX1" y="connsiteY1"/>
                  </a:cxn>
                </a:cxnLst>
                <a:rect l="l" t="t" r="r" b="b"/>
                <a:pathLst>
                  <a:path w="91074" h="41829">
                    <a:moveTo>
                      <a:pt x="0" y="41829"/>
                    </a:moveTo>
                    <a:lnTo>
                      <a:pt x="91074"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90" name="Picture Placeholder 82">
                <a:extLst>
                  <a:ext uri="{FF2B5EF4-FFF2-40B4-BE49-F238E27FC236}">
                    <a16:creationId xmlns:a16="http://schemas.microsoft.com/office/drawing/2014/main" id="{81E4A884-1A23-A705-1D47-F724636D2DAA}"/>
                  </a:ext>
                </a:extLst>
              </p:cNvPr>
              <p:cNvSpPr/>
              <p:nvPr/>
            </p:nvSpPr>
            <p:spPr>
              <a:xfrm rot="-1473807">
                <a:off x="11130021" y="1109596"/>
                <a:ext cx="99928" cy="15844"/>
              </a:xfrm>
              <a:custGeom>
                <a:avLst/>
                <a:gdLst>
                  <a:gd name="connsiteX0" fmla="*/ 0 w 99928"/>
                  <a:gd name="connsiteY0" fmla="*/ 0 h 15844"/>
                  <a:gd name="connsiteX1" fmla="*/ 99929 w 99928"/>
                  <a:gd name="connsiteY1" fmla="*/ 0 h 15844"/>
                  <a:gd name="connsiteX2" fmla="*/ 99929 w 99928"/>
                  <a:gd name="connsiteY2" fmla="*/ 15844 h 15844"/>
                  <a:gd name="connsiteX3" fmla="*/ 0 w 9992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99928" h="15844">
                    <a:moveTo>
                      <a:pt x="0" y="0"/>
                    </a:moveTo>
                    <a:lnTo>
                      <a:pt x="99929" y="0"/>
                    </a:lnTo>
                    <a:lnTo>
                      <a:pt x="99929" y="15844"/>
                    </a:lnTo>
                    <a:lnTo>
                      <a:pt x="0" y="1584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57" name="Picture Placeholder 82">
              <a:extLst>
                <a:ext uri="{FF2B5EF4-FFF2-40B4-BE49-F238E27FC236}">
                  <a16:creationId xmlns:a16="http://schemas.microsoft.com/office/drawing/2014/main" id="{A26636CC-A819-EA0C-41E3-14F5CCD33288}"/>
                </a:ext>
              </a:extLst>
            </p:cNvPr>
            <p:cNvGrpSpPr/>
            <p:nvPr/>
          </p:nvGrpSpPr>
          <p:grpSpPr>
            <a:xfrm>
              <a:off x="11191717" y="1014518"/>
              <a:ext cx="47896" cy="65278"/>
              <a:chOff x="11191717" y="1014518"/>
              <a:chExt cx="47896" cy="65278"/>
            </a:xfrm>
            <a:grpFill/>
          </p:grpSpPr>
          <p:sp>
            <p:nvSpPr>
              <p:cNvPr id="87" name="Picture Placeholder 82">
                <a:extLst>
                  <a:ext uri="{FF2B5EF4-FFF2-40B4-BE49-F238E27FC236}">
                    <a16:creationId xmlns:a16="http://schemas.microsoft.com/office/drawing/2014/main" id="{EC58252E-FA29-F95E-CC6E-2C20CCD54A14}"/>
                  </a:ext>
                </a:extLst>
              </p:cNvPr>
              <p:cNvSpPr/>
              <p:nvPr/>
            </p:nvSpPr>
            <p:spPr>
              <a:xfrm>
                <a:off x="11198200" y="1018313"/>
                <a:ext cx="34785" cy="57040"/>
              </a:xfrm>
              <a:custGeom>
                <a:avLst/>
                <a:gdLst>
                  <a:gd name="connsiteX0" fmla="*/ 0 w 34785"/>
                  <a:gd name="connsiteY0" fmla="*/ 0 h 57040"/>
                  <a:gd name="connsiteX1" fmla="*/ 34785 w 34785"/>
                  <a:gd name="connsiteY1" fmla="*/ 57040 h 57040"/>
                </a:gdLst>
                <a:ahLst/>
                <a:cxnLst>
                  <a:cxn ang="0">
                    <a:pos x="connsiteX0" y="connsiteY0"/>
                  </a:cxn>
                  <a:cxn ang="0">
                    <a:pos x="connsiteX1" y="connsiteY1"/>
                  </a:cxn>
                </a:cxnLst>
                <a:rect l="l" t="t" r="r" b="b"/>
                <a:pathLst>
                  <a:path w="34785" h="57040">
                    <a:moveTo>
                      <a:pt x="0" y="0"/>
                    </a:moveTo>
                    <a:lnTo>
                      <a:pt x="34785" y="5704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8" name="Picture Placeholder 82">
                <a:extLst>
                  <a:ext uri="{FF2B5EF4-FFF2-40B4-BE49-F238E27FC236}">
                    <a16:creationId xmlns:a16="http://schemas.microsoft.com/office/drawing/2014/main" id="{0AF346C9-ECB6-FF0E-4464-ECAA675D3F03}"/>
                  </a:ext>
                </a:extLst>
              </p:cNvPr>
              <p:cNvSpPr/>
              <p:nvPr/>
            </p:nvSpPr>
            <p:spPr>
              <a:xfrm rot="-1869852">
                <a:off x="11207759" y="1013816"/>
                <a:ext cx="15811" cy="66547"/>
              </a:xfrm>
              <a:custGeom>
                <a:avLst/>
                <a:gdLst>
                  <a:gd name="connsiteX0" fmla="*/ 0 w 15811"/>
                  <a:gd name="connsiteY0" fmla="*/ 0 h 66547"/>
                  <a:gd name="connsiteX1" fmla="*/ 15812 w 15811"/>
                  <a:gd name="connsiteY1" fmla="*/ 0 h 66547"/>
                  <a:gd name="connsiteX2" fmla="*/ 15812 w 15811"/>
                  <a:gd name="connsiteY2" fmla="*/ 66548 h 66547"/>
                  <a:gd name="connsiteX3" fmla="*/ 0 w 15811"/>
                  <a:gd name="connsiteY3" fmla="*/ 66548 h 66547"/>
                </a:gdLst>
                <a:ahLst/>
                <a:cxnLst>
                  <a:cxn ang="0">
                    <a:pos x="connsiteX0" y="connsiteY0"/>
                  </a:cxn>
                  <a:cxn ang="0">
                    <a:pos x="connsiteX1" y="connsiteY1"/>
                  </a:cxn>
                  <a:cxn ang="0">
                    <a:pos x="connsiteX2" y="connsiteY2"/>
                  </a:cxn>
                  <a:cxn ang="0">
                    <a:pos x="connsiteX3" y="connsiteY3"/>
                  </a:cxn>
                </a:cxnLst>
                <a:rect l="l" t="t" r="r" b="b"/>
                <a:pathLst>
                  <a:path w="15811" h="66547">
                    <a:moveTo>
                      <a:pt x="0" y="0"/>
                    </a:moveTo>
                    <a:lnTo>
                      <a:pt x="15812" y="0"/>
                    </a:lnTo>
                    <a:lnTo>
                      <a:pt x="15812" y="66548"/>
                    </a:lnTo>
                    <a:lnTo>
                      <a:pt x="0" y="66548"/>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58" name="Picture Placeholder 82">
              <a:extLst>
                <a:ext uri="{FF2B5EF4-FFF2-40B4-BE49-F238E27FC236}">
                  <a16:creationId xmlns:a16="http://schemas.microsoft.com/office/drawing/2014/main" id="{4352C63C-6D07-CD03-37A5-DAB9BA6A0EE4}"/>
                </a:ext>
              </a:extLst>
            </p:cNvPr>
            <p:cNvGrpSpPr/>
            <p:nvPr/>
          </p:nvGrpSpPr>
          <p:grpSpPr>
            <a:xfrm>
              <a:off x="11242216" y="934438"/>
              <a:ext cx="98931" cy="146451"/>
              <a:chOff x="11242216" y="934438"/>
              <a:chExt cx="98931" cy="146451"/>
            </a:xfrm>
            <a:grpFill/>
          </p:grpSpPr>
          <p:sp>
            <p:nvSpPr>
              <p:cNvPr id="85" name="Picture Placeholder 82">
                <a:extLst>
                  <a:ext uri="{FF2B5EF4-FFF2-40B4-BE49-F238E27FC236}">
                    <a16:creationId xmlns:a16="http://schemas.microsoft.com/office/drawing/2014/main" id="{2F4D089E-356D-6CBE-5769-31F94E20BC8D}"/>
                  </a:ext>
                </a:extLst>
              </p:cNvPr>
              <p:cNvSpPr/>
              <p:nvPr/>
            </p:nvSpPr>
            <p:spPr>
              <a:xfrm>
                <a:off x="11248797" y="939091"/>
                <a:ext cx="85382" cy="137529"/>
              </a:xfrm>
              <a:custGeom>
                <a:avLst/>
                <a:gdLst>
                  <a:gd name="connsiteX0" fmla="*/ 0 w 85382"/>
                  <a:gd name="connsiteY0" fmla="*/ 137530 h 137529"/>
                  <a:gd name="connsiteX1" fmla="*/ 85382 w 85382"/>
                  <a:gd name="connsiteY1" fmla="*/ 0 h 137529"/>
                </a:gdLst>
                <a:ahLst/>
                <a:cxnLst>
                  <a:cxn ang="0">
                    <a:pos x="connsiteX0" y="connsiteY0"/>
                  </a:cxn>
                  <a:cxn ang="0">
                    <a:pos x="connsiteX1" y="connsiteY1"/>
                  </a:cxn>
                </a:cxnLst>
                <a:rect l="l" t="t" r="r" b="b"/>
                <a:pathLst>
                  <a:path w="85382" h="137529">
                    <a:moveTo>
                      <a:pt x="0" y="137530"/>
                    </a:moveTo>
                    <a:lnTo>
                      <a:pt x="85382"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6" name="Picture Placeholder 82">
                <a:extLst>
                  <a:ext uri="{FF2B5EF4-FFF2-40B4-BE49-F238E27FC236}">
                    <a16:creationId xmlns:a16="http://schemas.microsoft.com/office/drawing/2014/main" id="{237D7F47-96BC-D306-0551-9F39741BF314}"/>
                  </a:ext>
                </a:extLst>
              </p:cNvPr>
              <p:cNvSpPr/>
              <p:nvPr/>
            </p:nvSpPr>
            <p:spPr>
              <a:xfrm rot="-3487402">
                <a:off x="11210726" y="999590"/>
                <a:ext cx="161912" cy="15844"/>
              </a:xfrm>
              <a:custGeom>
                <a:avLst/>
                <a:gdLst>
                  <a:gd name="connsiteX0" fmla="*/ 0 w 161912"/>
                  <a:gd name="connsiteY0" fmla="*/ 0 h 15844"/>
                  <a:gd name="connsiteX1" fmla="*/ 161912 w 161912"/>
                  <a:gd name="connsiteY1" fmla="*/ 0 h 15844"/>
                  <a:gd name="connsiteX2" fmla="*/ 161912 w 161912"/>
                  <a:gd name="connsiteY2" fmla="*/ 15845 h 15844"/>
                  <a:gd name="connsiteX3" fmla="*/ 0 w 161912"/>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61912" h="15844">
                    <a:moveTo>
                      <a:pt x="0" y="0"/>
                    </a:moveTo>
                    <a:lnTo>
                      <a:pt x="161912" y="0"/>
                    </a:lnTo>
                    <a:lnTo>
                      <a:pt x="161912"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59" name="Picture Placeholder 82">
              <a:extLst>
                <a:ext uri="{FF2B5EF4-FFF2-40B4-BE49-F238E27FC236}">
                  <a16:creationId xmlns:a16="http://schemas.microsoft.com/office/drawing/2014/main" id="{14E3A1C1-4ED4-8A34-441F-9CCF57658DFD}"/>
                </a:ext>
              </a:extLst>
            </p:cNvPr>
            <p:cNvGrpSpPr/>
            <p:nvPr/>
          </p:nvGrpSpPr>
          <p:grpSpPr>
            <a:xfrm>
              <a:off x="11253857" y="1008079"/>
              <a:ext cx="151579" cy="80849"/>
              <a:chOff x="11253857" y="1008079"/>
              <a:chExt cx="151579" cy="80849"/>
            </a:xfrm>
            <a:grpFill/>
          </p:grpSpPr>
          <p:sp>
            <p:nvSpPr>
              <p:cNvPr id="83" name="Picture Placeholder 82">
                <a:extLst>
                  <a:ext uri="{FF2B5EF4-FFF2-40B4-BE49-F238E27FC236}">
                    <a16:creationId xmlns:a16="http://schemas.microsoft.com/office/drawing/2014/main" id="{FD13FD4F-C6BC-1BA5-C5F3-815D000FBB63}"/>
                  </a:ext>
                </a:extLst>
              </p:cNvPr>
              <p:cNvSpPr/>
              <p:nvPr/>
            </p:nvSpPr>
            <p:spPr>
              <a:xfrm>
                <a:off x="11257019" y="1015778"/>
                <a:ext cx="145465" cy="65912"/>
              </a:xfrm>
              <a:custGeom>
                <a:avLst/>
                <a:gdLst>
                  <a:gd name="connsiteX0" fmla="*/ 0 w 145465"/>
                  <a:gd name="connsiteY0" fmla="*/ 65913 h 65912"/>
                  <a:gd name="connsiteX1" fmla="*/ 145466 w 145465"/>
                  <a:gd name="connsiteY1" fmla="*/ 0 h 65912"/>
                </a:gdLst>
                <a:ahLst/>
                <a:cxnLst>
                  <a:cxn ang="0">
                    <a:pos x="connsiteX0" y="connsiteY0"/>
                  </a:cxn>
                  <a:cxn ang="0">
                    <a:pos x="connsiteX1" y="connsiteY1"/>
                  </a:cxn>
                </a:cxnLst>
                <a:rect l="l" t="t" r="r" b="b"/>
                <a:pathLst>
                  <a:path w="145465" h="65912">
                    <a:moveTo>
                      <a:pt x="0" y="65913"/>
                    </a:moveTo>
                    <a:lnTo>
                      <a:pt x="145466"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4" name="Picture Placeholder 82">
                <a:extLst>
                  <a:ext uri="{FF2B5EF4-FFF2-40B4-BE49-F238E27FC236}">
                    <a16:creationId xmlns:a16="http://schemas.microsoft.com/office/drawing/2014/main" id="{C277E228-A99D-0875-3D6E-CFAB76FB2C1B}"/>
                  </a:ext>
                </a:extLst>
              </p:cNvPr>
              <p:cNvSpPr/>
              <p:nvPr/>
            </p:nvSpPr>
            <p:spPr>
              <a:xfrm rot="-1470734">
                <a:off x="11249955" y="1040498"/>
                <a:ext cx="159384" cy="15844"/>
              </a:xfrm>
              <a:custGeom>
                <a:avLst/>
                <a:gdLst>
                  <a:gd name="connsiteX0" fmla="*/ 0 w 159384"/>
                  <a:gd name="connsiteY0" fmla="*/ 0 h 15844"/>
                  <a:gd name="connsiteX1" fmla="*/ 159385 w 159384"/>
                  <a:gd name="connsiteY1" fmla="*/ 0 h 15844"/>
                  <a:gd name="connsiteX2" fmla="*/ 159385 w 159384"/>
                  <a:gd name="connsiteY2" fmla="*/ 15845 h 15844"/>
                  <a:gd name="connsiteX3" fmla="*/ 0 w 159384"/>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59384" h="15844">
                    <a:moveTo>
                      <a:pt x="0" y="0"/>
                    </a:moveTo>
                    <a:lnTo>
                      <a:pt x="159385" y="0"/>
                    </a:lnTo>
                    <a:lnTo>
                      <a:pt x="159385"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60" name="Picture Placeholder 82">
              <a:extLst>
                <a:ext uri="{FF2B5EF4-FFF2-40B4-BE49-F238E27FC236}">
                  <a16:creationId xmlns:a16="http://schemas.microsoft.com/office/drawing/2014/main" id="{64ED1EE3-919D-8D71-CEFD-C8AC0152E216}"/>
                </a:ext>
              </a:extLst>
            </p:cNvPr>
            <p:cNvGrpSpPr/>
            <p:nvPr/>
          </p:nvGrpSpPr>
          <p:grpSpPr>
            <a:xfrm>
              <a:off x="11255188" y="1082309"/>
              <a:ext cx="231373" cy="29980"/>
              <a:chOff x="11255188" y="1082309"/>
              <a:chExt cx="231373" cy="29980"/>
            </a:xfrm>
            <a:grpFill/>
          </p:grpSpPr>
          <p:sp>
            <p:nvSpPr>
              <p:cNvPr id="81" name="Picture Placeholder 82">
                <a:extLst>
                  <a:ext uri="{FF2B5EF4-FFF2-40B4-BE49-F238E27FC236}">
                    <a16:creationId xmlns:a16="http://schemas.microsoft.com/office/drawing/2014/main" id="{0E5B3DAC-D17D-10CC-D19D-3818FDD29DF9}"/>
                  </a:ext>
                </a:extLst>
              </p:cNvPr>
              <p:cNvSpPr/>
              <p:nvPr/>
            </p:nvSpPr>
            <p:spPr>
              <a:xfrm>
                <a:off x="11255754" y="1090564"/>
                <a:ext cx="230215" cy="13943"/>
              </a:xfrm>
              <a:custGeom>
                <a:avLst/>
                <a:gdLst>
                  <a:gd name="connsiteX0" fmla="*/ 0 w 230215"/>
                  <a:gd name="connsiteY0" fmla="*/ 0 h 13943"/>
                  <a:gd name="connsiteX1" fmla="*/ 230215 w 230215"/>
                  <a:gd name="connsiteY1" fmla="*/ 13943 h 13943"/>
                </a:gdLst>
                <a:ahLst/>
                <a:cxnLst>
                  <a:cxn ang="0">
                    <a:pos x="connsiteX0" y="connsiteY0"/>
                  </a:cxn>
                  <a:cxn ang="0">
                    <a:pos x="connsiteX1" y="connsiteY1"/>
                  </a:cxn>
                </a:cxnLst>
                <a:rect l="l" t="t" r="r" b="b"/>
                <a:pathLst>
                  <a:path w="230215" h="13943">
                    <a:moveTo>
                      <a:pt x="0" y="0"/>
                    </a:moveTo>
                    <a:lnTo>
                      <a:pt x="230215" y="13943"/>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2" name="Picture Placeholder 82">
                <a:extLst>
                  <a:ext uri="{FF2B5EF4-FFF2-40B4-BE49-F238E27FC236}">
                    <a16:creationId xmlns:a16="http://schemas.microsoft.com/office/drawing/2014/main" id="{DED65402-000C-5EEF-EB9E-1C179552F2AF}"/>
                  </a:ext>
                </a:extLst>
              </p:cNvPr>
              <p:cNvSpPr/>
              <p:nvPr/>
            </p:nvSpPr>
            <p:spPr>
              <a:xfrm rot="-5190262">
                <a:off x="11362969" y="981608"/>
                <a:ext cx="15810" cy="231319"/>
              </a:xfrm>
              <a:custGeom>
                <a:avLst/>
                <a:gdLst>
                  <a:gd name="connsiteX0" fmla="*/ 0 w 15810"/>
                  <a:gd name="connsiteY0" fmla="*/ 0 h 231319"/>
                  <a:gd name="connsiteX1" fmla="*/ 15811 w 15810"/>
                  <a:gd name="connsiteY1" fmla="*/ 0 h 231319"/>
                  <a:gd name="connsiteX2" fmla="*/ 15811 w 15810"/>
                  <a:gd name="connsiteY2" fmla="*/ 231320 h 231319"/>
                  <a:gd name="connsiteX3" fmla="*/ 0 w 15810"/>
                  <a:gd name="connsiteY3" fmla="*/ 231320 h 231319"/>
                </a:gdLst>
                <a:ahLst/>
                <a:cxnLst>
                  <a:cxn ang="0">
                    <a:pos x="connsiteX0" y="connsiteY0"/>
                  </a:cxn>
                  <a:cxn ang="0">
                    <a:pos x="connsiteX1" y="connsiteY1"/>
                  </a:cxn>
                  <a:cxn ang="0">
                    <a:pos x="connsiteX2" y="connsiteY2"/>
                  </a:cxn>
                  <a:cxn ang="0">
                    <a:pos x="connsiteX3" y="connsiteY3"/>
                  </a:cxn>
                </a:cxnLst>
                <a:rect l="l" t="t" r="r" b="b"/>
                <a:pathLst>
                  <a:path w="15810" h="231319">
                    <a:moveTo>
                      <a:pt x="0" y="0"/>
                    </a:moveTo>
                    <a:lnTo>
                      <a:pt x="15811" y="0"/>
                    </a:lnTo>
                    <a:lnTo>
                      <a:pt x="15811" y="231320"/>
                    </a:lnTo>
                    <a:lnTo>
                      <a:pt x="0" y="23132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61" name="Picture Placeholder 82">
              <a:extLst>
                <a:ext uri="{FF2B5EF4-FFF2-40B4-BE49-F238E27FC236}">
                  <a16:creationId xmlns:a16="http://schemas.microsoft.com/office/drawing/2014/main" id="{BBC51767-3CBF-2910-7D99-8BF12A68C100}"/>
                </a:ext>
              </a:extLst>
            </p:cNvPr>
            <p:cNvSpPr/>
            <p:nvPr/>
          </p:nvSpPr>
          <p:spPr>
            <a:xfrm rot="-538125">
              <a:off x="11515092" y="1084868"/>
              <a:ext cx="126495" cy="15844"/>
            </a:xfrm>
            <a:custGeom>
              <a:avLst/>
              <a:gdLst>
                <a:gd name="connsiteX0" fmla="*/ 0 w 126495"/>
                <a:gd name="connsiteY0" fmla="*/ 0 h 15844"/>
                <a:gd name="connsiteX1" fmla="*/ 126495 w 126495"/>
                <a:gd name="connsiteY1" fmla="*/ 0 h 15844"/>
                <a:gd name="connsiteX2" fmla="*/ 126495 w 126495"/>
                <a:gd name="connsiteY2" fmla="*/ 15845 h 15844"/>
                <a:gd name="connsiteX3" fmla="*/ 0 w 126495"/>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26495" h="15844">
                  <a:moveTo>
                    <a:pt x="0" y="0"/>
                  </a:moveTo>
                  <a:lnTo>
                    <a:pt x="126495" y="0"/>
                  </a:lnTo>
                  <a:lnTo>
                    <a:pt x="126495"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62" name="Picture Placeholder 82">
              <a:extLst>
                <a:ext uri="{FF2B5EF4-FFF2-40B4-BE49-F238E27FC236}">
                  <a16:creationId xmlns:a16="http://schemas.microsoft.com/office/drawing/2014/main" id="{99EAC9C7-E75D-6152-45A5-25F84749191E}"/>
                </a:ext>
              </a:extLst>
            </p:cNvPr>
            <p:cNvGrpSpPr/>
            <p:nvPr/>
          </p:nvGrpSpPr>
          <p:grpSpPr>
            <a:xfrm>
              <a:off x="11501781" y="978331"/>
              <a:ext cx="75874" cy="116347"/>
              <a:chOff x="11501781" y="978331"/>
              <a:chExt cx="75874" cy="116347"/>
            </a:xfrm>
            <a:grpFill/>
          </p:grpSpPr>
          <p:sp>
            <p:nvSpPr>
              <p:cNvPr id="79" name="Picture Placeholder 82">
                <a:extLst>
                  <a:ext uri="{FF2B5EF4-FFF2-40B4-BE49-F238E27FC236}">
                    <a16:creationId xmlns:a16="http://schemas.microsoft.com/office/drawing/2014/main" id="{AF45FB7E-AD42-5AF2-FD03-D4C126099A27}"/>
                  </a:ext>
                </a:extLst>
              </p:cNvPr>
              <p:cNvSpPr/>
              <p:nvPr/>
            </p:nvSpPr>
            <p:spPr>
              <a:xfrm>
                <a:off x="11508738" y="982822"/>
                <a:ext cx="61981" cy="107742"/>
              </a:xfrm>
              <a:custGeom>
                <a:avLst/>
                <a:gdLst>
                  <a:gd name="connsiteX0" fmla="*/ 0 w 61981"/>
                  <a:gd name="connsiteY0" fmla="*/ 107742 h 107742"/>
                  <a:gd name="connsiteX1" fmla="*/ 61981 w 61981"/>
                  <a:gd name="connsiteY1" fmla="*/ 0 h 107742"/>
                </a:gdLst>
                <a:ahLst/>
                <a:cxnLst>
                  <a:cxn ang="0">
                    <a:pos x="connsiteX0" y="connsiteY0"/>
                  </a:cxn>
                  <a:cxn ang="0">
                    <a:pos x="connsiteX1" y="connsiteY1"/>
                  </a:cxn>
                </a:cxnLst>
                <a:rect l="l" t="t" r="r" b="b"/>
                <a:pathLst>
                  <a:path w="61981" h="107742">
                    <a:moveTo>
                      <a:pt x="0" y="107742"/>
                    </a:moveTo>
                    <a:lnTo>
                      <a:pt x="61981"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0" name="Picture Placeholder 82">
                <a:extLst>
                  <a:ext uri="{FF2B5EF4-FFF2-40B4-BE49-F238E27FC236}">
                    <a16:creationId xmlns:a16="http://schemas.microsoft.com/office/drawing/2014/main" id="{766243A2-311E-FFAE-B692-975576EFB24D}"/>
                  </a:ext>
                </a:extLst>
              </p:cNvPr>
              <p:cNvSpPr/>
              <p:nvPr/>
            </p:nvSpPr>
            <p:spPr>
              <a:xfrm rot="-3603965">
                <a:off x="11477421" y="1028462"/>
                <a:ext cx="124594" cy="15844"/>
              </a:xfrm>
              <a:custGeom>
                <a:avLst/>
                <a:gdLst>
                  <a:gd name="connsiteX0" fmla="*/ 0 w 124594"/>
                  <a:gd name="connsiteY0" fmla="*/ 0 h 15844"/>
                  <a:gd name="connsiteX1" fmla="*/ 124594 w 124594"/>
                  <a:gd name="connsiteY1" fmla="*/ 0 h 15844"/>
                  <a:gd name="connsiteX2" fmla="*/ 124594 w 124594"/>
                  <a:gd name="connsiteY2" fmla="*/ 15844 h 15844"/>
                  <a:gd name="connsiteX3" fmla="*/ 0 w 124594"/>
                  <a:gd name="connsiteY3" fmla="*/ 15844 h 15844"/>
                </a:gdLst>
                <a:ahLst/>
                <a:cxnLst>
                  <a:cxn ang="0">
                    <a:pos x="connsiteX0" y="connsiteY0"/>
                  </a:cxn>
                  <a:cxn ang="0">
                    <a:pos x="connsiteX1" y="connsiteY1"/>
                  </a:cxn>
                  <a:cxn ang="0">
                    <a:pos x="connsiteX2" y="connsiteY2"/>
                  </a:cxn>
                  <a:cxn ang="0">
                    <a:pos x="connsiteX3" y="connsiteY3"/>
                  </a:cxn>
                </a:cxnLst>
                <a:rect l="l" t="t" r="r" b="b"/>
                <a:pathLst>
                  <a:path w="124594" h="15844">
                    <a:moveTo>
                      <a:pt x="0" y="0"/>
                    </a:moveTo>
                    <a:lnTo>
                      <a:pt x="124594" y="0"/>
                    </a:lnTo>
                    <a:lnTo>
                      <a:pt x="124594" y="15844"/>
                    </a:lnTo>
                    <a:lnTo>
                      <a:pt x="0" y="1584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63" name="Picture Placeholder 82">
              <a:extLst>
                <a:ext uri="{FF2B5EF4-FFF2-40B4-BE49-F238E27FC236}">
                  <a16:creationId xmlns:a16="http://schemas.microsoft.com/office/drawing/2014/main" id="{DE8A1294-C247-E647-87BB-9E6A1EE0D13B}"/>
                </a:ext>
              </a:extLst>
            </p:cNvPr>
            <p:cNvSpPr/>
            <p:nvPr/>
          </p:nvSpPr>
          <p:spPr>
            <a:xfrm rot="-2394056">
              <a:off x="11450112" y="1007295"/>
              <a:ext cx="15812" cy="100142"/>
            </a:xfrm>
            <a:custGeom>
              <a:avLst/>
              <a:gdLst>
                <a:gd name="connsiteX0" fmla="*/ 0 w 15812"/>
                <a:gd name="connsiteY0" fmla="*/ 0 h 100142"/>
                <a:gd name="connsiteX1" fmla="*/ 15812 w 15812"/>
                <a:gd name="connsiteY1" fmla="*/ 0 h 100142"/>
                <a:gd name="connsiteX2" fmla="*/ 15812 w 15812"/>
                <a:gd name="connsiteY2" fmla="*/ 100143 h 100142"/>
                <a:gd name="connsiteX3" fmla="*/ 0 w 15812"/>
                <a:gd name="connsiteY3" fmla="*/ 100143 h 100142"/>
              </a:gdLst>
              <a:ahLst/>
              <a:cxnLst>
                <a:cxn ang="0">
                  <a:pos x="connsiteX0" y="connsiteY0"/>
                </a:cxn>
                <a:cxn ang="0">
                  <a:pos x="connsiteX1" y="connsiteY1"/>
                </a:cxn>
                <a:cxn ang="0">
                  <a:pos x="connsiteX2" y="connsiteY2"/>
                </a:cxn>
                <a:cxn ang="0">
                  <a:pos x="connsiteX3" y="connsiteY3"/>
                </a:cxn>
              </a:cxnLst>
              <a:rect l="l" t="t" r="r" b="b"/>
              <a:pathLst>
                <a:path w="15812" h="100142">
                  <a:moveTo>
                    <a:pt x="0" y="0"/>
                  </a:moveTo>
                  <a:lnTo>
                    <a:pt x="15812" y="0"/>
                  </a:lnTo>
                  <a:lnTo>
                    <a:pt x="15812" y="100143"/>
                  </a:lnTo>
                  <a:lnTo>
                    <a:pt x="0" y="100143"/>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64" name="Picture Placeholder 82">
              <a:extLst>
                <a:ext uri="{FF2B5EF4-FFF2-40B4-BE49-F238E27FC236}">
                  <a16:creationId xmlns:a16="http://schemas.microsoft.com/office/drawing/2014/main" id="{D0EE1585-7EA9-533C-3587-C8D6B3AA0BA5}"/>
                </a:ext>
              </a:extLst>
            </p:cNvPr>
            <p:cNvGrpSpPr/>
            <p:nvPr/>
          </p:nvGrpSpPr>
          <p:grpSpPr>
            <a:xfrm>
              <a:off x="11433538" y="965650"/>
              <a:ext cx="130001" cy="48777"/>
              <a:chOff x="11433538" y="965650"/>
              <a:chExt cx="130001" cy="48777"/>
            </a:xfrm>
            <a:grpFill/>
          </p:grpSpPr>
          <p:sp>
            <p:nvSpPr>
              <p:cNvPr id="77" name="Picture Placeholder 82">
                <a:extLst>
                  <a:ext uri="{FF2B5EF4-FFF2-40B4-BE49-F238E27FC236}">
                    <a16:creationId xmlns:a16="http://schemas.microsoft.com/office/drawing/2014/main" id="{5D2695A3-267A-A3D6-106D-2BECB8AF83A6}"/>
                  </a:ext>
                </a:extLst>
              </p:cNvPr>
              <p:cNvSpPr/>
              <p:nvPr/>
            </p:nvSpPr>
            <p:spPr>
              <a:xfrm>
                <a:off x="11435373" y="973949"/>
                <a:ext cx="125859" cy="32956"/>
              </a:xfrm>
              <a:custGeom>
                <a:avLst/>
                <a:gdLst>
                  <a:gd name="connsiteX0" fmla="*/ 125860 w 125859"/>
                  <a:gd name="connsiteY0" fmla="*/ 0 h 32956"/>
                  <a:gd name="connsiteX1" fmla="*/ 0 w 125859"/>
                  <a:gd name="connsiteY1" fmla="*/ 32956 h 32956"/>
                </a:gdLst>
                <a:ahLst/>
                <a:cxnLst>
                  <a:cxn ang="0">
                    <a:pos x="connsiteX0" y="connsiteY0"/>
                  </a:cxn>
                  <a:cxn ang="0">
                    <a:pos x="connsiteX1" y="connsiteY1"/>
                  </a:cxn>
                </a:cxnLst>
                <a:rect l="l" t="t" r="r" b="b"/>
                <a:pathLst>
                  <a:path w="125859" h="32956">
                    <a:moveTo>
                      <a:pt x="125860" y="0"/>
                    </a:moveTo>
                    <a:lnTo>
                      <a:pt x="0" y="32956"/>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8" name="Picture Placeholder 82">
                <a:extLst>
                  <a:ext uri="{FF2B5EF4-FFF2-40B4-BE49-F238E27FC236}">
                    <a16:creationId xmlns:a16="http://schemas.microsoft.com/office/drawing/2014/main" id="{ED5BDFAF-ADB5-8E4A-A7E0-5720ECFBD2F5}"/>
                  </a:ext>
                </a:extLst>
              </p:cNvPr>
              <p:cNvSpPr/>
              <p:nvPr/>
            </p:nvSpPr>
            <p:spPr>
              <a:xfrm rot="-888201">
                <a:off x="11433396" y="982066"/>
                <a:ext cx="130285" cy="15844"/>
              </a:xfrm>
              <a:custGeom>
                <a:avLst/>
                <a:gdLst>
                  <a:gd name="connsiteX0" fmla="*/ 0 w 130285"/>
                  <a:gd name="connsiteY0" fmla="*/ 0 h 15844"/>
                  <a:gd name="connsiteX1" fmla="*/ 130286 w 130285"/>
                  <a:gd name="connsiteY1" fmla="*/ 0 h 15844"/>
                  <a:gd name="connsiteX2" fmla="*/ 130286 w 130285"/>
                  <a:gd name="connsiteY2" fmla="*/ 15844 h 15844"/>
                  <a:gd name="connsiteX3" fmla="*/ 0 w 130285"/>
                  <a:gd name="connsiteY3" fmla="*/ 15844 h 15844"/>
                </a:gdLst>
                <a:ahLst/>
                <a:cxnLst>
                  <a:cxn ang="0">
                    <a:pos x="connsiteX0" y="connsiteY0"/>
                  </a:cxn>
                  <a:cxn ang="0">
                    <a:pos x="connsiteX1" y="connsiteY1"/>
                  </a:cxn>
                  <a:cxn ang="0">
                    <a:pos x="connsiteX2" y="connsiteY2"/>
                  </a:cxn>
                  <a:cxn ang="0">
                    <a:pos x="connsiteX3" y="connsiteY3"/>
                  </a:cxn>
                </a:cxnLst>
                <a:rect l="l" t="t" r="r" b="b"/>
                <a:pathLst>
                  <a:path w="130285" h="15844">
                    <a:moveTo>
                      <a:pt x="0" y="0"/>
                    </a:moveTo>
                    <a:lnTo>
                      <a:pt x="130286" y="0"/>
                    </a:lnTo>
                    <a:lnTo>
                      <a:pt x="130286" y="15844"/>
                    </a:lnTo>
                    <a:lnTo>
                      <a:pt x="0" y="1584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65" name="Picture Placeholder 82">
              <a:extLst>
                <a:ext uri="{FF2B5EF4-FFF2-40B4-BE49-F238E27FC236}">
                  <a16:creationId xmlns:a16="http://schemas.microsoft.com/office/drawing/2014/main" id="{1D5111D6-39EA-7941-8E42-C5EF35F061FF}"/>
                </a:ext>
              </a:extLst>
            </p:cNvPr>
            <p:cNvGrpSpPr/>
            <p:nvPr/>
          </p:nvGrpSpPr>
          <p:grpSpPr>
            <a:xfrm>
              <a:off x="11414102" y="867770"/>
              <a:ext cx="83517" cy="128109"/>
              <a:chOff x="11414102" y="867770"/>
              <a:chExt cx="83517" cy="128109"/>
            </a:xfrm>
            <a:grpFill/>
          </p:grpSpPr>
          <p:sp>
            <p:nvSpPr>
              <p:cNvPr id="75" name="Picture Placeholder 82">
                <a:extLst>
                  <a:ext uri="{FF2B5EF4-FFF2-40B4-BE49-F238E27FC236}">
                    <a16:creationId xmlns:a16="http://schemas.microsoft.com/office/drawing/2014/main" id="{1B08F13B-107D-E80F-7534-65A49061FF32}"/>
                  </a:ext>
                </a:extLst>
              </p:cNvPr>
              <p:cNvSpPr/>
              <p:nvPr/>
            </p:nvSpPr>
            <p:spPr>
              <a:xfrm>
                <a:off x="11420826" y="871911"/>
                <a:ext cx="69570" cy="119784"/>
              </a:xfrm>
              <a:custGeom>
                <a:avLst/>
                <a:gdLst>
                  <a:gd name="connsiteX0" fmla="*/ 0 w 69570"/>
                  <a:gd name="connsiteY0" fmla="*/ 119784 h 119784"/>
                  <a:gd name="connsiteX1" fmla="*/ 69571 w 69570"/>
                  <a:gd name="connsiteY1" fmla="*/ 0 h 119784"/>
                </a:gdLst>
                <a:ahLst/>
                <a:cxnLst>
                  <a:cxn ang="0">
                    <a:pos x="connsiteX0" y="connsiteY0"/>
                  </a:cxn>
                  <a:cxn ang="0">
                    <a:pos x="connsiteX1" y="connsiteY1"/>
                  </a:cxn>
                </a:cxnLst>
                <a:rect l="l" t="t" r="r" b="b"/>
                <a:pathLst>
                  <a:path w="69570" h="119784">
                    <a:moveTo>
                      <a:pt x="0" y="119784"/>
                    </a:moveTo>
                    <a:lnTo>
                      <a:pt x="69571"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6" name="Picture Placeholder 82">
                <a:extLst>
                  <a:ext uri="{FF2B5EF4-FFF2-40B4-BE49-F238E27FC236}">
                    <a16:creationId xmlns:a16="http://schemas.microsoft.com/office/drawing/2014/main" id="{67529A1D-47FC-6C82-D9E5-591DA14477B8}"/>
                  </a:ext>
                </a:extLst>
              </p:cNvPr>
              <p:cNvSpPr/>
              <p:nvPr/>
            </p:nvSpPr>
            <p:spPr>
              <a:xfrm rot="-3582560">
                <a:off x="11386604" y="923769"/>
                <a:ext cx="138512" cy="15844"/>
              </a:xfrm>
              <a:custGeom>
                <a:avLst/>
                <a:gdLst>
                  <a:gd name="connsiteX0" fmla="*/ 0 w 138512"/>
                  <a:gd name="connsiteY0" fmla="*/ 0 h 15844"/>
                  <a:gd name="connsiteX1" fmla="*/ 138512 w 138512"/>
                  <a:gd name="connsiteY1" fmla="*/ 0 h 15844"/>
                  <a:gd name="connsiteX2" fmla="*/ 138512 w 138512"/>
                  <a:gd name="connsiteY2" fmla="*/ 15845 h 15844"/>
                  <a:gd name="connsiteX3" fmla="*/ 0 w 138512"/>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38512" h="15844">
                    <a:moveTo>
                      <a:pt x="0" y="0"/>
                    </a:moveTo>
                    <a:lnTo>
                      <a:pt x="138512" y="0"/>
                    </a:lnTo>
                    <a:lnTo>
                      <a:pt x="138512"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66" name="Picture Placeholder 82">
              <a:extLst>
                <a:ext uri="{FF2B5EF4-FFF2-40B4-BE49-F238E27FC236}">
                  <a16:creationId xmlns:a16="http://schemas.microsoft.com/office/drawing/2014/main" id="{BC9876A3-E741-43CD-A698-6133BC550B6C}"/>
                </a:ext>
              </a:extLst>
            </p:cNvPr>
            <p:cNvGrpSpPr/>
            <p:nvPr/>
          </p:nvGrpSpPr>
          <p:grpSpPr>
            <a:xfrm>
              <a:off x="11345937" y="930931"/>
              <a:ext cx="62790" cy="71916"/>
              <a:chOff x="11345937" y="930931"/>
              <a:chExt cx="62790" cy="71916"/>
            </a:xfrm>
            <a:grpFill/>
          </p:grpSpPr>
          <p:sp>
            <p:nvSpPr>
              <p:cNvPr id="73" name="Picture Placeholder 82">
                <a:extLst>
                  <a:ext uri="{FF2B5EF4-FFF2-40B4-BE49-F238E27FC236}">
                    <a16:creationId xmlns:a16="http://schemas.microsoft.com/office/drawing/2014/main" id="{B146860F-88AD-5588-022F-F2013C66940E}"/>
                  </a:ext>
                </a:extLst>
              </p:cNvPr>
              <p:cNvSpPr/>
              <p:nvPr/>
            </p:nvSpPr>
            <p:spPr>
              <a:xfrm>
                <a:off x="11351888" y="936556"/>
                <a:ext cx="50596" cy="61476"/>
              </a:xfrm>
              <a:custGeom>
                <a:avLst/>
                <a:gdLst>
                  <a:gd name="connsiteX0" fmla="*/ 0 w 50596"/>
                  <a:gd name="connsiteY0" fmla="*/ 0 h 61476"/>
                  <a:gd name="connsiteX1" fmla="*/ 50597 w 50596"/>
                  <a:gd name="connsiteY1" fmla="*/ 61477 h 61476"/>
                </a:gdLst>
                <a:ahLst/>
                <a:cxnLst>
                  <a:cxn ang="0">
                    <a:pos x="connsiteX0" y="connsiteY0"/>
                  </a:cxn>
                  <a:cxn ang="0">
                    <a:pos x="connsiteX1" y="connsiteY1"/>
                  </a:cxn>
                </a:cxnLst>
                <a:rect l="l" t="t" r="r" b="b"/>
                <a:pathLst>
                  <a:path w="50596" h="61476">
                    <a:moveTo>
                      <a:pt x="0" y="0"/>
                    </a:moveTo>
                    <a:lnTo>
                      <a:pt x="50597" y="61477"/>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4" name="Picture Placeholder 82">
                <a:extLst>
                  <a:ext uri="{FF2B5EF4-FFF2-40B4-BE49-F238E27FC236}">
                    <a16:creationId xmlns:a16="http://schemas.microsoft.com/office/drawing/2014/main" id="{D3935E1E-2A40-7AC4-2856-96E35762EC85}"/>
                  </a:ext>
                </a:extLst>
              </p:cNvPr>
              <p:cNvSpPr/>
              <p:nvPr/>
            </p:nvSpPr>
            <p:spPr>
              <a:xfrm rot="-2363508">
                <a:off x="11369427" y="926888"/>
                <a:ext cx="15811" cy="79853"/>
              </a:xfrm>
              <a:custGeom>
                <a:avLst/>
                <a:gdLst>
                  <a:gd name="connsiteX0" fmla="*/ 0 w 15811"/>
                  <a:gd name="connsiteY0" fmla="*/ 0 h 79853"/>
                  <a:gd name="connsiteX1" fmla="*/ 15811 w 15811"/>
                  <a:gd name="connsiteY1" fmla="*/ 0 h 79853"/>
                  <a:gd name="connsiteX2" fmla="*/ 15811 w 15811"/>
                  <a:gd name="connsiteY2" fmla="*/ 79854 h 79853"/>
                  <a:gd name="connsiteX3" fmla="*/ 0 w 15811"/>
                  <a:gd name="connsiteY3" fmla="*/ 79854 h 79853"/>
                </a:gdLst>
                <a:ahLst/>
                <a:cxnLst>
                  <a:cxn ang="0">
                    <a:pos x="connsiteX0" y="connsiteY0"/>
                  </a:cxn>
                  <a:cxn ang="0">
                    <a:pos x="connsiteX1" y="connsiteY1"/>
                  </a:cxn>
                  <a:cxn ang="0">
                    <a:pos x="connsiteX2" y="connsiteY2"/>
                  </a:cxn>
                  <a:cxn ang="0">
                    <a:pos x="connsiteX3" y="connsiteY3"/>
                  </a:cxn>
                </a:cxnLst>
                <a:rect l="l" t="t" r="r" b="b"/>
                <a:pathLst>
                  <a:path w="15811" h="79853">
                    <a:moveTo>
                      <a:pt x="0" y="0"/>
                    </a:moveTo>
                    <a:lnTo>
                      <a:pt x="15811" y="0"/>
                    </a:lnTo>
                    <a:lnTo>
                      <a:pt x="15811" y="79854"/>
                    </a:lnTo>
                    <a:lnTo>
                      <a:pt x="0" y="7985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67" name="Picture Placeholder 82">
              <a:extLst>
                <a:ext uri="{FF2B5EF4-FFF2-40B4-BE49-F238E27FC236}">
                  <a16:creationId xmlns:a16="http://schemas.microsoft.com/office/drawing/2014/main" id="{FA8BDF1C-2A2F-FEB3-9232-72AEFA333773}"/>
                </a:ext>
              </a:extLst>
            </p:cNvPr>
            <p:cNvGrpSpPr/>
            <p:nvPr/>
          </p:nvGrpSpPr>
          <p:grpSpPr>
            <a:xfrm>
              <a:off x="11078006" y="1003103"/>
              <a:ext cx="504097" cy="179732"/>
              <a:chOff x="11078006" y="1003103"/>
              <a:chExt cx="504097" cy="179732"/>
            </a:xfrm>
            <a:grpFill/>
          </p:grpSpPr>
          <p:sp>
            <p:nvSpPr>
              <p:cNvPr id="71" name="Picture Placeholder 82">
                <a:extLst>
                  <a:ext uri="{FF2B5EF4-FFF2-40B4-BE49-F238E27FC236}">
                    <a16:creationId xmlns:a16="http://schemas.microsoft.com/office/drawing/2014/main" id="{D5DB57BD-6744-DFD8-43CA-4CD26D831B9D}"/>
                  </a:ext>
                </a:extLst>
              </p:cNvPr>
              <p:cNvSpPr/>
              <p:nvPr/>
            </p:nvSpPr>
            <p:spPr>
              <a:xfrm>
                <a:off x="11078006" y="1003103"/>
                <a:ext cx="234669" cy="179359"/>
              </a:xfrm>
              <a:custGeom>
                <a:avLst/>
                <a:gdLst>
                  <a:gd name="connsiteX0" fmla="*/ 232139 w 234669"/>
                  <a:gd name="connsiteY0" fmla="*/ 170486 h 179359"/>
                  <a:gd name="connsiteX1" fmla="*/ 234669 w 234669"/>
                  <a:gd name="connsiteY1" fmla="*/ 162247 h 179359"/>
                  <a:gd name="connsiteX2" fmla="*/ 100588 w 234669"/>
                  <a:gd name="connsiteY2" fmla="*/ 162881 h 179359"/>
                  <a:gd name="connsiteX3" fmla="*/ 91101 w 234669"/>
                  <a:gd name="connsiteY3" fmla="*/ 162881 h 179359"/>
                  <a:gd name="connsiteX4" fmla="*/ 53786 w 234669"/>
                  <a:gd name="connsiteY4" fmla="*/ 150839 h 179359"/>
                  <a:gd name="connsiteX5" fmla="*/ 42401 w 234669"/>
                  <a:gd name="connsiteY5" fmla="*/ 156543 h 179359"/>
                  <a:gd name="connsiteX6" fmla="*/ 27855 w 234669"/>
                  <a:gd name="connsiteY6" fmla="*/ 141966 h 179359"/>
                  <a:gd name="connsiteX7" fmla="*/ 32282 w 234669"/>
                  <a:gd name="connsiteY7" fmla="*/ 131192 h 179359"/>
                  <a:gd name="connsiteX8" fmla="*/ 15838 w 234669"/>
                  <a:gd name="connsiteY8" fmla="*/ 85560 h 179359"/>
                  <a:gd name="connsiteX9" fmla="*/ 86673 w 234669"/>
                  <a:gd name="connsiteY9" fmla="*/ 15844 h 179359"/>
                  <a:gd name="connsiteX10" fmla="*/ 88571 w 234669"/>
                  <a:gd name="connsiteY10" fmla="*/ 15844 h 179359"/>
                  <a:gd name="connsiteX11" fmla="*/ 106280 w 234669"/>
                  <a:gd name="connsiteY11" fmla="*/ 18380 h 179359"/>
                  <a:gd name="connsiteX12" fmla="*/ 122724 w 234669"/>
                  <a:gd name="connsiteY12" fmla="*/ 22816 h 179359"/>
                  <a:gd name="connsiteX13" fmla="*/ 123989 w 234669"/>
                  <a:gd name="connsiteY13" fmla="*/ 15211 h 179359"/>
                  <a:gd name="connsiteX14" fmla="*/ 117032 w 234669"/>
                  <a:gd name="connsiteY14" fmla="*/ 17112 h 179359"/>
                  <a:gd name="connsiteX15" fmla="*/ 102485 w 234669"/>
                  <a:gd name="connsiteY15" fmla="*/ 2535 h 179359"/>
                  <a:gd name="connsiteX16" fmla="*/ 102485 w 234669"/>
                  <a:gd name="connsiteY16" fmla="*/ 1268 h 179359"/>
                  <a:gd name="connsiteX17" fmla="*/ 88571 w 234669"/>
                  <a:gd name="connsiteY17" fmla="*/ 0 h 179359"/>
                  <a:gd name="connsiteX18" fmla="*/ 86673 w 234669"/>
                  <a:gd name="connsiteY18" fmla="*/ 0 h 179359"/>
                  <a:gd name="connsiteX19" fmla="*/ 26 w 234669"/>
                  <a:gd name="connsiteY19" fmla="*/ 85560 h 179359"/>
                  <a:gd name="connsiteX20" fmla="*/ 91101 w 234669"/>
                  <a:gd name="connsiteY20" fmla="*/ 179359 h 179359"/>
                  <a:gd name="connsiteX21" fmla="*/ 101220 w 234669"/>
                  <a:gd name="connsiteY21" fmla="*/ 179359 h 179359"/>
                  <a:gd name="connsiteX22" fmla="*/ 234669 w 234669"/>
                  <a:gd name="connsiteY22" fmla="*/ 178725 h 179359"/>
                  <a:gd name="connsiteX23" fmla="*/ 232139 w 234669"/>
                  <a:gd name="connsiteY23" fmla="*/ 170486 h 179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4669" h="179359">
                    <a:moveTo>
                      <a:pt x="232139" y="170486"/>
                    </a:moveTo>
                    <a:cubicBezTo>
                      <a:pt x="232139" y="167317"/>
                      <a:pt x="233404" y="164149"/>
                      <a:pt x="234669" y="162247"/>
                    </a:cubicBezTo>
                    <a:cubicBezTo>
                      <a:pt x="175218" y="162247"/>
                      <a:pt x="122091" y="162881"/>
                      <a:pt x="100588" y="162881"/>
                    </a:cubicBezTo>
                    <a:cubicBezTo>
                      <a:pt x="95528" y="162881"/>
                      <a:pt x="91733" y="162881"/>
                      <a:pt x="91101" y="162881"/>
                    </a:cubicBezTo>
                    <a:cubicBezTo>
                      <a:pt x="77819" y="162247"/>
                      <a:pt x="65170" y="157811"/>
                      <a:pt x="53786" y="150839"/>
                    </a:cubicBezTo>
                    <a:cubicBezTo>
                      <a:pt x="51256" y="154642"/>
                      <a:pt x="46829" y="156543"/>
                      <a:pt x="42401" y="156543"/>
                    </a:cubicBezTo>
                    <a:cubicBezTo>
                      <a:pt x="34179" y="156543"/>
                      <a:pt x="27855" y="150205"/>
                      <a:pt x="27855" y="141966"/>
                    </a:cubicBezTo>
                    <a:cubicBezTo>
                      <a:pt x="27855" y="137530"/>
                      <a:pt x="29752" y="133727"/>
                      <a:pt x="32282" y="131192"/>
                    </a:cubicBezTo>
                    <a:cubicBezTo>
                      <a:pt x="22163" y="117883"/>
                      <a:pt x="15206" y="101405"/>
                      <a:pt x="15838" y="85560"/>
                    </a:cubicBezTo>
                    <a:cubicBezTo>
                      <a:pt x="16470" y="46900"/>
                      <a:pt x="48726" y="15844"/>
                      <a:pt x="86673" y="15844"/>
                    </a:cubicBezTo>
                    <a:cubicBezTo>
                      <a:pt x="87306" y="15844"/>
                      <a:pt x="87938" y="15844"/>
                      <a:pt x="88571" y="15844"/>
                    </a:cubicBezTo>
                    <a:cubicBezTo>
                      <a:pt x="94895" y="15844"/>
                      <a:pt x="100588" y="17112"/>
                      <a:pt x="106280" y="18380"/>
                    </a:cubicBezTo>
                    <a:lnTo>
                      <a:pt x="122724" y="22816"/>
                    </a:lnTo>
                    <a:lnTo>
                      <a:pt x="123989" y="15211"/>
                    </a:lnTo>
                    <a:cubicBezTo>
                      <a:pt x="122091" y="16478"/>
                      <a:pt x="119561" y="17112"/>
                      <a:pt x="117032" y="17112"/>
                    </a:cubicBezTo>
                    <a:cubicBezTo>
                      <a:pt x="108810" y="17112"/>
                      <a:pt x="102485" y="10774"/>
                      <a:pt x="102485" y="2535"/>
                    </a:cubicBezTo>
                    <a:cubicBezTo>
                      <a:pt x="102485" y="1901"/>
                      <a:pt x="102485" y="1901"/>
                      <a:pt x="102485" y="1268"/>
                    </a:cubicBezTo>
                    <a:cubicBezTo>
                      <a:pt x="98058" y="634"/>
                      <a:pt x="93631" y="0"/>
                      <a:pt x="88571" y="0"/>
                    </a:cubicBezTo>
                    <a:cubicBezTo>
                      <a:pt x="87938" y="0"/>
                      <a:pt x="87306" y="0"/>
                      <a:pt x="86673" y="0"/>
                    </a:cubicBezTo>
                    <a:cubicBezTo>
                      <a:pt x="39871" y="0"/>
                      <a:pt x="659" y="38027"/>
                      <a:pt x="26" y="85560"/>
                    </a:cubicBezTo>
                    <a:cubicBezTo>
                      <a:pt x="-1238" y="133727"/>
                      <a:pt x="43034" y="178092"/>
                      <a:pt x="91101" y="179359"/>
                    </a:cubicBezTo>
                    <a:cubicBezTo>
                      <a:pt x="92366" y="179359"/>
                      <a:pt x="95528" y="179359"/>
                      <a:pt x="101220" y="179359"/>
                    </a:cubicBezTo>
                    <a:cubicBezTo>
                      <a:pt x="122724" y="179359"/>
                      <a:pt x="175218" y="179359"/>
                      <a:pt x="234669" y="178725"/>
                    </a:cubicBezTo>
                    <a:cubicBezTo>
                      <a:pt x="232772" y="175557"/>
                      <a:pt x="232139" y="173021"/>
                      <a:pt x="232139" y="170486"/>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2" name="Picture Placeholder 82">
                <a:extLst>
                  <a:ext uri="{FF2B5EF4-FFF2-40B4-BE49-F238E27FC236}">
                    <a16:creationId xmlns:a16="http://schemas.microsoft.com/office/drawing/2014/main" id="{9EC58F82-430F-213F-8489-E50929B48B1D}"/>
                  </a:ext>
                </a:extLst>
              </p:cNvPr>
              <p:cNvSpPr/>
              <p:nvPr/>
            </p:nvSpPr>
            <p:spPr>
              <a:xfrm>
                <a:off x="11336709" y="1164716"/>
                <a:ext cx="245394" cy="16478"/>
              </a:xfrm>
              <a:custGeom>
                <a:avLst/>
                <a:gdLst>
                  <a:gd name="connsiteX0" fmla="*/ 240335 w 245394"/>
                  <a:gd name="connsiteY0" fmla="*/ 5070 h 16478"/>
                  <a:gd name="connsiteX1" fmla="*/ 241600 w 245394"/>
                  <a:gd name="connsiteY1" fmla="*/ 0 h 16478"/>
                  <a:gd name="connsiteX2" fmla="*/ 231480 w 245394"/>
                  <a:gd name="connsiteY2" fmla="*/ 0 h 16478"/>
                  <a:gd name="connsiteX3" fmla="*/ 37315 w 245394"/>
                  <a:gd name="connsiteY3" fmla="*/ 634 h 16478"/>
                  <a:gd name="connsiteX4" fmla="*/ 0 w 245394"/>
                  <a:gd name="connsiteY4" fmla="*/ 634 h 16478"/>
                  <a:gd name="connsiteX5" fmla="*/ 2530 w 245394"/>
                  <a:gd name="connsiteY5" fmla="*/ 8873 h 16478"/>
                  <a:gd name="connsiteX6" fmla="*/ 632 w 245394"/>
                  <a:gd name="connsiteY6" fmla="*/ 16478 h 16478"/>
                  <a:gd name="connsiteX7" fmla="*/ 231480 w 245394"/>
                  <a:gd name="connsiteY7" fmla="*/ 15844 h 16478"/>
                  <a:gd name="connsiteX8" fmla="*/ 241600 w 245394"/>
                  <a:gd name="connsiteY8" fmla="*/ 15844 h 16478"/>
                  <a:gd name="connsiteX9" fmla="*/ 243497 w 245394"/>
                  <a:gd name="connsiteY9" fmla="*/ 15844 h 16478"/>
                  <a:gd name="connsiteX10" fmla="*/ 245394 w 245394"/>
                  <a:gd name="connsiteY10" fmla="*/ 15844 h 16478"/>
                  <a:gd name="connsiteX11" fmla="*/ 240335 w 245394"/>
                  <a:gd name="connsiteY11" fmla="*/ 5070 h 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5394" h="16478">
                    <a:moveTo>
                      <a:pt x="240335" y="5070"/>
                    </a:moveTo>
                    <a:cubicBezTo>
                      <a:pt x="240335" y="3169"/>
                      <a:pt x="240967" y="1268"/>
                      <a:pt x="241600" y="0"/>
                    </a:cubicBezTo>
                    <a:cubicBezTo>
                      <a:pt x="240335" y="0"/>
                      <a:pt x="236540" y="0"/>
                      <a:pt x="231480" y="0"/>
                    </a:cubicBezTo>
                    <a:cubicBezTo>
                      <a:pt x="203020" y="0"/>
                      <a:pt x="118902" y="0"/>
                      <a:pt x="37315" y="634"/>
                    </a:cubicBezTo>
                    <a:cubicBezTo>
                      <a:pt x="24666" y="634"/>
                      <a:pt x="12017" y="634"/>
                      <a:pt x="0" y="634"/>
                    </a:cubicBezTo>
                    <a:cubicBezTo>
                      <a:pt x="1897" y="3169"/>
                      <a:pt x="2530" y="5704"/>
                      <a:pt x="2530" y="8873"/>
                    </a:cubicBezTo>
                    <a:cubicBezTo>
                      <a:pt x="2530" y="11408"/>
                      <a:pt x="1897" y="13943"/>
                      <a:pt x="632" y="16478"/>
                    </a:cubicBezTo>
                    <a:cubicBezTo>
                      <a:pt x="94237" y="15844"/>
                      <a:pt x="198592" y="15844"/>
                      <a:pt x="231480" y="15844"/>
                    </a:cubicBezTo>
                    <a:cubicBezTo>
                      <a:pt x="237173" y="15844"/>
                      <a:pt x="240335" y="15844"/>
                      <a:pt x="241600" y="15844"/>
                    </a:cubicBezTo>
                    <a:cubicBezTo>
                      <a:pt x="242232" y="15844"/>
                      <a:pt x="242865" y="15844"/>
                      <a:pt x="243497" y="15844"/>
                    </a:cubicBezTo>
                    <a:cubicBezTo>
                      <a:pt x="244130" y="15844"/>
                      <a:pt x="244762" y="15844"/>
                      <a:pt x="245394" y="15844"/>
                    </a:cubicBezTo>
                    <a:cubicBezTo>
                      <a:pt x="242232" y="12676"/>
                      <a:pt x="240335" y="8873"/>
                      <a:pt x="240335" y="5070"/>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68" name="Picture Placeholder 82">
              <a:extLst>
                <a:ext uri="{FF2B5EF4-FFF2-40B4-BE49-F238E27FC236}">
                  <a16:creationId xmlns:a16="http://schemas.microsoft.com/office/drawing/2014/main" id="{76D47946-B598-AED4-4754-CF178B235FBA}"/>
                </a:ext>
              </a:extLst>
            </p:cNvPr>
            <p:cNvSpPr/>
            <p:nvPr/>
          </p:nvSpPr>
          <p:spPr>
            <a:xfrm>
              <a:off x="11301924" y="1150773"/>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69" name="Picture Placeholder 82">
              <a:extLst>
                <a:ext uri="{FF2B5EF4-FFF2-40B4-BE49-F238E27FC236}">
                  <a16:creationId xmlns:a16="http://schemas.microsoft.com/office/drawing/2014/main" id="{721A2C99-BA57-9D89-4E2B-2849BAF2193A}"/>
                </a:ext>
              </a:extLst>
            </p:cNvPr>
            <p:cNvSpPr/>
            <p:nvPr/>
          </p:nvSpPr>
          <p:spPr>
            <a:xfrm>
              <a:off x="11193140" y="841489"/>
              <a:ext cx="297256" cy="155275"/>
            </a:xfrm>
            <a:custGeom>
              <a:avLst/>
              <a:gdLst>
                <a:gd name="connsiteX0" fmla="*/ 297256 w 297256"/>
                <a:gd name="connsiteY0" fmla="*/ 3803 h 155275"/>
                <a:gd name="connsiteX1" fmla="*/ 270693 w 297256"/>
                <a:gd name="connsiteY1" fmla="*/ 0 h 155275"/>
                <a:gd name="connsiteX2" fmla="*/ 267531 w 297256"/>
                <a:gd name="connsiteY2" fmla="*/ 0 h 155275"/>
                <a:gd name="connsiteX3" fmla="*/ 156218 w 297256"/>
                <a:gd name="connsiteY3" fmla="*/ 70983 h 155275"/>
                <a:gd name="connsiteX4" fmla="*/ 163807 w 297256"/>
                <a:gd name="connsiteY4" fmla="*/ 83659 h 155275"/>
                <a:gd name="connsiteX5" fmla="*/ 149261 w 297256"/>
                <a:gd name="connsiteY5" fmla="*/ 98236 h 155275"/>
                <a:gd name="connsiteX6" fmla="*/ 134714 w 297256"/>
                <a:gd name="connsiteY6" fmla="*/ 83659 h 155275"/>
                <a:gd name="connsiteX7" fmla="*/ 134714 w 297256"/>
                <a:gd name="connsiteY7" fmla="*/ 81124 h 155275"/>
                <a:gd name="connsiteX8" fmla="*/ 104988 w 297256"/>
                <a:gd name="connsiteY8" fmla="*/ 76053 h 155275"/>
                <a:gd name="connsiteX9" fmla="*/ 102459 w 297256"/>
                <a:gd name="connsiteY9" fmla="*/ 76053 h 155275"/>
                <a:gd name="connsiteX10" fmla="*/ 0 w 297256"/>
                <a:gd name="connsiteY10" fmla="*/ 148938 h 155275"/>
                <a:gd name="connsiteX11" fmla="*/ 2530 w 297256"/>
                <a:gd name="connsiteY11" fmla="*/ 148938 h 155275"/>
                <a:gd name="connsiteX12" fmla="*/ 14547 w 297256"/>
                <a:gd name="connsiteY12" fmla="*/ 155276 h 155275"/>
                <a:gd name="connsiteX13" fmla="*/ 102459 w 297256"/>
                <a:gd name="connsiteY13" fmla="*/ 91898 h 155275"/>
                <a:gd name="connsiteX14" fmla="*/ 104988 w 297256"/>
                <a:gd name="connsiteY14" fmla="*/ 91898 h 155275"/>
                <a:gd name="connsiteX15" fmla="*/ 142936 w 297256"/>
                <a:gd name="connsiteY15" fmla="*/ 100771 h 155275"/>
                <a:gd name="connsiteX16" fmla="*/ 156218 w 297256"/>
                <a:gd name="connsiteY16" fmla="*/ 100137 h 155275"/>
                <a:gd name="connsiteX17" fmla="*/ 165072 w 297256"/>
                <a:gd name="connsiteY17" fmla="*/ 92532 h 155275"/>
                <a:gd name="connsiteX18" fmla="*/ 268795 w 297256"/>
                <a:gd name="connsiteY18" fmla="*/ 15844 h 155275"/>
                <a:gd name="connsiteX19" fmla="*/ 271325 w 297256"/>
                <a:gd name="connsiteY19" fmla="*/ 15844 h 155275"/>
                <a:gd name="connsiteX20" fmla="*/ 294094 w 297256"/>
                <a:gd name="connsiteY20" fmla="*/ 19013 h 155275"/>
                <a:gd name="connsiteX21" fmla="*/ 293461 w 297256"/>
                <a:gd name="connsiteY21" fmla="*/ 14577 h 155275"/>
                <a:gd name="connsiteX22" fmla="*/ 297256 w 297256"/>
                <a:gd name="connsiteY22" fmla="*/ 3803 h 15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7256" h="155275">
                  <a:moveTo>
                    <a:pt x="297256" y="3803"/>
                  </a:moveTo>
                  <a:cubicBezTo>
                    <a:pt x="288402" y="1268"/>
                    <a:pt x="279547" y="0"/>
                    <a:pt x="270693" y="0"/>
                  </a:cubicBezTo>
                  <a:cubicBezTo>
                    <a:pt x="269428" y="0"/>
                    <a:pt x="268795" y="0"/>
                    <a:pt x="267531" y="0"/>
                  </a:cubicBezTo>
                  <a:cubicBezTo>
                    <a:pt x="220096" y="0"/>
                    <a:pt x="178354" y="28520"/>
                    <a:pt x="156218" y="70983"/>
                  </a:cubicBezTo>
                  <a:cubicBezTo>
                    <a:pt x="160645" y="73518"/>
                    <a:pt x="163807" y="78588"/>
                    <a:pt x="163807" y="83659"/>
                  </a:cubicBezTo>
                  <a:cubicBezTo>
                    <a:pt x="163807" y="91898"/>
                    <a:pt x="157483" y="98236"/>
                    <a:pt x="149261" y="98236"/>
                  </a:cubicBezTo>
                  <a:cubicBezTo>
                    <a:pt x="141039" y="98236"/>
                    <a:pt x="134714" y="91898"/>
                    <a:pt x="134714" y="83659"/>
                  </a:cubicBezTo>
                  <a:cubicBezTo>
                    <a:pt x="134714" y="83025"/>
                    <a:pt x="134714" y="81757"/>
                    <a:pt x="134714" y="81124"/>
                  </a:cubicBezTo>
                  <a:cubicBezTo>
                    <a:pt x="125227" y="77955"/>
                    <a:pt x="115108" y="76053"/>
                    <a:pt x="104988" y="76053"/>
                  </a:cubicBezTo>
                  <a:cubicBezTo>
                    <a:pt x="104356" y="76053"/>
                    <a:pt x="103091" y="76053"/>
                    <a:pt x="102459" y="76053"/>
                  </a:cubicBezTo>
                  <a:cubicBezTo>
                    <a:pt x="55656" y="76053"/>
                    <a:pt x="15179" y="106475"/>
                    <a:pt x="0" y="148938"/>
                  </a:cubicBezTo>
                  <a:cubicBezTo>
                    <a:pt x="632" y="148938"/>
                    <a:pt x="1265" y="148938"/>
                    <a:pt x="2530" y="148938"/>
                  </a:cubicBezTo>
                  <a:cubicBezTo>
                    <a:pt x="7590" y="148938"/>
                    <a:pt x="12017" y="151473"/>
                    <a:pt x="14547" y="155276"/>
                  </a:cubicBezTo>
                  <a:cubicBezTo>
                    <a:pt x="27828" y="117883"/>
                    <a:pt x="62614" y="91898"/>
                    <a:pt x="102459" y="91898"/>
                  </a:cubicBezTo>
                  <a:cubicBezTo>
                    <a:pt x="103091" y="91898"/>
                    <a:pt x="103723" y="91898"/>
                    <a:pt x="104988" y="91898"/>
                  </a:cubicBezTo>
                  <a:cubicBezTo>
                    <a:pt x="118270" y="92532"/>
                    <a:pt x="131552" y="95067"/>
                    <a:pt x="142936" y="100771"/>
                  </a:cubicBezTo>
                  <a:lnTo>
                    <a:pt x="156218" y="100137"/>
                  </a:lnTo>
                  <a:lnTo>
                    <a:pt x="165072" y="92532"/>
                  </a:lnTo>
                  <a:cubicBezTo>
                    <a:pt x="182781" y="45632"/>
                    <a:pt x="223891" y="15844"/>
                    <a:pt x="268795" y="15844"/>
                  </a:cubicBezTo>
                  <a:cubicBezTo>
                    <a:pt x="269428" y="15844"/>
                    <a:pt x="270693" y="15844"/>
                    <a:pt x="271325" y="15844"/>
                  </a:cubicBezTo>
                  <a:cubicBezTo>
                    <a:pt x="278915" y="15844"/>
                    <a:pt x="286504" y="17112"/>
                    <a:pt x="294094" y="19013"/>
                  </a:cubicBezTo>
                  <a:cubicBezTo>
                    <a:pt x="293461" y="17746"/>
                    <a:pt x="293461" y="16478"/>
                    <a:pt x="293461" y="14577"/>
                  </a:cubicBezTo>
                  <a:cubicBezTo>
                    <a:pt x="292197" y="10774"/>
                    <a:pt x="294094" y="6972"/>
                    <a:pt x="297256" y="3803"/>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0" name="Picture Placeholder 82">
              <a:extLst>
                <a:ext uri="{FF2B5EF4-FFF2-40B4-BE49-F238E27FC236}">
                  <a16:creationId xmlns:a16="http://schemas.microsoft.com/office/drawing/2014/main" id="{E84A758B-839B-E2AC-EECF-E3DB45B94FCA}"/>
                </a:ext>
              </a:extLst>
            </p:cNvPr>
            <p:cNvSpPr/>
            <p:nvPr/>
          </p:nvSpPr>
          <p:spPr>
            <a:xfrm>
              <a:off x="11319000" y="902966"/>
              <a:ext cx="45537" cy="45632"/>
            </a:xfrm>
            <a:custGeom>
              <a:avLst/>
              <a:gdLst>
                <a:gd name="connsiteX0" fmla="*/ 22769 w 45537"/>
                <a:gd name="connsiteY0" fmla="*/ 15844 h 45632"/>
                <a:gd name="connsiteX1" fmla="*/ 29726 w 45537"/>
                <a:gd name="connsiteY1" fmla="*/ 22816 h 45632"/>
                <a:gd name="connsiteX2" fmla="*/ 22769 w 45537"/>
                <a:gd name="connsiteY2" fmla="*/ 29154 h 45632"/>
                <a:gd name="connsiteX3" fmla="*/ 15812 w 45537"/>
                <a:gd name="connsiteY3" fmla="*/ 22182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154"/>
                    <a:pt x="22769" y="29154"/>
                  </a:cubicBezTo>
                  <a:cubicBezTo>
                    <a:pt x="18974" y="29154"/>
                    <a:pt x="15812" y="25985"/>
                    <a:pt x="15812" y="22182"/>
                  </a:cubicBezTo>
                  <a:cubicBezTo>
                    <a:pt x="15812" y="18380"/>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Tree>
    <p:extLst>
      <p:ext uri="{BB962C8B-B14F-4D97-AF65-F5344CB8AC3E}">
        <p14:creationId xmlns:p14="http://schemas.microsoft.com/office/powerpoint/2010/main" val="742408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75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75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nodeType="withEffect">
                                  <p:stCondLst>
                                    <p:cond delay="75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childTnLst>
                          </p:cTn>
                        </p:par>
                        <p:par>
                          <p:cTn id="14" fill="hold">
                            <p:stCondLst>
                              <p:cond delay="1250"/>
                            </p:stCondLst>
                            <p:childTnLst>
                              <p:par>
                                <p:cTn id="15" presetID="2" presetClass="entr" presetSubtype="2" decel="20000" fill="hold" grpId="0" nodeType="after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additive="base">
                                        <p:cTn id="17"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5">
                                            <p:txEl>
                                              <p:pRg st="0" end="0"/>
                                            </p:txEl>
                                          </p:spTgt>
                                        </p:tgtEl>
                                        <p:attrNameLst>
                                          <p:attrName>ppt_y</p:attrName>
                                        </p:attrNameLst>
                                      </p:cBhvr>
                                      <p:tavLst>
                                        <p:tav tm="0">
                                          <p:val>
                                            <p:strVal val="#ppt_y"/>
                                          </p:val>
                                        </p:tav>
                                        <p:tav tm="100000">
                                          <p:val>
                                            <p:strVal val="#ppt_y"/>
                                          </p:val>
                                        </p:tav>
                                      </p:tavLst>
                                    </p:anim>
                                  </p:childTnLst>
                                </p:cTn>
                              </p:par>
                              <p:par>
                                <p:cTn id="19" presetID="2" presetClass="entr" presetSubtype="2" decel="20000" fill="hold" grpId="0" nodeType="with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 calcmode="lin" valueType="num">
                                      <p:cBhvr additive="base">
                                        <p:cTn id="21" dur="5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decel="20000" fill="hold" grpId="0"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 calcmode="lin" valueType="num">
                                      <p:cBhvr additive="base">
                                        <p:cTn id="2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3">
                                            <p:txEl>
                                              <p:pRg st="0" end="0"/>
                                            </p:txEl>
                                          </p:spTgt>
                                        </p:tgtEl>
                                        <p:attrNameLst>
                                          <p:attrName>ppt_y</p:attrName>
                                        </p:attrNameLst>
                                      </p:cBhvr>
                                      <p:tavLst>
                                        <p:tav tm="0">
                                          <p:val>
                                            <p:strVal val="#ppt_y"/>
                                          </p:val>
                                        </p:tav>
                                        <p:tav tm="100000">
                                          <p:val>
                                            <p:strVal val="#ppt_y"/>
                                          </p:val>
                                        </p:tav>
                                      </p:tavLst>
                                    </p:anim>
                                  </p:childTnLst>
                                </p:cTn>
                              </p:par>
                              <p:par>
                                <p:cTn id="29" presetID="2" presetClass="entr" presetSubtype="2" decel="20000" fill="hold" grpId="0" nodeType="with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decel="20000" fill="hold" grpId="0" nodeType="click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anim calcmode="lin" valueType="num">
                                      <p:cBhvr additive="base">
                                        <p:cTn id="3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
                                            <p:txEl>
                                              <p:pRg st="0" end="0"/>
                                            </p:txEl>
                                          </p:spTgt>
                                        </p:tgtEl>
                                        <p:attrNameLst>
                                          <p:attrName>ppt_y</p:attrName>
                                        </p:attrNameLst>
                                      </p:cBhvr>
                                      <p:tavLst>
                                        <p:tav tm="0">
                                          <p:val>
                                            <p:strVal val="#ppt_y"/>
                                          </p:val>
                                        </p:tav>
                                        <p:tav tm="100000">
                                          <p:val>
                                            <p:strVal val="#ppt_y"/>
                                          </p:val>
                                        </p:tav>
                                      </p:tavLst>
                                    </p:anim>
                                  </p:childTnLst>
                                </p:cTn>
                              </p:par>
                              <p:par>
                                <p:cTn id="39" presetID="2" presetClass="entr" presetSubtype="2" decel="20000" fill="hold" grpId="0" nodeType="withEffect">
                                  <p:stCondLst>
                                    <p:cond delay="0"/>
                                  </p:stCondLst>
                                  <p:childTnLst>
                                    <p:set>
                                      <p:cBhvr>
                                        <p:cTn id="40" dur="1" fill="hold">
                                          <p:stCondLst>
                                            <p:cond delay="0"/>
                                          </p:stCondLst>
                                        </p:cTn>
                                        <p:tgtEl>
                                          <p:spTgt spid="8">
                                            <p:txEl>
                                              <p:pRg st="0" end="0"/>
                                            </p:txEl>
                                          </p:spTgt>
                                        </p:tgtEl>
                                        <p:attrNameLst>
                                          <p:attrName>style.visibility</p:attrName>
                                        </p:attrNameLst>
                                      </p:cBhvr>
                                      <p:to>
                                        <p:strVal val="visible"/>
                                      </p:to>
                                    </p:set>
                                    <p:anim calcmode="lin" valueType="num">
                                      <p:cBhvr additive="base">
                                        <p:cTn id="41" dur="50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P spid="6" grpId="0" build="p"/>
      <p:bldP spid="7" grpId="0" build="p"/>
      <p:bldP spid="8"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1B2CB-5B07-4ADF-98A8-16B193896BAA}"/>
              </a:ext>
            </a:extLst>
          </p:cNvPr>
          <p:cNvSpPr>
            <a:spLocks noGrp="1"/>
          </p:cNvSpPr>
          <p:nvPr>
            <p:ph type="title"/>
          </p:nvPr>
        </p:nvSpPr>
        <p:spPr/>
        <p:txBody>
          <a:bodyPr/>
          <a:lstStyle/>
          <a:p>
            <a:pPr algn="ctr"/>
            <a:r>
              <a:rPr lang="en-US" dirty="0">
                <a:solidFill>
                  <a:schemeClr val="tx2"/>
                </a:solidFill>
              </a:rPr>
              <a:t>CIA Triad: </a:t>
            </a:r>
            <a:r>
              <a:rPr lang="en-US" b="1" dirty="0"/>
              <a:t>Core Tenets </a:t>
            </a:r>
            <a:r>
              <a:rPr lang="en-US" dirty="0">
                <a:solidFill>
                  <a:schemeClr val="tx2"/>
                </a:solidFill>
              </a:rPr>
              <a:t>of Information Security</a:t>
            </a:r>
          </a:p>
        </p:txBody>
      </p:sp>
      <p:sp>
        <p:nvSpPr>
          <p:cNvPr id="4" name="Text Placeholder 3">
            <a:extLst>
              <a:ext uri="{FF2B5EF4-FFF2-40B4-BE49-F238E27FC236}">
                <a16:creationId xmlns:a16="http://schemas.microsoft.com/office/drawing/2014/main" id="{330E06B9-1C1D-4386-86EE-EE4D20BA7A1F}"/>
              </a:ext>
            </a:extLst>
          </p:cNvPr>
          <p:cNvSpPr>
            <a:spLocks noGrp="1"/>
          </p:cNvSpPr>
          <p:nvPr>
            <p:ph type="body" sz="quarter" idx="18"/>
          </p:nvPr>
        </p:nvSpPr>
        <p:spPr/>
        <p:txBody>
          <a:bodyPr/>
          <a:lstStyle/>
          <a:p>
            <a:r>
              <a:rPr lang="en-US" dirty="0"/>
              <a:t>Confidentiality</a:t>
            </a:r>
          </a:p>
          <a:p>
            <a:r>
              <a:rPr lang="en-US" sz="1800" dirty="0">
                <a:solidFill>
                  <a:schemeClr val="tx2"/>
                </a:solidFill>
              </a:rPr>
              <a:t>Protecting systems &amp; data from unauthorized people &amp; groups</a:t>
            </a:r>
          </a:p>
        </p:txBody>
      </p:sp>
      <p:sp>
        <p:nvSpPr>
          <p:cNvPr id="5" name="Text Placeholder 4">
            <a:extLst>
              <a:ext uri="{FF2B5EF4-FFF2-40B4-BE49-F238E27FC236}">
                <a16:creationId xmlns:a16="http://schemas.microsoft.com/office/drawing/2014/main" id="{26E1BF57-11A8-47C8-A11D-920FE2D3671E}"/>
              </a:ext>
            </a:extLst>
          </p:cNvPr>
          <p:cNvSpPr>
            <a:spLocks noGrp="1"/>
          </p:cNvSpPr>
          <p:nvPr>
            <p:ph type="body" sz="quarter" idx="19"/>
          </p:nvPr>
        </p:nvSpPr>
        <p:spPr/>
        <p:txBody>
          <a:bodyPr/>
          <a:lstStyle/>
          <a:p>
            <a:r>
              <a:rPr lang="en-US" dirty="0"/>
              <a:t>Integrity</a:t>
            </a:r>
          </a:p>
          <a:p>
            <a:r>
              <a:rPr lang="en-US" sz="1800" dirty="0">
                <a:solidFill>
                  <a:schemeClr val="tx2"/>
                </a:solidFill>
              </a:rPr>
              <a:t>Preventing modification of data by unauthorized groups &amp; systems</a:t>
            </a:r>
          </a:p>
          <a:p>
            <a:endParaRPr lang="en-US" dirty="0"/>
          </a:p>
        </p:txBody>
      </p:sp>
      <p:sp>
        <p:nvSpPr>
          <p:cNvPr id="6" name="Text Placeholder 5">
            <a:extLst>
              <a:ext uri="{FF2B5EF4-FFF2-40B4-BE49-F238E27FC236}">
                <a16:creationId xmlns:a16="http://schemas.microsoft.com/office/drawing/2014/main" id="{82CB5404-271B-43DC-A3BD-7F8FF890D524}"/>
              </a:ext>
            </a:extLst>
          </p:cNvPr>
          <p:cNvSpPr>
            <a:spLocks noGrp="1"/>
          </p:cNvSpPr>
          <p:nvPr>
            <p:ph type="body" sz="quarter" idx="20"/>
          </p:nvPr>
        </p:nvSpPr>
        <p:spPr/>
        <p:txBody>
          <a:bodyPr/>
          <a:lstStyle/>
          <a:p>
            <a:r>
              <a:rPr lang="en-US" dirty="0"/>
              <a:t>Availability</a:t>
            </a:r>
          </a:p>
          <a:p>
            <a:r>
              <a:rPr lang="en-US" sz="1800" dirty="0">
                <a:solidFill>
                  <a:schemeClr val="tx2"/>
                </a:solidFill>
              </a:rPr>
              <a:t>Ensuring that data is available to authorized parties when needed</a:t>
            </a:r>
          </a:p>
          <a:p>
            <a:endParaRPr lang="en-US" dirty="0"/>
          </a:p>
        </p:txBody>
      </p:sp>
      <p:grpSp>
        <p:nvGrpSpPr>
          <p:cNvPr id="10" name="Picture Placeholder 87" descr="Security&#10;">
            <a:extLst>
              <a:ext uri="{FF2B5EF4-FFF2-40B4-BE49-F238E27FC236}">
                <a16:creationId xmlns:a16="http://schemas.microsoft.com/office/drawing/2014/main" id="{10ED476C-54D8-457C-BD40-4004EF2ECA66}"/>
              </a:ext>
            </a:extLst>
          </p:cNvPr>
          <p:cNvGrpSpPr>
            <a:grpSpLocks noChangeAspect="1"/>
          </p:cNvGrpSpPr>
          <p:nvPr/>
        </p:nvGrpSpPr>
        <p:grpSpPr>
          <a:xfrm>
            <a:off x="2490344" y="2371421"/>
            <a:ext cx="815910" cy="1188720"/>
            <a:chOff x="5912431" y="1949843"/>
            <a:chExt cx="411098" cy="598939"/>
          </a:xfrm>
          <a:solidFill>
            <a:schemeClr val="bg1"/>
          </a:solidFill>
        </p:grpSpPr>
        <p:sp>
          <p:nvSpPr>
            <p:cNvPr id="11" name="Picture Placeholder 87">
              <a:extLst>
                <a:ext uri="{FF2B5EF4-FFF2-40B4-BE49-F238E27FC236}">
                  <a16:creationId xmlns:a16="http://schemas.microsoft.com/office/drawing/2014/main" id="{1BAAA770-086A-4E17-A340-CF72C4621336}"/>
                </a:ext>
              </a:extLst>
            </p:cNvPr>
            <p:cNvSpPr/>
            <p:nvPr/>
          </p:nvSpPr>
          <p:spPr>
            <a:xfrm>
              <a:off x="5958601" y="2179426"/>
              <a:ext cx="166336" cy="166336"/>
            </a:xfrm>
            <a:custGeom>
              <a:avLst/>
              <a:gdLst>
                <a:gd name="connsiteX0" fmla="*/ 7590 w 166336"/>
                <a:gd name="connsiteY0" fmla="*/ 166337 h 166336"/>
                <a:gd name="connsiteX1" fmla="*/ 0 w 166336"/>
                <a:gd name="connsiteY1" fmla="*/ 158747 h 166336"/>
                <a:gd name="connsiteX2" fmla="*/ 158747 w 166336"/>
                <a:gd name="connsiteY2" fmla="*/ 0 h 166336"/>
                <a:gd name="connsiteX3" fmla="*/ 166337 w 166336"/>
                <a:gd name="connsiteY3" fmla="*/ 7590 h 166336"/>
                <a:gd name="connsiteX4" fmla="*/ 158747 w 166336"/>
                <a:gd name="connsiteY4" fmla="*/ 15179 h 166336"/>
                <a:gd name="connsiteX5" fmla="*/ 15812 w 166336"/>
                <a:gd name="connsiteY5" fmla="*/ 158115 h 166336"/>
                <a:gd name="connsiteX6" fmla="*/ 7590 w 166336"/>
                <a:gd name="connsiteY6" fmla="*/ 166337 h 166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336" h="166336">
                  <a:moveTo>
                    <a:pt x="7590" y="166337"/>
                  </a:moveTo>
                  <a:cubicBezTo>
                    <a:pt x="3162" y="166337"/>
                    <a:pt x="0" y="162542"/>
                    <a:pt x="0" y="158747"/>
                  </a:cubicBezTo>
                  <a:cubicBezTo>
                    <a:pt x="0" y="71468"/>
                    <a:pt x="71468" y="0"/>
                    <a:pt x="158747" y="0"/>
                  </a:cubicBezTo>
                  <a:cubicBezTo>
                    <a:pt x="163175" y="0"/>
                    <a:pt x="166337" y="3795"/>
                    <a:pt x="166337" y="7590"/>
                  </a:cubicBezTo>
                  <a:cubicBezTo>
                    <a:pt x="166337" y="11384"/>
                    <a:pt x="162542" y="15179"/>
                    <a:pt x="158747" y="15179"/>
                  </a:cubicBezTo>
                  <a:cubicBezTo>
                    <a:pt x="79690" y="15179"/>
                    <a:pt x="15812" y="79058"/>
                    <a:pt x="15812" y="158115"/>
                  </a:cubicBezTo>
                  <a:cubicBezTo>
                    <a:pt x="15179" y="162542"/>
                    <a:pt x="12017" y="166337"/>
                    <a:pt x="7590" y="16633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12" name="Picture Placeholder 87">
              <a:extLst>
                <a:ext uri="{FF2B5EF4-FFF2-40B4-BE49-F238E27FC236}">
                  <a16:creationId xmlns:a16="http://schemas.microsoft.com/office/drawing/2014/main" id="{ACC94D57-AC4B-4DF3-BB29-7F03855C20B3}"/>
                </a:ext>
              </a:extLst>
            </p:cNvPr>
            <p:cNvGrpSpPr/>
            <p:nvPr/>
          </p:nvGrpSpPr>
          <p:grpSpPr>
            <a:xfrm>
              <a:off x="5912431" y="1949843"/>
              <a:ext cx="411098" cy="598939"/>
              <a:chOff x="5912431" y="1949843"/>
              <a:chExt cx="411098" cy="598939"/>
            </a:xfrm>
            <a:grpFill/>
          </p:grpSpPr>
          <p:sp>
            <p:nvSpPr>
              <p:cNvPr id="13" name="Picture Placeholder 87">
                <a:extLst>
                  <a:ext uri="{FF2B5EF4-FFF2-40B4-BE49-F238E27FC236}">
                    <a16:creationId xmlns:a16="http://schemas.microsoft.com/office/drawing/2014/main" id="{EBCF6068-B1A5-4751-8037-1CA610D87F3A}"/>
                  </a:ext>
                </a:extLst>
              </p:cNvPr>
              <p:cNvSpPr/>
              <p:nvPr/>
            </p:nvSpPr>
            <p:spPr>
              <a:xfrm>
                <a:off x="5912431" y="1949843"/>
                <a:ext cx="411098" cy="598939"/>
              </a:xfrm>
              <a:custGeom>
                <a:avLst/>
                <a:gdLst>
                  <a:gd name="connsiteX0" fmla="*/ 316230 w 411098"/>
                  <a:gd name="connsiteY0" fmla="*/ 220096 h 598939"/>
                  <a:gd name="connsiteX1" fmla="*/ 316230 w 411098"/>
                  <a:gd name="connsiteY1" fmla="*/ 104988 h 598939"/>
                  <a:gd name="connsiteX2" fmla="*/ 215036 w 411098"/>
                  <a:gd name="connsiteY2" fmla="*/ 0 h 598939"/>
                  <a:gd name="connsiteX3" fmla="*/ 196063 w 411098"/>
                  <a:gd name="connsiteY3" fmla="*/ 0 h 598939"/>
                  <a:gd name="connsiteX4" fmla="*/ 94869 w 411098"/>
                  <a:gd name="connsiteY4" fmla="*/ 104988 h 598939"/>
                  <a:gd name="connsiteX5" fmla="*/ 94869 w 411098"/>
                  <a:gd name="connsiteY5" fmla="*/ 220096 h 598939"/>
                  <a:gd name="connsiteX6" fmla="*/ 0 w 411098"/>
                  <a:gd name="connsiteY6" fmla="*/ 393390 h 598939"/>
                  <a:gd name="connsiteX7" fmla="*/ 205549 w 411098"/>
                  <a:gd name="connsiteY7" fmla="*/ 598940 h 598939"/>
                  <a:gd name="connsiteX8" fmla="*/ 411099 w 411098"/>
                  <a:gd name="connsiteY8" fmla="*/ 393390 h 598939"/>
                  <a:gd name="connsiteX9" fmla="*/ 316230 w 411098"/>
                  <a:gd name="connsiteY9" fmla="*/ 220096 h 598939"/>
                  <a:gd name="connsiteX10" fmla="*/ 110680 w 411098"/>
                  <a:gd name="connsiteY10" fmla="*/ 104988 h 598939"/>
                  <a:gd name="connsiteX11" fmla="*/ 196063 w 411098"/>
                  <a:gd name="connsiteY11" fmla="*/ 15812 h 598939"/>
                  <a:gd name="connsiteX12" fmla="*/ 215036 w 411098"/>
                  <a:gd name="connsiteY12" fmla="*/ 15812 h 598939"/>
                  <a:gd name="connsiteX13" fmla="*/ 300419 w 411098"/>
                  <a:gd name="connsiteY13" fmla="*/ 104988 h 598939"/>
                  <a:gd name="connsiteX14" fmla="*/ 300419 w 411098"/>
                  <a:gd name="connsiteY14" fmla="*/ 211242 h 598939"/>
                  <a:gd name="connsiteX15" fmla="*/ 205549 w 411098"/>
                  <a:gd name="connsiteY15" fmla="*/ 187841 h 598939"/>
                  <a:gd name="connsiteX16" fmla="*/ 110680 w 411098"/>
                  <a:gd name="connsiteY16" fmla="*/ 211242 h 598939"/>
                  <a:gd name="connsiteX17" fmla="*/ 110680 w 411098"/>
                  <a:gd name="connsiteY17" fmla="*/ 104988 h 598939"/>
                  <a:gd name="connsiteX18" fmla="*/ 205549 w 411098"/>
                  <a:gd name="connsiteY18" fmla="*/ 583128 h 598939"/>
                  <a:gd name="connsiteX19" fmla="*/ 15812 w 411098"/>
                  <a:gd name="connsiteY19" fmla="*/ 393390 h 598939"/>
                  <a:gd name="connsiteX20" fmla="*/ 205549 w 411098"/>
                  <a:gd name="connsiteY20" fmla="*/ 203652 h 598939"/>
                  <a:gd name="connsiteX21" fmla="*/ 395288 w 411098"/>
                  <a:gd name="connsiteY21" fmla="*/ 393390 h 598939"/>
                  <a:gd name="connsiteX22" fmla="*/ 205549 w 411098"/>
                  <a:gd name="connsiteY22" fmla="*/ 583128 h 59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1098" h="598939">
                    <a:moveTo>
                      <a:pt x="316230" y="220096"/>
                    </a:moveTo>
                    <a:lnTo>
                      <a:pt x="316230" y="104988"/>
                    </a:lnTo>
                    <a:cubicBezTo>
                      <a:pt x="316230" y="47435"/>
                      <a:pt x="270693" y="0"/>
                      <a:pt x="215036" y="0"/>
                    </a:cubicBezTo>
                    <a:lnTo>
                      <a:pt x="196063" y="0"/>
                    </a:lnTo>
                    <a:cubicBezTo>
                      <a:pt x="140406" y="0"/>
                      <a:pt x="94869" y="46802"/>
                      <a:pt x="94869" y="104988"/>
                    </a:cubicBezTo>
                    <a:lnTo>
                      <a:pt x="94869" y="220096"/>
                    </a:lnTo>
                    <a:cubicBezTo>
                      <a:pt x="37948" y="256779"/>
                      <a:pt x="0" y="320657"/>
                      <a:pt x="0" y="393390"/>
                    </a:cubicBezTo>
                    <a:cubicBezTo>
                      <a:pt x="0" y="506600"/>
                      <a:pt x="92339" y="598940"/>
                      <a:pt x="205549" y="598940"/>
                    </a:cubicBezTo>
                    <a:cubicBezTo>
                      <a:pt x="318760" y="598940"/>
                      <a:pt x="411099" y="506600"/>
                      <a:pt x="411099" y="393390"/>
                    </a:cubicBezTo>
                    <a:cubicBezTo>
                      <a:pt x="411099" y="320025"/>
                      <a:pt x="373151" y="256146"/>
                      <a:pt x="316230" y="220096"/>
                    </a:cubicBezTo>
                    <a:close/>
                    <a:moveTo>
                      <a:pt x="110680" y="104988"/>
                    </a:moveTo>
                    <a:cubicBezTo>
                      <a:pt x="110680" y="55656"/>
                      <a:pt x="149261" y="15812"/>
                      <a:pt x="196063" y="15812"/>
                    </a:cubicBezTo>
                    <a:lnTo>
                      <a:pt x="215036" y="15812"/>
                    </a:lnTo>
                    <a:cubicBezTo>
                      <a:pt x="262471" y="15812"/>
                      <a:pt x="300419" y="55656"/>
                      <a:pt x="300419" y="104988"/>
                    </a:cubicBezTo>
                    <a:lnTo>
                      <a:pt x="300419" y="211242"/>
                    </a:lnTo>
                    <a:cubicBezTo>
                      <a:pt x="271958" y="196695"/>
                      <a:pt x="239702" y="187841"/>
                      <a:pt x="205549" y="187841"/>
                    </a:cubicBezTo>
                    <a:cubicBezTo>
                      <a:pt x="171397" y="187841"/>
                      <a:pt x="139141" y="196063"/>
                      <a:pt x="110680" y="211242"/>
                    </a:cubicBezTo>
                    <a:lnTo>
                      <a:pt x="110680" y="104988"/>
                    </a:lnTo>
                    <a:close/>
                    <a:moveTo>
                      <a:pt x="205549" y="583128"/>
                    </a:moveTo>
                    <a:cubicBezTo>
                      <a:pt x="101194" y="583128"/>
                      <a:pt x="15812" y="497746"/>
                      <a:pt x="15812" y="393390"/>
                    </a:cubicBezTo>
                    <a:cubicBezTo>
                      <a:pt x="15812" y="289034"/>
                      <a:pt x="101194" y="203652"/>
                      <a:pt x="205549" y="203652"/>
                    </a:cubicBezTo>
                    <a:cubicBezTo>
                      <a:pt x="309905" y="203652"/>
                      <a:pt x="395288" y="289034"/>
                      <a:pt x="395288" y="393390"/>
                    </a:cubicBezTo>
                    <a:cubicBezTo>
                      <a:pt x="395288" y="497746"/>
                      <a:pt x="309905" y="583128"/>
                      <a:pt x="205549" y="583128"/>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Picture Placeholder 87">
                <a:extLst>
                  <a:ext uri="{FF2B5EF4-FFF2-40B4-BE49-F238E27FC236}">
                    <a16:creationId xmlns:a16="http://schemas.microsoft.com/office/drawing/2014/main" id="{02703D9F-09B1-42C2-B248-52777C0C0394}"/>
                  </a:ext>
                </a:extLst>
              </p:cNvPr>
              <p:cNvSpPr/>
              <p:nvPr/>
            </p:nvSpPr>
            <p:spPr>
              <a:xfrm>
                <a:off x="6084460" y="2289474"/>
                <a:ext cx="67673" cy="106253"/>
              </a:xfrm>
              <a:custGeom>
                <a:avLst/>
                <a:gdLst>
                  <a:gd name="connsiteX0" fmla="*/ 33520 w 67673"/>
                  <a:gd name="connsiteY0" fmla="*/ 0 h 106253"/>
                  <a:gd name="connsiteX1" fmla="*/ 0 w 67673"/>
                  <a:gd name="connsiteY1" fmla="*/ 33520 h 106253"/>
                  <a:gd name="connsiteX2" fmla="*/ 17076 w 67673"/>
                  <a:gd name="connsiteY2" fmla="*/ 62614 h 106253"/>
                  <a:gd name="connsiteX3" fmla="*/ 17076 w 67673"/>
                  <a:gd name="connsiteY3" fmla="*/ 97399 h 106253"/>
                  <a:gd name="connsiteX4" fmla="*/ 25931 w 67673"/>
                  <a:gd name="connsiteY4" fmla="*/ 106253 h 106253"/>
                  <a:gd name="connsiteX5" fmla="*/ 41742 w 67673"/>
                  <a:gd name="connsiteY5" fmla="*/ 106253 h 106253"/>
                  <a:gd name="connsiteX6" fmla="*/ 50597 w 67673"/>
                  <a:gd name="connsiteY6" fmla="*/ 97399 h 106253"/>
                  <a:gd name="connsiteX7" fmla="*/ 50597 w 67673"/>
                  <a:gd name="connsiteY7" fmla="*/ 62614 h 106253"/>
                  <a:gd name="connsiteX8" fmla="*/ 67673 w 67673"/>
                  <a:gd name="connsiteY8" fmla="*/ 33520 h 106253"/>
                  <a:gd name="connsiteX9" fmla="*/ 33520 w 67673"/>
                  <a:gd name="connsiteY9" fmla="*/ 0 h 106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673" h="106253">
                    <a:moveTo>
                      <a:pt x="33520" y="0"/>
                    </a:moveTo>
                    <a:cubicBezTo>
                      <a:pt x="15179" y="0"/>
                      <a:pt x="0" y="15179"/>
                      <a:pt x="0" y="33520"/>
                    </a:cubicBezTo>
                    <a:cubicBezTo>
                      <a:pt x="0" y="46170"/>
                      <a:pt x="6957" y="56921"/>
                      <a:pt x="17076" y="62614"/>
                    </a:cubicBezTo>
                    <a:lnTo>
                      <a:pt x="17076" y="97399"/>
                    </a:lnTo>
                    <a:cubicBezTo>
                      <a:pt x="17076" y="102459"/>
                      <a:pt x="20871" y="106253"/>
                      <a:pt x="25931" y="106253"/>
                    </a:cubicBezTo>
                    <a:lnTo>
                      <a:pt x="41742" y="106253"/>
                    </a:lnTo>
                    <a:cubicBezTo>
                      <a:pt x="46802" y="106253"/>
                      <a:pt x="50597" y="102459"/>
                      <a:pt x="50597" y="97399"/>
                    </a:cubicBezTo>
                    <a:lnTo>
                      <a:pt x="50597" y="62614"/>
                    </a:lnTo>
                    <a:cubicBezTo>
                      <a:pt x="60716" y="56921"/>
                      <a:pt x="67673" y="46170"/>
                      <a:pt x="67673" y="33520"/>
                    </a:cubicBezTo>
                    <a:cubicBezTo>
                      <a:pt x="67041" y="15179"/>
                      <a:pt x="51862" y="0"/>
                      <a:pt x="33520"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grpSp>
        <p:nvGrpSpPr>
          <p:cNvPr id="15" name="Picture Placeholder 103" descr="Reliability&#10;">
            <a:extLst>
              <a:ext uri="{FF2B5EF4-FFF2-40B4-BE49-F238E27FC236}">
                <a16:creationId xmlns:a16="http://schemas.microsoft.com/office/drawing/2014/main" id="{42B7DCDC-707D-4085-8234-17DE7A5A16B3}"/>
              </a:ext>
            </a:extLst>
          </p:cNvPr>
          <p:cNvGrpSpPr>
            <a:grpSpLocks noChangeAspect="1"/>
          </p:cNvGrpSpPr>
          <p:nvPr/>
        </p:nvGrpSpPr>
        <p:grpSpPr>
          <a:xfrm>
            <a:off x="5737252" y="2397781"/>
            <a:ext cx="740442" cy="1188720"/>
            <a:chOff x="3280734" y="4422088"/>
            <a:chExt cx="373862" cy="600204"/>
          </a:xfrm>
          <a:solidFill>
            <a:schemeClr val="bg1"/>
          </a:solidFill>
        </p:grpSpPr>
        <p:grpSp>
          <p:nvGrpSpPr>
            <p:cNvPr id="16" name="Picture Placeholder 103">
              <a:extLst>
                <a:ext uri="{FF2B5EF4-FFF2-40B4-BE49-F238E27FC236}">
                  <a16:creationId xmlns:a16="http://schemas.microsoft.com/office/drawing/2014/main" id="{A3F9C42E-86C8-4D57-AF9A-B31247CD6B3E}"/>
                </a:ext>
              </a:extLst>
            </p:cNvPr>
            <p:cNvGrpSpPr/>
            <p:nvPr/>
          </p:nvGrpSpPr>
          <p:grpSpPr>
            <a:xfrm>
              <a:off x="3280734" y="4771838"/>
              <a:ext cx="373862" cy="250454"/>
              <a:chOff x="3280734" y="4771838"/>
              <a:chExt cx="373862" cy="250454"/>
            </a:xfrm>
            <a:grpFill/>
          </p:grpSpPr>
          <p:sp>
            <p:nvSpPr>
              <p:cNvPr id="19" name="Picture Placeholder 103">
                <a:extLst>
                  <a:ext uri="{FF2B5EF4-FFF2-40B4-BE49-F238E27FC236}">
                    <a16:creationId xmlns:a16="http://schemas.microsoft.com/office/drawing/2014/main" id="{9A2202D4-F952-4653-83F9-8235CCA32A5E}"/>
                  </a:ext>
                </a:extLst>
              </p:cNvPr>
              <p:cNvSpPr/>
              <p:nvPr/>
            </p:nvSpPr>
            <p:spPr>
              <a:xfrm>
                <a:off x="3280734" y="4774368"/>
                <a:ext cx="178234" cy="247924"/>
              </a:xfrm>
              <a:custGeom>
                <a:avLst/>
                <a:gdLst>
                  <a:gd name="connsiteX0" fmla="*/ 122578 w 178234"/>
                  <a:gd name="connsiteY0" fmla="*/ 220729 h 247924"/>
                  <a:gd name="connsiteX1" fmla="*/ 101707 w 178234"/>
                  <a:gd name="connsiteY1" fmla="*/ 168867 h 247924"/>
                  <a:gd name="connsiteX2" fmla="*/ 97280 w 178234"/>
                  <a:gd name="connsiteY2" fmla="*/ 164440 h 247924"/>
                  <a:gd name="connsiteX3" fmla="*/ 94750 w 178234"/>
                  <a:gd name="connsiteY3" fmla="*/ 163807 h 247924"/>
                  <a:gd name="connsiteX4" fmla="*/ 90955 w 178234"/>
                  <a:gd name="connsiteY4" fmla="*/ 164440 h 247924"/>
                  <a:gd name="connsiteX5" fmla="*/ 28341 w 178234"/>
                  <a:gd name="connsiteY5" fmla="*/ 196695 h 247924"/>
                  <a:gd name="connsiteX6" fmla="*/ 101707 w 178234"/>
                  <a:gd name="connsiteY6" fmla="*/ 0 h 247924"/>
                  <a:gd name="connsiteX7" fmla="*/ 93485 w 178234"/>
                  <a:gd name="connsiteY7" fmla="*/ 1265 h 247924"/>
                  <a:gd name="connsiteX8" fmla="*/ 85263 w 178234"/>
                  <a:gd name="connsiteY8" fmla="*/ 2530 h 247924"/>
                  <a:gd name="connsiteX9" fmla="*/ 1146 w 178234"/>
                  <a:gd name="connsiteY9" fmla="*/ 212507 h 247924"/>
                  <a:gd name="connsiteX10" fmla="*/ 1778 w 178234"/>
                  <a:gd name="connsiteY10" fmla="*/ 221993 h 247924"/>
                  <a:gd name="connsiteX11" fmla="*/ 11265 w 178234"/>
                  <a:gd name="connsiteY11" fmla="*/ 223891 h 247924"/>
                  <a:gd name="connsiteX12" fmla="*/ 90323 w 178234"/>
                  <a:gd name="connsiteY12" fmla="*/ 183413 h 247924"/>
                  <a:gd name="connsiteX13" fmla="*/ 113091 w 178234"/>
                  <a:gd name="connsiteY13" fmla="*/ 242865 h 247924"/>
                  <a:gd name="connsiteX14" fmla="*/ 120048 w 178234"/>
                  <a:gd name="connsiteY14" fmla="*/ 247924 h 247924"/>
                  <a:gd name="connsiteX15" fmla="*/ 120681 w 178234"/>
                  <a:gd name="connsiteY15" fmla="*/ 247924 h 247924"/>
                  <a:gd name="connsiteX16" fmla="*/ 127638 w 178234"/>
                  <a:gd name="connsiteY16" fmla="*/ 244130 h 247924"/>
                  <a:gd name="connsiteX17" fmla="*/ 178234 w 178234"/>
                  <a:gd name="connsiteY17" fmla="*/ 133449 h 247924"/>
                  <a:gd name="connsiteX18" fmla="*/ 170012 w 178234"/>
                  <a:gd name="connsiteY18" fmla="*/ 107518 h 247924"/>
                  <a:gd name="connsiteX19" fmla="*/ 122578 w 178234"/>
                  <a:gd name="connsiteY19" fmla="*/ 220729 h 24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8234" h="247924">
                    <a:moveTo>
                      <a:pt x="122578" y="220729"/>
                    </a:moveTo>
                    <a:cubicBezTo>
                      <a:pt x="116253" y="203652"/>
                      <a:pt x="109296" y="185943"/>
                      <a:pt x="101707" y="168867"/>
                    </a:cubicBezTo>
                    <a:cubicBezTo>
                      <a:pt x="101074" y="166969"/>
                      <a:pt x="99177" y="165072"/>
                      <a:pt x="97280" y="164440"/>
                    </a:cubicBezTo>
                    <a:cubicBezTo>
                      <a:pt x="96647" y="164440"/>
                      <a:pt x="95382" y="163807"/>
                      <a:pt x="94750" y="163807"/>
                    </a:cubicBezTo>
                    <a:cubicBezTo>
                      <a:pt x="93485" y="163807"/>
                      <a:pt x="92220" y="163807"/>
                      <a:pt x="90955" y="164440"/>
                    </a:cubicBezTo>
                    <a:cubicBezTo>
                      <a:pt x="70084" y="175191"/>
                      <a:pt x="49213" y="185943"/>
                      <a:pt x="28341" y="196695"/>
                    </a:cubicBezTo>
                    <a:cubicBezTo>
                      <a:pt x="63759" y="134082"/>
                      <a:pt x="88425" y="67041"/>
                      <a:pt x="101707" y="0"/>
                    </a:cubicBezTo>
                    <a:cubicBezTo>
                      <a:pt x="99177" y="0"/>
                      <a:pt x="96015" y="632"/>
                      <a:pt x="93485" y="1265"/>
                    </a:cubicBezTo>
                    <a:cubicBezTo>
                      <a:pt x="90955" y="1897"/>
                      <a:pt x="87793" y="2530"/>
                      <a:pt x="85263" y="2530"/>
                    </a:cubicBezTo>
                    <a:cubicBezTo>
                      <a:pt x="70084" y="73998"/>
                      <a:pt x="41623" y="145466"/>
                      <a:pt x="1146" y="212507"/>
                    </a:cubicBezTo>
                    <a:cubicBezTo>
                      <a:pt x="-752" y="215669"/>
                      <a:pt x="-119" y="219464"/>
                      <a:pt x="1778" y="221993"/>
                    </a:cubicBezTo>
                    <a:cubicBezTo>
                      <a:pt x="4308" y="224523"/>
                      <a:pt x="8103" y="225156"/>
                      <a:pt x="11265" y="223891"/>
                    </a:cubicBezTo>
                    <a:cubicBezTo>
                      <a:pt x="37828" y="210609"/>
                      <a:pt x="64392" y="197328"/>
                      <a:pt x="90323" y="183413"/>
                    </a:cubicBezTo>
                    <a:cubicBezTo>
                      <a:pt x="99177" y="203020"/>
                      <a:pt x="106766" y="223258"/>
                      <a:pt x="113091" y="242865"/>
                    </a:cubicBezTo>
                    <a:cubicBezTo>
                      <a:pt x="114356" y="246027"/>
                      <a:pt x="116886" y="247924"/>
                      <a:pt x="120048" y="247924"/>
                    </a:cubicBezTo>
                    <a:cubicBezTo>
                      <a:pt x="120048" y="247924"/>
                      <a:pt x="120681" y="247924"/>
                      <a:pt x="120681" y="247924"/>
                    </a:cubicBezTo>
                    <a:cubicBezTo>
                      <a:pt x="123210" y="247924"/>
                      <a:pt x="126373" y="246659"/>
                      <a:pt x="127638" y="244130"/>
                    </a:cubicBezTo>
                    <a:cubicBezTo>
                      <a:pt x="147876" y="208712"/>
                      <a:pt x="164953" y="171397"/>
                      <a:pt x="178234" y="133449"/>
                    </a:cubicBezTo>
                    <a:cubicBezTo>
                      <a:pt x="175705" y="125227"/>
                      <a:pt x="172542" y="116373"/>
                      <a:pt x="170012" y="107518"/>
                    </a:cubicBezTo>
                    <a:cubicBezTo>
                      <a:pt x="157996" y="146098"/>
                      <a:pt x="142184" y="184046"/>
                      <a:pt x="122578" y="220729"/>
                    </a:cubicBezTo>
                    <a:close/>
                  </a:path>
                </a:pathLst>
              </a:cu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0" name="Picture Placeholder 103">
                <a:extLst>
                  <a:ext uri="{FF2B5EF4-FFF2-40B4-BE49-F238E27FC236}">
                    <a16:creationId xmlns:a16="http://schemas.microsoft.com/office/drawing/2014/main" id="{B3B9F771-49FE-4EFC-8188-BCB8E1D064F9}"/>
                  </a:ext>
                </a:extLst>
              </p:cNvPr>
              <p:cNvSpPr/>
              <p:nvPr/>
            </p:nvSpPr>
            <p:spPr>
              <a:xfrm>
                <a:off x="3454542" y="4771838"/>
                <a:ext cx="200055" cy="242864"/>
              </a:xfrm>
              <a:custGeom>
                <a:avLst/>
                <a:gdLst>
                  <a:gd name="connsiteX0" fmla="*/ 115740 w 200055"/>
                  <a:gd name="connsiteY0" fmla="*/ 632 h 242864"/>
                  <a:gd name="connsiteX1" fmla="*/ 99296 w 200055"/>
                  <a:gd name="connsiteY1" fmla="*/ 0 h 242864"/>
                  <a:gd name="connsiteX2" fmla="*/ 171397 w 200055"/>
                  <a:gd name="connsiteY2" fmla="*/ 194798 h 242864"/>
                  <a:gd name="connsiteX3" fmla="*/ 111313 w 200055"/>
                  <a:gd name="connsiteY3" fmla="*/ 164440 h 242864"/>
                  <a:gd name="connsiteX4" fmla="*/ 104988 w 200055"/>
                  <a:gd name="connsiteY4" fmla="*/ 163807 h 242864"/>
                  <a:gd name="connsiteX5" fmla="*/ 100561 w 200055"/>
                  <a:gd name="connsiteY5" fmla="*/ 168234 h 242864"/>
                  <a:gd name="connsiteX6" fmla="*/ 82852 w 200055"/>
                  <a:gd name="connsiteY6" fmla="*/ 215036 h 242864"/>
                  <a:gd name="connsiteX7" fmla="*/ 15812 w 200055"/>
                  <a:gd name="connsiteY7" fmla="*/ 17709 h 242864"/>
                  <a:gd name="connsiteX8" fmla="*/ 8854 w 200055"/>
                  <a:gd name="connsiteY8" fmla="*/ 15179 h 242864"/>
                  <a:gd name="connsiteX9" fmla="*/ 0 w 200055"/>
                  <a:gd name="connsiteY9" fmla="*/ 18974 h 242864"/>
                  <a:gd name="connsiteX10" fmla="*/ 78425 w 200055"/>
                  <a:gd name="connsiteY10" fmla="*/ 239070 h 242864"/>
                  <a:gd name="connsiteX11" fmla="*/ 85382 w 200055"/>
                  <a:gd name="connsiteY11" fmla="*/ 242865 h 242864"/>
                  <a:gd name="connsiteX12" fmla="*/ 86015 w 200055"/>
                  <a:gd name="connsiteY12" fmla="*/ 242865 h 242864"/>
                  <a:gd name="connsiteX13" fmla="*/ 92972 w 200055"/>
                  <a:gd name="connsiteY13" fmla="*/ 237173 h 242864"/>
                  <a:gd name="connsiteX14" fmla="*/ 112578 w 200055"/>
                  <a:gd name="connsiteY14" fmla="*/ 182149 h 242864"/>
                  <a:gd name="connsiteX15" fmla="*/ 188473 w 200055"/>
                  <a:gd name="connsiteY15" fmla="*/ 220096 h 242864"/>
                  <a:gd name="connsiteX16" fmla="*/ 197960 w 200055"/>
                  <a:gd name="connsiteY16" fmla="*/ 218199 h 242864"/>
                  <a:gd name="connsiteX17" fmla="*/ 199225 w 200055"/>
                  <a:gd name="connsiteY17" fmla="*/ 208712 h 242864"/>
                  <a:gd name="connsiteX18" fmla="*/ 115740 w 200055"/>
                  <a:gd name="connsiteY18" fmla="*/ 632 h 24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055" h="242864">
                    <a:moveTo>
                      <a:pt x="115740" y="632"/>
                    </a:moveTo>
                    <a:cubicBezTo>
                      <a:pt x="110681" y="1265"/>
                      <a:pt x="104988" y="632"/>
                      <a:pt x="99296" y="0"/>
                    </a:cubicBezTo>
                    <a:cubicBezTo>
                      <a:pt x="112578" y="66408"/>
                      <a:pt x="137244" y="132184"/>
                      <a:pt x="171397" y="194798"/>
                    </a:cubicBezTo>
                    <a:cubicBezTo>
                      <a:pt x="151158" y="184678"/>
                      <a:pt x="130919" y="174559"/>
                      <a:pt x="111313" y="164440"/>
                    </a:cubicBezTo>
                    <a:cubicBezTo>
                      <a:pt x="109416" y="163175"/>
                      <a:pt x="106886" y="163175"/>
                      <a:pt x="104988" y="163807"/>
                    </a:cubicBezTo>
                    <a:cubicBezTo>
                      <a:pt x="103091" y="164440"/>
                      <a:pt x="101194" y="166337"/>
                      <a:pt x="100561" y="168234"/>
                    </a:cubicBezTo>
                    <a:cubicBezTo>
                      <a:pt x="94237" y="184046"/>
                      <a:pt x="88544" y="199857"/>
                      <a:pt x="82852" y="215036"/>
                    </a:cubicBezTo>
                    <a:cubicBezTo>
                      <a:pt x="49332" y="151790"/>
                      <a:pt x="26563" y="84750"/>
                      <a:pt x="15812" y="17709"/>
                    </a:cubicBezTo>
                    <a:cubicBezTo>
                      <a:pt x="13282" y="16444"/>
                      <a:pt x="10752" y="15179"/>
                      <a:pt x="8854" y="15179"/>
                    </a:cubicBezTo>
                    <a:cubicBezTo>
                      <a:pt x="6957" y="15179"/>
                      <a:pt x="3795" y="17076"/>
                      <a:pt x="0" y="18974"/>
                    </a:cubicBezTo>
                    <a:cubicBezTo>
                      <a:pt x="12017" y="94237"/>
                      <a:pt x="38580" y="168867"/>
                      <a:pt x="78425" y="239070"/>
                    </a:cubicBezTo>
                    <a:cubicBezTo>
                      <a:pt x="79690" y="241600"/>
                      <a:pt x="82220" y="242865"/>
                      <a:pt x="85382" y="242865"/>
                    </a:cubicBezTo>
                    <a:cubicBezTo>
                      <a:pt x="85382" y="242865"/>
                      <a:pt x="86015" y="242865"/>
                      <a:pt x="86015" y="242865"/>
                    </a:cubicBezTo>
                    <a:cubicBezTo>
                      <a:pt x="89177" y="242232"/>
                      <a:pt x="91707" y="240335"/>
                      <a:pt x="92972" y="237173"/>
                    </a:cubicBezTo>
                    <a:cubicBezTo>
                      <a:pt x="98664" y="218831"/>
                      <a:pt x="104988" y="200490"/>
                      <a:pt x="112578" y="182149"/>
                    </a:cubicBezTo>
                    <a:cubicBezTo>
                      <a:pt x="137876" y="194798"/>
                      <a:pt x="163175" y="208079"/>
                      <a:pt x="188473" y="220096"/>
                    </a:cubicBezTo>
                    <a:cubicBezTo>
                      <a:pt x="191635" y="221361"/>
                      <a:pt x="195430" y="220729"/>
                      <a:pt x="197960" y="218199"/>
                    </a:cubicBezTo>
                    <a:cubicBezTo>
                      <a:pt x="200490" y="215669"/>
                      <a:pt x="200490" y="211874"/>
                      <a:pt x="199225" y="208712"/>
                    </a:cubicBezTo>
                    <a:cubicBezTo>
                      <a:pt x="158747" y="142936"/>
                      <a:pt x="130919" y="71468"/>
                      <a:pt x="115740" y="632"/>
                    </a:cubicBezTo>
                    <a:close/>
                  </a:path>
                </a:pathLst>
              </a:cu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sp>
          <p:nvSpPr>
            <p:cNvPr id="17" name="Picture Placeholder 103">
              <a:extLst>
                <a:ext uri="{FF2B5EF4-FFF2-40B4-BE49-F238E27FC236}">
                  <a16:creationId xmlns:a16="http://schemas.microsoft.com/office/drawing/2014/main" id="{91CA6B3F-31B4-441E-92D7-6743205416D5}"/>
                </a:ext>
              </a:extLst>
            </p:cNvPr>
            <p:cNvSpPr/>
            <p:nvPr/>
          </p:nvSpPr>
          <p:spPr>
            <a:xfrm>
              <a:off x="3286307" y="4422088"/>
              <a:ext cx="346588" cy="349117"/>
            </a:xfrm>
            <a:custGeom>
              <a:avLst/>
              <a:gdLst>
                <a:gd name="connsiteX0" fmla="*/ 137876 w 346588"/>
                <a:gd name="connsiteY0" fmla="*/ 15812 h 349117"/>
                <a:gd name="connsiteX1" fmla="*/ 148628 w 346588"/>
                <a:gd name="connsiteY1" fmla="*/ 20239 h 349117"/>
                <a:gd name="connsiteX2" fmla="*/ 173927 w 346588"/>
                <a:gd name="connsiteY2" fmla="*/ 27828 h 349117"/>
                <a:gd name="connsiteX3" fmla="*/ 199225 w 346588"/>
                <a:gd name="connsiteY3" fmla="*/ 20239 h 349117"/>
                <a:gd name="connsiteX4" fmla="*/ 209977 w 346588"/>
                <a:gd name="connsiteY4" fmla="*/ 15812 h 349117"/>
                <a:gd name="connsiteX5" fmla="*/ 218199 w 346588"/>
                <a:gd name="connsiteY5" fmla="*/ 24666 h 349117"/>
                <a:gd name="connsiteX6" fmla="*/ 236540 w 346588"/>
                <a:gd name="connsiteY6" fmla="*/ 42375 h 349117"/>
                <a:gd name="connsiteX7" fmla="*/ 261838 w 346588"/>
                <a:gd name="connsiteY7" fmla="*/ 46802 h 349117"/>
                <a:gd name="connsiteX8" fmla="*/ 273223 w 346588"/>
                <a:gd name="connsiteY8" fmla="*/ 48067 h 349117"/>
                <a:gd name="connsiteX9" fmla="*/ 276385 w 346588"/>
                <a:gd name="connsiteY9" fmla="*/ 59451 h 349117"/>
                <a:gd name="connsiteX10" fmla="*/ 285872 w 346588"/>
                <a:gd name="connsiteY10" fmla="*/ 83485 h 349117"/>
                <a:gd name="connsiteX11" fmla="*/ 306743 w 346588"/>
                <a:gd name="connsiteY11" fmla="*/ 98664 h 349117"/>
                <a:gd name="connsiteX12" fmla="*/ 316862 w 346588"/>
                <a:gd name="connsiteY12" fmla="*/ 104988 h 349117"/>
                <a:gd name="connsiteX13" fmla="*/ 314965 w 346588"/>
                <a:gd name="connsiteY13" fmla="*/ 116373 h 349117"/>
                <a:gd name="connsiteX14" fmla="*/ 313068 w 346588"/>
                <a:gd name="connsiteY14" fmla="*/ 142304 h 349117"/>
                <a:gd name="connsiteX15" fmla="*/ 325717 w 346588"/>
                <a:gd name="connsiteY15" fmla="*/ 164440 h 349117"/>
                <a:gd name="connsiteX16" fmla="*/ 332674 w 346588"/>
                <a:gd name="connsiteY16" fmla="*/ 174559 h 349117"/>
                <a:gd name="connsiteX17" fmla="*/ 325717 w 346588"/>
                <a:gd name="connsiteY17" fmla="*/ 184678 h 349117"/>
                <a:gd name="connsiteX18" fmla="*/ 313068 w 346588"/>
                <a:gd name="connsiteY18" fmla="*/ 206814 h 349117"/>
                <a:gd name="connsiteX19" fmla="*/ 314965 w 346588"/>
                <a:gd name="connsiteY19" fmla="*/ 232745 h 349117"/>
                <a:gd name="connsiteX20" fmla="*/ 316862 w 346588"/>
                <a:gd name="connsiteY20" fmla="*/ 244130 h 349117"/>
                <a:gd name="connsiteX21" fmla="*/ 306743 w 346588"/>
                <a:gd name="connsiteY21" fmla="*/ 250454 h 349117"/>
                <a:gd name="connsiteX22" fmla="*/ 285872 w 346588"/>
                <a:gd name="connsiteY22" fmla="*/ 265633 h 349117"/>
                <a:gd name="connsiteX23" fmla="*/ 276385 w 346588"/>
                <a:gd name="connsiteY23" fmla="*/ 289667 h 349117"/>
                <a:gd name="connsiteX24" fmla="*/ 273223 w 346588"/>
                <a:gd name="connsiteY24" fmla="*/ 301051 h 349117"/>
                <a:gd name="connsiteX25" fmla="*/ 261838 w 346588"/>
                <a:gd name="connsiteY25" fmla="*/ 302316 h 349117"/>
                <a:gd name="connsiteX26" fmla="*/ 236540 w 346588"/>
                <a:gd name="connsiteY26" fmla="*/ 306743 h 349117"/>
                <a:gd name="connsiteX27" fmla="*/ 218199 w 346588"/>
                <a:gd name="connsiteY27" fmla="*/ 324452 h 349117"/>
                <a:gd name="connsiteX28" fmla="*/ 209977 w 346588"/>
                <a:gd name="connsiteY28" fmla="*/ 333306 h 349117"/>
                <a:gd name="connsiteX29" fmla="*/ 199225 w 346588"/>
                <a:gd name="connsiteY29" fmla="*/ 328879 h 349117"/>
                <a:gd name="connsiteX30" fmla="*/ 173927 w 346588"/>
                <a:gd name="connsiteY30" fmla="*/ 321290 h 349117"/>
                <a:gd name="connsiteX31" fmla="*/ 148628 w 346588"/>
                <a:gd name="connsiteY31" fmla="*/ 328879 h 349117"/>
                <a:gd name="connsiteX32" fmla="*/ 137876 w 346588"/>
                <a:gd name="connsiteY32" fmla="*/ 333306 h 349117"/>
                <a:gd name="connsiteX33" fmla="*/ 129654 w 346588"/>
                <a:gd name="connsiteY33" fmla="*/ 324452 h 349117"/>
                <a:gd name="connsiteX34" fmla="*/ 111313 w 346588"/>
                <a:gd name="connsiteY34" fmla="*/ 306743 h 349117"/>
                <a:gd name="connsiteX35" fmla="*/ 86015 w 346588"/>
                <a:gd name="connsiteY35" fmla="*/ 302316 h 349117"/>
                <a:gd name="connsiteX36" fmla="*/ 74630 w 346588"/>
                <a:gd name="connsiteY36" fmla="*/ 301051 h 349117"/>
                <a:gd name="connsiteX37" fmla="*/ 71468 w 346588"/>
                <a:gd name="connsiteY37" fmla="*/ 289667 h 349117"/>
                <a:gd name="connsiteX38" fmla="*/ 61981 w 346588"/>
                <a:gd name="connsiteY38" fmla="*/ 265633 h 349117"/>
                <a:gd name="connsiteX39" fmla="*/ 41110 w 346588"/>
                <a:gd name="connsiteY39" fmla="*/ 250454 h 349117"/>
                <a:gd name="connsiteX40" fmla="*/ 30991 w 346588"/>
                <a:gd name="connsiteY40" fmla="*/ 244130 h 349117"/>
                <a:gd name="connsiteX41" fmla="*/ 32888 w 346588"/>
                <a:gd name="connsiteY41" fmla="*/ 232745 h 349117"/>
                <a:gd name="connsiteX42" fmla="*/ 34785 w 346588"/>
                <a:gd name="connsiteY42" fmla="*/ 206814 h 349117"/>
                <a:gd name="connsiteX43" fmla="*/ 22136 w 346588"/>
                <a:gd name="connsiteY43" fmla="*/ 184678 h 349117"/>
                <a:gd name="connsiteX44" fmla="*/ 15179 w 346588"/>
                <a:gd name="connsiteY44" fmla="*/ 174559 h 349117"/>
                <a:gd name="connsiteX45" fmla="*/ 22136 w 346588"/>
                <a:gd name="connsiteY45" fmla="*/ 164440 h 349117"/>
                <a:gd name="connsiteX46" fmla="*/ 34785 w 346588"/>
                <a:gd name="connsiteY46" fmla="*/ 142304 h 349117"/>
                <a:gd name="connsiteX47" fmla="*/ 32888 w 346588"/>
                <a:gd name="connsiteY47" fmla="*/ 116373 h 349117"/>
                <a:gd name="connsiteX48" fmla="*/ 30991 w 346588"/>
                <a:gd name="connsiteY48" fmla="*/ 104988 h 349117"/>
                <a:gd name="connsiteX49" fmla="*/ 41110 w 346588"/>
                <a:gd name="connsiteY49" fmla="*/ 98664 h 349117"/>
                <a:gd name="connsiteX50" fmla="*/ 61981 w 346588"/>
                <a:gd name="connsiteY50" fmla="*/ 83485 h 349117"/>
                <a:gd name="connsiteX51" fmla="*/ 71468 w 346588"/>
                <a:gd name="connsiteY51" fmla="*/ 59451 h 349117"/>
                <a:gd name="connsiteX52" fmla="*/ 74630 w 346588"/>
                <a:gd name="connsiteY52" fmla="*/ 48067 h 349117"/>
                <a:gd name="connsiteX53" fmla="*/ 86015 w 346588"/>
                <a:gd name="connsiteY53" fmla="*/ 46802 h 349117"/>
                <a:gd name="connsiteX54" fmla="*/ 111313 w 346588"/>
                <a:gd name="connsiteY54" fmla="*/ 42375 h 349117"/>
                <a:gd name="connsiteX55" fmla="*/ 129654 w 346588"/>
                <a:gd name="connsiteY55" fmla="*/ 24666 h 349117"/>
                <a:gd name="connsiteX56" fmla="*/ 137876 w 346588"/>
                <a:gd name="connsiteY56" fmla="*/ 15812 h 349117"/>
                <a:gd name="connsiteX57" fmla="*/ 209344 w 346588"/>
                <a:gd name="connsiteY57" fmla="*/ 0 h 349117"/>
                <a:gd name="connsiteX58" fmla="*/ 173294 w 346588"/>
                <a:gd name="connsiteY58" fmla="*/ 11384 h 349117"/>
                <a:gd name="connsiteX59" fmla="*/ 137244 w 346588"/>
                <a:gd name="connsiteY59" fmla="*/ 0 h 349117"/>
                <a:gd name="connsiteX60" fmla="*/ 134082 w 346588"/>
                <a:gd name="connsiteY60" fmla="*/ 632 h 349117"/>
                <a:gd name="connsiteX61" fmla="*/ 103723 w 346588"/>
                <a:gd name="connsiteY61" fmla="*/ 28461 h 349117"/>
                <a:gd name="connsiteX62" fmla="*/ 63878 w 346588"/>
                <a:gd name="connsiteY62" fmla="*/ 36050 h 349117"/>
                <a:gd name="connsiteX63" fmla="*/ 49332 w 346588"/>
                <a:gd name="connsiteY63" fmla="*/ 73998 h 349117"/>
                <a:gd name="connsiteX64" fmla="*/ 16444 w 346588"/>
                <a:gd name="connsiteY64" fmla="*/ 98031 h 349117"/>
                <a:gd name="connsiteX65" fmla="*/ 19606 w 346588"/>
                <a:gd name="connsiteY65" fmla="*/ 138509 h 349117"/>
                <a:gd name="connsiteX66" fmla="*/ 0 w 346588"/>
                <a:gd name="connsiteY66" fmla="*/ 174559 h 349117"/>
                <a:gd name="connsiteX67" fmla="*/ 19606 w 346588"/>
                <a:gd name="connsiteY67" fmla="*/ 210609 h 349117"/>
                <a:gd name="connsiteX68" fmla="*/ 16444 w 346588"/>
                <a:gd name="connsiteY68" fmla="*/ 251087 h 349117"/>
                <a:gd name="connsiteX69" fmla="*/ 49332 w 346588"/>
                <a:gd name="connsiteY69" fmla="*/ 275120 h 349117"/>
                <a:gd name="connsiteX70" fmla="*/ 63878 w 346588"/>
                <a:gd name="connsiteY70" fmla="*/ 313068 h 349117"/>
                <a:gd name="connsiteX71" fmla="*/ 103723 w 346588"/>
                <a:gd name="connsiteY71" fmla="*/ 320657 h 349117"/>
                <a:gd name="connsiteX72" fmla="*/ 134082 w 346588"/>
                <a:gd name="connsiteY72" fmla="*/ 348485 h 349117"/>
                <a:gd name="connsiteX73" fmla="*/ 137244 w 346588"/>
                <a:gd name="connsiteY73" fmla="*/ 349118 h 349117"/>
                <a:gd name="connsiteX74" fmla="*/ 173294 w 346588"/>
                <a:gd name="connsiteY74" fmla="*/ 337734 h 349117"/>
                <a:gd name="connsiteX75" fmla="*/ 209344 w 346588"/>
                <a:gd name="connsiteY75" fmla="*/ 349118 h 349117"/>
                <a:gd name="connsiteX76" fmla="*/ 212507 w 346588"/>
                <a:gd name="connsiteY76" fmla="*/ 348485 h 349117"/>
                <a:gd name="connsiteX77" fmla="*/ 242865 w 346588"/>
                <a:gd name="connsiteY77" fmla="*/ 320657 h 349117"/>
                <a:gd name="connsiteX78" fmla="*/ 282710 w 346588"/>
                <a:gd name="connsiteY78" fmla="*/ 313068 h 349117"/>
                <a:gd name="connsiteX79" fmla="*/ 297256 w 346588"/>
                <a:gd name="connsiteY79" fmla="*/ 275120 h 349117"/>
                <a:gd name="connsiteX80" fmla="*/ 330144 w 346588"/>
                <a:gd name="connsiteY80" fmla="*/ 251087 h 349117"/>
                <a:gd name="connsiteX81" fmla="*/ 326982 w 346588"/>
                <a:gd name="connsiteY81" fmla="*/ 210609 h 349117"/>
                <a:gd name="connsiteX82" fmla="*/ 346588 w 346588"/>
                <a:gd name="connsiteY82" fmla="*/ 174559 h 349117"/>
                <a:gd name="connsiteX83" fmla="*/ 326982 w 346588"/>
                <a:gd name="connsiteY83" fmla="*/ 138509 h 349117"/>
                <a:gd name="connsiteX84" fmla="*/ 330144 w 346588"/>
                <a:gd name="connsiteY84" fmla="*/ 98031 h 349117"/>
                <a:gd name="connsiteX85" fmla="*/ 297256 w 346588"/>
                <a:gd name="connsiteY85" fmla="*/ 73998 h 349117"/>
                <a:gd name="connsiteX86" fmla="*/ 282710 w 346588"/>
                <a:gd name="connsiteY86" fmla="*/ 36050 h 349117"/>
                <a:gd name="connsiteX87" fmla="*/ 242865 w 346588"/>
                <a:gd name="connsiteY87" fmla="*/ 28461 h 349117"/>
                <a:gd name="connsiteX88" fmla="*/ 212507 w 346588"/>
                <a:gd name="connsiteY88" fmla="*/ 632 h 349117"/>
                <a:gd name="connsiteX89" fmla="*/ 209344 w 346588"/>
                <a:gd name="connsiteY89" fmla="*/ 0 h 349117"/>
                <a:gd name="connsiteX90" fmla="*/ 209344 w 346588"/>
                <a:gd name="connsiteY90" fmla="*/ 0 h 34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6588" h="349117">
                  <a:moveTo>
                    <a:pt x="137876" y="15812"/>
                  </a:moveTo>
                  <a:cubicBezTo>
                    <a:pt x="139774" y="15812"/>
                    <a:pt x="144833" y="18341"/>
                    <a:pt x="148628" y="20239"/>
                  </a:cubicBezTo>
                  <a:cubicBezTo>
                    <a:pt x="156218" y="23401"/>
                    <a:pt x="164440" y="27828"/>
                    <a:pt x="173927" y="27828"/>
                  </a:cubicBezTo>
                  <a:cubicBezTo>
                    <a:pt x="183413" y="27828"/>
                    <a:pt x="191635" y="24033"/>
                    <a:pt x="199225" y="20239"/>
                  </a:cubicBezTo>
                  <a:cubicBezTo>
                    <a:pt x="202387" y="18341"/>
                    <a:pt x="207447" y="16444"/>
                    <a:pt x="209977" y="15812"/>
                  </a:cubicBezTo>
                  <a:cubicBezTo>
                    <a:pt x="211874" y="17076"/>
                    <a:pt x="215669" y="21504"/>
                    <a:pt x="218199" y="24666"/>
                  </a:cubicBezTo>
                  <a:cubicBezTo>
                    <a:pt x="223258" y="30991"/>
                    <a:pt x="228318" y="37948"/>
                    <a:pt x="236540" y="42375"/>
                  </a:cubicBezTo>
                  <a:cubicBezTo>
                    <a:pt x="244762" y="46802"/>
                    <a:pt x="254249" y="46802"/>
                    <a:pt x="261838" y="46802"/>
                  </a:cubicBezTo>
                  <a:cubicBezTo>
                    <a:pt x="265633" y="46802"/>
                    <a:pt x="271325" y="46802"/>
                    <a:pt x="273223" y="48067"/>
                  </a:cubicBezTo>
                  <a:cubicBezTo>
                    <a:pt x="274488" y="49964"/>
                    <a:pt x="275753" y="55656"/>
                    <a:pt x="276385" y="59451"/>
                  </a:cubicBezTo>
                  <a:cubicBezTo>
                    <a:pt x="278282" y="67041"/>
                    <a:pt x="279547" y="76528"/>
                    <a:pt x="285872" y="83485"/>
                  </a:cubicBezTo>
                  <a:cubicBezTo>
                    <a:pt x="291564" y="91074"/>
                    <a:pt x="299786" y="94869"/>
                    <a:pt x="306743" y="98664"/>
                  </a:cubicBezTo>
                  <a:cubicBezTo>
                    <a:pt x="309905" y="100561"/>
                    <a:pt x="315598" y="103091"/>
                    <a:pt x="316862" y="104988"/>
                  </a:cubicBezTo>
                  <a:cubicBezTo>
                    <a:pt x="317495" y="106886"/>
                    <a:pt x="315598" y="112578"/>
                    <a:pt x="314965" y="116373"/>
                  </a:cubicBezTo>
                  <a:cubicBezTo>
                    <a:pt x="313068" y="123962"/>
                    <a:pt x="311170" y="133449"/>
                    <a:pt x="313068" y="142304"/>
                  </a:cubicBezTo>
                  <a:cubicBezTo>
                    <a:pt x="314965" y="151158"/>
                    <a:pt x="320657" y="158115"/>
                    <a:pt x="325717" y="164440"/>
                  </a:cubicBezTo>
                  <a:cubicBezTo>
                    <a:pt x="328247" y="167602"/>
                    <a:pt x="332042" y="172662"/>
                    <a:pt x="332674" y="174559"/>
                  </a:cubicBezTo>
                  <a:cubicBezTo>
                    <a:pt x="332674" y="176456"/>
                    <a:pt x="328247" y="181516"/>
                    <a:pt x="325717" y="184678"/>
                  </a:cubicBezTo>
                  <a:cubicBezTo>
                    <a:pt x="320657" y="191003"/>
                    <a:pt x="314965" y="197960"/>
                    <a:pt x="313068" y="206814"/>
                  </a:cubicBezTo>
                  <a:cubicBezTo>
                    <a:pt x="311170" y="216301"/>
                    <a:pt x="313068" y="225156"/>
                    <a:pt x="314965" y="232745"/>
                  </a:cubicBezTo>
                  <a:cubicBezTo>
                    <a:pt x="315598" y="236540"/>
                    <a:pt x="317495" y="242232"/>
                    <a:pt x="316862" y="244130"/>
                  </a:cubicBezTo>
                  <a:cubicBezTo>
                    <a:pt x="315598" y="246027"/>
                    <a:pt x="309905" y="248557"/>
                    <a:pt x="306743" y="250454"/>
                  </a:cubicBezTo>
                  <a:cubicBezTo>
                    <a:pt x="299786" y="254249"/>
                    <a:pt x="291564" y="258044"/>
                    <a:pt x="285872" y="265633"/>
                  </a:cubicBezTo>
                  <a:cubicBezTo>
                    <a:pt x="280180" y="273223"/>
                    <a:pt x="278282" y="282077"/>
                    <a:pt x="276385" y="289667"/>
                  </a:cubicBezTo>
                  <a:cubicBezTo>
                    <a:pt x="275753" y="293461"/>
                    <a:pt x="274488" y="299154"/>
                    <a:pt x="273223" y="301051"/>
                  </a:cubicBezTo>
                  <a:cubicBezTo>
                    <a:pt x="271325" y="301683"/>
                    <a:pt x="265001" y="302316"/>
                    <a:pt x="261838" y="302316"/>
                  </a:cubicBezTo>
                  <a:cubicBezTo>
                    <a:pt x="253616" y="302316"/>
                    <a:pt x="244762" y="302948"/>
                    <a:pt x="236540" y="306743"/>
                  </a:cubicBezTo>
                  <a:cubicBezTo>
                    <a:pt x="228318" y="311170"/>
                    <a:pt x="222626" y="318127"/>
                    <a:pt x="218199" y="324452"/>
                  </a:cubicBezTo>
                  <a:cubicBezTo>
                    <a:pt x="215669" y="327614"/>
                    <a:pt x="211874" y="332042"/>
                    <a:pt x="209977" y="333306"/>
                  </a:cubicBezTo>
                  <a:cubicBezTo>
                    <a:pt x="208079" y="333306"/>
                    <a:pt x="203020" y="330777"/>
                    <a:pt x="199225" y="328879"/>
                  </a:cubicBezTo>
                  <a:cubicBezTo>
                    <a:pt x="191635" y="325717"/>
                    <a:pt x="183413" y="321290"/>
                    <a:pt x="173927" y="321290"/>
                  </a:cubicBezTo>
                  <a:cubicBezTo>
                    <a:pt x="164440" y="321290"/>
                    <a:pt x="156218" y="325084"/>
                    <a:pt x="148628" y="328879"/>
                  </a:cubicBezTo>
                  <a:cubicBezTo>
                    <a:pt x="145466" y="330777"/>
                    <a:pt x="140406" y="332674"/>
                    <a:pt x="137876" y="333306"/>
                  </a:cubicBezTo>
                  <a:cubicBezTo>
                    <a:pt x="135979" y="332042"/>
                    <a:pt x="132184" y="327614"/>
                    <a:pt x="129654" y="324452"/>
                  </a:cubicBezTo>
                  <a:cubicBezTo>
                    <a:pt x="124595" y="318127"/>
                    <a:pt x="119535" y="311170"/>
                    <a:pt x="111313" y="306743"/>
                  </a:cubicBezTo>
                  <a:cubicBezTo>
                    <a:pt x="103091" y="302316"/>
                    <a:pt x="93604" y="302316"/>
                    <a:pt x="86015" y="302316"/>
                  </a:cubicBezTo>
                  <a:cubicBezTo>
                    <a:pt x="82220" y="302316"/>
                    <a:pt x="76528" y="302316"/>
                    <a:pt x="74630" y="301051"/>
                  </a:cubicBezTo>
                  <a:cubicBezTo>
                    <a:pt x="73365" y="299154"/>
                    <a:pt x="72100" y="293461"/>
                    <a:pt x="71468" y="289667"/>
                  </a:cubicBezTo>
                  <a:cubicBezTo>
                    <a:pt x="69571" y="282077"/>
                    <a:pt x="68306" y="272590"/>
                    <a:pt x="61981" y="265633"/>
                  </a:cubicBezTo>
                  <a:cubicBezTo>
                    <a:pt x="56289" y="258044"/>
                    <a:pt x="48067" y="254249"/>
                    <a:pt x="41110" y="250454"/>
                  </a:cubicBezTo>
                  <a:cubicBezTo>
                    <a:pt x="37948" y="248557"/>
                    <a:pt x="32255" y="246027"/>
                    <a:pt x="30991" y="244130"/>
                  </a:cubicBezTo>
                  <a:cubicBezTo>
                    <a:pt x="30358" y="242232"/>
                    <a:pt x="32255" y="236540"/>
                    <a:pt x="32888" y="232745"/>
                  </a:cubicBezTo>
                  <a:cubicBezTo>
                    <a:pt x="34785" y="225156"/>
                    <a:pt x="36683" y="215669"/>
                    <a:pt x="34785" y="206814"/>
                  </a:cubicBezTo>
                  <a:cubicBezTo>
                    <a:pt x="32888" y="197960"/>
                    <a:pt x="27196" y="191003"/>
                    <a:pt x="22136" y="184678"/>
                  </a:cubicBezTo>
                  <a:cubicBezTo>
                    <a:pt x="19606" y="181516"/>
                    <a:pt x="15812" y="176456"/>
                    <a:pt x="15179" y="174559"/>
                  </a:cubicBezTo>
                  <a:cubicBezTo>
                    <a:pt x="15179" y="172662"/>
                    <a:pt x="19606" y="167602"/>
                    <a:pt x="22136" y="164440"/>
                  </a:cubicBezTo>
                  <a:cubicBezTo>
                    <a:pt x="27196" y="158115"/>
                    <a:pt x="32888" y="151158"/>
                    <a:pt x="34785" y="142304"/>
                  </a:cubicBezTo>
                  <a:cubicBezTo>
                    <a:pt x="36683" y="132817"/>
                    <a:pt x="34785" y="123962"/>
                    <a:pt x="32888" y="116373"/>
                  </a:cubicBezTo>
                  <a:cubicBezTo>
                    <a:pt x="32255" y="112578"/>
                    <a:pt x="30358" y="106886"/>
                    <a:pt x="30991" y="104988"/>
                  </a:cubicBezTo>
                  <a:cubicBezTo>
                    <a:pt x="32255" y="103091"/>
                    <a:pt x="37948" y="100561"/>
                    <a:pt x="41110" y="98664"/>
                  </a:cubicBezTo>
                  <a:cubicBezTo>
                    <a:pt x="48067" y="94869"/>
                    <a:pt x="56289" y="91074"/>
                    <a:pt x="61981" y="83485"/>
                  </a:cubicBezTo>
                  <a:cubicBezTo>
                    <a:pt x="67673" y="75895"/>
                    <a:pt x="69571" y="67041"/>
                    <a:pt x="71468" y="59451"/>
                  </a:cubicBezTo>
                  <a:cubicBezTo>
                    <a:pt x="72100" y="55656"/>
                    <a:pt x="73365" y="49964"/>
                    <a:pt x="74630" y="48067"/>
                  </a:cubicBezTo>
                  <a:cubicBezTo>
                    <a:pt x="76528" y="47434"/>
                    <a:pt x="82852" y="46802"/>
                    <a:pt x="86015" y="46802"/>
                  </a:cubicBezTo>
                  <a:cubicBezTo>
                    <a:pt x="94237" y="46802"/>
                    <a:pt x="103091" y="46170"/>
                    <a:pt x="111313" y="42375"/>
                  </a:cubicBezTo>
                  <a:cubicBezTo>
                    <a:pt x="119535" y="37948"/>
                    <a:pt x="125227" y="30991"/>
                    <a:pt x="129654" y="24666"/>
                  </a:cubicBezTo>
                  <a:cubicBezTo>
                    <a:pt x="132184" y="22136"/>
                    <a:pt x="135979" y="17076"/>
                    <a:pt x="137876" y="15812"/>
                  </a:cubicBezTo>
                  <a:moveTo>
                    <a:pt x="209344" y="0"/>
                  </a:moveTo>
                  <a:cubicBezTo>
                    <a:pt x="197960" y="0"/>
                    <a:pt x="185311" y="11384"/>
                    <a:pt x="173294" y="11384"/>
                  </a:cubicBezTo>
                  <a:cubicBezTo>
                    <a:pt x="161910" y="11384"/>
                    <a:pt x="148628" y="0"/>
                    <a:pt x="137244" y="0"/>
                  </a:cubicBezTo>
                  <a:cubicBezTo>
                    <a:pt x="135979" y="0"/>
                    <a:pt x="134714" y="0"/>
                    <a:pt x="134082" y="632"/>
                  </a:cubicBezTo>
                  <a:cubicBezTo>
                    <a:pt x="121432" y="3795"/>
                    <a:pt x="115108" y="22769"/>
                    <a:pt x="103723" y="28461"/>
                  </a:cubicBezTo>
                  <a:cubicBezTo>
                    <a:pt x="92339" y="34153"/>
                    <a:pt x="73365" y="27828"/>
                    <a:pt x="63878" y="36050"/>
                  </a:cubicBezTo>
                  <a:cubicBezTo>
                    <a:pt x="54392" y="44272"/>
                    <a:pt x="56921" y="63878"/>
                    <a:pt x="49332" y="73998"/>
                  </a:cubicBezTo>
                  <a:cubicBezTo>
                    <a:pt x="41742" y="84117"/>
                    <a:pt x="21504" y="86647"/>
                    <a:pt x="16444" y="98031"/>
                  </a:cubicBezTo>
                  <a:cubicBezTo>
                    <a:pt x="11384" y="109416"/>
                    <a:pt x="22136" y="126492"/>
                    <a:pt x="19606" y="138509"/>
                  </a:cubicBezTo>
                  <a:cubicBezTo>
                    <a:pt x="17076" y="150525"/>
                    <a:pt x="0" y="161277"/>
                    <a:pt x="0" y="174559"/>
                  </a:cubicBezTo>
                  <a:cubicBezTo>
                    <a:pt x="0" y="187208"/>
                    <a:pt x="17076" y="198592"/>
                    <a:pt x="19606" y="210609"/>
                  </a:cubicBezTo>
                  <a:cubicBezTo>
                    <a:pt x="22136" y="223258"/>
                    <a:pt x="11384" y="240335"/>
                    <a:pt x="16444" y="251087"/>
                  </a:cubicBezTo>
                  <a:cubicBezTo>
                    <a:pt x="21504" y="262471"/>
                    <a:pt x="41742" y="265001"/>
                    <a:pt x="49332" y="275120"/>
                  </a:cubicBezTo>
                  <a:cubicBezTo>
                    <a:pt x="56921" y="285239"/>
                    <a:pt x="54392" y="305478"/>
                    <a:pt x="63878" y="313068"/>
                  </a:cubicBezTo>
                  <a:cubicBezTo>
                    <a:pt x="73365" y="321290"/>
                    <a:pt x="92972" y="314965"/>
                    <a:pt x="103723" y="320657"/>
                  </a:cubicBezTo>
                  <a:cubicBezTo>
                    <a:pt x="115108" y="326349"/>
                    <a:pt x="121432" y="345323"/>
                    <a:pt x="134082" y="348485"/>
                  </a:cubicBezTo>
                  <a:cubicBezTo>
                    <a:pt x="135346" y="348485"/>
                    <a:pt x="136611" y="349118"/>
                    <a:pt x="137244" y="349118"/>
                  </a:cubicBezTo>
                  <a:cubicBezTo>
                    <a:pt x="148628" y="349118"/>
                    <a:pt x="161277" y="337734"/>
                    <a:pt x="173294" y="337734"/>
                  </a:cubicBezTo>
                  <a:cubicBezTo>
                    <a:pt x="184678" y="337734"/>
                    <a:pt x="197960" y="349118"/>
                    <a:pt x="209344" y="349118"/>
                  </a:cubicBezTo>
                  <a:cubicBezTo>
                    <a:pt x="210609" y="349118"/>
                    <a:pt x="211874" y="349118"/>
                    <a:pt x="212507" y="348485"/>
                  </a:cubicBezTo>
                  <a:cubicBezTo>
                    <a:pt x="225156" y="345323"/>
                    <a:pt x="231480" y="326349"/>
                    <a:pt x="242865" y="320657"/>
                  </a:cubicBezTo>
                  <a:cubicBezTo>
                    <a:pt x="254249" y="314965"/>
                    <a:pt x="273223" y="321290"/>
                    <a:pt x="282710" y="313068"/>
                  </a:cubicBezTo>
                  <a:cubicBezTo>
                    <a:pt x="292197" y="304846"/>
                    <a:pt x="289667" y="285239"/>
                    <a:pt x="297256" y="275120"/>
                  </a:cubicBezTo>
                  <a:cubicBezTo>
                    <a:pt x="304846" y="265001"/>
                    <a:pt x="325084" y="262471"/>
                    <a:pt x="330144" y="251087"/>
                  </a:cubicBezTo>
                  <a:cubicBezTo>
                    <a:pt x="335204" y="239702"/>
                    <a:pt x="324452" y="222626"/>
                    <a:pt x="326982" y="210609"/>
                  </a:cubicBezTo>
                  <a:cubicBezTo>
                    <a:pt x="329512" y="198592"/>
                    <a:pt x="346588" y="187841"/>
                    <a:pt x="346588" y="174559"/>
                  </a:cubicBezTo>
                  <a:cubicBezTo>
                    <a:pt x="346588" y="161910"/>
                    <a:pt x="329512" y="150525"/>
                    <a:pt x="326982" y="138509"/>
                  </a:cubicBezTo>
                  <a:cubicBezTo>
                    <a:pt x="324452" y="125860"/>
                    <a:pt x="335204" y="108783"/>
                    <a:pt x="330144" y="98031"/>
                  </a:cubicBezTo>
                  <a:cubicBezTo>
                    <a:pt x="325084" y="86647"/>
                    <a:pt x="304846" y="84117"/>
                    <a:pt x="297256" y="73998"/>
                  </a:cubicBezTo>
                  <a:cubicBezTo>
                    <a:pt x="289667" y="63878"/>
                    <a:pt x="292197" y="43640"/>
                    <a:pt x="282710" y="36050"/>
                  </a:cubicBezTo>
                  <a:cubicBezTo>
                    <a:pt x="273223" y="27828"/>
                    <a:pt x="253616" y="34153"/>
                    <a:pt x="242865" y="28461"/>
                  </a:cubicBezTo>
                  <a:cubicBezTo>
                    <a:pt x="231480" y="22769"/>
                    <a:pt x="225156" y="3795"/>
                    <a:pt x="212507" y="632"/>
                  </a:cubicBezTo>
                  <a:cubicBezTo>
                    <a:pt x="211874" y="632"/>
                    <a:pt x="210609" y="0"/>
                    <a:pt x="209344" y="0"/>
                  </a:cubicBezTo>
                  <a:lnTo>
                    <a:pt x="209344" y="0"/>
                  </a:lnTo>
                  <a:close/>
                </a:path>
              </a:pathLst>
            </a:cu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8" name="Picture Placeholder 103">
              <a:extLst>
                <a:ext uri="{FF2B5EF4-FFF2-40B4-BE49-F238E27FC236}">
                  <a16:creationId xmlns:a16="http://schemas.microsoft.com/office/drawing/2014/main" id="{A711BB0D-358D-4697-BD14-02603659EFA7}"/>
                </a:ext>
              </a:extLst>
            </p:cNvPr>
            <p:cNvSpPr/>
            <p:nvPr/>
          </p:nvSpPr>
          <p:spPr>
            <a:xfrm>
              <a:off x="3347656" y="4488496"/>
              <a:ext cx="221361" cy="220728"/>
            </a:xfrm>
            <a:custGeom>
              <a:avLst/>
              <a:gdLst>
                <a:gd name="connsiteX0" fmla="*/ 110048 w 221361"/>
                <a:gd name="connsiteY0" fmla="*/ 220729 h 220728"/>
                <a:gd name="connsiteX1" fmla="*/ 102459 w 221361"/>
                <a:gd name="connsiteY1" fmla="*/ 213139 h 220728"/>
                <a:gd name="connsiteX2" fmla="*/ 110048 w 221361"/>
                <a:gd name="connsiteY2" fmla="*/ 205550 h 220728"/>
                <a:gd name="connsiteX3" fmla="*/ 204917 w 221361"/>
                <a:gd name="connsiteY3" fmla="*/ 110681 h 220728"/>
                <a:gd name="connsiteX4" fmla="*/ 110048 w 221361"/>
                <a:gd name="connsiteY4" fmla="*/ 15812 h 220728"/>
                <a:gd name="connsiteX5" fmla="*/ 15179 w 221361"/>
                <a:gd name="connsiteY5" fmla="*/ 110681 h 220728"/>
                <a:gd name="connsiteX6" fmla="*/ 7590 w 221361"/>
                <a:gd name="connsiteY6" fmla="*/ 118270 h 220728"/>
                <a:gd name="connsiteX7" fmla="*/ 0 w 221361"/>
                <a:gd name="connsiteY7" fmla="*/ 110681 h 220728"/>
                <a:gd name="connsiteX8" fmla="*/ 110681 w 221361"/>
                <a:gd name="connsiteY8" fmla="*/ 0 h 220728"/>
                <a:gd name="connsiteX9" fmla="*/ 221361 w 221361"/>
                <a:gd name="connsiteY9" fmla="*/ 110681 h 220728"/>
                <a:gd name="connsiteX10" fmla="*/ 110048 w 221361"/>
                <a:gd name="connsiteY10" fmla="*/ 220729 h 22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361" h="220728">
                  <a:moveTo>
                    <a:pt x="110048" y="220729"/>
                  </a:moveTo>
                  <a:cubicBezTo>
                    <a:pt x="105621" y="220729"/>
                    <a:pt x="102459" y="216934"/>
                    <a:pt x="102459" y="213139"/>
                  </a:cubicBezTo>
                  <a:cubicBezTo>
                    <a:pt x="102459" y="209344"/>
                    <a:pt x="106253" y="205550"/>
                    <a:pt x="110048" y="205550"/>
                  </a:cubicBezTo>
                  <a:cubicBezTo>
                    <a:pt x="162542" y="205550"/>
                    <a:pt x="204917" y="163175"/>
                    <a:pt x="204917" y="110681"/>
                  </a:cubicBezTo>
                  <a:cubicBezTo>
                    <a:pt x="204917" y="58186"/>
                    <a:pt x="162542" y="15812"/>
                    <a:pt x="110048" y="15812"/>
                  </a:cubicBezTo>
                  <a:cubicBezTo>
                    <a:pt x="57554" y="15812"/>
                    <a:pt x="15179" y="58186"/>
                    <a:pt x="15179" y="110681"/>
                  </a:cubicBezTo>
                  <a:cubicBezTo>
                    <a:pt x="15179" y="115108"/>
                    <a:pt x="11384" y="118270"/>
                    <a:pt x="7590" y="118270"/>
                  </a:cubicBezTo>
                  <a:cubicBezTo>
                    <a:pt x="3795" y="118270"/>
                    <a:pt x="0" y="114475"/>
                    <a:pt x="0" y="110681"/>
                  </a:cubicBezTo>
                  <a:cubicBezTo>
                    <a:pt x="0" y="49964"/>
                    <a:pt x="49964" y="0"/>
                    <a:pt x="110681" y="0"/>
                  </a:cubicBezTo>
                  <a:cubicBezTo>
                    <a:pt x="171397" y="0"/>
                    <a:pt x="221361" y="49964"/>
                    <a:pt x="221361" y="110681"/>
                  </a:cubicBezTo>
                  <a:cubicBezTo>
                    <a:pt x="221361" y="171397"/>
                    <a:pt x="171397" y="220729"/>
                    <a:pt x="110048" y="220729"/>
                  </a:cubicBezTo>
                  <a:close/>
                </a:path>
              </a:pathLst>
            </a:cu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grpSp>
        <p:nvGrpSpPr>
          <p:cNvPr id="21" name="Group 20" descr="Migration Transfer&#10;">
            <a:extLst>
              <a:ext uri="{FF2B5EF4-FFF2-40B4-BE49-F238E27FC236}">
                <a16:creationId xmlns:a16="http://schemas.microsoft.com/office/drawing/2014/main" id="{E5CBC5E4-8DC5-40CD-814C-398E51445A1A}"/>
              </a:ext>
            </a:extLst>
          </p:cNvPr>
          <p:cNvGrpSpPr>
            <a:grpSpLocks noChangeAspect="1"/>
          </p:cNvGrpSpPr>
          <p:nvPr/>
        </p:nvGrpSpPr>
        <p:grpSpPr>
          <a:xfrm>
            <a:off x="8717289" y="2694809"/>
            <a:ext cx="1188720" cy="541943"/>
            <a:chOff x="4485843" y="4609979"/>
            <a:chExt cx="600962" cy="273981"/>
          </a:xfrm>
          <a:solidFill>
            <a:schemeClr val="bg1"/>
          </a:solidFill>
        </p:grpSpPr>
        <p:sp>
          <p:nvSpPr>
            <p:cNvPr id="22" name="Picture Placeholder 78">
              <a:extLst>
                <a:ext uri="{FF2B5EF4-FFF2-40B4-BE49-F238E27FC236}">
                  <a16:creationId xmlns:a16="http://schemas.microsoft.com/office/drawing/2014/main" id="{5A48CC7F-01A0-4EF7-AA0F-85884624D47A}"/>
                </a:ext>
              </a:extLst>
            </p:cNvPr>
            <p:cNvSpPr/>
            <p:nvPr/>
          </p:nvSpPr>
          <p:spPr>
            <a:xfrm>
              <a:off x="4713971" y="4838107"/>
              <a:ext cx="45853" cy="45853"/>
            </a:xfrm>
            <a:custGeom>
              <a:avLst/>
              <a:gdLst>
                <a:gd name="connsiteX0" fmla="*/ 45853 w 45853"/>
                <a:gd name="connsiteY0" fmla="*/ 45853 h 45853"/>
                <a:gd name="connsiteX1" fmla="*/ 0 w 45853"/>
                <a:gd name="connsiteY1" fmla="*/ 45853 h 45853"/>
                <a:gd name="connsiteX2" fmla="*/ 0 w 45853"/>
                <a:gd name="connsiteY2" fmla="*/ 30042 h 45853"/>
                <a:gd name="connsiteX3" fmla="*/ 30042 w 45853"/>
                <a:gd name="connsiteY3" fmla="*/ 30042 h 45853"/>
                <a:gd name="connsiteX4" fmla="*/ 30042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30042"/>
                  </a:lnTo>
                  <a:lnTo>
                    <a:pt x="30042" y="30042"/>
                  </a:lnTo>
                  <a:lnTo>
                    <a:pt x="30042" y="0"/>
                  </a:lnTo>
                  <a:lnTo>
                    <a:pt x="45853" y="0"/>
                  </a:lnTo>
                  <a:lnTo>
                    <a:pt x="45853" y="4585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Picture Placeholder 78">
              <a:extLst>
                <a:ext uri="{FF2B5EF4-FFF2-40B4-BE49-F238E27FC236}">
                  <a16:creationId xmlns:a16="http://schemas.microsoft.com/office/drawing/2014/main" id="{CA686855-B7BE-4210-A63E-30CDD3BA4CCF}"/>
                </a:ext>
              </a:extLst>
            </p:cNvPr>
            <p:cNvSpPr/>
            <p:nvPr/>
          </p:nvSpPr>
          <p:spPr>
            <a:xfrm>
              <a:off x="4551935" y="4868149"/>
              <a:ext cx="141797" cy="15811"/>
            </a:xfrm>
            <a:custGeom>
              <a:avLst/>
              <a:gdLst>
                <a:gd name="connsiteX0" fmla="*/ 141798 w 141797"/>
                <a:gd name="connsiteY0" fmla="*/ 15812 h 15811"/>
                <a:gd name="connsiteX1" fmla="*/ 81018 w 141797"/>
                <a:gd name="connsiteY1" fmla="*/ 15812 h 15811"/>
                <a:gd name="connsiteX2" fmla="*/ 81018 w 141797"/>
                <a:gd name="connsiteY2" fmla="*/ 0 h 15811"/>
                <a:gd name="connsiteX3" fmla="*/ 141798 w 141797"/>
                <a:gd name="connsiteY3" fmla="*/ 0 h 15811"/>
                <a:gd name="connsiteX4" fmla="*/ 60779 w 141797"/>
                <a:gd name="connsiteY4" fmla="*/ 15812 h 15811"/>
                <a:gd name="connsiteX5" fmla="*/ 0 w 141797"/>
                <a:gd name="connsiteY5" fmla="*/ 15812 h 15811"/>
                <a:gd name="connsiteX6" fmla="*/ 0 w 141797"/>
                <a:gd name="connsiteY6" fmla="*/ 0 h 15811"/>
                <a:gd name="connsiteX7" fmla="*/ 60779 w 141797"/>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797" h="15811">
                  <a:moveTo>
                    <a:pt x="141798" y="15812"/>
                  </a:moveTo>
                  <a:lnTo>
                    <a:pt x="81018" y="15812"/>
                  </a:lnTo>
                  <a:lnTo>
                    <a:pt x="81018" y="0"/>
                  </a:lnTo>
                  <a:lnTo>
                    <a:pt x="141798" y="0"/>
                  </a:lnTo>
                  <a:close/>
                  <a:moveTo>
                    <a:pt x="60779" y="15812"/>
                  </a:moveTo>
                  <a:lnTo>
                    <a:pt x="0" y="15812"/>
                  </a:lnTo>
                  <a:lnTo>
                    <a:pt x="0" y="0"/>
                  </a:lnTo>
                  <a:lnTo>
                    <a:pt x="60779"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Picture Placeholder 78">
              <a:extLst>
                <a:ext uri="{FF2B5EF4-FFF2-40B4-BE49-F238E27FC236}">
                  <a16:creationId xmlns:a16="http://schemas.microsoft.com/office/drawing/2014/main" id="{71B40070-CB43-488E-89AB-4B69E25F66A3}"/>
                </a:ext>
              </a:extLst>
            </p:cNvPr>
            <p:cNvSpPr/>
            <p:nvPr/>
          </p:nvSpPr>
          <p:spPr>
            <a:xfrm>
              <a:off x="4485843" y="4838107"/>
              <a:ext cx="45853" cy="45853"/>
            </a:xfrm>
            <a:custGeom>
              <a:avLst/>
              <a:gdLst>
                <a:gd name="connsiteX0" fmla="*/ 45853 w 45853"/>
                <a:gd name="connsiteY0" fmla="*/ 45853 h 45853"/>
                <a:gd name="connsiteX1" fmla="*/ 0 w 45853"/>
                <a:gd name="connsiteY1" fmla="*/ 45853 h 45853"/>
                <a:gd name="connsiteX2" fmla="*/ 0 w 45853"/>
                <a:gd name="connsiteY2" fmla="*/ 0 h 45853"/>
                <a:gd name="connsiteX3" fmla="*/ 15812 w 45853"/>
                <a:gd name="connsiteY3" fmla="*/ 0 h 45853"/>
                <a:gd name="connsiteX4" fmla="*/ 15812 w 45853"/>
                <a:gd name="connsiteY4" fmla="*/ 30042 h 45853"/>
                <a:gd name="connsiteX5" fmla="*/ 45853 w 45853"/>
                <a:gd name="connsiteY5" fmla="*/ 30042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0"/>
                  </a:lnTo>
                  <a:lnTo>
                    <a:pt x="15812" y="0"/>
                  </a:lnTo>
                  <a:lnTo>
                    <a:pt x="15812" y="30042"/>
                  </a:lnTo>
                  <a:lnTo>
                    <a:pt x="45853" y="30042"/>
                  </a:lnTo>
                  <a:lnTo>
                    <a:pt x="45853" y="4585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Picture Placeholder 78">
              <a:extLst>
                <a:ext uri="{FF2B5EF4-FFF2-40B4-BE49-F238E27FC236}">
                  <a16:creationId xmlns:a16="http://schemas.microsoft.com/office/drawing/2014/main" id="{7971990F-F9E7-42F3-AFDD-AD3D6274D250}"/>
                </a:ext>
              </a:extLst>
            </p:cNvPr>
            <p:cNvSpPr/>
            <p:nvPr/>
          </p:nvSpPr>
          <p:spPr>
            <a:xfrm>
              <a:off x="4485843" y="4676071"/>
              <a:ext cx="15811" cy="141797"/>
            </a:xfrm>
            <a:custGeom>
              <a:avLst/>
              <a:gdLst>
                <a:gd name="connsiteX0" fmla="*/ 15812 w 15811"/>
                <a:gd name="connsiteY0" fmla="*/ 141798 h 141797"/>
                <a:gd name="connsiteX1" fmla="*/ 0 w 15811"/>
                <a:gd name="connsiteY1" fmla="*/ 141798 h 141797"/>
                <a:gd name="connsiteX2" fmla="*/ 0 w 15811"/>
                <a:gd name="connsiteY2" fmla="*/ 81018 h 141797"/>
                <a:gd name="connsiteX3" fmla="*/ 15812 w 15811"/>
                <a:gd name="connsiteY3" fmla="*/ 81018 h 141797"/>
                <a:gd name="connsiteX4" fmla="*/ 15812 w 15811"/>
                <a:gd name="connsiteY4" fmla="*/ 60779 h 141797"/>
                <a:gd name="connsiteX5" fmla="*/ 0 w 15811"/>
                <a:gd name="connsiteY5" fmla="*/ 60779 h 141797"/>
                <a:gd name="connsiteX6" fmla="*/ 0 w 15811"/>
                <a:gd name="connsiteY6" fmla="*/ 0 h 141797"/>
                <a:gd name="connsiteX7" fmla="*/ 15812 w 15811"/>
                <a:gd name="connsiteY7" fmla="*/ 0 h 14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41797">
                  <a:moveTo>
                    <a:pt x="15812" y="141798"/>
                  </a:moveTo>
                  <a:lnTo>
                    <a:pt x="0" y="141798"/>
                  </a:lnTo>
                  <a:lnTo>
                    <a:pt x="0" y="81018"/>
                  </a:lnTo>
                  <a:lnTo>
                    <a:pt x="15812" y="81018"/>
                  </a:lnTo>
                  <a:close/>
                  <a:moveTo>
                    <a:pt x="15812" y="60779"/>
                  </a:moveTo>
                  <a:lnTo>
                    <a:pt x="0" y="60779"/>
                  </a:lnTo>
                  <a:lnTo>
                    <a:pt x="0" y="0"/>
                  </a:lnTo>
                  <a:lnTo>
                    <a:pt x="15812"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 name="Picture Placeholder 78">
              <a:extLst>
                <a:ext uri="{FF2B5EF4-FFF2-40B4-BE49-F238E27FC236}">
                  <a16:creationId xmlns:a16="http://schemas.microsoft.com/office/drawing/2014/main" id="{1A02C8F4-21E3-4886-93D4-E36711D921BD}"/>
                </a:ext>
              </a:extLst>
            </p:cNvPr>
            <p:cNvSpPr/>
            <p:nvPr/>
          </p:nvSpPr>
          <p:spPr>
            <a:xfrm>
              <a:off x="4485843" y="4609979"/>
              <a:ext cx="45853" cy="45853"/>
            </a:xfrm>
            <a:custGeom>
              <a:avLst/>
              <a:gdLst>
                <a:gd name="connsiteX0" fmla="*/ 15812 w 45853"/>
                <a:gd name="connsiteY0" fmla="*/ 45853 h 45853"/>
                <a:gd name="connsiteX1" fmla="*/ 0 w 45853"/>
                <a:gd name="connsiteY1" fmla="*/ 45853 h 45853"/>
                <a:gd name="connsiteX2" fmla="*/ 0 w 45853"/>
                <a:gd name="connsiteY2" fmla="*/ 0 h 45853"/>
                <a:gd name="connsiteX3" fmla="*/ 45853 w 45853"/>
                <a:gd name="connsiteY3" fmla="*/ 0 h 45853"/>
                <a:gd name="connsiteX4" fmla="*/ 45853 w 45853"/>
                <a:gd name="connsiteY4" fmla="*/ 15812 h 45853"/>
                <a:gd name="connsiteX5" fmla="*/ 15812 w 45853"/>
                <a:gd name="connsiteY5" fmla="*/ 15812 h 45853"/>
                <a:gd name="connsiteX6" fmla="*/ 15812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15812" y="45853"/>
                  </a:moveTo>
                  <a:lnTo>
                    <a:pt x="0" y="45853"/>
                  </a:lnTo>
                  <a:lnTo>
                    <a:pt x="0" y="0"/>
                  </a:lnTo>
                  <a:lnTo>
                    <a:pt x="45853" y="0"/>
                  </a:lnTo>
                  <a:lnTo>
                    <a:pt x="45853" y="15812"/>
                  </a:lnTo>
                  <a:lnTo>
                    <a:pt x="15812" y="15812"/>
                  </a:lnTo>
                  <a:lnTo>
                    <a:pt x="15812" y="4585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7" name="Picture Placeholder 78">
              <a:extLst>
                <a:ext uri="{FF2B5EF4-FFF2-40B4-BE49-F238E27FC236}">
                  <a16:creationId xmlns:a16="http://schemas.microsoft.com/office/drawing/2014/main" id="{9348349E-B6F9-4ED9-8181-89AA00F1F10A}"/>
                </a:ext>
              </a:extLst>
            </p:cNvPr>
            <p:cNvSpPr/>
            <p:nvPr/>
          </p:nvSpPr>
          <p:spPr>
            <a:xfrm>
              <a:off x="4551935" y="4609979"/>
              <a:ext cx="141797" cy="15811"/>
            </a:xfrm>
            <a:custGeom>
              <a:avLst/>
              <a:gdLst>
                <a:gd name="connsiteX0" fmla="*/ 141798 w 141797"/>
                <a:gd name="connsiteY0" fmla="*/ 15812 h 15811"/>
                <a:gd name="connsiteX1" fmla="*/ 81018 w 141797"/>
                <a:gd name="connsiteY1" fmla="*/ 15812 h 15811"/>
                <a:gd name="connsiteX2" fmla="*/ 81018 w 141797"/>
                <a:gd name="connsiteY2" fmla="*/ 0 h 15811"/>
                <a:gd name="connsiteX3" fmla="*/ 141798 w 141797"/>
                <a:gd name="connsiteY3" fmla="*/ 0 h 15811"/>
                <a:gd name="connsiteX4" fmla="*/ 60779 w 141797"/>
                <a:gd name="connsiteY4" fmla="*/ 15812 h 15811"/>
                <a:gd name="connsiteX5" fmla="*/ 0 w 141797"/>
                <a:gd name="connsiteY5" fmla="*/ 15812 h 15811"/>
                <a:gd name="connsiteX6" fmla="*/ 0 w 141797"/>
                <a:gd name="connsiteY6" fmla="*/ 0 h 15811"/>
                <a:gd name="connsiteX7" fmla="*/ 60779 w 141797"/>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797" h="15811">
                  <a:moveTo>
                    <a:pt x="141798" y="15812"/>
                  </a:moveTo>
                  <a:lnTo>
                    <a:pt x="81018" y="15812"/>
                  </a:lnTo>
                  <a:lnTo>
                    <a:pt x="81018" y="0"/>
                  </a:lnTo>
                  <a:lnTo>
                    <a:pt x="141798" y="0"/>
                  </a:lnTo>
                  <a:close/>
                  <a:moveTo>
                    <a:pt x="60779" y="15812"/>
                  </a:moveTo>
                  <a:lnTo>
                    <a:pt x="0" y="15812"/>
                  </a:lnTo>
                  <a:lnTo>
                    <a:pt x="0" y="0"/>
                  </a:lnTo>
                  <a:lnTo>
                    <a:pt x="60779"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8" name="Picture Placeholder 78">
              <a:extLst>
                <a:ext uri="{FF2B5EF4-FFF2-40B4-BE49-F238E27FC236}">
                  <a16:creationId xmlns:a16="http://schemas.microsoft.com/office/drawing/2014/main" id="{26FC0813-E8AC-4882-858C-80D041AB1DC2}"/>
                </a:ext>
              </a:extLst>
            </p:cNvPr>
            <p:cNvSpPr/>
            <p:nvPr/>
          </p:nvSpPr>
          <p:spPr>
            <a:xfrm>
              <a:off x="4713971" y="4609979"/>
              <a:ext cx="45853" cy="45853"/>
            </a:xfrm>
            <a:custGeom>
              <a:avLst/>
              <a:gdLst>
                <a:gd name="connsiteX0" fmla="*/ 45853 w 45853"/>
                <a:gd name="connsiteY0" fmla="*/ 45853 h 45853"/>
                <a:gd name="connsiteX1" fmla="*/ 30042 w 45853"/>
                <a:gd name="connsiteY1" fmla="*/ 45853 h 45853"/>
                <a:gd name="connsiteX2" fmla="*/ 30042 w 45853"/>
                <a:gd name="connsiteY2" fmla="*/ 15812 h 45853"/>
                <a:gd name="connsiteX3" fmla="*/ 0 w 45853"/>
                <a:gd name="connsiteY3" fmla="*/ 15812 h 45853"/>
                <a:gd name="connsiteX4" fmla="*/ 0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30042" y="45853"/>
                  </a:lnTo>
                  <a:lnTo>
                    <a:pt x="30042" y="15812"/>
                  </a:lnTo>
                  <a:lnTo>
                    <a:pt x="0" y="15812"/>
                  </a:lnTo>
                  <a:lnTo>
                    <a:pt x="0" y="0"/>
                  </a:lnTo>
                  <a:lnTo>
                    <a:pt x="45853" y="0"/>
                  </a:lnTo>
                  <a:lnTo>
                    <a:pt x="45853" y="4585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 name="Picture Placeholder 78">
              <a:extLst>
                <a:ext uri="{FF2B5EF4-FFF2-40B4-BE49-F238E27FC236}">
                  <a16:creationId xmlns:a16="http://schemas.microsoft.com/office/drawing/2014/main" id="{42E35800-DEF0-4DB0-A099-B5B4FEDE02EF}"/>
                </a:ext>
              </a:extLst>
            </p:cNvPr>
            <p:cNvSpPr/>
            <p:nvPr/>
          </p:nvSpPr>
          <p:spPr>
            <a:xfrm>
              <a:off x="4744013" y="4676071"/>
              <a:ext cx="15811" cy="141797"/>
            </a:xfrm>
            <a:custGeom>
              <a:avLst/>
              <a:gdLst>
                <a:gd name="connsiteX0" fmla="*/ 15812 w 15811"/>
                <a:gd name="connsiteY0" fmla="*/ 141798 h 141797"/>
                <a:gd name="connsiteX1" fmla="*/ 0 w 15811"/>
                <a:gd name="connsiteY1" fmla="*/ 141798 h 141797"/>
                <a:gd name="connsiteX2" fmla="*/ 0 w 15811"/>
                <a:gd name="connsiteY2" fmla="*/ 94300 h 141797"/>
                <a:gd name="connsiteX3" fmla="*/ 15812 w 15811"/>
                <a:gd name="connsiteY3" fmla="*/ 94300 h 141797"/>
                <a:gd name="connsiteX4" fmla="*/ 15812 w 15811"/>
                <a:gd name="connsiteY4" fmla="*/ 46929 h 141797"/>
                <a:gd name="connsiteX5" fmla="*/ 0 w 15811"/>
                <a:gd name="connsiteY5" fmla="*/ 46929 h 141797"/>
                <a:gd name="connsiteX6" fmla="*/ 0 w 15811"/>
                <a:gd name="connsiteY6" fmla="*/ 0 h 141797"/>
                <a:gd name="connsiteX7" fmla="*/ 15812 w 15811"/>
                <a:gd name="connsiteY7" fmla="*/ 0 h 14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41797">
                  <a:moveTo>
                    <a:pt x="15812" y="141798"/>
                  </a:moveTo>
                  <a:lnTo>
                    <a:pt x="0" y="141798"/>
                  </a:lnTo>
                  <a:lnTo>
                    <a:pt x="0" y="94300"/>
                  </a:lnTo>
                  <a:lnTo>
                    <a:pt x="15812" y="94300"/>
                  </a:lnTo>
                  <a:close/>
                  <a:moveTo>
                    <a:pt x="15812" y="46929"/>
                  </a:moveTo>
                  <a:lnTo>
                    <a:pt x="0" y="46929"/>
                  </a:lnTo>
                  <a:lnTo>
                    <a:pt x="0" y="0"/>
                  </a:lnTo>
                  <a:lnTo>
                    <a:pt x="15812"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 name="Picture Placeholder 78">
              <a:extLst>
                <a:ext uri="{FF2B5EF4-FFF2-40B4-BE49-F238E27FC236}">
                  <a16:creationId xmlns:a16="http://schemas.microsoft.com/office/drawing/2014/main" id="{E4102F17-0513-45A2-B5AC-433599159CEF}"/>
                </a:ext>
              </a:extLst>
            </p:cNvPr>
            <p:cNvSpPr/>
            <p:nvPr/>
          </p:nvSpPr>
          <p:spPr>
            <a:xfrm>
              <a:off x="4813014" y="4610042"/>
              <a:ext cx="273791" cy="273791"/>
            </a:xfrm>
            <a:custGeom>
              <a:avLst/>
              <a:gdLst>
                <a:gd name="connsiteX0" fmla="*/ 0 w 273791"/>
                <a:gd name="connsiteY0" fmla="*/ 0 h 273791"/>
                <a:gd name="connsiteX1" fmla="*/ 0 w 273791"/>
                <a:gd name="connsiteY1" fmla="*/ 113653 h 273791"/>
                <a:gd name="connsiteX2" fmla="*/ 15812 w 273791"/>
                <a:gd name="connsiteY2" fmla="*/ 113653 h 273791"/>
                <a:gd name="connsiteX3" fmla="*/ 15812 w 273791"/>
                <a:gd name="connsiteY3" fmla="*/ 15812 h 273791"/>
                <a:gd name="connsiteX4" fmla="*/ 257980 w 273791"/>
                <a:gd name="connsiteY4" fmla="*/ 15812 h 273791"/>
                <a:gd name="connsiteX5" fmla="*/ 257980 w 273791"/>
                <a:gd name="connsiteY5" fmla="*/ 257980 h 273791"/>
                <a:gd name="connsiteX6" fmla="*/ 15812 w 273791"/>
                <a:gd name="connsiteY6" fmla="*/ 257980 h 273791"/>
                <a:gd name="connsiteX7" fmla="*/ 15812 w 273791"/>
                <a:gd name="connsiteY7" fmla="*/ 160645 h 273791"/>
                <a:gd name="connsiteX8" fmla="*/ 0 w 273791"/>
                <a:gd name="connsiteY8" fmla="*/ 160645 h 273791"/>
                <a:gd name="connsiteX9" fmla="*/ 0 w 273791"/>
                <a:gd name="connsiteY9" fmla="*/ 273792 h 273791"/>
                <a:gd name="connsiteX10" fmla="*/ 273792 w 273791"/>
                <a:gd name="connsiteY10" fmla="*/ 273792 h 273791"/>
                <a:gd name="connsiteX11" fmla="*/ 273792 w 273791"/>
                <a:gd name="connsiteY11" fmla="*/ 0 h 273791"/>
                <a:gd name="connsiteX12" fmla="*/ 0 w 273791"/>
                <a:gd name="connsiteY12" fmla="*/ 0 h 27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3791" h="273791">
                  <a:moveTo>
                    <a:pt x="0" y="0"/>
                  </a:moveTo>
                  <a:lnTo>
                    <a:pt x="0" y="113653"/>
                  </a:lnTo>
                  <a:lnTo>
                    <a:pt x="15812" y="113653"/>
                  </a:lnTo>
                  <a:lnTo>
                    <a:pt x="15812" y="15812"/>
                  </a:lnTo>
                  <a:lnTo>
                    <a:pt x="257980" y="15812"/>
                  </a:lnTo>
                  <a:lnTo>
                    <a:pt x="257980" y="257980"/>
                  </a:lnTo>
                  <a:lnTo>
                    <a:pt x="15812" y="257980"/>
                  </a:lnTo>
                  <a:lnTo>
                    <a:pt x="15812" y="160645"/>
                  </a:lnTo>
                  <a:lnTo>
                    <a:pt x="0" y="160645"/>
                  </a:lnTo>
                  <a:lnTo>
                    <a:pt x="0" y="273792"/>
                  </a:lnTo>
                  <a:lnTo>
                    <a:pt x="273792" y="273792"/>
                  </a:lnTo>
                  <a:lnTo>
                    <a:pt x="273792" y="0"/>
                  </a:lnTo>
                  <a:lnTo>
                    <a:pt x="0"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Picture Placeholder 78">
              <a:extLst>
                <a:ext uri="{FF2B5EF4-FFF2-40B4-BE49-F238E27FC236}">
                  <a16:creationId xmlns:a16="http://schemas.microsoft.com/office/drawing/2014/main" id="{D958D149-C745-4DFA-88E4-05CC2700C6A6}"/>
                </a:ext>
              </a:extLst>
            </p:cNvPr>
            <p:cNvSpPr/>
            <p:nvPr/>
          </p:nvSpPr>
          <p:spPr>
            <a:xfrm>
              <a:off x="4573122" y="4695741"/>
              <a:ext cx="426594" cy="102458"/>
            </a:xfrm>
            <a:custGeom>
              <a:avLst/>
              <a:gdLst>
                <a:gd name="connsiteX0" fmla="*/ 426594 w 426594"/>
                <a:gd name="connsiteY0" fmla="*/ 51229 h 102458"/>
                <a:gd name="connsiteX1" fmla="*/ 375428 w 426594"/>
                <a:gd name="connsiteY1" fmla="*/ 21630 h 102458"/>
                <a:gd name="connsiteX2" fmla="*/ 375428 w 426594"/>
                <a:gd name="connsiteY2" fmla="*/ 43324 h 102458"/>
                <a:gd name="connsiteX3" fmla="*/ 102459 w 426594"/>
                <a:gd name="connsiteY3" fmla="*/ 43324 h 102458"/>
                <a:gd name="connsiteX4" fmla="*/ 102459 w 426594"/>
                <a:gd name="connsiteY4" fmla="*/ 0 h 102458"/>
                <a:gd name="connsiteX5" fmla="*/ 0 w 426594"/>
                <a:gd name="connsiteY5" fmla="*/ 0 h 102458"/>
                <a:gd name="connsiteX6" fmla="*/ 0 w 426594"/>
                <a:gd name="connsiteY6" fmla="*/ 102459 h 102458"/>
                <a:gd name="connsiteX7" fmla="*/ 102459 w 426594"/>
                <a:gd name="connsiteY7" fmla="*/ 102459 h 102458"/>
                <a:gd name="connsiteX8" fmla="*/ 102459 w 426594"/>
                <a:gd name="connsiteY8" fmla="*/ 59135 h 102458"/>
                <a:gd name="connsiteX9" fmla="*/ 375428 w 426594"/>
                <a:gd name="connsiteY9" fmla="*/ 59135 h 102458"/>
                <a:gd name="connsiteX10" fmla="*/ 375428 w 426594"/>
                <a:gd name="connsiteY10" fmla="*/ 80765 h 102458"/>
                <a:gd name="connsiteX11" fmla="*/ 86710 w 426594"/>
                <a:gd name="connsiteY11" fmla="*/ 86647 h 102458"/>
                <a:gd name="connsiteX12" fmla="*/ 15812 w 426594"/>
                <a:gd name="connsiteY12" fmla="*/ 86647 h 102458"/>
                <a:gd name="connsiteX13" fmla="*/ 15812 w 426594"/>
                <a:gd name="connsiteY13" fmla="*/ 15812 h 102458"/>
                <a:gd name="connsiteX14" fmla="*/ 86710 w 426594"/>
                <a:gd name="connsiteY14" fmla="*/ 15812 h 102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6594" h="102458">
                  <a:moveTo>
                    <a:pt x="426594" y="51229"/>
                  </a:moveTo>
                  <a:lnTo>
                    <a:pt x="375428" y="21630"/>
                  </a:lnTo>
                  <a:lnTo>
                    <a:pt x="375428" y="43324"/>
                  </a:lnTo>
                  <a:lnTo>
                    <a:pt x="102459" y="43324"/>
                  </a:lnTo>
                  <a:lnTo>
                    <a:pt x="102459" y="0"/>
                  </a:lnTo>
                  <a:lnTo>
                    <a:pt x="0" y="0"/>
                  </a:lnTo>
                  <a:lnTo>
                    <a:pt x="0" y="102459"/>
                  </a:lnTo>
                  <a:lnTo>
                    <a:pt x="102459" y="102459"/>
                  </a:lnTo>
                  <a:lnTo>
                    <a:pt x="102459" y="59135"/>
                  </a:lnTo>
                  <a:lnTo>
                    <a:pt x="375428" y="59135"/>
                  </a:lnTo>
                  <a:lnTo>
                    <a:pt x="375428" y="80765"/>
                  </a:lnTo>
                  <a:close/>
                  <a:moveTo>
                    <a:pt x="86710" y="86647"/>
                  </a:moveTo>
                  <a:lnTo>
                    <a:pt x="15812" y="86647"/>
                  </a:lnTo>
                  <a:lnTo>
                    <a:pt x="15812" y="15812"/>
                  </a:lnTo>
                  <a:lnTo>
                    <a:pt x="86710" y="1581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Tree>
    <p:extLst>
      <p:ext uri="{BB962C8B-B14F-4D97-AF65-F5344CB8AC3E}">
        <p14:creationId xmlns:p14="http://schemas.microsoft.com/office/powerpoint/2010/main" val="2833133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71029-819C-1553-E821-147436AAF6FB}"/>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DF2CD28E-4ED6-1565-55A1-F83CB23649BA}"/>
              </a:ext>
            </a:extLst>
          </p:cNvPr>
          <p:cNvGraphicFramePr/>
          <p:nvPr/>
        </p:nvGraphicFramePr>
        <p:xfrm>
          <a:off x="2972983" y="678671"/>
          <a:ext cx="9080569" cy="5896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9DCBB222-F3C4-4E1C-9B2F-60CA6944214F}"/>
              </a:ext>
            </a:extLst>
          </p:cNvPr>
          <p:cNvSpPr txBox="1"/>
          <p:nvPr/>
        </p:nvSpPr>
        <p:spPr>
          <a:xfrm>
            <a:off x="6707758" y="327864"/>
            <a:ext cx="1611018"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rPr>
              <a:t>Confidentiality</a:t>
            </a:r>
            <a:endParaRPr kumimoji="0" lang="en-US" sz="23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endParaRPr>
          </a:p>
        </p:txBody>
      </p:sp>
      <p:sp>
        <p:nvSpPr>
          <p:cNvPr id="4" name="TextBox 3">
            <a:extLst>
              <a:ext uri="{FF2B5EF4-FFF2-40B4-BE49-F238E27FC236}">
                <a16:creationId xmlns:a16="http://schemas.microsoft.com/office/drawing/2014/main" id="{3F65FE35-D9DB-B6BE-14EB-B077407DC31E}"/>
              </a:ext>
            </a:extLst>
          </p:cNvPr>
          <p:cNvSpPr txBox="1"/>
          <p:nvPr/>
        </p:nvSpPr>
        <p:spPr>
          <a:xfrm>
            <a:off x="3415398" y="5494909"/>
            <a:ext cx="910506"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rPr>
              <a:t>Integrity</a:t>
            </a:r>
            <a:endParaRPr kumimoji="0" lang="en-US" sz="23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endParaRPr>
          </a:p>
        </p:txBody>
      </p:sp>
      <p:sp>
        <p:nvSpPr>
          <p:cNvPr id="5" name="TextBox 4">
            <a:extLst>
              <a:ext uri="{FF2B5EF4-FFF2-40B4-BE49-F238E27FC236}">
                <a16:creationId xmlns:a16="http://schemas.microsoft.com/office/drawing/2014/main" id="{6B46DCC8-72B4-D9C5-7FA3-8F8E3A318420}"/>
              </a:ext>
            </a:extLst>
          </p:cNvPr>
          <p:cNvSpPr txBox="1"/>
          <p:nvPr/>
        </p:nvSpPr>
        <p:spPr>
          <a:xfrm>
            <a:off x="10564672" y="5494909"/>
            <a:ext cx="1210460"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rPr>
              <a:t>Availability</a:t>
            </a:r>
          </a:p>
        </p:txBody>
      </p:sp>
      <p:sp>
        <p:nvSpPr>
          <p:cNvPr id="6" name="TextBox 5">
            <a:extLst>
              <a:ext uri="{FF2B5EF4-FFF2-40B4-BE49-F238E27FC236}">
                <a16:creationId xmlns:a16="http://schemas.microsoft.com/office/drawing/2014/main" id="{73804E93-939D-CFA7-6508-435C30DC7910}"/>
              </a:ext>
            </a:extLst>
          </p:cNvPr>
          <p:cNvSpPr txBox="1"/>
          <p:nvPr/>
        </p:nvSpPr>
        <p:spPr>
          <a:xfrm>
            <a:off x="9655736" y="5417984"/>
            <a:ext cx="497768" cy="153848"/>
          </a:xfrm>
          <a:prstGeom prst="rect">
            <a:avLst/>
          </a:prstGeom>
        </p:spPr>
        <p:txBody>
          <a:bodyPr wrap="squar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HCX</a:t>
            </a:r>
          </a:p>
        </p:txBody>
      </p:sp>
      <p:sp>
        <p:nvSpPr>
          <p:cNvPr id="7" name="TextBox 6">
            <a:extLst>
              <a:ext uri="{FF2B5EF4-FFF2-40B4-BE49-F238E27FC236}">
                <a16:creationId xmlns:a16="http://schemas.microsoft.com/office/drawing/2014/main" id="{A9F7B741-3C1C-6B8D-7BCA-74F8AEB49345}"/>
              </a:ext>
            </a:extLst>
          </p:cNvPr>
          <p:cNvSpPr txBox="1"/>
          <p:nvPr/>
        </p:nvSpPr>
        <p:spPr>
          <a:xfrm>
            <a:off x="5265591" y="5376976"/>
            <a:ext cx="452047"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Audit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Logging</a:t>
            </a:r>
          </a:p>
        </p:txBody>
      </p:sp>
      <p:sp>
        <p:nvSpPr>
          <p:cNvPr id="9" name="TextBox 8">
            <a:extLst>
              <a:ext uri="{FF2B5EF4-FFF2-40B4-BE49-F238E27FC236}">
                <a16:creationId xmlns:a16="http://schemas.microsoft.com/office/drawing/2014/main" id="{F7940B52-8FA4-99B2-DF51-1F002EF9C3FB}"/>
              </a:ext>
            </a:extLst>
          </p:cNvPr>
          <p:cNvSpPr txBox="1"/>
          <p:nvPr/>
        </p:nvSpPr>
        <p:spPr>
          <a:xfrm>
            <a:off x="7307281" y="4849703"/>
            <a:ext cx="411972"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Skyline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Health</a:t>
            </a:r>
          </a:p>
        </p:txBody>
      </p:sp>
      <p:sp>
        <p:nvSpPr>
          <p:cNvPr id="10" name="TextBox 9">
            <a:extLst>
              <a:ext uri="{FF2B5EF4-FFF2-40B4-BE49-F238E27FC236}">
                <a16:creationId xmlns:a16="http://schemas.microsoft.com/office/drawing/2014/main" id="{2A306C4E-F36B-061B-B8A0-02EB96902DBD}"/>
              </a:ext>
            </a:extLst>
          </p:cNvPr>
          <p:cNvSpPr txBox="1"/>
          <p:nvPr/>
        </p:nvSpPr>
        <p:spPr>
          <a:xfrm>
            <a:off x="6395363" y="3619791"/>
            <a:ext cx="78226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TPM &amp; vTPM</a:t>
            </a:r>
          </a:p>
        </p:txBody>
      </p:sp>
      <p:sp>
        <p:nvSpPr>
          <p:cNvPr id="11" name="TextBox 10">
            <a:extLst>
              <a:ext uri="{FF2B5EF4-FFF2-40B4-BE49-F238E27FC236}">
                <a16:creationId xmlns:a16="http://schemas.microsoft.com/office/drawing/2014/main" id="{8A5106E6-A542-80A9-6CA6-E937830C891B}"/>
              </a:ext>
            </a:extLst>
          </p:cNvPr>
          <p:cNvSpPr txBox="1"/>
          <p:nvPr/>
        </p:nvSpPr>
        <p:spPr>
          <a:xfrm>
            <a:off x="6762950" y="1240882"/>
            <a:ext cx="11349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Virtualization-Based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Security</a:t>
            </a:r>
          </a:p>
        </p:txBody>
      </p:sp>
      <p:sp>
        <p:nvSpPr>
          <p:cNvPr id="13" name="TextBox 12">
            <a:extLst>
              <a:ext uri="{FF2B5EF4-FFF2-40B4-BE49-F238E27FC236}">
                <a16:creationId xmlns:a16="http://schemas.microsoft.com/office/drawing/2014/main" id="{BCC3CA17-F6F3-EB50-3D06-60CAAD8AA405}"/>
              </a:ext>
            </a:extLst>
          </p:cNvPr>
          <p:cNvSpPr txBox="1"/>
          <p:nvPr/>
        </p:nvSpPr>
        <p:spPr>
          <a:xfrm>
            <a:off x="5198959" y="3619385"/>
            <a:ext cx="700513"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Secure Boot</a:t>
            </a:r>
          </a:p>
        </p:txBody>
      </p:sp>
      <p:sp>
        <p:nvSpPr>
          <p:cNvPr id="14" name="TextBox 13">
            <a:extLst>
              <a:ext uri="{FF2B5EF4-FFF2-40B4-BE49-F238E27FC236}">
                <a16:creationId xmlns:a16="http://schemas.microsoft.com/office/drawing/2014/main" id="{67BF9A93-D61E-D936-4300-F7405ED5101E}"/>
              </a:ext>
            </a:extLst>
          </p:cNvPr>
          <p:cNvSpPr txBox="1"/>
          <p:nvPr/>
        </p:nvSpPr>
        <p:spPr>
          <a:xfrm>
            <a:off x="7111659" y="944753"/>
            <a:ext cx="83035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 Encryption</a:t>
            </a:r>
          </a:p>
        </p:txBody>
      </p:sp>
      <p:sp>
        <p:nvSpPr>
          <p:cNvPr id="15" name="TextBox 14">
            <a:extLst>
              <a:ext uri="{FF2B5EF4-FFF2-40B4-BE49-F238E27FC236}">
                <a16:creationId xmlns:a16="http://schemas.microsoft.com/office/drawing/2014/main" id="{27CC69AB-FA3E-3E7C-6A4B-03E0273F607B}"/>
              </a:ext>
            </a:extLst>
          </p:cNvPr>
          <p:cNvSpPr txBox="1"/>
          <p:nvPr/>
        </p:nvSpPr>
        <p:spPr>
          <a:xfrm>
            <a:off x="6264242" y="2462861"/>
            <a:ext cx="61715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Native Key</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Provider</a:t>
            </a:r>
          </a:p>
        </p:txBody>
      </p:sp>
      <p:sp>
        <p:nvSpPr>
          <p:cNvPr id="16" name="TextBox 15">
            <a:extLst>
              <a:ext uri="{FF2B5EF4-FFF2-40B4-BE49-F238E27FC236}">
                <a16:creationId xmlns:a16="http://schemas.microsoft.com/office/drawing/2014/main" id="{E566ED5F-C975-2C21-A411-FB76ED46493D}"/>
              </a:ext>
            </a:extLst>
          </p:cNvPr>
          <p:cNvSpPr txBox="1"/>
          <p:nvPr/>
        </p:nvSpPr>
        <p:spPr>
          <a:xfrm>
            <a:off x="8490726" y="4228752"/>
            <a:ext cx="907300"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vSAN Stretched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Clusters</a:t>
            </a:r>
          </a:p>
        </p:txBody>
      </p:sp>
      <p:sp>
        <p:nvSpPr>
          <p:cNvPr id="17" name="TextBox 16">
            <a:extLst>
              <a:ext uri="{FF2B5EF4-FFF2-40B4-BE49-F238E27FC236}">
                <a16:creationId xmlns:a16="http://schemas.microsoft.com/office/drawing/2014/main" id="{46898184-B31C-ADC1-766C-A221B5CF5D25}"/>
              </a:ext>
            </a:extLst>
          </p:cNvPr>
          <p:cNvSpPr txBox="1"/>
          <p:nvPr/>
        </p:nvSpPr>
        <p:spPr>
          <a:xfrm>
            <a:off x="7963757" y="5392898"/>
            <a:ext cx="60433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High</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Availability</a:t>
            </a:r>
          </a:p>
        </p:txBody>
      </p:sp>
      <p:sp>
        <p:nvSpPr>
          <p:cNvPr id="18" name="TextBox 17">
            <a:extLst>
              <a:ext uri="{FF2B5EF4-FFF2-40B4-BE49-F238E27FC236}">
                <a16:creationId xmlns:a16="http://schemas.microsoft.com/office/drawing/2014/main" id="{DF5E5112-797D-AB13-E856-6D9A5CF4D601}"/>
              </a:ext>
            </a:extLst>
          </p:cNvPr>
          <p:cNvSpPr txBox="1"/>
          <p:nvPr/>
        </p:nvSpPr>
        <p:spPr>
          <a:xfrm>
            <a:off x="9426049" y="3479147"/>
            <a:ext cx="270908"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DRS</a:t>
            </a:r>
          </a:p>
        </p:txBody>
      </p:sp>
      <p:sp>
        <p:nvSpPr>
          <p:cNvPr id="19" name="TextBox 18">
            <a:extLst>
              <a:ext uri="{FF2B5EF4-FFF2-40B4-BE49-F238E27FC236}">
                <a16:creationId xmlns:a16="http://schemas.microsoft.com/office/drawing/2014/main" id="{8599AE0A-2048-3F31-4187-9AF2DBD3BFE5}"/>
              </a:ext>
            </a:extLst>
          </p:cNvPr>
          <p:cNvSpPr txBox="1"/>
          <p:nvPr/>
        </p:nvSpPr>
        <p:spPr>
          <a:xfrm>
            <a:off x="9689224" y="4513957"/>
            <a:ext cx="56746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Fault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Tolerance</a:t>
            </a:r>
          </a:p>
        </p:txBody>
      </p:sp>
      <p:sp>
        <p:nvSpPr>
          <p:cNvPr id="20" name="TextBox 19">
            <a:extLst>
              <a:ext uri="{FF2B5EF4-FFF2-40B4-BE49-F238E27FC236}">
                <a16:creationId xmlns:a16="http://schemas.microsoft.com/office/drawing/2014/main" id="{0EF164DF-9D79-741D-97D0-C092B6EE9E9B}"/>
              </a:ext>
            </a:extLst>
          </p:cNvPr>
          <p:cNvSpPr txBox="1"/>
          <p:nvPr/>
        </p:nvSpPr>
        <p:spPr>
          <a:xfrm>
            <a:off x="7228175" y="4464063"/>
            <a:ext cx="60112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Snapshots</a:t>
            </a:r>
          </a:p>
        </p:txBody>
      </p:sp>
      <p:sp>
        <p:nvSpPr>
          <p:cNvPr id="21" name="TextBox 20">
            <a:extLst>
              <a:ext uri="{FF2B5EF4-FFF2-40B4-BE49-F238E27FC236}">
                <a16:creationId xmlns:a16="http://schemas.microsoft.com/office/drawing/2014/main" id="{E8C034AA-E304-E5F7-E8A3-FB05487A573C}"/>
              </a:ext>
            </a:extLst>
          </p:cNvPr>
          <p:cNvSpPr txBox="1"/>
          <p:nvPr/>
        </p:nvSpPr>
        <p:spPr>
          <a:xfrm>
            <a:off x="8276024" y="3135172"/>
            <a:ext cx="573875"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22" name="TextBox 21">
            <a:extLst>
              <a:ext uri="{FF2B5EF4-FFF2-40B4-BE49-F238E27FC236}">
                <a16:creationId xmlns:a16="http://schemas.microsoft.com/office/drawing/2014/main" id="{A60D4E92-E45C-CB2B-D63B-22A3736665A8}"/>
              </a:ext>
            </a:extLst>
          </p:cNvPr>
          <p:cNvSpPr txBox="1"/>
          <p:nvPr/>
        </p:nvSpPr>
        <p:spPr>
          <a:xfrm>
            <a:off x="5991761" y="4036644"/>
            <a:ext cx="50334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Lifecycle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Manager</a:t>
            </a:r>
          </a:p>
        </p:txBody>
      </p:sp>
      <p:sp>
        <p:nvSpPr>
          <p:cNvPr id="23" name="TextBox 22">
            <a:extLst>
              <a:ext uri="{FF2B5EF4-FFF2-40B4-BE49-F238E27FC236}">
                <a16:creationId xmlns:a16="http://schemas.microsoft.com/office/drawing/2014/main" id="{105206C9-4A84-9D81-CA9B-2852B18BA559}"/>
              </a:ext>
            </a:extLst>
          </p:cNvPr>
          <p:cNvSpPr txBox="1"/>
          <p:nvPr/>
        </p:nvSpPr>
        <p:spPr>
          <a:xfrm>
            <a:off x="9123760" y="4788835"/>
            <a:ext cx="267702"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EVC</a:t>
            </a:r>
          </a:p>
        </p:txBody>
      </p:sp>
      <p:sp>
        <p:nvSpPr>
          <p:cNvPr id="24" name="TextBox 23">
            <a:extLst>
              <a:ext uri="{FF2B5EF4-FFF2-40B4-BE49-F238E27FC236}">
                <a16:creationId xmlns:a16="http://schemas.microsoft.com/office/drawing/2014/main" id="{4947F80D-DA2F-B836-D959-FC1F2A50441A}"/>
              </a:ext>
            </a:extLst>
          </p:cNvPr>
          <p:cNvSpPr txBox="1"/>
          <p:nvPr/>
        </p:nvSpPr>
        <p:spPr>
          <a:xfrm>
            <a:off x="6368080" y="5520507"/>
            <a:ext cx="674864"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NIAP/CC</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Certification</a:t>
            </a:r>
          </a:p>
        </p:txBody>
      </p:sp>
      <p:sp>
        <p:nvSpPr>
          <p:cNvPr id="25" name="TextBox 24">
            <a:extLst>
              <a:ext uri="{FF2B5EF4-FFF2-40B4-BE49-F238E27FC236}">
                <a16:creationId xmlns:a16="http://schemas.microsoft.com/office/drawing/2014/main" id="{3EA74AA3-BE52-DA45-C753-A4881346BD99}"/>
              </a:ext>
            </a:extLst>
          </p:cNvPr>
          <p:cNvSpPr txBox="1"/>
          <p:nvPr/>
        </p:nvSpPr>
        <p:spPr>
          <a:xfrm>
            <a:off x="7796164" y="1571935"/>
            <a:ext cx="100187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CPU Vulnerability</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Mitigations</a:t>
            </a:r>
          </a:p>
        </p:txBody>
      </p:sp>
      <p:sp>
        <p:nvSpPr>
          <p:cNvPr id="29" name="TextBox 28">
            <a:extLst>
              <a:ext uri="{FF2B5EF4-FFF2-40B4-BE49-F238E27FC236}">
                <a16:creationId xmlns:a16="http://schemas.microsoft.com/office/drawing/2014/main" id="{FAD967B9-6BD7-399F-940D-941F6F4439BF}"/>
              </a:ext>
            </a:extLst>
          </p:cNvPr>
          <p:cNvSpPr txBox="1"/>
          <p:nvPr/>
        </p:nvSpPr>
        <p:spPr>
          <a:xfrm>
            <a:off x="7413170" y="2511666"/>
            <a:ext cx="657231"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FIPS 140-</a:t>
            </a:r>
            <a:r>
              <a:rPr lang="en-US" sz="1000" noProof="0" dirty="0">
                <a:solidFill>
                  <a:srgbClr val="F2F2F2">
                    <a:lumMod val="10000"/>
                  </a:srgbClr>
                </a:solidFill>
                <a:latin typeface="Arial" panose="020B0604020202020204" pitchFamily="34" charset="0"/>
              </a:rPr>
              <a:t>3</a:t>
            </a:r>
            <a:endPar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endParaRPr>
          </a:p>
        </p:txBody>
      </p:sp>
      <p:sp>
        <p:nvSpPr>
          <p:cNvPr id="30" name="TextBox 29">
            <a:extLst>
              <a:ext uri="{FF2B5EF4-FFF2-40B4-BE49-F238E27FC236}">
                <a16:creationId xmlns:a16="http://schemas.microsoft.com/office/drawing/2014/main" id="{CB31B32E-0718-8277-8F87-B5E2CCD7BED1}"/>
              </a:ext>
            </a:extLst>
          </p:cNvPr>
          <p:cNvSpPr txBox="1"/>
          <p:nvPr/>
        </p:nvSpPr>
        <p:spPr>
          <a:xfrm>
            <a:off x="7938741" y="3608172"/>
            <a:ext cx="47448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NSX/</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err="1">
                <a:ln>
                  <a:noFill/>
                </a:ln>
                <a:solidFill>
                  <a:srgbClr val="F2F2F2">
                    <a:lumMod val="10000"/>
                  </a:srgbClr>
                </a:solidFill>
                <a:effectLst/>
                <a:uLnTx/>
                <a:uFillTx/>
                <a:latin typeface="Arial" panose="020B0604020202020204" pitchFamily="34" charset="0"/>
                <a:ea typeface="+mn-ea"/>
                <a:cs typeface="+mn-cs"/>
              </a:rPr>
              <a:t>vDefend</a:t>
            </a:r>
            <a:endPar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endParaRPr>
          </a:p>
        </p:txBody>
      </p:sp>
      <p:sp>
        <p:nvSpPr>
          <p:cNvPr id="31" name="TextBox 30">
            <a:extLst>
              <a:ext uri="{FF2B5EF4-FFF2-40B4-BE49-F238E27FC236}">
                <a16:creationId xmlns:a16="http://schemas.microsoft.com/office/drawing/2014/main" id="{17092322-49D8-97C3-43C3-AC592847B72A}"/>
              </a:ext>
            </a:extLst>
          </p:cNvPr>
          <p:cNvSpPr txBox="1"/>
          <p:nvPr/>
        </p:nvSpPr>
        <p:spPr>
          <a:xfrm>
            <a:off x="4872847" y="4822910"/>
            <a:ext cx="6011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Host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Attestation</a:t>
            </a:r>
          </a:p>
        </p:txBody>
      </p:sp>
      <p:sp>
        <p:nvSpPr>
          <p:cNvPr id="32" name="TextBox 31">
            <a:extLst>
              <a:ext uri="{FF2B5EF4-FFF2-40B4-BE49-F238E27FC236}">
                <a16:creationId xmlns:a16="http://schemas.microsoft.com/office/drawing/2014/main" id="{1B36ED5A-EAE2-9DE7-58AA-07EAB3A31026}"/>
              </a:ext>
            </a:extLst>
          </p:cNvPr>
          <p:cNvSpPr txBox="1"/>
          <p:nvPr/>
        </p:nvSpPr>
        <p:spPr>
          <a:xfrm>
            <a:off x="7111092" y="2774022"/>
            <a:ext cx="75822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Configuration</a:t>
            </a:r>
          </a:p>
        </p:txBody>
      </p:sp>
      <p:sp>
        <p:nvSpPr>
          <p:cNvPr id="33" name="TextBox 32">
            <a:extLst>
              <a:ext uri="{FF2B5EF4-FFF2-40B4-BE49-F238E27FC236}">
                <a16:creationId xmlns:a16="http://schemas.microsoft.com/office/drawing/2014/main" id="{018C9629-0C29-EDB5-37C0-4020586F2C12}"/>
              </a:ext>
            </a:extLst>
          </p:cNvPr>
          <p:cNvSpPr txBox="1"/>
          <p:nvPr/>
        </p:nvSpPr>
        <p:spPr>
          <a:xfrm>
            <a:off x="8407005" y="2464658"/>
            <a:ext cx="60272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vSAN</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Encryption</a:t>
            </a:r>
          </a:p>
        </p:txBody>
      </p:sp>
      <p:sp>
        <p:nvSpPr>
          <p:cNvPr id="34" name="TextBox 33">
            <a:extLst>
              <a:ext uri="{FF2B5EF4-FFF2-40B4-BE49-F238E27FC236}">
                <a16:creationId xmlns:a16="http://schemas.microsoft.com/office/drawing/2014/main" id="{3FD49CB2-6E1C-ECD2-0335-AFE5C1E7EAE2}"/>
              </a:ext>
            </a:extLst>
          </p:cNvPr>
          <p:cNvSpPr txBox="1"/>
          <p:nvPr/>
        </p:nvSpPr>
        <p:spPr>
          <a:xfrm>
            <a:off x="8208706" y="4652354"/>
            <a:ext cx="660437"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vCenter HA</a:t>
            </a:r>
          </a:p>
        </p:txBody>
      </p:sp>
      <p:sp>
        <p:nvSpPr>
          <p:cNvPr id="35" name="TextBox 34">
            <a:extLst>
              <a:ext uri="{FF2B5EF4-FFF2-40B4-BE49-F238E27FC236}">
                <a16:creationId xmlns:a16="http://schemas.microsoft.com/office/drawing/2014/main" id="{5E74EE82-4371-8DCD-B4D5-B7E670365A82}"/>
              </a:ext>
            </a:extLst>
          </p:cNvPr>
          <p:cNvSpPr txBox="1"/>
          <p:nvPr/>
        </p:nvSpPr>
        <p:spPr>
          <a:xfrm>
            <a:off x="5518891" y="6005044"/>
            <a:ext cx="121988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Configuration Profiles</a:t>
            </a:r>
          </a:p>
        </p:txBody>
      </p:sp>
      <p:sp>
        <p:nvSpPr>
          <p:cNvPr id="36" name="TextBox 35">
            <a:extLst>
              <a:ext uri="{FF2B5EF4-FFF2-40B4-BE49-F238E27FC236}">
                <a16:creationId xmlns:a16="http://schemas.microsoft.com/office/drawing/2014/main" id="{AF388CB0-AAE5-F123-AD0A-A1A2A41F716F}"/>
              </a:ext>
            </a:extLst>
          </p:cNvPr>
          <p:cNvSpPr txBox="1"/>
          <p:nvPr/>
        </p:nvSpPr>
        <p:spPr>
          <a:xfrm>
            <a:off x="9902979" y="3968257"/>
            <a:ext cx="31258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SIOC</a:t>
            </a:r>
          </a:p>
        </p:txBody>
      </p:sp>
      <p:sp>
        <p:nvSpPr>
          <p:cNvPr id="37" name="TextBox 36">
            <a:extLst>
              <a:ext uri="{FF2B5EF4-FFF2-40B4-BE49-F238E27FC236}">
                <a16:creationId xmlns:a16="http://schemas.microsoft.com/office/drawing/2014/main" id="{7C168685-21FF-2360-8D24-E5438643C762}"/>
              </a:ext>
            </a:extLst>
          </p:cNvPr>
          <p:cNvSpPr txBox="1"/>
          <p:nvPr/>
        </p:nvSpPr>
        <p:spPr>
          <a:xfrm>
            <a:off x="9737953" y="5080475"/>
            <a:ext cx="333338" cy="15384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NIOC</a:t>
            </a:r>
          </a:p>
        </p:txBody>
      </p:sp>
      <p:sp>
        <p:nvSpPr>
          <p:cNvPr id="38" name="TextBox 37">
            <a:extLst>
              <a:ext uri="{FF2B5EF4-FFF2-40B4-BE49-F238E27FC236}">
                <a16:creationId xmlns:a16="http://schemas.microsoft.com/office/drawing/2014/main" id="{A9A3C8A7-684F-E70A-B3FD-C8840E893C8E}"/>
              </a:ext>
            </a:extLst>
          </p:cNvPr>
          <p:cNvSpPr txBox="1"/>
          <p:nvPr/>
        </p:nvSpPr>
        <p:spPr>
          <a:xfrm>
            <a:off x="4667685" y="4439843"/>
            <a:ext cx="764633"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Code Signing</a:t>
            </a:r>
          </a:p>
        </p:txBody>
      </p:sp>
      <p:sp>
        <p:nvSpPr>
          <p:cNvPr id="39" name="TextBox 38">
            <a:extLst>
              <a:ext uri="{FF2B5EF4-FFF2-40B4-BE49-F238E27FC236}">
                <a16:creationId xmlns:a16="http://schemas.microsoft.com/office/drawing/2014/main" id="{DB1BC4BB-90C2-A0A0-2F4A-4BE548A37690}"/>
              </a:ext>
            </a:extLst>
          </p:cNvPr>
          <p:cNvSpPr txBox="1"/>
          <p:nvPr/>
        </p:nvSpPr>
        <p:spPr>
          <a:xfrm>
            <a:off x="8288304" y="4968258"/>
            <a:ext cx="447237"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40" name="TextBox 39">
            <a:extLst>
              <a:ext uri="{FF2B5EF4-FFF2-40B4-BE49-F238E27FC236}">
                <a16:creationId xmlns:a16="http://schemas.microsoft.com/office/drawing/2014/main" id="{03DF07FA-E230-D6FD-9F6F-AA67628F33D6}"/>
              </a:ext>
            </a:extLst>
          </p:cNvPr>
          <p:cNvSpPr txBox="1"/>
          <p:nvPr/>
        </p:nvSpPr>
        <p:spPr>
          <a:xfrm>
            <a:off x="6037551" y="5104550"/>
            <a:ext cx="72936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 Sandbox</a:t>
            </a:r>
          </a:p>
        </p:txBody>
      </p:sp>
      <p:sp>
        <p:nvSpPr>
          <p:cNvPr id="41" name="TextBox 40">
            <a:extLst>
              <a:ext uri="{FF2B5EF4-FFF2-40B4-BE49-F238E27FC236}">
                <a16:creationId xmlns:a16="http://schemas.microsoft.com/office/drawing/2014/main" id="{D0FEC751-BAF8-CDEE-B1E6-96868AB21721}"/>
              </a:ext>
            </a:extLst>
          </p:cNvPr>
          <p:cNvSpPr txBox="1"/>
          <p:nvPr/>
        </p:nvSpPr>
        <p:spPr>
          <a:xfrm>
            <a:off x="6227504" y="1508824"/>
            <a:ext cx="3334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Intel</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err="1">
                <a:ln>
                  <a:noFill/>
                </a:ln>
                <a:solidFill>
                  <a:srgbClr val="F2F2F2">
                    <a:lumMod val="10000"/>
                  </a:srgbClr>
                </a:solidFill>
                <a:effectLst/>
                <a:uLnTx/>
                <a:uFillTx/>
                <a:latin typeface="Arial" panose="020B0604020202020204" pitchFamily="34" charset="0"/>
                <a:ea typeface="+mn-ea"/>
                <a:cs typeface="+mn-cs"/>
              </a:rPr>
              <a:t>vSGX</a:t>
            </a:r>
            <a:endPar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endParaRPr>
          </a:p>
        </p:txBody>
      </p:sp>
      <p:sp>
        <p:nvSpPr>
          <p:cNvPr id="43" name="TextBox 42">
            <a:extLst>
              <a:ext uri="{FF2B5EF4-FFF2-40B4-BE49-F238E27FC236}">
                <a16:creationId xmlns:a16="http://schemas.microsoft.com/office/drawing/2014/main" id="{091C6393-B3AD-E1D7-699E-4AEB0B5A4897}"/>
              </a:ext>
            </a:extLst>
          </p:cNvPr>
          <p:cNvSpPr txBox="1"/>
          <p:nvPr/>
        </p:nvSpPr>
        <p:spPr>
          <a:xfrm>
            <a:off x="5970914" y="2027758"/>
            <a:ext cx="60914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Identity</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Federation</a:t>
            </a:r>
          </a:p>
        </p:txBody>
      </p:sp>
      <p:sp>
        <p:nvSpPr>
          <p:cNvPr id="42" name="TextBox 41">
            <a:extLst>
              <a:ext uri="{FF2B5EF4-FFF2-40B4-BE49-F238E27FC236}">
                <a16:creationId xmlns:a16="http://schemas.microsoft.com/office/drawing/2014/main" id="{C426A9FE-F624-64F2-F2D4-B9E55AFC1388}"/>
              </a:ext>
            </a:extLst>
          </p:cNvPr>
          <p:cNvSpPr txBox="1"/>
          <p:nvPr/>
        </p:nvSpPr>
        <p:spPr>
          <a:xfrm>
            <a:off x="8172036" y="2028036"/>
            <a:ext cx="87363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Distributed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Switch Security</a:t>
            </a:r>
          </a:p>
        </p:txBody>
      </p:sp>
      <p:sp>
        <p:nvSpPr>
          <p:cNvPr id="44" name="TextBox 43">
            <a:extLst>
              <a:ext uri="{FF2B5EF4-FFF2-40B4-BE49-F238E27FC236}">
                <a16:creationId xmlns:a16="http://schemas.microsoft.com/office/drawing/2014/main" id="{22DA97CF-64E1-E82C-480D-A4E8A675A088}"/>
              </a:ext>
            </a:extLst>
          </p:cNvPr>
          <p:cNvSpPr txBox="1"/>
          <p:nvPr/>
        </p:nvSpPr>
        <p:spPr>
          <a:xfrm>
            <a:off x="6756738" y="1818322"/>
            <a:ext cx="819135"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AMD SEV-ES</a:t>
            </a:r>
          </a:p>
        </p:txBody>
      </p:sp>
      <p:sp>
        <p:nvSpPr>
          <p:cNvPr id="45" name="TextBox 44">
            <a:extLst>
              <a:ext uri="{FF2B5EF4-FFF2-40B4-BE49-F238E27FC236}">
                <a16:creationId xmlns:a16="http://schemas.microsoft.com/office/drawing/2014/main" id="{7CEBD2C2-CF62-A783-94A4-A4113DF96EFC}"/>
              </a:ext>
            </a:extLst>
          </p:cNvPr>
          <p:cNvSpPr txBox="1"/>
          <p:nvPr/>
        </p:nvSpPr>
        <p:spPr>
          <a:xfrm>
            <a:off x="8903412" y="3772180"/>
            <a:ext cx="766235"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Network</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Health Check</a:t>
            </a:r>
          </a:p>
        </p:txBody>
      </p:sp>
      <p:sp>
        <p:nvSpPr>
          <p:cNvPr id="46" name="TextBox 45">
            <a:extLst>
              <a:ext uri="{FF2B5EF4-FFF2-40B4-BE49-F238E27FC236}">
                <a16:creationId xmlns:a16="http://schemas.microsoft.com/office/drawing/2014/main" id="{3ED49200-711C-9767-6789-6C1C29E7E89A}"/>
              </a:ext>
            </a:extLst>
          </p:cNvPr>
          <p:cNvSpPr txBox="1"/>
          <p:nvPr/>
        </p:nvSpPr>
        <p:spPr>
          <a:xfrm>
            <a:off x="5904937" y="4534704"/>
            <a:ext cx="54021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Live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Recovery</a:t>
            </a:r>
          </a:p>
        </p:txBody>
      </p:sp>
      <p:sp>
        <p:nvSpPr>
          <p:cNvPr id="47" name="TextBox 46">
            <a:extLst>
              <a:ext uri="{FF2B5EF4-FFF2-40B4-BE49-F238E27FC236}">
                <a16:creationId xmlns:a16="http://schemas.microsoft.com/office/drawing/2014/main" id="{C1DC7E21-5203-CEAD-9B01-AC5E9CFEB6A5}"/>
              </a:ext>
            </a:extLst>
          </p:cNvPr>
          <p:cNvSpPr txBox="1"/>
          <p:nvPr/>
        </p:nvSpPr>
        <p:spPr>
          <a:xfrm>
            <a:off x="4931240" y="4013599"/>
            <a:ext cx="678071"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NTP &amp; PTP</a:t>
            </a:r>
          </a:p>
        </p:txBody>
      </p:sp>
      <p:sp>
        <p:nvSpPr>
          <p:cNvPr id="49" name="TextBox 48">
            <a:extLst>
              <a:ext uri="{FF2B5EF4-FFF2-40B4-BE49-F238E27FC236}">
                <a16:creationId xmlns:a16="http://schemas.microsoft.com/office/drawing/2014/main" id="{D3B8DA20-7F70-9790-DD9E-F5C15D1892D7}"/>
              </a:ext>
            </a:extLst>
          </p:cNvPr>
          <p:cNvSpPr txBox="1"/>
          <p:nvPr/>
        </p:nvSpPr>
        <p:spPr>
          <a:xfrm>
            <a:off x="6925802" y="2087856"/>
            <a:ext cx="90890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vSAN Transport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Encryption</a:t>
            </a:r>
          </a:p>
        </p:txBody>
      </p:sp>
      <p:sp>
        <p:nvSpPr>
          <p:cNvPr id="52" name="TextBox 51">
            <a:extLst>
              <a:ext uri="{FF2B5EF4-FFF2-40B4-BE49-F238E27FC236}">
                <a16:creationId xmlns:a16="http://schemas.microsoft.com/office/drawing/2014/main" id="{01A45BFD-DBEC-25A6-A4CF-54B4CFCCBC4E}"/>
              </a:ext>
            </a:extLst>
          </p:cNvPr>
          <p:cNvSpPr txBox="1"/>
          <p:nvPr/>
        </p:nvSpPr>
        <p:spPr>
          <a:xfrm>
            <a:off x="8373239" y="5860252"/>
            <a:ext cx="447237"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Storage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54" name="TextBox 53">
            <a:extLst>
              <a:ext uri="{FF2B5EF4-FFF2-40B4-BE49-F238E27FC236}">
                <a16:creationId xmlns:a16="http://schemas.microsoft.com/office/drawing/2014/main" id="{DB8BB531-25F3-52C4-2984-C5BBEB00ACAF}"/>
              </a:ext>
            </a:extLst>
          </p:cNvPr>
          <p:cNvSpPr txBox="1"/>
          <p:nvPr/>
        </p:nvSpPr>
        <p:spPr>
          <a:xfrm>
            <a:off x="9019724" y="5736286"/>
            <a:ext cx="81753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Cross vCenter</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55" name="TextBox 54">
            <a:extLst>
              <a:ext uri="{FF2B5EF4-FFF2-40B4-BE49-F238E27FC236}">
                <a16:creationId xmlns:a16="http://schemas.microsoft.com/office/drawing/2014/main" id="{4EA58465-65CA-58B2-916E-144402B6A994}"/>
              </a:ext>
            </a:extLst>
          </p:cNvPr>
          <p:cNvSpPr txBox="1"/>
          <p:nvPr/>
        </p:nvSpPr>
        <p:spPr>
          <a:xfrm>
            <a:off x="8728321" y="5199736"/>
            <a:ext cx="623568"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Aria</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Operations</a:t>
            </a:r>
          </a:p>
        </p:txBody>
      </p:sp>
      <p:pic>
        <p:nvPicPr>
          <p:cNvPr id="27" name="Graphic 26">
            <a:extLst>
              <a:ext uri="{FF2B5EF4-FFF2-40B4-BE49-F238E27FC236}">
                <a16:creationId xmlns:a16="http://schemas.microsoft.com/office/drawing/2014/main" id="{CC42407A-2AAA-862C-F78B-CA775B27F847}"/>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309335" y="3771029"/>
            <a:ext cx="425796" cy="425796"/>
          </a:xfrm>
          <a:prstGeom prst="rect">
            <a:avLst/>
          </a:prstGeom>
        </p:spPr>
      </p:pic>
      <p:sp>
        <p:nvSpPr>
          <p:cNvPr id="8" name="TextBox 7">
            <a:extLst>
              <a:ext uri="{FF2B5EF4-FFF2-40B4-BE49-F238E27FC236}">
                <a16:creationId xmlns:a16="http://schemas.microsoft.com/office/drawing/2014/main" id="{226FCB3A-6097-EE98-D121-F4F522C851B4}"/>
              </a:ext>
            </a:extLst>
          </p:cNvPr>
          <p:cNvSpPr txBox="1"/>
          <p:nvPr/>
        </p:nvSpPr>
        <p:spPr>
          <a:xfrm>
            <a:off x="6187055" y="3173833"/>
            <a:ext cx="63959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TLS 1.3 &amp;</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Certificates</a:t>
            </a:r>
          </a:p>
        </p:txBody>
      </p:sp>
      <p:sp>
        <p:nvSpPr>
          <p:cNvPr id="26" name="Title 1">
            <a:extLst>
              <a:ext uri="{FF2B5EF4-FFF2-40B4-BE49-F238E27FC236}">
                <a16:creationId xmlns:a16="http://schemas.microsoft.com/office/drawing/2014/main" id="{6BC1A74E-FC64-8BAF-3FD8-02F8672E9197}"/>
              </a:ext>
            </a:extLst>
          </p:cNvPr>
          <p:cNvSpPr txBox="1">
            <a:spLocks/>
          </p:cNvSpPr>
          <p:nvPr/>
        </p:nvSpPr>
        <p:spPr>
          <a:xfrm>
            <a:off x="668859" y="2376580"/>
            <a:ext cx="3629957" cy="2104840"/>
          </a:xfrm>
          <a:prstGeom prst="rect">
            <a:avLst/>
          </a:prstGeom>
        </p:spPr>
        <p:txBody>
          <a:bodyPr anchor="ct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Tx/>
              <a:buNone/>
              <a:tabLst/>
              <a:defRPr/>
            </a:pPr>
            <a:r>
              <a:rPr kumimoji="0" lang="en-US" sz="3599" b="0" i="0" u="none" strike="noStrike" kern="1200" cap="none" spc="0" normalizeH="0" baseline="0" noProof="0" dirty="0">
                <a:ln>
                  <a:noFill/>
                </a:ln>
                <a:solidFill>
                  <a:srgbClr val="005B84"/>
                </a:solidFill>
                <a:effectLst/>
                <a:uLnTx/>
                <a:uFillTx/>
                <a:latin typeface="Arial" panose="020B0604020202020204" pitchFamily="34" charset="0"/>
                <a:ea typeface="+mj-ea"/>
                <a:cs typeface="+mj-cs"/>
              </a:rPr>
              <a:t>Every Feature</a:t>
            </a:r>
            <a:br>
              <a:rPr kumimoji="0" lang="en-US" sz="3599" b="0" i="0" u="none" strike="noStrike" kern="1200" cap="none" spc="0" normalizeH="0" baseline="0" noProof="0" dirty="0">
                <a:ln>
                  <a:noFill/>
                </a:ln>
                <a:solidFill>
                  <a:srgbClr val="005B84"/>
                </a:solidFill>
                <a:effectLst/>
                <a:uLnTx/>
                <a:uFillTx/>
                <a:latin typeface="Arial" panose="020B0604020202020204" pitchFamily="34" charset="0"/>
                <a:ea typeface="+mj-ea"/>
                <a:cs typeface="+mj-cs"/>
              </a:rPr>
            </a:br>
            <a:r>
              <a:rPr kumimoji="0" lang="en-US" sz="3599" b="0" i="0" u="none" strike="noStrike" kern="1200" cap="none" spc="0" normalizeH="0" baseline="0" noProof="0" dirty="0">
                <a:ln>
                  <a:noFill/>
                </a:ln>
                <a:solidFill>
                  <a:srgbClr val="005B84"/>
                </a:solidFill>
                <a:effectLst/>
                <a:uLnTx/>
                <a:uFillTx/>
                <a:latin typeface="Arial" panose="020B0604020202020204" pitchFamily="34" charset="0"/>
                <a:ea typeface="+mj-ea"/>
                <a:cs typeface="+mj-cs"/>
              </a:rPr>
              <a:t>is a Security Feature</a:t>
            </a:r>
          </a:p>
        </p:txBody>
      </p:sp>
    </p:spTree>
    <p:extLst>
      <p:ext uri="{BB962C8B-B14F-4D97-AF65-F5344CB8AC3E}">
        <p14:creationId xmlns:p14="http://schemas.microsoft.com/office/powerpoint/2010/main" val="2361357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decel="10000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1">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 calcmode="lin" valueType="num">
                                      <p:cBhvr additive="base">
                                        <p:cTn id="11"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14">
                                            <p:txEl>
                                              <p:pRg st="0" end="0"/>
                                            </p:txEl>
                                          </p:spTgt>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 calcmode="lin" valueType="num">
                                      <p:cBhvr additive="base">
                                        <p:cTn id="15"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15">
                                            <p:txEl>
                                              <p:pRg st="0" end="0"/>
                                            </p:txEl>
                                          </p:spTgt>
                                        </p:tgtEl>
                                        <p:attrNameLst>
                                          <p:attrName>ppt_y</p:attrName>
                                        </p:attrNameLst>
                                      </p:cBhvr>
                                      <p:tavLst>
                                        <p:tav tm="0">
                                          <p:val>
                                            <p:strVal val="0-#ppt_h/2"/>
                                          </p:val>
                                        </p:tav>
                                        <p:tav tm="100000">
                                          <p:val>
                                            <p:strVal val="#ppt_y"/>
                                          </p:val>
                                        </p:tav>
                                      </p:tavLst>
                                    </p:anim>
                                  </p:childTnLst>
                                </p:cTn>
                              </p:par>
                              <p:par>
                                <p:cTn id="17" presetID="2" presetClass="entr" presetSubtype="1" decel="100000" fill="hold" grpId="0" nodeType="withEffect">
                                  <p:stCondLst>
                                    <p:cond delay="0"/>
                                  </p:stCondLst>
                                  <p:childTnLst>
                                    <p:set>
                                      <p:cBhvr>
                                        <p:cTn id="18" dur="1" fill="hold">
                                          <p:stCondLst>
                                            <p:cond delay="0"/>
                                          </p:stCondLst>
                                        </p:cTn>
                                        <p:tgtEl>
                                          <p:spTgt spid="25">
                                            <p:txEl>
                                              <p:pRg st="0" end="0"/>
                                            </p:txEl>
                                          </p:spTgt>
                                        </p:tgtEl>
                                        <p:attrNameLst>
                                          <p:attrName>style.visibility</p:attrName>
                                        </p:attrNameLst>
                                      </p:cBhvr>
                                      <p:to>
                                        <p:strVal val="visible"/>
                                      </p:to>
                                    </p:set>
                                    <p:anim calcmode="lin" valueType="num">
                                      <p:cBhvr additive="base">
                                        <p:cTn id="19" dur="10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25">
                                            <p:txEl>
                                              <p:pRg st="0" end="0"/>
                                            </p:txEl>
                                          </p:spTgt>
                                        </p:tgtEl>
                                        <p:attrNameLst>
                                          <p:attrName>ppt_y</p:attrName>
                                        </p:attrNameLst>
                                      </p:cBhvr>
                                      <p:tavLst>
                                        <p:tav tm="0">
                                          <p:val>
                                            <p:strVal val="0-#ppt_h/2"/>
                                          </p:val>
                                        </p:tav>
                                        <p:tav tm="100000">
                                          <p:val>
                                            <p:strVal val="#ppt_y"/>
                                          </p:val>
                                        </p:tav>
                                      </p:tavLst>
                                    </p:anim>
                                  </p:childTnLst>
                                </p:cTn>
                              </p:par>
                              <p:par>
                                <p:cTn id="21" presetID="2" presetClass="entr" presetSubtype="1" decel="100000" fill="hold" grpId="0" nodeType="withEffect">
                                  <p:stCondLst>
                                    <p:cond delay="0"/>
                                  </p:stCondLst>
                                  <p:childTnLst>
                                    <p:set>
                                      <p:cBhvr>
                                        <p:cTn id="22" dur="1" fill="hold">
                                          <p:stCondLst>
                                            <p:cond delay="0"/>
                                          </p:stCondLst>
                                        </p:cTn>
                                        <p:tgtEl>
                                          <p:spTgt spid="29">
                                            <p:txEl>
                                              <p:pRg st="0" end="0"/>
                                            </p:txEl>
                                          </p:spTgt>
                                        </p:tgtEl>
                                        <p:attrNameLst>
                                          <p:attrName>style.visibility</p:attrName>
                                        </p:attrNameLst>
                                      </p:cBhvr>
                                      <p:to>
                                        <p:strVal val="visible"/>
                                      </p:to>
                                    </p:set>
                                    <p:anim calcmode="lin" valueType="num">
                                      <p:cBhvr additive="base">
                                        <p:cTn id="23"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24" dur="1000" fill="hold"/>
                                        <p:tgtEl>
                                          <p:spTgt spid="29">
                                            <p:txEl>
                                              <p:pRg st="0" end="0"/>
                                            </p:txEl>
                                          </p:spTgt>
                                        </p:tgtEl>
                                        <p:attrNameLst>
                                          <p:attrName>ppt_y</p:attrName>
                                        </p:attrNameLst>
                                      </p:cBhvr>
                                      <p:tavLst>
                                        <p:tav tm="0">
                                          <p:val>
                                            <p:strVal val="0-#ppt_h/2"/>
                                          </p:val>
                                        </p:tav>
                                        <p:tav tm="100000">
                                          <p:val>
                                            <p:strVal val="#ppt_y"/>
                                          </p:val>
                                        </p:tav>
                                      </p:tavLst>
                                    </p:anim>
                                  </p:childTnLst>
                                </p:cTn>
                              </p:par>
                              <p:par>
                                <p:cTn id="25" presetID="2" presetClass="entr" presetSubtype="1" decel="100000" fill="hold" grpId="0" nodeType="withEffect">
                                  <p:stCondLst>
                                    <p:cond delay="0"/>
                                  </p:stCondLst>
                                  <p:childTnLst>
                                    <p:set>
                                      <p:cBhvr>
                                        <p:cTn id="26" dur="1" fill="hold">
                                          <p:stCondLst>
                                            <p:cond delay="0"/>
                                          </p:stCondLst>
                                        </p:cTn>
                                        <p:tgtEl>
                                          <p:spTgt spid="32">
                                            <p:txEl>
                                              <p:pRg st="0" end="0"/>
                                            </p:txEl>
                                          </p:spTgt>
                                        </p:tgtEl>
                                        <p:attrNameLst>
                                          <p:attrName>style.visibility</p:attrName>
                                        </p:attrNameLst>
                                      </p:cBhvr>
                                      <p:to>
                                        <p:strVal val="visible"/>
                                      </p:to>
                                    </p:set>
                                    <p:anim calcmode="lin" valueType="num">
                                      <p:cBhvr additive="base">
                                        <p:cTn id="27" dur="10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28" dur="1000" fill="hold"/>
                                        <p:tgtEl>
                                          <p:spTgt spid="32">
                                            <p:txEl>
                                              <p:pRg st="0" end="0"/>
                                            </p:txEl>
                                          </p:spTgt>
                                        </p:tgtEl>
                                        <p:attrNameLst>
                                          <p:attrName>ppt_y</p:attrName>
                                        </p:attrNameLst>
                                      </p:cBhvr>
                                      <p:tavLst>
                                        <p:tav tm="0">
                                          <p:val>
                                            <p:strVal val="0-#ppt_h/2"/>
                                          </p:val>
                                        </p:tav>
                                        <p:tav tm="100000">
                                          <p:val>
                                            <p:strVal val="#ppt_y"/>
                                          </p:val>
                                        </p:tav>
                                      </p:tavLst>
                                    </p:anim>
                                  </p:childTnLst>
                                </p:cTn>
                              </p:par>
                              <p:par>
                                <p:cTn id="29" presetID="2" presetClass="entr" presetSubtype="1" decel="100000" fill="hold" grpId="0" nodeType="withEffect">
                                  <p:stCondLst>
                                    <p:cond delay="0"/>
                                  </p:stCondLst>
                                  <p:childTnLst>
                                    <p:set>
                                      <p:cBhvr>
                                        <p:cTn id="30" dur="1" fill="hold">
                                          <p:stCondLst>
                                            <p:cond delay="0"/>
                                          </p:stCondLst>
                                        </p:cTn>
                                        <p:tgtEl>
                                          <p:spTgt spid="33">
                                            <p:txEl>
                                              <p:pRg st="0" end="0"/>
                                            </p:txEl>
                                          </p:spTgt>
                                        </p:tgtEl>
                                        <p:attrNameLst>
                                          <p:attrName>style.visibility</p:attrName>
                                        </p:attrNameLst>
                                      </p:cBhvr>
                                      <p:to>
                                        <p:strVal val="visible"/>
                                      </p:to>
                                    </p:set>
                                    <p:anim calcmode="lin" valueType="num">
                                      <p:cBhvr additive="base">
                                        <p:cTn id="31" dur="10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33">
                                            <p:txEl>
                                              <p:pRg st="0" end="0"/>
                                            </p:txEl>
                                          </p:spTgt>
                                        </p:tgtEl>
                                        <p:attrNameLst>
                                          <p:attrName>ppt_y</p:attrName>
                                        </p:attrNameLst>
                                      </p:cBhvr>
                                      <p:tavLst>
                                        <p:tav tm="0">
                                          <p:val>
                                            <p:strVal val="0-#ppt_h/2"/>
                                          </p:val>
                                        </p:tav>
                                        <p:tav tm="100000">
                                          <p:val>
                                            <p:strVal val="#ppt_y"/>
                                          </p:val>
                                        </p:tav>
                                      </p:tavLst>
                                    </p:anim>
                                  </p:childTnLst>
                                </p:cTn>
                              </p:par>
                              <p:par>
                                <p:cTn id="33" presetID="2" presetClass="entr" presetSubtype="1" decel="100000" fill="hold" grpId="0" nodeType="withEffect">
                                  <p:stCondLst>
                                    <p:cond delay="0"/>
                                  </p:stCondLst>
                                  <p:childTnLst>
                                    <p:set>
                                      <p:cBhvr>
                                        <p:cTn id="34" dur="1" fill="hold">
                                          <p:stCondLst>
                                            <p:cond delay="0"/>
                                          </p:stCondLst>
                                        </p:cTn>
                                        <p:tgtEl>
                                          <p:spTgt spid="41">
                                            <p:txEl>
                                              <p:pRg st="0" end="0"/>
                                            </p:txEl>
                                          </p:spTgt>
                                        </p:tgtEl>
                                        <p:attrNameLst>
                                          <p:attrName>style.visibility</p:attrName>
                                        </p:attrNameLst>
                                      </p:cBhvr>
                                      <p:to>
                                        <p:strVal val="visible"/>
                                      </p:to>
                                    </p:set>
                                    <p:anim calcmode="lin" valueType="num">
                                      <p:cBhvr additive="base">
                                        <p:cTn id="35" dur="1000" fill="hold"/>
                                        <p:tgtEl>
                                          <p:spTgt spid="41">
                                            <p:txEl>
                                              <p:pRg st="0" end="0"/>
                                            </p:txEl>
                                          </p:spTgt>
                                        </p:tgtEl>
                                        <p:attrNameLst>
                                          <p:attrName>ppt_x</p:attrName>
                                        </p:attrNameLst>
                                      </p:cBhvr>
                                      <p:tavLst>
                                        <p:tav tm="0">
                                          <p:val>
                                            <p:strVal val="#ppt_x"/>
                                          </p:val>
                                        </p:tav>
                                        <p:tav tm="100000">
                                          <p:val>
                                            <p:strVal val="#ppt_x"/>
                                          </p:val>
                                        </p:tav>
                                      </p:tavLst>
                                    </p:anim>
                                    <p:anim calcmode="lin" valueType="num">
                                      <p:cBhvr additive="base">
                                        <p:cTn id="36" dur="1000" fill="hold"/>
                                        <p:tgtEl>
                                          <p:spTgt spid="41">
                                            <p:txEl>
                                              <p:pRg st="0" end="0"/>
                                            </p:txEl>
                                          </p:spTgt>
                                        </p:tgtEl>
                                        <p:attrNameLst>
                                          <p:attrName>ppt_y</p:attrName>
                                        </p:attrNameLst>
                                      </p:cBhvr>
                                      <p:tavLst>
                                        <p:tav tm="0">
                                          <p:val>
                                            <p:strVal val="0-#ppt_h/2"/>
                                          </p:val>
                                        </p:tav>
                                        <p:tav tm="100000">
                                          <p:val>
                                            <p:strVal val="#ppt_y"/>
                                          </p:val>
                                        </p:tav>
                                      </p:tavLst>
                                    </p:anim>
                                  </p:childTnLst>
                                </p:cTn>
                              </p:par>
                              <p:par>
                                <p:cTn id="37" presetID="2" presetClass="entr" presetSubtype="1" decel="100000" fill="hold" grpId="0" nodeType="withEffect">
                                  <p:stCondLst>
                                    <p:cond delay="0"/>
                                  </p:stCondLst>
                                  <p:childTnLst>
                                    <p:set>
                                      <p:cBhvr>
                                        <p:cTn id="38" dur="1" fill="hold">
                                          <p:stCondLst>
                                            <p:cond delay="0"/>
                                          </p:stCondLst>
                                        </p:cTn>
                                        <p:tgtEl>
                                          <p:spTgt spid="43">
                                            <p:txEl>
                                              <p:pRg st="0" end="0"/>
                                            </p:txEl>
                                          </p:spTgt>
                                        </p:tgtEl>
                                        <p:attrNameLst>
                                          <p:attrName>style.visibility</p:attrName>
                                        </p:attrNameLst>
                                      </p:cBhvr>
                                      <p:to>
                                        <p:strVal val="visible"/>
                                      </p:to>
                                    </p:set>
                                    <p:anim calcmode="lin" valueType="num">
                                      <p:cBhvr additive="base">
                                        <p:cTn id="39" dur="100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40" dur="1000" fill="hold"/>
                                        <p:tgtEl>
                                          <p:spTgt spid="43">
                                            <p:txEl>
                                              <p:pRg st="0" end="0"/>
                                            </p:txEl>
                                          </p:spTgt>
                                        </p:tgtEl>
                                        <p:attrNameLst>
                                          <p:attrName>ppt_y</p:attrName>
                                        </p:attrNameLst>
                                      </p:cBhvr>
                                      <p:tavLst>
                                        <p:tav tm="0">
                                          <p:val>
                                            <p:strVal val="0-#ppt_h/2"/>
                                          </p:val>
                                        </p:tav>
                                        <p:tav tm="100000">
                                          <p:val>
                                            <p:strVal val="#ppt_y"/>
                                          </p:val>
                                        </p:tav>
                                      </p:tavLst>
                                    </p:anim>
                                  </p:childTnLst>
                                </p:cTn>
                              </p:par>
                              <p:par>
                                <p:cTn id="41" presetID="2" presetClass="entr" presetSubtype="1" decel="100000" fill="hold" grpId="0" nodeType="withEffect">
                                  <p:stCondLst>
                                    <p:cond delay="0"/>
                                  </p:stCondLst>
                                  <p:childTnLst>
                                    <p:set>
                                      <p:cBhvr>
                                        <p:cTn id="42" dur="1" fill="hold">
                                          <p:stCondLst>
                                            <p:cond delay="0"/>
                                          </p:stCondLst>
                                        </p:cTn>
                                        <p:tgtEl>
                                          <p:spTgt spid="42">
                                            <p:txEl>
                                              <p:pRg st="0" end="0"/>
                                            </p:txEl>
                                          </p:spTgt>
                                        </p:tgtEl>
                                        <p:attrNameLst>
                                          <p:attrName>style.visibility</p:attrName>
                                        </p:attrNameLst>
                                      </p:cBhvr>
                                      <p:to>
                                        <p:strVal val="visible"/>
                                      </p:to>
                                    </p:set>
                                    <p:anim calcmode="lin" valueType="num">
                                      <p:cBhvr additive="base">
                                        <p:cTn id="43" dur="1000" fill="hold"/>
                                        <p:tgtEl>
                                          <p:spTgt spid="42">
                                            <p:txEl>
                                              <p:pRg st="0" end="0"/>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42">
                                            <p:txEl>
                                              <p:pRg st="0" end="0"/>
                                            </p:txEl>
                                          </p:spTgt>
                                        </p:tgtEl>
                                        <p:attrNameLst>
                                          <p:attrName>ppt_y</p:attrName>
                                        </p:attrNameLst>
                                      </p:cBhvr>
                                      <p:tavLst>
                                        <p:tav tm="0">
                                          <p:val>
                                            <p:strVal val="0-#ppt_h/2"/>
                                          </p:val>
                                        </p:tav>
                                        <p:tav tm="100000">
                                          <p:val>
                                            <p:strVal val="#ppt_y"/>
                                          </p:val>
                                        </p:tav>
                                      </p:tavLst>
                                    </p:anim>
                                  </p:childTnLst>
                                </p:cTn>
                              </p:par>
                              <p:par>
                                <p:cTn id="45" presetID="2" presetClass="entr" presetSubtype="1" decel="100000" fill="hold" grpId="0" nodeType="withEffect">
                                  <p:stCondLst>
                                    <p:cond delay="0"/>
                                  </p:stCondLst>
                                  <p:childTnLst>
                                    <p:set>
                                      <p:cBhvr>
                                        <p:cTn id="46" dur="1" fill="hold">
                                          <p:stCondLst>
                                            <p:cond delay="0"/>
                                          </p:stCondLst>
                                        </p:cTn>
                                        <p:tgtEl>
                                          <p:spTgt spid="44">
                                            <p:txEl>
                                              <p:pRg st="0" end="0"/>
                                            </p:txEl>
                                          </p:spTgt>
                                        </p:tgtEl>
                                        <p:attrNameLst>
                                          <p:attrName>style.visibility</p:attrName>
                                        </p:attrNameLst>
                                      </p:cBhvr>
                                      <p:to>
                                        <p:strVal val="visible"/>
                                      </p:to>
                                    </p:set>
                                    <p:anim calcmode="lin" valueType="num">
                                      <p:cBhvr additive="base">
                                        <p:cTn id="47" dur="1000" fill="hold"/>
                                        <p:tgtEl>
                                          <p:spTgt spid="44">
                                            <p:txEl>
                                              <p:pRg st="0" end="0"/>
                                            </p:txEl>
                                          </p:spTgt>
                                        </p:tgtEl>
                                        <p:attrNameLst>
                                          <p:attrName>ppt_x</p:attrName>
                                        </p:attrNameLst>
                                      </p:cBhvr>
                                      <p:tavLst>
                                        <p:tav tm="0">
                                          <p:val>
                                            <p:strVal val="#ppt_x"/>
                                          </p:val>
                                        </p:tav>
                                        <p:tav tm="100000">
                                          <p:val>
                                            <p:strVal val="#ppt_x"/>
                                          </p:val>
                                        </p:tav>
                                      </p:tavLst>
                                    </p:anim>
                                    <p:anim calcmode="lin" valueType="num">
                                      <p:cBhvr additive="base">
                                        <p:cTn id="48" dur="1000" fill="hold"/>
                                        <p:tgtEl>
                                          <p:spTgt spid="44">
                                            <p:txEl>
                                              <p:pRg st="0" end="0"/>
                                            </p:txEl>
                                          </p:spTgt>
                                        </p:tgtEl>
                                        <p:attrNameLst>
                                          <p:attrName>ppt_y</p:attrName>
                                        </p:attrNameLst>
                                      </p:cBhvr>
                                      <p:tavLst>
                                        <p:tav tm="0">
                                          <p:val>
                                            <p:strVal val="0-#ppt_h/2"/>
                                          </p:val>
                                        </p:tav>
                                        <p:tav tm="100000">
                                          <p:val>
                                            <p:strVal val="#ppt_y"/>
                                          </p:val>
                                        </p:tav>
                                      </p:tavLst>
                                    </p:anim>
                                  </p:childTnLst>
                                </p:cTn>
                              </p:par>
                              <p:par>
                                <p:cTn id="49" presetID="2" presetClass="entr" presetSubtype="1" decel="100000" fill="hold" grpId="0" nodeType="withEffect">
                                  <p:stCondLst>
                                    <p:cond delay="0"/>
                                  </p:stCondLst>
                                  <p:childTnLst>
                                    <p:set>
                                      <p:cBhvr>
                                        <p:cTn id="50" dur="1" fill="hold">
                                          <p:stCondLst>
                                            <p:cond delay="0"/>
                                          </p:stCondLst>
                                        </p:cTn>
                                        <p:tgtEl>
                                          <p:spTgt spid="49">
                                            <p:txEl>
                                              <p:pRg st="0" end="0"/>
                                            </p:txEl>
                                          </p:spTgt>
                                        </p:tgtEl>
                                        <p:attrNameLst>
                                          <p:attrName>style.visibility</p:attrName>
                                        </p:attrNameLst>
                                      </p:cBhvr>
                                      <p:to>
                                        <p:strVal val="visible"/>
                                      </p:to>
                                    </p:set>
                                    <p:anim calcmode="lin" valueType="num">
                                      <p:cBhvr additive="base">
                                        <p:cTn id="51" dur="1000" fill="hold"/>
                                        <p:tgtEl>
                                          <p:spTgt spid="49">
                                            <p:txEl>
                                              <p:pRg st="0" end="0"/>
                                            </p:txEl>
                                          </p:spTgt>
                                        </p:tgtEl>
                                        <p:attrNameLst>
                                          <p:attrName>ppt_x</p:attrName>
                                        </p:attrNameLst>
                                      </p:cBhvr>
                                      <p:tavLst>
                                        <p:tav tm="0">
                                          <p:val>
                                            <p:strVal val="#ppt_x"/>
                                          </p:val>
                                        </p:tav>
                                        <p:tav tm="100000">
                                          <p:val>
                                            <p:strVal val="#ppt_x"/>
                                          </p:val>
                                        </p:tav>
                                      </p:tavLst>
                                    </p:anim>
                                    <p:anim calcmode="lin" valueType="num">
                                      <p:cBhvr additive="base">
                                        <p:cTn id="52" dur="1000" fill="hold"/>
                                        <p:tgtEl>
                                          <p:spTgt spid="49">
                                            <p:txEl>
                                              <p:pRg st="0" end="0"/>
                                            </p:txEl>
                                          </p:spTgt>
                                        </p:tgtEl>
                                        <p:attrNameLst>
                                          <p:attrName>ppt_y</p:attrName>
                                        </p:attrNameLst>
                                      </p:cBhvr>
                                      <p:tavLst>
                                        <p:tav tm="0">
                                          <p:val>
                                            <p:strVal val="0-#ppt_h/2"/>
                                          </p:val>
                                        </p:tav>
                                        <p:tav tm="100000">
                                          <p:val>
                                            <p:strVal val="#ppt_y"/>
                                          </p:val>
                                        </p:tav>
                                      </p:tavLst>
                                    </p:anim>
                                  </p:childTnLst>
                                </p:cTn>
                              </p:par>
                              <p:par>
                                <p:cTn id="53" presetID="2" presetClass="entr" presetSubtype="3" decel="100000" fill="hold" grpId="0" nodeType="withEffect">
                                  <p:stCondLst>
                                    <p:cond delay="0"/>
                                  </p:stCondLst>
                                  <p:childTnLst>
                                    <p:set>
                                      <p:cBhvr>
                                        <p:cTn id="54" dur="1" fill="hold">
                                          <p:stCondLst>
                                            <p:cond delay="0"/>
                                          </p:stCondLst>
                                        </p:cTn>
                                        <p:tgtEl>
                                          <p:spTgt spid="21">
                                            <p:txEl>
                                              <p:pRg st="0" end="0"/>
                                            </p:txEl>
                                          </p:spTgt>
                                        </p:tgtEl>
                                        <p:attrNameLst>
                                          <p:attrName>style.visibility</p:attrName>
                                        </p:attrNameLst>
                                      </p:cBhvr>
                                      <p:to>
                                        <p:strVal val="visible"/>
                                      </p:to>
                                    </p:set>
                                    <p:anim calcmode="lin" valueType="num">
                                      <p:cBhvr additive="base">
                                        <p:cTn id="55" dur="10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56" dur="1000" fill="hold"/>
                                        <p:tgtEl>
                                          <p:spTgt spid="21">
                                            <p:txEl>
                                              <p:pRg st="0" end="0"/>
                                            </p:txEl>
                                          </p:spTgt>
                                        </p:tgtEl>
                                        <p:attrNameLst>
                                          <p:attrName>ppt_y</p:attrName>
                                        </p:attrNameLst>
                                      </p:cBhvr>
                                      <p:tavLst>
                                        <p:tav tm="0">
                                          <p:val>
                                            <p:strVal val="0-#ppt_h/2"/>
                                          </p:val>
                                        </p:tav>
                                        <p:tav tm="100000">
                                          <p:val>
                                            <p:strVal val="#ppt_y"/>
                                          </p:val>
                                        </p:tav>
                                      </p:tavLst>
                                    </p:anim>
                                  </p:childTnLst>
                                </p:cTn>
                              </p:par>
                              <p:par>
                                <p:cTn id="57" presetID="2" presetClass="entr" presetSubtype="3" decel="100000" fill="hold" grpId="0" nodeType="withEffect">
                                  <p:stCondLst>
                                    <p:cond delay="0"/>
                                  </p:stCondLst>
                                  <p:childTnLst>
                                    <p:set>
                                      <p:cBhvr>
                                        <p:cTn id="58" dur="1" fill="hold">
                                          <p:stCondLst>
                                            <p:cond delay="0"/>
                                          </p:stCondLst>
                                        </p:cTn>
                                        <p:tgtEl>
                                          <p:spTgt spid="30">
                                            <p:txEl>
                                              <p:pRg st="0" end="0"/>
                                            </p:txEl>
                                          </p:spTgt>
                                        </p:tgtEl>
                                        <p:attrNameLst>
                                          <p:attrName>style.visibility</p:attrName>
                                        </p:attrNameLst>
                                      </p:cBhvr>
                                      <p:to>
                                        <p:strVal val="visible"/>
                                      </p:to>
                                    </p:set>
                                    <p:anim calcmode="lin" valueType="num">
                                      <p:cBhvr additive="base">
                                        <p:cTn id="59" dur="1000" fill="hold"/>
                                        <p:tgtEl>
                                          <p:spTgt spid="30">
                                            <p:txEl>
                                              <p:pRg st="0" end="0"/>
                                            </p:txEl>
                                          </p:spTgt>
                                        </p:tgtEl>
                                        <p:attrNameLst>
                                          <p:attrName>ppt_x</p:attrName>
                                        </p:attrNameLst>
                                      </p:cBhvr>
                                      <p:tavLst>
                                        <p:tav tm="0">
                                          <p:val>
                                            <p:strVal val="1+#ppt_w/2"/>
                                          </p:val>
                                        </p:tav>
                                        <p:tav tm="100000">
                                          <p:val>
                                            <p:strVal val="#ppt_x"/>
                                          </p:val>
                                        </p:tav>
                                      </p:tavLst>
                                    </p:anim>
                                    <p:anim calcmode="lin" valueType="num">
                                      <p:cBhvr additive="base">
                                        <p:cTn id="60" dur="1000" fill="hold"/>
                                        <p:tgtEl>
                                          <p:spTgt spid="30">
                                            <p:txEl>
                                              <p:pRg st="0" end="0"/>
                                            </p:txEl>
                                          </p:spTgt>
                                        </p:tgtEl>
                                        <p:attrNameLst>
                                          <p:attrName>ppt_y</p:attrName>
                                        </p:attrNameLst>
                                      </p:cBhvr>
                                      <p:tavLst>
                                        <p:tav tm="0">
                                          <p:val>
                                            <p:strVal val="0-#ppt_h/2"/>
                                          </p:val>
                                        </p:tav>
                                        <p:tav tm="100000">
                                          <p:val>
                                            <p:strVal val="#ppt_y"/>
                                          </p:val>
                                        </p:tav>
                                      </p:tavLst>
                                    </p:anim>
                                  </p:childTnLst>
                                </p:cTn>
                              </p:par>
                              <p:par>
                                <p:cTn id="61" presetID="2" presetClass="entr" presetSubtype="6" decel="100000" fill="hold" grpId="0" nodeType="withEffect">
                                  <p:stCondLst>
                                    <p:cond delay="0"/>
                                  </p:stCondLst>
                                  <p:childTnLst>
                                    <p:set>
                                      <p:cBhvr>
                                        <p:cTn id="62" dur="1" fill="hold">
                                          <p:stCondLst>
                                            <p:cond delay="0"/>
                                          </p:stCondLst>
                                        </p:cTn>
                                        <p:tgtEl>
                                          <p:spTgt spid="6">
                                            <p:txEl>
                                              <p:pRg st="0" end="0"/>
                                            </p:txEl>
                                          </p:spTgt>
                                        </p:tgtEl>
                                        <p:attrNameLst>
                                          <p:attrName>style.visibility</p:attrName>
                                        </p:attrNameLst>
                                      </p:cBhvr>
                                      <p:to>
                                        <p:strVal val="visible"/>
                                      </p:to>
                                    </p:set>
                                    <p:anim calcmode="lin" valueType="num">
                                      <p:cBhvr additive="base">
                                        <p:cTn id="63" dur="1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64" dur="1000" fill="hold"/>
                                        <p:tgtEl>
                                          <p:spTgt spid="6">
                                            <p:txEl>
                                              <p:pRg st="0" end="0"/>
                                            </p:txEl>
                                          </p:spTgt>
                                        </p:tgtEl>
                                        <p:attrNameLst>
                                          <p:attrName>ppt_y</p:attrName>
                                        </p:attrNameLst>
                                      </p:cBhvr>
                                      <p:tavLst>
                                        <p:tav tm="0">
                                          <p:val>
                                            <p:strVal val="1+#ppt_h/2"/>
                                          </p:val>
                                        </p:tav>
                                        <p:tav tm="100000">
                                          <p:val>
                                            <p:strVal val="#ppt_y"/>
                                          </p:val>
                                        </p:tav>
                                      </p:tavLst>
                                    </p:anim>
                                  </p:childTnLst>
                                </p:cTn>
                              </p:par>
                              <p:par>
                                <p:cTn id="65" presetID="2" presetClass="entr" presetSubtype="6" decel="100000" fill="hold" grpId="0" nodeType="withEffect">
                                  <p:stCondLst>
                                    <p:cond delay="0"/>
                                  </p:stCondLst>
                                  <p:childTnLst>
                                    <p:set>
                                      <p:cBhvr>
                                        <p:cTn id="66" dur="1" fill="hold">
                                          <p:stCondLst>
                                            <p:cond delay="0"/>
                                          </p:stCondLst>
                                        </p:cTn>
                                        <p:tgtEl>
                                          <p:spTgt spid="16">
                                            <p:txEl>
                                              <p:pRg st="0" end="0"/>
                                            </p:txEl>
                                          </p:spTgt>
                                        </p:tgtEl>
                                        <p:attrNameLst>
                                          <p:attrName>style.visibility</p:attrName>
                                        </p:attrNameLst>
                                      </p:cBhvr>
                                      <p:to>
                                        <p:strVal val="visible"/>
                                      </p:to>
                                    </p:set>
                                    <p:anim calcmode="lin" valueType="num">
                                      <p:cBhvr additive="base">
                                        <p:cTn id="67" dur="10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68" dur="1000" fill="hold"/>
                                        <p:tgtEl>
                                          <p:spTgt spid="16">
                                            <p:txEl>
                                              <p:pRg st="0" end="0"/>
                                            </p:txEl>
                                          </p:spTgt>
                                        </p:tgtEl>
                                        <p:attrNameLst>
                                          <p:attrName>ppt_y</p:attrName>
                                        </p:attrNameLst>
                                      </p:cBhvr>
                                      <p:tavLst>
                                        <p:tav tm="0">
                                          <p:val>
                                            <p:strVal val="1+#ppt_h/2"/>
                                          </p:val>
                                        </p:tav>
                                        <p:tav tm="100000">
                                          <p:val>
                                            <p:strVal val="#ppt_y"/>
                                          </p:val>
                                        </p:tav>
                                      </p:tavLst>
                                    </p:anim>
                                  </p:childTnLst>
                                </p:cTn>
                              </p:par>
                              <p:par>
                                <p:cTn id="69" presetID="2" presetClass="entr" presetSubtype="6" decel="100000" fill="hold" grpId="0" nodeType="withEffect">
                                  <p:stCondLst>
                                    <p:cond delay="0"/>
                                  </p:stCondLst>
                                  <p:childTnLst>
                                    <p:set>
                                      <p:cBhvr>
                                        <p:cTn id="70" dur="1" fill="hold">
                                          <p:stCondLst>
                                            <p:cond delay="0"/>
                                          </p:stCondLst>
                                        </p:cTn>
                                        <p:tgtEl>
                                          <p:spTgt spid="17">
                                            <p:txEl>
                                              <p:pRg st="0" end="0"/>
                                            </p:txEl>
                                          </p:spTgt>
                                        </p:tgtEl>
                                        <p:attrNameLst>
                                          <p:attrName>style.visibility</p:attrName>
                                        </p:attrNameLst>
                                      </p:cBhvr>
                                      <p:to>
                                        <p:strVal val="visible"/>
                                      </p:to>
                                    </p:set>
                                    <p:anim calcmode="lin" valueType="num">
                                      <p:cBhvr additive="base">
                                        <p:cTn id="71" dur="10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72" dur="1000" fill="hold"/>
                                        <p:tgtEl>
                                          <p:spTgt spid="17">
                                            <p:txEl>
                                              <p:pRg st="0" end="0"/>
                                            </p:txEl>
                                          </p:spTgt>
                                        </p:tgtEl>
                                        <p:attrNameLst>
                                          <p:attrName>ppt_y</p:attrName>
                                        </p:attrNameLst>
                                      </p:cBhvr>
                                      <p:tavLst>
                                        <p:tav tm="0">
                                          <p:val>
                                            <p:strVal val="1+#ppt_h/2"/>
                                          </p:val>
                                        </p:tav>
                                        <p:tav tm="100000">
                                          <p:val>
                                            <p:strVal val="#ppt_y"/>
                                          </p:val>
                                        </p:tav>
                                      </p:tavLst>
                                    </p:anim>
                                  </p:childTnLst>
                                </p:cTn>
                              </p:par>
                              <p:par>
                                <p:cTn id="73" presetID="2" presetClass="entr" presetSubtype="6" decel="100000" fill="hold" grpId="0" nodeType="withEffect">
                                  <p:stCondLst>
                                    <p:cond delay="0"/>
                                  </p:stCondLst>
                                  <p:childTnLst>
                                    <p:set>
                                      <p:cBhvr>
                                        <p:cTn id="74" dur="1" fill="hold">
                                          <p:stCondLst>
                                            <p:cond delay="0"/>
                                          </p:stCondLst>
                                        </p:cTn>
                                        <p:tgtEl>
                                          <p:spTgt spid="18">
                                            <p:txEl>
                                              <p:pRg st="0" end="0"/>
                                            </p:txEl>
                                          </p:spTgt>
                                        </p:tgtEl>
                                        <p:attrNameLst>
                                          <p:attrName>style.visibility</p:attrName>
                                        </p:attrNameLst>
                                      </p:cBhvr>
                                      <p:to>
                                        <p:strVal val="visible"/>
                                      </p:to>
                                    </p:set>
                                    <p:anim calcmode="lin" valueType="num">
                                      <p:cBhvr additive="base">
                                        <p:cTn id="75" dur="10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76" dur="1000" fill="hold"/>
                                        <p:tgtEl>
                                          <p:spTgt spid="18">
                                            <p:txEl>
                                              <p:pRg st="0" end="0"/>
                                            </p:txEl>
                                          </p:spTgt>
                                        </p:tgtEl>
                                        <p:attrNameLst>
                                          <p:attrName>ppt_y</p:attrName>
                                        </p:attrNameLst>
                                      </p:cBhvr>
                                      <p:tavLst>
                                        <p:tav tm="0">
                                          <p:val>
                                            <p:strVal val="1+#ppt_h/2"/>
                                          </p:val>
                                        </p:tav>
                                        <p:tav tm="100000">
                                          <p:val>
                                            <p:strVal val="#ppt_y"/>
                                          </p:val>
                                        </p:tav>
                                      </p:tavLst>
                                    </p:anim>
                                  </p:childTnLst>
                                </p:cTn>
                              </p:par>
                              <p:par>
                                <p:cTn id="77" presetID="2" presetClass="entr" presetSubtype="6" decel="100000" fill="hold" grpId="0" nodeType="withEffect">
                                  <p:stCondLst>
                                    <p:cond delay="0"/>
                                  </p:stCondLst>
                                  <p:childTnLst>
                                    <p:set>
                                      <p:cBhvr>
                                        <p:cTn id="78" dur="1" fill="hold">
                                          <p:stCondLst>
                                            <p:cond delay="0"/>
                                          </p:stCondLst>
                                        </p:cTn>
                                        <p:tgtEl>
                                          <p:spTgt spid="19">
                                            <p:txEl>
                                              <p:pRg st="0" end="0"/>
                                            </p:txEl>
                                          </p:spTgt>
                                        </p:tgtEl>
                                        <p:attrNameLst>
                                          <p:attrName>style.visibility</p:attrName>
                                        </p:attrNameLst>
                                      </p:cBhvr>
                                      <p:to>
                                        <p:strVal val="visible"/>
                                      </p:to>
                                    </p:set>
                                    <p:anim calcmode="lin" valueType="num">
                                      <p:cBhvr additive="base">
                                        <p:cTn id="79" dur="10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80" dur="1000" fill="hold"/>
                                        <p:tgtEl>
                                          <p:spTgt spid="19">
                                            <p:txEl>
                                              <p:pRg st="0" end="0"/>
                                            </p:txEl>
                                          </p:spTgt>
                                        </p:tgtEl>
                                        <p:attrNameLst>
                                          <p:attrName>ppt_y</p:attrName>
                                        </p:attrNameLst>
                                      </p:cBhvr>
                                      <p:tavLst>
                                        <p:tav tm="0">
                                          <p:val>
                                            <p:strVal val="1+#ppt_h/2"/>
                                          </p:val>
                                        </p:tav>
                                        <p:tav tm="100000">
                                          <p:val>
                                            <p:strVal val="#ppt_y"/>
                                          </p:val>
                                        </p:tav>
                                      </p:tavLst>
                                    </p:anim>
                                  </p:childTnLst>
                                </p:cTn>
                              </p:par>
                              <p:par>
                                <p:cTn id="81" presetID="2" presetClass="entr" presetSubtype="6" decel="100000" fill="hold" grpId="0" nodeType="withEffect">
                                  <p:stCondLst>
                                    <p:cond delay="0"/>
                                  </p:stCondLst>
                                  <p:childTnLst>
                                    <p:set>
                                      <p:cBhvr>
                                        <p:cTn id="82" dur="1" fill="hold">
                                          <p:stCondLst>
                                            <p:cond delay="0"/>
                                          </p:stCondLst>
                                        </p:cTn>
                                        <p:tgtEl>
                                          <p:spTgt spid="23">
                                            <p:txEl>
                                              <p:pRg st="0" end="0"/>
                                            </p:txEl>
                                          </p:spTgt>
                                        </p:tgtEl>
                                        <p:attrNameLst>
                                          <p:attrName>style.visibility</p:attrName>
                                        </p:attrNameLst>
                                      </p:cBhvr>
                                      <p:to>
                                        <p:strVal val="visible"/>
                                      </p:to>
                                    </p:set>
                                    <p:anim calcmode="lin" valueType="num">
                                      <p:cBhvr additive="base">
                                        <p:cTn id="83" dur="10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84" dur="1000" fill="hold"/>
                                        <p:tgtEl>
                                          <p:spTgt spid="23">
                                            <p:txEl>
                                              <p:pRg st="0" end="0"/>
                                            </p:txEl>
                                          </p:spTgt>
                                        </p:tgtEl>
                                        <p:attrNameLst>
                                          <p:attrName>ppt_y</p:attrName>
                                        </p:attrNameLst>
                                      </p:cBhvr>
                                      <p:tavLst>
                                        <p:tav tm="0">
                                          <p:val>
                                            <p:strVal val="1+#ppt_h/2"/>
                                          </p:val>
                                        </p:tav>
                                        <p:tav tm="100000">
                                          <p:val>
                                            <p:strVal val="#ppt_y"/>
                                          </p:val>
                                        </p:tav>
                                      </p:tavLst>
                                    </p:anim>
                                  </p:childTnLst>
                                </p:cTn>
                              </p:par>
                              <p:par>
                                <p:cTn id="85" presetID="2" presetClass="entr" presetSubtype="6" decel="100000" fill="hold" grpId="0" nodeType="withEffect">
                                  <p:stCondLst>
                                    <p:cond delay="0"/>
                                  </p:stCondLst>
                                  <p:childTnLst>
                                    <p:set>
                                      <p:cBhvr>
                                        <p:cTn id="86" dur="1" fill="hold">
                                          <p:stCondLst>
                                            <p:cond delay="0"/>
                                          </p:stCondLst>
                                        </p:cTn>
                                        <p:tgtEl>
                                          <p:spTgt spid="34">
                                            <p:txEl>
                                              <p:pRg st="0" end="0"/>
                                            </p:txEl>
                                          </p:spTgt>
                                        </p:tgtEl>
                                        <p:attrNameLst>
                                          <p:attrName>style.visibility</p:attrName>
                                        </p:attrNameLst>
                                      </p:cBhvr>
                                      <p:to>
                                        <p:strVal val="visible"/>
                                      </p:to>
                                    </p:set>
                                    <p:anim calcmode="lin" valueType="num">
                                      <p:cBhvr additive="base">
                                        <p:cTn id="87" dur="1000" fill="hold"/>
                                        <p:tgtEl>
                                          <p:spTgt spid="34">
                                            <p:txEl>
                                              <p:pRg st="0" end="0"/>
                                            </p:txEl>
                                          </p:spTgt>
                                        </p:tgtEl>
                                        <p:attrNameLst>
                                          <p:attrName>ppt_x</p:attrName>
                                        </p:attrNameLst>
                                      </p:cBhvr>
                                      <p:tavLst>
                                        <p:tav tm="0">
                                          <p:val>
                                            <p:strVal val="1+#ppt_w/2"/>
                                          </p:val>
                                        </p:tav>
                                        <p:tav tm="100000">
                                          <p:val>
                                            <p:strVal val="#ppt_x"/>
                                          </p:val>
                                        </p:tav>
                                      </p:tavLst>
                                    </p:anim>
                                    <p:anim calcmode="lin" valueType="num">
                                      <p:cBhvr additive="base">
                                        <p:cTn id="88" dur="1000" fill="hold"/>
                                        <p:tgtEl>
                                          <p:spTgt spid="34">
                                            <p:txEl>
                                              <p:pRg st="0" end="0"/>
                                            </p:txEl>
                                          </p:spTgt>
                                        </p:tgtEl>
                                        <p:attrNameLst>
                                          <p:attrName>ppt_y</p:attrName>
                                        </p:attrNameLst>
                                      </p:cBhvr>
                                      <p:tavLst>
                                        <p:tav tm="0">
                                          <p:val>
                                            <p:strVal val="1+#ppt_h/2"/>
                                          </p:val>
                                        </p:tav>
                                        <p:tav tm="100000">
                                          <p:val>
                                            <p:strVal val="#ppt_y"/>
                                          </p:val>
                                        </p:tav>
                                      </p:tavLst>
                                    </p:anim>
                                  </p:childTnLst>
                                </p:cTn>
                              </p:par>
                              <p:par>
                                <p:cTn id="89" presetID="2" presetClass="entr" presetSubtype="6" decel="100000" fill="hold" grpId="0" nodeType="withEffect">
                                  <p:stCondLst>
                                    <p:cond delay="0"/>
                                  </p:stCondLst>
                                  <p:childTnLst>
                                    <p:set>
                                      <p:cBhvr>
                                        <p:cTn id="90" dur="1" fill="hold">
                                          <p:stCondLst>
                                            <p:cond delay="0"/>
                                          </p:stCondLst>
                                        </p:cTn>
                                        <p:tgtEl>
                                          <p:spTgt spid="36">
                                            <p:txEl>
                                              <p:pRg st="0" end="0"/>
                                            </p:txEl>
                                          </p:spTgt>
                                        </p:tgtEl>
                                        <p:attrNameLst>
                                          <p:attrName>style.visibility</p:attrName>
                                        </p:attrNameLst>
                                      </p:cBhvr>
                                      <p:to>
                                        <p:strVal val="visible"/>
                                      </p:to>
                                    </p:set>
                                    <p:anim calcmode="lin" valueType="num">
                                      <p:cBhvr additive="base">
                                        <p:cTn id="91" dur="1000" fill="hold"/>
                                        <p:tgtEl>
                                          <p:spTgt spid="36">
                                            <p:txEl>
                                              <p:pRg st="0" end="0"/>
                                            </p:txEl>
                                          </p:spTgt>
                                        </p:tgtEl>
                                        <p:attrNameLst>
                                          <p:attrName>ppt_x</p:attrName>
                                        </p:attrNameLst>
                                      </p:cBhvr>
                                      <p:tavLst>
                                        <p:tav tm="0">
                                          <p:val>
                                            <p:strVal val="1+#ppt_w/2"/>
                                          </p:val>
                                        </p:tav>
                                        <p:tav tm="100000">
                                          <p:val>
                                            <p:strVal val="#ppt_x"/>
                                          </p:val>
                                        </p:tav>
                                      </p:tavLst>
                                    </p:anim>
                                    <p:anim calcmode="lin" valueType="num">
                                      <p:cBhvr additive="base">
                                        <p:cTn id="92" dur="1000" fill="hold"/>
                                        <p:tgtEl>
                                          <p:spTgt spid="36">
                                            <p:txEl>
                                              <p:pRg st="0" end="0"/>
                                            </p:txEl>
                                          </p:spTgt>
                                        </p:tgtEl>
                                        <p:attrNameLst>
                                          <p:attrName>ppt_y</p:attrName>
                                        </p:attrNameLst>
                                      </p:cBhvr>
                                      <p:tavLst>
                                        <p:tav tm="0">
                                          <p:val>
                                            <p:strVal val="1+#ppt_h/2"/>
                                          </p:val>
                                        </p:tav>
                                        <p:tav tm="100000">
                                          <p:val>
                                            <p:strVal val="#ppt_y"/>
                                          </p:val>
                                        </p:tav>
                                      </p:tavLst>
                                    </p:anim>
                                  </p:childTnLst>
                                </p:cTn>
                              </p:par>
                              <p:par>
                                <p:cTn id="93" presetID="2" presetClass="entr" presetSubtype="6" decel="100000" fill="hold" grpId="0" nodeType="withEffect">
                                  <p:stCondLst>
                                    <p:cond delay="0"/>
                                  </p:stCondLst>
                                  <p:childTnLst>
                                    <p:set>
                                      <p:cBhvr>
                                        <p:cTn id="94" dur="1" fill="hold">
                                          <p:stCondLst>
                                            <p:cond delay="0"/>
                                          </p:stCondLst>
                                        </p:cTn>
                                        <p:tgtEl>
                                          <p:spTgt spid="37">
                                            <p:txEl>
                                              <p:pRg st="0" end="0"/>
                                            </p:txEl>
                                          </p:spTgt>
                                        </p:tgtEl>
                                        <p:attrNameLst>
                                          <p:attrName>style.visibility</p:attrName>
                                        </p:attrNameLst>
                                      </p:cBhvr>
                                      <p:to>
                                        <p:strVal val="visible"/>
                                      </p:to>
                                    </p:set>
                                    <p:anim calcmode="lin" valueType="num">
                                      <p:cBhvr additive="base">
                                        <p:cTn id="95" dur="1000" fill="hold"/>
                                        <p:tgtEl>
                                          <p:spTgt spid="37">
                                            <p:txEl>
                                              <p:pRg st="0" end="0"/>
                                            </p:txEl>
                                          </p:spTgt>
                                        </p:tgtEl>
                                        <p:attrNameLst>
                                          <p:attrName>ppt_x</p:attrName>
                                        </p:attrNameLst>
                                      </p:cBhvr>
                                      <p:tavLst>
                                        <p:tav tm="0">
                                          <p:val>
                                            <p:strVal val="1+#ppt_w/2"/>
                                          </p:val>
                                        </p:tav>
                                        <p:tav tm="100000">
                                          <p:val>
                                            <p:strVal val="#ppt_x"/>
                                          </p:val>
                                        </p:tav>
                                      </p:tavLst>
                                    </p:anim>
                                    <p:anim calcmode="lin" valueType="num">
                                      <p:cBhvr additive="base">
                                        <p:cTn id="96" dur="1000" fill="hold"/>
                                        <p:tgtEl>
                                          <p:spTgt spid="37">
                                            <p:txEl>
                                              <p:pRg st="0" end="0"/>
                                            </p:txEl>
                                          </p:spTgt>
                                        </p:tgtEl>
                                        <p:attrNameLst>
                                          <p:attrName>ppt_y</p:attrName>
                                        </p:attrNameLst>
                                      </p:cBhvr>
                                      <p:tavLst>
                                        <p:tav tm="0">
                                          <p:val>
                                            <p:strVal val="1+#ppt_h/2"/>
                                          </p:val>
                                        </p:tav>
                                        <p:tav tm="100000">
                                          <p:val>
                                            <p:strVal val="#ppt_y"/>
                                          </p:val>
                                        </p:tav>
                                      </p:tavLst>
                                    </p:anim>
                                  </p:childTnLst>
                                </p:cTn>
                              </p:par>
                              <p:par>
                                <p:cTn id="97" presetID="2" presetClass="entr" presetSubtype="6" decel="100000" fill="hold" grpId="0" nodeType="withEffect">
                                  <p:stCondLst>
                                    <p:cond delay="0"/>
                                  </p:stCondLst>
                                  <p:childTnLst>
                                    <p:set>
                                      <p:cBhvr>
                                        <p:cTn id="98" dur="1" fill="hold">
                                          <p:stCondLst>
                                            <p:cond delay="0"/>
                                          </p:stCondLst>
                                        </p:cTn>
                                        <p:tgtEl>
                                          <p:spTgt spid="39">
                                            <p:txEl>
                                              <p:pRg st="0" end="0"/>
                                            </p:txEl>
                                          </p:spTgt>
                                        </p:tgtEl>
                                        <p:attrNameLst>
                                          <p:attrName>style.visibility</p:attrName>
                                        </p:attrNameLst>
                                      </p:cBhvr>
                                      <p:to>
                                        <p:strVal val="visible"/>
                                      </p:to>
                                    </p:set>
                                    <p:anim calcmode="lin" valueType="num">
                                      <p:cBhvr additive="base">
                                        <p:cTn id="99" dur="10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100" dur="1000" fill="hold"/>
                                        <p:tgtEl>
                                          <p:spTgt spid="39">
                                            <p:txEl>
                                              <p:pRg st="0" end="0"/>
                                            </p:txEl>
                                          </p:spTgt>
                                        </p:tgtEl>
                                        <p:attrNameLst>
                                          <p:attrName>ppt_y</p:attrName>
                                        </p:attrNameLst>
                                      </p:cBhvr>
                                      <p:tavLst>
                                        <p:tav tm="0">
                                          <p:val>
                                            <p:strVal val="1+#ppt_h/2"/>
                                          </p:val>
                                        </p:tav>
                                        <p:tav tm="100000">
                                          <p:val>
                                            <p:strVal val="#ppt_y"/>
                                          </p:val>
                                        </p:tav>
                                      </p:tavLst>
                                    </p:anim>
                                  </p:childTnLst>
                                </p:cTn>
                              </p:par>
                              <p:par>
                                <p:cTn id="101" presetID="2" presetClass="entr" presetSubtype="6" decel="100000" fill="hold" grpId="0" nodeType="withEffect">
                                  <p:stCondLst>
                                    <p:cond delay="0"/>
                                  </p:stCondLst>
                                  <p:childTnLst>
                                    <p:set>
                                      <p:cBhvr>
                                        <p:cTn id="102" dur="1" fill="hold">
                                          <p:stCondLst>
                                            <p:cond delay="0"/>
                                          </p:stCondLst>
                                        </p:cTn>
                                        <p:tgtEl>
                                          <p:spTgt spid="45">
                                            <p:txEl>
                                              <p:pRg st="0" end="0"/>
                                            </p:txEl>
                                          </p:spTgt>
                                        </p:tgtEl>
                                        <p:attrNameLst>
                                          <p:attrName>style.visibility</p:attrName>
                                        </p:attrNameLst>
                                      </p:cBhvr>
                                      <p:to>
                                        <p:strVal val="visible"/>
                                      </p:to>
                                    </p:set>
                                    <p:anim calcmode="lin" valueType="num">
                                      <p:cBhvr additive="base">
                                        <p:cTn id="103" dur="1000" fill="hold"/>
                                        <p:tgtEl>
                                          <p:spTgt spid="45">
                                            <p:txEl>
                                              <p:pRg st="0" end="0"/>
                                            </p:txEl>
                                          </p:spTgt>
                                        </p:tgtEl>
                                        <p:attrNameLst>
                                          <p:attrName>ppt_x</p:attrName>
                                        </p:attrNameLst>
                                      </p:cBhvr>
                                      <p:tavLst>
                                        <p:tav tm="0">
                                          <p:val>
                                            <p:strVal val="1+#ppt_w/2"/>
                                          </p:val>
                                        </p:tav>
                                        <p:tav tm="100000">
                                          <p:val>
                                            <p:strVal val="#ppt_x"/>
                                          </p:val>
                                        </p:tav>
                                      </p:tavLst>
                                    </p:anim>
                                    <p:anim calcmode="lin" valueType="num">
                                      <p:cBhvr additive="base">
                                        <p:cTn id="104" dur="1000" fill="hold"/>
                                        <p:tgtEl>
                                          <p:spTgt spid="45">
                                            <p:txEl>
                                              <p:pRg st="0" end="0"/>
                                            </p:txEl>
                                          </p:spTgt>
                                        </p:tgtEl>
                                        <p:attrNameLst>
                                          <p:attrName>ppt_y</p:attrName>
                                        </p:attrNameLst>
                                      </p:cBhvr>
                                      <p:tavLst>
                                        <p:tav tm="0">
                                          <p:val>
                                            <p:strVal val="1+#ppt_h/2"/>
                                          </p:val>
                                        </p:tav>
                                        <p:tav tm="100000">
                                          <p:val>
                                            <p:strVal val="#ppt_y"/>
                                          </p:val>
                                        </p:tav>
                                      </p:tavLst>
                                    </p:anim>
                                  </p:childTnLst>
                                </p:cTn>
                              </p:par>
                              <p:par>
                                <p:cTn id="105" presetID="2" presetClass="entr" presetSubtype="6" decel="100000" fill="hold" grpId="0" nodeType="withEffect">
                                  <p:stCondLst>
                                    <p:cond delay="0"/>
                                  </p:stCondLst>
                                  <p:childTnLst>
                                    <p:set>
                                      <p:cBhvr>
                                        <p:cTn id="106" dur="1" fill="hold">
                                          <p:stCondLst>
                                            <p:cond delay="0"/>
                                          </p:stCondLst>
                                        </p:cTn>
                                        <p:tgtEl>
                                          <p:spTgt spid="52">
                                            <p:txEl>
                                              <p:pRg st="0" end="0"/>
                                            </p:txEl>
                                          </p:spTgt>
                                        </p:tgtEl>
                                        <p:attrNameLst>
                                          <p:attrName>style.visibility</p:attrName>
                                        </p:attrNameLst>
                                      </p:cBhvr>
                                      <p:to>
                                        <p:strVal val="visible"/>
                                      </p:to>
                                    </p:set>
                                    <p:anim calcmode="lin" valueType="num">
                                      <p:cBhvr additive="base">
                                        <p:cTn id="107" dur="1000" fill="hold"/>
                                        <p:tgtEl>
                                          <p:spTgt spid="52">
                                            <p:txEl>
                                              <p:pRg st="0" end="0"/>
                                            </p:txEl>
                                          </p:spTgt>
                                        </p:tgtEl>
                                        <p:attrNameLst>
                                          <p:attrName>ppt_x</p:attrName>
                                        </p:attrNameLst>
                                      </p:cBhvr>
                                      <p:tavLst>
                                        <p:tav tm="0">
                                          <p:val>
                                            <p:strVal val="1+#ppt_w/2"/>
                                          </p:val>
                                        </p:tav>
                                        <p:tav tm="100000">
                                          <p:val>
                                            <p:strVal val="#ppt_x"/>
                                          </p:val>
                                        </p:tav>
                                      </p:tavLst>
                                    </p:anim>
                                    <p:anim calcmode="lin" valueType="num">
                                      <p:cBhvr additive="base">
                                        <p:cTn id="108" dur="1000" fill="hold"/>
                                        <p:tgtEl>
                                          <p:spTgt spid="52">
                                            <p:txEl>
                                              <p:pRg st="0" end="0"/>
                                            </p:txEl>
                                          </p:spTgt>
                                        </p:tgtEl>
                                        <p:attrNameLst>
                                          <p:attrName>ppt_y</p:attrName>
                                        </p:attrNameLst>
                                      </p:cBhvr>
                                      <p:tavLst>
                                        <p:tav tm="0">
                                          <p:val>
                                            <p:strVal val="1+#ppt_h/2"/>
                                          </p:val>
                                        </p:tav>
                                        <p:tav tm="100000">
                                          <p:val>
                                            <p:strVal val="#ppt_y"/>
                                          </p:val>
                                        </p:tav>
                                      </p:tavLst>
                                    </p:anim>
                                  </p:childTnLst>
                                </p:cTn>
                              </p:par>
                              <p:par>
                                <p:cTn id="109" presetID="2" presetClass="entr" presetSubtype="6" decel="100000" fill="hold" grpId="0" nodeType="withEffect">
                                  <p:stCondLst>
                                    <p:cond delay="0"/>
                                  </p:stCondLst>
                                  <p:childTnLst>
                                    <p:set>
                                      <p:cBhvr>
                                        <p:cTn id="110" dur="1" fill="hold">
                                          <p:stCondLst>
                                            <p:cond delay="0"/>
                                          </p:stCondLst>
                                        </p:cTn>
                                        <p:tgtEl>
                                          <p:spTgt spid="54">
                                            <p:txEl>
                                              <p:pRg st="0" end="0"/>
                                            </p:txEl>
                                          </p:spTgt>
                                        </p:tgtEl>
                                        <p:attrNameLst>
                                          <p:attrName>style.visibility</p:attrName>
                                        </p:attrNameLst>
                                      </p:cBhvr>
                                      <p:to>
                                        <p:strVal val="visible"/>
                                      </p:to>
                                    </p:set>
                                    <p:anim calcmode="lin" valueType="num">
                                      <p:cBhvr additive="base">
                                        <p:cTn id="111" dur="1000" fill="hold"/>
                                        <p:tgtEl>
                                          <p:spTgt spid="54">
                                            <p:txEl>
                                              <p:pRg st="0" end="0"/>
                                            </p:txEl>
                                          </p:spTgt>
                                        </p:tgtEl>
                                        <p:attrNameLst>
                                          <p:attrName>ppt_x</p:attrName>
                                        </p:attrNameLst>
                                      </p:cBhvr>
                                      <p:tavLst>
                                        <p:tav tm="0">
                                          <p:val>
                                            <p:strVal val="1+#ppt_w/2"/>
                                          </p:val>
                                        </p:tav>
                                        <p:tav tm="100000">
                                          <p:val>
                                            <p:strVal val="#ppt_x"/>
                                          </p:val>
                                        </p:tav>
                                      </p:tavLst>
                                    </p:anim>
                                    <p:anim calcmode="lin" valueType="num">
                                      <p:cBhvr additive="base">
                                        <p:cTn id="112" dur="1000" fill="hold"/>
                                        <p:tgtEl>
                                          <p:spTgt spid="54">
                                            <p:txEl>
                                              <p:pRg st="0" end="0"/>
                                            </p:txEl>
                                          </p:spTgt>
                                        </p:tgtEl>
                                        <p:attrNameLst>
                                          <p:attrName>ppt_y</p:attrName>
                                        </p:attrNameLst>
                                      </p:cBhvr>
                                      <p:tavLst>
                                        <p:tav tm="0">
                                          <p:val>
                                            <p:strVal val="1+#ppt_h/2"/>
                                          </p:val>
                                        </p:tav>
                                        <p:tav tm="100000">
                                          <p:val>
                                            <p:strVal val="#ppt_y"/>
                                          </p:val>
                                        </p:tav>
                                      </p:tavLst>
                                    </p:anim>
                                  </p:childTnLst>
                                </p:cTn>
                              </p:par>
                              <p:par>
                                <p:cTn id="113" presetID="2" presetClass="entr" presetSubtype="6" decel="100000" fill="hold" grpId="0" nodeType="withEffect">
                                  <p:stCondLst>
                                    <p:cond delay="0"/>
                                  </p:stCondLst>
                                  <p:childTnLst>
                                    <p:set>
                                      <p:cBhvr>
                                        <p:cTn id="114" dur="1" fill="hold">
                                          <p:stCondLst>
                                            <p:cond delay="0"/>
                                          </p:stCondLst>
                                        </p:cTn>
                                        <p:tgtEl>
                                          <p:spTgt spid="55">
                                            <p:txEl>
                                              <p:pRg st="0" end="0"/>
                                            </p:txEl>
                                          </p:spTgt>
                                        </p:tgtEl>
                                        <p:attrNameLst>
                                          <p:attrName>style.visibility</p:attrName>
                                        </p:attrNameLst>
                                      </p:cBhvr>
                                      <p:to>
                                        <p:strVal val="visible"/>
                                      </p:to>
                                    </p:set>
                                    <p:anim calcmode="lin" valueType="num">
                                      <p:cBhvr additive="base">
                                        <p:cTn id="115" dur="1000" fill="hold"/>
                                        <p:tgtEl>
                                          <p:spTgt spid="55">
                                            <p:txEl>
                                              <p:pRg st="0" end="0"/>
                                            </p:txEl>
                                          </p:spTgt>
                                        </p:tgtEl>
                                        <p:attrNameLst>
                                          <p:attrName>ppt_x</p:attrName>
                                        </p:attrNameLst>
                                      </p:cBhvr>
                                      <p:tavLst>
                                        <p:tav tm="0">
                                          <p:val>
                                            <p:strVal val="1+#ppt_w/2"/>
                                          </p:val>
                                        </p:tav>
                                        <p:tav tm="100000">
                                          <p:val>
                                            <p:strVal val="#ppt_x"/>
                                          </p:val>
                                        </p:tav>
                                      </p:tavLst>
                                    </p:anim>
                                    <p:anim calcmode="lin" valueType="num">
                                      <p:cBhvr additive="base">
                                        <p:cTn id="116" dur="1000" fill="hold"/>
                                        <p:tgtEl>
                                          <p:spTgt spid="55">
                                            <p:txEl>
                                              <p:pRg st="0" end="0"/>
                                            </p:txEl>
                                          </p:spTgt>
                                        </p:tgtEl>
                                        <p:attrNameLst>
                                          <p:attrName>ppt_y</p:attrName>
                                        </p:attrNameLst>
                                      </p:cBhvr>
                                      <p:tavLst>
                                        <p:tav tm="0">
                                          <p:val>
                                            <p:strVal val="1+#ppt_h/2"/>
                                          </p:val>
                                        </p:tav>
                                        <p:tav tm="100000">
                                          <p:val>
                                            <p:strVal val="#ppt_y"/>
                                          </p:val>
                                        </p:tav>
                                      </p:tavLst>
                                    </p:anim>
                                  </p:childTnLst>
                                </p:cTn>
                              </p:par>
                              <p:par>
                                <p:cTn id="117" presetID="2" presetClass="entr" presetSubtype="4" decel="100000" fill="hold" grpId="0" nodeType="withEffect">
                                  <p:stCondLst>
                                    <p:cond delay="0"/>
                                  </p:stCondLst>
                                  <p:childTnLst>
                                    <p:set>
                                      <p:cBhvr>
                                        <p:cTn id="118" dur="1" fill="hold">
                                          <p:stCondLst>
                                            <p:cond delay="0"/>
                                          </p:stCondLst>
                                        </p:cTn>
                                        <p:tgtEl>
                                          <p:spTgt spid="9">
                                            <p:txEl>
                                              <p:pRg st="0" end="0"/>
                                            </p:txEl>
                                          </p:spTgt>
                                        </p:tgtEl>
                                        <p:attrNameLst>
                                          <p:attrName>style.visibility</p:attrName>
                                        </p:attrNameLst>
                                      </p:cBhvr>
                                      <p:to>
                                        <p:strVal val="visible"/>
                                      </p:to>
                                    </p:set>
                                    <p:anim calcmode="lin" valueType="num">
                                      <p:cBhvr additive="base">
                                        <p:cTn id="119"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20" dur="1000" fill="hold"/>
                                        <p:tgtEl>
                                          <p:spTgt spid="9">
                                            <p:txEl>
                                              <p:pRg st="0" end="0"/>
                                            </p:txEl>
                                          </p:spTgt>
                                        </p:tgtEl>
                                        <p:attrNameLst>
                                          <p:attrName>ppt_y</p:attrName>
                                        </p:attrNameLst>
                                      </p:cBhvr>
                                      <p:tavLst>
                                        <p:tav tm="0">
                                          <p:val>
                                            <p:strVal val="1+#ppt_h/2"/>
                                          </p:val>
                                        </p:tav>
                                        <p:tav tm="100000">
                                          <p:val>
                                            <p:strVal val="#ppt_y"/>
                                          </p:val>
                                        </p:tav>
                                      </p:tavLst>
                                    </p:anim>
                                  </p:childTnLst>
                                </p:cTn>
                              </p:par>
                              <p:par>
                                <p:cTn id="121" presetID="2" presetClass="entr" presetSubtype="4" decel="100000" fill="hold" grpId="0" nodeType="withEffect">
                                  <p:stCondLst>
                                    <p:cond delay="0"/>
                                  </p:stCondLst>
                                  <p:childTnLst>
                                    <p:set>
                                      <p:cBhvr>
                                        <p:cTn id="122" dur="1" fill="hold">
                                          <p:stCondLst>
                                            <p:cond delay="0"/>
                                          </p:stCondLst>
                                        </p:cTn>
                                        <p:tgtEl>
                                          <p:spTgt spid="20">
                                            <p:txEl>
                                              <p:pRg st="0" end="0"/>
                                            </p:txEl>
                                          </p:spTgt>
                                        </p:tgtEl>
                                        <p:attrNameLst>
                                          <p:attrName>style.visibility</p:attrName>
                                        </p:attrNameLst>
                                      </p:cBhvr>
                                      <p:to>
                                        <p:strVal val="visible"/>
                                      </p:to>
                                    </p:set>
                                    <p:anim calcmode="lin" valueType="num">
                                      <p:cBhvr additive="base">
                                        <p:cTn id="12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124" dur="1000" fill="hold"/>
                                        <p:tgtEl>
                                          <p:spTgt spid="20">
                                            <p:txEl>
                                              <p:pRg st="0" end="0"/>
                                            </p:txEl>
                                          </p:spTgt>
                                        </p:tgtEl>
                                        <p:attrNameLst>
                                          <p:attrName>ppt_y</p:attrName>
                                        </p:attrNameLst>
                                      </p:cBhvr>
                                      <p:tavLst>
                                        <p:tav tm="0">
                                          <p:val>
                                            <p:strVal val="1+#ppt_h/2"/>
                                          </p:val>
                                        </p:tav>
                                        <p:tav tm="100000">
                                          <p:val>
                                            <p:strVal val="#ppt_y"/>
                                          </p:val>
                                        </p:tav>
                                      </p:tavLst>
                                    </p:anim>
                                  </p:childTnLst>
                                </p:cTn>
                              </p:par>
                              <p:par>
                                <p:cTn id="125" presetID="2" presetClass="entr" presetSubtype="12" decel="100000" fill="hold" grpId="0" nodeType="withEffect">
                                  <p:stCondLst>
                                    <p:cond delay="0"/>
                                  </p:stCondLst>
                                  <p:childTnLst>
                                    <p:set>
                                      <p:cBhvr>
                                        <p:cTn id="126" dur="1" fill="hold">
                                          <p:stCondLst>
                                            <p:cond delay="0"/>
                                          </p:stCondLst>
                                        </p:cTn>
                                        <p:tgtEl>
                                          <p:spTgt spid="7">
                                            <p:txEl>
                                              <p:pRg st="0" end="0"/>
                                            </p:txEl>
                                          </p:spTgt>
                                        </p:tgtEl>
                                        <p:attrNameLst>
                                          <p:attrName>style.visibility</p:attrName>
                                        </p:attrNameLst>
                                      </p:cBhvr>
                                      <p:to>
                                        <p:strVal val="visible"/>
                                      </p:to>
                                    </p:set>
                                    <p:anim calcmode="lin" valueType="num">
                                      <p:cBhvr additive="base">
                                        <p:cTn id="127" dur="10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28" dur="1000" fill="hold"/>
                                        <p:tgtEl>
                                          <p:spTgt spid="7">
                                            <p:txEl>
                                              <p:pRg st="0" end="0"/>
                                            </p:txEl>
                                          </p:spTgt>
                                        </p:tgtEl>
                                        <p:attrNameLst>
                                          <p:attrName>ppt_y</p:attrName>
                                        </p:attrNameLst>
                                      </p:cBhvr>
                                      <p:tavLst>
                                        <p:tav tm="0">
                                          <p:val>
                                            <p:strVal val="1+#ppt_h/2"/>
                                          </p:val>
                                        </p:tav>
                                        <p:tav tm="100000">
                                          <p:val>
                                            <p:strVal val="#ppt_y"/>
                                          </p:val>
                                        </p:tav>
                                      </p:tavLst>
                                    </p:anim>
                                  </p:childTnLst>
                                </p:cTn>
                              </p:par>
                              <p:par>
                                <p:cTn id="129" presetID="2" presetClass="entr" presetSubtype="12" decel="100000" fill="hold" grpId="0" nodeType="withEffect">
                                  <p:stCondLst>
                                    <p:cond delay="0"/>
                                  </p:stCondLst>
                                  <p:childTnLst>
                                    <p:set>
                                      <p:cBhvr>
                                        <p:cTn id="130" dur="1" fill="hold">
                                          <p:stCondLst>
                                            <p:cond delay="0"/>
                                          </p:stCondLst>
                                        </p:cTn>
                                        <p:tgtEl>
                                          <p:spTgt spid="13">
                                            <p:txEl>
                                              <p:pRg st="0" end="0"/>
                                            </p:txEl>
                                          </p:spTgt>
                                        </p:tgtEl>
                                        <p:attrNameLst>
                                          <p:attrName>style.visibility</p:attrName>
                                        </p:attrNameLst>
                                      </p:cBhvr>
                                      <p:to>
                                        <p:strVal val="visible"/>
                                      </p:to>
                                    </p:set>
                                    <p:anim calcmode="lin" valueType="num">
                                      <p:cBhvr additive="base">
                                        <p:cTn id="131" dur="10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132" dur="1000" fill="hold"/>
                                        <p:tgtEl>
                                          <p:spTgt spid="13">
                                            <p:txEl>
                                              <p:pRg st="0" end="0"/>
                                            </p:txEl>
                                          </p:spTgt>
                                        </p:tgtEl>
                                        <p:attrNameLst>
                                          <p:attrName>ppt_y</p:attrName>
                                        </p:attrNameLst>
                                      </p:cBhvr>
                                      <p:tavLst>
                                        <p:tav tm="0">
                                          <p:val>
                                            <p:strVal val="1+#ppt_h/2"/>
                                          </p:val>
                                        </p:tav>
                                        <p:tav tm="100000">
                                          <p:val>
                                            <p:strVal val="#ppt_y"/>
                                          </p:val>
                                        </p:tav>
                                      </p:tavLst>
                                    </p:anim>
                                  </p:childTnLst>
                                </p:cTn>
                              </p:par>
                              <p:par>
                                <p:cTn id="133" presetID="2" presetClass="entr" presetSubtype="12" decel="100000" fill="hold" grpId="0" nodeType="withEffect">
                                  <p:stCondLst>
                                    <p:cond delay="0"/>
                                  </p:stCondLst>
                                  <p:childTnLst>
                                    <p:set>
                                      <p:cBhvr>
                                        <p:cTn id="134" dur="1" fill="hold">
                                          <p:stCondLst>
                                            <p:cond delay="0"/>
                                          </p:stCondLst>
                                        </p:cTn>
                                        <p:tgtEl>
                                          <p:spTgt spid="22">
                                            <p:txEl>
                                              <p:pRg st="0" end="0"/>
                                            </p:txEl>
                                          </p:spTgt>
                                        </p:tgtEl>
                                        <p:attrNameLst>
                                          <p:attrName>style.visibility</p:attrName>
                                        </p:attrNameLst>
                                      </p:cBhvr>
                                      <p:to>
                                        <p:strVal val="visible"/>
                                      </p:to>
                                    </p:set>
                                    <p:anim calcmode="lin" valueType="num">
                                      <p:cBhvr additive="base">
                                        <p:cTn id="135" dur="10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136" dur="1000" fill="hold"/>
                                        <p:tgtEl>
                                          <p:spTgt spid="22">
                                            <p:txEl>
                                              <p:pRg st="0" end="0"/>
                                            </p:txEl>
                                          </p:spTgt>
                                        </p:tgtEl>
                                        <p:attrNameLst>
                                          <p:attrName>ppt_y</p:attrName>
                                        </p:attrNameLst>
                                      </p:cBhvr>
                                      <p:tavLst>
                                        <p:tav tm="0">
                                          <p:val>
                                            <p:strVal val="1+#ppt_h/2"/>
                                          </p:val>
                                        </p:tav>
                                        <p:tav tm="100000">
                                          <p:val>
                                            <p:strVal val="#ppt_y"/>
                                          </p:val>
                                        </p:tav>
                                      </p:tavLst>
                                    </p:anim>
                                  </p:childTnLst>
                                </p:cTn>
                              </p:par>
                              <p:par>
                                <p:cTn id="137" presetID="2" presetClass="entr" presetSubtype="12" decel="100000" fill="hold" grpId="0" nodeType="withEffect">
                                  <p:stCondLst>
                                    <p:cond delay="0"/>
                                  </p:stCondLst>
                                  <p:childTnLst>
                                    <p:set>
                                      <p:cBhvr>
                                        <p:cTn id="138" dur="1" fill="hold">
                                          <p:stCondLst>
                                            <p:cond delay="0"/>
                                          </p:stCondLst>
                                        </p:cTn>
                                        <p:tgtEl>
                                          <p:spTgt spid="24">
                                            <p:txEl>
                                              <p:pRg st="0" end="0"/>
                                            </p:txEl>
                                          </p:spTgt>
                                        </p:tgtEl>
                                        <p:attrNameLst>
                                          <p:attrName>style.visibility</p:attrName>
                                        </p:attrNameLst>
                                      </p:cBhvr>
                                      <p:to>
                                        <p:strVal val="visible"/>
                                      </p:to>
                                    </p:set>
                                    <p:anim calcmode="lin" valueType="num">
                                      <p:cBhvr additive="base">
                                        <p:cTn id="139" dur="1000" fill="hold"/>
                                        <p:tgtEl>
                                          <p:spTgt spid="24">
                                            <p:txEl>
                                              <p:pRg st="0" end="0"/>
                                            </p:txEl>
                                          </p:spTgt>
                                        </p:tgtEl>
                                        <p:attrNameLst>
                                          <p:attrName>ppt_x</p:attrName>
                                        </p:attrNameLst>
                                      </p:cBhvr>
                                      <p:tavLst>
                                        <p:tav tm="0">
                                          <p:val>
                                            <p:strVal val="0-#ppt_w/2"/>
                                          </p:val>
                                        </p:tav>
                                        <p:tav tm="100000">
                                          <p:val>
                                            <p:strVal val="#ppt_x"/>
                                          </p:val>
                                        </p:tav>
                                      </p:tavLst>
                                    </p:anim>
                                    <p:anim calcmode="lin" valueType="num">
                                      <p:cBhvr additive="base">
                                        <p:cTn id="140" dur="1000" fill="hold"/>
                                        <p:tgtEl>
                                          <p:spTgt spid="24">
                                            <p:txEl>
                                              <p:pRg st="0" end="0"/>
                                            </p:txEl>
                                          </p:spTgt>
                                        </p:tgtEl>
                                        <p:attrNameLst>
                                          <p:attrName>ppt_y</p:attrName>
                                        </p:attrNameLst>
                                      </p:cBhvr>
                                      <p:tavLst>
                                        <p:tav tm="0">
                                          <p:val>
                                            <p:strVal val="1+#ppt_h/2"/>
                                          </p:val>
                                        </p:tav>
                                        <p:tav tm="100000">
                                          <p:val>
                                            <p:strVal val="#ppt_y"/>
                                          </p:val>
                                        </p:tav>
                                      </p:tavLst>
                                    </p:anim>
                                  </p:childTnLst>
                                </p:cTn>
                              </p:par>
                              <p:par>
                                <p:cTn id="141" presetID="2" presetClass="entr" presetSubtype="12" decel="100000" fill="hold" grpId="0" nodeType="withEffect">
                                  <p:stCondLst>
                                    <p:cond delay="0"/>
                                  </p:stCondLst>
                                  <p:childTnLst>
                                    <p:set>
                                      <p:cBhvr>
                                        <p:cTn id="142" dur="1" fill="hold">
                                          <p:stCondLst>
                                            <p:cond delay="0"/>
                                          </p:stCondLst>
                                        </p:cTn>
                                        <p:tgtEl>
                                          <p:spTgt spid="31">
                                            <p:txEl>
                                              <p:pRg st="0" end="0"/>
                                            </p:txEl>
                                          </p:spTgt>
                                        </p:tgtEl>
                                        <p:attrNameLst>
                                          <p:attrName>style.visibility</p:attrName>
                                        </p:attrNameLst>
                                      </p:cBhvr>
                                      <p:to>
                                        <p:strVal val="visible"/>
                                      </p:to>
                                    </p:set>
                                    <p:anim calcmode="lin" valueType="num">
                                      <p:cBhvr additive="base">
                                        <p:cTn id="143" dur="1000" fill="hold"/>
                                        <p:tgtEl>
                                          <p:spTgt spid="31">
                                            <p:txEl>
                                              <p:pRg st="0" end="0"/>
                                            </p:txEl>
                                          </p:spTgt>
                                        </p:tgtEl>
                                        <p:attrNameLst>
                                          <p:attrName>ppt_x</p:attrName>
                                        </p:attrNameLst>
                                      </p:cBhvr>
                                      <p:tavLst>
                                        <p:tav tm="0">
                                          <p:val>
                                            <p:strVal val="0-#ppt_w/2"/>
                                          </p:val>
                                        </p:tav>
                                        <p:tav tm="100000">
                                          <p:val>
                                            <p:strVal val="#ppt_x"/>
                                          </p:val>
                                        </p:tav>
                                      </p:tavLst>
                                    </p:anim>
                                    <p:anim calcmode="lin" valueType="num">
                                      <p:cBhvr additive="base">
                                        <p:cTn id="144" dur="1000" fill="hold"/>
                                        <p:tgtEl>
                                          <p:spTgt spid="31">
                                            <p:txEl>
                                              <p:pRg st="0" end="0"/>
                                            </p:txEl>
                                          </p:spTgt>
                                        </p:tgtEl>
                                        <p:attrNameLst>
                                          <p:attrName>ppt_y</p:attrName>
                                        </p:attrNameLst>
                                      </p:cBhvr>
                                      <p:tavLst>
                                        <p:tav tm="0">
                                          <p:val>
                                            <p:strVal val="1+#ppt_h/2"/>
                                          </p:val>
                                        </p:tav>
                                        <p:tav tm="100000">
                                          <p:val>
                                            <p:strVal val="#ppt_y"/>
                                          </p:val>
                                        </p:tav>
                                      </p:tavLst>
                                    </p:anim>
                                  </p:childTnLst>
                                </p:cTn>
                              </p:par>
                              <p:par>
                                <p:cTn id="145" presetID="2" presetClass="entr" presetSubtype="12" decel="100000" fill="hold" grpId="0" nodeType="withEffect">
                                  <p:stCondLst>
                                    <p:cond delay="0"/>
                                  </p:stCondLst>
                                  <p:childTnLst>
                                    <p:set>
                                      <p:cBhvr>
                                        <p:cTn id="146" dur="1" fill="hold">
                                          <p:stCondLst>
                                            <p:cond delay="0"/>
                                          </p:stCondLst>
                                        </p:cTn>
                                        <p:tgtEl>
                                          <p:spTgt spid="35">
                                            <p:txEl>
                                              <p:pRg st="0" end="0"/>
                                            </p:txEl>
                                          </p:spTgt>
                                        </p:tgtEl>
                                        <p:attrNameLst>
                                          <p:attrName>style.visibility</p:attrName>
                                        </p:attrNameLst>
                                      </p:cBhvr>
                                      <p:to>
                                        <p:strVal val="visible"/>
                                      </p:to>
                                    </p:set>
                                    <p:anim calcmode="lin" valueType="num">
                                      <p:cBhvr additive="base">
                                        <p:cTn id="147" dur="1000" fill="hold"/>
                                        <p:tgtEl>
                                          <p:spTgt spid="35">
                                            <p:txEl>
                                              <p:pRg st="0" end="0"/>
                                            </p:txEl>
                                          </p:spTgt>
                                        </p:tgtEl>
                                        <p:attrNameLst>
                                          <p:attrName>ppt_x</p:attrName>
                                        </p:attrNameLst>
                                      </p:cBhvr>
                                      <p:tavLst>
                                        <p:tav tm="0">
                                          <p:val>
                                            <p:strVal val="0-#ppt_w/2"/>
                                          </p:val>
                                        </p:tav>
                                        <p:tav tm="100000">
                                          <p:val>
                                            <p:strVal val="#ppt_x"/>
                                          </p:val>
                                        </p:tav>
                                      </p:tavLst>
                                    </p:anim>
                                    <p:anim calcmode="lin" valueType="num">
                                      <p:cBhvr additive="base">
                                        <p:cTn id="148" dur="1000" fill="hold"/>
                                        <p:tgtEl>
                                          <p:spTgt spid="35">
                                            <p:txEl>
                                              <p:pRg st="0" end="0"/>
                                            </p:txEl>
                                          </p:spTgt>
                                        </p:tgtEl>
                                        <p:attrNameLst>
                                          <p:attrName>ppt_y</p:attrName>
                                        </p:attrNameLst>
                                      </p:cBhvr>
                                      <p:tavLst>
                                        <p:tav tm="0">
                                          <p:val>
                                            <p:strVal val="1+#ppt_h/2"/>
                                          </p:val>
                                        </p:tav>
                                        <p:tav tm="100000">
                                          <p:val>
                                            <p:strVal val="#ppt_y"/>
                                          </p:val>
                                        </p:tav>
                                      </p:tavLst>
                                    </p:anim>
                                  </p:childTnLst>
                                </p:cTn>
                              </p:par>
                              <p:par>
                                <p:cTn id="149" presetID="2" presetClass="entr" presetSubtype="12" decel="100000" fill="hold" grpId="0" nodeType="withEffect">
                                  <p:stCondLst>
                                    <p:cond delay="0"/>
                                  </p:stCondLst>
                                  <p:childTnLst>
                                    <p:set>
                                      <p:cBhvr>
                                        <p:cTn id="150" dur="1" fill="hold">
                                          <p:stCondLst>
                                            <p:cond delay="0"/>
                                          </p:stCondLst>
                                        </p:cTn>
                                        <p:tgtEl>
                                          <p:spTgt spid="38">
                                            <p:txEl>
                                              <p:pRg st="0" end="0"/>
                                            </p:txEl>
                                          </p:spTgt>
                                        </p:tgtEl>
                                        <p:attrNameLst>
                                          <p:attrName>style.visibility</p:attrName>
                                        </p:attrNameLst>
                                      </p:cBhvr>
                                      <p:to>
                                        <p:strVal val="visible"/>
                                      </p:to>
                                    </p:set>
                                    <p:anim calcmode="lin" valueType="num">
                                      <p:cBhvr additive="base">
                                        <p:cTn id="151" dur="1000" fill="hold"/>
                                        <p:tgtEl>
                                          <p:spTgt spid="38">
                                            <p:txEl>
                                              <p:pRg st="0" end="0"/>
                                            </p:txEl>
                                          </p:spTgt>
                                        </p:tgtEl>
                                        <p:attrNameLst>
                                          <p:attrName>ppt_x</p:attrName>
                                        </p:attrNameLst>
                                      </p:cBhvr>
                                      <p:tavLst>
                                        <p:tav tm="0">
                                          <p:val>
                                            <p:strVal val="0-#ppt_w/2"/>
                                          </p:val>
                                        </p:tav>
                                        <p:tav tm="100000">
                                          <p:val>
                                            <p:strVal val="#ppt_x"/>
                                          </p:val>
                                        </p:tav>
                                      </p:tavLst>
                                    </p:anim>
                                    <p:anim calcmode="lin" valueType="num">
                                      <p:cBhvr additive="base">
                                        <p:cTn id="152" dur="1000" fill="hold"/>
                                        <p:tgtEl>
                                          <p:spTgt spid="38">
                                            <p:txEl>
                                              <p:pRg st="0" end="0"/>
                                            </p:txEl>
                                          </p:spTgt>
                                        </p:tgtEl>
                                        <p:attrNameLst>
                                          <p:attrName>ppt_y</p:attrName>
                                        </p:attrNameLst>
                                      </p:cBhvr>
                                      <p:tavLst>
                                        <p:tav tm="0">
                                          <p:val>
                                            <p:strVal val="1+#ppt_h/2"/>
                                          </p:val>
                                        </p:tav>
                                        <p:tav tm="100000">
                                          <p:val>
                                            <p:strVal val="#ppt_y"/>
                                          </p:val>
                                        </p:tav>
                                      </p:tavLst>
                                    </p:anim>
                                  </p:childTnLst>
                                </p:cTn>
                              </p:par>
                              <p:par>
                                <p:cTn id="153" presetID="2" presetClass="entr" presetSubtype="12" decel="100000" fill="hold" grpId="0" nodeType="withEffect">
                                  <p:stCondLst>
                                    <p:cond delay="0"/>
                                  </p:stCondLst>
                                  <p:childTnLst>
                                    <p:set>
                                      <p:cBhvr>
                                        <p:cTn id="154" dur="1" fill="hold">
                                          <p:stCondLst>
                                            <p:cond delay="0"/>
                                          </p:stCondLst>
                                        </p:cTn>
                                        <p:tgtEl>
                                          <p:spTgt spid="40">
                                            <p:txEl>
                                              <p:pRg st="0" end="0"/>
                                            </p:txEl>
                                          </p:spTgt>
                                        </p:tgtEl>
                                        <p:attrNameLst>
                                          <p:attrName>style.visibility</p:attrName>
                                        </p:attrNameLst>
                                      </p:cBhvr>
                                      <p:to>
                                        <p:strVal val="visible"/>
                                      </p:to>
                                    </p:set>
                                    <p:anim calcmode="lin" valueType="num">
                                      <p:cBhvr additive="base">
                                        <p:cTn id="155" dur="1000" fill="hold"/>
                                        <p:tgtEl>
                                          <p:spTgt spid="40">
                                            <p:txEl>
                                              <p:pRg st="0" end="0"/>
                                            </p:txEl>
                                          </p:spTgt>
                                        </p:tgtEl>
                                        <p:attrNameLst>
                                          <p:attrName>ppt_x</p:attrName>
                                        </p:attrNameLst>
                                      </p:cBhvr>
                                      <p:tavLst>
                                        <p:tav tm="0">
                                          <p:val>
                                            <p:strVal val="0-#ppt_w/2"/>
                                          </p:val>
                                        </p:tav>
                                        <p:tav tm="100000">
                                          <p:val>
                                            <p:strVal val="#ppt_x"/>
                                          </p:val>
                                        </p:tav>
                                      </p:tavLst>
                                    </p:anim>
                                    <p:anim calcmode="lin" valueType="num">
                                      <p:cBhvr additive="base">
                                        <p:cTn id="156" dur="1000" fill="hold"/>
                                        <p:tgtEl>
                                          <p:spTgt spid="40">
                                            <p:txEl>
                                              <p:pRg st="0" end="0"/>
                                            </p:txEl>
                                          </p:spTgt>
                                        </p:tgtEl>
                                        <p:attrNameLst>
                                          <p:attrName>ppt_y</p:attrName>
                                        </p:attrNameLst>
                                      </p:cBhvr>
                                      <p:tavLst>
                                        <p:tav tm="0">
                                          <p:val>
                                            <p:strVal val="1+#ppt_h/2"/>
                                          </p:val>
                                        </p:tav>
                                        <p:tav tm="100000">
                                          <p:val>
                                            <p:strVal val="#ppt_y"/>
                                          </p:val>
                                        </p:tav>
                                      </p:tavLst>
                                    </p:anim>
                                  </p:childTnLst>
                                </p:cTn>
                              </p:par>
                              <p:par>
                                <p:cTn id="157" presetID="2" presetClass="entr" presetSubtype="12" decel="100000" fill="hold" grpId="0" nodeType="withEffect">
                                  <p:stCondLst>
                                    <p:cond delay="0"/>
                                  </p:stCondLst>
                                  <p:childTnLst>
                                    <p:set>
                                      <p:cBhvr>
                                        <p:cTn id="158" dur="1" fill="hold">
                                          <p:stCondLst>
                                            <p:cond delay="0"/>
                                          </p:stCondLst>
                                        </p:cTn>
                                        <p:tgtEl>
                                          <p:spTgt spid="46">
                                            <p:txEl>
                                              <p:pRg st="0" end="0"/>
                                            </p:txEl>
                                          </p:spTgt>
                                        </p:tgtEl>
                                        <p:attrNameLst>
                                          <p:attrName>style.visibility</p:attrName>
                                        </p:attrNameLst>
                                      </p:cBhvr>
                                      <p:to>
                                        <p:strVal val="visible"/>
                                      </p:to>
                                    </p:set>
                                    <p:anim calcmode="lin" valueType="num">
                                      <p:cBhvr additive="base">
                                        <p:cTn id="159" dur="1000" fill="hold"/>
                                        <p:tgtEl>
                                          <p:spTgt spid="46">
                                            <p:txEl>
                                              <p:pRg st="0" end="0"/>
                                            </p:txEl>
                                          </p:spTgt>
                                        </p:tgtEl>
                                        <p:attrNameLst>
                                          <p:attrName>ppt_x</p:attrName>
                                        </p:attrNameLst>
                                      </p:cBhvr>
                                      <p:tavLst>
                                        <p:tav tm="0">
                                          <p:val>
                                            <p:strVal val="0-#ppt_w/2"/>
                                          </p:val>
                                        </p:tav>
                                        <p:tav tm="100000">
                                          <p:val>
                                            <p:strVal val="#ppt_x"/>
                                          </p:val>
                                        </p:tav>
                                      </p:tavLst>
                                    </p:anim>
                                    <p:anim calcmode="lin" valueType="num">
                                      <p:cBhvr additive="base">
                                        <p:cTn id="160" dur="1000" fill="hold"/>
                                        <p:tgtEl>
                                          <p:spTgt spid="46">
                                            <p:txEl>
                                              <p:pRg st="0" end="0"/>
                                            </p:txEl>
                                          </p:spTgt>
                                        </p:tgtEl>
                                        <p:attrNameLst>
                                          <p:attrName>ppt_y</p:attrName>
                                        </p:attrNameLst>
                                      </p:cBhvr>
                                      <p:tavLst>
                                        <p:tav tm="0">
                                          <p:val>
                                            <p:strVal val="1+#ppt_h/2"/>
                                          </p:val>
                                        </p:tav>
                                        <p:tav tm="100000">
                                          <p:val>
                                            <p:strVal val="#ppt_y"/>
                                          </p:val>
                                        </p:tav>
                                      </p:tavLst>
                                    </p:anim>
                                  </p:childTnLst>
                                </p:cTn>
                              </p:par>
                              <p:par>
                                <p:cTn id="161" presetID="2" presetClass="entr" presetSubtype="12" decel="100000" fill="hold" grpId="0" nodeType="withEffect">
                                  <p:stCondLst>
                                    <p:cond delay="0"/>
                                  </p:stCondLst>
                                  <p:childTnLst>
                                    <p:set>
                                      <p:cBhvr>
                                        <p:cTn id="162" dur="1" fill="hold">
                                          <p:stCondLst>
                                            <p:cond delay="0"/>
                                          </p:stCondLst>
                                        </p:cTn>
                                        <p:tgtEl>
                                          <p:spTgt spid="47">
                                            <p:txEl>
                                              <p:pRg st="0" end="0"/>
                                            </p:txEl>
                                          </p:spTgt>
                                        </p:tgtEl>
                                        <p:attrNameLst>
                                          <p:attrName>style.visibility</p:attrName>
                                        </p:attrNameLst>
                                      </p:cBhvr>
                                      <p:to>
                                        <p:strVal val="visible"/>
                                      </p:to>
                                    </p:set>
                                    <p:anim calcmode="lin" valueType="num">
                                      <p:cBhvr additive="base">
                                        <p:cTn id="163" dur="1000" fill="hold"/>
                                        <p:tgtEl>
                                          <p:spTgt spid="47">
                                            <p:txEl>
                                              <p:pRg st="0" end="0"/>
                                            </p:txEl>
                                          </p:spTgt>
                                        </p:tgtEl>
                                        <p:attrNameLst>
                                          <p:attrName>ppt_x</p:attrName>
                                        </p:attrNameLst>
                                      </p:cBhvr>
                                      <p:tavLst>
                                        <p:tav tm="0">
                                          <p:val>
                                            <p:strVal val="0-#ppt_w/2"/>
                                          </p:val>
                                        </p:tav>
                                        <p:tav tm="100000">
                                          <p:val>
                                            <p:strVal val="#ppt_x"/>
                                          </p:val>
                                        </p:tav>
                                      </p:tavLst>
                                    </p:anim>
                                    <p:anim calcmode="lin" valueType="num">
                                      <p:cBhvr additive="base">
                                        <p:cTn id="164" dur="1000" fill="hold"/>
                                        <p:tgtEl>
                                          <p:spTgt spid="47">
                                            <p:txEl>
                                              <p:pRg st="0" end="0"/>
                                            </p:txEl>
                                          </p:spTgt>
                                        </p:tgtEl>
                                        <p:attrNameLst>
                                          <p:attrName>ppt_y</p:attrName>
                                        </p:attrNameLst>
                                      </p:cBhvr>
                                      <p:tavLst>
                                        <p:tav tm="0">
                                          <p:val>
                                            <p:strVal val="1+#ppt_h/2"/>
                                          </p:val>
                                        </p:tav>
                                        <p:tav tm="100000">
                                          <p:val>
                                            <p:strVal val="#ppt_y"/>
                                          </p:val>
                                        </p:tav>
                                      </p:tavLst>
                                    </p:anim>
                                  </p:childTnLst>
                                </p:cTn>
                              </p:par>
                              <p:par>
                                <p:cTn id="165" presetID="2" presetClass="entr" presetSubtype="9" decel="100000" fill="hold" grpId="0" nodeType="withEffect">
                                  <p:stCondLst>
                                    <p:cond delay="0"/>
                                  </p:stCondLst>
                                  <p:childTnLst>
                                    <p:set>
                                      <p:cBhvr>
                                        <p:cTn id="166" dur="1" fill="hold">
                                          <p:stCondLst>
                                            <p:cond delay="0"/>
                                          </p:stCondLst>
                                        </p:cTn>
                                        <p:tgtEl>
                                          <p:spTgt spid="10">
                                            <p:txEl>
                                              <p:pRg st="0" end="0"/>
                                            </p:txEl>
                                          </p:spTgt>
                                        </p:tgtEl>
                                        <p:attrNameLst>
                                          <p:attrName>style.visibility</p:attrName>
                                        </p:attrNameLst>
                                      </p:cBhvr>
                                      <p:to>
                                        <p:strVal val="visible"/>
                                      </p:to>
                                    </p:set>
                                    <p:anim calcmode="lin" valueType="num">
                                      <p:cBhvr additive="base">
                                        <p:cTn id="167" dur="10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168" dur="1000" fill="hold"/>
                                        <p:tgtEl>
                                          <p:spTgt spid="10">
                                            <p:txEl>
                                              <p:pRg st="0" end="0"/>
                                            </p:txEl>
                                          </p:spTgt>
                                        </p:tgtEl>
                                        <p:attrNameLst>
                                          <p:attrName>ppt_y</p:attrName>
                                        </p:attrNameLst>
                                      </p:cBhvr>
                                      <p:tavLst>
                                        <p:tav tm="0">
                                          <p:val>
                                            <p:strVal val="0-#ppt_h/2"/>
                                          </p:val>
                                        </p:tav>
                                        <p:tav tm="100000">
                                          <p:val>
                                            <p:strVal val="#ppt_y"/>
                                          </p:val>
                                        </p:tav>
                                      </p:tavLst>
                                    </p:anim>
                                  </p:childTnLst>
                                </p:cTn>
                              </p:par>
                              <p:par>
                                <p:cTn id="169" presetID="2" presetClass="entr" presetSubtype="9" decel="100000" fill="hold" grpId="0" nodeType="withEffect">
                                  <p:stCondLst>
                                    <p:cond delay="0"/>
                                  </p:stCondLst>
                                  <p:childTnLst>
                                    <p:set>
                                      <p:cBhvr>
                                        <p:cTn id="170" dur="1" fill="hold">
                                          <p:stCondLst>
                                            <p:cond delay="0"/>
                                          </p:stCondLst>
                                        </p:cTn>
                                        <p:tgtEl>
                                          <p:spTgt spid="8">
                                            <p:txEl>
                                              <p:pRg st="0" end="0"/>
                                            </p:txEl>
                                          </p:spTgt>
                                        </p:tgtEl>
                                        <p:attrNameLst>
                                          <p:attrName>style.visibility</p:attrName>
                                        </p:attrNameLst>
                                      </p:cBhvr>
                                      <p:to>
                                        <p:strVal val="visible"/>
                                      </p:to>
                                    </p:set>
                                    <p:anim calcmode="lin" valueType="num">
                                      <p:cBhvr additive="base">
                                        <p:cTn id="171" dur="10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172" dur="1000" fill="hold"/>
                                        <p:tgtEl>
                                          <p:spTgt spid="8">
                                            <p:txEl>
                                              <p:pRg st="0" end="0"/>
                                            </p:txEl>
                                          </p:spTgt>
                                        </p:tgtEl>
                                        <p:attrNameLst>
                                          <p:attrName>ppt_y</p:attrName>
                                        </p:attrNameLst>
                                      </p:cBhvr>
                                      <p:tavLst>
                                        <p:tav tm="0">
                                          <p:val>
                                            <p:strVal val="0-#ppt_h/2"/>
                                          </p:val>
                                        </p:tav>
                                        <p:tav tm="100000">
                                          <p:val>
                                            <p:strVal val="#ppt_y"/>
                                          </p:val>
                                        </p:tav>
                                      </p:tavLst>
                                    </p:anim>
                                  </p:childTnLst>
                                </p:cTn>
                              </p:par>
                            </p:childTnLst>
                          </p:cTn>
                        </p:par>
                        <p:par>
                          <p:cTn id="173" fill="hold">
                            <p:stCondLst>
                              <p:cond delay="1000"/>
                            </p:stCondLst>
                            <p:childTnLst>
                              <p:par>
                                <p:cTn id="174" presetID="53" presetClass="entr" presetSubtype="16" fill="hold" nodeType="afterEffect">
                                  <p:stCondLst>
                                    <p:cond delay="0"/>
                                  </p:stCondLst>
                                  <p:childTnLst>
                                    <p:set>
                                      <p:cBhvr>
                                        <p:cTn id="175" dur="1" fill="hold">
                                          <p:stCondLst>
                                            <p:cond delay="0"/>
                                          </p:stCondLst>
                                        </p:cTn>
                                        <p:tgtEl>
                                          <p:spTgt spid="27"/>
                                        </p:tgtEl>
                                        <p:attrNameLst>
                                          <p:attrName>style.visibility</p:attrName>
                                        </p:attrNameLst>
                                      </p:cBhvr>
                                      <p:to>
                                        <p:strVal val="visible"/>
                                      </p:to>
                                    </p:set>
                                    <p:anim calcmode="lin" valueType="num">
                                      <p:cBhvr>
                                        <p:cTn id="176" dur="500" fill="hold"/>
                                        <p:tgtEl>
                                          <p:spTgt spid="27"/>
                                        </p:tgtEl>
                                        <p:attrNameLst>
                                          <p:attrName>ppt_w</p:attrName>
                                        </p:attrNameLst>
                                      </p:cBhvr>
                                      <p:tavLst>
                                        <p:tav tm="0">
                                          <p:val>
                                            <p:fltVal val="0"/>
                                          </p:val>
                                        </p:tav>
                                        <p:tav tm="100000">
                                          <p:val>
                                            <p:strVal val="#ppt_w"/>
                                          </p:val>
                                        </p:tav>
                                      </p:tavLst>
                                    </p:anim>
                                    <p:anim calcmode="lin" valueType="num">
                                      <p:cBhvr>
                                        <p:cTn id="177" dur="500" fill="hold"/>
                                        <p:tgtEl>
                                          <p:spTgt spid="27"/>
                                        </p:tgtEl>
                                        <p:attrNameLst>
                                          <p:attrName>ppt_h</p:attrName>
                                        </p:attrNameLst>
                                      </p:cBhvr>
                                      <p:tavLst>
                                        <p:tav tm="0">
                                          <p:val>
                                            <p:fltVal val="0"/>
                                          </p:val>
                                        </p:tav>
                                        <p:tav tm="100000">
                                          <p:val>
                                            <p:strVal val="#ppt_h"/>
                                          </p:val>
                                        </p:tav>
                                      </p:tavLst>
                                    </p:anim>
                                    <p:animEffect transition="in" filter="fade">
                                      <p:cBhvr>
                                        <p:cTn id="17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9" grpId="0" build="allAtOnce"/>
      <p:bldP spid="10" grpId="0" build="allAtOnce"/>
      <p:bldP spid="11" grpId="0" build="allAtOnce"/>
      <p:bldP spid="13" grpId="0" build="allAtOnce"/>
      <p:bldP spid="14" grpId="0" build="allAtOnce"/>
      <p:bldP spid="15" grpId="0" build="allAtOnce"/>
      <p:bldP spid="16" grpId="0" build="allAtOnce"/>
      <p:bldP spid="17" grpId="0" build="allAtOnce"/>
      <p:bldP spid="18" grpId="0" build="allAtOnce"/>
      <p:bldP spid="19" grpId="0" build="allAtOnce"/>
      <p:bldP spid="20" grpId="0" build="allAtOnce"/>
      <p:bldP spid="21" grpId="0" build="allAtOnce"/>
      <p:bldP spid="22" grpId="0" build="allAtOnce"/>
      <p:bldP spid="23" grpId="0" build="allAtOnce"/>
      <p:bldP spid="24" grpId="0" build="allAtOnce"/>
      <p:bldP spid="25" grpId="0" build="allAtOnce"/>
      <p:bldP spid="29" grpId="0" build="allAtOnce"/>
      <p:bldP spid="30" grpId="0" build="allAtOnce"/>
      <p:bldP spid="31" grpId="0" build="allAtOnce"/>
      <p:bldP spid="32" grpId="0" build="allAtOnce"/>
      <p:bldP spid="33" grpId="0" build="allAtOnce"/>
      <p:bldP spid="34" grpId="0" build="allAtOnce"/>
      <p:bldP spid="35" grpId="0" build="allAtOnce"/>
      <p:bldP spid="36" grpId="0" build="allAtOnce"/>
      <p:bldP spid="37" grpId="0" build="allAtOnce"/>
      <p:bldP spid="38" grpId="0" build="allAtOnce"/>
      <p:bldP spid="39" grpId="0" build="allAtOnce"/>
      <p:bldP spid="40" grpId="0" build="allAtOnce"/>
      <p:bldP spid="41" grpId="0" build="allAtOnce"/>
      <p:bldP spid="43" grpId="0" build="allAtOnce"/>
      <p:bldP spid="42" grpId="0" build="allAtOnce"/>
      <p:bldP spid="44" grpId="0" build="allAtOnce"/>
      <p:bldP spid="45" grpId="0" build="allAtOnce"/>
      <p:bldP spid="46" grpId="0" build="allAtOnce"/>
      <p:bldP spid="47" grpId="0" build="allAtOnce"/>
      <p:bldP spid="49" grpId="0" build="allAtOnce"/>
      <p:bldP spid="52" grpId="0" build="allAtOnce"/>
      <p:bldP spid="54" grpId="0" build="allAtOnce"/>
      <p:bldP spid="55" grpId="0" build="allAtOnce"/>
      <p:bldP spid="8" grpId="0" build="allAtOnce"/>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E2DF8-7E1F-6D39-C021-8ADAC4521753}"/>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15B49C4C-F0CE-45B7-18FC-8689EC81908C}"/>
              </a:ext>
            </a:extLst>
          </p:cNvPr>
          <p:cNvGraphicFramePr/>
          <p:nvPr/>
        </p:nvGraphicFramePr>
        <p:xfrm>
          <a:off x="2972983" y="678671"/>
          <a:ext cx="9080569" cy="5896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993C288-AD74-EA54-A5D8-02EFAB5B0E36}"/>
              </a:ext>
            </a:extLst>
          </p:cNvPr>
          <p:cNvSpPr txBox="1"/>
          <p:nvPr/>
        </p:nvSpPr>
        <p:spPr>
          <a:xfrm>
            <a:off x="6707758" y="327864"/>
            <a:ext cx="1611018"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rPr>
              <a:t>Confidentiality</a:t>
            </a:r>
            <a:endParaRPr kumimoji="0" lang="en-US" sz="23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endParaRPr>
          </a:p>
        </p:txBody>
      </p:sp>
      <p:sp>
        <p:nvSpPr>
          <p:cNvPr id="4" name="TextBox 3">
            <a:extLst>
              <a:ext uri="{FF2B5EF4-FFF2-40B4-BE49-F238E27FC236}">
                <a16:creationId xmlns:a16="http://schemas.microsoft.com/office/drawing/2014/main" id="{1602418D-8F9E-6F4E-C7B7-BF6E79E3CA5B}"/>
              </a:ext>
            </a:extLst>
          </p:cNvPr>
          <p:cNvSpPr txBox="1"/>
          <p:nvPr/>
        </p:nvSpPr>
        <p:spPr>
          <a:xfrm>
            <a:off x="3415398" y="5494909"/>
            <a:ext cx="910506"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rPr>
              <a:t>Integrity</a:t>
            </a:r>
            <a:endParaRPr kumimoji="0" lang="en-US" sz="23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endParaRPr>
          </a:p>
        </p:txBody>
      </p:sp>
      <p:sp>
        <p:nvSpPr>
          <p:cNvPr id="5" name="TextBox 4">
            <a:extLst>
              <a:ext uri="{FF2B5EF4-FFF2-40B4-BE49-F238E27FC236}">
                <a16:creationId xmlns:a16="http://schemas.microsoft.com/office/drawing/2014/main" id="{6BC9608E-CD9A-7418-3158-AD1D6CAFC343}"/>
              </a:ext>
            </a:extLst>
          </p:cNvPr>
          <p:cNvSpPr txBox="1"/>
          <p:nvPr/>
        </p:nvSpPr>
        <p:spPr>
          <a:xfrm>
            <a:off x="10564672" y="5494909"/>
            <a:ext cx="1210460"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rPr>
              <a:t>Availability</a:t>
            </a:r>
          </a:p>
        </p:txBody>
      </p:sp>
      <p:sp>
        <p:nvSpPr>
          <p:cNvPr id="6" name="TextBox 5">
            <a:extLst>
              <a:ext uri="{FF2B5EF4-FFF2-40B4-BE49-F238E27FC236}">
                <a16:creationId xmlns:a16="http://schemas.microsoft.com/office/drawing/2014/main" id="{3AC14A5F-E2D8-EAD1-8E6F-CA34999F6437}"/>
              </a:ext>
            </a:extLst>
          </p:cNvPr>
          <p:cNvSpPr txBox="1"/>
          <p:nvPr/>
        </p:nvSpPr>
        <p:spPr>
          <a:xfrm>
            <a:off x="9655736" y="5417984"/>
            <a:ext cx="497768" cy="153848"/>
          </a:xfrm>
          <a:prstGeom prst="rect">
            <a:avLst/>
          </a:prstGeom>
        </p:spPr>
        <p:txBody>
          <a:bodyPr wrap="squar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HCX</a:t>
            </a:r>
          </a:p>
        </p:txBody>
      </p:sp>
      <p:sp>
        <p:nvSpPr>
          <p:cNvPr id="7" name="TextBox 6">
            <a:extLst>
              <a:ext uri="{FF2B5EF4-FFF2-40B4-BE49-F238E27FC236}">
                <a16:creationId xmlns:a16="http://schemas.microsoft.com/office/drawing/2014/main" id="{6F05C99F-2E96-CBA1-C816-DDA23F920920}"/>
              </a:ext>
            </a:extLst>
          </p:cNvPr>
          <p:cNvSpPr txBox="1"/>
          <p:nvPr/>
        </p:nvSpPr>
        <p:spPr>
          <a:xfrm>
            <a:off x="5265591" y="5376976"/>
            <a:ext cx="452047"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Audit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Logging</a:t>
            </a:r>
          </a:p>
        </p:txBody>
      </p:sp>
      <p:sp>
        <p:nvSpPr>
          <p:cNvPr id="9" name="TextBox 8">
            <a:extLst>
              <a:ext uri="{FF2B5EF4-FFF2-40B4-BE49-F238E27FC236}">
                <a16:creationId xmlns:a16="http://schemas.microsoft.com/office/drawing/2014/main" id="{5813D974-2141-DEEA-73FD-7E44C5201E59}"/>
              </a:ext>
            </a:extLst>
          </p:cNvPr>
          <p:cNvSpPr txBox="1"/>
          <p:nvPr/>
        </p:nvSpPr>
        <p:spPr>
          <a:xfrm>
            <a:off x="7307281" y="4849703"/>
            <a:ext cx="411972"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Skyline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Health</a:t>
            </a:r>
          </a:p>
        </p:txBody>
      </p:sp>
      <p:sp>
        <p:nvSpPr>
          <p:cNvPr id="10" name="TextBox 9">
            <a:extLst>
              <a:ext uri="{FF2B5EF4-FFF2-40B4-BE49-F238E27FC236}">
                <a16:creationId xmlns:a16="http://schemas.microsoft.com/office/drawing/2014/main" id="{6E29FC66-1474-4B27-3751-31DC38A4C323}"/>
              </a:ext>
            </a:extLst>
          </p:cNvPr>
          <p:cNvSpPr txBox="1"/>
          <p:nvPr/>
        </p:nvSpPr>
        <p:spPr>
          <a:xfrm>
            <a:off x="6395363" y="3619791"/>
            <a:ext cx="78226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TPM &amp; vTPM</a:t>
            </a:r>
          </a:p>
        </p:txBody>
      </p:sp>
      <p:sp>
        <p:nvSpPr>
          <p:cNvPr id="11" name="TextBox 10">
            <a:extLst>
              <a:ext uri="{FF2B5EF4-FFF2-40B4-BE49-F238E27FC236}">
                <a16:creationId xmlns:a16="http://schemas.microsoft.com/office/drawing/2014/main" id="{43A9AEE9-FE16-05FF-1763-FAB6823249C2}"/>
              </a:ext>
            </a:extLst>
          </p:cNvPr>
          <p:cNvSpPr txBox="1"/>
          <p:nvPr/>
        </p:nvSpPr>
        <p:spPr>
          <a:xfrm>
            <a:off x="6762950" y="1240882"/>
            <a:ext cx="11349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Virtualization-Based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Security</a:t>
            </a:r>
          </a:p>
        </p:txBody>
      </p:sp>
      <p:sp>
        <p:nvSpPr>
          <p:cNvPr id="13" name="TextBox 12">
            <a:extLst>
              <a:ext uri="{FF2B5EF4-FFF2-40B4-BE49-F238E27FC236}">
                <a16:creationId xmlns:a16="http://schemas.microsoft.com/office/drawing/2014/main" id="{FA5999F4-EBB8-AED7-34D5-8F43A3D6558B}"/>
              </a:ext>
            </a:extLst>
          </p:cNvPr>
          <p:cNvSpPr txBox="1"/>
          <p:nvPr/>
        </p:nvSpPr>
        <p:spPr>
          <a:xfrm>
            <a:off x="5198959" y="3619385"/>
            <a:ext cx="700513"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Secure Boot</a:t>
            </a:r>
          </a:p>
        </p:txBody>
      </p:sp>
      <p:sp>
        <p:nvSpPr>
          <p:cNvPr id="14" name="TextBox 13">
            <a:extLst>
              <a:ext uri="{FF2B5EF4-FFF2-40B4-BE49-F238E27FC236}">
                <a16:creationId xmlns:a16="http://schemas.microsoft.com/office/drawing/2014/main" id="{10A7A224-056C-D5E9-AD4A-E3B90D83674E}"/>
              </a:ext>
            </a:extLst>
          </p:cNvPr>
          <p:cNvSpPr txBox="1"/>
          <p:nvPr/>
        </p:nvSpPr>
        <p:spPr>
          <a:xfrm>
            <a:off x="7111659" y="944753"/>
            <a:ext cx="83035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 Encryption</a:t>
            </a:r>
          </a:p>
        </p:txBody>
      </p:sp>
      <p:sp>
        <p:nvSpPr>
          <p:cNvPr id="15" name="TextBox 14">
            <a:extLst>
              <a:ext uri="{FF2B5EF4-FFF2-40B4-BE49-F238E27FC236}">
                <a16:creationId xmlns:a16="http://schemas.microsoft.com/office/drawing/2014/main" id="{86FFB519-E9DF-53A6-79E6-B894F37FFEA5}"/>
              </a:ext>
            </a:extLst>
          </p:cNvPr>
          <p:cNvSpPr txBox="1"/>
          <p:nvPr/>
        </p:nvSpPr>
        <p:spPr>
          <a:xfrm>
            <a:off x="6264242" y="2462861"/>
            <a:ext cx="61715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Native Key</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Provider</a:t>
            </a:r>
          </a:p>
        </p:txBody>
      </p:sp>
      <p:sp>
        <p:nvSpPr>
          <p:cNvPr id="16" name="TextBox 15">
            <a:extLst>
              <a:ext uri="{FF2B5EF4-FFF2-40B4-BE49-F238E27FC236}">
                <a16:creationId xmlns:a16="http://schemas.microsoft.com/office/drawing/2014/main" id="{936C43CB-D98E-BC5E-EE69-0114DAB4C8ED}"/>
              </a:ext>
            </a:extLst>
          </p:cNvPr>
          <p:cNvSpPr txBox="1"/>
          <p:nvPr/>
        </p:nvSpPr>
        <p:spPr>
          <a:xfrm>
            <a:off x="8490726" y="4228752"/>
            <a:ext cx="907300"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vSAN Stretched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Clusters</a:t>
            </a:r>
          </a:p>
        </p:txBody>
      </p:sp>
      <p:sp>
        <p:nvSpPr>
          <p:cNvPr id="17" name="TextBox 16">
            <a:extLst>
              <a:ext uri="{FF2B5EF4-FFF2-40B4-BE49-F238E27FC236}">
                <a16:creationId xmlns:a16="http://schemas.microsoft.com/office/drawing/2014/main" id="{0BAC99A3-3ED8-E7A4-4D77-80C9E96B977C}"/>
              </a:ext>
            </a:extLst>
          </p:cNvPr>
          <p:cNvSpPr txBox="1"/>
          <p:nvPr/>
        </p:nvSpPr>
        <p:spPr>
          <a:xfrm>
            <a:off x="7963757" y="5392898"/>
            <a:ext cx="60433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High</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Availability</a:t>
            </a:r>
          </a:p>
        </p:txBody>
      </p:sp>
      <p:sp>
        <p:nvSpPr>
          <p:cNvPr id="18" name="TextBox 17">
            <a:extLst>
              <a:ext uri="{FF2B5EF4-FFF2-40B4-BE49-F238E27FC236}">
                <a16:creationId xmlns:a16="http://schemas.microsoft.com/office/drawing/2014/main" id="{E3FE1562-8CBF-5E38-9840-210092296311}"/>
              </a:ext>
            </a:extLst>
          </p:cNvPr>
          <p:cNvSpPr txBox="1"/>
          <p:nvPr/>
        </p:nvSpPr>
        <p:spPr>
          <a:xfrm>
            <a:off x="9426049" y="3479147"/>
            <a:ext cx="270908"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DRS</a:t>
            </a:r>
          </a:p>
        </p:txBody>
      </p:sp>
      <p:sp>
        <p:nvSpPr>
          <p:cNvPr id="19" name="TextBox 18">
            <a:extLst>
              <a:ext uri="{FF2B5EF4-FFF2-40B4-BE49-F238E27FC236}">
                <a16:creationId xmlns:a16="http://schemas.microsoft.com/office/drawing/2014/main" id="{25F208D4-B69C-CA48-E9FC-6812C51013F7}"/>
              </a:ext>
            </a:extLst>
          </p:cNvPr>
          <p:cNvSpPr txBox="1"/>
          <p:nvPr/>
        </p:nvSpPr>
        <p:spPr>
          <a:xfrm>
            <a:off x="9689224" y="4513957"/>
            <a:ext cx="56746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Fault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Tolerance</a:t>
            </a:r>
          </a:p>
        </p:txBody>
      </p:sp>
      <p:sp>
        <p:nvSpPr>
          <p:cNvPr id="20" name="TextBox 19">
            <a:extLst>
              <a:ext uri="{FF2B5EF4-FFF2-40B4-BE49-F238E27FC236}">
                <a16:creationId xmlns:a16="http://schemas.microsoft.com/office/drawing/2014/main" id="{F653E932-C8F6-762D-887D-9FA40DED62DB}"/>
              </a:ext>
            </a:extLst>
          </p:cNvPr>
          <p:cNvSpPr txBox="1"/>
          <p:nvPr/>
        </p:nvSpPr>
        <p:spPr>
          <a:xfrm>
            <a:off x="7228175" y="4464063"/>
            <a:ext cx="60112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Snapshots</a:t>
            </a:r>
          </a:p>
        </p:txBody>
      </p:sp>
      <p:sp>
        <p:nvSpPr>
          <p:cNvPr id="21" name="TextBox 20">
            <a:extLst>
              <a:ext uri="{FF2B5EF4-FFF2-40B4-BE49-F238E27FC236}">
                <a16:creationId xmlns:a16="http://schemas.microsoft.com/office/drawing/2014/main" id="{71B013E2-D1D6-67C8-96B8-6BEB880D164F}"/>
              </a:ext>
            </a:extLst>
          </p:cNvPr>
          <p:cNvSpPr txBox="1"/>
          <p:nvPr/>
        </p:nvSpPr>
        <p:spPr>
          <a:xfrm>
            <a:off x="8276024" y="3135172"/>
            <a:ext cx="573875"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22" name="TextBox 21">
            <a:extLst>
              <a:ext uri="{FF2B5EF4-FFF2-40B4-BE49-F238E27FC236}">
                <a16:creationId xmlns:a16="http://schemas.microsoft.com/office/drawing/2014/main" id="{DCB8EA09-D3ED-7BC9-5F4A-D6B95B8D30BD}"/>
              </a:ext>
            </a:extLst>
          </p:cNvPr>
          <p:cNvSpPr txBox="1"/>
          <p:nvPr/>
        </p:nvSpPr>
        <p:spPr>
          <a:xfrm>
            <a:off x="5991761" y="4036644"/>
            <a:ext cx="50334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Lifecycle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Manager</a:t>
            </a:r>
          </a:p>
        </p:txBody>
      </p:sp>
      <p:sp>
        <p:nvSpPr>
          <p:cNvPr id="23" name="TextBox 22">
            <a:extLst>
              <a:ext uri="{FF2B5EF4-FFF2-40B4-BE49-F238E27FC236}">
                <a16:creationId xmlns:a16="http://schemas.microsoft.com/office/drawing/2014/main" id="{C9CA14AB-770B-A27A-7D58-B6C995133D1C}"/>
              </a:ext>
            </a:extLst>
          </p:cNvPr>
          <p:cNvSpPr txBox="1"/>
          <p:nvPr/>
        </p:nvSpPr>
        <p:spPr>
          <a:xfrm>
            <a:off x="9123760" y="4788835"/>
            <a:ext cx="267702"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EVC</a:t>
            </a:r>
          </a:p>
        </p:txBody>
      </p:sp>
      <p:sp>
        <p:nvSpPr>
          <p:cNvPr id="24" name="TextBox 23">
            <a:extLst>
              <a:ext uri="{FF2B5EF4-FFF2-40B4-BE49-F238E27FC236}">
                <a16:creationId xmlns:a16="http://schemas.microsoft.com/office/drawing/2014/main" id="{ED9CEF3E-1875-30F6-5103-475E082AA79B}"/>
              </a:ext>
            </a:extLst>
          </p:cNvPr>
          <p:cNvSpPr txBox="1"/>
          <p:nvPr/>
        </p:nvSpPr>
        <p:spPr>
          <a:xfrm>
            <a:off x="6368080" y="5520507"/>
            <a:ext cx="674864"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NIAP/CC</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Certification</a:t>
            </a:r>
          </a:p>
        </p:txBody>
      </p:sp>
      <p:sp>
        <p:nvSpPr>
          <p:cNvPr id="25" name="TextBox 24">
            <a:extLst>
              <a:ext uri="{FF2B5EF4-FFF2-40B4-BE49-F238E27FC236}">
                <a16:creationId xmlns:a16="http://schemas.microsoft.com/office/drawing/2014/main" id="{13F45072-948F-5F53-B47E-2499B71FB022}"/>
              </a:ext>
            </a:extLst>
          </p:cNvPr>
          <p:cNvSpPr txBox="1"/>
          <p:nvPr/>
        </p:nvSpPr>
        <p:spPr>
          <a:xfrm>
            <a:off x="7796164" y="1571935"/>
            <a:ext cx="100187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CPU Vulnerability</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Mitigations</a:t>
            </a:r>
          </a:p>
        </p:txBody>
      </p:sp>
      <p:sp>
        <p:nvSpPr>
          <p:cNvPr id="29" name="TextBox 28">
            <a:extLst>
              <a:ext uri="{FF2B5EF4-FFF2-40B4-BE49-F238E27FC236}">
                <a16:creationId xmlns:a16="http://schemas.microsoft.com/office/drawing/2014/main" id="{CB7055FF-C009-FAAE-17EE-E44CE96ADCB5}"/>
              </a:ext>
            </a:extLst>
          </p:cNvPr>
          <p:cNvSpPr txBox="1"/>
          <p:nvPr/>
        </p:nvSpPr>
        <p:spPr>
          <a:xfrm>
            <a:off x="7413170" y="2511666"/>
            <a:ext cx="657231"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FIPS 140-</a:t>
            </a:r>
            <a:r>
              <a:rPr lang="en-US" sz="1000" noProof="0" dirty="0">
                <a:solidFill>
                  <a:srgbClr val="F2F2F2">
                    <a:lumMod val="10000"/>
                  </a:srgbClr>
                </a:solidFill>
                <a:latin typeface="Arial" panose="020B0604020202020204" pitchFamily="34" charset="0"/>
              </a:rPr>
              <a:t>3</a:t>
            </a:r>
            <a:endPar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endParaRPr>
          </a:p>
        </p:txBody>
      </p:sp>
      <p:sp>
        <p:nvSpPr>
          <p:cNvPr id="30" name="TextBox 29">
            <a:extLst>
              <a:ext uri="{FF2B5EF4-FFF2-40B4-BE49-F238E27FC236}">
                <a16:creationId xmlns:a16="http://schemas.microsoft.com/office/drawing/2014/main" id="{4745423B-6A38-A5E3-DEEA-B0011E422DA2}"/>
              </a:ext>
            </a:extLst>
          </p:cNvPr>
          <p:cNvSpPr txBox="1"/>
          <p:nvPr/>
        </p:nvSpPr>
        <p:spPr>
          <a:xfrm>
            <a:off x="7938741" y="3608172"/>
            <a:ext cx="47448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NSX/</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err="1">
                <a:ln>
                  <a:noFill/>
                </a:ln>
                <a:solidFill>
                  <a:srgbClr val="F2F2F2">
                    <a:lumMod val="10000"/>
                  </a:srgbClr>
                </a:solidFill>
                <a:effectLst/>
                <a:uLnTx/>
                <a:uFillTx/>
                <a:latin typeface="Arial" panose="020B0604020202020204" pitchFamily="34" charset="0"/>
                <a:ea typeface="+mn-ea"/>
                <a:cs typeface="+mn-cs"/>
              </a:rPr>
              <a:t>vDefend</a:t>
            </a:r>
            <a:endPar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endParaRPr>
          </a:p>
        </p:txBody>
      </p:sp>
      <p:sp>
        <p:nvSpPr>
          <p:cNvPr id="31" name="TextBox 30">
            <a:extLst>
              <a:ext uri="{FF2B5EF4-FFF2-40B4-BE49-F238E27FC236}">
                <a16:creationId xmlns:a16="http://schemas.microsoft.com/office/drawing/2014/main" id="{9E95E4AB-4724-80AF-DF30-478B2BE24079}"/>
              </a:ext>
            </a:extLst>
          </p:cNvPr>
          <p:cNvSpPr txBox="1"/>
          <p:nvPr/>
        </p:nvSpPr>
        <p:spPr>
          <a:xfrm>
            <a:off x="4872847" y="4822910"/>
            <a:ext cx="6011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Host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Attestation</a:t>
            </a:r>
          </a:p>
        </p:txBody>
      </p:sp>
      <p:sp>
        <p:nvSpPr>
          <p:cNvPr id="32" name="TextBox 31">
            <a:extLst>
              <a:ext uri="{FF2B5EF4-FFF2-40B4-BE49-F238E27FC236}">
                <a16:creationId xmlns:a16="http://schemas.microsoft.com/office/drawing/2014/main" id="{232A96C7-E650-0BCB-BA68-F8195B93330A}"/>
              </a:ext>
            </a:extLst>
          </p:cNvPr>
          <p:cNvSpPr txBox="1"/>
          <p:nvPr/>
        </p:nvSpPr>
        <p:spPr>
          <a:xfrm>
            <a:off x="7111092" y="2774022"/>
            <a:ext cx="75822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Configuration</a:t>
            </a:r>
          </a:p>
        </p:txBody>
      </p:sp>
      <p:sp>
        <p:nvSpPr>
          <p:cNvPr id="33" name="TextBox 32">
            <a:extLst>
              <a:ext uri="{FF2B5EF4-FFF2-40B4-BE49-F238E27FC236}">
                <a16:creationId xmlns:a16="http://schemas.microsoft.com/office/drawing/2014/main" id="{76926565-59AD-4C7B-0F1B-979C2084DD11}"/>
              </a:ext>
            </a:extLst>
          </p:cNvPr>
          <p:cNvSpPr txBox="1"/>
          <p:nvPr/>
        </p:nvSpPr>
        <p:spPr>
          <a:xfrm>
            <a:off x="8407005" y="2464658"/>
            <a:ext cx="60272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vSAN</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Encryption</a:t>
            </a:r>
          </a:p>
        </p:txBody>
      </p:sp>
      <p:sp>
        <p:nvSpPr>
          <p:cNvPr id="34" name="TextBox 33">
            <a:extLst>
              <a:ext uri="{FF2B5EF4-FFF2-40B4-BE49-F238E27FC236}">
                <a16:creationId xmlns:a16="http://schemas.microsoft.com/office/drawing/2014/main" id="{59444EBC-C1CC-9A2E-2F49-4BD94D1919FA}"/>
              </a:ext>
            </a:extLst>
          </p:cNvPr>
          <p:cNvSpPr txBox="1"/>
          <p:nvPr/>
        </p:nvSpPr>
        <p:spPr>
          <a:xfrm>
            <a:off x="8208706" y="4652354"/>
            <a:ext cx="660437"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vCenter HA</a:t>
            </a:r>
          </a:p>
        </p:txBody>
      </p:sp>
      <p:sp>
        <p:nvSpPr>
          <p:cNvPr id="35" name="TextBox 34">
            <a:extLst>
              <a:ext uri="{FF2B5EF4-FFF2-40B4-BE49-F238E27FC236}">
                <a16:creationId xmlns:a16="http://schemas.microsoft.com/office/drawing/2014/main" id="{32025BEE-F96F-73FC-60A9-9BCB0EAF7F4C}"/>
              </a:ext>
            </a:extLst>
          </p:cNvPr>
          <p:cNvSpPr txBox="1"/>
          <p:nvPr/>
        </p:nvSpPr>
        <p:spPr>
          <a:xfrm>
            <a:off x="5518891" y="6005044"/>
            <a:ext cx="121988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Configuration Profiles</a:t>
            </a:r>
          </a:p>
        </p:txBody>
      </p:sp>
      <p:sp>
        <p:nvSpPr>
          <p:cNvPr id="36" name="TextBox 35">
            <a:extLst>
              <a:ext uri="{FF2B5EF4-FFF2-40B4-BE49-F238E27FC236}">
                <a16:creationId xmlns:a16="http://schemas.microsoft.com/office/drawing/2014/main" id="{84B4CBA2-6092-4F0C-5FCB-4C416E8F6E36}"/>
              </a:ext>
            </a:extLst>
          </p:cNvPr>
          <p:cNvSpPr txBox="1"/>
          <p:nvPr/>
        </p:nvSpPr>
        <p:spPr>
          <a:xfrm>
            <a:off x="9902979" y="3968257"/>
            <a:ext cx="31258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SIOC</a:t>
            </a:r>
          </a:p>
        </p:txBody>
      </p:sp>
      <p:sp>
        <p:nvSpPr>
          <p:cNvPr id="37" name="TextBox 36">
            <a:extLst>
              <a:ext uri="{FF2B5EF4-FFF2-40B4-BE49-F238E27FC236}">
                <a16:creationId xmlns:a16="http://schemas.microsoft.com/office/drawing/2014/main" id="{F960C7BF-864E-C9A0-6B73-0DBD3373E0B8}"/>
              </a:ext>
            </a:extLst>
          </p:cNvPr>
          <p:cNvSpPr txBox="1"/>
          <p:nvPr/>
        </p:nvSpPr>
        <p:spPr>
          <a:xfrm>
            <a:off x="9737953" y="5080475"/>
            <a:ext cx="333338" cy="15384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NIOC</a:t>
            </a:r>
          </a:p>
        </p:txBody>
      </p:sp>
      <p:sp>
        <p:nvSpPr>
          <p:cNvPr id="38" name="TextBox 37">
            <a:extLst>
              <a:ext uri="{FF2B5EF4-FFF2-40B4-BE49-F238E27FC236}">
                <a16:creationId xmlns:a16="http://schemas.microsoft.com/office/drawing/2014/main" id="{40DA2D4F-9C6C-9FE6-25AF-D732F7014438}"/>
              </a:ext>
            </a:extLst>
          </p:cNvPr>
          <p:cNvSpPr txBox="1"/>
          <p:nvPr/>
        </p:nvSpPr>
        <p:spPr>
          <a:xfrm>
            <a:off x="4667685" y="4439843"/>
            <a:ext cx="764633"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Code Signing</a:t>
            </a:r>
          </a:p>
        </p:txBody>
      </p:sp>
      <p:sp>
        <p:nvSpPr>
          <p:cNvPr id="39" name="TextBox 38">
            <a:extLst>
              <a:ext uri="{FF2B5EF4-FFF2-40B4-BE49-F238E27FC236}">
                <a16:creationId xmlns:a16="http://schemas.microsoft.com/office/drawing/2014/main" id="{8AEB74BE-DEEA-3B11-A8B1-C24B93D8F7C1}"/>
              </a:ext>
            </a:extLst>
          </p:cNvPr>
          <p:cNvSpPr txBox="1"/>
          <p:nvPr/>
        </p:nvSpPr>
        <p:spPr>
          <a:xfrm>
            <a:off x="8288304" y="4968258"/>
            <a:ext cx="447237"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40" name="TextBox 39">
            <a:extLst>
              <a:ext uri="{FF2B5EF4-FFF2-40B4-BE49-F238E27FC236}">
                <a16:creationId xmlns:a16="http://schemas.microsoft.com/office/drawing/2014/main" id="{51101D9F-BAF5-EAE2-4B60-F3E9A30C599F}"/>
              </a:ext>
            </a:extLst>
          </p:cNvPr>
          <p:cNvSpPr txBox="1"/>
          <p:nvPr/>
        </p:nvSpPr>
        <p:spPr>
          <a:xfrm>
            <a:off x="6037551" y="5104550"/>
            <a:ext cx="72936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 Sandbox</a:t>
            </a:r>
          </a:p>
        </p:txBody>
      </p:sp>
      <p:sp>
        <p:nvSpPr>
          <p:cNvPr id="41" name="TextBox 40">
            <a:extLst>
              <a:ext uri="{FF2B5EF4-FFF2-40B4-BE49-F238E27FC236}">
                <a16:creationId xmlns:a16="http://schemas.microsoft.com/office/drawing/2014/main" id="{958CE39F-2C3D-794C-31C0-4565B811FF67}"/>
              </a:ext>
            </a:extLst>
          </p:cNvPr>
          <p:cNvSpPr txBox="1"/>
          <p:nvPr/>
        </p:nvSpPr>
        <p:spPr>
          <a:xfrm>
            <a:off x="6227504" y="1508824"/>
            <a:ext cx="3334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Intel</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err="1">
                <a:ln>
                  <a:noFill/>
                </a:ln>
                <a:solidFill>
                  <a:srgbClr val="F2F2F2">
                    <a:lumMod val="10000"/>
                  </a:srgbClr>
                </a:solidFill>
                <a:effectLst/>
                <a:uLnTx/>
                <a:uFillTx/>
                <a:latin typeface="Arial" panose="020B0604020202020204" pitchFamily="34" charset="0"/>
                <a:ea typeface="+mn-ea"/>
                <a:cs typeface="+mn-cs"/>
              </a:rPr>
              <a:t>vSGX</a:t>
            </a:r>
            <a:endPar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endParaRPr>
          </a:p>
        </p:txBody>
      </p:sp>
      <p:sp>
        <p:nvSpPr>
          <p:cNvPr id="43" name="TextBox 42">
            <a:extLst>
              <a:ext uri="{FF2B5EF4-FFF2-40B4-BE49-F238E27FC236}">
                <a16:creationId xmlns:a16="http://schemas.microsoft.com/office/drawing/2014/main" id="{15ADCDD0-DB89-7798-D41B-A9F3DBCB956D}"/>
              </a:ext>
            </a:extLst>
          </p:cNvPr>
          <p:cNvSpPr txBox="1"/>
          <p:nvPr/>
        </p:nvSpPr>
        <p:spPr>
          <a:xfrm>
            <a:off x="5970914" y="2027758"/>
            <a:ext cx="60914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Identity</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Federation</a:t>
            </a:r>
          </a:p>
        </p:txBody>
      </p:sp>
      <p:sp>
        <p:nvSpPr>
          <p:cNvPr id="42" name="TextBox 41">
            <a:extLst>
              <a:ext uri="{FF2B5EF4-FFF2-40B4-BE49-F238E27FC236}">
                <a16:creationId xmlns:a16="http://schemas.microsoft.com/office/drawing/2014/main" id="{05B6F237-7F52-924F-C288-D06CC26CD375}"/>
              </a:ext>
            </a:extLst>
          </p:cNvPr>
          <p:cNvSpPr txBox="1"/>
          <p:nvPr/>
        </p:nvSpPr>
        <p:spPr>
          <a:xfrm>
            <a:off x="8172036" y="2028036"/>
            <a:ext cx="87363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Distributed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Switch Security</a:t>
            </a:r>
          </a:p>
        </p:txBody>
      </p:sp>
      <p:sp>
        <p:nvSpPr>
          <p:cNvPr id="44" name="TextBox 43">
            <a:extLst>
              <a:ext uri="{FF2B5EF4-FFF2-40B4-BE49-F238E27FC236}">
                <a16:creationId xmlns:a16="http://schemas.microsoft.com/office/drawing/2014/main" id="{7EE29384-9B6D-C575-B8EA-96D287B5A481}"/>
              </a:ext>
            </a:extLst>
          </p:cNvPr>
          <p:cNvSpPr txBox="1"/>
          <p:nvPr/>
        </p:nvSpPr>
        <p:spPr>
          <a:xfrm>
            <a:off x="6756738" y="1818322"/>
            <a:ext cx="819135"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AMD SEV-ES</a:t>
            </a:r>
          </a:p>
        </p:txBody>
      </p:sp>
      <p:sp>
        <p:nvSpPr>
          <p:cNvPr id="45" name="TextBox 44">
            <a:extLst>
              <a:ext uri="{FF2B5EF4-FFF2-40B4-BE49-F238E27FC236}">
                <a16:creationId xmlns:a16="http://schemas.microsoft.com/office/drawing/2014/main" id="{D927BB09-FB98-A644-D495-B7A97A56A53F}"/>
              </a:ext>
            </a:extLst>
          </p:cNvPr>
          <p:cNvSpPr txBox="1"/>
          <p:nvPr/>
        </p:nvSpPr>
        <p:spPr>
          <a:xfrm>
            <a:off x="8903412" y="3772180"/>
            <a:ext cx="766235"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Network</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Health Check</a:t>
            </a:r>
          </a:p>
        </p:txBody>
      </p:sp>
      <p:sp>
        <p:nvSpPr>
          <p:cNvPr id="46" name="TextBox 45">
            <a:extLst>
              <a:ext uri="{FF2B5EF4-FFF2-40B4-BE49-F238E27FC236}">
                <a16:creationId xmlns:a16="http://schemas.microsoft.com/office/drawing/2014/main" id="{B4180A9B-BC4B-99CD-9398-1BBD07E3518A}"/>
              </a:ext>
            </a:extLst>
          </p:cNvPr>
          <p:cNvSpPr txBox="1"/>
          <p:nvPr/>
        </p:nvSpPr>
        <p:spPr>
          <a:xfrm>
            <a:off x="5904937" y="4534704"/>
            <a:ext cx="54021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Live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Recovery</a:t>
            </a:r>
          </a:p>
        </p:txBody>
      </p:sp>
      <p:sp>
        <p:nvSpPr>
          <p:cNvPr id="47" name="TextBox 46">
            <a:extLst>
              <a:ext uri="{FF2B5EF4-FFF2-40B4-BE49-F238E27FC236}">
                <a16:creationId xmlns:a16="http://schemas.microsoft.com/office/drawing/2014/main" id="{69B4C751-C8FA-BD20-B6CD-904241EE8217}"/>
              </a:ext>
            </a:extLst>
          </p:cNvPr>
          <p:cNvSpPr txBox="1"/>
          <p:nvPr/>
        </p:nvSpPr>
        <p:spPr>
          <a:xfrm>
            <a:off x="4931240" y="4013599"/>
            <a:ext cx="678071"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NTP &amp; PTP</a:t>
            </a:r>
          </a:p>
        </p:txBody>
      </p:sp>
      <p:sp>
        <p:nvSpPr>
          <p:cNvPr id="49" name="TextBox 48">
            <a:extLst>
              <a:ext uri="{FF2B5EF4-FFF2-40B4-BE49-F238E27FC236}">
                <a16:creationId xmlns:a16="http://schemas.microsoft.com/office/drawing/2014/main" id="{E687A054-11F5-C2A1-1BBC-326778F58E22}"/>
              </a:ext>
            </a:extLst>
          </p:cNvPr>
          <p:cNvSpPr txBox="1"/>
          <p:nvPr/>
        </p:nvSpPr>
        <p:spPr>
          <a:xfrm>
            <a:off x="6925802" y="2087856"/>
            <a:ext cx="90890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vSAN Transport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Encryption</a:t>
            </a:r>
          </a:p>
        </p:txBody>
      </p:sp>
      <p:sp>
        <p:nvSpPr>
          <p:cNvPr id="52" name="TextBox 51">
            <a:extLst>
              <a:ext uri="{FF2B5EF4-FFF2-40B4-BE49-F238E27FC236}">
                <a16:creationId xmlns:a16="http://schemas.microsoft.com/office/drawing/2014/main" id="{53A8D5E7-7EF8-9C75-AC20-C662D249FF8C}"/>
              </a:ext>
            </a:extLst>
          </p:cNvPr>
          <p:cNvSpPr txBox="1"/>
          <p:nvPr/>
        </p:nvSpPr>
        <p:spPr>
          <a:xfrm>
            <a:off x="8373239" y="5860252"/>
            <a:ext cx="447237"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Storage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54" name="TextBox 53">
            <a:extLst>
              <a:ext uri="{FF2B5EF4-FFF2-40B4-BE49-F238E27FC236}">
                <a16:creationId xmlns:a16="http://schemas.microsoft.com/office/drawing/2014/main" id="{12717786-3E70-69FA-5C22-DB57F34968AB}"/>
              </a:ext>
            </a:extLst>
          </p:cNvPr>
          <p:cNvSpPr txBox="1"/>
          <p:nvPr/>
        </p:nvSpPr>
        <p:spPr>
          <a:xfrm>
            <a:off x="9019724" y="5736286"/>
            <a:ext cx="81753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Cross vCenter</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55" name="TextBox 54">
            <a:extLst>
              <a:ext uri="{FF2B5EF4-FFF2-40B4-BE49-F238E27FC236}">
                <a16:creationId xmlns:a16="http://schemas.microsoft.com/office/drawing/2014/main" id="{7085FD3E-D4E0-4079-A8FC-89D664183D69}"/>
              </a:ext>
            </a:extLst>
          </p:cNvPr>
          <p:cNvSpPr txBox="1"/>
          <p:nvPr/>
        </p:nvSpPr>
        <p:spPr>
          <a:xfrm>
            <a:off x="8728321" y="5199736"/>
            <a:ext cx="623568"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Aria</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Operations</a:t>
            </a:r>
          </a:p>
        </p:txBody>
      </p:sp>
      <p:pic>
        <p:nvPicPr>
          <p:cNvPr id="27" name="Graphic 26">
            <a:extLst>
              <a:ext uri="{FF2B5EF4-FFF2-40B4-BE49-F238E27FC236}">
                <a16:creationId xmlns:a16="http://schemas.microsoft.com/office/drawing/2014/main" id="{B9B155D6-DFD7-8188-857E-1963DA4C81A5}"/>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309335" y="3771029"/>
            <a:ext cx="425796" cy="425796"/>
          </a:xfrm>
          <a:prstGeom prst="rect">
            <a:avLst/>
          </a:prstGeom>
        </p:spPr>
      </p:pic>
      <p:sp>
        <p:nvSpPr>
          <p:cNvPr id="8" name="TextBox 7">
            <a:extLst>
              <a:ext uri="{FF2B5EF4-FFF2-40B4-BE49-F238E27FC236}">
                <a16:creationId xmlns:a16="http://schemas.microsoft.com/office/drawing/2014/main" id="{CAC6D283-C212-F286-33C8-2E7783028EFF}"/>
              </a:ext>
            </a:extLst>
          </p:cNvPr>
          <p:cNvSpPr txBox="1"/>
          <p:nvPr/>
        </p:nvSpPr>
        <p:spPr>
          <a:xfrm>
            <a:off x="6187055" y="3173833"/>
            <a:ext cx="63959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TLS 1.3 &amp;</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Certificates</a:t>
            </a:r>
          </a:p>
        </p:txBody>
      </p:sp>
      <p:sp>
        <p:nvSpPr>
          <p:cNvPr id="26" name="Title 1">
            <a:extLst>
              <a:ext uri="{FF2B5EF4-FFF2-40B4-BE49-F238E27FC236}">
                <a16:creationId xmlns:a16="http://schemas.microsoft.com/office/drawing/2014/main" id="{7789682D-4110-1333-8FBF-B59FFA5BEE29}"/>
              </a:ext>
            </a:extLst>
          </p:cNvPr>
          <p:cNvSpPr txBox="1">
            <a:spLocks/>
          </p:cNvSpPr>
          <p:nvPr/>
        </p:nvSpPr>
        <p:spPr>
          <a:xfrm>
            <a:off x="668858" y="2376580"/>
            <a:ext cx="4029049" cy="2104840"/>
          </a:xfrm>
          <a:prstGeom prst="rect">
            <a:avLst/>
          </a:prstGeom>
        </p:spPr>
        <p:txBody>
          <a:bodyPr anchor="ct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Tx/>
              <a:buNone/>
              <a:tabLst/>
              <a:defRPr/>
            </a:pPr>
            <a:r>
              <a:rPr kumimoji="0" lang="en-US" sz="3599" b="0" i="0" u="none" strike="noStrike" kern="1200" cap="none" spc="0" normalizeH="0" baseline="0" noProof="0" dirty="0">
                <a:ln>
                  <a:noFill/>
                </a:ln>
                <a:solidFill>
                  <a:srgbClr val="005B84"/>
                </a:solidFill>
                <a:effectLst/>
                <a:uLnTx/>
                <a:uFillTx/>
                <a:latin typeface="Arial" panose="020B0604020202020204" pitchFamily="34" charset="0"/>
                <a:ea typeface="+mj-ea"/>
                <a:cs typeface="+mj-cs"/>
              </a:rPr>
              <a:t>Security is an</a:t>
            </a:r>
            <a:br>
              <a:rPr kumimoji="0" lang="en-US" sz="3599" b="0" i="0" u="none" strike="noStrike" kern="1200" cap="none" spc="0" normalizeH="0" baseline="0" noProof="0" dirty="0">
                <a:ln>
                  <a:noFill/>
                </a:ln>
                <a:solidFill>
                  <a:srgbClr val="005B84"/>
                </a:solidFill>
                <a:effectLst/>
                <a:uLnTx/>
                <a:uFillTx/>
                <a:latin typeface="Arial" panose="020B0604020202020204" pitchFamily="34" charset="0"/>
                <a:ea typeface="+mj-ea"/>
                <a:cs typeface="+mj-cs"/>
              </a:rPr>
            </a:br>
            <a:r>
              <a:rPr kumimoji="0" lang="en-US" sz="3599" i="0" u="none" strike="noStrike" kern="1200" cap="none" spc="0" normalizeH="0" baseline="0" noProof="0" dirty="0">
                <a:ln>
                  <a:noFill/>
                </a:ln>
                <a:solidFill>
                  <a:srgbClr val="005B84"/>
                </a:solidFill>
                <a:effectLst/>
                <a:uLnTx/>
                <a:uFillTx/>
                <a:latin typeface="Arial" panose="020B0604020202020204" pitchFamily="34" charset="0"/>
                <a:ea typeface="+mj-ea"/>
                <a:cs typeface="+mj-cs"/>
              </a:rPr>
              <a:t>Inherent</a:t>
            </a:r>
            <a:r>
              <a:rPr lang="en-US" sz="3599" dirty="0">
                <a:solidFill>
                  <a:srgbClr val="005B84"/>
                </a:solidFill>
                <a:latin typeface="Arial" panose="020B0604020202020204" pitchFamily="34" charset="0"/>
              </a:rPr>
              <a:t> Property of VCF</a:t>
            </a:r>
          </a:p>
        </p:txBody>
      </p:sp>
    </p:spTree>
    <p:extLst>
      <p:ext uri="{BB962C8B-B14F-4D97-AF65-F5344CB8AC3E}">
        <p14:creationId xmlns:p14="http://schemas.microsoft.com/office/powerpoint/2010/main" val="3247028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decel="10000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1">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 calcmode="lin" valueType="num">
                                      <p:cBhvr additive="base">
                                        <p:cTn id="11"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14">
                                            <p:txEl>
                                              <p:pRg st="0" end="0"/>
                                            </p:txEl>
                                          </p:spTgt>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 calcmode="lin" valueType="num">
                                      <p:cBhvr additive="base">
                                        <p:cTn id="15"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15">
                                            <p:txEl>
                                              <p:pRg st="0" end="0"/>
                                            </p:txEl>
                                          </p:spTgt>
                                        </p:tgtEl>
                                        <p:attrNameLst>
                                          <p:attrName>ppt_y</p:attrName>
                                        </p:attrNameLst>
                                      </p:cBhvr>
                                      <p:tavLst>
                                        <p:tav tm="0">
                                          <p:val>
                                            <p:strVal val="0-#ppt_h/2"/>
                                          </p:val>
                                        </p:tav>
                                        <p:tav tm="100000">
                                          <p:val>
                                            <p:strVal val="#ppt_y"/>
                                          </p:val>
                                        </p:tav>
                                      </p:tavLst>
                                    </p:anim>
                                  </p:childTnLst>
                                </p:cTn>
                              </p:par>
                              <p:par>
                                <p:cTn id="17" presetID="2" presetClass="entr" presetSubtype="1" decel="100000" fill="hold" grpId="0" nodeType="withEffect">
                                  <p:stCondLst>
                                    <p:cond delay="0"/>
                                  </p:stCondLst>
                                  <p:childTnLst>
                                    <p:set>
                                      <p:cBhvr>
                                        <p:cTn id="18" dur="1" fill="hold">
                                          <p:stCondLst>
                                            <p:cond delay="0"/>
                                          </p:stCondLst>
                                        </p:cTn>
                                        <p:tgtEl>
                                          <p:spTgt spid="25">
                                            <p:txEl>
                                              <p:pRg st="0" end="0"/>
                                            </p:txEl>
                                          </p:spTgt>
                                        </p:tgtEl>
                                        <p:attrNameLst>
                                          <p:attrName>style.visibility</p:attrName>
                                        </p:attrNameLst>
                                      </p:cBhvr>
                                      <p:to>
                                        <p:strVal val="visible"/>
                                      </p:to>
                                    </p:set>
                                    <p:anim calcmode="lin" valueType="num">
                                      <p:cBhvr additive="base">
                                        <p:cTn id="19" dur="10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25">
                                            <p:txEl>
                                              <p:pRg st="0" end="0"/>
                                            </p:txEl>
                                          </p:spTgt>
                                        </p:tgtEl>
                                        <p:attrNameLst>
                                          <p:attrName>ppt_y</p:attrName>
                                        </p:attrNameLst>
                                      </p:cBhvr>
                                      <p:tavLst>
                                        <p:tav tm="0">
                                          <p:val>
                                            <p:strVal val="0-#ppt_h/2"/>
                                          </p:val>
                                        </p:tav>
                                        <p:tav tm="100000">
                                          <p:val>
                                            <p:strVal val="#ppt_y"/>
                                          </p:val>
                                        </p:tav>
                                      </p:tavLst>
                                    </p:anim>
                                  </p:childTnLst>
                                </p:cTn>
                              </p:par>
                              <p:par>
                                <p:cTn id="21" presetID="2" presetClass="entr" presetSubtype="1" decel="100000" fill="hold" grpId="0" nodeType="withEffect">
                                  <p:stCondLst>
                                    <p:cond delay="0"/>
                                  </p:stCondLst>
                                  <p:childTnLst>
                                    <p:set>
                                      <p:cBhvr>
                                        <p:cTn id="22" dur="1" fill="hold">
                                          <p:stCondLst>
                                            <p:cond delay="0"/>
                                          </p:stCondLst>
                                        </p:cTn>
                                        <p:tgtEl>
                                          <p:spTgt spid="29">
                                            <p:txEl>
                                              <p:pRg st="0" end="0"/>
                                            </p:txEl>
                                          </p:spTgt>
                                        </p:tgtEl>
                                        <p:attrNameLst>
                                          <p:attrName>style.visibility</p:attrName>
                                        </p:attrNameLst>
                                      </p:cBhvr>
                                      <p:to>
                                        <p:strVal val="visible"/>
                                      </p:to>
                                    </p:set>
                                    <p:anim calcmode="lin" valueType="num">
                                      <p:cBhvr additive="base">
                                        <p:cTn id="23"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24" dur="1000" fill="hold"/>
                                        <p:tgtEl>
                                          <p:spTgt spid="29">
                                            <p:txEl>
                                              <p:pRg st="0" end="0"/>
                                            </p:txEl>
                                          </p:spTgt>
                                        </p:tgtEl>
                                        <p:attrNameLst>
                                          <p:attrName>ppt_y</p:attrName>
                                        </p:attrNameLst>
                                      </p:cBhvr>
                                      <p:tavLst>
                                        <p:tav tm="0">
                                          <p:val>
                                            <p:strVal val="0-#ppt_h/2"/>
                                          </p:val>
                                        </p:tav>
                                        <p:tav tm="100000">
                                          <p:val>
                                            <p:strVal val="#ppt_y"/>
                                          </p:val>
                                        </p:tav>
                                      </p:tavLst>
                                    </p:anim>
                                  </p:childTnLst>
                                </p:cTn>
                              </p:par>
                              <p:par>
                                <p:cTn id="25" presetID="2" presetClass="entr" presetSubtype="1" decel="100000" fill="hold" grpId="0" nodeType="withEffect">
                                  <p:stCondLst>
                                    <p:cond delay="0"/>
                                  </p:stCondLst>
                                  <p:childTnLst>
                                    <p:set>
                                      <p:cBhvr>
                                        <p:cTn id="26" dur="1" fill="hold">
                                          <p:stCondLst>
                                            <p:cond delay="0"/>
                                          </p:stCondLst>
                                        </p:cTn>
                                        <p:tgtEl>
                                          <p:spTgt spid="32">
                                            <p:txEl>
                                              <p:pRg st="0" end="0"/>
                                            </p:txEl>
                                          </p:spTgt>
                                        </p:tgtEl>
                                        <p:attrNameLst>
                                          <p:attrName>style.visibility</p:attrName>
                                        </p:attrNameLst>
                                      </p:cBhvr>
                                      <p:to>
                                        <p:strVal val="visible"/>
                                      </p:to>
                                    </p:set>
                                    <p:anim calcmode="lin" valueType="num">
                                      <p:cBhvr additive="base">
                                        <p:cTn id="27" dur="10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28" dur="1000" fill="hold"/>
                                        <p:tgtEl>
                                          <p:spTgt spid="32">
                                            <p:txEl>
                                              <p:pRg st="0" end="0"/>
                                            </p:txEl>
                                          </p:spTgt>
                                        </p:tgtEl>
                                        <p:attrNameLst>
                                          <p:attrName>ppt_y</p:attrName>
                                        </p:attrNameLst>
                                      </p:cBhvr>
                                      <p:tavLst>
                                        <p:tav tm="0">
                                          <p:val>
                                            <p:strVal val="0-#ppt_h/2"/>
                                          </p:val>
                                        </p:tav>
                                        <p:tav tm="100000">
                                          <p:val>
                                            <p:strVal val="#ppt_y"/>
                                          </p:val>
                                        </p:tav>
                                      </p:tavLst>
                                    </p:anim>
                                  </p:childTnLst>
                                </p:cTn>
                              </p:par>
                              <p:par>
                                <p:cTn id="29" presetID="2" presetClass="entr" presetSubtype="1" decel="100000" fill="hold" grpId="0" nodeType="withEffect">
                                  <p:stCondLst>
                                    <p:cond delay="0"/>
                                  </p:stCondLst>
                                  <p:childTnLst>
                                    <p:set>
                                      <p:cBhvr>
                                        <p:cTn id="30" dur="1" fill="hold">
                                          <p:stCondLst>
                                            <p:cond delay="0"/>
                                          </p:stCondLst>
                                        </p:cTn>
                                        <p:tgtEl>
                                          <p:spTgt spid="33">
                                            <p:txEl>
                                              <p:pRg st="0" end="0"/>
                                            </p:txEl>
                                          </p:spTgt>
                                        </p:tgtEl>
                                        <p:attrNameLst>
                                          <p:attrName>style.visibility</p:attrName>
                                        </p:attrNameLst>
                                      </p:cBhvr>
                                      <p:to>
                                        <p:strVal val="visible"/>
                                      </p:to>
                                    </p:set>
                                    <p:anim calcmode="lin" valueType="num">
                                      <p:cBhvr additive="base">
                                        <p:cTn id="31" dur="10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33">
                                            <p:txEl>
                                              <p:pRg st="0" end="0"/>
                                            </p:txEl>
                                          </p:spTgt>
                                        </p:tgtEl>
                                        <p:attrNameLst>
                                          <p:attrName>ppt_y</p:attrName>
                                        </p:attrNameLst>
                                      </p:cBhvr>
                                      <p:tavLst>
                                        <p:tav tm="0">
                                          <p:val>
                                            <p:strVal val="0-#ppt_h/2"/>
                                          </p:val>
                                        </p:tav>
                                        <p:tav tm="100000">
                                          <p:val>
                                            <p:strVal val="#ppt_y"/>
                                          </p:val>
                                        </p:tav>
                                      </p:tavLst>
                                    </p:anim>
                                  </p:childTnLst>
                                </p:cTn>
                              </p:par>
                              <p:par>
                                <p:cTn id="33" presetID="2" presetClass="entr" presetSubtype="1" decel="100000" fill="hold" grpId="0" nodeType="withEffect">
                                  <p:stCondLst>
                                    <p:cond delay="0"/>
                                  </p:stCondLst>
                                  <p:childTnLst>
                                    <p:set>
                                      <p:cBhvr>
                                        <p:cTn id="34" dur="1" fill="hold">
                                          <p:stCondLst>
                                            <p:cond delay="0"/>
                                          </p:stCondLst>
                                        </p:cTn>
                                        <p:tgtEl>
                                          <p:spTgt spid="41">
                                            <p:txEl>
                                              <p:pRg st="0" end="0"/>
                                            </p:txEl>
                                          </p:spTgt>
                                        </p:tgtEl>
                                        <p:attrNameLst>
                                          <p:attrName>style.visibility</p:attrName>
                                        </p:attrNameLst>
                                      </p:cBhvr>
                                      <p:to>
                                        <p:strVal val="visible"/>
                                      </p:to>
                                    </p:set>
                                    <p:anim calcmode="lin" valueType="num">
                                      <p:cBhvr additive="base">
                                        <p:cTn id="35" dur="1000" fill="hold"/>
                                        <p:tgtEl>
                                          <p:spTgt spid="41">
                                            <p:txEl>
                                              <p:pRg st="0" end="0"/>
                                            </p:txEl>
                                          </p:spTgt>
                                        </p:tgtEl>
                                        <p:attrNameLst>
                                          <p:attrName>ppt_x</p:attrName>
                                        </p:attrNameLst>
                                      </p:cBhvr>
                                      <p:tavLst>
                                        <p:tav tm="0">
                                          <p:val>
                                            <p:strVal val="#ppt_x"/>
                                          </p:val>
                                        </p:tav>
                                        <p:tav tm="100000">
                                          <p:val>
                                            <p:strVal val="#ppt_x"/>
                                          </p:val>
                                        </p:tav>
                                      </p:tavLst>
                                    </p:anim>
                                    <p:anim calcmode="lin" valueType="num">
                                      <p:cBhvr additive="base">
                                        <p:cTn id="36" dur="1000" fill="hold"/>
                                        <p:tgtEl>
                                          <p:spTgt spid="41">
                                            <p:txEl>
                                              <p:pRg st="0" end="0"/>
                                            </p:txEl>
                                          </p:spTgt>
                                        </p:tgtEl>
                                        <p:attrNameLst>
                                          <p:attrName>ppt_y</p:attrName>
                                        </p:attrNameLst>
                                      </p:cBhvr>
                                      <p:tavLst>
                                        <p:tav tm="0">
                                          <p:val>
                                            <p:strVal val="0-#ppt_h/2"/>
                                          </p:val>
                                        </p:tav>
                                        <p:tav tm="100000">
                                          <p:val>
                                            <p:strVal val="#ppt_y"/>
                                          </p:val>
                                        </p:tav>
                                      </p:tavLst>
                                    </p:anim>
                                  </p:childTnLst>
                                </p:cTn>
                              </p:par>
                              <p:par>
                                <p:cTn id="37" presetID="2" presetClass="entr" presetSubtype="1" decel="100000" fill="hold" grpId="0" nodeType="withEffect">
                                  <p:stCondLst>
                                    <p:cond delay="0"/>
                                  </p:stCondLst>
                                  <p:childTnLst>
                                    <p:set>
                                      <p:cBhvr>
                                        <p:cTn id="38" dur="1" fill="hold">
                                          <p:stCondLst>
                                            <p:cond delay="0"/>
                                          </p:stCondLst>
                                        </p:cTn>
                                        <p:tgtEl>
                                          <p:spTgt spid="43">
                                            <p:txEl>
                                              <p:pRg st="0" end="0"/>
                                            </p:txEl>
                                          </p:spTgt>
                                        </p:tgtEl>
                                        <p:attrNameLst>
                                          <p:attrName>style.visibility</p:attrName>
                                        </p:attrNameLst>
                                      </p:cBhvr>
                                      <p:to>
                                        <p:strVal val="visible"/>
                                      </p:to>
                                    </p:set>
                                    <p:anim calcmode="lin" valueType="num">
                                      <p:cBhvr additive="base">
                                        <p:cTn id="39" dur="100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40" dur="1000" fill="hold"/>
                                        <p:tgtEl>
                                          <p:spTgt spid="43">
                                            <p:txEl>
                                              <p:pRg st="0" end="0"/>
                                            </p:txEl>
                                          </p:spTgt>
                                        </p:tgtEl>
                                        <p:attrNameLst>
                                          <p:attrName>ppt_y</p:attrName>
                                        </p:attrNameLst>
                                      </p:cBhvr>
                                      <p:tavLst>
                                        <p:tav tm="0">
                                          <p:val>
                                            <p:strVal val="0-#ppt_h/2"/>
                                          </p:val>
                                        </p:tav>
                                        <p:tav tm="100000">
                                          <p:val>
                                            <p:strVal val="#ppt_y"/>
                                          </p:val>
                                        </p:tav>
                                      </p:tavLst>
                                    </p:anim>
                                  </p:childTnLst>
                                </p:cTn>
                              </p:par>
                              <p:par>
                                <p:cTn id="41" presetID="2" presetClass="entr" presetSubtype="1" decel="100000" fill="hold" grpId="0" nodeType="withEffect">
                                  <p:stCondLst>
                                    <p:cond delay="0"/>
                                  </p:stCondLst>
                                  <p:childTnLst>
                                    <p:set>
                                      <p:cBhvr>
                                        <p:cTn id="42" dur="1" fill="hold">
                                          <p:stCondLst>
                                            <p:cond delay="0"/>
                                          </p:stCondLst>
                                        </p:cTn>
                                        <p:tgtEl>
                                          <p:spTgt spid="42">
                                            <p:txEl>
                                              <p:pRg st="0" end="0"/>
                                            </p:txEl>
                                          </p:spTgt>
                                        </p:tgtEl>
                                        <p:attrNameLst>
                                          <p:attrName>style.visibility</p:attrName>
                                        </p:attrNameLst>
                                      </p:cBhvr>
                                      <p:to>
                                        <p:strVal val="visible"/>
                                      </p:to>
                                    </p:set>
                                    <p:anim calcmode="lin" valueType="num">
                                      <p:cBhvr additive="base">
                                        <p:cTn id="43" dur="1000" fill="hold"/>
                                        <p:tgtEl>
                                          <p:spTgt spid="42">
                                            <p:txEl>
                                              <p:pRg st="0" end="0"/>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42">
                                            <p:txEl>
                                              <p:pRg st="0" end="0"/>
                                            </p:txEl>
                                          </p:spTgt>
                                        </p:tgtEl>
                                        <p:attrNameLst>
                                          <p:attrName>ppt_y</p:attrName>
                                        </p:attrNameLst>
                                      </p:cBhvr>
                                      <p:tavLst>
                                        <p:tav tm="0">
                                          <p:val>
                                            <p:strVal val="0-#ppt_h/2"/>
                                          </p:val>
                                        </p:tav>
                                        <p:tav tm="100000">
                                          <p:val>
                                            <p:strVal val="#ppt_y"/>
                                          </p:val>
                                        </p:tav>
                                      </p:tavLst>
                                    </p:anim>
                                  </p:childTnLst>
                                </p:cTn>
                              </p:par>
                              <p:par>
                                <p:cTn id="45" presetID="2" presetClass="entr" presetSubtype="1" decel="100000" fill="hold" grpId="0" nodeType="withEffect">
                                  <p:stCondLst>
                                    <p:cond delay="0"/>
                                  </p:stCondLst>
                                  <p:childTnLst>
                                    <p:set>
                                      <p:cBhvr>
                                        <p:cTn id="46" dur="1" fill="hold">
                                          <p:stCondLst>
                                            <p:cond delay="0"/>
                                          </p:stCondLst>
                                        </p:cTn>
                                        <p:tgtEl>
                                          <p:spTgt spid="44">
                                            <p:txEl>
                                              <p:pRg st="0" end="0"/>
                                            </p:txEl>
                                          </p:spTgt>
                                        </p:tgtEl>
                                        <p:attrNameLst>
                                          <p:attrName>style.visibility</p:attrName>
                                        </p:attrNameLst>
                                      </p:cBhvr>
                                      <p:to>
                                        <p:strVal val="visible"/>
                                      </p:to>
                                    </p:set>
                                    <p:anim calcmode="lin" valueType="num">
                                      <p:cBhvr additive="base">
                                        <p:cTn id="47" dur="1000" fill="hold"/>
                                        <p:tgtEl>
                                          <p:spTgt spid="44">
                                            <p:txEl>
                                              <p:pRg st="0" end="0"/>
                                            </p:txEl>
                                          </p:spTgt>
                                        </p:tgtEl>
                                        <p:attrNameLst>
                                          <p:attrName>ppt_x</p:attrName>
                                        </p:attrNameLst>
                                      </p:cBhvr>
                                      <p:tavLst>
                                        <p:tav tm="0">
                                          <p:val>
                                            <p:strVal val="#ppt_x"/>
                                          </p:val>
                                        </p:tav>
                                        <p:tav tm="100000">
                                          <p:val>
                                            <p:strVal val="#ppt_x"/>
                                          </p:val>
                                        </p:tav>
                                      </p:tavLst>
                                    </p:anim>
                                    <p:anim calcmode="lin" valueType="num">
                                      <p:cBhvr additive="base">
                                        <p:cTn id="48" dur="1000" fill="hold"/>
                                        <p:tgtEl>
                                          <p:spTgt spid="44">
                                            <p:txEl>
                                              <p:pRg st="0" end="0"/>
                                            </p:txEl>
                                          </p:spTgt>
                                        </p:tgtEl>
                                        <p:attrNameLst>
                                          <p:attrName>ppt_y</p:attrName>
                                        </p:attrNameLst>
                                      </p:cBhvr>
                                      <p:tavLst>
                                        <p:tav tm="0">
                                          <p:val>
                                            <p:strVal val="0-#ppt_h/2"/>
                                          </p:val>
                                        </p:tav>
                                        <p:tav tm="100000">
                                          <p:val>
                                            <p:strVal val="#ppt_y"/>
                                          </p:val>
                                        </p:tav>
                                      </p:tavLst>
                                    </p:anim>
                                  </p:childTnLst>
                                </p:cTn>
                              </p:par>
                              <p:par>
                                <p:cTn id="49" presetID="2" presetClass="entr" presetSubtype="1" decel="100000" fill="hold" grpId="0" nodeType="withEffect">
                                  <p:stCondLst>
                                    <p:cond delay="0"/>
                                  </p:stCondLst>
                                  <p:childTnLst>
                                    <p:set>
                                      <p:cBhvr>
                                        <p:cTn id="50" dur="1" fill="hold">
                                          <p:stCondLst>
                                            <p:cond delay="0"/>
                                          </p:stCondLst>
                                        </p:cTn>
                                        <p:tgtEl>
                                          <p:spTgt spid="49">
                                            <p:txEl>
                                              <p:pRg st="0" end="0"/>
                                            </p:txEl>
                                          </p:spTgt>
                                        </p:tgtEl>
                                        <p:attrNameLst>
                                          <p:attrName>style.visibility</p:attrName>
                                        </p:attrNameLst>
                                      </p:cBhvr>
                                      <p:to>
                                        <p:strVal val="visible"/>
                                      </p:to>
                                    </p:set>
                                    <p:anim calcmode="lin" valueType="num">
                                      <p:cBhvr additive="base">
                                        <p:cTn id="51" dur="1000" fill="hold"/>
                                        <p:tgtEl>
                                          <p:spTgt spid="49">
                                            <p:txEl>
                                              <p:pRg st="0" end="0"/>
                                            </p:txEl>
                                          </p:spTgt>
                                        </p:tgtEl>
                                        <p:attrNameLst>
                                          <p:attrName>ppt_x</p:attrName>
                                        </p:attrNameLst>
                                      </p:cBhvr>
                                      <p:tavLst>
                                        <p:tav tm="0">
                                          <p:val>
                                            <p:strVal val="#ppt_x"/>
                                          </p:val>
                                        </p:tav>
                                        <p:tav tm="100000">
                                          <p:val>
                                            <p:strVal val="#ppt_x"/>
                                          </p:val>
                                        </p:tav>
                                      </p:tavLst>
                                    </p:anim>
                                    <p:anim calcmode="lin" valueType="num">
                                      <p:cBhvr additive="base">
                                        <p:cTn id="52" dur="1000" fill="hold"/>
                                        <p:tgtEl>
                                          <p:spTgt spid="49">
                                            <p:txEl>
                                              <p:pRg st="0" end="0"/>
                                            </p:txEl>
                                          </p:spTgt>
                                        </p:tgtEl>
                                        <p:attrNameLst>
                                          <p:attrName>ppt_y</p:attrName>
                                        </p:attrNameLst>
                                      </p:cBhvr>
                                      <p:tavLst>
                                        <p:tav tm="0">
                                          <p:val>
                                            <p:strVal val="0-#ppt_h/2"/>
                                          </p:val>
                                        </p:tav>
                                        <p:tav tm="100000">
                                          <p:val>
                                            <p:strVal val="#ppt_y"/>
                                          </p:val>
                                        </p:tav>
                                      </p:tavLst>
                                    </p:anim>
                                  </p:childTnLst>
                                </p:cTn>
                              </p:par>
                              <p:par>
                                <p:cTn id="53" presetID="2" presetClass="entr" presetSubtype="3" decel="100000" fill="hold" grpId="0" nodeType="withEffect">
                                  <p:stCondLst>
                                    <p:cond delay="0"/>
                                  </p:stCondLst>
                                  <p:childTnLst>
                                    <p:set>
                                      <p:cBhvr>
                                        <p:cTn id="54" dur="1" fill="hold">
                                          <p:stCondLst>
                                            <p:cond delay="0"/>
                                          </p:stCondLst>
                                        </p:cTn>
                                        <p:tgtEl>
                                          <p:spTgt spid="21">
                                            <p:txEl>
                                              <p:pRg st="0" end="0"/>
                                            </p:txEl>
                                          </p:spTgt>
                                        </p:tgtEl>
                                        <p:attrNameLst>
                                          <p:attrName>style.visibility</p:attrName>
                                        </p:attrNameLst>
                                      </p:cBhvr>
                                      <p:to>
                                        <p:strVal val="visible"/>
                                      </p:to>
                                    </p:set>
                                    <p:anim calcmode="lin" valueType="num">
                                      <p:cBhvr additive="base">
                                        <p:cTn id="55" dur="10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56" dur="1000" fill="hold"/>
                                        <p:tgtEl>
                                          <p:spTgt spid="21">
                                            <p:txEl>
                                              <p:pRg st="0" end="0"/>
                                            </p:txEl>
                                          </p:spTgt>
                                        </p:tgtEl>
                                        <p:attrNameLst>
                                          <p:attrName>ppt_y</p:attrName>
                                        </p:attrNameLst>
                                      </p:cBhvr>
                                      <p:tavLst>
                                        <p:tav tm="0">
                                          <p:val>
                                            <p:strVal val="0-#ppt_h/2"/>
                                          </p:val>
                                        </p:tav>
                                        <p:tav tm="100000">
                                          <p:val>
                                            <p:strVal val="#ppt_y"/>
                                          </p:val>
                                        </p:tav>
                                      </p:tavLst>
                                    </p:anim>
                                  </p:childTnLst>
                                </p:cTn>
                              </p:par>
                              <p:par>
                                <p:cTn id="57" presetID="2" presetClass="entr" presetSubtype="3" decel="100000" fill="hold" grpId="0" nodeType="withEffect">
                                  <p:stCondLst>
                                    <p:cond delay="0"/>
                                  </p:stCondLst>
                                  <p:childTnLst>
                                    <p:set>
                                      <p:cBhvr>
                                        <p:cTn id="58" dur="1" fill="hold">
                                          <p:stCondLst>
                                            <p:cond delay="0"/>
                                          </p:stCondLst>
                                        </p:cTn>
                                        <p:tgtEl>
                                          <p:spTgt spid="30">
                                            <p:txEl>
                                              <p:pRg st="0" end="0"/>
                                            </p:txEl>
                                          </p:spTgt>
                                        </p:tgtEl>
                                        <p:attrNameLst>
                                          <p:attrName>style.visibility</p:attrName>
                                        </p:attrNameLst>
                                      </p:cBhvr>
                                      <p:to>
                                        <p:strVal val="visible"/>
                                      </p:to>
                                    </p:set>
                                    <p:anim calcmode="lin" valueType="num">
                                      <p:cBhvr additive="base">
                                        <p:cTn id="59" dur="1000" fill="hold"/>
                                        <p:tgtEl>
                                          <p:spTgt spid="30">
                                            <p:txEl>
                                              <p:pRg st="0" end="0"/>
                                            </p:txEl>
                                          </p:spTgt>
                                        </p:tgtEl>
                                        <p:attrNameLst>
                                          <p:attrName>ppt_x</p:attrName>
                                        </p:attrNameLst>
                                      </p:cBhvr>
                                      <p:tavLst>
                                        <p:tav tm="0">
                                          <p:val>
                                            <p:strVal val="1+#ppt_w/2"/>
                                          </p:val>
                                        </p:tav>
                                        <p:tav tm="100000">
                                          <p:val>
                                            <p:strVal val="#ppt_x"/>
                                          </p:val>
                                        </p:tav>
                                      </p:tavLst>
                                    </p:anim>
                                    <p:anim calcmode="lin" valueType="num">
                                      <p:cBhvr additive="base">
                                        <p:cTn id="60" dur="1000" fill="hold"/>
                                        <p:tgtEl>
                                          <p:spTgt spid="30">
                                            <p:txEl>
                                              <p:pRg st="0" end="0"/>
                                            </p:txEl>
                                          </p:spTgt>
                                        </p:tgtEl>
                                        <p:attrNameLst>
                                          <p:attrName>ppt_y</p:attrName>
                                        </p:attrNameLst>
                                      </p:cBhvr>
                                      <p:tavLst>
                                        <p:tav tm="0">
                                          <p:val>
                                            <p:strVal val="0-#ppt_h/2"/>
                                          </p:val>
                                        </p:tav>
                                        <p:tav tm="100000">
                                          <p:val>
                                            <p:strVal val="#ppt_y"/>
                                          </p:val>
                                        </p:tav>
                                      </p:tavLst>
                                    </p:anim>
                                  </p:childTnLst>
                                </p:cTn>
                              </p:par>
                              <p:par>
                                <p:cTn id="61" presetID="2" presetClass="entr" presetSubtype="6" decel="100000" fill="hold" grpId="0" nodeType="withEffect">
                                  <p:stCondLst>
                                    <p:cond delay="0"/>
                                  </p:stCondLst>
                                  <p:childTnLst>
                                    <p:set>
                                      <p:cBhvr>
                                        <p:cTn id="62" dur="1" fill="hold">
                                          <p:stCondLst>
                                            <p:cond delay="0"/>
                                          </p:stCondLst>
                                        </p:cTn>
                                        <p:tgtEl>
                                          <p:spTgt spid="6">
                                            <p:txEl>
                                              <p:pRg st="0" end="0"/>
                                            </p:txEl>
                                          </p:spTgt>
                                        </p:tgtEl>
                                        <p:attrNameLst>
                                          <p:attrName>style.visibility</p:attrName>
                                        </p:attrNameLst>
                                      </p:cBhvr>
                                      <p:to>
                                        <p:strVal val="visible"/>
                                      </p:to>
                                    </p:set>
                                    <p:anim calcmode="lin" valueType="num">
                                      <p:cBhvr additive="base">
                                        <p:cTn id="63" dur="1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64" dur="1000" fill="hold"/>
                                        <p:tgtEl>
                                          <p:spTgt spid="6">
                                            <p:txEl>
                                              <p:pRg st="0" end="0"/>
                                            </p:txEl>
                                          </p:spTgt>
                                        </p:tgtEl>
                                        <p:attrNameLst>
                                          <p:attrName>ppt_y</p:attrName>
                                        </p:attrNameLst>
                                      </p:cBhvr>
                                      <p:tavLst>
                                        <p:tav tm="0">
                                          <p:val>
                                            <p:strVal val="1+#ppt_h/2"/>
                                          </p:val>
                                        </p:tav>
                                        <p:tav tm="100000">
                                          <p:val>
                                            <p:strVal val="#ppt_y"/>
                                          </p:val>
                                        </p:tav>
                                      </p:tavLst>
                                    </p:anim>
                                  </p:childTnLst>
                                </p:cTn>
                              </p:par>
                              <p:par>
                                <p:cTn id="65" presetID="2" presetClass="entr" presetSubtype="6" decel="100000" fill="hold" grpId="0" nodeType="withEffect">
                                  <p:stCondLst>
                                    <p:cond delay="0"/>
                                  </p:stCondLst>
                                  <p:childTnLst>
                                    <p:set>
                                      <p:cBhvr>
                                        <p:cTn id="66" dur="1" fill="hold">
                                          <p:stCondLst>
                                            <p:cond delay="0"/>
                                          </p:stCondLst>
                                        </p:cTn>
                                        <p:tgtEl>
                                          <p:spTgt spid="16">
                                            <p:txEl>
                                              <p:pRg st="0" end="0"/>
                                            </p:txEl>
                                          </p:spTgt>
                                        </p:tgtEl>
                                        <p:attrNameLst>
                                          <p:attrName>style.visibility</p:attrName>
                                        </p:attrNameLst>
                                      </p:cBhvr>
                                      <p:to>
                                        <p:strVal val="visible"/>
                                      </p:to>
                                    </p:set>
                                    <p:anim calcmode="lin" valueType="num">
                                      <p:cBhvr additive="base">
                                        <p:cTn id="67" dur="10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68" dur="1000" fill="hold"/>
                                        <p:tgtEl>
                                          <p:spTgt spid="16">
                                            <p:txEl>
                                              <p:pRg st="0" end="0"/>
                                            </p:txEl>
                                          </p:spTgt>
                                        </p:tgtEl>
                                        <p:attrNameLst>
                                          <p:attrName>ppt_y</p:attrName>
                                        </p:attrNameLst>
                                      </p:cBhvr>
                                      <p:tavLst>
                                        <p:tav tm="0">
                                          <p:val>
                                            <p:strVal val="1+#ppt_h/2"/>
                                          </p:val>
                                        </p:tav>
                                        <p:tav tm="100000">
                                          <p:val>
                                            <p:strVal val="#ppt_y"/>
                                          </p:val>
                                        </p:tav>
                                      </p:tavLst>
                                    </p:anim>
                                  </p:childTnLst>
                                </p:cTn>
                              </p:par>
                              <p:par>
                                <p:cTn id="69" presetID="2" presetClass="entr" presetSubtype="6" decel="100000" fill="hold" grpId="0" nodeType="withEffect">
                                  <p:stCondLst>
                                    <p:cond delay="0"/>
                                  </p:stCondLst>
                                  <p:childTnLst>
                                    <p:set>
                                      <p:cBhvr>
                                        <p:cTn id="70" dur="1" fill="hold">
                                          <p:stCondLst>
                                            <p:cond delay="0"/>
                                          </p:stCondLst>
                                        </p:cTn>
                                        <p:tgtEl>
                                          <p:spTgt spid="17">
                                            <p:txEl>
                                              <p:pRg st="0" end="0"/>
                                            </p:txEl>
                                          </p:spTgt>
                                        </p:tgtEl>
                                        <p:attrNameLst>
                                          <p:attrName>style.visibility</p:attrName>
                                        </p:attrNameLst>
                                      </p:cBhvr>
                                      <p:to>
                                        <p:strVal val="visible"/>
                                      </p:to>
                                    </p:set>
                                    <p:anim calcmode="lin" valueType="num">
                                      <p:cBhvr additive="base">
                                        <p:cTn id="71" dur="10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72" dur="1000" fill="hold"/>
                                        <p:tgtEl>
                                          <p:spTgt spid="17">
                                            <p:txEl>
                                              <p:pRg st="0" end="0"/>
                                            </p:txEl>
                                          </p:spTgt>
                                        </p:tgtEl>
                                        <p:attrNameLst>
                                          <p:attrName>ppt_y</p:attrName>
                                        </p:attrNameLst>
                                      </p:cBhvr>
                                      <p:tavLst>
                                        <p:tav tm="0">
                                          <p:val>
                                            <p:strVal val="1+#ppt_h/2"/>
                                          </p:val>
                                        </p:tav>
                                        <p:tav tm="100000">
                                          <p:val>
                                            <p:strVal val="#ppt_y"/>
                                          </p:val>
                                        </p:tav>
                                      </p:tavLst>
                                    </p:anim>
                                  </p:childTnLst>
                                </p:cTn>
                              </p:par>
                              <p:par>
                                <p:cTn id="73" presetID="2" presetClass="entr" presetSubtype="6" decel="100000" fill="hold" grpId="0" nodeType="withEffect">
                                  <p:stCondLst>
                                    <p:cond delay="0"/>
                                  </p:stCondLst>
                                  <p:childTnLst>
                                    <p:set>
                                      <p:cBhvr>
                                        <p:cTn id="74" dur="1" fill="hold">
                                          <p:stCondLst>
                                            <p:cond delay="0"/>
                                          </p:stCondLst>
                                        </p:cTn>
                                        <p:tgtEl>
                                          <p:spTgt spid="18">
                                            <p:txEl>
                                              <p:pRg st="0" end="0"/>
                                            </p:txEl>
                                          </p:spTgt>
                                        </p:tgtEl>
                                        <p:attrNameLst>
                                          <p:attrName>style.visibility</p:attrName>
                                        </p:attrNameLst>
                                      </p:cBhvr>
                                      <p:to>
                                        <p:strVal val="visible"/>
                                      </p:to>
                                    </p:set>
                                    <p:anim calcmode="lin" valueType="num">
                                      <p:cBhvr additive="base">
                                        <p:cTn id="75" dur="10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76" dur="1000" fill="hold"/>
                                        <p:tgtEl>
                                          <p:spTgt spid="18">
                                            <p:txEl>
                                              <p:pRg st="0" end="0"/>
                                            </p:txEl>
                                          </p:spTgt>
                                        </p:tgtEl>
                                        <p:attrNameLst>
                                          <p:attrName>ppt_y</p:attrName>
                                        </p:attrNameLst>
                                      </p:cBhvr>
                                      <p:tavLst>
                                        <p:tav tm="0">
                                          <p:val>
                                            <p:strVal val="1+#ppt_h/2"/>
                                          </p:val>
                                        </p:tav>
                                        <p:tav tm="100000">
                                          <p:val>
                                            <p:strVal val="#ppt_y"/>
                                          </p:val>
                                        </p:tav>
                                      </p:tavLst>
                                    </p:anim>
                                  </p:childTnLst>
                                </p:cTn>
                              </p:par>
                              <p:par>
                                <p:cTn id="77" presetID="2" presetClass="entr" presetSubtype="6" decel="100000" fill="hold" grpId="0" nodeType="withEffect">
                                  <p:stCondLst>
                                    <p:cond delay="0"/>
                                  </p:stCondLst>
                                  <p:childTnLst>
                                    <p:set>
                                      <p:cBhvr>
                                        <p:cTn id="78" dur="1" fill="hold">
                                          <p:stCondLst>
                                            <p:cond delay="0"/>
                                          </p:stCondLst>
                                        </p:cTn>
                                        <p:tgtEl>
                                          <p:spTgt spid="19">
                                            <p:txEl>
                                              <p:pRg st="0" end="0"/>
                                            </p:txEl>
                                          </p:spTgt>
                                        </p:tgtEl>
                                        <p:attrNameLst>
                                          <p:attrName>style.visibility</p:attrName>
                                        </p:attrNameLst>
                                      </p:cBhvr>
                                      <p:to>
                                        <p:strVal val="visible"/>
                                      </p:to>
                                    </p:set>
                                    <p:anim calcmode="lin" valueType="num">
                                      <p:cBhvr additive="base">
                                        <p:cTn id="79" dur="10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80" dur="1000" fill="hold"/>
                                        <p:tgtEl>
                                          <p:spTgt spid="19">
                                            <p:txEl>
                                              <p:pRg st="0" end="0"/>
                                            </p:txEl>
                                          </p:spTgt>
                                        </p:tgtEl>
                                        <p:attrNameLst>
                                          <p:attrName>ppt_y</p:attrName>
                                        </p:attrNameLst>
                                      </p:cBhvr>
                                      <p:tavLst>
                                        <p:tav tm="0">
                                          <p:val>
                                            <p:strVal val="1+#ppt_h/2"/>
                                          </p:val>
                                        </p:tav>
                                        <p:tav tm="100000">
                                          <p:val>
                                            <p:strVal val="#ppt_y"/>
                                          </p:val>
                                        </p:tav>
                                      </p:tavLst>
                                    </p:anim>
                                  </p:childTnLst>
                                </p:cTn>
                              </p:par>
                              <p:par>
                                <p:cTn id="81" presetID="2" presetClass="entr" presetSubtype="6" decel="100000" fill="hold" grpId="0" nodeType="withEffect">
                                  <p:stCondLst>
                                    <p:cond delay="0"/>
                                  </p:stCondLst>
                                  <p:childTnLst>
                                    <p:set>
                                      <p:cBhvr>
                                        <p:cTn id="82" dur="1" fill="hold">
                                          <p:stCondLst>
                                            <p:cond delay="0"/>
                                          </p:stCondLst>
                                        </p:cTn>
                                        <p:tgtEl>
                                          <p:spTgt spid="23">
                                            <p:txEl>
                                              <p:pRg st="0" end="0"/>
                                            </p:txEl>
                                          </p:spTgt>
                                        </p:tgtEl>
                                        <p:attrNameLst>
                                          <p:attrName>style.visibility</p:attrName>
                                        </p:attrNameLst>
                                      </p:cBhvr>
                                      <p:to>
                                        <p:strVal val="visible"/>
                                      </p:to>
                                    </p:set>
                                    <p:anim calcmode="lin" valueType="num">
                                      <p:cBhvr additive="base">
                                        <p:cTn id="83" dur="10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84" dur="1000" fill="hold"/>
                                        <p:tgtEl>
                                          <p:spTgt spid="23">
                                            <p:txEl>
                                              <p:pRg st="0" end="0"/>
                                            </p:txEl>
                                          </p:spTgt>
                                        </p:tgtEl>
                                        <p:attrNameLst>
                                          <p:attrName>ppt_y</p:attrName>
                                        </p:attrNameLst>
                                      </p:cBhvr>
                                      <p:tavLst>
                                        <p:tav tm="0">
                                          <p:val>
                                            <p:strVal val="1+#ppt_h/2"/>
                                          </p:val>
                                        </p:tav>
                                        <p:tav tm="100000">
                                          <p:val>
                                            <p:strVal val="#ppt_y"/>
                                          </p:val>
                                        </p:tav>
                                      </p:tavLst>
                                    </p:anim>
                                  </p:childTnLst>
                                </p:cTn>
                              </p:par>
                              <p:par>
                                <p:cTn id="85" presetID="2" presetClass="entr" presetSubtype="6" decel="100000" fill="hold" grpId="0" nodeType="withEffect">
                                  <p:stCondLst>
                                    <p:cond delay="0"/>
                                  </p:stCondLst>
                                  <p:childTnLst>
                                    <p:set>
                                      <p:cBhvr>
                                        <p:cTn id="86" dur="1" fill="hold">
                                          <p:stCondLst>
                                            <p:cond delay="0"/>
                                          </p:stCondLst>
                                        </p:cTn>
                                        <p:tgtEl>
                                          <p:spTgt spid="34">
                                            <p:txEl>
                                              <p:pRg st="0" end="0"/>
                                            </p:txEl>
                                          </p:spTgt>
                                        </p:tgtEl>
                                        <p:attrNameLst>
                                          <p:attrName>style.visibility</p:attrName>
                                        </p:attrNameLst>
                                      </p:cBhvr>
                                      <p:to>
                                        <p:strVal val="visible"/>
                                      </p:to>
                                    </p:set>
                                    <p:anim calcmode="lin" valueType="num">
                                      <p:cBhvr additive="base">
                                        <p:cTn id="87" dur="1000" fill="hold"/>
                                        <p:tgtEl>
                                          <p:spTgt spid="34">
                                            <p:txEl>
                                              <p:pRg st="0" end="0"/>
                                            </p:txEl>
                                          </p:spTgt>
                                        </p:tgtEl>
                                        <p:attrNameLst>
                                          <p:attrName>ppt_x</p:attrName>
                                        </p:attrNameLst>
                                      </p:cBhvr>
                                      <p:tavLst>
                                        <p:tav tm="0">
                                          <p:val>
                                            <p:strVal val="1+#ppt_w/2"/>
                                          </p:val>
                                        </p:tav>
                                        <p:tav tm="100000">
                                          <p:val>
                                            <p:strVal val="#ppt_x"/>
                                          </p:val>
                                        </p:tav>
                                      </p:tavLst>
                                    </p:anim>
                                    <p:anim calcmode="lin" valueType="num">
                                      <p:cBhvr additive="base">
                                        <p:cTn id="88" dur="1000" fill="hold"/>
                                        <p:tgtEl>
                                          <p:spTgt spid="34">
                                            <p:txEl>
                                              <p:pRg st="0" end="0"/>
                                            </p:txEl>
                                          </p:spTgt>
                                        </p:tgtEl>
                                        <p:attrNameLst>
                                          <p:attrName>ppt_y</p:attrName>
                                        </p:attrNameLst>
                                      </p:cBhvr>
                                      <p:tavLst>
                                        <p:tav tm="0">
                                          <p:val>
                                            <p:strVal val="1+#ppt_h/2"/>
                                          </p:val>
                                        </p:tav>
                                        <p:tav tm="100000">
                                          <p:val>
                                            <p:strVal val="#ppt_y"/>
                                          </p:val>
                                        </p:tav>
                                      </p:tavLst>
                                    </p:anim>
                                  </p:childTnLst>
                                </p:cTn>
                              </p:par>
                              <p:par>
                                <p:cTn id="89" presetID="2" presetClass="entr" presetSubtype="6" decel="100000" fill="hold" grpId="0" nodeType="withEffect">
                                  <p:stCondLst>
                                    <p:cond delay="0"/>
                                  </p:stCondLst>
                                  <p:childTnLst>
                                    <p:set>
                                      <p:cBhvr>
                                        <p:cTn id="90" dur="1" fill="hold">
                                          <p:stCondLst>
                                            <p:cond delay="0"/>
                                          </p:stCondLst>
                                        </p:cTn>
                                        <p:tgtEl>
                                          <p:spTgt spid="36">
                                            <p:txEl>
                                              <p:pRg st="0" end="0"/>
                                            </p:txEl>
                                          </p:spTgt>
                                        </p:tgtEl>
                                        <p:attrNameLst>
                                          <p:attrName>style.visibility</p:attrName>
                                        </p:attrNameLst>
                                      </p:cBhvr>
                                      <p:to>
                                        <p:strVal val="visible"/>
                                      </p:to>
                                    </p:set>
                                    <p:anim calcmode="lin" valueType="num">
                                      <p:cBhvr additive="base">
                                        <p:cTn id="91" dur="1000" fill="hold"/>
                                        <p:tgtEl>
                                          <p:spTgt spid="36">
                                            <p:txEl>
                                              <p:pRg st="0" end="0"/>
                                            </p:txEl>
                                          </p:spTgt>
                                        </p:tgtEl>
                                        <p:attrNameLst>
                                          <p:attrName>ppt_x</p:attrName>
                                        </p:attrNameLst>
                                      </p:cBhvr>
                                      <p:tavLst>
                                        <p:tav tm="0">
                                          <p:val>
                                            <p:strVal val="1+#ppt_w/2"/>
                                          </p:val>
                                        </p:tav>
                                        <p:tav tm="100000">
                                          <p:val>
                                            <p:strVal val="#ppt_x"/>
                                          </p:val>
                                        </p:tav>
                                      </p:tavLst>
                                    </p:anim>
                                    <p:anim calcmode="lin" valueType="num">
                                      <p:cBhvr additive="base">
                                        <p:cTn id="92" dur="1000" fill="hold"/>
                                        <p:tgtEl>
                                          <p:spTgt spid="36">
                                            <p:txEl>
                                              <p:pRg st="0" end="0"/>
                                            </p:txEl>
                                          </p:spTgt>
                                        </p:tgtEl>
                                        <p:attrNameLst>
                                          <p:attrName>ppt_y</p:attrName>
                                        </p:attrNameLst>
                                      </p:cBhvr>
                                      <p:tavLst>
                                        <p:tav tm="0">
                                          <p:val>
                                            <p:strVal val="1+#ppt_h/2"/>
                                          </p:val>
                                        </p:tav>
                                        <p:tav tm="100000">
                                          <p:val>
                                            <p:strVal val="#ppt_y"/>
                                          </p:val>
                                        </p:tav>
                                      </p:tavLst>
                                    </p:anim>
                                  </p:childTnLst>
                                </p:cTn>
                              </p:par>
                              <p:par>
                                <p:cTn id="93" presetID="2" presetClass="entr" presetSubtype="6" decel="100000" fill="hold" grpId="0" nodeType="withEffect">
                                  <p:stCondLst>
                                    <p:cond delay="0"/>
                                  </p:stCondLst>
                                  <p:childTnLst>
                                    <p:set>
                                      <p:cBhvr>
                                        <p:cTn id="94" dur="1" fill="hold">
                                          <p:stCondLst>
                                            <p:cond delay="0"/>
                                          </p:stCondLst>
                                        </p:cTn>
                                        <p:tgtEl>
                                          <p:spTgt spid="37">
                                            <p:txEl>
                                              <p:pRg st="0" end="0"/>
                                            </p:txEl>
                                          </p:spTgt>
                                        </p:tgtEl>
                                        <p:attrNameLst>
                                          <p:attrName>style.visibility</p:attrName>
                                        </p:attrNameLst>
                                      </p:cBhvr>
                                      <p:to>
                                        <p:strVal val="visible"/>
                                      </p:to>
                                    </p:set>
                                    <p:anim calcmode="lin" valueType="num">
                                      <p:cBhvr additive="base">
                                        <p:cTn id="95" dur="1000" fill="hold"/>
                                        <p:tgtEl>
                                          <p:spTgt spid="37">
                                            <p:txEl>
                                              <p:pRg st="0" end="0"/>
                                            </p:txEl>
                                          </p:spTgt>
                                        </p:tgtEl>
                                        <p:attrNameLst>
                                          <p:attrName>ppt_x</p:attrName>
                                        </p:attrNameLst>
                                      </p:cBhvr>
                                      <p:tavLst>
                                        <p:tav tm="0">
                                          <p:val>
                                            <p:strVal val="1+#ppt_w/2"/>
                                          </p:val>
                                        </p:tav>
                                        <p:tav tm="100000">
                                          <p:val>
                                            <p:strVal val="#ppt_x"/>
                                          </p:val>
                                        </p:tav>
                                      </p:tavLst>
                                    </p:anim>
                                    <p:anim calcmode="lin" valueType="num">
                                      <p:cBhvr additive="base">
                                        <p:cTn id="96" dur="1000" fill="hold"/>
                                        <p:tgtEl>
                                          <p:spTgt spid="37">
                                            <p:txEl>
                                              <p:pRg st="0" end="0"/>
                                            </p:txEl>
                                          </p:spTgt>
                                        </p:tgtEl>
                                        <p:attrNameLst>
                                          <p:attrName>ppt_y</p:attrName>
                                        </p:attrNameLst>
                                      </p:cBhvr>
                                      <p:tavLst>
                                        <p:tav tm="0">
                                          <p:val>
                                            <p:strVal val="1+#ppt_h/2"/>
                                          </p:val>
                                        </p:tav>
                                        <p:tav tm="100000">
                                          <p:val>
                                            <p:strVal val="#ppt_y"/>
                                          </p:val>
                                        </p:tav>
                                      </p:tavLst>
                                    </p:anim>
                                  </p:childTnLst>
                                </p:cTn>
                              </p:par>
                              <p:par>
                                <p:cTn id="97" presetID="2" presetClass="entr" presetSubtype="6" decel="100000" fill="hold" grpId="0" nodeType="withEffect">
                                  <p:stCondLst>
                                    <p:cond delay="0"/>
                                  </p:stCondLst>
                                  <p:childTnLst>
                                    <p:set>
                                      <p:cBhvr>
                                        <p:cTn id="98" dur="1" fill="hold">
                                          <p:stCondLst>
                                            <p:cond delay="0"/>
                                          </p:stCondLst>
                                        </p:cTn>
                                        <p:tgtEl>
                                          <p:spTgt spid="39">
                                            <p:txEl>
                                              <p:pRg st="0" end="0"/>
                                            </p:txEl>
                                          </p:spTgt>
                                        </p:tgtEl>
                                        <p:attrNameLst>
                                          <p:attrName>style.visibility</p:attrName>
                                        </p:attrNameLst>
                                      </p:cBhvr>
                                      <p:to>
                                        <p:strVal val="visible"/>
                                      </p:to>
                                    </p:set>
                                    <p:anim calcmode="lin" valueType="num">
                                      <p:cBhvr additive="base">
                                        <p:cTn id="99" dur="10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100" dur="1000" fill="hold"/>
                                        <p:tgtEl>
                                          <p:spTgt spid="39">
                                            <p:txEl>
                                              <p:pRg st="0" end="0"/>
                                            </p:txEl>
                                          </p:spTgt>
                                        </p:tgtEl>
                                        <p:attrNameLst>
                                          <p:attrName>ppt_y</p:attrName>
                                        </p:attrNameLst>
                                      </p:cBhvr>
                                      <p:tavLst>
                                        <p:tav tm="0">
                                          <p:val>
                                            <p:strVal val="1+#ppt_h/2"/>
                                          </p:val>
                                        </p:tav>
                                        <p:tav tm="100000">
                                          <p:val>
                                            <p:strVal val="#ppt_y"/>
                                          </p:val>
                                        </p:tav>
                                      </p:tavLst>
                                    </p:anim>
                                  </p:childTnLst>
                                </p:cTn>
                              </p:par>
                              <p:par>
                                <p:cTn id="101" presetID="2" presetClass="entr" presetSubtype="6" decel="100000" fill="hold" grpId="0" nodeType="withEffect">
                                  <p:stCondLst>
                                    <p:cond delay="0"/>
                                  </p:stCondLst>
                                  <p:childTnLst>
                                    <p:set>
                                      <p:cBhvr>
                                        <p:cTn id="102" dur="1" fill="hold">
                                          <p:stCondLst>
                                            <p:cond delay="0"/>
                                          </p:stCondLst>
                                        </p:cTn>
                                        <p:tgtEl>
                                          <p:spTgt spid="45">
                                            <p:txEl>
                                              <p:pRg st="0" end="0"/>
                                            </p:txEl>
                                          </p:spTgt>
                                        </p:tgtEl>
                                        <p:attrNameLst>
                                          <p:attrName>style.visibility</p:attrName>
                                        </p:attrNameLst>
                                      </p:cBhvr>
                                      <p:to>
                                        <p:strVal val="visible"/>
                                      </p:to>
                                    </p:set>
                                    <p:anim calcmode="lin" valueType="num">
                                      <p:cBhvr additive="base">
                                        <p:cTn id="103" dur="1000" fill="hold"/>
                                        <p:tgtEl>
                                          <p:spTgt spid="45">
                                            <p:txEl>
                                              <p:pRg st="0" end="0"/>
                                            </p:txEl>
                                          </p:spTgt>
                                        </p:tgtEl>
                                        <p:attrNameLst>
                                          <p:attrName>ppt_x</p:attrName>
                                        </p:attrNameLst>
                                      </p:cBhvr>
                                      <p:tavLst>
                                        <p:tav tm="0">
                                          <p:val>
                                            <p:strVal val="1+#ppt_w/2"/>
                                          </p:val>
                                        </p:tav>
                                        <p:tav tm="100000">
                                          <p:val>
                                            <p:strVal val="#ppt_x"/>
                                          </p:val>
                                        </p:tav>
                                      </p:tavLst>
                                    </p:anim>
                                    <p:anim calcmode="lin" valueType="num">
                                      <p:cBhvr additive="base">
                                        <p:cTn id="104" dur="1000" fill="hold"/>
                                        <p:tgtEl>
                                          <p:spTgt spid="45">
                                            <p:txEl>
                                              <p:pRg st="0" end="0"/>
                                            </p:txEl>
                                          </p:spTgt>
                                        </p:tgtEl>
                                        <p:attrNameLst>
                                          <p:attrName>ppt_y</p:attrName>
                                        </p:attrNameLst>
                                      </p:cBhvr>
                                      <p:tavLst>
                                        <p:tav tm="0">
                                          <p:val>
                                            <p:strVal val="1+#ppt_h/2"/>
                                          </p:val>
                                        </p:tav>
                                        <p:tav tm="100000">
                                          <p:val>
                                            <p:strVal val="#ppt_y"/>
                                          </p:val>
                                        </p:tav>
                                      </p:tavLst>
                                    </p:anim>
                                  </p:childTnLst>
                                </p:cTn>
                              </p:par>
                              <p:par>
                                <p:cTn id="105" presetID="2" presetClass="entr" presetSubtype="6" decel="100000" fill="hold" grpId="0" nodeType="withEffect">
                                  <p:stCondLst>
                                    <p:cond delay="0"/>
                                  </p:stCondLst>
                                  <p:childTnLst>
                                    <p:set>
                                      <p:cBhvr>
                                        <p:cTn id="106" dur="1" fill="hold">
                                          <p:stCondLst>
                                            <p:cond delay="0"/>
                                          </p:stCondLst>
                                        </p:cTn>
                                        <p:tgtEl>
                                          <p:spTgt spid="52">
                                            <p:txEl>
                                              <p:pRg st="0" end="0"/>
                                            </p:txEl>
                                          </p:spTgt>
                                        </p:tgtEl>
                                        <p:attrNameLst>
                                          <p:attrName>style.visibility</p:attrName>
                                        </p:attrNameLst>
                                      </p:cBhvr>
                                      <p:to>
                                        <p:strVal val="visible"/>
                                      </p:to>
                                    </p:set>
                                    <p:anim calcmode="lin" valueType="num">
                                      <p:cBhvr additive="base">
                                        <p:cTn id="107" dur="1000" fill="hold"/>
                                        <p:tgtEl>
                                          <p:spTgt spid="52">
                                            <p:txEl>
                                              <p:pRg st="0" end="0"/>
                                            </p:txEl>
                                          </p:spTgt>
                                        </p:tgtEl>
                                        <p:attrNameLst>
                                          <p:attrName>ppt_x</p:attrName>
                                        </p:attrNameLst>
                                      </p:cBhvr>
                                      <p:tavLst>
                                        <p:tav tm="0">
                                          <p:val>
                                            <p:strVal val="1+#ppt_w/2"/>
                                          </p:val>
                                        </p:tav>
                                        <p:tav tm="100000">
                                          <p:val>
                                            <p:strVal val="#ppt_x"/>
                                          </p:val>
                                        </p:tav>
                                      </p:tavLst>
                                    </p:anim>
                                    <p:anim calcmode="lin" valueType="num">
                                      <p:cBhvr additive="base">
                                        <p:cTn id="108" dur="1000" fill="hold"/>
                                        <p:tgtEl>
                                          <p:spTgt spid="52">
                                            <p:txEl>
                                              <p:pRg st="0" end="0"/>
                                            </p:txEl>
                                          </p:spTgt>
                                        </p:tgtEl>
                                        <p:attrNameLst>
                                          <p:attrName>ppt_y</p:attrName>
                                        </p:attrNameLst>
                                      </p:cBhvr>
                                      <p:tavLst>
                                        <p:tav tm="0">
                                          <p:val>
                                            <p:strVal val="1+#ppt_h/2"/>
                                          </p:val>
                                        </p:tav>
                                        <p:tav tm="100000">
                                          <p:val>
                                            <p:strVal val="#ppt_y"/>
                                          </p:val>
                                        </p:tav>
                                      </p:tavLst>
                                    </p:anim>
                                  </p:childTnLst>
                                </p:cTn>
                              </p:par>
                              <p:par>
                                <p:cTn id="109" presetID="2" presetClass="entr" presetSubtype="6" decel="100000" fill="hold" grpId="0" nodeType="withEffect">
                                  <p:stCondLst>
                                    <p:cond delay="0"/>
                                  </p:stCondLst>
                                  <p:childTnLst>
                                    <p:set>
                                      <p:cBhvr>
                                        <p:cTn id="110" dur="1" fill="hold">
                                          <p:stCondLst>
                                            <p:cond delay="0"/>
                                          </p:stCondLst>
                                        </p:cTn>
                                        <p:tgtEl>
                                          <p:spTgt spid="54">
                                            <p:txEl>
                                              <p:pRg st="0" end="0"/>
                                            </p:txEl>
                                          </p:spTgt>
                                        </p:tgtEl>
                                        <p:attrNameLst>
                                          <p:attrName>style.visibility</p:attrName>
                                        </p:attrNameLst>
                                      </p:cBhvr>
                                      <p:to>
                                        <p:strVal val="visible"/>
                                      </p:to>
                                    </p:set>
                                    <p:anim calcmode="lin" valueType="num">
                                      <p:cBhvr additive="base">
                                        <p:cTn id="111" dur="1000" fill="hold"/>
                                        <p:tgtEl>
                                          <p:spTgt spid="54">
                                            <p:txEl>
                                              <p:pRg st="0" end="0"/>
                                            </p:txEl>
                                          </p:spTgt>
                                        </p:tgtEl>
                                        <p:attrNameLst>
                                          <p:attrName>ppt_x</p:attrName>
                                        </p:attrNameLst>
                                      </p:cBhvr>
                                      <p:tavLst>
                                        <p:tav tm="0">
                                          <p:val>
                                            <p:strVal val="1+#ppt_w/2"/>
                                          </p:val>
                                        </p:tav>
                                        <p:tav tm="100000">
                                          <p:val>
                                            <p:strVal val="#ppt_x"/>
                                          </p:val>
                                        </p:tav>
                                      </p:tavLst>
                                    </p:anim>
                                    <p:anim calcmode="lin" valueType="num">
                                      <p:cBhvr additive="base">
                                        <p:cTn id="112" dur="1000" fill="hold"/>
                                        <p:tgtEl>
                                          <p:spTgt spid="54">
                                            <p:txEl>
                                              <p:pRg st="0" end="0"/>
                                            </p:txEl>
                                          </p:spTgt>
                                        </p:tgtEl>
                                        <p:attrNameLst>
                                          <p:attrName>ppt_y</p:attrName>
                                        </p:attrNameLst>
                                      </p:cBhvr>
                                      <p:tavLst>
                                        <p:tav tm="0">
                                          <p:val>
                                            <p:strVal val="1+#ppt_h/2"/>
                                          </p:val>
                                        </p:tav>
                                        <p:tav tm="100000">
                                          <p:val>
                                            <p:strVal val="#ppt_y"/>
                                          </p:val>
                                        </p:tav>
                                      </p:tavLst>
                                    </p:anim>
                                  </p:childTnLst>
                                </p:cTn>
                              </p:par>
                              <p:par>
                                <p:cTn id="113" presetID="2" presetClass="entr" presetSubtype="6" decel="100000" fill="hold" grpId="0" nodeType="withEffect">
                                  <p:stCondLst>
                                    <p:cond delay="0"/>
                                  </p:stCondLst>
                                  <p:childTnLst>
                                    <p:set>
                                      <p:cBhvr>
                                        <p:cTn id="114" dur="1" fill="hold">
                                          <p:stCondLst>
                                            <p:cond delay="0"/>
                                          </p:stCondLst>
                                        </p:cTn>
                                        <p:tgtEl>
                                          <p:spTgt spid="55">
                                            <p:txEl>
                                              <p:pRg st="0" end="0"/>
                                            </p:txEl>
                                          </p:spTgt>
                                        </p:tgtEl>
                                        <p:attrNameLst>
                                          <p:attrName>style.visibility</p:attrName>
                                        </p:attrNameLst>
                                      </p:cBhvr>
                                      <p:to>
                                        <p:strVal val="visible"/>
                                      </p:to>
                                    </p:set>
                                    <p:anim calcmode="lin" valueType="num">
                                      <p:cBhvr additive="base">
                                        <p:cTn id="115" dur="1000" fill="hold"/>
                                        <p:tgtEl>
                                          <p:spTgt spid="55">
                                            <p:txEl>
                                              <p:pRg st="0" end="0"/>
                                            </p:txEl>
                                          </p:spTgt>
                                        </p:tgtEl>
                                        <p:attrNameLst>
                                          <p:attrName>ppt_x</p:attrName>
                                        </p:attrNameLst>
                                      </p:cBhvr>
                                      <p:tavLst>
                                        <p:tav tm="0">
                                          <p:val>
                                            <p:strVal val="1+#ppt_w/2"/>
                                          </p:val>
                                        </p:tav>
                                        <p:tav tm="100000">
                                          <p:val>
                                            <p:strVal val="#ppt_x"/>
                                          </p:val>
                                        </p:tav>
                                      </p:tavLst>
                                    </p:anim>
                                    <p:anim calcmode="lin" valueType="num">
                                      <p:cBhvr additive="base">
                                        <p:cTn id="116" dur="1000" fill="hold"/>
                                        <p:tgtEl>
                                          <p:spTgt spid="55">
                                            <p:txEl>
                                              <p:pRg st="0" end="0"/>
                                            </p:txEl>
                                          </p:spTgt>
                                        </p:tgtEl>
                                        <p:attrNameLst>
                                          <p:attrName>ppt_y</p:attrName>
                                        </p:attrNameLst>
                                      </p:cBhvr>
                                      <p:tavLst>
                                        <p:tav tm="0">
                                          <p:val>
                                            <p:strVal val="1+#ppt_h/2"/>
                                          </p:val>
                                        </p:tav>
                                        <p:tav tm="100000">
                                          <p:val>
                                            <p:strVal val="#ppt_y"/>
                                          </p:val>
                                        </p:tav>
                                      </p:tavLst>
                                    </p:anim>
                                  </p:childTnLst>
                                </p:cTn>
                              </p:par>
                              <p:par>
                                <p:cTn id="117" presetID="2" presetClass="entr" presetSubtype="4" decel="100000" fill="hold" grpId="0" nodeType="withEffect">
                                  <p:stCondLst>
                                    <p:cond delay="0"/>
                                  </p:stCondLst>
                                  <p:childTnLst>
                                    <p:set>
                                      <p:cBhvr>
                                        <p:cTn id="118" dur="1" fill="hold">
                                          <p:stCondLst>
                                            <p:cond delay="0"/>
                                          </p:stCondLst>
                                        </p:cTn>
                                        <p:tgtEl>
                                          <p:spTgt spid="9">
                                            <p:txEl>
                                              <p:pRg st="0" end="0"/>
                                            </p:txEl>
                                          </p:spTgt>
                                        </p:tgtEl>
                                        <p:attrNameLst>
                                          <p:attrName>style.visibility</p:attrName>
                                        </p:attrNameLst>
                                      </p:cBhvr>
                                      <p:to>
                                        <p:strVal val="visible"/>
                                      </p:to>
                                    </p:set>
                                    <p:anim calcmode="lin" valueType="num">
                                      <p:cBhvr additive="base">
                                        <p:cTn id="119"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20" dur="1000" fill="hold"/>
                                        <p:tgtEl>
                                          <p:spTgt spid="9">
                                            <p:txEl>
                                              <p:pRg st="0" end="0"/>
                                            </p:txEl>
                                          </p:spTgt>
                                        </p:tgtEl>
                                        <p:attrNameLst>
                                          <p:attrName>ppt_y</p:attrName>
                                        </p:attrNameLst>
                                      </p:cBhvr>
                                      <p:tavLst>
                                        <p:tav tm="0">
                                          <p:val>
                                            <p:strVal val="1+#ppt_h/2"/>
                                          </p:val>
                                        </p:tav>
                                        <p:tav tm="100000">
                                          <p:val>
                                            <p:strVal val="#ppt_y"/>
                                          </p:val>
                                        </p:tav>
                                      </p:tavLst>
                                    </p:anim>
                                  </p:childTnLst>
                                </p:cTn>
                              </p:par>
                              <p:par>
                                <p:cTn id="121" presetID="2" presetClass="entr" presetSubtype="4" decel="100000" fill="hold" grpId="0" nodeType="withEffect">
                                  <p:stCondLst>
                                    <p:cond delay="0"/>
                                  </p:stCondLst>
                                  <p:childTnLst>
                                    <p:set>
                                      <p:cBhvr>
                                        <p:cTn id="122" dur="1" fill="hold">
                                          <p:stCondLst>
                                            <p:cond delay="0"/>
                                          </p:stCondLst>
                                        </p:cTn>
                                        <p:tgtEl>
                                          <p:spTgt spid="20">
                                            <p:txEl>
                                              <p:pRg st="0" end="0"/>
                                            </p:txEl>
                                          </p:spTgt>
                                        </p:tgtEl>
                                        <p:attrNameLst>
                                          <p:attrName>style.visibility</p:attrName>
                                        </p:attrNameLst>
                                      </p:cBhvr>
                                      <p:to>
                                        <p:strVal val="visible"/>
                                      </p:to>
                                    </p:set>
                                    <p:anim calcmode="lin" valueType="num">
                                      <p:cBhvr additive="base">
                                        <p:cTn id="12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124" dur="1000" fill="hold"/>
                                        <p:tgtEl>
                                          <p:spTgt spid="20">
                                            <p:txEl>
                                              <p:pRg st="0" end="0"/>
                                            </p:txEl>
                                          </p:spTgt>
                                        </p:tgtEl>
                                        <p:attrNameLst>
                                          <p:attrName>ppt_y</p:attrName>
                                        </p:attrNameLst>
                                      </p:cBhvr>
                                      <p:tavLst>
                                        <p:tav tm="0">
                                          <p:val>
                                            <p:strVal val="1+#ppt_h/2"/>
                                          </p:val>
                                        </p:tav>
                                        <p:tav tm="100000">
                                          <p:val>
                                            <p:strVal val="#ppt_y"/>
                                          </p:val>
                                        </p:tav>
                                      </p:tavLst>
                                    </p:anim>
                                  </p:childTnLst>
                                </p:cTn>
                              </p:par>
                              <p:par>
                                <p:cTn id="125" presetID="2" presetClass="entr" presetSubtype="12" decel="100000" fill="hold" grpId="0" nodeType="withEffect">
                                  <p:stCondLst>
                                    <p:cond delay="0"/>
                                  </p:stCondLst>
                                  <p:childTnLst>
                                    <p:set>
                                      <p:cBhvr>
                                        <p:cTn id="126" dur="1" fill="hold">
                                          <p:stCondLst>
                                            <p:cond delay="0"/>
                                          </p:stCondLst>
                                        </p:cTn>
                                        <p:tgtEl>
                                          <p:spTgt spid="7">
                                            <p:txEl>
                                              <p:pRg st="0" end="0"/>
                                            </p:txEl>
                                          </p:spTgt>
                                        </p:tgtEl>
                                        <p:attrNameLst>
                                          <p:attrName>style.visibility</p:attrName>
                                        </p:attrNameLst>
                                      </p:cBhvr>
                                      <p:to>
                                        <p:strVal val="visible"/>
                                      </p:to>
                                    </p:set>
                                    <p:anim calcmode="lin" valueType="num">
                                      <p:cBhvr additive="base">
                                        <p:cTn id="127" dur="10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28" dur="1000" fill="hold"/>
                                        <p:tgtEl>
                                          <p:spTgt spid="7">
                                            <p:txEl>
                                              <p:pRg st="0" end="0"/>
                                            </p:txEl>
                                          </p:spTgt>
                                        </p:tgtEl>
                                        <p:attrNameLst>
                                          <p:attrName>ppt_y</p:attrName>
                                        </p:attrNameLst>
                                      </p:cBhvr>
                                      <p:tavLst>
                                        <p:tav tm="0">
                                          <p:val>
                                            <p:strVal val="1+#ppt_h/2"/>
                                          </p:val>
                                        </p:tav>
                                        <p:tav tm="100000">
                                          <p:val>
                                            <p:strVal val="#ppt_y"/>
                                          </p:val>
                                        </p:tav>
                                      </p:tavLst>
                                    </p:anim>
                                  </p:childTnLst>
                                </p:cTn>
                              </p:par>
                              <p:par>
                                <p:cTn id="129" presetID="2" presetClass="entr" presetSubtype="12" decel="100000" fill="hold" grpId="0" nodeType="withEffect">
                                  <p:stCondLst>
                                    <p:cond delay="0"/>
                                  </p:stCondLst>
                                  <p:childTnLst>
                                    <p:set>
                                      <p:cBhvr>
                                        <p:cTn id="130" dur="1" fill="hold">
                                          <p:stCondLst>
                                            <p:cond delay="0"/>
                                          </p:stCondLst>
                                        </p:cTn>
                                        <p:tgtEl>
                                          <p:spTgt spid="13">
                                            <p:txEl>
                                              <p:pRg st="0" end="0"/>
                                            </p:txEl>
                                          </p:spTgt>
                                        </p:tgtEl>
                                        <p:attrNameLst>
                                          <p:attrName>style.visibility</p:attrName>
                                        </p:attrNameLst>
                                      </p:cBhvr>
                                      <p:to>
                                        <p:strVal val="visible"/>
                                      </p:to>
                                    </p:set>
                                    <p:anim calcmode="lin" valueType="num">
                                      <p:cBhvr additive="base">
                                        <p:cTn id="131" dur="10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132" dur="1000" fill="hold"/>
                                        <p:tgtEl>
                                          <p:spTgt spid="13">
                                            <p:txEl>
                                              <p:pRg st="0" end="0"/>
                                            </p:txEl>
                                          </p:spTgt>
                                        </p:tgtEl>
                                        <p:attrNameLst>
                                          <p:attrName>ppt_y</p:attrName>
                                        </p:attrNameLst>
                                      </p:cBhvr>
                                      <p:tavLst>
                                        <p:tav tm="0">
                                          <p:val>
                                            <p:strVal val="1+#ppt_h/2"/>
                                          </p:val>
                                        </p:tav>
                                        <p:tav tm="100000">
                                          <p:val>
                                            <p:strVal val="#ppt_y"/>
                                          </p:val>
                                        </p:tav>
                                      </p:tavLst>
                                    </p:anim>
                                  </p:childTnLst>
                                </p:cTn>
                              </p:par>
                              <p:par>
                                <p:cTn id="133" presetID="2" presetClass="entr" presetSubtype="12" decel="100000" fill="hold" grpId="0" nodeType="withEffect">
                                  <p:stCondLst>
                                    <p:cond delay="0"/>
                                  </p:stCondLst>
                                  <p:childTnLst>
                                    <p:set>
                                      <p:cBhvr>
                                        <p:cTn id="134" dur="1" fill="hold">
                                          <p:stCondLst>
                                            <p:cond delay="0"/>
                                          </p:stCondLst>
                                        </p:cTn>
                                        <p:tgtEl>
                                          <p:spTgt spid="22">
                                            <p:txEl>
                                              <p:pRg st="0" end="0"/>
                                            </p:txEl>
                                          </p:spTgt>
                                        </p:tgtEl>
                                        <p:attrNameLst>
                                          <p:attrName>style.visibility</p:attrName>
                                        </p:attrNameLst>
                                      </p:cBhvr>
                                      <p:to>
                                        <p:strVal val="visible"/>
                                      </p:to>
                                    </p:set>
                                    <p:anim calcmode="lin" valueType="num">
                                      <p:cBhvr additive="base">
                                        <p:cTn id="135" dur="10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136" dur="1000" fill="hold"/>
                                        <p:tgtEl>
                                          <p:spTgt spid="22">
                                            <p:txEl>
                                              <p:pRg st="0" end="0"/>
                                            </p:txEl>
                                          </p:spTgt>
                                        </p:tgtEl>
                                        <p:attrNameLst>
                                          <p:attrName>ppt_y</p:attrName>
                                        </p:attrNameLst>
                                      </p:cBhvr>
                                      <p:tavLst>
                                        <p:tav tm="0">
                                          <p:val>
                                            <p:strVal val="1+#ppt_h/2"/>
                                          </p:val>
                                        </p:tav>
                                        <p:tav tm="100000">
                                          <p:val>
                                            <p:strVal val="#ppt_y"/>
                                          </p:val>
                                        </p:tav>
                                      </p:tavLst>
                                    </p:anim>
                                  </p:childTnLst>
                                </p:cTn>
                              </p:par>
                              <p:par>
                                <p:cTn id="137" presetID="2" presetClass="entr" presetSubtype="12" decel="100000" fill="hold" grpId="0" nodeType="withEffect">
                                  <p:stCondLst>
                                    <p:cond delay="0"/>
                                  </p:stCondLst>
                                  <p:childTnLst>
                                    <p:set>
                                      <p:cBhvr>
                                        <p:cTn id="138" dur="1" fill="hold">
                                          <p:stCondLst>
                                            <p:cond delay="0"/>
                                          </p:stCondLst>
                                        </p:cTn>
                                        <p:tgtEl>
                                          <p:spTgt spid="24">
                                            <p:txEl>
                                              <p:pRg st="0" end="0"/>
                                            </p:txEl>
                                          </p:spTgt>
                                        </p:tgtEl>
                                        <p:attrNameLst>
                                          <p:attrName>style.visibility</p:attrName>
                                        </p:attrNameLst>
                                      </p:cBhvr>
                                      <p:to>
                                        <p:strVal val="visible"/>
                                      </p:to>
                                    </p:set>
                                    <p:anim calcmode="lin" valueType="num">
                                      <p:cBhvr additive="base">
                                        <p:cTn id="139" dur="1000" fill="hold"/>
                                        <p:tgtEl>
                                          <p:spTgt spid="24">
                                            <p:txEl>
                                              <p:pRg st="0" end="0"/>
                                            </p:txEl>
                                          </p:spTgt>
                                        </p:tgtEl>
                                        <p:attrNameLst>
                                          <p:attrName>ppt_x</p:attrName>
                                        </p:attrNameLst>
                                      </p:cBhvr>
                                      <p:tavLst>
                                        <p:tav tm="0">
                                          <p:val>
                                            <p:strVal val="0-#ppt_w/2"/>
                                          </p:val>
                                        </p:tav>
                                        <p:tav tm="100000">
                                          <p:val>
                                            <p:strVal val="#ppt_x"/>
                                          </p:val>
                                        </p:tav>
                                      </p:tavLst>
                                    </p:anim>
                                    <p:anim calcmode="lin" valueType="num">
                                      <p:cBhvr additive="base">
                                        <p:cTn id="140" dur="1000" fill="hold"/>
                                        <p:tgtEl>
                                          <p:spTgt spid="24">
                                            <p:txEl>
                                              <p:pRg st="0" end="0"/>
                                            </p:txEl>
                                          </p:spTgt>
                                        </p:tgtEl>
                                        <p:attrNameLst>
                                          <p:attrName>ppt_y</p:attrName>
                                        </p:attrNameLst>
                                      </p:cBhvr>
                                      <p:tavLst>
                                        <p:tav tm="0">
                                          <p:val>
                                            <p:strVal val="1+#ppt_h/2"/>
                                          </p:val>
                                        </p:tav>
                                        <p:tav tm="100000">
                                          <p:val>
                                            <p:strVal val="#ppt_y"/>
                                          </p:val>
                                        </p:tav>
                                      </p:tavLst>
                                    </p:anim>
                                  </p:childTnLst>
                                </p:cTn>
                              </p:par>
                              <p:par>
                                <p:cTn id="141" presetID="2" presetClass="entr" presetSubtype="12" decel="100000" fill="hold" grpId="0" nodeType="withEffect">
                                  <p:stCondLst>
                                    <p:cond delay="0"/>
                                  </p:stCondLst>
                                  <p:childTnLst>
                                    <p:set>
                                      <p:cBhvr>
                                        <p:cTn id="142" dur="1" fill="hold">
                                          <p:stCondLst>
                                            <p:cond delay="0"/>
                                          </p:stCondLst>
                                        </p:cTn>
                                        <p:tgtEl>
                                          <p:spTgt spid="31">
                                            <p:txEl>
                                              <p:pRg st="0" end="0"/>
                                            </p:txEl>
                                          </p:spTgt>
                                        </p:tgtEl>
                                        <p:attrNameLst>
                                          <p:attrName>style.visibility</p:attrName>
                                        </p:attrNameLst>
                                      </p:cBhvr>
                                      <p:to>
                                        <p:strVal val="visible"/>
                                      </p:to>
                                    </p:set>
                                    <p:anim calcmode="lin" valueType="num">
                                      <p:cBhvr additive="base">
                                        <p:cTn id="143" dur="1000" fill="hold"/>
                                        <p:tgtEl>
                                          <p:spTgt spid="31">
                                            <p:txEl>
                                              <p:pRg st="0" end="0"/>
                                            </p:txEl>
                                          </p:spTgt>
                                        </p:tgtEl>
                                        <p:attrNameLst>
                                          <p:attrName>ppt_x</p:attrName>
                                        </p:attrNameLst>
                                      </p:cBhvr>
                                      <p:tavLst>
                                        <p:tav tm="0">
                                          <p:val>
                                            <p:strVal val="0-#ppt_w/2"/>
                                          </p:val>
                                        </p:tav>
                                        <p:tav tm="100000">
                                          <p:val>
                                            <p:strVal val="#ppt_x"/>
                                          </p:val>
                                        </p:tav>
                                      </p:tavLst>
                                    </p:anim>
                                    <p:anim calcmode="lin" valueType="num">
                                      <p:cBhvr additive="base">
                                        <p:cTn id="144" dur="1000" fill="hold"/>
                                        <p:tgtEl>
                                          <p:spTgt spid="31">
                                            <p:txEl>
                                              <p:pRg st="0" end="0"/>
                                            </p:txEl>
                                          </p:spTgt>
                                        </p:tgtEl>
                                        <p:attrNameLst>
                                          <p:attrName>ppt_y</p:attrName>
                                        </p:attrNameLst>
                                      </p:cBhvr>
                                      <p:tavLst>
                                        <p:tav tm="0">
                                          <p:val>
                                            <p:strVal val="1+#ppt_h/2"/>
                                          </p:val>
                                        </p:tav>
                                        <p:tav tm="100000">
                                          <p:val>
                                            <p:strVal val="#ppt_y"/>
                                          </p:val>
                                        </p:tav>
                                      </p:tavLst>
                                    </p:anim>
                                  </p:childTnLst>
                                </p:cTn>
                              </p:par>
                              <p:par>
                                <p:cTn id="145" presetID="2" presetClass="entr" presetSubtype="12" decel="100000" fill="hold" grpId="0" nodeType="withEffect">
                                  <p:stCondLst>
                                    <p:cond delay="0"/>
                                  </p:stCondLst>
                                  <p:childTnLst>
                                    <p:set>
                                      <p:cBhvr>
                                        <p:cTn id="146" dur="1" fill="hold">
                                          <p:stCondLst>
                                            <p:cond delay="0"/>
                                          </p:stCondLst>
                                        </p:cTn>
                                        <p:tgtEl>
                                          <p:spTgt spid="35">
                                            <p:txEl>
                                              <p:pRg st="0" end="0"/>
                                            </p:txEl>
                                          </p:spTgt>
                                        </p:tgtEl>
                                        <p:attrNameLst>
                                          <p:attrName>style.visibility</p:attrName>
                                        </p:attrNameLst>
                                      </p:cBhvr>
                                      <p:to>
                                        <p:strVal val="visible"/>
                                      </p:to>
                                    </p:set>
                                    <p:anim calcmode="lin" valueType="num">
                                      <p:cBhvr additive="base">
                                        <p:cTn id="147" dur="1000" fill="hold"/>
                                        <p:tgtEl>
                                          <p:spTgt spid="35">
                                            <p:txEl>
                                              <p:pRg st="0" end="0"/>
                                            </p:txEl>
                                          </p:spTgt>
                                        </p:tgtEl>
                                        <p:attrNameLst>
                                          <p:attrName>ppt_x</p:attrName>
                                        </p:attrNameLst>
                                      </p:cBhvr>
                                      <p:tavLst>
                                        <p:tav tm="0">
                                          <p:val>
                                            <p:strVal val="0-#ppt_w/2"/>
                                          </p:val>
                                        </p:tav>
                                        <p:tav tm="100000">
                                          <p:val>
                                            <p:strVal val="#ppt_x"/>
                                          </p:val>
                                        </p:tav>
                                      </p:tavLst>
                                    </p:anim>
                                    <p:anim calcmode="lin" valueType="num">
                                      <p:cBhvr additive="base">
                                        <p:cTn id="148" dur="1000" fill="hold"/>
                                        <p:tgtEl>
                                          <p:spTgt spid="35">
                                            <p:txEl>
                                              <p:pRg st="0" end="0"/>
                                            </p:txEl>
                                          </p:spTgt>
                                        </p:tgtEl>
                                        <p:attrNameLst>
                                          <p:attrName>ppt_y</p:attrName>
                                        </p:attrNameLst>
                                      </p:cBhvr>
                                      <p:tavLst>
                                        <p:tav tm="0">
                                          <p:val>
                                            <p:strVal val="1+#ppt_h/2"/>
                                          </p:val>
                                        </p:tav>
                                        <p:tav tm="100000">
                                          <p:val>
                                            <p:strVal val="#ppt_y"/>
                                          </p:val>
                                        </p:tav>
                                      </p:tavLst>
                                    </p:anim>
                                  </p:childTnLst>
                                </p:cTn>
                              </p:par>
                              <p:par>
                                <p:cTn id="149" presetID="2" presetClass="entr" presetSubtype="12" decel="100000" fill="hold" grpId="0" nodeType="withEffect">
                                  <p:stCondLst>
                                    <p:cond delay="0"/>
                                  </p:stCondLst>
                                  <p:childTnLst>
                                    <p:set>
                                      <p:cBhvr>
                                        <p:cTn id="150" dur="1" fill="hold">
                                          <p:stCondLst>
                                            <p:cond delay="0"/>
                                          </p:stCondLst>
                                        </p:cTn>
                                        <p:tgtEl>
                                          <p:spTgt spid="38">
                                            <p:txEl>
                                              <p:pRg st="0" end="0"/>
                                            </p:txEl>
                                          </p:spTgt>
                                        </p:tgtEl>
                                        <p:attrNameLst>
                                          <p:attrName>style.visibility</p:attrName>
                                        </p:attrNameLst>
                                      </p:cBhvr>
                                      <p:to>
                                        <p:strVal val="visible"/>
                                      </p:to>
                                    </p:set>
                                    <p:anim calcmode="lin" valueType="num">
                                      <p:cBhvr additive="base">
                                        <p:cTn id="151" dur="1000" fill="hold"/>
                                        <p:tgtEl>
                                          <p:spTgt spid="38">
                                            <p:txEl>
                                              <p:pRg st="0" end="0"/>
                                            </p:txEl>
                                          </p:spTgt>
                                        </p:tgtEl>
                                        <p:attrNameLst>
                                          <p:attrName>ppt_x</p:attrName>
                                        </p:attrNameLst>
                                      </p:cBhvr>
                                      <p:tavLst>
                                        <p:tav tm="0">
                                          <p:val>
                                            <p:strVal val="0-#ppt_w/2"/>
                                          </p:val>
                                        </p:tav>
                                        <p:tav tm="100000">
                                          <p:val>
                                            <p:strVal val="#ppt_x"/>
                                          </p:val>
                                        </p:tav>
                                      </p:tavLst>
                                    </p:anim>
                                    <p:anim calcmode="lin" valueType="num">
                                      <p:cBhvr additive="base">
                                        <p:cTn id="152" dur="1000" fill="hold"/>
                                        <p:tgtEl>
                                          <p:spTgt spid="38">
                                            <p:txEl>
                                              <p:pRg st="0" end="0"/>
                                            </p:txEl>
                                          </p:spTgt>
                                        </p:tgtEl>
                                        <p:attrNameLst>
                                          <p:attrName>ppt_y</p:attrName>
                                        </p:attrNameLst>
                                      </p:cBhvr>
                                      <p:tavLst>
                                        <p:tav tm="0">
                                          <p:val>
                                            <p:strVal val="1+#ppt_h/2"/>
                                          </p:val>
                                        </p:tav>
                                        <p:tav tm="100000">
                                          <p:val>
                                            <p:strVal val="#ppt_y"/>
                                          </p:val>
                                        </p:tav>
                                      </p:tavLst>
                                    </p:anim>
                                  </p:childTnLst>
                                </p:cTn>
                              </p:par>
                              <p:par>
                                <p:cTn id="153" presetID="2" presetClass="entr" presetSubtype="12" decel="100000" fill="hold" grpId="0" nodeType="withEffect">
                                  <p:stCondLst>
                                    <p:cond delay="0"/>
                                  </p:stCondLst>
                                  <p:childTnLst>
                                    <p:set>
                                      <p:cBhvr>
                                        <p:cTn id="154" dur="1" fill="hold">
                                          <p:stCondLst>
                                            <p:cond delay="0"/>
                                          </p:stCondLst>
                                        </p:cTn>
                                        <p:tgtEl>
                                          <p:spTgt spid="40">
                                            <p:txEl>
                                              <p:pRg st="0" end="0"/>
                                            </p:txEl>
                                          </p:spTgt>
                                        </p:tgtEl>
                                        <p:attrNameLst>
                                          <p:attrName>style.visibility</p:attrName>
                                        </p:attrNameLst>
                                      </p:cBhvr>
                                      <p:to>
                                        <p:strVal val="visible"/>
                                      </p:to>
                                    </p:set>
                                    <p:anim calcmode="lin" valueType="num">
                                      <p:cBhvr additive="base">
                                        <p:cTn id="155" dur="1000" fill="hold"/>
                                        <p:tgtEl>
                                          <p:spTgt spid="40">
                                            <p:txEl>
                                              <p:pRg st="0" end="0"/>
                                            </p:txEl>
                                          </p:spTgt>
                                        </p:tgtEl>
                                        <p:attrNameLst>
                                          <p:attrName>ppt_x</p:attrName>
                                        </p:attrNameLst>
                                      </p:cBhvr>
                                      <p:tavLst>
                                        <p:tav tm="0">
                                          <p:val>
                                            <p:strVal val="0-#ppt_w/2"/>
                                          </p:val>
                                        </p:tav>
                                        <p:tav tm="100000">
                                          <p:val>
                                            <p:strVal val="#ppt_x"/>
                                          </p:val>
                                        </p:tav>
                                      </p:tavLst>
                                    </p:anim>
                                    <p:anim calcmode="lin" valueType="num">
                                      <p:cBhvr additive="base">
                                        <p:cTn id="156" dur="1000" fill="hold"/>
                                        <p:tgtEl>
                                          <p:spTgt spid="40">
                                            <p:txEl>
                                              <p:pRg st="0" end="0"/>
                                            </p:txEl>
                                          </p:spTgt>
                                        </p:tgtEl>
                                        <p:attrNameLst>
                                          <p:attrName>ppt_y</p:attrName>
                                        </p:attrNameLst>
                                      </p:cBhvr>
                                      <p:tavLst>
                                        <p:tav tm="0">
                                          <p:val>
                                            <p:strVal val="1+#ppt_h/2"/>
                                          </p:val>
                                        </p:tav>
                                        <p:tav tm="100000">
                                          <p:val>
                                            <p:strVal val="#ppt_y"/>
                                          </p:val>
                                        </p:tav>
                                      </p:tavLst>
                                    </p:anim>
                                  </p:childTnLst>
                                </p:cTn>
                              </p:par>
                              <p:par>
                                <p:cTn id="157" presetID="2" presetClass="entr" presetSubtype="12" decel="100000" fill="hold" grpId="0" nodeType="withEffect">
                                  <p:stCondLst>
                                    <p:cond delay="0"/>
                                  </p:stCondLst>
                                  <p:childTnLst>
                                    <p:set>
                                      <p:cBhvr>
                                        <p:cTn id="158" dur="1" fill="hold">
                                          <p:stCondLst>
                                            <p:cond delay="0"/>
                                          </p:stCondLst>
                                        </p:cTn>
                                        <p:tgtEl>
                                          <p:spTgt spid="46">
                                            <p:txEl>
                                              <p:pRg st="0" end="0"/>
                                            </p:txEl>
                                          </p:spTgt>
                                        </p:tgtEl>
                                        <p:attrNameLst>
                                          <p:attrName>style.visibility</p:attrName>
                                        </p:attrNameLst>
                                      </p:cBhvr>
                                      <p:to>
                                        <p:strVal val="visible"/>
                                      </p:to>
                                    </p:set>
                                    <p:anim calcmode="lin" valueType="num">
                                      <p:cBhvr additive="base">
                                        <p:cTn id="159" dur="1000" fill="hold"/>
                                        <p:tgtEl>
                                          <p:spTgt spid="46">
                                            <p:txEl>
                                              <p:pRg st="0" end="0"/>
                                            </p:txEl>
                                          </p:spTgt>
                                        </p:tgtEl>
                                        <p:attrNameLst>
                                          <p:attrName>ppt_x</p:attrName>
                                        </p:attrNameLst>
                                      </p:cBhvr>
                                      <p:tavLst>
                                        <p:tav tm="0">
                                          <p:val>
                                            <p:strVal val="0-#ppt_w/2"/>
                                          </p:val>
                                        </p:tav>
                                        <p:tav tm="100000">
                                          <p:val>
                                            <p:strVal val="#ppt_x"/>
                                          </p:val>
                                        </p:tav>
                                      </p:tavLst>
                                    </p:anim>
                                    <p:anim calcmode="lin" valueType="num">
                                      <p:cBhvr additive="base">
                                        <p:cTn id="160" dur="1000" fill="hold"/>
                                        <p:tgtEl>
                                          <p:spTgt spid="46">
                                            <p:txEl>
                                              <p:pRg st="0" end="0"/>
                                            </p:txEl>
                                          </p:spTgt>
                                        </p:tgtEl>
                                        <p:attrNameLst>
                                          <p:attrName>ppt_y</p:attrName>
                                        </p:attrNameLst>
                                      </p:cBhvr>
                                      <p:tavLst>
                                        <p:tav tm="0">
                                          <p:val>
                                            <p:strVal val="1+#ppt_h/2"/>
                                          </p:val>
                                        </p:tav>
                                        <p:tav tm="100000">
                                          <p:val>
                                            <p:strVal val="#ppt_y"/>
                                          </p:val>
                                        </p:tav>
                                      </p:tavLst>
                                    </p:anim>
                                  </p:childTnLst>
                                </p:cTn>
                              </p:par>
                              <p:par>
                                <p:cTn id="161" presetID="2" presetClass="entr" presetSubtype="12" decel="100000" fill="hold" grpId="0" nodeType="withEffect">
                                  <p:stCondLst>
                                    <p:cond delay="0"/>
                                  </p:stCondLst>
                                  <p:childTnLst>
                                    <p:set>
                                      <p:cBhvr>
                                        <p:cTn id="162" dur="1" fill="hold">
                                          <p:stCondLst>
                                            <p:cond delay="0"/>
                                          </p:stCondLst>
                                        </p:cTn>
                                        <p:tgtEl>
                                          <p:spTgt spid="47">
                                            <p:txEl>
                                              <p:pRg st="0" end="0"/>
                                            </p:txEl>
                                          </p:spTgt>
                                        </p:tgtEl>
                                        <p:attrNameLst>
                                          <p:attrName>style.visibility</p:attrName>
                                        </p:attrNameLst>
                                      </p:cBhvr>
                                      <p:to>
                                        <p:strVal val="visible"/>
                                      </p:to>
                                    </p:set>
                                    <p:anim calcmode="lin" valueType="num">
                                      <p:cBhvr additive="base">
                                        <p:cTn id="163" dur="1000" fill="hold"/>
                                        <p:tgtEl>
                                          <p:spTgt spid="47">
                                            <p:txEl>
                                              <p:pRg st="0" end="0"/>
                                            </p:txEl>
                                          </p:spTgt>
                                        </p:tgtEl>
                                        <p:attrNameLst>
                                          <p:attrName>ppt_x</p:attrName>
                                        </p:attrNameLst>
                                      </p:cBhvr>
                                      <p:tavLst>
                                        <p:tav tm="0">
                                          <p:val>
                                            <p:strVal val="0-#ppt_w/2"/>
                                          </p:val>
                                        </p:tav>
                                        <p:tav tm="100000">
                                          <p:val>
                                            <p:strVal val="#ppt_x"/>
                                          </p:val>
                                        </p:tav>
                                      </p:tavLst>
                                    </p:anim>
                                    <p:anim calcmode="lin" valueType="num">
                                      <p:cBhvr additive="base">
                                        <p:cTn id="164" dur="1000" fill="hold"/>
                                        <p:tgtEl>
                                          <p:spTgt spid="47">
                                            <p:txEl>
                                              <p:pRg st="0" end="0"/>
                                            </p:txEl>
                                          </p:spTgt>
                                        </p:tgtEl>
                                        <p:attrNameLst>
                                          <p:attrName>ppt_y</p:attrName>
                                        </p:attrNameLst>
                                      </p:cBhvr>
                                      <p:tavLst>
                                        <p:tav tm="0">
                                          <p:val>
                                            <p:strVal val="1+#ppt_h/2"/>
                                          </p:val>
                                        </p:tav>
                                        <p:tav tm="100000">
                                          <p:val>
                                            <p:strVal val="#ppt_y"/>
                                          </p:val>
                                        </p:tav>
                                      </p:tavLst>
                                    </p:anim>
                                  </p:childTnLst>
                                </p:cTn>
                              </p:par>
                              <p:par>
                                <p:cTn id="165" presetID="2" presetClass="entr" presetSubtype="9" decel="100000" fill="hold" grpId="0" nodeType="withEffect">
                                  <p:stCondLst>
                                    <p:cond delay="0"/>
                                  </p:stCondLst>
                                  <p:childTnLst>
                                    <p:set>
                                      <p:cBhvr>
                                        <p:cTn id="166" dur="1" fill="hold">
                                          <p:stCondLst>
                                            <p:cond delay="0"/>
                                          </p:stCondLst>
                                        </p:cTn>
                                        <p:tgtEl>
                                          <p:spTgt spid="10">
                                            <p:txEl>
                                              <p:pRg st="0" end="0"/>
                                            </p:txEl>
                                          </p:spTgt>
                                        </p:tgtEl>
                                        <p:attrNameLst>
                                          <p:attrName>style.visibility</p:attrName>
                                        </p:attrNameLst>
                                      </p:cBhvr>
                                      <p:to>
                                        <p:strVal val="visible"/>
                                      </p:to>
                                    </p:set>
                                    <p:anim calcmode="lin" valueType="num">
                                      <p:cBhvr additive="base">
                                        <p:cTn id="167" dur="10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168" dur="1000" fill="hold"/>
                                        <p:tgtEl>
                                          <p:spTgt spid="10">
                                            <p:txEl>
                                              <p:pRg st="0" end="0"/>
                                            </p:txEl>
                                          </p:spTgt>
                                        </p:tgtEl>
                                        <p:attrNameLst>
                                          <p:attrName>ppt_y</p:attrName>
                                        </p:attrNameLst>
                                      </p:cBhvr>
                                      <p:tavLst>
                                        <p:tav tm="0">
                                          <p:val>
                                            <p:strVal val="0-#ppt_h/2"/>
                                          </p:val>
                                        </p:tav>
                                        <p:tav tm="100000">
                                          <p:val>
                                            <p:strVal val="#ppt_y"/>
                                          </p:val>
                                        </p:tav>
                                      </p:tavLst>
                                    </p:anim>
                                  </p:childTnLst>
                                </p:cTn>
                              </p:par>
                              <p:par>
                                <p:cTn id="169" presetID="2" presetClass="entr" presetSubtype="9" decel="100000" fill="hold" grpId="0" nodeType="withEffect">
                                  <p:stCondLst>
                                    <p:cond delay="0"/>
                                  </p:stCondLst>
                                  <p:childTnLst>
                                    <p:set>
                                      <p:cBhvr>
                                        <p:cTn id="170" dur="1" fill="hold">
                                          <p:stCondLst>
                                            <p:cond delay="0"/>
                                          </p:stCondLst>
                                        </p:cTn>
                                        <p:tgtEl>
                                          <p:spTgt spid="8">
                                            <p:txEl>
                                              <p:pRg st="0" end="0"/>
                                            </p:txEl>
                                          </p:spTgt>
                                        </p:tgtEl>
                                        <p:attrNameLst>
                                          <p:attrName>style.visibility</p:attrName>
                                        </p:attrNameLst>
                                      </p:cBhvr>
                                      <p:to>
                                        <p:strVal val="visible"/>
                                      </p:to>
                                    </p:set>
                                    <p:anim calcmode="lin" valueType="num">
                                      <p:cBhvr additive="base">
                                        <p:cTn id="171" dur="10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172" dur="1000" fill="hold"/>
                                        <p:tgtEl>
                                          <p:spTgt spid="8">
                                            <p:txEl>
                                              <p:pRg st="0" end="0"/>
                                            </p:txEl>
                                          </p:spTgt>
                                        </p:tgtEl>
                                        <p:attrNameLst>
                                          <p:attrName>ppt_y</p:attrName>
                                        </p:attrNameLst>
                                      </p:cBhvr>
                                      <p:tavLst>
                                        <p:tav tm="0">
                                          <p:val>
                                            <p:strVal val="0-#ppt_h/2"/>
                                          </p:val>
                                        </p:tav>
                                        <p:tav tm="100000">
                                          <p:val>
                                            <p:strVal val="#ppt_y"/>
                                          </p:val>
                                        </p:tav>
                                      </p:tavLst>
                                    </p:anim>
                                  </p:childTnLst>
                                </p:cTn>
                              </p:par>
                            </p:childTnLst>
                          </p:cTn>
                        </p:par>
                        <p:par>
                          <p:cTn id="173" fill="hold">
                            <p:stCondLst>
                              <p:cond delay="1000"/>
                            </p:stCondLst>
                            <p:childTnLst>
                              <p:par>
                                <p:cTn id="174" presetID="53" presetClass="entr" presetSubtype="16" fill="hold" nodeType="afterEffect">
                                  <p:stCondLst>
                                    <p:cond delay="0"/>
                                  </p:stCondLst>
                                  <p:childTnLst>
                                    <p:set>
                                      <p:cBhvr>
                                        <p:cTn id="175" dur="1" fill="hold">
                                          <p:stCondLst>
                                            <p:cond delay="0"/>
                                          </p:stCondLst>
                                        </p:cTn>
                                        <p:tgtEl>
                                          <p:spTgt spid="27"/>
                                        </p:tgtEl>
                                        <p:attrNameLst>
                                          <p:attrName>style.visibility</p:attrName>
                                        </p:attrNameLst>
                                      </p:cBhvr>
                                      <p:to>
                                        <p:strVal val="visible"/>
                                      </p:to>
                                    </p:set>
                                    <p:anim calcmode="lin" valueType="num">
                                      <p:cBhvr>
                                        <p:cTn id="176" dur="500" fill="hold"/>
                                        <p:tgtEl>
                                          <p:spTgt spid="27"/>
                                        </p:tgtEl>
                                        <p:attrNameLst>
                                          <p:attrName>ppt_w</p:attrName>
                                        </p:attrNameLst>
                                      </p:cBhvr>
                                      <p:tavLst>
                                        <p:tav tm="0">
                                          <p:val>
                                            <p:fltVal val="0"/>
                                          </p:val>
                                        </p:tav>
                                        <p:tav tm="100000">
                                          <p:val>
                                            <p:strVal val="#ppt_w"/>
                                          </p:val>
                                        </p:tav>
                                      </p:tavLst>
                                    </p:anim>
                                    <p:anim calcmode="lin" valueType="num">
                                      <p:cBhvr>
                                        <p:cTn id="177" dur="500" fill="hold"/>
                                        <p:tgtEl>
                                          <p:spTgt spid="27"/>
                                        </p:tgtEl>
                                        <p:attrNameLst>
                                          <p:attrName>ppt_h</p:attrName>
                                        </p:attrNameLst>
                                      </p:cBhvr>
                                      <p:tavLst>
                                        <p:tav tm="0">
                                          <p:val>
                                            <p:fltVal val="0"/>
                                          </p:val>
                                        </p:tav>
                                        <p:tav tm="100000">
                                          <p:val>
                                            <p:strVal val="#ppt_h"/>
                                          </p:val>
                                        </p:tav>
                                      </p:tavLst>
                                    </p:anim>
                                    <p:animEffect transition="in" filter="fade">
                                      <p:cBhvr>
                                        <p:cTn id="17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9" grpId="0" build="allAtOnce"/>
      <p:bldP spid="10" grpId="0" build="allAtOnce"/>
      <p:bldP spid="11" grpId="0" build="allAtOnce"/>
      <p:bldP spid="13" grpId="0" build="allAtOnce"/>
      <p:bldP spid="14" grpId="0" build="allAtOnce"/>
      <p:bldP spid="15" grpId="0" build="allAtOnce"/>
      <p:bldP spid="16" grpId="0" build="allAtOnce"/>
      <p:bldP spid="17" grpId="0" build="allAtOnce"/>
      <p:bldP spid="18" grpId="0" build="allAtOnce"/>
      <p:bldP spid="19" grpId="0" build="allAtOnce"/>
      <p:bldP spid="20" grpId="0" build="allAtOnce"/>
      <p:bldP spid="21" grpId="0" build="allAtOnce"/>
      <p:bldP spid="22" grpId="0" build="allAtOnce"/>
      <p:bldP spid="23" grpId="0" build="allAtOnce"/>
      <p:bldP spid="24" grpId="0" build="allAtOnce"/>
      <p:bldP spid="25" grpId="0" build="allAtOnce"/>
      <p:bldP spid="29" grpId="0" build="allAtOnce"/>
      <p:bldP spid="30" grpId="0" build="allAtOnce"/>
      <p:bldP spid="31" grpId="0" build="allAtOnce"/>
      <p:bldP spid="32" grpId="0" build="allAtOnce"/>
      <p:bldP spid="33" grpId="0" build="allAtOnce"/>
      <p:bldP spid="34" grpId="0" build="allAtOnce"/>
      <p:bldP spid="35" grpId="0" build="allAtOnce"/>
      <p:bldP spid="36" grpId="0" build="allAtOnce"/>
      <p:bldP spid="37" grpId="0" build="allAtOnce"/>
      <p:bldP spid="38" grpId="0" build="allAtOnce"/>
      <p:bldP spid="39" grpId="0" build="allAtOnce"/>
      <p:bldP spid="40" grpId="0" build="allAtOnce"/>
      <p:bldP spid="41" grpId="0" build="allAtOnce"/>
      <p:bldP spid="43" grpId="0" build="allAtOnce"/>
      <p:bldP spid="42" grpId="0" build="allAtOnce"/>
      <p:bldP spid="44" grpId="0" build="allAtOnce"/>
      <p:bldP spid="45" grpId="0" build="allAtOnce"/>
      <p:bldP spid="46" grpId="0" build="allAtOnce"/>
      <p:bldP spid="47" grpId="0" build="allAtOnce"/>
      <p:bldP spid="49" grpId="0" build="allAtOnce"/>
      <p:bldP spid="52" grpId="0" build="allAtOnce"/>
      <p:bldP spid="54" grpId="0" build="allAtOnce"/>
      <p:bldP spid="55" grpId="0" build="allAtOnce"/>
      <p:bldP spid="8" grpId="0" build="allAtOnce"/>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311ED-CDBB-EE54-D7CB-4752A1002971}"/>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B6BB830D-B018-3990-72B1-D1184E5843A4}"/>
              </a:ext>
            </a:extLst>
          </p:cNvPr>
          <p:cNvGrpSpPr/>
          <p:nvPr/>
        </p:nvGrpSpPr>
        <p:grpSpPr>
          <a:xfrm>
            <a:off x="1659572" y="3603322"/>
            <a:ext cx="8869680" cy="792906"/>
            <a:chOff x="1654476" y="2744254"/>
            <a:chExt cx="8869680" cy="792906"/>
          </a:xfrm>
          <a:solidFill>
            <a:srgbClr val="0070C0"/>
          </a:solidFill>
        </p:grpSpPr>
        <p:sp>
          <p:nvSpPr>
            <p:cNvPr id="54" name="Rectangle 53">
              <a:extLst>
                <a:ext uri="{FF2B5EF4-FFF2-40B4-BE49-F238E27FC236}">
                  <a16:creationId xmlns:a16="http://schemas.microsoft.com/office/drawing/2014/main" id="{8038D8CA-6130-1324-690D-0EB4CB0901EF}"/>
                </a:ext>
              </a:extLst>
            </p:cNvPr>
            <p:cNvSpPr/>
            <p:nvPr/>
          </p:nvSpPr>
          <p:spPr>
            <a:xfrm>
              <a:off x="1654476" y="2744254"/>
              <a:ext cx="8869680" cy="27432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vCENTER</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55" name="Rectangle 54">
              <a:extLst>
                <a:ext uri="{FF2B5EF4-FFF2-40B4-BE49-F238E27FC236}">
                  <a16:creationId xmlns:a16="http://schemas.microsoft.com/office/drawing/2014/main" id="{7C11BE48-F99C-9008-696F-A7366F56E682}"/>
                </a:ext>
              </a:extLst>
            </p:cNvPr>
            <p:cNvSpPr/>
            <p:nvPr/>
          </p:nvSpPr>
          <p:spPr>
            <a:xfrm>
              <a:off x="1654476"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ATTESTATION</a:t>
              </a:r>
            </a:p>
          </p:txBody>
        </p:sp>
        <p:sp>
          <p:nvSpPr>
            <p:cNvPr id="56" name="Rectangle 55">
              <a:extLst>
                <a:ext uri="{FF2B5EF4-FFF2-40B4-BE49-F238E27FC236}">
                  <a16:creationId xmlns:a16="http://schemas.microsoft.com/office/drawing/2014/main" id="{63C1A725-E9F3-EBB8-1FE7-1EE5B14965DC}"/>
                </a:ext>
              </a:extLst>
            </p:cNvPr>
            <p:cNvSpPr/>
            <p:nvPr/>
          </p:nvSpPr>
          <p:spPr>
            <a:xfrm>
              <a:off x="3451693"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VM ENCRYPTION</a:t>
              </a:r>
            </a:p>
          </p:txBody>
        </p:sp>
        <p:sp>
          <p:nvSpPr>
            <p:cNvPr id="57" name="Rectangle 56">
              <a:extLst>
                <a:ext uri="{FF2B5EF4-FFF2-40B4-BE49-F238E27FC236}">
                  <a16:creationId xmlns:a16="http://schemas.microsoft.com/office/drawing/2014/main" id="{BBE16FC6-EA2E-EB7B-24CD-A7EF9131A93A}"/>
                </a:ext>
              </a:extLst>
            </p:cNvPr>
            <p:cNvSpPr/>
            <p:nvPr/>
          </p:nvSpPr>
          <p:spPr>
            <a:xfrm>
              <a:off x="5257377"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IDENTITY &amp; RBAC</a:t>
              </a:r>
            </a:p>
          </p:txBody>
        </p:sp>
        <p:sp>
          <p:nvSpPr>
            <p:cNvPr id="58" name="Rectangle 57">
              <a:extLst>
                <a:ext uri="{FF2B5EF4-FFF2-40B4-BE49-F238E27FC236}">
                  <a16:creationId xmlns:a16="http://schemas.microsoft.com/office/drawing/2014/main" id="{733E13CA-3D75-FC9C-CAEB-59771394C32E}"/>
                </a:ext>
              </a:extLst>
            </p:cNvPr>
            <p:cNvSpPr/>
            <p:nvPr/>
          </p:nvSpPr>
          <p:spPr>
            <a:xfrm>
              <a:off x="7063061"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vMOTION</a:t>
              </a: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&amp; DRS</a:t>
              </a:r>
            </a:p>
          </p:txBody>
        </p:sp>
        <p:sp>
          <p:nvSpPr>
            <p:cNvPr id="59" name="Rectangle 58">
              <a:extLst>
                <a:ext uri="{FF2B5EF4-FFF2-40B4-BE49-F238E27FC236}">
                  <a16:creationId xmlns:a16="http://schemas.microsoft.com/office/drawing/2014/main" id="{FF7CB9D8-C159-0137-BABE-6C02D1F3D124}"/>
                </a:ext>
              </a:extLst>
            </p:cNvPr>
            <p:cNvSpPr/>
            <p:nvPr/>
          </p:nvSpPr>
          <p:spPr>
            <a:xfrm>
              <a:off x="8878236"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KEY MGMT</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nvGrpSpPr>
          <p:cNvPr id="8" name="Group 7">
            <a:extLst>
              <a:ext uri="{FF2B5EF4-FFF2-40B4-BE49-F238E27FC236}">
                <a16:creationId xmlns:a16="http://schemas.microsoft.com/office/drawing/2014/main" id="{66570C3B-B66D-7B6E-9C9C-D6DDD4F83E2D}"/>
              </a:ext>
            </a:extLst>
          </p:cNvPr>
          <p:cNvGrpSpPr/>
          <p:nvPr/>
        </p:nvGrpSpPr>
        <p:grpSpPr>
          <a:xfrm>
            <a:off x="1651105" y="2749123"/>
            <a:ext cx="8869680" cy="793973"/>
            <a:chOff x="1654476" y="3602067"/>
            <a:chExt cx="8869680" cy="793973"/>
          </a:xfrm>
          <a:solidFill>
            <a:schemeClr val="accent3"/>
          </a:solidFill>
        </p:grpSpPr>
        <p:sp>
          <p:nvSpPr>
            <p:cNvPr id="38" name="Rectangle 37">
              <a:extLst>
                <a:ext uri="{FF2B5EF4-FFF2-40B4-BE49-F238E27FC236}">
                  <a16:creationId xmlns:a16="http://schemas.microsoft.com/office/drawing/2014/main" id="{EE17A1B3-0F2E-E19D-D8F0-0D16506E264F}"/>
                </a:ext>
              </a:extLst>
            </p:cNvPr>
            <p:cNvSpPr/>
            <p:nvPr/>
          </p:nvSpPr>
          <p:spPr>
            <a:xfrm>
              <a:off x="1654476" y="3602067"/>
              <a:ext cx="8869680" cy="27432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vSAN</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39" name="Rectangle 38">
              <a:extLst>
                <a:ext uri="{FF2B5EF4-FFF2-40B4-BE49-F238E27FC236}">
                  <a16:creationId xmlns:a16="http://schemas.microsoft.com/office/drawing/2014/main" id="{EEC1C4C0-4B2B-0EEF-2F24-5A4F06BCBB72}"/>
                </a:ext>
              </a:extLst>
            </p:cNvPr>
            <p:cNvSpPr/>
            <p:nvPr/>
          </p:nvSpPr>
          <p:spPr>
            <a:xfrm>
              <a:off x="1654476" y="3938840"/>
              <a:ext cx="21031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ENCRYPTION AT REST</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44" name="Rectangle 43">
              <a:extLst>
                <a:ext uri="{FF2B5EF4-FFF2-40B4-BE49-F238E27FC236}">
                  <a16:creationId xmlns:a16="http://schemas.microsoft.com/office/drawing/2014/main" id="{BA21DC72-4EC5-B0C1-972F-857631295E8D}"/>
                </a:ext>
              </a:extLst>
            </p:cNvPr>
            <p:cNvSpPr/>
            <p:nvPr/>
          </p:nvSpPr>
          <p:spPr>
            <a:xfrm>
              <a:off x="3909996" y="3938840"/>
              <a:ext cx="21031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ENCRYPTION IN FLIGHT</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45" name="Rectangle 44">
              <a:extLst>
                <a:ext uri="{FF2B5EF4-FFF2-40B4-BE49-F238E27FC236}">
                  <a16:creationId xmlns:a16="http://schemas.microsoft.com/office/drawing/2014/main" id="{6266ECB2-36AD-8243-EA2B-DA8C6E4D6E82}"/>
                </a:ext>
              </a:extLst>
            </p:cNvPr>
            <p:cNvSpPr/>
            <p:nvPr/>
          </p:nvSpPr>
          <p:spPr>
            <a:xfrm>
              <a:off x="6165516" y="3938840"/>
              <a:ext cx="21031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STRETCHED CLUSTERS</a:t>
              </a:r>
            </a:p>
          </p:txBody>
        </p:sp>
        <p:sp>
          <p:nvSpPr>
            <p:cNvPr id="46" name="Rectangle 45">
              <a:extLst>
                <a:ext uri="{FF2B5EF4-FFF2-40B4-BE49-F238E27FC236}">
                  <a16:creationId xmlns:a16="http://schemas.microsoft.com/office/drawing/2014/main" id="{40392356-6E07-8B90-94EB-A73BB614D062}"/>
                </a:ext>
              </a:extLst>
            </p:cNvPr>
            <p:cNvSpPr/>
            <p:nvPr/>
          </p:nvSpPr>
          <p:spPr>
            <a:xfrm>
              <a:off x="8421036" y="3938840"/>
              <a:ext cx="21031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FLEXIBLE</a:t>
              </a: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POLICIES</a:t>
              </a:r>
            </a:p>
          </p:txBody>
        </p:sp>
      </p:grpSp>
      <p:grpSp>
        <p:nvGrpSpPr>
          <p:cNvPr id="9" name="Group 8">
            <a:extLst>
              <a:ext uri="{FF2B5EF4-FFF2-40B4-BE49-F238E27FC236}">
                <a16:creationId xmlns:a16="http://schemas.microsoft.com/office/drawing/2014/main" id="{BD648507-ADE7-488B-7773-8F8C67059EE9}"/>
              </a:ext>
            </a:extLst>
          </p:cNvPr>
          <p:cNvGrpSpPr/>
          <p:nvPr/>
        </p:nvGrpSpPr>
        <p:grpSpPr>
          <a:xfrm>
            <a:off x="1659572" y="4463707"/>
            <a:ext cx="8869680" cy="790433"/>
            <a:chOff x="1654476" y="4454953"/>
            <a:chExt cx="8869680" cy="790433"/>
          </a:xfrm>
        </p:grpSpPr>
        <p:sp>
          <p:nvSpPr>
            <p:cNvPr id="20" name="Rectangle 19">
              <a:extLst>
                <a:ext uri="{FF2B5EF4-FFF2-40B4-BE49-F238E27FC236}">
                  <a16:creationId xmlns:a16="http://schemas.microsoft.com/office/drawing/2014/main" id="{CC6492D9-1CC5-8A10-01D3-CFF37A2D2C7E}"/>
                </a:ext>
              </a:extLst>
            </p:cNvPr>
            <p:cNvSpPr/>
            <p:nvPr/>
          </p:nvSpPr>
          <p:spPr>
            <a:xfrm>
              <a:off x="1654476" y="4454953"/>
              <a:ext cx="886968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HYPERVISOR</a:t>
              </a:r>
            </a:p>
          </p:txBody>
        </p:sp>
        <p:sp>
          <p:nvSpPr>
            <p:cNvPr id="21" name="Rectangle 20">
              <a:extLst>
                <a:ext uri="{FF2B5EF4-FFF2-40B4-BE49-F238E27FC236}">
                  <a16:creationId xmlns:a16="http://schemas.microsoft.com/office/drawing/2014/main" id="{AF636D50-B6BA-EE18-C4FF-BF573E43CF67}"/>
                </a:ext>
              </a:extLst>
            </p:cNvPr>
            <p:cNvSpPr/>
            <p:nvPr/>
          </p:nvSpPr>
          <p:spPr>
            <a:xfrm>
              <a:off x="1654476"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CODE SIGNING</a:t>
              </a:r>
            </a:p>
          </p:txBody>
        </p:sp>
        <p:sp>
          <p:nvSpPr>
            <p:cNvPr id="22" name="Rectangle 21">
              <a:extLst>
                <a:ext uri="{FF2B5EF4-FFF2-40B4-BE49-F238E27FC236}">
                  <a16:creationId xmlns:a16="http://schemas.microsoft.com/office/drawing/2014/main" id="{E0907DAD-1341-9333-676A-C2CDA9C0596D}"/>
                </a:ext>
              </a:extLst>
            </p:cNvPr>
            <p:cNvSpPr/>
            <p:nvPr/>
          </p:nvSpPr>
          <p:spPr>
            <a:xfrm>
              <a:off x="3150016"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ENCRYPTION</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30" name="Rectangle 29">
              <a:extLst>
                <a:ext uri="{FF2B5EF4-FFF2-40B4-BE49-F238E27FC236}">
                  <a16:creationId xmlns:a16="http://schemas.microsoft.com/office/drawing/2014/main" id="{2957BFF8-9F21-D470-0DF2-1B6098A1DB44}"/>
                </a:ext>
              </a:extLst>
            </p:cNvPr>
            <p:cNvSpPr/>
            <p:nvPr/>
          </p:nvSpPr>
          <p:spPr>
            <a:xfrm>
              <a:off x="4641502"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LOCKDOWN</a:t>
              </a:r>
            </a:p>
          </p:txBody>
        </p:sp>
        <p:sp>
          <p:nvSpPr>
            <p:cNvPr id="31" name="Rectangle 30">
              <a:extLst>
                <a:ext uri="{FF2B5EF4-FFF2-40B4-BE49-F238E27FC236}">
                  <a16:creationId xmlns:a16="http://schemas.microsoft.com/office/drawing/2014/main" id="{2E87C496-5C55-ED53-D7EC-6C4C36427CA1}"/>
                </a:ext>
              </a:extLst>
            </p:cNvPr>
            <p:cNvSpPr/>
            <p:nvPr/>
          </p:nvSpPr>
          <p:spPr>
            <a:xfrm>
              <a:off x="6132988"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CPU &amp; MMU</a:t>
              </a:r>
            </a:p>
          </p:txBody>
        </p:sp>
        <p:sp>
          <p:nvSpPr>
            <p:cNvPr id="32" name="Rectangle 31">
              <a:extLst>
                <a:ext uri="{FF2B5EF4-FFF2-40B4-BE49-F238E27FC236}">
                  <a16:creationId xmlns:a16="http://schemas.microsoft.com/office/drawing/2014/main" id="{58B0F313-DB28-0A92-1D9D-F6953B1E7F9F}"/>
                </a:ext>
              </a:extLst>
            </p:cNvPr>
            <p:cNvSpPr/>
            <p:nvPr/>
          </p:nvSpPr>
          <p:spPr>
            <a:xfrm>
              <a:off x="7624474"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VM SANDBOX</a:t>
              </a:r>
            </a:p>
          </p:txBody>
        </p:sp>
        <p:sp>
          <p:nvSpPr>
            <p:cNvPr id="37" name="Rectangle 36">
              <a:extLst>
                <a:ext uri="{FF2B5EF4-FFF2-40B4-BE49-F238E27FC236}">
                  <a16:creationId xmlns:a16="http://schemas.microsoft.com/office/drawing/2014/main" id="{E0976149-D3EE-F7CB-AE88-33F3F6CB2152}"/>
                </a:ext>
              </a:extLst>
            </p:cNvPr>
            <p:cNvSpPr/>
            <p:nvPr/>
          </p:nvSpPr>
          <p:spPr>
            <a:xfrm>
              <a:off x="9106836"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ZEROING</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nvGrpSpPr>
          <p:cNvPr id="10" name="Group 9">
            <a:extLst>
              <a:ext uri="{FF2B5EF4-FFF2-40B4-BE49-F238E27FC236}">
                <a16:creationId xmlns:a16="http://schemas.microsoft.com/office/drawing/2014/main" id="{31DAD6A3-FB3A-FAE5-7674-7B611D1755FA}"/>
              </a:ext>
            </a:extLst>
          </p:cNvPr>
          <p:cNvGrpSpPr/>
          <p:nvPr/>
        </p:nvGrpSpPr>
        <p:grpSpPr>
          <a:xfrm>
            <a:off x="1659572" y="5325732"/>
            <a:ext cx="8869680" cy="792906"/>
            <a:chOff x="1654476" y="5312766"/>
            <a:chExt cx="8869680" cy="792906"/>
          </a:xfrm>
        </p:grpSpPr>
        <p:sp>
          <p:nvSpPr>
            <p:cNvPr id="26" name="Rectangle 25">
              <a:extLst>
                <a:ext uri="{FF2B5EF4-FFF2-40B4-BE49-F238E27FC236}">
                  <a16:creationId xmlns:a16="http://schemas.microsoft.com/office/drawing/2014/main" id="{90AFF602-49F1-2BB7-F7FA-A3393A2926AC}"/>
                </a:ext>
              </a:extLst>
            </p:cNvPr>
            <p:cNvSpPr/>
            <p:nvPr/>
          </p:nvSpPr>
          <p:spPr>
            <a:xfrm>
              <a:off x="1654476" y="5312766"/>
              <a:ext cx="8869680" cy="27432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HARDWARE</a:t>
              </a:r>
            </a:p>
          </p:txBody>
        </p:sp>
        <p:sp>
          <p:nvSpPr>
            <p:cNvPr id="27" name="Rectangle 26">
              <a:extLst>
                <a:ext uri="{FF2B5EF4-FFF2-40B4-BE49-F238E27FC236}">
                  <a16:creationId xmlns:a16="http://schemas.microsoft.com/office/drawing/2014/main" id="{84ACA3BE-4E08-B361-9049-D170FEE02F6F}"/>
                </a:ext>
              </a:extLst>
            </p:cNvPr>
            <p:cNvSpPr/>
            <p:nvPr/>
          </p:nvSpPr>
          <p:spPr>
            <a:xfrm>
              <a:off x="1654476"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SECURE BOOT</a:t>
              </a:r>
            </a:p>
          </p:txBody>
        </p:sp>
        <p:sp>
          <p:nvSpPr>
            <p:cNvPr id="28" name="Rectangle 27">
              <a:extLst>
                <a:ext uri="{FF2B5EF4-FFF2-40B4-BE49-F238E27FC236}">
                  <a16:creationId xmlns:a16="http://schemas.microsoft.com/office/drawing/2014/main" id="{9B7F73E0-3320-6351-74F1-1ED41C8537F1}"/>
                </a:ext>
              </a:extLst>
            </p:cNvPr>
            <p:cNvSpPr/>
            <p:nvPr/>
          </p:nvSpPr>
          <p:spPr>
            <a:xfrm>
              <a:off x="3451693"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HARDWARE TPM</a:t>
              </a:r>
            </a:p>
          </p:txBody>
        </p:sp>
        <p:sp>
          <p:nvSpPr>
            <p:cNvPr id="6" name="Rectangle 5">
              <a:extLst>
                <a:ext uri="{FF2B5EF4-FFF2-40B4-BE49-F238E27FC236}">
                  <a16:creationId xmlns:a16="http://schemas.microsoft.com/office/drawing/2014/main" id="{A07A24C0-3BBA-1A3A-39D2-74E0232E1115}"/>
                </a:ext>
              </a:extLst>
            </p:cNvPr>
            <p:cNvSpPr/>
            <p:nvPr/>
          </p:nvSpPr>
          <p:spPr>
            <a:xfrm>
              <a:off x="5257377"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RELIABLE MEMORY</a:t>
              </a:r>
            </a:p>
          </p:txBody>
        </p:sp>
        <p:sp>
          <p:nvSpPr>
            <p:cNvPr id="7" name="Rectangle 6">
              <a:extLst>
                <a:ext uri="{FF2B5EF4-FFF2-40B4-BE49-F238E27FC236}">
                  <a16:creationId xmlns:a16="http://schemas.microsoft.com/office/drawing/2014/main" id="{FCED39E4-064D-EBDA-72DA-8EF5F4F8AADC}"/>
                </a:ext>
              </a:extLst>
            </p:cNvPr>
            <p:cNvSpPr/>
            <p:nvPr/>
          </p:nvSpPr>
          <p:spPr>
            <a:xfrm>
              <a:off x="7063061"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AMD SEV-ES</a:t>
              </a:r>
            </a:p>
          </p:txBody>
        </p:sp>
        <p:sp>
          <p:nvSpPr>
            <p:cNvPr id="15" name="Rectangle 14">
              <a:extLst>
                <a:ext uri="{FF2B5EF4-FFF2-40B4-BE49-F238E27FC236}">
                  <a16:creationId xmlns:a16="http://schemas.microsoft.com/office/drawing/2014/main" id="{A9435D81-2761-C7BA-79D0-F7E3FB796793}"/>
                </a:ext>
              </a:extLst>
            </p:cNvPr>
            <p:cNvSpPr/>
            <p:nvPr/>
          </p:nvSpPr>
          <p:spPr>
            <a:xfrm>
              <a:off x="8878236"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INTEL TXT</a:t>
              </a:r>
            </a:p>
          </p:txBody>
        </p:sp>
      </p:grpSp>
      <p:grpSp>
        <p:nvGrpSpPr>
          <p:cNvPr id="4" name="Group 3">
            <a:extLst>
              <a:ext uri="{FF2B5EF4-FFF2-40B4-BE49-F238E27FC236}">
                <a16:creationId xmlns:a16="http://schemas.microsoft.com/office/drawing/2014/main" id="{47040536-7665-EEB8-B582-0906B03307BF}"/>
              </a:ext>
            </a:extLst>
          </p:cNvPr>
          <p:cNvGrpSpPr/>
          <p:nvPr/>
        </p:nvGrpSpPr>
        <p:grpSpPr>
          <a:xfrm>
            <a:off x="1651105" y="1889379"/>
            <a:ext cx="8869680" cy="790433"/>
            <a:chOff x="1654476" y="1894908"/>
            <a:chExt cx="8869680" cy="790433"/>
          </a:xfrm>
        </p:grpSpPr>
        <p:sp>
          <p:nvSpPr>
            <p:cNvPr id="66" name="Rectangle 65">
              <a:extLst>
                <a:ext uri="{FF2B5EF4-FFF2-40B4-BE49-F238E27FC236}">
                  <a16:creationId xmlns:a16="http://schemas.microsoft.com/office/drawing/2014/main" id="{DE3ABE1E-D3C8-F112-A7C1-E9437CE0814B}"/>
                </a:ext>
              </a:extLst>
            </p:cNvPr>
            <p:cNvSpPr/>
            <p:nvPr/>
          </p:nvSpPr>
          <p:spPr>
            <a:xfrm>
              <a:off x="1654476" y="1894908"/>
              <a:ext cx="8869680" cy="27432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WORKLOADS</a:t>
              </a:r>
            </a:p>
          </p:txBody>
        </p:sp>
        <p:sp>
          <p:nvSpPr>
            <p:cNvPr id="67" name="Rectangle 66">
              <a:extLst>
                <a:ext uri="{FF2B5EF4-FFF2-40B4-BE49-F238E27FC236}">
                  <a16:creationId xmlns:a16="http://schemas.microsoft.com/office/drawing/2014/main" id="{1C74FED2-C42C-562C-5650-B1450B14DDA8}"/>
                </a:ext>
              </a:extLst>
            </p:cNvPr>
            <p:cNvSpPr/>
            <p:nvPr/>
          </p:nvSpPr>
          <p:spPr>
            <a:xfrm>
              <a:off x="1654476"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err="1">
                  <a:solidFill>
                    <a:prstClr val="white"/>
                  </a:solidFill>
                  <a:latin typeface="Arial" panose="020B0604020202020204" pitchFamily="34" charset="0"/>
                </a:rPr>
                <a:t>vTPM</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68" name="Rectangle 67">
              <a:extLst>
                <a:ext uri="{FF2B5EF4-FFF2-40B4-BE49-F238E27FC236}">
                  <a16:creationId xmlns:a16="http://schemas.microsoft.com/office/drawing/2014/main" id="{0EE5BAD7-50AE-34C5-D5A2-CBDD33D05897}"/>
                </a:ext>
              </a:extLst>
            </p:cNvPr>
            <p:cNvSpPr/>
            <p:nvPr/>
          </p:nvSpPr>
          <p:spPr>
            <a:xfrm>
              <a:off x="3150016"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VBS</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69" name="Rectangle 68">
              <a:extLst>
                <a:ext uri="{FF2B5EF4-FFF2-40B4-BE49-F238E27FC236}">
                  <a16:creationId xmlns:a16="http://schemas.microsoft.com/office/drawing/2014/main" id="{C996F145-3B04-DE52-A999-D1365A32FFED}"/>
                </a:ext>
              </a:extLst>
            </p:cNvPr>
            <p:cNvSpPr/>
            <p:nvPr/>
          </p:nvSpPr>
          <p:spPr>
            <a:xfrm>
              <a:off x="4641502"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HA &amp; FT</a:t>
              </a:r>
            </a:p>
          </p:txBody>
        </p:sp>
        <p:sp>
          <p:nvSpPr>
            <p:cNvPr id="70" name="Rectangle 69">
              <a:extLst>
                <a:ext uri="{FF2B5EF4-FFF2-40B4-BE49-F238E27FC236}">
                  <a16:creationId xmlns:a16="http://schemas.microsoft.com/office/drawing/2014/main" id="{80126DFA-B396-0589-7B53-AD7E3563D1E5}"/>
                </a:ext>
              </a:extLst>
            </p:cNvPr>
            <p:cNvSpPr/>
            <p:nvPr/>
          </p:nvSpPr>
          <p:spPr>
            <a:xfrm>
              <a:off x="6132988"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INTEL SGX</a:t>
              </a:r>
            </a:p>
          </p:txBody>
        </p:sp>
        <p:sp>
          <p:nvSpPr>
            <p:cNvPr id="71" name="Rectangle 70">
              <a:extLst>
                <a:ext uri="{FF2B5EF4-FFF2-40B4-BE49-F238E27FC236}">
                  <a16:creationId xmlns:a16="http://schemas.microsoft.com/office/drawing/2014/main" id="{2A2BABFD-5754-85B1-D4C3-C2D823C03461}"/>
                </a:ext>
              </a:extLst>
            </p:cNvPr>
            <p:cNvSpPr/>
            <p:nvPr/>
          </p:nvSpPr>
          <p:spPr>
            <a:xfrm>
              <a:off x="7624474"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AMD SEV-ES</a:t>
              </a:r>
            </a:p>
          </p:txBody>
        </p:sp>
        <p:sp>
          <p:nvSpPr>
            <p:cNvPr id="72" name="Rectangle 71">
              <a:extLst>
                <a:ext uri="{FF2B5EF4-FFF2-40B4-BE49-F238E27FC236}">
                  <a16:creationId xmlns:a16="http://schemas.microsoft.com/office/drawing/2014/main" id="{5258DABF-A20C-7C6C-2BDF-1C1DCB1AD729}"/>
                </a:ext>
              </a:extLst>
            </p:cNvPr>
            <p:cNvSpPr/>
            <p:nvPr/>
          </p:nvSpPr>
          <p:spPr>
            <a:xfrm>
              <a:off x="9106836"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REPLICATION</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nvGrpSpPr>
          <p:cNvPr id="3" name="Group 2">
            <a:extLst>
              <a:ext uri="{FF2B5EF4-FFF2-40B4-BE49-F238E27FC236}">
                <a16:creationId xmlns:a16="http://schemas.microsoft.com/office/drawing/2014/main" id="{EAEF5AB6-3705-E492-70D6-332156E3458E}"/>
              </a:ext>
            </a:extLst>
          </p:cNvPr>
          <p:cNvGrpSpPr/>
          <p:nvPr/>
        </p:nvGrpSpPr>
        <p:grpSpPr>
          <a:xfrm>
            <a:off x="1651105" y="1033555"/>
            <a:ext cx="8873051" cy="790433"/>
            <a:chOff x="1651105" y="1050489"/>
            <a:chExt cx="8873051" cy="790433"/>
          </a:xfrm>
        </p:grpSpPr>
        <p:sp>
          <p:nvSpPr>
            <p:cNvPr id="73" name="Rectangle 72">
              <a:extLst>
                <a:ext uri="{FF2B5EF4-FFF2-40B4-BE49-F238E27FC236}">
                  <a16:creationId xmlns:a16="http://schemas.microsoft.com/office/drawing/2014/main" id="{9AC3A0BF-E779-7AC5-1BF5-020A640543AB}"/>
                </a:ext>
              </a:extLst>
            </p:cNvPr>
            <p:cNvSpPr/>
            <p:nvPr/>
          </p:nvSpPr>
          <p:spPr>
            <a:xfrm>
              <a:off x="1651105" y="1050489"/>
              <a:ext cx="8869680" cy="27432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CLOUD FOUNDATION</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84" name="Rectangle 83">
              <a:extLst>
                <a:ext uri="{FF2B5EF4-FFF2-40B4-BE49-F238E27FC236}">
                  <a16:creationId xmlns:a16="http://schemas.microsoft.com/office/drawing/2014/main" id="{BF2D457D-3004-87A0-1B00-44CA853323EF}"/>
                </a:ext>
              </a:extLst>
            </p:cNvPr>
            <p:cNvSpPr/>
            <p:nvPr/>
          </p:nvSpPr>
          <p:spPr>
            <a:xfrm>
              <a:off x="1654476"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LIFECYCLE</a:t>
              </a:r>
            </a:p>
          </p:txBody>
        </p:sp>
        <p:sp>
          <p:nvSpPr>
            <p:cNvPr id="85" name="Rectangle 84">
              <a:extLst>
                <a:ext uri="{FF2B5EF4-FFF2-40B4-BE49-F238E27FC236}">
                  <a16:creationId xmlns:a16="http://schemas.microsoft.com/office/drawing/2014/main" id="{F9428040-8E2C-6782-B6DF-652BAF5FA6B3}"/>
                </a:ext>
              </a:extLst>
            </p:cNvPr>
            <p:cNvSpPr/>
            <p:nvPr/>
          </p:nvSpPr>
          <p:spPr>
            <a:xfrm>
              <a:off x="3451693"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ENFORCEMENT</a:t>
              </a:r>
            </a:p>
          </p:txBody>
        </p:sp>
        <p:sp>
          <p:nvSpPr>
            <p:cNvPr id="86" name="Rectangle 85">
              <a:extLst>
                <a:ext uri="{FF2B5EF4-FFF2-40B4-BE49-F238E27FC236}">
                  <a16:creationId xmlns:a16="http://schemas.microsoft.com/office/drawing/2014/main" id="{4E8B926C-A350-3EE8-7200-3CE62FB0AEAD}"/>
                </a:ext>
              </a:extLst>
            </p:cNvPr>
            <p:cNvSpPr/>
            <p:nvPr/>
          </p:nvSpPr>
          <p:spPr>
            <a:xfrm>
              <a:off x="5257377"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MONITORING</a:t>
              </a:r>
            </a:p>
          </p:txBody>
        </p:sp>
        <p:sp>
          <p:nvSpPr>
            <p:cNvPr id="87" name="Rectangle 86">
              <a:extLst>
                <a:ext uri="{FF2B5EF4-FFF2-40B4-BE49-F238E27FC236}">
                  <a16:creationId xmlns:a16="http://schemas.microsoft.com/office/drawing/2014/main" id="{35493DB9-33CF-6408-DA81-BEFBCAA64386}"/>
                </a:ext>
              </a:extLst>
            </p:cNvPr>
            <p:cNvSpPr/>
            <p:nvPr/>
          </p:nvSpPr>
          <p:spPr>
            <a:xfrm>
              <a:off x="7063061"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THREAT DETECTION</a:t>
              </a:r>
            </a:p>
          </p:txBody>
        </p:sp>
        <p:sp>
          <p:nvSpPr>
            <p:cNvPr id="88" name="Rectangle 87">
              <a:extLst>
                <a:ext uri="{FF2B5EF4-FFF2-40B4-BE49-F238E27FC236}">
                  <a16:creationId xmlns:a16="http://schemas.microsoft.com/office/drawing/2014/main" id="{02D52FBF-ED6D-6443-7035-7BD07D37D6AC}"/>
                </a:ext>
              </a:extLst>
            </p:cNvPr>
            <p:cNvSpPr/>
            <p:nvPr/>
          </p:nvSpPr>
          <p:spPr>
            <a:xfrm>
              <a:off x="8878236"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RECOVERY</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sp>
        <p:nvSpPr>
          <p:cNvPr id="2" name="Title 1">
            <a:extLst>
              <a:ext uri="{FF2B5EF4-FFF2-40B4-BE49-F238E27FC236}">
                <a16:creationId xmlns:a16="http://schemas.microsoft.com/office/drawing/2014/main" id="{7EB5B59A-B4A4-2A12-F411-6EFF4DB20E2C}"/>
              </a:ext>
            </a:extLst>
          </p:cNvPr>
          <p:cNvSpPr>
            <a:spLocks noGrp="1"/>
          </p:cNvSpPr>
          <p:nvPr>
            <p:ph type="title"/>
          </p:nvPr>
        </p:nvSpPr>
        <p:spPr/>
        <p:txBody>
          <a:bodyPr/>
          <a:lstStyle/>
          <a:p>
            <a:pPr algn="ctr"/>
            <a:r>
              <a:rPr lang="en-US" dirty="0"/>
              <a:t>Security at Every Layer of Cloud Foundation</a:t>
            </a:r>
          </a:p>
        </p:txBody>
      </p:sp>
    </p:spTree>
    <p:extLst>
      <p:ext uri="{BB962C8B-B14F-4D97-AF65-F5344CB8AC3E}">
        <p14:creationId xmlns:p14="http://schemas.microsoft.com/office/powerpoint/2010/main" val="3009626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F0A58C-DE8F-5D47-8669-61D7CA98B23A}"/>
              </a:ext>
            </a:extLst>
          </p:cNvPr>
          <p:cNvSpPr>
            <a:spLocks noGrp="1"/>
          </p:cNvSpPr>
          <p:nvPr>
            <p:ph type="title"/>
          </p:nvPr>
        </p:nvSpPr>
        <p:spPr/>
        <p:txBody>
          <a:bodyPr/>
          <a:lstStyle/>
          <a:p>
            <a:pPr algn="ctr"/>
            <a:r>
              <a:rPr lang="en-US" dirty="0">
                <a:solidFill>
                  <a:schemeClr val="tx1"/>
                </a:solidFill>
              </a:rPr>
              <a:t>Resilience Woven </a:t>
            </a:r>
            <a:r>
              <a:rPr lang="en-US" dirty="0">
                <a:solidFill>
                  <a:schemeClr val="accent2"/>
                </a:solidFill>
              </a:rPr>
              <a:t>Throughout</a:t>
            </a:r>
            <a:r>
              <a:rPr lang="en-US" dirty="0">
                <a:solidFill>
                  <a:schemeClr val="tx1"/>
                </a:solidFill>
              </a:rPr>
              <a:t> VMware Cloud Foundation</a:t>
            </a:r>
          </a:p>
        </p:txBody>
      </p:sp>
      <p:grpSp>
        <p:nvGrpSpPr>
          <p:cNvPr id="66" name="Group 65">
            <a:extLst>
              <a:ext uri="{FF2B5EF4-FFF2-40B4-BE49-F238E27FC236}">
                <a16:creationId xmlns:a16="http://schemas.microsoft.com/office/drawing/2014/main" id="{502A182C-F2C1-4D3B-87AF-5B0CDCA43058}"/>
              </a:ext>
            </a:extLst>
          </p:cNvPr>
          <p:cNvGrpSpPr/>
          <p:nvPr/>
        </p:nvGrpSpPr>
        <p:grpSpPr>
          <a:xfrm>
            <a:off x="8987564" y="2568572"/>
            <a:ext cx="2782072" cy="959120"/>
            <a:chOff x="195550" y="2178715"/>
            <a:chExt cx="2782797" cy="2030264"/>
          </a:xfrm>
          <a:solidFill>
            <a:schemeClr val="accent4"/>
          </a:solidFill>
        </p:grpSpPr>
        <p:sp>
          <p:nvSpPr>
            <p:cNvPr id="67" name="Rectangle 66">
              <a:extLst>
                <a:ext uri="{FF2B5EF4-FFF2-40B4-BE49-F238E27FC236}">
                  <a16:creationId xmlns:a16="http://schemas.microsoft.com/office/drawing/2014/main" id="{A97BF3B9-CC6D-4D8F-A846-3624BFFF7AD8}"/>
                </a:ext>
              </a:extLst>
            </p:cNvPr>
            <p:cNvSpPr/>
            <p:nvPr/>
          </p:nvSpPr>
          <p:spPr>
            <a:xfrm>
              <a:off x="195550" y="2178715"/>
              <a:ext cx="2179732"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8" name="Isosceles Triangle 67">
              <a:extLst>
                <a:ext uri="{FF2B5EF4-FFF2-40B4-BE49-F238E27FC236}">
                  <a16:creationId xmlns:a16="http://schemas.microsoft.com/office/drawing/2014/main" id="{3AD644D1-CA24-4AC9-9DCB-F53CF4D42B5B}"/>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grpSp>
        <p:nvGrpSpPr>
          <p:cNvPr id="63" name="Group 62">
            <a:extLst>
              <a:ext uri="{FF2B5EF4-FFF2-40B4-BE49-F238E27FC236}">
                <a16:creationId xmlns:a16="http://schemas.microsoft.com/office/drawing/2014/main" id="{70D0FE0B-7EE9-4E2C-9520-5F0EC00FFA31}"/>
              </a:ext>
            </a:extLst>
          </p:cNvPr>
          <p:cNvGrpSpPr/>
          <p:nvPr/>
        </p:nvGrpSpPr>
        <p:grpSpPr>
          <a:xfrm>
            <a:off x="6709964" y="2568572"/>
            <a:ext cx="2909945" cy="959120"/>
            <a:chOff x="67644" y="2178715"/>
            <a:chExt cx="2910703" cy="2030264"/>
          </a:xfrm>
          <a:solidFill>
            <a:schemeClr val="accent3"/>
          </a:solidFill>
        </p:grpSpPr>
        <p:sp>
          <p:nvSpPr>
            <p:cNvPr id="64" name="Rectangle 63">
              <a:extLst>
                <a:ext uri="{FF2B5EF4-FFF2-40B4-BE49-F238E27FC236}">
                  <a16:creationId xmlns:a16="http://schemas.microsoft.com/office/drawing/2014/main" id="{C4DE2B1A-147C-491F-ABED-F9FFFE5C48FB}"/>
                </a:ext>
              </a:extLst>
            </p:cNvPr>
            <p:cNvSpPr/>
            <p:nvPr/>
          </p:nvSpPr>
          <p:spPr>
            <a:xfrm>
              <a:off x="67644" y="2178715"/>
              <a:ext cx="2307638"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5" name="Isosceles Triangle 64">
              <a:extLst>
                <a:ext uri="{FF2B5EF4-FFF2-40B4-BE49-F238E27FC236}">
                  <a16:creationId xmlns:a16="http://schemas.microsoft.com/office/drawing/2014/main" id="{3D111464-39ED-4A3C-BD4A-DA82543B63A8}"/>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grpSp>
        <p:nvGrpSpPr>
          <p:cNvPr id="60" name="Group 59">
            <a:extLst>
              <a:ext uri="{FF2B5EF4-FFF2-40B4-BE49-F238E27FC236}">
                <a16:creationId xmlns:a16="http://schemas.microsoft.com/office/drawing/2014/main" id="{87133EDC-F0CF-444A-9D95-0B34A9CA6D19}"/>
              </a:ext>
            </a:extLst>
          </p:cNvPr>
          <p:cNvGrpSpPr/>
          <p:nvPr/>
        </p:nvGrpSpPr>
        <p:grpSpPr>
          <a:xfrm>
            <a:off x="4615560" y="2568572"/>
            <a:ext cx="2752764" cy="959120"/>
            <a:chOff x="224866" y="2178715"/>
            <a:chExt cx="2753481" cy="2030264"/>
          </a:xfrm>
          <a:solidFill>
            <a:schemeClr val="accent2"/>
          </a:solidFill>
        </p:grpSpPr>
        <p:sp>
          <p:nvSpPr>
            <p:cNvPr id="61" name="Rectangle 60">
              <a:extLst>
                <a:ext uri="{FF2B5EF4-FFF2-40B4-BE49-F238E27FC236}">
                  <a16:creationId xmlns:a16="http://schemas.microsoft.com/office/drawing/2014/main" id="{323E438E-F723-4600-A68E-65DB03277EE9}"/>
                </a:ext>
              </a:extLst>
            </p:cNvPr>
            <p:cNvSpPr/>
            <p:nvPr/>
          </p:nvSpPr>
          <p:spPr>
            <a:xfrm>
              <a:off x="224866" y="2178715"/>
              <a:ext cx="2150415"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2" name="Isosceles Triangle 61">
              <a:extLst>
                <a:ext uri="{FF2B5EF4-FFF2-40B4-BE49-F238E27FC236}">
                  <a16:creationId xmlns:a16="http://schemas.microsoft.com/office/drawing/2014/main" id="{EAC944F5-EE10-4EB1-B7E7-7B0E25574734}"/>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grpSp>
        <p:nvGrpSpPr>
          <p:cNvPr id="57" name="Group 56">
            <a:extLst>
              <a:ext uri="{FF2B5EF4-FFF2-40B4-BE49-F238E27FC236}">
                <a16:creationId xmlns:a16="http://schemas.microsoft.com/office/drawing/2014/main" id="{9F5C0259-F132-49B3-9664-8B78D31A3202}"/>
              </a:ext>
            </a:extLst>
          </p:cNvPr>
          <p:cNvGrpSpPr/>
          <p:nvPr/>
        </p:nvGrpSpPr>
        <p:grpSpPr>
          <a:xfrm>
            <a:off x="2220811" y="2568572"/>
            <a:ext cx="3046429" cy="959120"/>
            <a:chOff x="-68876" y="2178715"/>
            <a:chExt cx="3047223" cy="2030264"/>
          </a:xfrm>
          <a:solidFill>
            <a:schemeClr val="accent1"/>
          </a:solidFill>
        </p:grpSpPr>
        <p:sp>
          <p:nvSpPr>
            <p:cNvPr id="58" name="Rectangle 57">
              <a:extLst>
                <a:ext uri="{FF2B5EF4-FFF2-40B4-BE49-F238E27FC236}">
                  <a16:creationId xmlns:a16="http://schemas.microsoft.com/office/drawing/2014/main" id="{A05D8027-26AA-40D2-9065-2CA627C183E9}"/>
                </a:ext>
              </a:extLst>
            </p:cNvPr>
            <p:cNvSpPr/>
            <p:nvPr/>
          </p:nvSpPr>
          <p:spPr>
            <a:xfrm>
              <a:off x="-68876" y="2178715"/>
              <a:ext cx="2444158"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9" name="Isosceles Triangle 58">
              <a:extLst>
                <a:ext uri="{FF2B5EF4-FFF2-40B4-BE49-F238E27FC236}">
                  <a16:creationId xmlns:a16="http://schemas.microsoft.com/office/drawing/2014/main" id="{B58AF81C-0BE7-42C2-B27F-419A7654FF59}"/>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grpSp>
        <p:nvGrpSpPr>
          <p:cNvPr id="56" name="Group 55">
            <a:extLst>
              <a:ext uri="{FF2B5EF4-FFF2-40B4-BE49-F238E27FC236}">
                <a16:creationId xmlns:a16="http://schemas.microsoft.com/office/drawing/2014/main" id="{E804CCB8-56D2-4B38-BC37-49EAE3775167}"/>
              </a:ext>
            </a:extLst>
          </p:cNvPr>
          <p:cNvGrpSpPr/>
          <p:nvPr/>
        </p:nvGrpSpPr>
        <p:grpSpPr>
          <a:xfrm>
            <a:off x="653251" y="2568572"/>
            <a:ext cx="2568630" cy="959120"/>
            <a:chOff x="409048" y="2178715"/>
            <a:chExt cx="2569299" cy="2030264"/>
          </a:xfrm>
          <a:solidFill>
            <a:schemeClr val="tx1"/>
          </a:solidFill>
        </p:grpSpPr>
        <p:sp>
          <p:nvSpPr>
            <p:cNvPr id="26" name="Rectangle 25">
              <a:extLst>
                <a:ext uri="{FF2B5EF4-FFF2-40B4-BE49-F238E27FC236}">
                  <a16:creationId xmlns:a16="http://schemas.microsoft.com/office/drawing/2014/main" id="{E26CEFEB-1D4A-4B00-88EF-BEB1E66636A2}"/>
                </a:ext>
              </a:extLst>
            </p:cNvPr>
            <p:cNvSpPr/>
            <p:nvPr/>
          </p:nvSpPr>
          <p:spPr>
            <a:xfrm>
              <a:off x="409048" y="2178715"/>
              <a:ext cx="1966234"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5" name="Isosceles Triangle 54">
              <a:extLst>
                <a:ext uri="{FF2B5EF4-FFF2-40B4-BE49-F238E27FC236}">
                  <a16:creationId xmlns:a16="http://schemas.microsoft.com/office/drawing/2014/main" id="{A79BC258-3080-4B81-90E5-EA35ED1D7BA5}"/>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sp>
        <p:nvSpPr>
          <p:cNvPr id="45" name="TextBox 44">
            <a:extLst>
              <a:ext uri="{FF2B5EF4-FFF2-40B4-BE49-F238E27FC236}">
                <a16:creationId xmlns:a16="http://schemas.microsoft.com/office/drawing/2014/main" id="{8389DF42-4B47-49BA-98DE-DD75CD2F8727}"/>
              </a:ext>
            </a:extLst>
          </p:cNvPr>
          <p:cNvSpPr txBox="1"/>
          <p:nvPr/>
        </p:nvSpPr>
        <p:spPr>
          <a:xfrm>
            <a:off x="9839880" y="2858699"/>
            <a:ext cx="1297698"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latin typeface="Arial" panose="020B0604020202020204" pitchFamily="34" charset="0"/>
              </a:rPr>
              <a:t>Recover</a:t>
            </a:r>
          </a:p>
        </p:txBody>
      </p:sp>
      <p:sp>
        <p:nvSpPr>
          <p:cNvPr id="43" name="TextBox 42">
            <a:extLst>
              <a:ext uri="{FF2B5EF4-FFF2-40B4-BE49-F238E27FC236}">
                <a16:creationId xmlns:a16="http://schemas.microsoft.com/office/drawing/2014/main" id="{46F178AC-F45A-4E59-A5E1-0CADB05027D4}"/>
              </a:ext>
            </a:extLst>
          </p:cNvPr>
          <p:cNvSpPr txBox="1"/>
          <p:nvPr/>
        </p:nvSpPr>
        <p:spPr>
          <a:xfrm>
            <a:off x="7565219" y="2858699"/>
            <a:ext cx="1297698"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latin typeface="Arial" panose="020B0604020202020204" pitchFamily="34" charset="0"/>
              </a:rPr>
              <a:t>Respond</a:t>
            </a:r>
          </a:p>
        </p:txBody>
      </p:sp>
      <p:sp>
        <p:nvSpPr>
          <p:cNvPr id="40" name="TextBox 39">
            <a:extLst>
              <a:ext uri="{FF2B5EF4-FFF2-40B4-BE49-F238E27FC236}">
                <a16:creationId xmlns:a16="http://schemas.microsoft.com/office/drawing/2014/main" id="{BA86998D-5E4E-4018-85D0-95220EFAFDCF}"/>
              </a:ext>
            </a:extLst>
          </p:cNvPr>
          <p:cNvSpPr txBox="1"/>
          <p:nvPr/>
        </p:nvSpPr>
        <p:spPr>
          <a:xfrm>
            <a:off x="5344043" y="2858699"/>
            <a:ext cx="1297698"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latin typeface="Arial" panose="020B0604020202020204" pitchFamily="34" charset="0"/>
              </a:rPr>
              <a:t>Detect</a:t>
            </a:r>
          </a:p>
        </p:txBody>
      </p:sp>
      <p:sp>
        <p:nvSpPr>
          <p:cNvPr id="35" name="TextBox 34">
            <a:extLst>
              <a:ext uri="{FF2B5EF4-FFF2-40B4-BE49-F238E27FC236}">
                <a16:creationId xmlns:a16="http://schemas.microsoft.com/office/drawing/2014/main" id="{88930466-8970-4BDD-B7DC-2D9C7FC28C6E}"/>
              </a:ext>
            </a:extLst>
          </p:cNvPr>
          <p:cNvSpPr txBox="1"/>
          <p:nvPr/>
        </p:nvSpPr>
        <p:spPr>
          <a:xfrm>
            <a:off x="3349653" y="2858699"/>
            <a:ext cx="1297698"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latin typeface="Arial" panose="020B0604020202020204" pitchFamily="34" charset="0"/>
              </a:rPr>
              <a:t>Protect</a:t>
            </a:r>
          </a:p>
        </p:txBody>
      </p:sp>
      <p:sp>
        <p:nvSpPr>
          <p:cNvPr id="31" name="TextBox 30">
            <a:extLst>
              <a:ext uri="{FF2B5EF4-FFF2-40B4-BE49-F238E27FC236}">
                <a16:creationId xmlns:a16="http://schemas.microsoft.com/office/drawing/2014/main" id="{8F75E1B3-294B-4A6C-85C9-331FC10FA45D}"/>
              </a:ext>
            </a:extLst>
          </p:cNvPr>
          <p:cNvSpPr txBox="1"/>
          <p:nvPr/>
        </p:nvSpPr>
        <p:spPr>
          <a:xfrm>
            <a:off x="1020459" y="2858699"/>
            <a:ext cx="1391346"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latin typeface="Arial" panose="020B0604020202020204" pitchFamily="34" charset="0"/>
              </a:rPr>
              <a:t>Identify</a:t>
            </a:r>
          </a:p>
        </p:txBody>
      </p:sp>
      <p:grpSp>
        <p:nvGrpSpPr>
          <p:cNvPr id="12" name="Group 11">
            <a:extLst>
              <a:ext uri="{FF2B5EF4-FFF2-40B4-BE49-F238E27FC236}">
                <a16:creationId xmlns:a16="http://schemas.microsoft.com/office/drawing/2014/main" id="{412ABE05-FEE8-48A4-803E-32E628DCEAD9}"/>
              </a:ext>
            </a:extLst>
          </p:cNvPr>
          <p:cNvGrpSpPr/>
          <p:nvPr/>
        </p:nvGrpSpPr>
        <p:grpSpPr>
          <a:xfrm>
            <a:off x="1820623" y="1261010"/>
            <a:ext cx="758008" cy="1311796"/>
            <a:chOff x="1841405" y="1436575"/>
            <a:chExt cx="758008" cy="1311796"/>
          </a:xfrm>
        </p:grpSpPr>
        <p:cxnSp>
          <p:nvCxnSpPr>
            <p:cNvPr id="90" name="Straight Connector 89">
              <a:extLst>
                <a:ext uri="{FF2B5EF4-FFF2-40B4-BE49-F238E27FC236}">
                  <a16:creationId xmlns:a16="http://schemas.microsoft.com/office/drawing/2014/main" id="{75B9FC78-B14B-6C42-8FD4-E71B0BFDA536}"/>
                </a:ext>
              </a:extLst>
            </p:cNvPr>
            <p:cNvCxnSpPr>
              <a:cxnSpLocks/>
            </p:cNvCxnSpPr>
            <p:nvPr/>
          </p:nvCxnSpPr>
          <p:spPr bwMode="gray">
            <a:xfrm flipV="1">
              <a:off x="2211829" y="2382706"/>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CE748359-4340-724A-806D-D6AC924A0553}"/>
                </a:ext>
              </a:extLst>
            </p:cNvPr>
            <p:cNvSpPr/>
            <p:nvPr/>
          </p:nvSpPr>
          <p:spPr>
            <a:xfrm>
              <a:off x="1971769"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69" name="Rounded Rectangle 36">
              <a:extLst>
                <a:ext uri="{FF2B5EF4-FFF2-40B4-BE49-F238E27FC236}">
                  <a16:creationId xmlns:a16="http://schemas.microsoft.com/office/drawing/2014/main" id="{08BD9207-B84B-C643-BEC6-1880A595DCB4}"/>
                </a:ext>
              </a:extLst>
            </p:cNvPr>
            <p:cNvSpPr/>
            <p:nvPr/>
          </p:nvSpPr>
          <p:spPr>
            <a:xfrm>
              <a:off x="1841405"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Continuous</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Monitoring</a:t>
              </a:r>
              <a:endParaRPr kumimoji="0" lang="en-US" sz="11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pic>
          <p:nvPicPr>
            <p:cNvPr id="72" name="Graphic 71">
              <a:extLst>
                <a:ext uri="{FF2B5EF4-FFF2-40B4-BE49-F238E27FC236}">
                  <a16:creationId xmlns:a16="http://schemas.microsoft.com/office/drawing/2014/main" id="{A065BA38-AD4C-0C4D-9906-425F6648FAB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037476" y="2024483"/>
              <a:ext cx="350624" cy="200761"/>
            </a:xfrm>
            <a:prstGeom prst="rect">
              <a:avLst/>
            </a:prstGeom>
          </p:spPr>
        </p:pic>
      </p:grpSp>
      <p:grpSp>
        <p:nvGrpSpPr>
          <p:cNvPr id="27" name="Group 26">
            <a:extLst>
              <a:ext uri="{FF2B5EF4-FFF2-40B4-BE49-F238E27FC236}">
                <a16:creationId xmlns:a16="http://schemas.microsoft.com/office/drawing/2014/main" id="{E75E7E09-B0E2-4B3C-BA8B-F33612EE51FE}"/>
              </a:ext>
            </a:extLst>
          </p:cNvPr>
          <p:cNvGrpSpPr/>
          <p:nvPr/>
        </p:nvGrpSpPr>
        <p:grpSpPr>
          <a:xfrm>
            <a:off x="3759381" y="3520028"/>
            <a:ext cx="941094" cy="1305479"/>
            <a:chOff x="3363585" y="3695593"/>
            <a:chExt cx="941094" cy="1305479"/>
          </a:xfrm>
        </p:grpSpPr>
        <p:cxnSp>
          <p:nvCxnSpPr>
            <p:cNvPr id="84" name="Straight Connector 83">
              <a:extLst>
                <a:ext uri="{FF2B5EF4-FFF2-40B4-BE49-F238E27FC236}">
                  <a16:creationId xmlns:a16="http://schemas.microsoft.com/office/drawing/2014/main" id="{1C6598FF-2B1A-0949-A83C-BD317EB00B72}"/>
                </a:ext>
              </a:extLst>
            </p:cNvPr>
            <p:cNvCxnSpPr>
              <a:cxnSpLocks/>
            </p:cNvCxnSpPr>
            <p:nvPr/>
          </p:nvCxnSpPr>
          <p:spPr bwMode="gray">
            <a:xfrm rot="10800000" flipV="1">
              <a:off x="3846074" y="369559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F7BC4369-2E1B-FE40-BFBF-9EEAE4234156}"/>
                </a:ext>
              </a:extLst>
            </p:cNvPr>
            <p:cNvSpPr/>
            <p:nvPr/>
          </p:nvSpPr>
          <p:spPr>
            <a:xfrm rot="10800000">
              <a:off x="3606014" y="406125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pic>
          <p:nvPicPr>
            <p:cNvPr id="94" name="Graphic 93">
              <a:extLst>
                <a:ext uri="{FF2B5EF4-FFF2-40B4-BE49-F238E27FC236}">
                  <a16:creationId xmlns:a16="http://schemas.microsoft.com/office/drawing/2014/main" id="{45A6A677-26B0-5D4E-A334-C2F713BE17E9}"/>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715600" y="4167511"/>
              <a:ext cx="293337" cy="293337"/>
            </a:xfrm>
            <a:prstGeom prst="rect">
              <a:avLst/>
            </a:prstGeom>
          </p:spPr>
        </p:pic>
        <p:sp>
          <p:nvSpPr>
            <p:cNvPr id="97" name="Rounded Rectangle 37">
              <a:extLst>
                <a:ext uri="{FF2B5EF4-FFF2-40B4-BE49-F238E27FC236}">
                  <a16:creationId xmlns:a16="http://schemas.microsoft.com/office/drawing/2014/main" id="{105AF6F4-9CE5-8546-84E2-623CC5521162}"/>
                </a:ext>
              </a:extLst>
            </p:cNvPr>
            <p:cNvSpPr/>
            <p:nvPr/>
          </p:nvSpPr>
          <p:spPr>
            <a:xfrm>
              <a:off x="3363585" y="4622068"/>
              <a:ext cx="941094"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lang="en-US" sz="1100" kern="0" dirty="0">
                  <a:solidFill>
                    <a:srgbClr val="000001"/>
                  </a:solidFill>
                  <a:latin typeface="Arial" panose="020B0604020202020204" pitchFamily="34" charset="0"/>
                  <a:cs typeface="Arial"/>
                </a:rPr>
                <a:t>vMotion &amp;</a:t>
              </a:r>
              <a:br>
                <a:rPr lang="en-US" sz="1100" kern="0" dirty="0">
                  <a:solidFill>
                    <a:srgbClr val="000001"/>
                  </a:solidFill>
                  <a:latin typeface="Arial" panose="020B0604020202020204" pitchFamily="34" charset="0"/>
                  <a:cs typeface="Arial"/>
                </a:rPr>
              </a:br>
              <a:r>
                <a:rPr lang="en-US" sz="1100" kern="0" dirty="0">
                  <a:solidFill>
                    <a:srgbClr val="000001"/>
                  </a:solidFill>
                  <a:latin typeface="Arial" panose="020B0604020202020204" pitchFamily="34" charset="0"/>
                  <a:cs typeface="Arial"/>
                </a:rPr>
                <a:t>DRS</a:t>
              </a:r>
              <a:endPar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endParaRPr>
            </a:p>
          </p:txBody>
        </p:sp>
      </p:grpSp>
      <p:grpSp>
        <p:nvGrpSpPr>
          <p:cNvPr id="15" name="Group 14">
            <a:extLst>
              <a:ext uri="{FF2B5EF4-FFF2-40B4-BE49-F238E27FC236}">
                <a16:creationId xmlns:a16="http://schemas.microsoft.com/office/drawing/2014/main" id="{72CC817C-6880-46F7-9625-7505B31F1D79}"/>
              </a:ext>
            </a:extLst>
          </p:cNvPr>
          <p:cNvGrpSpPr/>
          <p:nvPr/>
        </p:nvGrpSpPr>
        <p:grpSpPr>
          <a:xfrm>
            <a:off x="4983457" y="1261010"/>
            <a:ext cx="758008" cy="1311796"/>
            <a:chOff x="4829288" y="1436575"/>
            <a:chExt cx="758008" cy="1311796"/>
          </a:xfrm>
        </p:grpSpPr>
        <p:cxnSp>
          <p:nvCxnSpPr>
            <p:cNvPr id="104" name="Straight Connector 103">
              <a:extLst>
                <a:ext uri="{FF2B5EF4-FFF2-40B4-BE49-F238E27FC236}">
                  <a16:creationId xmlns:a16="http://schemas.microsoft.com/office/drawing/2014/main" id="{572DCDAD-CC8D-7B4A-8EAD-C1B08E9D0FD0}"/>
                </a:ext>
              </a:extLst>
            </p:cNvPr>
            <p:cNvCxnSpPr>
              <a:cxnSpLocks/>
            </p:cNvCxnSpPr>
            <p:nvPr/>
          </p:nvCxnSpPr>
          <p:spPr bwMode="gray">
            <a:xfrm flipV="1">
              <a:off x="5208289" y="2382706"/>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C2E394C4-53E1-3340-9AA6-A6DF159A7821}"/>
                </a:ext>
              </a:extLst>
            </p:cNvPr>
            <p:cNvSpPr/>
            <p:nvPr/>
          </p:nvSpPr>
          <p:spPr>
            <a:xfrm>
              <a:off x="4968229"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06" name="Rounded Rectangle 37">
              <a:extLst>
                <a:ext uri="{FF2B5EF4-FFF2-40B4-BE49-F238E27FC236}">
                  <a16:creationId xmlns:a16="http://schemas.microsoft.com/office/drawing/2014/main" id="{6FEF2BB8-574A-3741-BD1B-1917513B246E}"/>
                </a:ext>
              </a:extLst>
            </p:cNvPr>
            <p:cNvSpPr/>
            <p:nvPr/>
          </p:nvSpPr>
          <p:spPr>
            <a:xfrm>
              <a:off x="4829288"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VM</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Sandbox</a:t>
              </a:r>
            </a:p>
          </p:txBody>
        </p:sp>
        <p:pic>
          <p:nvPicPr>
            <p:cNvPr id="118" name="Graphic 117">
              <a:extLst>
                <a:ext uri="{FF2B5EF4-FFF2-40B4-BE49-F238E27FC236}">
                  <a16:creationId xmlns:a16="http://schemas.microsoft.com/office/drawing/2014/main" id="{D6D528CB-94B7-4F42-9C62-8494A65334BC}"/>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081495" y="1998068"/>
              <a:ext cx="253591" cy="253591"/>
            </a:xfrm>
            <a:prstGeom prst="rect">
              <a:avLst/>
            </a:prstGeom>
          </p:spPr>
        </p:pic>
      </p:grpSp>
      <p:grpSp>
        <p:nvGrpSpPr>
          <p:cNvPr id="32" name="Group 31">
            <a:extLst>
              <a:ext uri="{FF2B5EF4-FFF2-40B4-BE49-F238E27FC236}">
                <a16:creationId xmlns:a16="http://schemas.microsoft.com/office/drawing/2014/main" id="{2F9CF05E-95D1-4883-A0CC-5C9C05AC728F}"/>
              </a:ext>
            </a:extLst>
          </p:cNvPr>
          <p:cNvGrpSpPr/>
          <p:nvPr/>
        </p:nvGrpSpPr>
        <p:grpSpPr>
          <a:xfrm>
            <a:off x="8182391" y="3520028"/>
            <a:ext cx="941094" cy="1305479"/>
            <a:chOff x="7798650" y="3695593"/>
            <a:chExt cx="941094" cy="1305479"/>
          </a:xfrm>
        </p:grpSpPr>
        <p:cxnSp>
          <p:nvCxnSpPr>
            <p:cNvPr id="126" name="Straight Connector 125">
              <a:extLst>
                <a:ext uri="{FF2B5EF4-FFF2-40B4-BE49-F238E27FC236}">
                  <a16:creationId xmlns:a16="http://schemas.microsoft.com/office/drawing/2014/main" id="{7E2258C4-CDC9-B74F-B48F-12CEAE67D8E1}"/>
                </a:ext>
              </a:extLst>
            </p:cNvPr>
            <p:cNvCxnSpPr>
              <a:cxnSpLocks/>
            </p:cNvCxnSpPr>
            <p:nvPr/>
          </p:nvCxnSpPr>
          <p:spPr bwMode="gray">
            <a:xfrm rot="10800000" flipV="1">
              <a:off x="8281138" y="369559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7" name="Oval 126">
              <a:extLst>
                <a:ext uri="{FF2B5EF4-FFF2-40B4-BE49-F238E27FC236}">
                  <a16:creationId xmlns:a16="http://schemas.microsoft.com/office/drawing/2014/main" id="{34311A7C-486E-7743-8DCE-9F49E566F756}"/>
                </a:ext>
              </a:extLst>
            </p:cNvPr>
            <p:cNvSpPr/>
            <p:nvPr/>
          </p:nvSpPr>
          <p:spPr>
            <a:xfrm rot="10800000">
              <a:off x="8041078" y="406125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38" name="Rounded Rectangle 37">
              <a:extLst>
                <a:ext uri="{FF2B5EF4-FFF2-40B4-BE49-F238E27FC236}">
                  <a16:creationId xmlns:a16="http://schemas.microsoft.com/office/drawing/2014/main" id="{A387746B-C931-3F4D-AF6B-C7C3A70DB899}"/>
                </a:ext>
              </a:extLst>
            </p:cNvPr>
            <p:cNvSpPr/>
            <p:nvPr/>
          </p:nvSpPr>
          <p:spPr>
            <a:xfrm>
              <a:off x="7798650" y="4622068"/>
              <a:ext cx="941094"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VM</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Snapshot</a:t>
              </a:r>
            </a:p>
          </p:txBody>
        </p:sp>
        <p:pic>
          <p:nvPicPr>
            <p:cNvPr id="143" name="Graphic 142">
              <a:extLst>
                <a:ext uri="{FF2B5EF4-FFF2-40B4-BE49-F238E27FC236}">
                  <a16:creationId xmlns:a16="http://schemas.microsoft.com/office/drawing/2014/main" id="{0F2D6866-6269-1C43-B615-E92B9E08C74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48261" y="4162716"/>
              <a:ext cx="271582" cy="271582"/>
            </a:xfrm>
            <a:prstGeom prst="rect">
              <a:avLst/>
            </a:prstGeom>
          </p:spPr>
        </p:pic>
      </p:grpSp>
      <p:grpSp>
        <p:nvGrpSpPr>
          <p:cNvPr id="33" name="Group 32">
            <a:extLst>
              <a:ext uri="{FF2B5EF4-FFF2-40B4-BE49-F238E27FC236}">
                <a16:creationId xmlns:a16="http://schemas.microsoft.com/office/drawing/2014/main" id="{B98D2FB3-4B57-422E-B94F-92E92C9CC772}"/>
              </a:ext>
            </a:extLst>
          </p:cNvPr>
          <p:cNvGrpSpPr/>
          <p:nvPr/>
        </p:nvGrpSpPr>
        <p:grpSpPr>
          <a:xfrm>
            <a:off x="9425458" y="3527623"/>
            <a:ext cx="758008" cy="1294116"/>
            <a:chOff x="9200771" y="3703188"/>
            <a:chExt cx="758008" cy="1294116"/>
          </a:xfrm>
        </p:grpSpPr>
        <p:sp>
          <p:nvSpPr>
            <p:cNvPr id="139" name="Rounded Rectangle 37">
              <a:extLst>
                <a:ext uri="{FF2B5EF4-FFF2-40B4-BE49-F238E27FC236}">
                  <a16:creationId xmlns:a16="http://schemas.microsoft.com/office/drawing/2014/main" id="{A028D8CF-FA5E-AC46-9A0B-8850EB42B3FA}"/>
                </a:ext>
              </a:extLst>
            </p:cNvPr>
            <p:cNvSpPr/>
            <p:nvPr/>
          </p:nvSpPr>
          <p:spPr>
            <a:xfrm>
              <a:off x="9200771" y="46183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Failover to </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Recovery Site</a:t>
              </a:r>
            </a:p>
          </p:txBody>
        </p:sp>
        <p:cxnSp>
          <p:nvCxnSpPr>
            <p:cNvPr id="140" name="Straight Connector 139">
              <a:extLst>
                <a:ext uri="{FF2B5EF4-FFF2-40B4-BE49-F238E27FC236}">
                  <a16:creationId xmlns:a16="http://schemas.microsoft.com/office/drawing/2014/main" id="{21B74C86-2664-BC44-A6FD-68EEACDB360E}"/>
                </a:ext>
              </a:extLst>
            </p:cNvPr>
            <p:cNvCxnSpPr>
              <a:cxnSpLocks/>
            </p:cNvCxnSpPr>
            <p:nvPr/>
          </p:nvCxnSpPr>
          <p:spPr bwMode="gray">
            <a:xfrm>
              <a:off x="9572154" y="3703188"/>
              <a:ext cx="0" cy="365379"/>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5B9A74F0-E0B3-224A-BDF5-137A4EF38DCA}"/>
                </a:ext>
              </a:extLst>
            </p:cNvPr>
            <p:cNvSpPr/>
            <p:nvPr/>
          </p:nvSpPr>
          <p:spPr>
            <a:xfrm rot="10800000">
              <a:off x="9339713" y="40685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pic>
          <p:nvPicPr>
            <p:cNvPr id="144" name="Graphic 143">
              <a:extLst>
                <a:ext uri="{FF2B5EF4-FFF2-40B4-BE49-F238E27FC236}">
                  <a16:creationId xmlns:a16="http://schemas.microsoft.com/office/drawing/2014/main" id="{D776CD0F-210E-AB42-AB7B-1EB60E68A29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16546" y="4169032"/>
              <a:ext cx="317777" cy="294713"/>
            </a:xfrm>
            <a:prstGeom prst="rect">
              <a:avLst/>
            </a:prstGeom>
          </p:spPr>
        </p:pic>
      </p:grpSp>
      <p:grpSp>
        <p:nvGrpSpPr>
          <p:cNvPr id="23" name="Group 22">
            <a:extLst>
              <a:ext uri="{FF2B5EF4-FFF2-40B4-BE49-F238E27FC236}">
                <a16:creationId xmlns:a16="http://schemas.microsoft.com/office/drawing/2014/main" id="{107C6E52-4FF3-4179-B64D-F329993F2EB5}"/>
              </a:ext>
            </a:extLst>
          </p:cNvPr>
          <p:cNvGrpSpPr/>
          <p:nvPr/>
        </p:nvGrpSpPr>
        <p:grpSpPr>
          <a:xfrm>
            <a:off x="2699400" y="3520028"/>
            <a:ext cx="758008" cy="1305480"/>
            <a:chOff x="2397242" y="3695593"/>
            <a:chExt cx="758008" cy="1305480"/>
          </a:xfrm>
        </p:grpSpPr>
        <p:cxnSp>
          <p:nvCxnSpPr>
            <p:cNvPr id="51" name="Straight Connector 50">
              <a:extLst>
                <a:ext uri="{FF2B5EF4-FFF2-40B4-BE49-F238E27FC236}">
                  <a16:creationId xmlns:a16="http://schemas.microsoft.com/office/drawing/2014/main" id="{DE886FC1-2D19-BB4C-ABFD-C6368BDE32C1}"/>
                </a:ext>
              </a:extLst>
            </p:cNvPr>
            <p:cNvCxnSpPr>
              <a:cxnSpLocks/>
            </p:cNvCxnSpPr>
            <p:nvPr/>
          </p:nvCxnSpPr>
          <p:spPr bwMode="gray">
            <a:xfrm rot="10800000" flipV="1">
              <a:off x="2776944" y="369559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D1B978F9-2BF4-E24C-9EEF-8DD09DB4A360}"/>
                </a:ext>
              </a:extLst>
            </p:cNvPr>
            <p:cNvSpPr/>
            <p:nvPr/>
          </p:nvSpPr>
          <p:spPr>
            <a:xfrm rot="10800000">
              <a:off x="2536884" y="406125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95" name="Rounded Rectangle 31">
              <a:extLst>
                <a:ext uri="{FF2B5EF4-FFF2-40B4-BE49-F238E27FC236}">
                  <a16:creationId xmlns:a16="http://schemas.microsoft.com/office/drawing/2014/main" id="{D2D9C7D5-1FB2-3843-B9B0-381BDE57E1E7}"/>
                </a:ext>
              </a:extLst>
            </p:cNvPr>
            <p:cNvSpPr/>
            <p:nvPr/>
          </p:nvSpPr>
          <p:spPr>
            <a:xfrm>
              <a:off x="2397242" y="4622069"/>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Distributed</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Firewall</a:t>
              </a:r>
            </a:p>
          </p:txBody>
        </p:sp>
        <p:sp>
          <p:nvSpPr>
            <p:cNvPr id="159" name="Picture Placeholder 74" descr="Security 1&#10;">
              <a:extLst>
                <a:ext uri="{FF2B5EF4-FFF2-40B4-BE49-F238E27FC236}">
                  <a16:creationId xmlns:a16="http://schemas.microsoft.com/office/drawing/2014/main" id="{B826446C-CA20-984F-A6E7-96642D661536}"/>
                </a:ext>
              </a:extLst>
            </p:cNvPr>
            <p:cNvSpPr/>
            <p:nvPr/>
          </p:nvSpPr>
          <p:spPr>
            <a:xfrm>
              <a:off x="2640142" y="4150019"/>
              <a:ext cx="263705" cy="310319"/>
            </a:xfrm>
            <a:custGeom>
              <a:avLst/>
              <a:gdLst>
                <a:gd name="connsiteX0" fmla="*/ 254818 w 509509"/>
                <a:gd name="connsiteY0" fmla="*/ 599572 h 599572"/>
                <a:gd name="connsiteX1" fmla="*/ 246217 w 509509"/>
                <a:gd name="connsiteY1" fmla="*/ 596536 h 599572"/>
                <a:gd name="connsiteX2" fmla="*/ 0 w 509509"/>
                <a:gd name="connsiteY2" fmla="*/ 263609 h 599572"/>
                <a:gd name="connsiteX3" fmla="*/ 0 w 509509"/>
                <a:gd name="connsiteY3" fmla="*/ 110364 h 599572"/>
                <a:gd name="connsiteX4" fmla="*/ 18974 w 509509"/>
                <a:gd name="connsiteY4" fmla="*/ 105494 h 599572"/>
                <a:gd name="connsiteX5" fmla="*/ 134651 w 509509"/>
                <a:gd name="connsiteY5" fmla="*/ 64637 h 599572"/>
                <a:gd name="connsiteX6" fmla="*/ 241094 w 509509"/>
                <a:gd name="connsiteY6" fmla="*/ 8854 h 599572"/>
                <a:gd name="connsiteX7" fmla="*/ 254692 w 509509"/>
                <a:gd name="connsiteY7" fmla="*/ 0 h 599572"/>
                <a:gd name="connsiteX8" fmla="*/ 268669 w 509509"/>
                <a:gd name="connsiteY8" fmla="*/ 8665 h 599572"/>
                <a:gd name="connsiteX9" fmla="*/ 374922 w 509509"/>
                <a:gd name="connsiteY9" fmla="*/ 64764 h 599572"/>
                <a:gd name="connsiteX10" fmla="*/ 490536 w 509509"/>
                <a:gd name="connsiteY10" fmla="*/ 105811 h 599572"/>
                <a:gd name="connsiteX11" fmla="*/ 509510 w 509509"/>
                <a:gd name="connsiteY11" fmla="*/ 110681 h 599572"/>
                <a:gd name="connsiteX12" fmla="*/ 509510 w 509509"/>
                <a:gd name="connsiteY12" fmla="*/ 263609 h 599572"/>
                <a:gd name="connsiteX13" fmla="*/ 262850 w 509509"/>
                <a:gd name="connsiteY13" fmla="*/ 596220 h 599572"/>
                <a:gd name="connsiteX14" fmla="*/ 262850 w 509509"/>
                <a:gd name="connsiteY14" fmla="*/ 596220 h 599572"/>
                <a:gd name="connsiteX15" fmla="*/ 15748 w 509509"/>
                <a:gd name="connsiteY15" fmla="*/ 122697 h 599572"/>
                <a:gd name="connsiteX16" fmla="*/ 15748 w 509509"/>
                <a:gd name="connsiteY16" fmla="*/ 263609 h 599572"/>
                <a:gd name="connsiteX17" fmla="*/ 251529 w 509509"/>
                <a:gd name="connsiteY17" fmla="*/ 581673 h 599572"/>
                <a:gd name="connsiteX18" fmla="*/ 254818 w 509509"/>
                <a:gd name="connsiteY18" fmla="*/ 582812 h 599572"/>
                <a:gd name="connsiteX19" fmla="*/ 259562 w 509509"/>
                <a:gd name="connsiteY19" fmla="*/ 581168 h 599572"/>
                <a:gd name="connsiteX20" fmla="*/ 493888 w 509509"/>
                <a:gd name="connsiteY20" fmla="*/ 263609 h 599572"/>
                <a:gd name="connsiteX21" fmla="*/ 493888 w 509509"/>
                <a:gd name="connsiteY21" fmla="*/ 122697 h 599572"/>
                <a:gd name="connsiteX22" fmla="*/ 486551 w 509509"/>
                <a:gd name="connsiteY22" fmla="*/ 120800 h 599572"/>
                <a:gd name="connsiteX23" fmla="*/ 368598 w 509509"/>
                <a:gd name="connsiteY23" fmla="*/ 78931 h 599572"/>
                <a:gd name="connsiteX24" fmla="*/ 260384 w 509509"/>
                <a:gd name="connsiteY24" fmla="*/ 22010 h 599572"/>
                <a:gd name="connsiteX25" fmla="*/ 254945 w 509509"/>
                <a:gd name="connsiteY25" fmla="*/ 18658 h 599572"/>
                <a:gd name="connsiteX26" fmla="*/ 249632 w 509509"/>
                <a:gd name="connsiteY26" fmla="*/ 22136 h 599572"/>
                <a:gd name="connsiteX27" fmla="*/ 141228 w 509509"/>
                <a:gd name="connsiteY27" fmla="*/ 79058 h 599572"/>
                <a:gd name="connsiteX28" fmla="*/ 23085 w 509509"/>
                <a:gd name="connsiteY28" fmla="*/ 120800 h 59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09509" h="599572">
                  <a:moveTo>
                    <a:pt x="254818" y="599572"/>
                  </a:moveTo>
                  <a:lnTo>
                    <a:pt x="246217" y="596536"/>
                  </a:lnTo>
                  <a:cubicBezTo>
                    <a:pt x="235908" y="592678"/>
                    <a:pt x="0" y="500655"/>
                    <a:pt x="0" y="263609"/>
                  </a:cubicBezTo>
                  <a:lnTo>
                    <a:pt x="0" y="110364"/>
                  </a:lnTo>
                  <a:lnTo>
                    <a:pt x="18974" y="105494"/>
                  </a:lnTo>
                  <a:cubicBezTo>
                    <a:pt x="58566" y="95001"/>
                    <a:pt x="97250" y="81337"/>
                    <a:pt x="134651" y="64637"/>
                  </a:cubicBezTo>
                  <a:cubicBezTo>
                    <a:pt x="171498" y="48775"/>
                    <a:pt x="207082" y="30127"/>
                    <a:pt x="241094" y="8854"/>
                  </a:cubicBezTo>
                  <a:lnTo>
                    <a:pt x="254692" y="0"/>
                  </a:lnTo>
                  <a:lnTo>
                    <a:pt x="268669" y="8665"/>
                  </a:lnTo>
                  <a:cubicBezTo>
                    <a:pt x="302616" y="30027"/>
                    <a:pt x="338136" y="48780"/>
                    <a:pt x="374922" y="64764"/>
                  </a:cubicBezTo>
                  <a:cubicBezTo>
                    <a:pt x="412304" y="81506"/>
                    <a:pt x="450965" y="95231"/>
                    <a:pt x="490536" y="105811"/>
                  </a:cubicBezTo>
                  <a:lnTo>
                    <a:pt x="509510" y="110681"/>
                  </a:lnTo>
                  <a:lnTo>
                    <a:pt x="509510" y="263609"/>
                  </a:lnTo>
                  <a:cubicBezTo>
                    <a:pt x="509510" y="495659"/>
                    <a:pt x="289287" y="586923"/>
                    <a:pt x="262850" y="596220"/>
                  </a:cubicBezTo>
                  <a:lnTo>
                    <a:pt x="262850" y="596220"/>
                  </a:lnTo>
                  <a:close/>
                  <a:moveTo>
                    <a:pt x="15748" y="122697"/>
                  </a:moveTo>
                  <a:lnTo>
                    <a:pt x="15748" y="263609"/>
                  </a:lnTo>
                  <a:cubicBezTo>
                    <a:pt x="15748" y="489904"/>
                    <a:pt x="241853" y="578005"/>
                    <a:pt x="251529" y="581673"/>
                  </a:cubicBezTo>
                  <a:lnTo>
                    <a:pt x="254818" y="582812"/>
                  </a:lnTo>
                  <a:lnTo>
                    <a:pt x="259562" y="581168"/>
                  </a:lnTo>
                  <a:cubicBezTo>
                    <a:pt x="273602" y="575981"/>
                    <a:pt x="493888" y="487627"/>
                    <a:pt x="493888" y="263609"/>
                  </a:cubicBezTo>
                  <a:lnTo>
                    <a:pt x="493888" y="122697"/>
                  </a:lnTo>
                  <a:lnTo>
                    <a:pt x="486551" y="120800"/>
                  </a:lnTo>
                  <a:cubicBezTo>
                    <a:pt x="446185" y="109995"/>
                    <a:pt x="406743" y="95995"/>
                    <a:pt x="368598" y="78931"/>
                  </a:cubicBezTo>
                  <a:cubicBezTo>
                    <a:pt x="331139" y="62720"/>
                    <a:pt x="294964" y="43692"/>
                    <a:pt x="260384" y="22010"/>
                  </a:cubicBezTo>
                  <a:lnTo>
                    <a:pt x="254945" y="18658"/>
                  </a:lnTo>
                  <a:lnTo>
                    <a:pt x="249632" y="22136"/>
                  </a:lnTo>
                  <a:cubicBezTo>
                    <a:pt x="214986" y="43819"/>
                    <a:pt x="178748" y="62848"/>
                    <a:pt x="141228" y="79058"/>
                  </a:cubicBezTo>
                  <a:cubicBezTo>
                    <a:pt x="103025" y="96104"/>
                    <a:pt x="63517" y="110063"/>
                    <a:pt x="23085" y="120800"/>
                  </a:cubicBezTo>
                  <a:close/>
                </a:path>
              </a:pathLst>
            </a:custGeom>
            <a:solidFill>
              <a:schemeClr val="tx1"/>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6" name="Group 15">
            <a:extLst>
              <a:ext uri="{FF2B5EF4-FFF2-40B4-BE49-F238E27FC236}">
                <a16:creationId xmlns:a16="http://schemas.microsoft.com/office/drawing/2014/main" id="{90242839-5827-40D4-AD04-B4783851D8EA}"/>
              </a:ext>
            </a:extLst>
          </p:cNvPr>
          <p:cNvGrpSpPr/>
          <p:nvPr/>
        </p:nvGrpSpPr>
        <p:grpSpPr>
          <a:xfrm>
            <a:off x="6037735" y="1261010"/>
            <a:ext cx="758008" cy="1311796"/>
            <a:chOff x="5998300" y="1436575"/>
            <a:chExt cx="758008" cy="1311796"/>
          </a:xfrm>
        </p:grpSpPr>
        <p:cxnSp>
          <p:nvCxnSpPr>
            <p:cNvPr id="102" name="Straight Connector 101">
              <a:extLst>
                <a:ext uri="{FF2B5EF4-FFF2-40B4-BE49-F238E27FC236}">
                  <a16:creationId xmlns:a16="http://schemas.microsoft.com/office/drawing/2014/main" id="{8C707E88-0234-3049-9720-BB38429FFFA4}"/>
                </a:ext>
              </a:extLst>
            </p:cNvPr>
            <p:cNvCxnSpPr>
              <a:cxnSpLocks/>
            </p:cNvCxnSpPr>
            <p:nvPr/>
          </p:nvCxnSpPr>
          <p:spPr bwMode="gray">
            <a:xfrm flipV="1">
              <a:off x="6368723" y="2382706"/>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864EDB15-3D8C-5644-B400-D256672F7452}"/>
                </a:ext>
              </a:extLst>
            </p:cNvPr>
            <p:cNvSpPr/>
            <p:nvPr/>
          </p:nvSpPr>
          <p:spPr>
            <a:xfrm>
              <a:off x="6128663"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08" name="Rounded Rectangle 36">
              <a:extLst>
                <a:ext uri="{FF2B5EF4-FFF2-40B4-BE49-F238E27FC236}">
                  <a16:creationId xmlns:a16="http://schemas.microsoft.com/office/drawing/2014/main" id="{FF10F398-E827-3B45-B440-6C99A1F765A9}"/>
                </a:ext>
              </a:extLst>
            </p:cNvPr>
            <p:cNvSpPr/>
            <p:nvPr/>
          </p:nvSpPr>
          <p:spPr>
            <a:xfrm>
              <a:off x="5998300"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b"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Threat Detection</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&amp; Response</a:t>
              </a:r>
            </a:p>
          </p:txBody>
        </p:sp>
        <p:grpSp>
          <p:nvGrpSpPr>
            <p:cNvPr id="161" name="Picture Placeholder 78" descr="Endpoint Threat Inspection&#10;">
              <a:extLst>
                <a:ext uri="{FF2B5EF4-FFF2-40B4-BE49-F238E27FC236}">
                  <a16:creationId xmlns:a16="http://schemas.microsoft.com/office/drawing/2014/main" id="{128F4861-50A1-8A44-8940-1A0016B70BE2}"/>
                </a:ext>
              </a:extLst>
            </p:cNvPr>
            <p:cNvGrpSpPr>
              <a:grpSpLocks noChangeAspect="1"/>
            </p:cNvGrpSpPr>
            <p:nvPr/>
          </p:nvGrpSpPr>
          <p:grpSpPr>
            <a:xfrm>
              <a:off x="6234047" y="2019839"/>
              <a:ext cx="274249" cy="240528"/>
              <a:chOff x="11084357" y="5738838"/>
              <a:chExt cx="594512" cy="521415"/>
            </a:xfrm>
            <a:solidFill>
              <a:schemeClr val="tx1"/>
            </a:solidFill>
          </p:grpSpPr>
          <p:sp>
            <p:nvSpPr>
              <p:cNvPr id="162" name="Picture Placeholder 78">
                <a:extLst>
                  <a:ext uri="{FF2B5EF4-FFF2-40B4-BE49-F238E27FC236}">
                    <a16:creationId xmlns:a16="http://schemas.microsoft.com/office/drawing/2014/main" id="{709578EB-A158-604A-AECF-5A407418C1D6}"/>
                  </a:ext>
                </a:extLst>
              </p:cNvPr>
              <p:cNvSpPr/>
              <p:nvPr/>
            </p:nvSpPr>
            <p:spPr>
              <a:xfrm>
                <a:off x="11155193"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3" name="Picture Placeholder 78">
                <a:extLst>
                  <a:ext uri="{FF2B5EF4-FFF2-40B4-BE49-F238E27FC236}">
                    <a16:creationId xmlns:a16="http://schemas.microsoft.com/office/drawing/2014/main" id="{75A1715F-1050-2243-87A7-791E6ABD2B01}"/>
                  </a:ext>
                </a:extLst>
              </p:cNvPr>
              <p:cNvSpPr/>
              <p:nvPr/>
            </p:nvSpPr>
            <p:spPr>
              <a:xfrm>
                <a:off x="11221601"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4" name="Picture Placeholder 78">
                <a:extLst>
                  <a:ext uri="{FF2B5EF4-FFF2-40B4-BE49-F238E27FC236}">
                    <a16:creationId xmlns:a16="http://schemas.microsoft.com/office/drawing/2014/main" id="{721576A7-4E5F-B942-ABA5-5938D487B82E}"/>
                  </a:ext>
                </a:extLst>
              </p:cNvPr>
              <p:cNvSpPr/>
              <p:nvPr/>
            </p:nvSpPr>
            <p:spPr>
              <a:xfrm>
                <a:off x="11288642"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5" name="Picture Placeholder 78">
                <a:extLst>
                  <a:ext uri="{FF2B5EF4-FFF2-40B4-BE49-F238E27FC236}">
                    <a16:creationId xmlns:a16="http://schemas.microsoft.com/office/drawing/2014/main" id="{020A6111-F6D4-8F4E-81C4-2C4E0BAD151F}"/>
                  </a:ext>
                </a:extLst>
              </p:cNvPr>
              <p:cNvSpPr/>
              <p:nvPr/>
            </p:nvSpPr>
            <p:spPr>
              <a:xfrm>
                <a:off x="11355050"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6" name="Picture Placeholder 78">
                <a:extLst>
                  <a:ext uri="{FF2B5EF4-FFF2-40B4-BE49-F238E27FC236}">
                    <a16:creationId xmlns:a16="http://schemas.microsoft.com/office/drawing/2014/main" id="{2634CBF3-8448-884E-B8B7-F10BEDC045ED}"/>
                  </a:ext>
                </a:extLst>
              </p:cNvPr>
              <p:cNvSpPr/>
              <p:nvPr/>
            </p:nvSpPr>
            <p:spPr>
              <a:xfrm>
                <a:off x="11421458"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7" name="Picture Placeholder 78">
                <a:extLst>
                  <a:ext uri="{FF2B5EF4-FFF2-40B4-BE49-F238E27FC236}">
                    <a16:creationId xmlns:a16="http://schemas.microsoft.com/office/drawing/2014/main" id="{F50F8BB7-DCAC-BF40-9B5A-E0C19D3206DA}"/>
                  </a:ext>
                </a:extLst>
              </p:cNvPr>
              <p:cNvSpPr/>
              <p:nvPr/>
            </p:nvSpPr>
            <p:spPr>
              <a:xfrm>
                <a:off x="11270928" y="6135583"/>
                <a:ext cx="221466" cy="123586"/>
              </a:xfrm>
              <a:custGeom>
                <a:avLst/>
                <a:gdLst>
                  <a:gd name="connsiteX0" fmla="*/ 216306 w 221466"/>
                  <a:gd name="connsiteY0" fmla="*/ 100137 h 123586"/>
                  <a:gd name="connsiteX1" fmla="*/ 169504 w 221466"/>
                  <a:gd name="connsiteY1" fmla="*/ 78589 h 123586"/>
                  <a:gd name="connsiteX2" fmla="*/ 161915 w 221466"/>
                  <a:gd name="connsiteY2" fmla="*/ 0 h 123586"/>
                  <a:gd name="connsiteX3" fmla="*/ 146103 w 221466"/>
                  <a:gd name="connsiteY3" fmla="*/ 0 h 123586"/>
                  <a:gd name="connsiteX4" fmla="*/ 154325 w 221466"/>
                  <a:gd name="connsiteY4" fmla="*/ 89996 h 123586"/>
                  <a:gd name="connsiteX5" fmla="*/ 158752 w 221466"/>
                  <a:gd name="connsiteY5" fmla="*/ 91898 h 123586"/>
                  <a:gd name="connsiteX6" fmla="*/ 196700 w 221466"/>
                  <a:gd name="connsiteY6" fmla="*/ 107742 h 123586"/>
                  <a:gd name="connsiteX7" fmla="*/ 24671 w 221466"/>
                  <a:gd name="connsiteY7" fmla="*/ 107742 h 123586"/>
                  <a:gd name="connsiteX8" fmla="*/ 62618 w 221466"/>
                  <a:gd name="connsiteY8" fmla="*/ 91898 h 123586"/>
                  <a:gd name="connsiteX9" fmla="*/ 67046 w 221466"/>
                  <a:gd name="connsiteY9" fmla="*/ 89996 h 123586"/>
                  <a:gd name="connsiteX10" fmla="*/ 78430 w 221466"/>
                  <a:gd name="connsiteY10" fmla="*/ 0 h 123586"/>
                  <a:gd name="connsiteX11" fmla="*/ 62618 w 221466"/>
                  <a:gd name="connsiteY11" fmla="*/ 0 h 123586"/>
                  <a:gd name="connsiteX12" fmla="*/ 52499 w 221466"/>
                  <a:gd name="connsiteY12" fmla="*/ 78589 h 123586"/>
                  <a:gd name="connsiteX13" fmla="*/ 5697 w 221466"/>
                  <a:gd name="connsiteY13" fmla="*/ 100137 h 123586"/>
                  <a:gd name="connsiteX14" fmla="*/ 637 w 221466"/>
                  <a:gd name="connsiteY14" fmla="*/ 114714 h 123586"/>
                  <a:gd name="connsiteX15" fmla="*/ 12654 w 221466"/>
                  <a:gd name="connsiteY15" fmla="*/ 123587 h 123586"/>
                  <a:gd name="connsiteX16" fmla="*/ 208717 w 221466"/>
                  <a:gd name="connsiteY16" fmla="*/ 123587 h 123586"/>
                  <a:gd name="connsiteX17" fmla="*/ 220733 w 221466"/>
                  <a:gd name="connsiteY17" fmla="*/ 114714 h 123586"/>
                  <a:gd name="connsiteX18" fmla="*/ 216306 w 221466"/>
                  <a:gd name="connsiteY18" fmla="*/ 100137 h 12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1466" h="123586">
                    <a:moveTo>
                      <a:pt x="216306" y="100137"/>
                    </a:moveTo>
                    <a:cubicBezTo>
                      <a:pt x="206187" y="93165"/>
                      <a:pt x="180888" y="83025"/>
                      <a:pt x="169504" y="78589"/>
                    </a:cubicBezTo>
                    <a:lnTo>
                      <a:pt x="161915" y="0"/>
                    </a:lnTo>
                    <a:lnTo>
                      <a:pt x="146103" y="0"/>
                    </a:lnTo>
                    <a:lnTo>
                      <a:pt x="154325" y="89996"/>
                    </a:lnTo>
                    <a:lnTo>
                      <a:pt x="158752" y="91898"/>
                    </a:lnTo>
                    <a:cubicBezTo>
                      <a:pt x="166342" y="95067"/>
                      <a:pt x="184683" y="102038"/>
                      <a:pt x="196700" y="107742"/>
                    </a:cubicBezTo>
                    <a:lnTo>
                      <a:pt x="24671" y="107742"/>
                    </a:lnTo>
                    <a:cubicBezTo>
                      <a:pt x="36688" y="102038"/>
                      <a:pt x="55029" y="94433"/>
                      <a:pt x="62618" y="91898"/>
                    </a:cubicBezTo>
                    <a:lnTo>
                      <a:pt x="67046" y="89996"/>
                    </a:lnTo>
                    <a:lnTo>
                      <a:pt x="78430" y="0"/>
                    </a:lnTo>
                    <a:lnTo>
                      <a:pt x="62618" y="0"/>
                    </a:lnTo>
                    <a:lnTo>
                      <a:pt x="52499" y="78589"/>
                    </a:lnTo>
                    <a:cubicBezTo>
                      <a:pt x="41747" y="83025"/>
                      <a:pt x="15816" y="93165"/>
                      <a:pt x="5697" y="100137"/>
                    </a:cubicBezTo>
                    <a:cubicBezTo>
                      <a:pt x="1270" y="103306"/>
                      <a:pt x="-1260" y="109010"/>
                      <a:pt x="637" y="114714"/>
                    </a:cubicBezTo>
                    <a:cubicBezTo>
                      <a:pt x="2535" y="119784"/>
                      <a:pt x="6962" y="123587"/>
                      <a:pt x="12654" y="123587"/>
                    </a:cubicBezTo>
                    <a:lnTo>
                      <a:pt x="208717" y="123587"/>
                    </a:lnTo>
                    <a:cubicBezTo>
                      <a:pt x="214409" y="123587"/>
                      <a:pt x="218836" y="119784"/>
                      <a:pt x="220733" y="114714"/>
                    </a:cubicBezTo>
                    <a:cubicBezTo>
                      <a:pt x="222631" y="109644"/>
                      <a:pt x="220733" y="103940"/>
                      <a:pt x="216306" y="10013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8" name="Picture Placeholder 78">
                <a:extLst>
                  <a:ext uri="{FF2B5EF4-FFF2-40B4-BE49-F238E27FC236}">
                    <a16:creationId xmlns:a16="http://schemas.microsoft.com/office/drawing/2014/main" id="{18EF9529-74A9-E441-B844-D819972AC0BF}"/>
                  </a:ext>
                </a:extLst>
              </p:cNvPr>
              <p:cNvSpPr/>
              <p:nvPr/>
            </p:nvSpPr>
            <p:spPr>
              <a:xfrm>
                <a:off x="11084357" y="5738838"/>
                <a:ext cx="594512" cy="380266"/>
              </a:xfrm>
              <a:custGeom>
                <a:avLst/>
                <a:gdLst>
                  <a:gd name="connsiteX0" fmla="*/ 562257 w 594512"/>
                  <a:gd name="connsiteY0" fmla="*/ 15844 h 380266"/>
                  <a:gd name="connsiteX1" fmla="*/ 578701 w 594512"/>
                  <a:gd name="connsiteY1" fmla="*/ 31055 h 380266"/>
                  <a:gd name="connsiteX2" fmla="*/ 578701 w 594512"/>
                  <a:gd name="connsiteY2" fmla="*/ 350479 h 380266"/>
                  <a:gd name="connsiteX3" fmla="*/ 563522 w 594512"/>
                  <a:gd name="connsiteY3" fmla="*/ 364423 h 380266"/>
                  <a:gd name="connsiteX4" fmla="*/ 29726 w 594512"/>
                  <a:gd name="connsiteY4" fmla="*/ 364423 h 380266"/>
                  <a:gd name="connsiteX5" fmla="*/ 15812 w 594512"/>
                  <a:gd name="connsiteY5" fmla="*/ 351747 h 380266"/>
                  <a:gd name="connsiteX6" fmla="*/ 15812 w 594512"/>
                  <a:gd name="connsiteY6" fmla="*/ 28520 h 380266"/>
                  <a:gd name="connsiteX7" fmla="*/ 29726 w 594512"/>
                  <a:gd name="connsiteY7" fmla="*/ 15844 h 380266"/>
                  <a:gd name="connsiteX8" fmla="*/ 562257 w 594512"/>
                  <a:gd name="connsiteY8" fmla="*/ 15844 h 380266"/>
                  <a:gd name="connsiteX9" fmla="*/ 562257 w 594512"/>
                  <a:gd name="connsiteY9" fmla="*/ 0 h 380266"/>
                  <a:gd name="connsiteX10" fmla="*/ 29726 w 594512"/>
                  <a:gd name="connsiteY10" fmla="*/ 0 h 380266"/>
                  <a:gd name="connsiteX11" fmla="*/ 0 w 594512"/>
                  <a:gd name="connsiteY11" fmla="*/ 28520 h 380266"/>
                  <a:gd name="connsiteX12" fmla="*/ 0 w 594512"/>
                  <a:gd name="connsiteY12" fmla="*/ 351747 h 380266"/>
                  <a:gd name="connsiteX13" fmla="*/ 29726 w 594512"/>
                  <a:gd name="connsiteY13" fmla="*/ 380267 h 380266"/>
                  <a:gd name="connsiteX14" fmla="*/ 563522 w 594512"/>
                  <a:gd name="connsiteY14" fmla="*/ 380267 h 380266"/>
                  <a:gd name="connsiteX15" fmla="*/ 594512 w 594512"/>
                  <a:gd name="connsiteY15" fmla="*/ 350479 h 380266"/>
                  <a:gd name="connsiteX16" fmla="*/ 594512 w 594512"/>
                  <a:gd name="connsiteY16" fmla="*/ 31055 h 380266"/>
                  <a:gd name="connsiteX17" fmla="*/ 562257 w 594512"/>
                  <a:gd name="connsiteY17" fmla="*/ 0 h 380266"/>
                  <a:gd name="connsiteX18" fmla="*/ 562257 w 594512"/>
                  <a:gd name="connsiteY18" fmla="*/ 0 h 380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94512" h="380266">
                    <a:moveTo>
                      <a:pt x="562257" y="15844"/>
                    </a:moveTo>
                    <a:cubicBezTo>
                      <a:pt x="571111" y="15844"/>
                      <a:pt x="578701" y="22816"/>
                      <a:pt x="578701" y="31055"/>
                    </a:cubicBezTo>
                    <a:lnTo>
                      <a:pt x="578701" y="350479"/>
                    </a:lnTo>
                    <a:cubicBezTo>
                      <a:pt x="578701" y="358085"/>
                      <a:pt x="571744" y="364423"/>
                      <a:pt x="563522" y="364423"/>
                    </a:cubicBezTo>
                    <a:lnTo>
                      <a:pt x="29726" y="364423"/>
                    </a:lnTo>
                    <a:cubicBezTo>
                      <a:pt x="22136" y="364423"/>
                      <a:pt x="15812" y="358719"/>
                      <a:pt x="15812" y="351747"/>
                    </a:cubicBezTo>
                    <a:lnTo>
                      <a:pt x="15812" y="28520"/>
                    </a:lnTo>
                    <a:cubicBezTo>
                      <a:pt x="15812" y="21548"/>
                      <a:pt x="22136" y="15844"/>
                      <a:pt x="29726" y="15844"/>
                    </a:cubicBezTo>
                    <a:lnTo>
                      <a:pt x="562257" y="15844"/>
                    </a:lnTo>
                    <a:moveTo>
                      <a:pt x="562257" y="0"/>
                    </a:moveTo>
                    <a:lnTo>
                      <a:pt x="29726" y="0"/>
                    </a:lnTo>
                    <a:cubicBezTo>
                      <a:pt x="13282" y="0"/>
                      <a:pt x="0" y="12676"/>
                      <a:pt x="0" y="28520"/>
                    </a:cubicBezTo>
                    <a:lnTo>
                      <a:pt x="0" y="351747"/>
                    </a:lnTo>
                    <a:cubicBezTo>
                      <a:pt x="0" y="367591"/>
                      <a:pt x="13282" y="380267"/>
                      <a:pt x="29726" y="380267"/>
                    </a:cubicBezTo>
                    <a:lnTo>
                      <a:pt x="563522" y="380267"/>
                    </a:lnTo>
                    <a:cubicBezTo>
                      <a:pt x="580598" y="380267"/>
                      <a:pt x="594512" y="366958"/>
                      <a:pt x="594512" y="350479"/>
                    </a:cubicBezTo>
                    <a:lnTo>
                      <a:pt x="594512" y="31055"/>
                    </a:lnTo>
                    <a:cubicBezTo>
                      <a:pt x="594512" y="13943"/>
                      <a:pt x="579966" y="0"/>
                      <a:pt x="562257" y="0"/>
                    </a:cubicBezTo>
                    <a:lnTo>
                      <a:pt x="562257"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169" name="Picture Placeholder 78">
                <a:extLst>
                  <a:ext uri="{FF2B5EF4-FFF2-40B4-BE49-F238E27FC236}">
                    <a16:creationId xmlns:a16="http://schemas.microsoft.com/office/drawing/2014/main" id="{BE8C3796-ACB5-EB4F-86B9-1AEF6BD6F8C7}"/>
                  </a:ext>
                </a:extLst>
              </p:cNvPr>
              <p:cNvGrpSpPr/>
              <p:nvPr/>
            </p:nvGrpSpPr>
            <p:grpSpPr>
              <a:xfrm>
                <a:off x="11121040" y="5796511"/>
                <a:ext cx="299786" cy="33024"/>
                <a:chOff x="11121040" y="5796511"/>
                <a:chExt cx="299786" cy="33024"/>
              </a:xfrm>
              <a:grpFill/>
            </p:grpSpPr>
            <p:sp>
              <p:nvSpPr>
                <p:cNvPr id="189" name="Picture Placeholder 78">
                  <a:extLst>
                    <a:ext uri="{FF2B5EF4-FFF2-40B4-BE49-F238E27FC236}">
                      <a16:creationId xmlns:a16="http://schemas.microsoft.com/office/drawing/2014/main" id="{0D6BF630-9D26-B04C-93F2-E3C8977C203B}"/>
                    </a:ext>
                  </a:extLst>
                </p:cNvPr>
                <p:cNvSpPr/>
                <p:nvPr/>
              </p:nvSpPr>
              <p:spPr>
                <a:xfrm>
                  <a:off x="11121040"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0" name="Picture Placeholder 78">
                  <a:extLst>
                    <a:ext uri="{FF2B5EF4-FFF2-40B4-BE49-F238E27FC236}">
                      <a16:creationId xmlns:a16="http://schemas.microsoft.com/office/drawing/2014/main" id="{99737C9B-5AEE-0D4F-B329-8F5B476E6295}"/>
                    </a:ext>
                  </a:extLst>
                </p:cNvPr>
                <p:cNvSpPr/>
                <p:nvPr/>
              </p:nvSpPr>
              <p:spPr>
                <a:xfrm>
                  <a:off x="11188081"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1" name="Picture Placeholder 78">
                  <a:extLst>
                    <a:ext uri="{FF2B5EF4-FFF2-40B4-BE49-F238E27FC236}">
                      <a16:creationId xmlns:a16="http://schemas.microsoft.com/office/drawing/2014/main" id="{5C940A13-D316-CE42-BE90-0B1EA3626037}"/>
                    </a:ext>
                  </a:extLst>
                </p:cNvPr>
                <p:cNvSpPr/>
                <p:nvPr/>
              </p:nvSpPr>
              <p:spPr>
                <a:xfrm>
                  <a:off x="11254489"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2" name="Picture Placeholder 78">
                  <a:extLst>
                    <a:ext uri="{FF2B5EF4-FFF2-40B4-BE49-F238E27FC236}">
                      <a16:creationId xmlns:a16="http://schemas.microsoft.com/office/drawing/2014/main" id="{2E4BD63A-88FE-314C-919F-238F4A3C858C}"/>
                    </a:ext>
                  </a:extLst>
                </p:cNvPr>
                <p:cNvSpPr/>
                <p:nvPr/>
              </p:nvSpPr>
              <p:spPr>
                <a:xfrm>
                  <a:off x="11320897"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3" name="Picture Placeholder 78">
                  <a:extLst>
                    <a:ext uri="{FF2B5EF4-FFF2-40B4-BE49-F238E27FC236}">
                      <a16:creationId xmlns:a16="http://schemas.microsoft.com/office/drawing/2014/main" id="{479D17B8-00A0-EB4C-80A2-6D06CFC6F826}"/>
                    </a:ext>
                  </a:extLst>
                </p:cNvPr>
                <p:cNvSpPr/>
                <p:nvPr/>
              </p:nvSpPr>
              <p:spPr>
                <a:xfrm>
                  <a:off x="11387938"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70" name="Picture Placeholder 78">
                <a:extLst>
                  <a:ext uri="{FF2B5EF4-FFF2-40B4-BE49-F238E27FC236}">
                    <a16:creationId xmlns:a16="http://schemas.microsoft.com/office/drawing/2014/main" id="{EEB8FF25-17BC-8B41-960B-D4C93023164E}"/>
                  </a:ext>
                </a:extLst>
              </p:cNvPr>
              <p:cNvGrpSpPr/>
              <p:nvPr/>
            </p:nvGrpSpPr>
            <p:grpSpPr>
              <a:xfrm>
                <a:off x="11121040" y="5912493"/>
                <a:ext cx="369356" cy="33024"/>
                <a:chOff x="11121040" y="5912493"/>
                <a:chExt cx="369356" cy="33024"/>
              </a:xfrm>
              <a:grpFill/>
            </p:grpSpPr>
            <p:sp>
              <p:nvSpPr>
                <p:cNvPr id="183" name="Picture Placeholder 78">
                  <a:extLst>
                    <a:ext uri="{FF2B5EF4-FFF2-40B4-BE49-F238E27FC236}">
                      <a16:creationId xmlns:a16="http://schemas.microsoft.com/office/drawing/2014/main" id="{02F9BBDD-92D9-0B46-BCF3-160528D065D5}"/>
                    </a:ext>
                  </a:extLst>
                </p:cNvPr>
                <p:cNvSpPr/>
                <p:nvPr/>
              </p:nvSpPr>
              <p:spPr>
                <a:xfrm>
                  <a:off x="11121040"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4" name="Picture Placeholder 78">
                  <a:extLst>
                    <a:ext uri="{FF2B5EF4-FFF2-40B4-BE49-F238E27FC236}">
                      <a16:creationId xmlns:a16="http://schemas.microsoft.com/office/drawing/2014/main" id="{5B78B7F2-5148-7342-A4B4-A5E75B114F71}"/>
                    </a:ext>
                  </a:extLst>
                </p:cNvPr>
                <p:cNvSpPr/>
                <p:nvPr/>
              </p:nvSpPr>
              <p:spPr>
                <a:xfrm>
                  <a:off x="11188081"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5" name="Picture Placeholder 78">
                  <a:extLst>
                    <a:ext uri="{FF2B5EF4-FFF2-40B4-BE49-F238E27FC236}">
                      <a16:creationId xmlns:a16="http://schemas.microsoft.com/office/drawing/2014/main" id="{D33B76CA-29D6-CE48-AD98-E70835A1D113}"/>
                    </a:ext>
                  </a:extLst>
                </p:cNvPr>
                <p:cNvSpPr/>
                <p:nvPr/>
              </p:nvSpPr>
              <p:spPr>
                <a:xfrm>
                  <a:off x="11254489"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6" name="Picture Placeholder 78">
                  <a:extLst>
                    <a:ext uri="{FF2B5EF4-FFF2-40B4-BE49-F238E27FC236}">
                      <a16:creationId xmlns:a16="http://schemas.microsoft.com/office/drawing/2014/main" id="{C398AD94-CDB2-7246-B96A-B69E3B80A4E1}"/>
                    </a:ext>
                  </a:extLst>
                </p:cNvPr>
                <p:cNvSpPr/>
                <p:nvPr/>
              </p:nvSpPr>
              <p:spPr>
                <a:xfrm>
                  <a:off x="11320897"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7" name="Picture Placeholder 78">
                  <a:extLst>
                    <a:ext uri="{FF2B5EF4-FFF2-40B4-BE49-F238E27FC236}">
                      <a16:creationId xmlns:a16="http://schemas.microsoft.com/office/drawing/2014/main" id="{AA08A017-7B71-174E-B638-868FCF68381E}"/>
                    </a:ext>
                  </a:extLst>
                </p:cNvPr>
                <p:cNvSpPr/>
                <p:nvPr/>
              </p:nvSpPr>
              <p:spPr>
                <a:xfrm>
                  <a:off x="11387938"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8" name="Picture Placeholder 78">
                  <a:extLst>
                    <a:ext uri="{FF2B5EF4-FFF2-40B4-BE49-F238E27FC236}">
                      <a16:creationId xmlns:a16="http://schemas.microsoft.com/office/drawing/2014/main" id="{FB9F8E52-6E09-E543-9B63-54D61C02A5A4}"/>
                    </a:ext>
                  </a:extLst>
                </p:cNvPr>
                <p:cNvSpPr/>
                <p:nvPr/>
              </p:nvSpPr>
              <p:spPr>
                <a:xfrm>
                  <a:off x="11457509"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71" name="Picture Placeholder 78">
                <a:extLst>
                  <a:ext uri="{FF2B5EF4-FFF2-40B4-BE49-F238E27FC236}">
                    <a16:creationId xmlns:a16="http://schemas.microsoft.com/office/drawing/2014/main" id="{EC33BBFE-E00E-2E44-9F3B-F23C1CB32D7D}"/>
                  </a:ext>
                </a:extLst>
              </p:cNvPr>
              <p:cNvGrpSpPr/>
              <p:nvPr/>
            </p:nvGrpSpPr>
            <p:grpSpPr>
              <a:xfrm>
                <a:off x="11121040" y="6028474"/>
                <a:ext cx="299786" cy="33024"/>
                <a:chOff x="11121040" y="6028474"/>
                <a:chExt cx="299786" cy="33024"/>
              </a:xfrm>
              <a:grpFill/>
            </p:grpSpPr>
            <p:sp>
              <p:nvSpPr>
                <p:cNvPr id="178" name="Picture Placeholder 78">
                  <a:extLst>
                    <a:ext uri="{FF2B5EF4-FFF2-40B4-BE49-F238E27FC236}">
                      <a16:creationId xmlns:a16="http://schemas.microsoft.com/office/drawing/2014/main" id="{593AFC38-639E-D44C-907E-F965C7893BDA}"/>
                    </a:ext>
                  </a:extLst>
                </p:cNvPr>
                <p:cNvSpPr/>
                <p:nvPr/>
              </p:nvSpPr>
              <p:spPr>
                <a:xfrm>
                  <a:off x="11121040"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9" name="Picture Placeholder 78">
                  <a:extLst>
                    <a:ext uri="{FF2B5EF4-FFF2-40B4-BE49-F238E27FC236}">
                      <a16:creationId xmlns:a16="http://schemas.microsoft.com/office/drawing/2014/main" id="{289ABDDF-2095-CD4D-9BD1-6793E90C217B}"/>
                    </a:ext>
                  </a:extLst>
                </p:cNvPr>
                <p:cNvSpPr/>
                <p:nvPr/>
              </p:nvSpPr>
              <p:spPr>
                <a:xfrm>
                  <a:off x="11188081"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0" name="Picture Placeholder 78">
                  <a:extLst>
                    <a:ext uri="{FF2B5EF4-FFF2-40B4-BE49-F238E27FC236}">
                      <a16:creationId xmlns:a16="http://schemas.microsoft.com/office/drawing/2014/main" id="{5896ADF3-F882-2D4B-906A-BDCF63CA583A}"/>
                    </a:ext>
                  </a:extLst>
                </p:cNvPr>
                <p:cNvSpPr/>
                <p:nvPr/>
              </p:nvSpPr>
              <p:spPr>
                <a:xfrm>
                  <a:off x="11254489"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1" name="Picture Placeholder 78">
                  <a:extLst>
                    <a:ext uri="{FF2B5EF4-FFF2-40B4-BE49-F238E27FC236}">
                      <a16:creationId xmlns:a16="http://schemas.microsoft.com/office/drawing/2014/main" id="{E432EF72-E400-6348-B00B-78254F5C637C}"/>
                    </a:ext>
                  </a:extLst>
                </p:cNvPr>
                <p:cNvSpPr/>
                <p:nvPr/>
              </p:nvSpPr>
              <p:spPr>
                <a:xfrm>
                  <a:off x="11320897"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2" name="Picture Placeholder 78">
                  <a:extLst>
                    <a:ext uri="{FF2B5EF4-FFF2-40B4-BE49-F238E27FC236}">
                      <a16:creationId xmlns:a16="http://schemas.microsoft.com/office/drawing/2014/main" id="{D26FC5FD-8D96-FA46-B13B-A182D23842BB}"/>
                    </a:ext>
                  </a:extLst>
                </p:cNvPr>
                <p:cNvSpPr/>
                <p:nvPr/>
              </p:nvSpPr>
              <p:spPr>
                <a:xfrm>
                  <a:off x="11387938"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72" name="Picture Placeholder 78">
                <a:extLst>
                  <a:ext uri="{FF2B5EF4-FFF2-40B4-BE49-F238E27FC236}">
                    <a16:creationId xmlns:a16="http://schemas.microsoft.com/office/drawing/2014/main" id="{08592F0D-43B5-424F-AFC7-21496A8A9DAB}"/>
                  </a:ext>
                </a:extLst>
              </p:cNvPr>
              <p:cNvGrpSpPr/>
              <p:nvPr/>
            </p:nvGrpSpPr>
            <p:grpSpPr>
              <a:xfrm>
                <a:off x="11155193" y="5854819"/>
                <a:ext cx="299153" cy="33024"/>
                <a:chOff x="11155193" y="5854819"/>
                <a:chExt cx="299153" cy="33024"/>
              </a:xfrm>
              <a:grpFill/>
            </p:grpSpPr>
            <p:sp>
              <p:nvSpPr>
                <p:cNvPr id="173" name="Picture Placeholder 78">
                  <a:extLst>
                    <a:ext uri="{FF2B5EF4-FFF2-40B4-BE49-F238E27FC236}">
                      <a16:creationId xmlns:a16="http://schemas.microsoft.com/office/drawing/2014/main" id="{AED8E92E-41E2-B942-863D-C6EDABCECD88}"/>
                    </a:ext>
                  </a:extLst>
                </p:cNvPr>
                <p:cNvSpPr/>
                <p:nvPr/>
              </p:nvSpPr>
              <p:spPr>
                <a:xfrm>
                  <a:off x="11155193"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4" name="Picture Placeholder 78">
                  <a:extLst>
                    <a:ext uri="{FF2B5EF4-FFF2-40B4-BE49-F238E27FC236}">
                      <a16:creationId xmlns:a16="http://schemas.microsoft.com/office/drawing/2014/main" id="{478B3B28-4C30-DA40-996F-7868A81283D4}"/>
                    </a:ext>
                  </a:extLst>
                </p:cNvPr>
                <p:cNvSpPr/>
                <p:nvPr/>
              </p:nvSpPr>
              <p:spPr>
                <a:xfrm>
                  <a:off x="11221601"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5" name="Picture Placeholder 78">
                  <a:extLst>
                    <a:ext uri="{FF2B5EF4-FFF2-40B4-BE49-F238E27FC236}">
                      <a16:creationId xmlns:a16="http://schemas.microsoft.com/office/drawing/2014/main" id="{567209E7-A643-844B-A91B-49CEE77E8718}"/>
                    </a:ext>
                  </a:extLst>
                </p:cNvPr>
                <p:cNvSpPr/>
                <p:nvPr/>
              </p:nvSpPr>
              <p:spPr>
                <a:xfrm>
                  <a:off x="11288642"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6" name="Picture Placeholder 78">
                  <a:extLst>
                    <a:ext uri="{FF2B5EF4-FFF2-40B4-BE49-F238E27FC236}">
                      <a16:creationId xmlns:a16="http://schemas.microsoft.com/office/drawing/2014/main" id="{F0191E82-8A0C-0241-BAAF-149224D6FFD3}"/>
                    </a:ext>
                  </a:extLst>
                </p:cNvPr>
                <p:cNvSpPr/>
                <p:nvPr/>
              </p:nvSpPr>
              <p:spPr>
                <a:xfrm>
                  <a:off x="11355050"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7" name="Picture Placeholder 78">
                  <a:extLst>
                    <a:ext uri="{FF2B5EF4-FFF2-40B4-BE49-F238E27FC236}">
                      <a16:creationId xmlns:a16="http://schemas.microsoft.com/office/drawing/2014/main" id="{08DB18C9-560B-AE49-A465-2716EC842C2D}"/>
                    </a:ext>
                  </a:extLst>
                </p:cNvPr>
                <p:cNvSpPr/>
                <p:nvPr/>
              </p:nvSpPr>
              <p:spPr>
                <a:xfrm>
                  <a:off x="11421458"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37" name="Group 36">
            <a:extLst>
              <a:ext uri="{FF2B5EF4-FFF2-40B4-BE49-F238E27FC236}">
                <a16:creationId xmlns:a16="http://schemas.microsoft.com/office/drawing/2014/main" id="{E1003D7A-15C9-4049-8821-416C99725189}"/>
              </a:ext>
            </a:extLst>
          </p:cNvPr>
          <p:cNvGrpSpPr/>
          <p:nvPr/>
        </p:nvGrpSpPr>
        <p:grpSpPr>
          <a:xfrm>
            <a:off x="7700951" y="3527622"/>
            <a:ext cx="758008" cy="2475217"/>
            <a:chOff x="7258991" y="3703187"/>
            <a:chExt cx="758008" cy="2475217"/>
          </a:xfrm>
        </p:grpSpPr>
        <p:cxnSp>
          <p:nvCxnSpPr>
            <p:cNvPr id="121" name="Straight Connector 120">
              <a:extLst>
                <a:ext uri="{FF2B5EF4-FFF2-40B4-BE49-F238E27FC236}">
                  <a16:creationId xmlns:a16="http://schemas.microsoft.com/office/drawing/2014/main" id="{A412821E-50F6-2F43-AEA2-5F74BD5BBD76}"/>
                </a:ext>
              </a:extLst>
            </p:cNvPr>
            <p:cNvCxnSpPr>
              <a:cxnSpLocks/>
            </p:cNvCxnSpPr>
            <p:nvPr/>
          </p:nvCxnSpPr>
          <p:spPr bwMode="gray">
            <a:xfrm>
              <a:off x="763922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2" name="Oval 121">
              <a:extLst>
                <a:ext uri="{FF2B5EF4-FFF2-40B4-BE49-F238E27FC236}">
                  <a16:creationId xmlns:a16="http://schemas.microsoft.com/office/drawing/2014/main" id="{5841B18E-1AB5-0246-95B3-33EEAB5DC164}"/>
                </a:ext>
              </a:extLst>
            </p:cNvPr>
            <p:cNvSpPr/>
            <p:nvPr/>
          </p:nvSpPr>
          <p:spPr>
            <a:xfrm rot="10800000">
              <a:off x="7399165"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33" name="Rounded Rectangle 38">
              <a:extLst>
                <a:ext uri="{FF2B5EF4-FFF2-40B4-BE49-F238E27FC236}">
                  <a16:creationId xmlns:a16="http://schemas.microsoft.com/office/drawing/2014/main" id="{2293FB2A-140E-7A41-B6F9-1A32FD4C951B}"/>
                </a:ext>
              </a:extLst>
            </p:cNvPr>
            <p:cNvSpPr/>
            <p:nvPr/>
          </p:nvSpPr>
          <p:spPr>
            <a:xfrm>
              <a:off x="7258991"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Workload</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Clustering</a:t>
              </a:r>
            </a:p>
          </p:txBody>
        </p:sp>
        <p:pic>
          <p:nvPicPr>
            <p:cNvPr id="195" name="Picture Placeholder 88">
              <a:extLst>
                <a:ext uri="{FF2B5EF4-FFF2-40B4-BE49-F238E27FC236}">
                  <a16:creationId xmlns:a16="http://schemas.microsoft.com/office/drawing/2014/main" id="{D0ABC2BF-50B9-FD4B-BB1C-547547359FFE}"/>
                </a:ext>
              </a:extLst>
            </p:cNvPr>
            <p:cNvPicPr>
              <a:picLocks noChangeAspect="1"/>
            </p:cNvPicPr>
            <p:nvPr/>
          </p:nvPicPr>
          <p:blipFill>
            <a:blip r:embed="rId13">
              <a:extLst>
                <a:ext uri="{96DAC541-7B7A-43D3-8B79-37D633B846F1}">
                  <asvg:svgBlip xmlns:asvg="http://schemas.microsoft.com/office/drawing/2016/SVG/main" r:embed="rId14"/>
                </a:ext>
              </a:extLst>
            </a:blip>
            <a:srcRect t="104" b="104"/>
            <a:stretch>
              <a:fillRect/>
            </a:stretch>
          </p:blipFill>
          <p:spPr>
            <a:xfrm>
              <a:off x="7448781" y="5286952"/>
              <a:ext cx="422800" cy="421921"/>
            </a:xfrm>
            <a:prstGeom prst="rect">
              <a:avLst/>
            </a:prstGeom>
          </p:spPr>
        </p:pic>
      </p:grpSp>
      <p:grpSp>
        <p:nvGrpSpPr>
          <p:cNvPr id="11" name="Group 10">
            <a:extLst>
              <a:ext uri="{FF2B5EF4-FFF2-40B4-BE49-F238E27FC236}">
                <a16:creationId xmlns:a16="http://schemas.microsoft.com/office/drawing/2014/main" id="{CA7E1A42-78DF-4B8B-BF1E-4EE2E723D76C}"/>
              </a:ext>
            </a:extLst>
          </p:cNvPr>
          <p:cNvGrpSpPr/>
          <p:nvPr/>
        </p:nvGrpSpPr>
        <p:grpSpPr>
          <a:xfrm>
            <a:off x="766345" y="1191740"/>
            <a:ext cx="758008" cy="1381066"/>
            <a:chOff x="766345" y="1367305"/>
            <a:chExt cx="758008" cy="1381066"/>
          </a:xfrm>
        </p:grpSpPr>
        <p:cxnSp>
          <p:nvCxnSpPr>
            <p:cNvPr id="50" name="Straight Connector 49">
              <a:extLst>
                <a:ext uri="{FF2B5EF4-FFF2-40B4-BE49-F238E27FC236}">
                  <a16:creationId xmlns:a16="http://schemas.microsoft.com/office/drawing/2014/main" id="{A0E94F8C-10BB-8C48-BF17-12BE975B3A2B}"/>
                </a:ext>
              </a:extLst>
            </p:cNvPr>
            <p:cNvCxnSpPr>
              <a:cxnSpLocks/>
            </p:cNvCxnSpPr>
            <p:nvPr/>
          </p:nvCxnSpPr>
          <p:spPr bwMode="gray">
            <a:xfrm flipV="1">
              <a:off x="1145346" y="2382706"/>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8607EC25-A243-5841-8409-9050FF5E09CD}"/>
                </a:ext>
              </a:extLst>
            </p:cNvPr>
            <p:cNvSpPr/>
            <p:nvPr/>
          </p:nvSpPr>
          <p:spPr>
            <a:xfrm>
              <a:off x="905286"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54" name="Rounded Rectangle 37">
              <a:extLst>
                <a:ext uri="{FF2B5EF4-FFF2-40B4-BE49-F238E27FC236}">
                  <a16:creationId xmlns:a16="http://schemas.microsoft.com/office/drawing/2014/main" id="{FA6C039C-44D4-7A40-9CA2-7A737FC8D398}"/>
                </a:ext>
              </a:extLst>
            </p:cNvPr>
            <p:cNvSpPr/>
            <p:nvPr/>
          </p:nvSpPr>
          <p:spPr>
            <a:xfrm>
              <a:off x="766345" y="136730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endParaRP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Dependency</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Mapping</a:t>
              </a:r>
            </a:p>
          </p:txBody>
        </p:sp>
        <p:pic>
          <p:nvPicPr>
            <p:cNvPr id="196" name="Picture Placeholder 93">
              <a:extLst>
                <a:ext uri="{FF2B5EF4-FFF2-40B4-BE49-F238E27FC236}">
                  <a16:creationId xmlns:a16="http://schemas.microsoft.com/office/drawing/2014/main" id="{2B34344A-04DD-0147-B005-208C80337AB9}"/>
                </a:ext>
              </a:extLst>
            </p:cNvPr>
            <p:cNvPicPr>
              <a:picLocks noChangeAspect="1"/>
            </p:cNvPicPr>
            <p:nvPr/>
          </p:nvPicPr>
          <p:blipFill>
            <a:blip r:embed="rId15">
              <a:extLst>
                <a:ext uri="{96DAC541-7B7A-43D3-8B79-37D633B846F1}">
                  <asvg:svgBlip xmlns:asvg="http://schemas.microsoft.com/office/drawing/2016/SVG/main" r:embed="rId16"/>
                </a:ext>
              </a:extLst>
            </a:blip>
            <a:srcRect l="104" r="104"/>
            <a:stretch>
              <a:fillRect/>
            </a:stretch>
          </p:blipFill>
          <p:spPr>
            <a:xfrm>
              <a:off x="952411" y="1941655"/>
              <a:ext cx="396896" cy="396896"/>
            </a:xfrm>
            <a:prstGeom prst="rect">
              <a:avLst/>
            </a:prstGeom>
          </p:spPr>
        </p:pic>
      </p:grpSp>
      <p:grpSp>
        <p:nvGrpSpPr>
          <p:cNvPr id="25" name="Group 24">
            <a:extLst>
              <a:ext uri="{FF2B5EF4-FFF2-40B4-BE49-F238E27FC236}">
                <a16:creationId xmlns:a16="http://schemas.microsoft.com/office/drawing/2014/main" id="{D71FA243-7D9F-4A7A-BB99-FF0561AEF6BF}"/>
              </a:ext>
            </a:extLst>
          </p:cNvPr>
          <p:cNvGrpSpPr/>
          <p:nvPr/>
        </p:nvGrpSpPr>
        <p:grpSpPr>
          <a:xfrm>
            <a:off x="3291393" y="3527622"/>
            <a:ext cx="758008" cy="2475217"/>
            <a:chOff x="3961953" y="3703187"/>
            <a:chExt cx="758008" cy="2475217"/>
          </a:xfrm>
        </p:grpSpPr>
        <p:sp>
          <p:nvSpPr>
            <p:cNvPr id="98" name="Rounded Rectangle 37">
              <a:extLst>
                <a:ext uri="{FF2B5EF4-FFF2-40B4-BE49-F238E27FC236}">
                  <a16:creationId xmlns:a16="http://schemas.microsoft.com/office/drawing/2014/main" id="{8B4F2232-8AD9-6242-A7A7-A40BBF930283}"/>
                </a:ext>
              </a:extLst>
            </p:cNvPr>
            <p:cNvSpPr/>
            <p:nvPr/>
          </p:nvSpPr>
          <p:spPr>
            <a:xfrm>
              <a:off x="3961953"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TPM &amp;</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Secure Boot</a:t>
              </a:r>
            </a:p>
          </p:txBody>
        </p:sp>
        <p:cxnSp>
          <p:nvCxnSpPr>
            <p:cNvPr id="99" name="Straight Connector 98">
              <a:extLst>
                <a:ext uri="{FF2B5EF4-FFF2-40B4-BE49-F238E27FC236}">
                  <a16:creationId xmlns:a16="http://schemas.microsoft.com/office/drawing/2014/main" id="{C83BC69A-03D2-8344-8553-8DD724BE9068}"/>
                </a:ext>
              </a:extLst>
            </p:cNvPr>
            <p:cNvCxnSpPr>
              <a:cxnSpLocks/>
            </p:cNvCxnSpPr>
            <p:nvPr/>
          </p:nvCxnSpPr>
          <p:spPr bwMode="gray">
            <a:xfrm>
              <a:off x="434095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1" name="Oval 100">
              <a:extLst>
                <a:ext uri="{FF2B5EF4-FFF2-40B4-BE49-F238E27FC236}">
                  <a16:creationId xmlns:a16="http://schemas.microsoft.com/office/drawing/2014/main" id="{2A3C96D7-E48D-A24C-956C-4F3EA68E6D17}"/>
                </a:ext>
              </a:extLst>
            </p:cNvPr>
            <p:cNvSpPr/>
            <p:nvPr/>
          </p:nvSpPr>
          <p:spPr>
            <a:xfrm rot="10800000">
              <a:off x="4100896"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grpSp>
          <p:nvGrpSpPr>
            <p:cNvPr id="217" name="Picture Placeholder 98" descr="Dashboard&#10;">
              <a:extLst>
                <a:ext uri="{FF2B5EF4-FFF2-40B4-BE49-F238E27FC236}">
                  <a16:creationId xmlns:a16="http://schemas.microsoft.com/office/drawing/2014/main" id="{BE480A5A-8E40-6245-A88D-ABBE06D6BF86}"/>
                </a:ext>
              </a:extLst>
            </p:cNvPr>
            <p:cNvGrpSpPr>
              <a:grpSpLocks noChangeAspect="1"/>
            </p:cNvGrpSpPr>
            <p:nvPr/>
          </p:nvGrpSpPr>
          <p:grpSpPr>
            <a:xfrm>
              <a:off x="4220310" y="5369590"/>
              <a:ext cx="244612" cy="244612"/>
              <a:chOff x="7127146" y="720904"/>
              <a:chExt cx="598307" cy="598307"/>
            </a:xfrm>
            <a:solidFill>
              <a:schemeClr val="tx1"/>
            </a:solidFill>
          </p:grpSpPr>
          <p:sp>
            <p:nvSpPr>
              <p:cNvPr id="218" name="Picture Placeholder 98">
                <a:extLst>
                  <a:ext uri="{FF2B5EF4-FFF2-40B4-BE49-F238E27FC236}">
                    <a16:creationId xmlns:a16="http://schemas.microsoft.com/office/drawing/2014/main" id="{79B94CFC-87D5-0745-9DA1-DC2C8B913BD5}"/>
                  </a:ext>
                </a:extLst>
              </p:cNvPr>
              <p:cNvSpPr/>
              <p:nvPr/>
            </p:nvSpPr>
            <p:spPr>
              <a:xfrm>
                <a:off x="7196084" y="912539"/>
                <a:ext cx="132816" cy="343425"/>
              </a:xfrm>
              <a:custGeom>
                <a:avLst/>
                <a:gdLst>
                  <a:gd name="connsiteX0" fmla="*/ 132817 w 132816"/>
                  <a:gd name="connsiteY0" fmla="*/ 343426 h 343425"/>
                  <a:gd name="connsiteX1" fmla="*/ 0 w 132816"/>
                  <a:gd name="connsiteY1" fmla="*/ 343426 h 343425"/>
                  <a:gd name="connsiteX2" fmla="*/ 0 w 132816"/>
                  <a:gd name="connsiteY2" fmla="*/ 0 h 343425"/>
                  <a:gd name="connsiteX3" fmla="*/ 132817 w 132816"/>
                  <a:gd name="connsiteY3" fmla="*/ 0 h 343425"/>
                  <a:gd name="connsiteX4" fmla="*/ 132817 w 132816"/>
                  <a:gd name="connsiteY4" fmla="*/ 343426 h 343425"/>
                  <a:gd name="connsiteX5" fmla="*/ 15812 w 132816"/>
                  <a:gd name="connsiteY5" fmla="*/ 327614 h 343425"/>
                  <a:gd name="connsiteX6" fmla="*/ 117005 w 132816"/>
                  <a:gd name="connsiteY6" fmla="*/ 327614 h 343425"/>
                  <a:gd name="connsiteX7" fmla="*/ 117005 w 132816"/>
                  <a:gd name="connsiteY7" fmla="*/ 15812 h 343425"/>
                  <a:gd name="connsiteX8" fmla="*/ 15812 w 132816"/>
                  <a:gd name="connsiteY8" fmla="*/ 15812 h 343425"/>
                  <a:gd name="connsiteX9" fmla="*/ 15812 w 132816"/>
                  <a:gd name="connsiteY9" fmla="*/ 327614 h 34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816" h="343425">
                    <a:moveTo>
                      <a:pt x="132817" y="343426"/>
                    </a:moveTo>
                    <a:lnTo>
                      <a:pt x="0" y="343426"/>
                    </a:lnTo>
                    <a:lnTo>
                      <a:pt x="0" y="0"/>
                    </a:lnTo>
                    <a:lnTo>
                      <a:pt x="132817" y="0"/>
                    </a:lnTo>
                    <a:lnTo>
                      <a:pt x="132817" y="343426"/>
                    </a:lnTo>
                    <a:close/>
                    <a:moveTo>
                      <a:pt x="15812" y="327614"/>
                    </a:moveTo>
                    <a:lnTo>
                      <a:pt x="117005" y="327614"/>
                    </a:lnTo>
                    <a:lnTo>
                      <a:pt x="117005" y="15812"/>
                    </a:lnTo>
                    <a:lnTo>
                      <a:pt x="15812" y="15812"/>
                    </a:lnTo>
                    <a:lnTo>
                      <a:pt x="15812" y="32761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19" name="Picture Placeholder 98">
                <a:extLst>
                  <a:ext uri="{FF2B5EF4-FFF2-40B4-BE49-F238E27FC236}">
                    <a16:creationId xmlns:a16="http://schemas.microsoft.com/office/drawing/2014/main" id="{3E6B4CD1-B23E-6B4B-BF47-21D1A5A1299B}"/>
                  </a:ext>
                </a:extLst>
              </p:cNvPr>
              <p:cNvSpPr/>
              <p:nvPr/>
            </p:nvSpPr>
            <p:spPr>
              <a:xfrm>
                <a:off x="7359891" y="784782"/>
                <a:ext cx="132816" cy="471182"/>
              </a:xfrm>
              <a:custGeom>
                <a:avLst/>
                <a:gdLst>
                  <a:gd name="connsiteX0" fmla="*/ 132817 w 132816"/>
                  <a:gd name="connsiteY0" fmla="*/ 471183 h 471182"/>
                  <a:gd name="connsiteX1" fmla="*/ 0 w 132816"/>
                  <a:gd name="connsiteY1" fmla="*/ 471183 h 471182"/>
                  <a:gd name="connsiteX2" fmla="*/ 0 w 132816"/>
                  <a:gd name="connsiteY2" fmla="*/ 0 h 471182"/>
                  <a:gd name="connsiteX3" fmla="*/ 132817 w 132816"/>
                  <a:gd name="connsiteY3" fmla="*/ 0 h 471182"/>
                  <a:gd name="connsiteX4" fmla="*/ 132817 w 132816"/>
                  <a:gd name="connsiteY4" fmla="*/ 471183 h 471182"/>
                  <a:gd name="connsiteX5" fmla="*/ 15812 w 132816"/>
                  <a:gd name="connsiteY5" fmla="*/ 455371 h 471182"/>
                  <a:gd name="connsiteX6" fmla="*/ 117005 w 132816"/>
                  <a:gd name="connsiteY6" fmla="*/ 455371 h 471182"/>
                  <a:gd name="connsiteX7" fmla="*/ 117005 w 132816"/>
                  <a:gd name="connsiteY7" fmla="*/ 15812 h 471182"/>
                  <a:gd name="connsiteX8" fmla="*/ 15812 w 132816"/>
                  <a:gd name="connsiteY8" fmla="*/ 15812 h 471182"/>
                  <a:gd name="connsiteX9" fmla="*/ 15812 w 132816"/>
                  <a:gd name="connsiteY9" fmla="*/ 455371 h 4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816" h="471182">
                    <a:moveTo>
                      <a:pt x="132817" y="471183"/>
                    </a:moveTo>
                    <a:lnTo>
                      <a:pt x="0" y="471183"/>
                    </a:lnTo>
                    <a:lnTo>
                      <a:pt x="0" y="0"/>
                    </a:lnTo>
                    <a:lnTo>
                      <a:pt x="132817" y="0"/>
                    </a:lnTo>
                    <a:lnTo>
                      <a:pt x="132817" y="471183"/>
                    </a:lnTo>
                    <a:close/>
                    <a:moveTo>
                      <a:pt x="15812" y="455371"/>
                    </a:moveTo>
                    <a:lnTo>
                      <a:pt x="117005" y="455371"/>
                    </a:lnTo>
                    <a:lnTo>
                      <a:pt x="117005" y="15812"/>
                    </a:lnTo>
                    <a:lnTo>
                      <a:pt x="15812" y="15812"/>
                    </a:lnTo>
                    <a:lnTo>
                      <a:pt x="15812" y="455371"/>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20" name="Picture Placeholder 98">
                <a:extLst>
                  <a:ext uri="{FF2B5EF4-FFF2-40B4-BE49-F238E27FC236}">
                    <a16:creationId xmlns:a16="http://schemas.microsoft.com/office/drawing/2014/main" id="{C6336EAB-330C-D048-87FA-A07363973E76}"/>
                  </a:ext>
                </a:extLst>
              </p:cNvPr>
              <p:cNvSpPr/>
              <p:nvPr/>
            </p:nvSpPr>
            <p:spPr>
              <a:xfrm>
                <a:off x="7523066" y="1018160"/>
                <a:ext cx="132816" cy="237804"/>
              </a:xfrm>
              <a:custGeom>
                <a:avLst/>
                <a:gdLst>
                  <a:gd name="connsiteX0" fmla="*/ 132817 w 132816"/>
                  <a:gd name="connsiteY0" fmla="*/ 237805 h 237804"/>
                  <a:gd name="connsiteX1" fmla="*/ 0 w 132816"/>
                  <a:gd name="connsiteY1" fmla="*/ 237805 h 237804"/>
                  <a:gd name="connsiteX2" fmla="*/ 0 w 132816"/>
                  <a:gd name="connsiteY2" fmla="*/ 0 h 237804"/>
                  <a:gd name="connsiteX3" fmla="*/ 132817 w 132816"/>
                  <a:gd name="connsiteY3" fmla="*/ 0 h 237804"/>
                  <a:gd name="connsiteX4" fmla="*/ 132817 w 132816"/>
                  <a:gd name="connsiteY4" fmla="*/ 237805 h 237804"/>
                  <a:gd name="connsiteX5" fmla="*/ 16444 w 132816"/>
                  <a:gd name="connsiteY5" fmla="*/ 221993 h 237804"/>
                  <a:gd name="connsiteX6" fmla="*/ 117638 w 132816"/>
                  <a:gd name="connsiteY6" fmla="*/ 221993 h 237804"/>
                  <a:gd name="connsiteX7" fmla="*/ 117638 w 132816"/>
                  <a:gd name="connsiteY7" fmla="*/ 15812 h 237804"/>
                  <a:gd name="connsiteX8" fmla="*/ 16444 w 132816"/>
                  <a:gd name="connsiteY8" fmla="*/ 15812 h 237804"/>
                  <a:gd name="connsiteX9" fmla="*/ 16444 w 132816"/>
                  <a:gd name="connsiteY9" fmla="*/ 221993 h 23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816" h="237804">
                    <a:moveTo>
                      <a:pt x="132817" y="237805"/>
                    </a:moveTo>
                    <a:lnTo>
                      <a:pt x="0" y="237805"/>
                    </a:lnTo>
                    <a:lnTo>
                      <a:pt x="0" y="0"/>
                    </a:lnTo>
                    <a:lnTo>
                      <a:pt x="132817" y="0"/>
                    </a:lnTo>
                    <a:lnTo>
                      <a:pt x="132817" y="237805"/>
                    </a:lnTo>
                    <a:close/>
                    <a:moveTo>
                      <a:pt x="16444" y="221993"/>
                    </a:moveTo>
                    <a:lnTo>
                      <a:pt x="117638" y="221993"/>
                    </a:lnTo>
                    <a:lnTo>
                      <a:pt x="117638" y="15812"/>
                    </a:lnTo>
                    <a:lnTo>
                      <a:pt x="16444" y="15812"/>
                    </a:lnTo>
                    <a:lnTo>
                      <a:pt x="16444" y="221993"/>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21" name="Picture Placeholder 98">
                <a:extLst>
                  <a:ext uri="{FF2B5EF4-FFF2-40B4-BE49-F238E27FC236}">
                    <a16:creationId xmlns:a16="http://schemas.microsoft.com/office/drawing/2014/main" id="{2FE2EC4A-4C68-6B4F-9AEE-F36CA7BB0523}"/>
                  </a:ext>
                </a:extLst>
              </p:cNvPr>
              <p:cNvSpPr/>
              <p:nvPr/>
            </p:nvSpPr>
            <p:spPr>
              <a:xfrm>
                <a:off x="7127146" y="720904"/>
                <a:ext cx="598307" cy="598307"/>
              </a:xfrm>
              <a:custGeom>
                <a:avLst/>
                <a:gdLst>
                  <a:gd name="connsiteX0" fmla="*/ 598307 w 598307"/>
                  <a:gd name="connsiteY0" fmla="*/ 598307 h 598307"/>
                  <a:gd name="connsiteX1" fmla="*/ 0 w 598307"/>
                  <a:gd name="connsiteY1" fmla="*/ 598307 h 598307"/>
                  <a:gd name="connsiteX2" fmla="*/ 0 w 598307"/>
                  <a:gd name="connsiteY2" fmla="*/ 0 h 598307"/>
                  <a:gd name="connsiteX3" fmla="*/ 598307 w 598307"/>
                  <a:gd name="connsiteY3" fmla="*/ 0 h 598307"/>
                  <a:gd name="connsiteX4" fmla="*/ 598307 w 598307"/>
                  <a:gd name="connsiteY4" fmla="*/ 598307 h 598307"/>
                  <a:gd name="connsiteX5" fmla="*/ 15812 w 598307"/>
                  <a:gd name="connsiteY5" fmla="*/ 582496 h 598307"/>
                  <a:gd name="connsiteX6" fmla="*/ 582496 w 598307"/>
                  <a:gd name="connsiteY6" fmla="*/ 582496 h 598307"/>
                  <a:gd name="connsiteX7" fmla="*/ 582496 w 598307"/>
                  <a:gd name="connsiteY7" fmla="*/ 15812 h 598307"/>
                  <a:gd name="connsiteX8" fmla="*/ 15812 w 598307"/>
                  <a:gd name="connsiteY8" fmla="*/ 15812 h 598307"/>
                  <a:gd name="connsiteX9" fmla="*/ 15812 w 598307"/>
                  <a:gd name="connsiteY9" fmla="*/ 582496 h 598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307" h="598307">
                    <a:moveTo>
                      <a:pt x="598307" y="598307"/>
                    </a:moveTo>
                    <a:lnTo>
                      <a:pt x="0" y="598307"/>
                    </a:lnTo>
                    <a:lnTo>
                      <a:pt x="0" y="0"/>
                    </a:lnTo>
                    <a:lnTo>
                      <a:pt x="598307" y="0"/>
                    </a:lnTo>
                    <a:lnTo>
                      <a:pt x="598307" y="598307"/>
                    </a:lnTo>
                    <a:close/>
                    <a:moveTo>
                      <a:pt x="15812" y="582496"/>
                    </a:moveTo>
                    <a:lnTo>
                      <a:pt x="582496" y="582496"/>
                    </a:lnTo>
                    <a:lnTo>
                      <a:pt x="582496" y="15812"/>
                    </a:lnTo>
                    <a:lnTo>
                      <a:pt x="15812" y="15812"/>
                    </a:lnTo>
                    <a:lnTo>
                      <a:pt x="15812" y="582496"/>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28" name="Group 27">
            <a:extLst>
              <a:ext uri="{FF2B5EF4-FFF2-40B4-BE49-F238E27FC236}">
                <a16:creationId xmlns:a16="http://schemas.microsoft.com/office/drawing/2014/main" id="{7B604666-7851-4B02-904D-1CD0F1F8DAB2}"/>
              </a:ext>
            </a:extLst>
          </p:cNvPr>
          <p:cNvGrpSpPr/>
          <p:nvPr/>
        </p:nvGrpSpPr>
        <p:grpSpPr>
          <a:xfrm>
            <a:off x="5002448" y="3527623"/>
            <a:ext cx="758008" cy="1271439"/>
            <a:chOff x="4427566" y="3703188"/>
            <a:chExt cx="758008" cy="1271439"/>
          </a:xfrm>
        </p:grpSpPr>
        <p:sp>
          <p:nvSpPr>
            <p:cNvPr id="149" name="Rounded Rectangle 37">
              <a:extLst>
                <a:ext uri="{FF2B5EF4-FFF2-40B4-BE49-F238E27FC236}">
                  <a16:creationId xmlns:a16="http://schemas.microsoft.com/office/drawing/2014/main" id="{FE0EA1C0-2C90-5C44-BBBC-C541FD147C0C}"/>
                </a:ext>
              </a:extLst>
            </p:cNvPr>
            <p:cNvSpPr/>
            <p:nvPr/>
          </p:nvSpPr>
          <p:spPr>
            <a:xfrm>
              <a:off x="4427566" y="4595623"/>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Health</a:t>
              </a:r>
            </a:p>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Checks</a:t>
              </a:r>
            </a:p>
          </p:txBody>
        </p:sp>
        <p:cxnSp>
          <p:nvCxnSpPr>
            <p:cNvPr id="125" name="Straight Connector 124">
              <a:extLst>
                <a:ext uri="{FF2B5EF4-FFF2-40B4-BE49-F238E27FC236}">
                  <a16:creationId xmlns:a16="http://schemas.microsoft.com/office/drawing/2014/main" id="{3B53DE98-9670-404C-9953-209DA6A27A72}"/>
                </a:ext>
              </a:extLst>
            </p:cNvPr>
            <p:cNvCxnSpPr>
              <a:cxnSpLocks/>
            </p:cNvCxnSpPr>
            <p:nvPr/>
          </p:nvCxnSpPr>
          <p:spPr bwMode="gray">
            <a:xfrm flipV="1">
              <a:off x="4804663" y="3703188"/>
              <a:ext cx="0" cy="361499"/>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8" name="Oval 127">
              <a:extLst>
                <a:ext uri="{FF2B5EF4-FFF2-40B4-BE49-F238E27FC236}">
                  <a16:creationId xmlns:a16="http://schemas.microsoft.com/office/drawing/2014/main" id="{6BDDDC31-539B-1142-A323-E9B18D97E54A}"/>
                </a:ext>
              </a:extLst>
            </p:cNvPr>
            <p:cNvSpPr/>
            <p:nvPr/>
          </p:nvSpPr>
          <p:spPr>
            <a:xfrm>
              <a:off x="4566510" y="4057739"/>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29" name="Picture Placeholder 85" descr="Health Services&#10;">
              <a:extLst>
                <a:ext uri="{FF2B5EF4-FFF2-40B4-BE49-F238E27FC236}">
                  <a16:creationId xmlns:a16="http://schemas.microsoft.com/office/drawing/2014/main" id="{37665F9B-40D4-DB4E-8AF8-82C853CD8169}"/>
                </a:ext>
              </a:extLst>
            </p:cNvPr>
            <p:cNvSpPr/>
            <p:nvPr/>
          </p:nvSpPr>
          <p:spPr>
            <a:xfrm>
              <a:off x="4675376" y="4173916"/>
              <a:ext cx="262393" cy="262393"/>
            </a:xfrm>
            <a:custGeom>
              <a:avLst/>
              <a:gdLst>
                <a:gd name="connsiteX0" fmla="*/ 384789 w 600837"/>
                <a:gd name="connsiteY0" fmla="*/ 15812 h 600836"/>
                <a:gd name="connsiteX1" fmla="*/ 384789 w 600837"/>
                <a:gd name="connsiteY1" fmla="*/ 216112 h 600836"/>
                <a:gd name="connsiteX2" fmla="*/ 585026 w 600837"/>
                <a:gd name="connsiteY2" fmla="*/ 216112 h 600836"/>
                <a:gd name="connsiteX3" fmla="*/ 585026 w 600837"/>
                <a:gd name="connsiteY3" fmla="*/ 384789 h 600836"/>
                <a:gd name="connsiteX4" fmla="*/ 384789 w 600837"/>
                <a:gd name="connsiteY4" fmla="*/ 384789 h 600836"/>
                <a:gd name="connsiteX5" fmla="*/ 384789 w 600837"/>
                <a:gd name="connsiteY5" fmla="*/ 585026 h 600836"/>
                <a:gd name="connsiteX6" fmla="*/ 216112 w 600837"/>
                <a:gd name="connsiteY6" fmla="*/ 585026 h 600836"/>
                <a:gd name="connsiteX7" fmla="*/ 216112 w 600837"/>
                <a:gd name="connsiteY7" fmla="*/ 384789 h 600836"/>
                <a:gd name="connsiteX8" fmla="*/ 15812 w 600837"/>
                <a:gd name="connsiteY8" fmla="*/ 384789 h 600836"/>
                <a:gd name="connsiteX9" fmla="*/ 15812 w 600837"/>
                <a:gd name="connsiteY9" fmla="*/ 216112 h 600836"/>
                <a:gd name="connsiteX10" fmla="*/ 216112 w 600837"/>
                <a:gd name="connsiteY10" fmla="*/ 216112 h 600836"/>
                <a:gd name="connsiteX11" fmla="*/ 216112 w 600837"/>
                <a:gd name="connsiteY11" fmla="*/ 15812 h 600836"/>
                <a:gd name="connsiteX12" fmla="*/ 384789 w 600837"/>
                <a:gd name="connsiteY12" fmla="*/ 15812 h 600836"/>
                <a:gd name="connsiteX13" fmla="*/ 400600 w 600837"/>
                <a:gd name="connsiteY13" fmla="*/ 0 h 600836"/>
                <a:gd name="connsiteX14" fmla="*/ 200300 w 600837"/>
                <a:gd name="connsiteY14" fmla="*/ 0 h 600836"/>
                <a:gd name="connsiteX15" fmla="*/ 200300 w 600837"/>
                <a:gd name="connsiteY15" fmla="*/ 200300 h 600836"/>
                <a:gd name="connsiteX16" fmla="*/ 0 w 600837"/>
                <a:gd name="connsiteY16" fmla="*/ 200300 h 600836"/>
                <a:gd name="connsiteX17" fmla="*/ 0 w 600837"/>
                <a:gd name="connsiteY17" fmla="*/ 400600 h 600836"/>
                <a:gd name="connsiteX18" fmla="*/ 200300 w 600837"/>
                <a:gd name="connsiteY18" fmla="*/ 400600 h 600836"/>
                <a:gd name="connsiteX19" fmla="*/ 200300 w 600837"/>
                <a:gd name="connsiteY19" fmla="*/ 600837 h 600836"/>
                <a:gd name="connsiteX20" fmla="*/ 400600 w 600837"/>
                <a:gd name="connsiteY20" fmla="*/ 600837 h 600836"/>
                <a:gd name="connsiteX21" fmla="*/ 400600 w 600837"/>
                <a:gd name="connsiteY21" fmla="*/ 400600 h 600836"/>
                <a:gd name="connsiteX22" fmla="*/ 600837 w 600837"/>
                <a:gd name="connsiteY22" fmla="*/ 400600 h 600836"/>
                <a:gd name="connsiteX23" fmla="*/ 600837 w 600837"/>
                <a:gd name="connsiteY23" fmla="*/ 200300 h 600836"/>
                <a:gd name="connsiteX24" fmla="*/ 400600 w 600837"/>
                <a:gd name="connsiteY24" fmla="*/ 200300 h 600836"/>
                <a:gd name="connsiteX25" fmla="*/ 400600 w 600837"/>
                <a:gd name="connsiteY25" fmla="*/ 0 h 60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837" h="600836">
                  <a:moveTo>
                    <a:pt x="384789" y="15812"/>
                  </a:moveTo>
                  <a:lnTo>
                    <a:pt x="384789" y="216112"/>
                  </a:lnTo>
                  <a:lnTo>
                    <a:pt x="585026" y="216112"/>
                  </a:lnTo>
                  <a:lnTo>
                    <a:pt x="585026" y="384789"/>
                  </a:lnTo>
                  <a:lnTo>
                    <a:pt x="384789" y="384789"/>
                  </a:lnTo>
                  <a:lnTo>
                    <a:pt x="384789" y="585026"/>
                  </a:lnTo>
                  <a:lnTo>
                    <a:pt x="216112" y="585026"/>
                  </a:lnTo>
                  <a:lnTo>
                    <a:pt x="216112" y="384789"/>
                  </a:lnTo>
                  <a:lnTo>
                    <a:pt x="15812" y="384789"/>
                  </a:lnTo>
                  <a:lnTo>
                    <a:pt x="15812" y="216112"/>
                  </a:lnTo>
                  <a:lnTo>
                    <a:pt x="216112" y="216112"/>
                  </a:lnTo>
                  <a:lnTo>
                    <a:pt x="216112" y="15812"/>
                  </a:lnTo>
                  <a:lnTo>
                    <a:pt x="384789" y="15812"/>
                  </a:lnTo>
                  <a:moveTo>
                    <a:pt x="400600" y="0"/>
                  </a:moveTo>
                  <a:lnTo>
                    <a:pt x="200300" y="0"/>
                  </a:lnTo>
                  <a:lnTo>
                    <a:pt x="200300" y="200300"/>
                  </a:lnTo>
                  <a:lnTo>
                    <a:pt x="0" y="200300"/>
                  </a:lnTo>
                  <a:lnTo>
                    <a:pt x="0" y="400600"/>
                  </a:lnTo>
                  <a:lnTo>
                    <a:pt x="200300" y="400600"/>
                  </a:lnTo>
                  <a:lnTo>
                    <a:pt x="200300" y="600837"/>
                  </a:lnTo>
                  <a:lnTo>
                    <a:pt x="400600" y="600837"/>
                  </a:lnTo>
                  <a:lnTo>
                    <a:pt x="400600" y="400600"/>
                  </a:lnTo>
                  <a:lnTo>
                    <a:pt x="600837" y="400600"/>
                  </a:lnTo>
                  <a:lnTo>
                    <a:pt x="600837" y="200300"/>
                  </a:lnTo>
                  <a:lnTo>
                    <a:pt x="400600" y="200300"/>
                  </a:lnTo>
                  <a:lnTo>
                    <a:pt x="400600" y="0"/>
                  </a:lnTo>
                  <a:close/>
                </a:path>
              </a:pathLst>
            </a:custGeom>
            <a:solidFill>
              <a:schemeClr val="tx1"/>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20" name="Group 19">
            <a:extLst>
              <a:ext uri="{FF2B5EF4-FFF2-40B4-BE49-F238E27FC236}">
                <a16:creationId xmlns:a16="http://schemas.microsoft.com/office/drawing/2014/main" id="{9D89FBFF-3AA6-4409-A49B-BF80384786A0}"/>
              </a:ext>
            </a:extLst>
          </p:cNvPr>
          <p:cNvGrpSpPr/>
          <p:nvPr/>
        </p:nvGrpSpPr>
        <p:grpSpPr>
          <a:xfrm>
            <a:off x="10254847" y="1261010"/>
            <a:ext cx="758008" cy="1300703"/>
            <a:chOff x="10254847" y="1436575"/>
            <a:chExt cx="758008" cy="1300703"/>
          </a:xfrm>
        </p:grpSpPr>
        <p:sp>
          <p:nvSpPr>
            <p:cNvPr id="154" name="Oval 153">
              <a:extLst>
                <a:ext uri="{FF2B5EF4-FFF2-40B4-BE49-F238E27FC236}">
                  <a16:creationId xmlns:a16="http://schemas.microsoft.com/office/drawing/2014/main" id="{1D63C571-51C3-684A-B236-16BF585D1B4F}"/>
                </a:ext>
              </a:extLst>
            </p:cNvPr>
            <p:cNvSpPr/>
            <p:nvPr/>
          </p:nvSpPr>
          <p:spPr>
            <a:xfrm>
              <a:off x="10408396"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55" name="Rounded Rectangle 36">
              <a:extLst>
                <a:ext uri="{FF2B5EF4-FFF2-40B4-BE49-F238E27FC236}">
                  <a16:creationId xmlns:a16="http://schemas.microsoft.com/office/drawing/2014/main" id="{5B9D31DD-465F-DC4A-BDDF-10E76541757F}"/>
                </a:ext>
              </a:extLst>
            </p:cNvPr>
            <p:cNvSpPr/>
            <p:nvPr/>
          </p:nvSpPr>
          <p:spPr>
            <a:xfrm>
              <a:off x="10254847"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Delta-Based</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Failback</a:t>
              </a:r>
            </a:p>
          </p:txBody>
        </p:sp>
        <p:grpSp>
          <p:nvGrpSpPr>
            <p:cNvPr id="212" name="Picture Placeholder 111" descr="Future-Proof&#10;">
              <a:extLst>
                <a:ext uri="{FF2B5EF4-FFF2-40B4-BE49-F238E27FC236}">
                  <a16:creationId xmlns:a16="http://schemas.microsoft.com/office/drawing/2014/main" id="{986D2E4B-B3A3-1448-A3E2-B7694DB7CA30}"/>
                </a:ext>
              </a:extLst>
            </p:cNvPr>
            <p:cNvGrpSpPr>
              <a:grpSpLocks noChangeAspect="1"/>
            </p:cNvGrpSpPr>
            <p:nvPr/>
          </p:nvGrpSpPr>
          <p:grpSpPr>
            <a:xfrm flipH="1">
              <a:off x="10501120" y="1998409"/>
              <a:ext cx="274249" cy="283388"/>
              <a:chOff x="8459498" y="3193521"/>
              <a:chExt cx="553154" cy="571588"/>
            </a:xfrm>
            <a:solidFill>
              <a:schemeClr val="tx1"/>
            </a:solidFill>
          </p:grpSpPr>
          <p:sp>
            <p:nvSpPr>
              <p:cNvPr id="213" name="Picture Placeholder 111">
                <a:extLst>
                  <a:ext uri="{FF2B5EF4-FFF2-40B4-BE49-F238E27FC236}">
                    <a16:creationId xmlns:a16="http://schemas.microsoft.com/office/drawing/2014/main" id="{151CEC21-45DD-A648-9426-1E7C655EE4C0}"/>
                  </a:ext>
                </a:extLst>
              </p:cNvPr>
              <p:cNvSpPr/>
              <p:nvPr/>
            </p:nvSpPr>
            <p:spPr>
              <a:xfrm>
                <a:off x="8600537" y="3334854"/>
                <a:ext cx="284606" cy="285200"/>
              </a:xfrm>
              <a:custGeom>
                <a:avLst/>
                <a:gdLst>
                  <a:gd name="connsiteX0" fmla="*/ 142304 w 284606"/>
                  <a:gd name="connsiteY0" fmla="*/ 285200 h 285200"/>
                  <a:gd name="connsiteX1" fmla="*/ 0 w 284606"/>
                  <a:gd name="connsiteY1" fmla="*/ 142600 h 285200"/>
                  <a:gd name="connsiteX2" fmla="*/ 142304 w 284606"/>
                  <a:gd name="connsiteY2" fmla="*/ 0 h 285200"/>
                  <a:gd name="connsiteX3" fmla="*/ 284607 w 284606"/>
                  <a:gd name="connsiteY3" fmla="*/ 142600 h 285200"/>
                  <a:gd name="connsiteX4" fmla="*/ 142304 w 284606"/>
                  <a:gd name="connsiteY4" fmla="*/ 285200 h 285200"/>
                  <a:gd name="connsiteX5" fmla="*/ 142304 w 284606"/>
                  <a:gd name="connsiteY5" fmla="*/ 15844 h 285200"/>
                  <a:gd name="connsiteX6" fmla="*/ 15812 w 284606"/>
                  <a:gd name="connsiteY6" fmla="*/ 142600 h 285200"/>
                  <a:gd name="connsiteX7" fmla="*/ 142304 w 284606"/>
                  <a:gd name="connsiteY7" fmla="*/ 269356 h 285200"/>
                  <a:gd name="connsiteX8" fmla="*/ 268795 w 284606"/>
                  <a:gd name="connsiteY8" fmla="*/ 142600 h 285200"/>
                  <a:gd name="connsiteX9" fmla="*/ 142304 w 284606"/>
                  <a:gd name="connsiteY9" fmla="*/ 15844 h 2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4606" h="285200">
                    <a:moveTo>
                      <a:pt x="142304" y="285200"/>
                    </a:moveTo>
                    <a:cubicBezTo>
                      <a:pt x="63878" y="285200"/>
                      <a:pt x="0" y="221189"/>
                      <a:pt x="0" y="142600"/>
                    </a:cubicBezTo>
                    <a:cubicBezTo>
                      <a:pt x="0" y="64012"/>
                      <a:pt x="63878" y="0"/>
                      <a:pt x="142304" y="0"/>
                    </a:cubicBezTo>
                    <a:cubicBezTo>
                      <a:pt x="220729" y="0"/>
                      <a:pt x="284607" y="64012"/>
                      <a:pt x="284607" y="142600"/>
                    </a:cubicBezTo>
                    <a:cubicBezTo>
                      <a:pt x="284607" y="221189"/>
                      <a:pt x="220729" y="285200"/>
                      <a:pt x="142304" y="285200"/>
                    </a:cubicBezTo>
                    <a:close/>
                    <a:moveTo>
                      <a:pt x="142304" y="15844"/>
                    </a:moveTo>
                    <a:cubicBezTo>
                      <a:pt x="72733" y="15844"/>
                      <a:pt x="15812" y="72885"/>
                      <a:pt x="15812" y="142600"/>
                    </a:cubicBezTo>
                    <a:cubicBezTo>
                      <a:pt x="15812" y="212316"/>
                      <a:pt x="72733" y="269356"/>
                      <a:pt x="142304" y="269356"/>
                    </a:cubicBezTo>
                    <a:cubicBezTo>
                      <a:pt x="211874" y="269356"/>
                      <a:pt x="268795" y="212316"/>
                      <a:pt x="268795" y="142600"/>
                    </a:cubicBezTo>
                    <a:cubicBezTo>
                      <a:pt x="268795" y="72885"/>
                      <a:pt x="212507" y="15844"/>
                      <a:pt x="142304" y="15844"/>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14" name="Picture Placeholder 111">
                <a:extLst>
                  <a:ext uri="{FF2B5EF4-FFF2-40B4-BE49-F238E27FC236}">
                    <a16:creationId xmlns:a16="http://schemas.microsoft.com/office/drawing/2014/main" id="{100F1355-8FEF-0244-99C2-A26E8E9029C7}"/>
                  </a:ext>
                </a:extLst>
              </p:cNvPr>
              <p:cNvSpPr/>
              <p:nvPr/>
            </p:nvSpPr>
            <p:spPr>
              <a:xfrm>
                <a:off x="8728294" y="3416611"/>
                <a:ext cx="66882" cy="123586"/>
              </a:xfrm>
              <a:custGeom>
                <a:avLst/>
                <a:gdLst>
                  <a:gd name="connsiteX0" fmla="*/ 59451 w 66882"/>
                  <a:gd name="connsiteY0" fmla="*/ 123587 h 123586"/>
                  <a:gd name="connsiteX1" fmla="*/ 53759 w 66882"/>
                  <a:gd name="connsiteY1" fmla="*/ 121052 h 123586"/>
                  <a:gd name="connsiteX2" fmla="*/ 0 w 66882"/>
                  <a:gd name="connsiteY2" fmla="*/ 65279 h 123586"/>
                  <a:gd name="connsiteX3" fmla="*/ 0 w 66882"/>
                  <a:gd name="connsiteY3" fmla="*/ 7605 h 123586"/>
                  <a:gd name="connsiteX4" fmla="*/ 7590 w 66882"/>
                  <a:gd name="connsiteY4" fmla="*/ 0 h 123586"/>
                  <a:gd name="connsiteX5" fmla="*/ 15179 w 66882"/>
                  <a:gd name="connsiteY5" fmla="*/ 7605 h 123586"/>
                  <a:gd name="connsiteX6" fmla="*/ 15179 w 66882"/>
                  <a:gd name="connsiteY6" fmla="*/ 58941 h 123586"/>
                  <a:gd name="connsiteX7" fmla="*/ 64511 w 66882"/>
                  <a:gd name="connsiteY7" fmla="*/ 110277 h 123586"/>
                  <a:gd name="connsiteX8" fmla="*/ 64511 w 66882"/>
                  <a:gd name="connsiteY8" fmla="*/ 121685 h 123586"/>
                  <a:gd name="connsiteX9" fmla="*/ 59451 w 66882"/>
                  <a:gd name="connsiteY9" fmla="*/ 123587 h 12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882" h="123586">
                    <a:moveTo>
                      <a:pt x="59451" y="123587"/>
                    </a:moveTo>
                    <a:cubicBezTo>
                      <a:pt x="57554" y="123587"/>
                      <a:pt x="55024" y="122953"/>
                      <a:pt x="53759" y="121052"/>
                    </a:cubicBezTo>
                    <a:lnTo>
                      <a:pt x="0" y="65279"/>
                    </a:lnTo>
                    <a:lnTo>
                      <a:pt x="0" y="7605"/>
                    </a:lnTo>
                    <a:cubicBezTo>
                      <a:pt x="0" y="3169"/>
                      <a:pt x="3795" y="0"/>
                      <a:pt x="7590" y="0"/>
                    </a:cubicBezTo>
                    <a:cubicBezTo>
                      <a:pt x="11384" y="0"/>
                      <a:pt x="15179" y="3803"/>
                      <a:pt x="15179" y="7605"/>
                    </a:cubicBezTo>
                    <a:lnTo>
                      <a:pt x="15179" y="58941"/>
                    </a:lnTo>
                    <a:lnTo>
                      <a:pt x="64511" y="110277"/>
                    </a:lnTo>
                    <a:cubicBezTo>
                      <a:pt x="67673" y="113446"/>
                      <a:pt x="67673" y="118517"/>
                      <a:pt x="64511" y="121685"/>
                    </a:cubicBezTo>
                    <a:cubicBezTo>
                      <a:pt x="63246" y="122319"/>
                      <a:pt x="61349" y="123587"/>
                      <a:pt x="59451" y="12358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15" name="Picture Placeholder 111">
                <a:extLst>
                  <a:ext uri="{FF2B5EF4-FFF2-40B4-BE49-F238E27FC236}">
                    <a16:creationId xmlns:a16="http://schemas.microsoft.com/office/drawing/2014/main" id="{2B516E8C-F0D7-9D49-BA0F-63B0145730DB}"/>
                  </a:ext>
                </a:extLst>
              </p:cNvPr>
              <p:cNvSpPr/>
              <p:nvPr/>
            </p:nvSpPr>
            <p:spPr>
              <a:xfrm>
                <a:off x="8537291" y="3271476"/>
                <a:ext cx="411098" cy="411955"/>
              </a:xfrm>
              <a:custGeom>
                <a:avLst/>
                <a:gdLst>
                  <a:gd name="connsiteX0" fmla="*/ 214404 w 411098"/>
                  <a:gd name="connsiteY0" fmla="*/ 411956 h 411955"/>
                  <a:gd name="connsiteX1" fmla="*/ 213771 w 411098"/>
                  <a:gd name="connsiteY1" fmla="*/ 396111 h 411955"/>
                  <a:gd name="connsiteX2" fmla="*/ 228951 w 411098"/>
                  <a:gd name="connsiteY2" fmla="*/ 394844 h 411955"/>
                  <a:gd name="connsiteX3" fmla="*/ 230848 w 411098"/>
                  <a:gd name="connsiteY3" fmla="*/ 410688 h 411955"/>
                  <a:gd name="connsiteX4" fmla="*/ 214404 w 411098"/>
                  <a:gd name="connsiteY4" fmla="*/ 411956 h 411955"/>
                  <a:gd name="connsiteX5" fmla="*/ 181516 w 411098"/>
                  <a:gd name="connsiteY5" fmla="*/ 410688 h 411955"/>
                  <a:gd name="connsiteX6" fmla="*/ 165072 w 411098"/>
                  <a:gd name="connsiteY6" fmla="*/ 408153 h 411955"/>
                  <a:gd name="connsiteX7" fmla="*/ 168234 w 411098"/>
                  <a:gd name="connsiteY7" fmla="*/ 392309 h 411955"/>
                  <a:gd name="connsiteX8" fmla="*/ 183413 w 411098"/>
                  <a:gd name="connsiteY8" fmla="*/ 394844 h 411955"/>
                  <a:gd name="connsiteX9" fmla="*/ 181516 w 411098"/>
                  <a:gd name="connsiteY9" fmla="*/ 410688 h 411955"/>
                  <a:gd name="connsiteX10" fmla="*/ 263103 w 411098"/>
                  <a:gd name="connsiteY10" fmla="*/ 403717 h 411955"/>
                  <a:gd name="connsiteX11" fmla="*/ 258676 w 411098"/>
                  <a:gd name="connsiteY11" fmla="*/ 388506 h 411955"/>
                  <a:gd name="connsiteX12" fmla="*/ 273223 w 411098"/>
                  <a:gd name="connsiteY12" fmla="*/ 383436 h 411955"/>
                  <a:gd name="connsiteX13" fmla="*/ 278915 w 411098"/>
                  <a:gd name="connsiteY13" fmla="*/ 398013 h 411955"/>
                  <a:gd name="connsiteX14" fmla="*/ 263103 w 411098"/>
                  <a:gd name="connsiteY14" fmla="*/ 403717 h 411955"/>
                  <a:gd name="connsiteX15" fmla="*/ 132817 w 411098"/>
                  <a:gd name="connsiteY15" fmla="*/ 398647 h 411955"/>
                  <a:gd name="connsiteX16" fmla="*/ 117638 w 411098"/>
                  <a:gd name="connsiteY16" fmla="*/ 392309 h 411955"/>
                  <a:gd name="connsiteX17" fmla="*/ 124595 w 411098"/>
                  <a:gd name="connsiteY17" fmla="*/ 377732 h 411955"/>
                  <a:gd name="connsiteX18" fmla="*/ 138509 w 411098"/>
                  <a:gd name="connsiteY18" fmla="*/ 383436 h 411955"/>
                  <a:gd name="connsiteX19" fmla="*/ 132817 w 411098"/>
                  <a:gd name="connsiteY19" fmla="*/ 398647 h 411955"/>
                  <a:gd name="connsiteX20" fmla="*/ 308640 w 411098"/>
                  <a:gd name="connsiteY20" fmla="*/ 384703 h 411955"/>
                  <a:gd name="connsiteX21" fmla="*/ 300418 w 411098"/>
                  <a:gd name="connsiteY21" fmla="*/ 370760 h 411955"/>
                  <a:gd name="connsiteX22" fmla="*/ 313068 w 411098"/>
                  <a:gd name="connsiteY22" fmla="*/ 362521 h 411955"/>
                  <a:gd name="connsiteX23" fmla="*/ 321922 w 411098"/>
                  <a:gd name="connsiteY23" fmla="*/ 375831 h 411955"/>
                  <a:gd name="connsiteX24" fmla="*/ 308640 w 411098"/>
                  <a:gd name="connsiteY24" fmla="*/ 384703 h 411955"/>
                  <a:gd name="connsiteX25" fmla="*/ 89177 w 411098"/>
                  <a:gd name="connsiteY25" fmla="*/ 375831 h 411955"/>
                  <a:gd name="connsiteX26" fmla="*/ 75895 w 411098"/>
                  <a:gd name="connsiteY26" fmla="*/ 365690 h 411955"/>
                  <a:gd name="connsiteX27" fmla="*/ 86015 w 411098"/>
                  <a:gd name="connsiteY27" fmla="*/ 353648 h 411955"/>
                  <a:gd name="connsiteX28" fmla="*/ 98031 w 411098"/>
                  <a:gd name="connsiteY28" fmla="*/ 362521 h 411955"/>
                  <a:gd name="connsiteX29" fmla="*/ 89177 w 411098"/>
                  <a:gd name="connsiteY29" fmla="*/ 375831 h 411955"/>
                  <a:gd name="connsiteX30" fmla="*/ 348485 w 411098"/>
                  <a:gd name="connsiteY30" fmla="*/ 354282 h 411955"/>
                  <a:gd name="connsiteX31" fmla="*/ 337101 w 411098"/>
                  <a:gd name="connsiteY31" fmla="*/ 342874 h 411955"/>
                  <a:gd name="connsiteX32" fmla="*/ 347853 w 411098"/>
                  <a:gd name="connsiteY32" fmla="*/ 332100 h 411955"/>
                  <a:gd name="connsiteX33" fmla="*/ 359870 w 411098"/>
                  <a:gd name="connsiteY33" fmla="*/ 342874 h 411955"/>
                  <a:gd name="connsiteX34" fmla="*/ 348485 w 411098"/>
                  <a:gd name="connsiteY34" fmla="*/ 354282 h 411955"/>
                  <a:gd name="connsiteX35" fmla="*/ 51862 w 411098"/>
                  <a:gd name="connsiteY35" fmla="*/ 342874 h 411955"/>
                  <a:gd name="connsiteX36" fmla="*/ 41110 w 411098"/>
                  <a:gd name="connsiteY36" fmla="*/ 330198 h 411955"/>
                  <a:gd name="connsiteX37" fmla="*/ 53759 w 411098"/>
                  <a:gd name="connsiteY37" fmla="*/ 320692 h 411955"/>
                  <a:gd name="connsiteX38" fmla="*/ 63246 w 411098"/>
                  <a:gd name="connsiteY38" fmla="*/ 332734 h 411955"/>
                  <a:gd name="connsiteX39" fmla="*/ 51862 w 411098"/>
                  <a:gd name="connsiteY39" fmla="*/ 342874 h 411955"/>
                  <a:gd name="connsiteX40" fmla="*/ 379476 w 411098"/>
                  <a:gd name="connsiteY40" fmla="*/ 316255 h 411955"/>
                  <a:gd name="connsiteX41" fmla="*/ 366194 w 411098"/>
                  <a:gd name="connsiteY41" fmla="*/ 308016 h 411955"/>
                  <a:gd name="connsiteX42" fmla="*/ 373784 w 411098"/>
                  <a:gd name="connsiteY42" fmla="*/ 294707 h 411955"/>
                  <a:gd name="connsiteX43" fmla="*/ 387698 w 411098"/>
                  <a:gd name="connsiteY43" fmla="*/ 302312 h 411955"/>
                  <a:gd name="connsiteX44" fmla="*/ 379476 w 411098"/>
                  <a:gd name="connsiteY44" fmla="*/ 316255 h 411955"/>
                  <a:gd name="connsiteX45" fmla="*/ 24033 w 411098"/>
                  <a:gd name="connsiteY45" fmla="*/ 302312 h 411955"/>
                  <a:gd name="connsiteX46" fmla="*/ 17076 w 411098"/>
                  <a:gd name="connsiteY46" fmla="*/ 287102 h 411955"/>
                  <a:gd name="connsiteX47" fmla="*/ 31623 w 411098"/>
                  <a:gd name="connsiteY47" fmla="*/ 280764 h 411955"/>
                  <a:gd name="connsiteX48" fmla="*/ 37948 w 411098"/>
                  <a:gd name="connsiteY48" fmla="*/ 294707 h 411955"/>
                  <a:gd name="connsiteX49" fmla="*/ 24033 w 411098"/>
                  <a:gd name="connsiteY49" fmla="*/ 302312 h 411955"/>
                  <a:gd name="connsiteX50" fmla="*/ 400980 w 411098"/>
                  <a:gd name="connsiteY50" fmla="*/ 271257 h 411955"/>
                  <a:gd name="connsiteX51" fmla="*/ 385801 w 411098"/>
                  <a:gd name="connsiteY51" fmla="*/ 266187 h 411955"/>
                  <a:gd name="connsiteX52" fmla="*/ 390228 w 411098"/>
                  <a:gd name="connsiteY52" fmla="*/ 251610 h 411955"/>
                  <a:gd name="connsiteX53" fmla="*/ 405407 w 411098"/>
                  <a:gd name="connsiteY53" fmla="*/ 255413 h 411955"/>
                  <a:gd name="connsiteX54" fmla="*/ 400980 w 411098"/>
                  <a:gd name="connsiteY54" fmla="*/ 271257 h 411955"/>
                  <a:gd name="connsiteX55" fmla="*/ 6325 w 411098"/>
                  <a:gd name="connsiteY55" fmla="*/ 256046 h 411955"/>
                  <a:gd name="connsiteX56" fmla="*/ 3162 w 411098"/>
                  <a:gd name="connsiteY56" fmla="*/ 239568 h 411955"/>
                  <a:gd name="connsiteX57" fmla="*/ 18974 w 411098"/>
                  <a:gd name="connsiteY57" fmla="*/ 237033 h 411955"/>
                  <a:gd name="connsiteX58" fmla="*/ 22136 w 411098"/>
                  <a:gd name="connsiteY58" fmla="*/ 252244 h 411955"/>
                  <a:gd name="connsiteX59" fmla="*/ 6325 w 411098"/>
                  <a:gd name="connsiteY59" fmla="*/ 256046 h 411955"/>
                  <a:gd name="connsiteX60" fmla="*/ 410467 w 411098"/>
                  <a:gd name="connsiteY60" fmla="*/ 222456 h 411955"/>
                  <a:gd name="connsiteX61" fmla="*/ 394655 w 411098"/>
                  <a:gd name="connsiteY61" fmla="*/ 221189 h 411955"/>
                  <a:gd name="connsiteX62" fmla="*/ 395287 w 411098"/>
                  <a:gd name="connsiteY62" fmla="*/ 205978 h 411955"/>
                  <a:gd name="connsiteX63" fmla="*/ 395287 w 411098"/>
                  <a:gd name="connsiteY63" fmla="*/ 205344 h 411955"/>
                  <a:gd name="connsiteX64" fmla="*/ 411099 w 411098"/>
                  <a:gd name="connsiteY64" fmla="*/ 205344 h 411955"/>
                  <a:gd name="connsiteX65" fmla="*/ 411099 w 411098"/>
                  <a:gd name="connsiteY65" fmla="*/ 205978 h 411955"/>
                  <a:gd name="connsiteX66" fmla="*/ 410467 w 411098"/>
                  <a:gd name="connsiteY66" fmla="*/ 222456 h 411955"/>
                  <a:gd name="connsiteX67" fmla="*/ 0 w 411098"/>
                  <a:gd name="connsiteY67" fmla="*/ 206612 h 411955"/>
                  <a:gd name="connsiteX68" fmla="*/ 0 w 411098"/>
                  <a:gd name="connsiteY68" fmla="*/ 206612 h 411955"/>
                  <a:gd name="connsiteX69" fmla="*/ 632 w 411098"/>
                  <a:gd name="connsiteY69" fmla="*/ 190133 h 411955"/>
                  <a:gd name="connsiteX70" fmla="*/ 16444 w 411098"/>
                  <a:gd name="connsiteY70" fmla="*/ 191401 h 411955"/>
                  <a:gd name="connsiteX71" fmla="*/ 15812 w 411098"/>
                  <a:gd name="connsiteY71" fmla="*/ 206612 h 411955"/>
                  <a:gd name="connsiteX72" fmla="*/ 0 w 411098"/>
                  <a:gd name="connsiteY72" fmla="*/ 206612 h 411955"/>
                  <a:gd name="connsiteX73" fmla="*/ 392758 w 411098"/>
                  <a:gd name="connsiteY73" fmla="*/ 174923 h 411955"/>
                  <a:gd name="connsiteX74" fmla="*/ 389595 w 411098"/>
                  <a:gd name="connsiteY74" fmla="*/ 159712 h 411955"/>
                  <a:gd name="connsiteX75" fmla="*/ 404774 w 411098"/>
                  <a:gd name="connsiteY75" fmla="*/ 155909 h 411955"/>
                  <a:gd name="connsiteX76" fmla="*/ 407937 w 411098"/>
                  <a:gd name="connsiteY76" fmla="*/ 172388 h 411955"/>
                  <a:gd name="connsiteX77" fmla="*/ 392758 w 411098"/>
                  <a:gd name="connsiteY77" fmla="*/ 174923 h 411955"/>
                  <a:gd name="connsiteX78" fmla="*/ 21504 w 411098"/>
                  <a:gd name="connsiteY78" fmla="*/ 160980 h 411955"/>
                  <a:gd name="connsiteX79" fmla="*/ 6325 w 411098"/>
                  <a:gd name="connsiteY79" fmla="*/ 157177 h 411955"/>
                  <a:gd name="connsiteX80" fmla="*/ 10752 w 411098"/>
                  <a:gd name="connsiteY80" fmla="*/ 141333 h 411955"/>
                  <a:gd name="connsiteX81" fmla="*/ 25931 w 411098"/>
                  <a:gd name="connsiteY81" fmla="*/ 146403 h 411955"/>
                  <a:gd name="connsiteX82" fmla="*/ 21504 w 411098"/>
                  <a:gd name="connsiteY82" fmla="*/ 160980 h 411955"/>
                  <a:gd name="connsiteX83" fmla="*/ 380108 w 411098"/>
                  <a:gd name="connsiteY83" fmla="*/ 131192 h 411955"/>
                  <a:gd name="connsiteX84" fmla="*/ 373784 w 411098"/>
                  <a:gd name="connsiteY84" fmla="*/ 117249 h 411955"/>
                  <a:gd name="connsiteX85" fmla="*/ 387698 w 411098"/>
                  <a:gd name="connsiteY85" fmla="*/ 109644 h 411955"/>
                  <a:gd name="connsiteX86" fmla="*/ 394655 w 411098"/>
                  <a:gd name="connsiteY86" fmla="*/ 124854 h 411955"/>
                  <a:gd name="connsiteX87" fmla="*/ 380108 w 411098"/>
                  <a:gd name="connsiteY87" fmla="*/ 131192 h 411955"/>
                  <a:gd name="connsiteX88" fmla="*/ 37315 w 411098"/>
                  <a:gd name="connsiteY88" fmla="*/ 117883 h 411955"/>
                  <a:gd name="connsiteX89" fmla="*/ 23401 w 411098"/>
                  <a:gd name="connsiteY89" fmla="*/ 110277 h 411955"/>
                  <a:gd name="connsiteX90" fmla="*/ 31623 w 411098"/>
                  <a:gd name="connsiteY90" fmla="*/ 95701 h 411955"/>
                  <a:gd name="connsiteX91" fmla="*/ 44905 w 411098"/>
                  <a:gd name="connsiteY91" fmla="*/ 103940 h 411955"/>
                  <a:gd name="connsiteX92" fmla="*/ 37315 w 411098"/>
                  <a:gd name="connsiteY92" fmla="*/ 117883 h 411955"/>
                  <a:gd name="connsiteX93" fmla="*/ 357340 w 411098"/>
                  <a:gd name="connsiteY93" fmla="*/ 91264 h 411955"/>
                  <a:gd name="connsiteX94" fmla="*/ 347853 w 411098"/>
                  <a:gd name="connsiteY94" fmla="*/ 79222 h 411955"/>
                  <a:gd name="connsiteX95" fmla="*/ 359870 w 411098"/>
                  <a:gd name="connsiteY95" fmla="*/ 68448 h 411955"/>
                  <a:gd name="connsiteX96" fmla="*/ 370622 w 411098"/>
                  <a:gd name="connsiteY96" fmla="*/ 81124 h 411955"/>
                  <a:gd name="connsiteX97" fmla="*/ 357340 w 411098"/>
                  <a:gd name="connsiteY97" fmla="*/ 91264 h 411955"/>
                  <a:gd name="connsiteX98" fmla="*/ 63246 w 411098"/>
                  <a:gd name="connsiteY98" fmla="*/ 80490 h 411955"/>
                  <a:gd name="connsiteX99" fmla="*/ 51229 w 411098"/>
                  <a:gd name="connsiteY99" fmla="*/ 69716 h 411955"/>
                  <a:gd name="connsiteX100" fmla="*/ 62614 w 411098"/>
                  <a:gd name="connsiteY100" fmla="*/ 57674 h 411955"/>
                  <a:gd name="connsiteX101" fmla="*/ 73365 w 411098"/>
                  <a:gd name="connsiteY101" fmla="*/ 69082 h 411955"/>
                  <a:gd name="connsiteX102" fmla="*/ 63246 w 411098"/>
                  <a:gd name="connsiteY102" fmla="*/ 80490 h 411955"/>
                  <a:gd name="connsiteX103" fmla="*/ 325084 w 411098"/>
                  <a:gd name="connsiteY103" fmla="*/ 58308 h 411955"/>
                  <a:gd name="connsiteX104" fmla="*/ 313068 w 411098"/>
                  <a:gd name="connsiteY104" fmla="*/ 49435 h 411955"/>
                  <a:gd name="connsiteX105" fmla="*/ 321922 w 411098"/>
                  <a:gd name="connsiteY105" fmla="*/ 36125 h 411955"/>
                  <a:gd name="connsiteX106" fmla="*/ 335204 w 411098"/>
                  <a:gd name="connsiteY106" fmla="*/ 46266 h 411955"/>
                  <a:gd name="connsiteX107" fmla="*/ 325084 w 411098"/>
                  <a:gd name="connsiteY107" fmla="*/ 58308 h 411955"/>
                  <a:gd name="connsiteX108" fmla="*/ 97399 w 411098"/>
                  <a:gd name="connsiteY108" fmla="*/ 50068 h 411955"/>
                  <a:gd name="connsiteX109" fmla="*/ 88544 w 411098"/>
                  <a:gd name="connsiteY109" fmla="*/ 36759 h 411955"/>
                  <a:gd name="connsiteX110" fmla="*/ 102459 w 411098"/>
                  <a:gd name="connsiteY110" fmla="*/ 27886 h 411955"/>
                  <a:gd name="connsiteX111" fmla="*/ 110681 w 411098"/>
                  <a:gd name="connsiteY111" fmla="*/ 41829 h 411955"/>
                  <a:gd name="connsiteX112" fmla="*/ 97399 w 411098"/>
                  <a:gd name="connsiteY112" fmla="*/ 50068 h 411955"/>
                  <a:gd name="connsiteX113" fmla="*/ 286504 w 411098"/>
                  <a:gd name="connsiteY113" fmla="*/ 34224 h 411955"/>
                  <a:gd name="connsiteX114" fmla="*/ 272590 w 411098"/>
                  <a:gd name="connsiteY114" fmla="*/ 28520 h 411955"/>
                  <a:gd name="connsiteX115" fmla="*/ 278282 w 411098"/>
                  <a:gd name="connsiteY115" fmla="*/ 13943 h 411955"/>
                  <a:gd name="connsiteX116" fmla="*/ 293461 w 411098"/>
                  <a:gd name="connsiteY116" fmla="*/ 20281 h 411955"/>
                  <a:gd name="connsiteX117" fmla="*/ 286504 w 411098"/>
                  <a:gd name="connsiteY117" fmla="*/ 34224 h 411955"/>
                  <a:gd name="connsiteX118" fmla="*/ 137876 w 411098"/>
                  <a:gd name="connsiteY118" fmla="*/ 28520 h 411955"/>
                  <a:gd name="connsiteX119" fmla="*/ 132184 w 411098"/>
                  <a:gd name="connsiteY119" fmla="*/ 13943 h 411955"/>
                  <a:gd name="connsiteX120" fmla="*/ 147996 w 411098"/>
                  <a:gd name="connsiteY120" fmla="*/ 8873 h 411955"/>
                  <a:gd name="connsiteX121" fmla="*/ 152423 w 411098"/>
                  <a:gd name="connsiteY121" fmla="*/ 24084 h 411955"/>
                  <a:gd name="connsiteX122" fmla="*/ 137876 w 411098"/>
                  <a:gd name="connsiteY122" fmla="*/ 28520 h 411955"/>
                  <a:gd name="connsiteX123" fmla="*/ 242865 w 411098"/>
                  <a:gd name="connsiteY123" fmla="*/ 19647 h 411955"/>
                  <a:gd name="connsiteX124" fmla="*/ 227686 w 411098"/>
                  <a:gd name="connsiteY124" fmla="*/ 17112 h 411955"/>
                  <a:gd name="connsiteX125" fmla="*/ 229583 w 411098"/>
                  <a:gd name="connsiteY125" fmla="*/ 1268 h 411955"/>
                  <a:gd name="connsiteX126" fmla="*/ 246027 w 411098"/>
                  <a:gd name="connsiteY126" fmla="*/ 3803 h 411955"/>
                  <a:gd name="connsiteX127" fmla="*/ 242865 w 411098"/>
                  <a:gd name="connsiteY127" fmla="*/ 19647 h 411955"/>
                  <a:gd name="connsiteX128" fmla="*/ 182148 w 411098"/>
                  <a:gd name="connsiteY128" fmla="*/ 17112 h 411955"/>
                  <a:gd name="connsiteX129" fmla="*/ 180251 w 411098"/>
                  <a:gd name="connsiteY129" fmla="*/ 1268 h 411955"/>
                  <a:gd name="connsiteX130" fmla="*/ 196695 w 411098"/>
                  <a:gd name="connsiteY130" fmla="*/ 0 h 411955"/>
                  <a:gd name="connsiteX131" fmla="*/ 197328 w 411098"/>
                  <a:gd name="connsiteY131" fmla="*/ 15844 h 411955"/>
                  <a:gd name="connsiteX132" fmla="*/ 182148 w 411098"/>
                  <a:gd name="connsiteY132" fmla="*/ 17112 h 41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11098" h="411955">
                    <a:moveTo>
                      <a:pt x="214404" y="411956"/>
                    </a:moveTo>
                    <a:lnTo>
                      <a:pt x="213771" y="396111"/>
                    </a:lnTo>
                    <a:cubicBezTo>
                      <a:pt x="218831" y="396111"/>
                      <a:pt x="223891" y="395478"/>
                      <a:pt x="228951" y="394844"/>
                    </a:cubicBezTo>
                    <a:lnTo>
                      <a:pt x="230848" y="410688"/>
                    </a:lnTo>
                    <a:cubicBezTo>
                      <a:pt x="225156" y="411322"/>
                      <a:pt x="220096" y="411956"/>
                      <a:pt x="214404" y="411956"/>
                    </a:cubicBezTo>
                    <a:close/>
                    <a:moveTo>
                      <a:pt x="181516" y="410688"/>
                    </a:moveTo>
                    <a:cubicBezTo>
                      <a:pt x="175824" y="410055"/>
                      <a:pt x="170764" y="409421"/>
                      <a:pt x="165072" y="408153"/>
                    </a:cubicBezTo>
                    <a:lnTo>
                      <a:pt x="168234" y="392309"/>
                    </a:lnTo>
                    <a:cubicBezTo>
                      <a:pt x="173294" y="393576"/>
                      <a:pt x="178354" y="394210"/>
                      <a:pt x="183413" y="394844"/>
                    </a:cubicBezTo>
                    <a:lnTo>
                      <a:pt x="181516" y="410688"/>
                    </a:lnTo>
                    <a:close/>
                    <a:moveTo>
                      <a:pt x="263103" y="403717"/>
                    </a:moveTo>
                    <a:lnTo>
                      <a:pt x="258676" y="388506"/>
                    </a:lnTo>
                    <a:cubicBezTo>
                      <a:pt x="263736" y="387239"/>
                      <a:pt x="268163" y="385337"/>
                      <a:pt x="273223" y="383436"/>
                    </a:cubicBezTo>
                    <a:lnTo>
                      <a:pt x="278915" y="398013"/>
                    </a:lnTo>
                    <a:cubicBezTo>
                      <a:pt x="273855" y="400548"/>
                      <a:pt x="268163" y="402449"/>
                      <a:pt x="263103" y="403717"/>
                    </a:cubicBezTo>
                    <a:close/>
                    <a:moveTo>
                      <a:pt x="132817" y="398647"/>
                    </a:moveTo>
                    <a:cubicBezTo>
                      <a:pt x="127757" y="396745"/>
                      <a:pt x="122697" y="394844"/>
                      <a:pt x="117638" y="392309"/>
                    </a:cubicBezTo>
                    <a:lnTo>
                      <a:pt x="124595" y="377732"/>
                    </a:lnTo>
                    <a:cubicBezTo>
                      <a:pt x="129022" y="379633"/>
                      <a:pt x="134082" y="382168"/>
                      <a:pt x="138509" y="383436"/>
                    </a:cubicBezTo>
                    <a:lnTo>
                      <a:pt x="132817" y="398647"/>
                    </a:lnTo>
                    <a:close/>
                    <a:moveTo>
                      <a:pt x="308640" y="384703"/>
                    </a:moveTo>
                    <a:lnTo>
                      <a:pt x="300418" y="370760"/>
                    </a:lnTo>
                    <a:cubicBezTo>
                      <a:pt x="304846" y="368225"/>
                      <a:pt x="309273" y="365690"/>
                      <a:pt x="313068" y="362521"/>
                    </a:cubicBezTo>
                    <a:lnTo>
                      <a:pt x="321922" y="375831"/>
                    </a:lnTo>
                    <a:cubicBezTo>
                      <a:pt x="318127" y="378366"/>
                      <a:pt x="313700" y="381535"/>
                      <a:pt x="308640" y="384703"/>
                    </a:cubicBezTo>
                    <a:close/>
                    <a:moveTo>
                      <a:pt x="89177" y="375831"/>
                    </a:moveTo>
                    <a:cubicBezTo>
                      <a:pt x="84750" y="372662"/>
                      <a:pt x="80322" y="369493"/>
                      <a:pt x="75895" y="365690"/>
                    </a:cubicBezTo>
                    <a:lnTo>
                      <a:pt x="86015" y="353648"/>
                    </a:lnTo>
                    <a:cubicBezTo>
                      <a:pt x="89809" y="356817"/>
                      <a:pt x="94237" y="359986"/>
                      <a:pt x="98031" y="362521"/>
                    </a:cubicBezTo>
                    <a:lnTo>
                      <a:pt x="89177" y="375831"/>
                    </a:lnTo>
                    <a:close/>
                    <a:moveTo>
                      <a:pt x="348485" y="354282"/>
                    </a:moveTo>
                    <a:lnTo>
                      <a:pt x="337101" y="342874"/>
                    </a:lnTo>
                    <a:cubicBezTo>
                      <a:pt x="340896" y="339071"/>
                      <a:pt x="344058" y="335903"/>
                      <a:pt x="347853" y="332100"/>
                    </a:cubicBezTo>
                    <a:lnTo>
                      <a:pt x="359870" y="342874"/>
                    </a:lnTo>
                    <a:cubicBezTo>
                      <a:pt x="356075" y="346677"/>
                      <a:pt x="352280" y="350479"/>
                      <a:pt x="348485" y="354282"/>
                    </a:cubicBezTo>
                    <a:close/>
                    <a:moveTo>
                      <a:pt x="51862" y="342874"/>
                    </a:moveTo>
                    <a:cubicBezTo>
                      <a:pt x="48067" y="338438"/>
                      <a:pt x="44905" y="334635"/>
                      <a:pt x="41110" y="330198"/>
                    </a:cubicBezTo>
                    <a:lnTo>
                      <a:pt x="53759" y="320692"/>
                    </a:lnTo>
                    <a:cubicBezTo>
                      <a:pt x="56921" y="324494"/>
                      <a:pt x="60084" y="328931"/>
                      <a:pt x="63246" y="332734"/>
                    </a:cubicBezTo>
                    <a:lnTo>
                      <a:pt x="51862" y="342874"/>
                    </a:lnTo>
                    <a:close/>
                    <a:moveTo>
                      <a:pt x="379476" y="316255"/>
                    </a:moveTo>
                    <a:lnTo>
                      <a:pt x="366194" y="308016"/>
                    </a:lnTo>
                    <a:cubicBezTo>
                      <a:pt x="368724" y="303580"/>
                      <a:pt x="371254" y="299143"/>
                      <a:pt x="373784" y="294707"/>
                    </a:cubicBezTo>
                    <a:lnTo>
                      <a:pt x="387698" y="302312"/>
                    </a:lnTo>
                    <a:cubicBezTo>
                      <a:pt x="385168" y="306749"/>
                      <a:pt x="382638" y="311185"/>
                      <a:pt x="379476" y="316255"/>
                    </a:cubicBezTo>
                    <a:close/>
                    <a:moveTo>
                      <a:pt x="24033" y="302312"/>
                    </a:moveTo>
                    <a:cubicBezTo>
                      <a:pt x="21504" y="297242"/>
                      <a:pt x="18974" y="292172"/>
                      <a:pt x="17076" y="287102"/>
                    </a:cubicBezTo>
                    <a:lnTo>
                      <a:pt x="31623" y="280764"/>
                    </a:lnTo>
                    <a:cubicBezTo>
                      <a:pt x="33520" y="285200"/>
                      <a:pt x="36050" y="290270"/>
                      <a:pt x="37948" y="294707"/>
                    </a:cubicBezTo>
                    <a:lnTo>
                      <a:pt x="24033" y="302312"/>
                    </a:lnTo>
                    <a:close/>
                    <a:moveTo>
                      <a:pt x="400980" y="271257"/>
                    </a:moveTo>
                    <a:lnTo>
                      <a:pt x="385801" y="266187"/>
                    </a:lnTo>
                    <a:cubicBezTo>
                      <a:pt x="387698" y="261117"/>
                      <a:pt x="388963" y="256680"/>
                      <a:pt x="390228" y="251610"/>
                    </a:cubicBezTo>
                    <a:lnTo>
                      <a:pt x="405407" y="255413"/>
                    </a:lnTo>
                    <a:cubicBezTo>
                      <a:pt x="404142" y="260483"/>
                      <a:pt x="402245" y="266187"/>
                      <a:pt x="400980" y="271257"/>
                    </a:cubicBezTo>
                    <a:close/>
                    <a:moveTo>
                      <a:pt x="6325" y="256046"/>
                    </a:moveTo>
                    <a:cubicBezTo>
                      <a:pt x="5060" y="250976"/>
                      <a:pt x="3795" y="245272"/>
                      <a:pt x="3162" y="239568"/>
                    </a:cubicBezTo>
                    <a:lnTo>
                      <a:pt x="18974" y="237033"/>
                    </a:lnTo>
                    <a:cubicBezTo>
                      <a:pt x="19606" y="242103"/>
                      <a:pt x="20871" y="247174"/>
                      <a:pt x="22136" y="252244"/>
                    </a:cubicBezTo>
                    <a:lnTo>
                      <a:pt x="6325" y="256046"/>
                    </a:lnTo>
                    <a:close/>
                    <a:moveTo>
                      <a:pt x="410467" y="222456"/>
                    </a:moveTo>
                    <a:lnTo>
                      <a:pt x="394655" y="221189"/>
                    </a:lnTo>
                    <a:cubicBezTo>
                      <a:pt x="395287" y="216118"/>
                      <a:pt x="395287" y="211048"/>
                      <a:pt x="395287" y="205978"/>
                    </a:cubicBezTo>
                    <a:lnTo>
                      <a:pt x="395287" y="205344"/>
                    </a:lnTo>
                    <a:lnTo>
                      <a:pt x="411099" y="205344"/>
                    </a:lnTo>
                    <a:lnTo>
                      <a:pt x="411099" y="205978"/>
                    </a:lnTo>
                    <a:cubicBezTo>
                      <a:pt x="411099" y="211682"/>
                      <a:pt x="411099" y="217386"/>
                      <a:pt x="410467" y="222456"/>
                    </a:cubicBezTo>
                    <a:close/>
                    <a:moveTo>
                      <a:pt x="0" y="206612"/>
                    </a:moveTo>
                    <a:lnTo>
                      <a:pt x="0" y="206612"/>
                    </a:lnTo>
                    <a:cubicBezTo>
                      <a:pt x="0" y="200908"/>
                      <a:pt x="0" y="195204"/>
                      <a:pt x="632" y="190133"/>
                    </a:cubicBezTo>
                    <a:lnTo>
                      <a:pt x="16444" y="191401"/>
                    </a:lnTo>
                    <a:cubicBezTo>
                      <a:pt x="15812" y="196471"/>
                      <a:pt x="15812" y="201542"/>
                      <a:pt x="15812" y="206612"/>
                    </a:cubicBezTo>
                    <a:lnTo>
                      <a:pt x="0" y="206612"/>
                    </a:lnTo>
                    <a:close/>
                    <a:moveTo>
                      <a:pt x="392758" y="174923"/>
                    </a:moveTo>
                    <a:cubicBezTo>
                      <a:pt x="392125" y="169853"/>
                      <a:pt x="390860" y="164782"/>
                      <a:pt x="389595" y="159712"/>
                    </a:cubicBezTo>
                    <a:lnTo>
                      <a:pt x="404774" y="155909"/>
                    </a:lnTo>
                    <a:cubicBezTo>
                      <a:pt x="406039" y="160980"/>
                      <a:pt x="407304" y="166684"/>
                      <a:pt x="407937" y="172388"/>
                    </a:cubicBezTo>
                    <a:lnTo>
                      <a:pt x="392758" y="174923"/>
                    </a:lnTo>
                    <a:close/>
                    <a:moveTo>
                      <a:pt x="21504" y="160980"/>
                    </a:moveTo>
                    <a:lnTo>
                      <a:pt x="6325" y="157177"/>
                    </a:lnTo>
                    <a:cubicBezTo>
                      <a:pt x="7590" y="152107"/>
                      <a:pt x="8854" y="146403"/>
                      <a:pt x="10752" y="141333"/>
                    </a:cubicBezTo>
                    <a:lnTo>
                      <a:pt x="25931" y="146403"/>
                    </a:lnTo>
                    <a:cubicBezTo>
                      <a:pt x="24033" y="150839"/>
                      <a:pt x="22769" y="155909"/>
                      <a:pt x="21504" y="160980"/>
                    </a:cubicBezTo>
                    <a:close/>
                    <a:moveTo>
                      <a:pt x="380108" y="131192"/>
                    </a:moveTo>
                    <a:cubicBezTo>
                      <a:pt x="378211" y="126756"/>
                      <a:pt x="375681" y="121685"/>
                      <a:pt x="373784" y="117249"/>
                    </a:cubicBezTo>
                    <a:lnTo>
                      <a:pt x="387698" y="109644"/>
                    </a:lnTo>
                    <a:cubicBezTo>
                      <a:pt x="390228" y="114714"/>
                      <a:pt x="392758" y="119784"/>
                      <a:pt x="394655" y="124854"/>
                    </a:cubicBezTo>
                    <a:lnTo>
                      <a:pt x="380108" y="131192"/>
                    </a:lnTo>
                    <a:close/>
                    <a:moveTo>
                      <a:pt x="37315" y="117883"/>
                    </a:moveTo>
                    <a:lnTo>
                      <a:pt x="23401" y="110277"/>
                    </a:lnTo>
                    <a:cubicBezTo>
                      <a:pt x="25931" y="105207"/>
                      <a:pt x="28461" y="100771"/>
                      <a:pt x="31623" y="95701"/>
                    </a:cubicBezTo>
                    <a:lnTo>
                      <a:pt x="44905" y="103940"/>
                    </a:lnTo>
                    <a:cubicBezTo>
                      <a:pt x="42375" y="109010"/>
                      <a:pt x="39845" y="113446"/>
                      <a:pt x="37315" y="117883"/>
                    </a:cubicBezTo>
                    <a:close/>
                    <a:moveTo>
                      <a:pt x="357340" y="91264"/>
                    </a:moveTo>
                    <a:cubicBezTo>
                      <a:pt x="354178" y="87461"/>
                      <a:pt x="351015" y="83025"/>
                      <a:pt x="347853" y="79222"/>
                    </a:cubicBezTo>
                    <a:lnTo>
                      <a:pt x="359870" y="68448"/>
                    </a:lnTo>
                    <a:cubicBezTo>
                      <a:pt x="363664" y="72251"/>
                      <a:pt x="366827" y="76687"/>
                      <a:pt x="370622" y="81124"/>
                    </a:cubicBezTo>
                    <a:lnTo>
                      <a:pt x="357340" y="91264"/>
                    </a:lnTo>
                    <a:close/>
                    <a:moveTo>
                      <a:pt x="63246" y="80490"/>
                    </a:moveTo>
                    <a:lnTo>
                      <a:pt x="51229" y="69716"/>
                    </a:lnTo>
                    <a:cubicBezTo>
                      <a:pt x="55024" y="65913"/>
                      <a:pt x="58819" y="61476"/>
                      <a:pt x="62614" y="57674"/>
                    </a:cubicBezTo>
                    <a:lnTo>
                      <a:pt x="73365" y="69082"/>
                    </a:lnTo>
                    <a:cubicBezTo>
                      <a:pt x="70203" y="72885"/>
                      <a:pt x="67041" y="76687"/>
                      <a:pt x="63246" y="80490"/>
                    </a:cubicBezTo>
                    <a:close/>
                    <a:moveTo>
                      <a:pt x="325084" y="58308"/>
                    </a:moveTo>
                    <a:cubicBezTo>
                      <a:pt x="321290" y="55139"/>
                      <a:pt x="316862" y="51970"/>
                      <a:pt x="313068" y="49435"/>
                    </a:cubicBezTo>
                    <a:lnTo>
                      <a:pt x="321922" y="36125"/>
                    </a:lnTo>
                    <a:cubicBezTo>
                      <a:pt x="326349" y="39294"/>
                      <a:pt x="330777" y="42463"/>
                      <a:pt x="335204" y="46266"/>
                    </a:cubicBezTo>
                    <a:lnTo>
                      <a:pt x="325084" y="58308"/>
                    </a:lnTo>
                    <a:close/>
                    <a:moveTo>
                      <a:pt x="97399" y="50068"/>
                    </a:moveTo>
                    <a:lnTo>
                      <a:pt x="88544" y="36759"/>
                    </a:lnTo>
                    <a:cubicBezTo>
                      <a:pt x="92972" y="33590"/>
                      <a:pt x="98031" y="30421"/>
                      <a:pt x="102459" y="27886"/>
                    </a:cubicBezTo>
                    <a:lnTo>
                      <a:pt x="110681" y="41829"/>
                    </a:lnTo>
                    <a:cubicBezTo>
                      <a:pt x="106253" y="44364"/>
                      <a:pt x="101826" y="46900"/>
                      <a:pt x="97399" y="50068"/>
                    </a:cubicBezTo>
                    <a:close/>
                    <a:moveTo>
                      <a:pt x="286504" y="34224"/>
                    </a:moveTo>
                    <a:cubicBezTo>
                      <a:pt x="282077" y="32323"/>
                      <a:pt x="277017" y="29788"/>
                      <a:pt x="272590" y="28520"/>
                    </a:cubicBezTo>
                    <a:lnTo>
                      <a:pt x="278282" y="13943"/>
                    </a:lnTo>
                    <a:cubicBezTo>
                      <a:pt x="283342" y="15844"/>
                      <a:pt x="288402" y="17746"/>
                      <a:pt x="293461" y="20281"/>
                    </a:cubicBezTo>
                    <a:lnTo>
                      <a:pt x="286504" y="34224"/>
                    </a:lnTo>
                    <a:close/>
                    <a:moveTo>
                      <a:pt x="137876" y="28520"/>
                    </a:moveTo>
                    <a:lnTo>
                      <a:pt x="132184" y="13943"/>
                    </a:lnTo>
                    <a:cubicBezTo>
                      <a:pt x="137244" y="12042"/>
                      <a:pt x="142304" y="10140"/>
                      <a:pt x="147996" y="8873"/>
                    </a:cubicBezTo>
                    <a:lnTo>
                      <a:pt x="152423" y="24084"/>
                    </a:lnTo>
                    <a:cubicBezTo>
                      <a:pt x="147363" y="24717"/>
                      <a:pt x="142936" y="26619"/>
                      <a:pt x="137876" y="28520"/>
                    </a:cubicBezTo>
                    <a:close/>
                    <a:moveTo>
                      <a:pt x="242865" y="19647"/>
                    </a:moveTo>
                    <a:cubicBezTo>
                      <a:pt x="237805" y="18380"/>
                      <a:pt x="232745" y="17746"/>
                      <a:pt x="227686" y="17112"/>
                    </a:cubicBezTo>
                    <a:lnTo>
                      <a:pt x="229583" y="1268"/>
                    </a:lnTo>
                    <a:cubicBezTo>
                      <a:pt x="235275" y="1901"/>
                      <a:pt x="240335" y="2535"/>
                      <a:pt x="246027" y="3803"/>
                    </a:cubicBezTo>
                    <a:lnTo>
                      <a:pt x="242865" y="19647"/>
                    </a:lnTo>
                    <a:close/>
                    <a:moveTo>
                      <a:pt x="182148" y="17112"/>
                    </a:moveTo>
                    <a:lnTo>
                      <a:pt x="180251" y="1268"/>
                    </a:lnTo>
                    <a:cubicBezTo>
                      <a:pt x="185943" y="634"/>
                      <a:pt x="191003" y="0"/>
                      <a:pt x="196695" y="0"/>
                    </a:cubicBezTo>
                    <a:lnTo>
                      <a:pt x="197328" y="15844"/>
                    </a:lnTo>
                    <a:cubicBezTo>
                      <a:pt x="192268" y="16478"/>
                      <a:pt x="187208" y="17112"/>
                      <a:pt x="182148" y="17112"/>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16" name="Picture Placeholder 111">
                <a:extLst>
                  <a:ext uri="{FF2B5EF4-FFF2-40B4-BE49-F238E27FC236}">
                    <a16:creationId xmlns:a16="http://schemas.microsoft.com/office/drawing/2014/main" id="{EDDE3615-EAF1-F647-9E67-63E194C36F8C}"/>
                  </a:ext>
                </a:extLst>
              </p:cNvPr>
              <p:cNvSpPr/>
              <p:nvPr/>
            </p:nvSpPr>
            <p:spPr>
              <a:xfrm>
                <a:off x="8459498" y="3193521"/>
                <a:ext cx="553154" cy="570400"/>
              </a:xfrm>
              <a:custGeom>
                <a:avLst/>
                <a:gdLst>
                  <a:gd name="connsiteX0" fmla="*/ 547710 w 553154"/>
                  <a:gd name="connsiteY0" fmla="*/ 370127 h 570400"/>
                  <a:gd name="connsiteX1" fmla="*/ 537591 w 553154"/>
                  <a:gd name="connsiteY1" fmla="*/ 375197 h 570400"/>
                  <a:gd name="connsiteX2" fmla="*/ 284607 w 553154"/>
                  <a:gd name="connsiteY2" fmla="*/ 553922 h 570400"/>
                  <a:gd name="connsiteX3" fmla="*/ 15812 w 553154"/>
                  <a:gd name="connsiteY3" fmla="*/ 284566 h 570400"/>
                  <a:gd name="connsiteX4" fmla="*/ 284607 w 553154"/>
                  <a:gd name="connsiteY4" fmla="*/ 15211 h 570400"/>
                  <a:gd name="connsiteX5" fmla="*/ 510395 w 553154"/>
                  <a:gd name="connsiteY5" fmla="*/ 138797 h 570400"/>
                  <a:gd name="connsiteX6" fmla="*/ 480670 w 553154"/>
                  <a:gd name="connsiteY6" fmla="*/ 148304 h 570400"/>
                  <a:gd name="connsiteX7" fmla="*/ 507233 w 553154"/>
                  <a:gd name="connsiteY7" fmla="*/ 173021 h 570400"/>
                  <a:gd name="connsiteX8" fmla="*/ 533796 w 553154"/>
                  <a:gd name="connsiteY8" fmla="*/ 197739 h 570400"/>
                  <a:gd name="connsiteX9" fmla="*/ 542018 w 553154"/>
                  <a:gd name="connsiteY9" fmla="*/ 162247 h 570400"/>
                  <a:gd name="connsiteX10" fmla="*/ 550240 w 553154"/>
                  <a:gd name="connsiteY10" fmla="*/ 126756 h 570400"/>
                  <a:gd name="connsiteX11" fmla="*/ 526207 w 553154"/>
                  <a:gd name="connsiteY11" fmla="*/ 134361 h 570400"/>
                  <a:gd name="connsiteX12" fmla="*/ 284607 w 553154"/>
                  <a:gd name="connsiteY12" fmla="*/ 0 h 570400"/>
                  <a:gd name="connsiteX13" fmla="*/ 0 w 553154"/>
                  <a:gd name="connsiteY13" fmla="*/ 285200 h 570400"/>
                  <a:gd name="connsiteX14" fmla="*/ 284607 w 553154"/>
                  <a:gd name="connsiteY14" fmla="*/ 570400 h 570400"/>
                  <a:gd name="connsiteX15" fmla="*/ 552770 w 553154"/>
                  <a:gd name="connsiteY15" fmla="*/ 380901 h 570400"/>
                  <a:gd name="connsiteX16" fmla="*/ 547710 w 553154"/>
                  <a:gd name="connsiteY16" fmla="*/ 370127 h 5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3154" h="570400">
                    <a:moveTo>
                      <a:pt x="547710" y="370127"/>
                    </a:moveTo>
                    <a:cubicBezTo>
                      <a:pt x="543283" y="368859"/>
                      <a:pt x="538856" y="370760"/>
                      <a:pt x="537591" y="375197"/>
                    </a:cubicBezTo>
                    <a:cubicBezTo>
                      <a:pt x="499643" y="482305"/>
                      <a:pt x="397817" y="553922"/>
                      <a:pt x="284607" y="553922"/>
                    </a:cubicBezTo>
                    <a:cubicBezTo>
                      <a:pt x="136611" y="553922"/>
                      <a:pt x="15812" y="432871"/>
                      <a:pt x="15812" y="284566"/>
                    </a:cubicBezTo>
                    <a:cubicBezTo>
                      <a:pt x="15812" y="136262"/>
                      <a:pt x="136611" y="15211"/>
                      <a:pt x="284607" y="15211"/>
                    </a:cubicBezTo>
                    <a:cubicBezTo>
                      <a:pt x="375681" y="15211"/>
                      <a:pt x="461063" y="62110"/>
                      <a:pt x="510395" y="138797"/>
                    </a:cubicBezTo>
                    <a:lnTo>
                      <a:pt x="480670" y="148304"/>
                    </a:lnTo>
                    <a:lnTo>
                      <a:pt x="507233" y="173021"/>
                    </a:lnTo>
                    <a:lnTo>
                      <a:pt x="533796" y="197739"/>
                    </a:lnTo>
                    <a:lnTo>
                      <a:pt x="542018" y="162247"/>
                    </a:lnTo>
                    <a:lnTo>
                      <a:pt x="550240" y="126756"/>
                    </a:lnTo>
                    <a:lnTo>
                      <a:pt x="526207" y="134361"/>
                    </a:lnTo>
                    <a:cubicBezTo>
                      <a:pt x="474345" y="51336"/>
                      <a:pt x="382638" y="0"/>
                      <a:pt x="284607" y="0"/>
                    </a:cubicBezTo>
                    <a:cubicBezTo>
                      <a:pt x="127757" y="0"/>
                      <a:pt x="0" y="128023"/>
                      <a:pt x="0" y="285200"/>
                    </a:cubicBezTo>
                    <a:cubicBezTo>
                      <a:pt x="0" y="442377"/>
                      <a:pt x="127757" y="570400"/>
                      <a:pt x="284607" y="570400"/>
                    </a:cubicBezTo>
                    <a:cubicBezTo>
                      <a:pt x="404774" y="570400"/>
                      <a:pt x="512293" y="494347"/>
                      <a:pt x="552770" y="380901"/>
                    </a:cubicBezTo>
                    <a:cubicBezTo>
                      <a:pt x="554035" y="375831"/>
                      <a:pt x="552138" y="371394"/>
                      <a:pt x="547710" y="37012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cxnSp>
          <p:nvCxnSpPr>
            <p:cNvPr id="134" name="Straight Connector 133">
              <a:extLst>
                <a:ext uri="{FF2B5EF4-FFF2-40B4-BE49-F238E27FC236}">
                  <a16:creationId xmlns:a16="http://schemas.microsoft.com/office/drawing/2014/main" id="{D0EB53EB-5A19-42E7-AB0C-DE047869EE5B}"/>
                </a:ext>
              </a:extLst>
            </p:cNvPr>
            <p:cNvCxnSpPr>
              <a:cxnSpLocks/>
            </p:cNvCxnSpPr>
            <p:nvPr/>
          </p:nvCxnSpPr>
          <p:spPr bwMode="gray">
            <a:xfrm flipV="1">
              <a:off x="10633670" y="237161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A5570543-2446-4297-B824-08BD964B3961}"/>
              </a:ext>
            </a:extLst>
          </p:cNvPr>
          <p:cNvGrpSpPr/>
          <p:nvPr/>
        </p:nvGrpSpPr>
        <p:grpSpPr>
          <a:xfrm>
            <a:off x="10485438" y="3523164"/>
            <a:ext cx="758008" cy="1303912"/>
            <a:chOff x="10485438" y="3698729"/>
            <a:chExt cx="758008" cy="1303912"/>
          </a:xfrm>
        </p:grpSpPr>
        <p:cxnSp>
          <p:nvCxnSpPr>
            <p:cNvPr id="244" name="Straight Connector 243">
              <a:extLst>
                <a:ext uri="{FF2B5EF4-FFF2-40B4-BE49-F238E27FC236}">
                  <a16:creationId xmlns:a16="http://schemas.microsoft.com/office/drawing/2014/main" id="{BBA865B5-7CDD-4E59-80A8-A733A49F8D29}"/>
                </a:ext>
              </a:extLst>
            </p:cNvPr>
            <p:cNvCxnSpPr>
              <a:cxnSpLocks/>
            </p:cNvCxnSpPr>
            <p:nvPr/>
          </p:nvCxnSpPr>
          <p:spPr bwMode="gray">
            <a:xfrm rot="10800000" flipV="1">
              <a:off x="10859094" y="3698729"/>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45" name="Oval 244">
              <a:extLst>
                <a:ext uri="{FF2B5EF4-FFF2-40B4-BE49-F238E27FC236}">
                  <a16:creationId xmlns:a16="http://schemas.microsoft.com/office/drawing/2014/main" id="{3D37D313-31CA-453B-9BCD-432F0937B6B6}"/>
                </a:ext>
              </a:extLst>
            </p:cNvPr>
            <p:cNvSpPr/>
            <p:nvPr/>
          </p:nvSpPr>
          <p:spPr>
            <a:xfrm rot="10800000">
              <a:off x="10625080" y="4062825"/>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246" name="Rounded Rectangle 31">
              <a:extLst>
                <a:ext uri="{FF2B5EF4-FFF2-40B4-BE49-F238E27FC236}">
                  <a16:creationId xmlns:a16="http://schemas.microsoft.com/office/drawing/2014/main" id="{E9B606E5-402C-4A2E-A071-E295524C3A4B}"/>
                </a:ext>
              </a:extLst>
            </p:cNvPr>
            <p:cNvSpPr/>
            <p:nvPr/>
          </p:nvSpPr>
          <p:spPr>
            <a:xfrm>
              <a:off x="10485438" y="4623637"/>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Review, Audit</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&amp; Remediate</a:t>
              </a:r>
            </a:p>
          </p:txBody>
        </p:sp>
        <p:pic>
          <p:nvPicPr>
            <p:cNvPr id="247" name="Graphic 246">
              <a:extLst>
                <a:ext uri="{FF2B5EF4-FFF2-40B4-BE49-F238E27FC236}">
                  <a16:creationId xmlns:a16="http://schemas.microsoft.com/office/drawing/2014/main" id="{0A2807C5-9D73-4C01-87FA-98D535440706}"/>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737142" y="4162716"/>
              <a:ext cx="255993" cy="302925"/>
            </a:xfrm>
            <a:prstGeom prst="rect">
              <a:avLst/>
            </a:prstGeom>
          </p:spPr>
        </p:pic>
      </p:grpSp>
      <p:grpSp>
        <p:nvGrpSpPr>
          <p:cNvPr id="14" name="Group 13">
            <a:extLst>
              <a:ext uri="{FF2B5EF4-FFF2-40B4-BE49-F238E27FC236}">
                <a16:creationId xmlns:a16="http://schemas.microsoft.com/office/drawing/2014/main" id="{E367EB47-6B01-4932-B7C7-516AA7775537}"/>
              </a:ext>
            </a:extLst>
          </p:cNvPr>
          <p:cNvGrpSpPr/>
          <p:nvPr/>
        </p:nvGrpSpPr>
        <p:grpSpPr>
          <a:xfrm>
            <a:off x="3929179" y="1261010"/>
            <a:ext cx="758008" cy="1300703"/>
            <a:chOff x="3855590" y="1436575"/>
            <a:chExt cx="758008" cy="1300703"/>
          </a:xfrm>
        </p:grpSpPr>
        <p:cxnSp>
          <p:nvCxnSpPr>
            <p:cNvPr id="197" name="Straight Connector 196">
              <a:extLst>
                <a:ext uri="{FF2B5EF4-FFF2-40B4-BE49-F238E27FC236}">
                  <a16:creationId xmlns:a16="http://schemas.microsoft.com/office/drawing/2014/main" id="{507DD277-52AA-4F4A-8918-738F49266D02}"/>
                </a:ext>
              </a:extLst>
            </p:cNvPr>
            <p:cNvCxnSpPr>
              <a:cxnSpLocks/>
            </p:cNvCxnSpPr>
            <p:nvPr/>
          </p:nvCxnSpPr>
          <p:spPr bwMode="gray">
            <a:xfrm flipV="1">
              <a:off x="4234591" y="237161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98" name="Oval 197">
              <a:extLst>
                <a:ext uri="{FF2B5EF4-FFF2-40B4-BE49-F238E27FC236}">
                  <a16:creationId xmlns:a16="http://schemas.microsoft.com/office/drawing/2014/main" id="{995AE75D-14AE-4CF4-ADCD-3C997A5622A4}"/>
                </a:ext>
              </a:extLst>
            </p:cNvPr>
            <p:cNvSpPr/>
            <p:nvPr/>
          </p:nvSpPr>
          <p:spPr>
            <a:xfrm>
              <a:off x="3994531"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99" name="Rounded Rectangle 37">
              <a:extLst>
                <a:ext uri="{FF2B5EF4-FFF2-40B4-BE49-F238E27FC236}">
                  <a16:creationId xmlns:a16="http://schemas.microsoft.com/office/drawing/2014/main" id="{CC8D1500-B86F-4049-AA7C-D68FF61843C8}"/>
                </a:ext>
              </a:extLst>
            </p:cNvPr>
            <p:cNvSpPr/>
            <p:nvPr/>
          </p:nvSpPr>
          <p:spPr>
            <a:xfrm>
              <a:off x="3855590"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Data-at-Rest</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Encryption</a:t>
              </a:r>
            </a:p>
          </p:txBody>
        </p:sp>
        <p:grpSp>
          <p:nvGrpSpPr>
            <p:cNvPr id="258" name="Picture Placeholder 96" descr="Storage Secure&#10;">
              <a:extLst>
                <a:ext uri="{FF2B5EF4-FFF2-40B4-BE49-F238E27FC236}">
                  <a16:creationId xmlns:a16="http://schemas.microsoft.com/office/drawing/2014/main" id="{7818BE63-5623-4417-9653-A34D84335ECF}"/>
                </a:ext>
              </a:extLst>
            </p:cNvPr>
            <p:cNvGrpSpPr>
              <a:grpSpLocks noChangeAspect="1"/>
            </p:cNvGrpSpPr>
            <p:nvPr/>
          </p:nvGrpSpPr>
          <p:grpSpPr>
            <a:xfrm>
              <a:off x="4116947" y="1998123"/>
              <a:ext cx="274320" cy="295409"/>
              <a:chOff x="5851715" y="3181479"/>
              <a:chExt cx="559094" cy="602073"/>
            </a:xfrm>
            <a:solidFill>
              <a:schemeClr val="tx1"/>
            </a:solidFill>
          </p:grpSpPr>
          <p:sp>
            <p:nvSpPr>
              <p:cNvPr id="259" name="Picture Placeholder 96">
                <a:extLst>
                  <a:ext uri="{FF2B5EF4-FFF2-40B4-BE49-F238E27FC236}">
                    <a16:creationId xmlns:a16="http://schemas.microsoft.com/office/drawing/2014/main" id="{E0D31C48-A936-4A51-B012-D303F40187A6}"/>
                  </a:ext>
                </a:extLst>
              </p:cNvPr>
              <p:cNvSpPr/>
              <p:nvPr/>
            </p:nvSpPr>
            <p:spPr>
              <a:xfrm>
                <a:off x="6223602" y="3503439"/>
                <a:ext cx="187208" cy="278862"/>
              </a:xfrm>
              <a:custGeom>
                <a:avLst/>
                <a:gdLst>
                  <a:gd name="connsiteX0" fmla="*/ 148628 w 187208"/>
                  <a:gd name="connsiteY0" fmla="*/ 109010 h 278862"/>
                  <a:gd name="connsiteX1" fmla="*/ 148628 w 187208"/>
                  <a:gd name="connsiteY1" fmla="*/ 55773 h 278862"/>
                  <a:gd name="connsiteX2" fmla="*/ 98031 w 187208"/>
                  <a:gd name="connsiteY2" fmla="*/ 0 h 278862"/>
                  <a:gd name="connsiteX3" fmla="*/ 89177 w 187208"/>
                  <a:gd name="connsiteY3" fmla="*/ 0 h 278862"/>
                  <a:gd name="connsiteX4" fmla="*/ 38580 w 187208"/>
                  <a:gd name="connsiteY4" fmla="*/ 55773 h 278862"/>
                  <a:gd name="connsiteX5" fmla="*/ 38580 w 187208"/>
                  <a:gd name="connsiteY5" fmla="*/ 109010 h 278862"/>
                  <a:gd name="connsiteX6" fmla="*/ 0 w 187208"/>
                  <a:gd name="connsiteY6" fmla="*/ 185063 h 278862"/>
                  <a:gd name="connsiteX7" fmla="*/ 93604 w 187208"/>
                  <a:gd name="connsiteY7" fmla="*/ 278862 h 278862"/>
                  <a:gd name="connsiteX8" fmla="*/ 187208 w 187208"/>
                  <a:gd name="connsiteY8" fmla="*/ 185063 h 278862"/>
                  <a:gd name="connsiteX9" fmla="*/ 148628 w 187208"/>
                  <a:gd name="connsiteY9" fmla="*/ 109010 h 278862"/>
                  <a:gd name="connsiteX10" fmla="*/ 55024 w 187208"/>
                  <a:gd name="connsiteY10" fmla="*/ 55773 h 278862"/>
                  <a:gd name="connsiteX11" fmla="*/ 89177 w 187208"/>
                  <a:gd name="connsiteY11" fmla="*/ 15844 h 278862"/>
                  <a:gd name="connsiteX12" fmla="*/ 98031 w 187208"/>
                  <a:gd name="connsiteY12" fmla="*/ 15844 h 278862"/>
                  <a:gd name="connsiteX13" fmla="*/ 132184 w 187208"/>
                  <a:gd name="connsiteY13" fmla="*/ 55773 h 278862"/>
                  <a:gd name="connsiteX14" fmla="*/ 132184 w 187208"/>
                  <a:gd name="connsiteY14" fmla="*/ 99503 h 278862"/>
                  <a:gd name="connsiteX15" fmla="*/ 93604 w 187208"/>
                  <a:gd name="connsiteY15" fmla="*/ 91264 h 278862"/>
                  <a:gd name="connsiteX16" fmla="*/ 55024 w 187208"/>
                  <a:gd name="connsiteY16" fmla="*/ 99503 h 278862"/>
                  <a:gd name="connsiteX17" fmla="*/ 55024 w 187208"/>
                  <a:gd name="connsiteY17" fmla="*/ 55773 h 278862"/>
                  <a:gd name="connsiteX18" fmla="*/ 94237 w 187208"/>
                  <a:gd name="connsiteY18" fmla="*/ 262384 h 278862"/>
                  <a:gd name="connsiteX19" fmla="*/ 17076 w 187208"/>
                  <a:gd name="connsiteY19" fmla="*/ 185063 h 278862"/>
                  <a:gd name="connsiteX20" fmla="*/ 94237 w 187208"/>
                  <a:gd name="connsiteY20" fmla="*/ 107742 h 278862"/>
                  <a:gd name="connsiteX21" fmla="*/ 171397 w 187208"/>
                  <a:gd name="connsiteY21" fmla="*/ 185063 h 278862"/>
                  <a:gd name="connsiteX22" fmla="*/ 94237 w 187208"/>
                  <a:gd name="connsiteY22" fmla="*/ 262384 h 278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7208" h="278862">
                    <a:moveTo>
                      <a:pt x="148628" y="109010"/>
                    </a:moveTo>
                    <a:lnTo>
                      <a:pt x="148628" y="55773"/>
                    </a:lnTo>
                    <a:cubicBezTo>
                      <a:pt x="148628" y="25351"/>
                      <a:pt x="125860" y="0"/>
                      <a:pt x="98031" y="0"/>
                    </a:cubicBezTo>
                    <a:lnTo>
                      <a:pt x="89177" y="0"/>
                    </a:lnTo>
                    <a:cubicBezTo>
                      <a:pt x="61349" y="0"/>
                      <a:pt x="38580" y="24717"/>
                      <a:pt x="38580" y="55773"/>
                    </a:cubicBezTo>
                    <a:lnTo>
                      <a:pt x="38580" y="109010"/>
                    </a:lnTo>
                    <a:cubicBezTo>
                      <a:pt x="15179" y="126122"/>
                      <a:pt x="0" y="153374"/>
                      <a:pt x="0" y="185063"/>
                    </a:cubicBezTo>
                    <a:cubicBezTo>
                      <a:pt x="0" y="237033"/>
                      <a:pt x="41742" y="278862"/>
                      <a:pt x="93604" y="278862"/>
                    </a:cubicBezTo>
                    <a:cubicBezTo>
                      <a:pt x="145466" y="278862"/>
                      <a:pt x="187208" y="237033"/>
                      <a:pt x="187208" y="185063"/>
                    </a:cubicBezTo>
                    <a:cubicBezTo>
                      <a:pt x="187208" y="153374"/>
                      <a:pt x="172029" y="125488"/>
                      <a:pt x="148628" y="109010"/>
                    </a:cubicBezTo>
                    <a:close/>
                    <a:moveTo>
                      <a:pt x="55024" y="55773"/>
                    </a:moveTo>
                    <a:cubicBezTo>
                      <a:pt x="55024" y="33590"/>
                      <a:pt x="70203" y="15844"/>
                      <a:pt x="89177" y="15844"/>
                    </a:cubicBezTo>
                    <a:lnTo>
                      <a:pt x="98031" y="15844"/>
                    </a:lnTo>
                    <a:cubicBezTo>
                      <a:pt x="117005" y="15844"/>
                      <a:pt x="132184" y="33590"/>
                      <a:pt x="132184" y="55773"/>
                    </a:cubicBezTo>
                    <a:lnTo>
                      <a:pt x="132184" y="99503"/>
                    </a:lnTo>
                    <a:cubicBezTo>
                      <a:pt x="120167" y="93799"/>
                      <a:pt x="107518" y="91264"/>
                      <a:pt x="93604" y="91264"/>
                    </a:cubicBezTo>
                    <a:cubicBezTo>
                      <a:pt x="79690" y="91264"/>
                      <a:pt x="66408" y="94433"/>
                      <a:pt x="55024" y="99503"/>
                    </a:cubicBezTo>
                    <a:lnTo>
                      <a:pt x="55024" y="55773"/>
                    </a:lnTo>
                    <a:close/>
                    <a:moveTo>
                      <a:pt x="94237" y="262384"/>
                    </a:moveTo>
                    <a:cubicBezTo>
                      <a:pt x="51862" y="262384"/>
                      <a:pt x="17076" y="227526"/>
                      <a:pt x="17076" y="185063"/>
                    </a:cubicBezTo>
                    <a:cubicBezTo>
                      <a:pt x="17076" y="142600"/>
                      <a:pt x="51862" y="107742"/>
                      <a:pt x="94237" y="107742"/>
                    </a:cubicBezTo>
                    <a:cubicBezTo>
                      <a:pt x="136611" y="107742"/>
                      <a:pt x="171397" y="142600"/>
                      <a:pt x="171397" y="185063"/>
                    </a:cubicBezTo>
                    <a:cubicBezTo>
                      <a:pt x="171397" y="227526"/>
                      <a:pt x="136611" y="262384"/>
                      <a:pt x="94237" y="26238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60" name="Picture Placeholder 96">
                <a:extLst>
                  <a:ext uri="{FF2B5EF4-FFF2-40B4-BE49-F238E27FC236}">
                    <a16:creationId xmlns:a16="http://schemas.microsoft.com/office/drawing/2014/main" id="{5AD1DBCA-E0CF-4A75-9112-92D2A9EF6C5C}"/>
                  </a:ext>
                </a:extLst>
              </p:cNvPr>
              <p:cNvSpPr/>
              <p:nvPr/>
            </p:nvSpPr>
            <p:spPr>
              <a:xfrm>
                <a:off x="6302659" y="3663785"/>
                <a:ext cx="29765" cy="48167"/>
              </a:xfrm>
              <a:custGeom>
                <a:avLst/>
                <a:gdLst>
                  <a:gd name="connsiteX0" fmla="*/ 15179 w 29765"/>
                  <a:gd name="connsiteY0" fmla="*/ 0 h 48167"/>
                  <a:gd name="connsiteX1" fmla="*/ 0 w 29765"/>
                  <a:gd name="connsiteY1" fmla="*/ 15211 h 48167"/>
                  <a:gd name="connsiteX2" fmla="*/ 7590 w 29765"/>
                  <a:gd name="connsiteY2" fmla="*/ 28520 h 48167"/>
                  <a:gd name="connsiteX3" fmla="*/ 7590 w 29765"/>
                  <a:gd name="connsiteY3" fmla="*/ 44364 h 48167"/>
                  <a:gd name="connsiteX4" fmla="*/ 11384 w 29765"/>
                  <a:gd name="connsiteY4" fmla="*/ 48167 h 48167"/>
                  <a:gd name="connsiteX5" fmla="*/ 18341 w 29765"/>
                  <a:gd name="connsiteY5" fmla="*/ 48167 h 48167"/>
                  <a:gd name="connsiteX6" fmla="*/ 22136 w 29765"/>
                  <a:gd name="connsiteY6" fmla="*/ 44364 h 48167"/>
                  <a:gd name="connsiteX7" fmla="*/ 22136 w 29765"/>
                  <a:gd name="connsiteY7" fmla="*/ 28520 h 48167"/>
                  <a:gd name="connsiteX8" fmla="*/ 29726 w 29765"/>
                  <a:gd name="connsiteY8" fmla="*/ 15211 h 48167"/>
                  <a:gd name="connsiteX9" fmla="*/ 15179 w 29765"/>
                  <a:gd name="connsiteY9" fmla="*/ 0 h 4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65" h="48167">
                    <a:moveTo>
                      <a:pt x="15179" y="0"/>
                    </a:moveTo>
                    <a:cubicBezTo>
                      <a:pt x="6957" y="0"/>
                      <a:pt x="0" y="6972"/>
                      <a:pt x="0" y="15211"/>
                    </a:cubicBezTo>
                    <a:cubicBezTo>
                      <a:pt x="0" y="20915"/>
                      <a:pt x="3162" y="25985"/>
                      <a:pt x="7590" y="28520"/>
                    </a:cubicBezTo>
                    <a:lnTo>
                      <a:pt x="7590" y="44364"/>
                    </a:lnTo>
                    <a:cubicBezTo>
                      <a:pt x="7590" y="46900"/>
                      <a:pt x="9487" y="48167"/>
                      <a:pt x="11384" y="48167"/>
                    </a:cubicBezTo>
                    <a:lnTo>
                      <a:pt x="18341" y="48167"/>
                    </a:lnTo>
                    <a:cubicBezTo>
                      <a:pt x="20871" y="48167"/>
                      <a:pt x="22136" y="46266"/>
                      <a:pt x="22136" y="44364"/>
                    </a:cubicBezTo>
                    <a:lnTo>
                      <a:pt x="22136" y="28520"/>
                    </a:lnTo>
                    <a:cubicBezTo>
                      <a:pt x="26563" y="25985"/>
                      <a:pt x="29726" y="20915"/>
                      <a:pt x="29726" y="15211"/>
                    </a:cubicBezTo>
                    <a:cubicBezTo>
                      <a:pt x="30358" y="6972"/>
                      <a:pt x="23401" y="0"/>
                      <a:pt x="15179"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261" name="Picture Placeholder 96">
                <a:extLst>
                  <a:ext uri="{FF2B5EF4-FFF2-40B4-BE49-F238E27FC236}">
                    <a16:creationId xmlns:a16="http://schemas.microsoft.com/office/drawing/2014/main" id="{BCB6A7C0-C7E8-4181-A732-F102D944A312}"/>
                  </a:ext>
                </a:extLst>
              </p:cNvPr>
              <p:cNvGrpSpPr/>
              <p:nvPr/>
            </p:nvGrpSpPr>
            <p:grpSpPr>
              <a:xfrm>
                <a:off x="5851715" y="3181479"/>
                <a:ext cx="474345" cy="572224"/>
                <a:chOff x="5851715" y="3181479"/>
                <a:chExt cx="474345" cy="572224"/>
              </a:xfrm>
              <a:grpFill/>
            </p:grpSpPr>
            <p:sp>
              <p:nvSpPr>
                <p:cNvPr id="262" name="Picture Placeholder 96">
                  <a:extLst>
                    <a:ext uri="{FF2B5EF4-FFF2-40B4-BE49-F238E27FC236}">
                      <a16:creationId xmlns:a16="http://schemas.microsoft.com/office/drawing/2014/main" id="{C9E27497-9BC1-4187-8BDD-E95904F1E281}"/>
                    </a:ext>
                  </a:extLst>
                </p:cNvPr>
                <p:cNvSpPr/>
                <p:nvPr/>
              </p:nvSpPr>
              <p:spPr>
                <a:xfrm>
                  <a:off x="5851715" y="3181479"/>
                  <a:ext cx="474345" cy="295974"/>
                </a:xfrm>
                <a:custGeom>
                  <a:avLst/>
                  <a:gdLst>
                    <a:gd name="connsiteX0" fmla="*/ 237173 w 474345"/>
                    <a:gd name="connsiteY0" fmla="*/ 272525 h 295974"/>
                    <a:gd name="connsiteX1" fmla="*/ 458534 w 474345"/>
                    <a:gd name="connsiteY1" fmla="*/ 229428 h 295974"/>
                    <a:gd name="connsiteX2" fmla="*/ 458534 w 474345"/>
                    <a:gd name="connsiteY2" fmla="*/ 295974 h 295974"/>
                    <a:gd name="connsiteX3" fmla="*/ 474345 w 474345"/>
                    <a:gd name="connsiteY3" fmla="*/ 295974 h 295974"/>
                    <a:gd name="connsiteX4" fmla="*/ 474345 w 474345"/>
                    <a:gd name="connsiteY4" fmla="*/ 69082 h 295974"/>
                    <a:gd name="connsiteX5" fmla="*/ 237173 w 474345"/>
                    <a:gd name="connsiteY5" fmla="*/ 0 h 295974"/>
                    <a:gd name="connsiteX6" fmla="*/ 0 w 474345"/>
                    <a:gd name="connsiteY6" fmla="*/ 69082 h 295974"/>
                    <a:gd name="connsiteX7" fmla="*/ 237173 w 474345"/>
                    <a:gd name="connsiteY7" fmla="*/ 138164 h 295974"/>
                    <a:gd name="connsiteX8" fmla="*/ 458534 w 474345"/>
                    <a:gd name="connsiteY8" fmla="*/ 95067 h 295974"/>
                    <a:gd name="connsiteX9" fmla="*/ 458534 w 474345"/>
                    <a:gd name="connsiteY9" fmla="*/ 203443 h 295974"/>
                    <a:gd name="connsiteX10" fmla="*/ 237173 w 474345"/>
                    <a:gd name="connsiteY10" fmla="*/ 256680 h 295974"/>
                    <a:gd name="connsiteX11" fmla="*/ 15812 w 474345"/>
                    <a:gd name="connsiteY11" fmla="*/ 203443 h 295974"/>
                    <a:gd name="connsiteX12" fmla="*/ 15812 w 474345"/>
                    <a:gd name="connsiteY12" fmla="*/ 124221 h 295974"/>
                    <a:gd name="connsiteX13" fmla="*/ 0 w 474345"/>
                    <a:gd name="connsiteY13" fmla="*/ 124221 h 295974"/>
                    <a:gd name="connsiteX14" fmla="*/ 0 w 474345"/>
                    <a:gd name="connsiteY14" fmla="*/ 202809 h 295974"/>
                    <a:gd name="connsiteX15" fmla="*/ 237173 w 474345"/>
                    <a:gd name="connsiteY15" fmla="*/ 272525 h 295974"/>
                    <a:gd name="connsiteX16" fmla="*/ 237173 w 474345"/>
                    <a:gd name="connsiteY16" fmla="*/ 122319 h 295974"/>
                    <a:gd name="connsiteX17" fmla="*/ 15812 w 474345"/>
                    <a:gd name="connsiteY17" fmla="*/ 69082 h 295974"/>
                    <a:gd name="connsiteX18" fmla="*/ 237173 w 474345"/>
                    <a:gd name="connsiteY18" fmla="*/ 15844 h 295974"/>
                    <a:gd name="connsiteX19" fmla="*/ 458534 w 474345"/>
                    <a:gd name="connsiteY19" fmla="*/ 69082 h 295974"/>
                    <a:gd name="connsiteX20" fmla="*/ 237173 w 474345"/>
                    <a:gd name="connsiteY20" fmla="*/ 122319 h 29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4345" h="295974">
                      <a:moveTo>
                        <a:pt x="237173" y="272525"/>
                      </a:moveTo>
                      <a:cubicBezTo>
                        <a:pt x="326982" y="272525"/>
                        <a:pt x="421851" y="257314"/>
                        <a:pt x="458534" y="229428"/>
                      </a:cubicBezTo>
                      <a:lnTo>
                        <a:pt x="458534" y="295974"/>
                      </a:lnTo>
                      <a:lnTo>
                        <a:pt x="474345" y="295974"/>
                      </a:lnTo>
                      <a:lnTo>
                        <a:pt x="474345" y="69082"/>
                      </a:lnTo>
                      <a:cubicBezTo>
                        <a:pt x="474345" y="24084"/>
                        <a:pt x="352280" y="0"/>
                        <a:pt x="237173" y="0"/>
                      </a:cubicBezTo>
                      <a:cubicBezTo>
                        <a:pt x="122065" y="0"/>
                        <a:pt x="0" y="24084"/>
                        <a:pt x="0" y="69082"/>
                      </a:cubicBezTo>
                      <a:cubicBezTo>
                        <a:pt x="0" y="114080"/>
                        <a:pt x="122065" y="138164"/>
                        <a:pt x="237173" y="138164"/>
                      </a:cubicBezTo>
                      <a:cubicBezTo>
                        <a:pt x="326982" y="138164"/>
                        <a:pt x="421851" y="122953"/>
                        <a:pt x="458534" y="95067"/>
                      </a:cubicBezTo>
                      <a:lnTo>
                        <a:pt x="458534" y="203443"/>
                      </a:lnTo>
                      <a:cubicBezTo>
                        <a:pt x="458534" y="225625"/>
                        <a:pt x="374416" y="256680"/>
                        <a:pt x="237173" y="256680"/>
                      </a:cubicBezTo>
                      <a:cubicBezTo>
                        <a:pt x="99929" y="256680"/>
                        <a:pt x="15812" y="225625"/>
                        <a:pt x="15812" y="203443"/>
                      </a:cubicBezTo>
                      <a:lnTo>
                        <a:pt x="15812" y="124221"/>
                      </a:lnTo>
                      <a:lnTo>
                        <a:pt x="0" y="124221"/>
                      </a:lnTo>
                      <a:lnTo>
                        <a:pt x="0" y="202809"/>
                      </a:lnTo>
                      <a:cubicBezTo>
                        <a:pt x="0" y="248441"/>
                        <a:pt x="122065" y="272525"/>
                        <a:pt x="237173" y="272525"/>
                      </a:cubicBezTo>
                      <a:close/>
                      <a:moveTo>
                        <a:pt x="237173" y="122319"/>
                      </a:moveTo>
                      <a:cubicBezTo>
                        <a:pt x="99929" y="122319"/>
                        <a:pt x="15812" y="91264"/>
                        <a:pt x="15812" y="69082"/>
                      </a:cubicBezTo>
                      <a:cubicBezTo>
                        <a:pt x="15812" y="46900"/>
                        <a:pt x="99929" y="15844"/>
                        <a:pt x="237173" y="15844"/>
                      </a:cubicBezTo>
                      <a:cubicBezTo>
                        <a:pt x="374416" y="15844"/>
                        <a:pt x="458534" y="46900"/>
                        <a:pt x="458534" y="69082"/>
                      </a:cubicBezTo>
                      <a:cubicBezTo>
                        <a:pt x="458534" y="91264"/>
                        <a:pt x="373784" y="122319"/>
                        <a:pt x="237173" y="12231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63" name="Picture Placeholder 96">
                  <a:extLst>
                    <a:ext uri="{FF2B5EF4-FFF2-40B4-BE49-F238E27FC236}">
                      <a16:creationId xmlns:a16="http://schemas.microsoft.com/office/drawing/2014/main" id="{A69088A8-6D7E-41A0-9E1B-530B0CED84C6}"/>
                    </a:ext>
                  </a:extLst>
                </p:cNvPr>
                <p:cNvSpPr/>
                <p:nvPr/>
              </p:nvSpPr>
              <p:spPr>
                <a:xfrm>
                  <a:off x="5851715" y="3604843"/>
                  <a:ext cx="354810" cy="147670"/>
                </a:xfrm>
                <a:custGeom>
                  <a:avLst/>
                  <a:gdLst>
                    <a:gd name="connsiteX0" fmla="*/ 354810 w 354810"/>
                    <a:gd name="connsiteY0" fmla="*/ 123587 h 147670"/>
                    <a:gd name="connsiteX1" fmla="*/ 237173 w 354810"/>
                    <a:gd name="connsiteY1" fmla="*/ 132460 h 147670"/>
                    <a:gd name="connsiteX2" fmla="*/ 15812 w 354810"/>
                    <a:gd name="connsiteY2" fmla="*/ 79222 h 147670"/>
                    <a:gd name="connsiteX3" fmla="*/ 15812 w 354810"/>
                    <a:gd name="connsiteY3" fmla="*/ 0 h 147670"/>
                    <a:gd name="connsiteX4" fmla="*/ 0 w 354810"/>
                    <a:gd name="connsiteY4" fmla="*/ 0 h 147670"/>
                    <a:gd name="connsiteX5" fmla="*/ 0 w 354810"/>
                    <a:gd name="connsiteY5" fmla="*/ 78589 h 147670"/>
                    <a:gd name="connsiteX6" fmla="*/ 237173 w 354810"/>
                    <a:gd name="connsiteY6" fmla="*/ 147670 h 147670"/>
                    <a:gd name="connsiteX7" fmla="*/ 354810 w 354810"/>
                    <a:gd name="connsiteY7" fmla="*/ 138797 h 147670"/>
                    <a:gd name="connsiteX8" fmla="*/ 354810 w 354810"/>
                    <a:gd name="connsiteY8" fmla="*/ 123587 h 14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4810" h="147670">
                      <a:moveTo>
                        <a:pt x="354810" y="123587"/>
                      </a:moveTo>
                      <a:cubicBezTo>
                        <a:pt x="321922" y="129291"/>
                        <a:pt x="282710" y="132460"/>
                        <a:pt x="237173" y="132460"/>
                      </a:cubicBezTo>
                      <a:cubicBezTo>
                        <a:pt x="99929" y="132460"/>
                        <a:pt x="15812" y="101405"/>
                        <a:pt x="15812" y="79222"/>
                      </a:cubicBezTo>
                      <a:lnTo>
                        <a:pt x="15812" y="0"/>
                      </a:lnTo>
                      <a:lnTo>
                        <a:pt x="0" y="0"/>
                      </a:lnTo>
                      <a:lnTo>
                        <a:pt x="0" y="78589"/>
                      </a:lnTo>
                      <a:cubicBezTo>
                        <a:pt x="0" y="123587"/>
                        <a:pt x="122065" y="147670"/>
                        <a:pt x="237173" y="147670"/>
                      </a:cubicBezTo>
                      <a:cubicBezTo>
                        <a:pt x="277650" y="147670"/>
                        <a:pt x="318760" y="144501"/>
                        <a:pt x="354810" y="138797"/>
                      </a:cubicBezTo>
                      <a:lnTo>
                        <a:pt x="354810" y="123587"/>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64" name="Picture Placeholder 96">
                  <a:extLst>
                    <a:ext uri="{FF2B5EF4-FFF2-40B4-BE49-F238E27FC236}">
                      <a16:creationId xmlns:a16="http://schemas.microsoft.com/office/drawing/2014/main" id="{DB18CD41-EEB3-44D5-87D7-C797DCB96732}"/>
                    </a:ext>
                  </a:extLst>
                </p:cNvPr>
                <p:cNvSpPr/>
                <p:nvPr/>
              </p:nvSpPr>
              <p:spPr>
                <a:xfrm>
                  <a:off x="5851715" y="3455272"/>
                  <a:ext cx="354810" cy="148304"/>
                </a:xfrm>
                <a:custGeom>
                  <a:avLst/>
                  <a:gdLst>
                    <a:gd name="connsiteX0" fmla="*/ 237173 w 354810"/>
                    <a:gd name="connsiteY0" fmla="*/ 148304 h 148304"/>
                    <a:gd name="connsiteX1" fmla="*/ 354810 w 354810"/>
                    <a:gd name="connsiteY1" fmla="*/ 139431 h 148304"/>
                    <a:gd name="connsiteX2" fmla="*/ 354810 w 354810"/>
                    <a:gd name="connsiteY2" fmla="*/ 123587 h 148304"/>
                    <a:gd name="connsiteX3" fmla="*/ 237173 w 354810"/>
                    <a:gd name="connsiteY3" fmla="*/ 132460 h 148304"/>
                    <a:gd name="connsiteX4" fmla="*/ 15812 w 354810"/>
                    <a:gd name="connsiteY4" fmla="*/ 78589 h 148304"/>
                    <a:gd name="connsiteX5" fmla="*/ 15812 w 354810"/>
                    <a:gd name="connsiteY5" fmla="*/ 0 h 148304"/>
                    <a:gd name="connsiteX6" fmla="*/ 0 w 354810"/>
                    <a:gd name="connsiteY6" fmla="*/ 0 h 148304"/>
                    <a:gd name="connsiteX7" fmla="*/ 0 w 354810"/>
                    <a:gd name="connsiteY7" fmla="*/ 78589 h 148304"/>
                    <a:gd name="connsiteX8" fmla="*/ 237173 w 354810"/>
                    <a:gd name="connsiteY8" fmla="*/ 148304 h 1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4810" h="148304">
                      <a:moveTo>
                        <a:pt x="237173" y="148304"/>
                      </a:moveTo>
                      <a:cubicBezTo>
                        <a:pt x="277650" y="148304"/>
                        <a:pt x="318760" y="145135"/>
                        <a:pt x="354810" y="139431"/>
                      </a:cubicBezTo>
                      <a:lnTo>
                        <a:pt x="354810" y="123587"/>
                      </a:lnTo>
                      <a:cubicBezTo>
                        <a:pt x="321922" y="129291"/>
                        <a:pt x="282710" y="132460"/>
                        <a:pt x="237173" y="132460"/>
                      </a:cubicBezTo>
                      <a:cubicBezTo>
                        <a:pt x="99929" y="132460"/>
                        <a:pt x="15812" y="101405"/>
                        <a:pt x="15812" y="78589"/>
                      </a:cubicBezTo>
                      <a:lnTo>
                        <a:pt x="15812" y="0"/>
                      </a:lnTo>
                      <a:lnTo>
                        <a:pt x="0" y="0"/>
                      </a:lnTo>
                      <a:lnTo>
                        <a:pt x="0" y="78589"/>
                      </a:lnTo>
                      <a:cubicBezTo>
                        <a:pt x="0" y="124221"/>
                        <a:pt x="122065" y="148304"/>
                        <a:pt x="237173" y="14830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13" name="Group 12">
            <a:extLst>
              <a:ext uri="{FF2B5EF4-FFF2-40B4-BE49-F238E27FC236}">
                <a16:creationId xmlns:a16="http://schemas.microsoft.com/office/drawing/2014/main" id="{71812BAC-3498-4B83-9C85-C520A4612699}"/>
              </a:ext>
            </a:extLst>
          </p:cNvPr>
          <p:cNvGrpSpPr/>
          <p:nvPr/>
        </p:nvGrpSpPr>
        <p:grpSpPr>
          <a:xfrm>
            <a:off x="2874901" y="1261010"/>
            <a:ext cx="758008" cy="1300703"/>
            <a:chOff x="2872610" y="1436575"/>
            <a:chExt cx="758008" cy="1300703"/>
          </a:xfrm>
        </p:grpSpPr>
        <p:cxnSp>
          <p:nvCxnSpPr>
            <p:cNvPr id="124" name="Straight Connector 123">
              <a:extLst>
                <a:ext uri="{FF2B5EF4-FFF2-40B4-BE49-F238E27FC236}">
                  <a16:creationId xmlns:a16="http://schemas.microsoft.com/office/drawing/2014/main" id="{49458914-0920-4798-A869-41AD676DE6E7}"/>
                </a:ext>
              </a:extLst>
            </p:cNvPr>
            <p:cNvCxnSpPr>
              <a:cxnSpLocks/>
            </p:cNvCxnSpPr>
            <p:nvPr/>
          </p:nvCxnSpPr>
          <p:spPr bwMode="gray">
            <a:xfrm flipV="1">
              <a:off x="3251611" y="237161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30" name="Oval 129">
              <a:extLst>
                <a:ext uri="{FF2B5EF4-FFF2-40B4-BE49-F238E27FC236}">
                  <a16:creationId xmlns:a16="http://schemas.microsoft.com/office/drawing/2014/main" id="{1C984887-0622-4CF5-A998-DD116290EC2C}"/>
                </a:ext>
              </a:extLst>
            </p:cNvPr>
            <p:cNvSpPr/>
            <p:nvPr/>
          </p:nvSpPr>
          <p:spPr>
            <a:xfrm>
              <a:off x="3011551"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31" name="Rounded Rectangle 37">
              <a:extLst>
                <a:ext uri="{FF2B5EF4-FFF2-40B4-BE49-F238E27FC236}">
                  <a16:creationId xmlns:a16="http://schemas.microsoft.com/office/drawing/2014/main" id="{44512959-7C50-4B43-ABED-DF8FDF680954}"/>
                </a:ext>
              </a:extLst>
            </p:cNvPr>
            <p:cNvSpPr/>
            <p:nvPr/>
          </p:nvSpPr>
          <p:spPr>
            <a:xfrm>
              <a:off x="2872610"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Automated</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Patching</a:t>
              </a:r>
            </a:p>
          </p:txBody>
        </p:sp>
        <p:grpSp>
          <p:nvGrpSpPr>
            <p:cNvPr id="265" name="Picture Placeholder 89" descr="Security Lifecycle&#10;">
              <a:extLst>
                <a:ext uri="{FF2B5EF4-FFF2-40B4-BE49-F238E27FC236}">
                  <a16:creationId xmlns:a16="http://schemas.microsoft.com/office/drawing/2014/main" id="{4122E753-4C0F-4179-9775-53645760411E}"/>
                </a:ext>
              </a:extLst>
            </p:cNvPr>
            <p:cNvGrpSpPr>
              <a:grpSpLocks noChangeAspect="1"/>
            </p:cNvGrpSpPr>
            <p:nvPr/>
          </p:nvGrpSpPr>
          <p:grpSpPr>
            <a:xfrm>
              <a:off x="3121454" y="1995171"/>
              <a:ext cx="274607" cy="274320"/>
              <a:chOff x="8438627" y="1946048"/>
              <a:chExt cx="605896" cy="605264"/>
            </a:xfrm>
            <a:solidFill>
              <a:schemeClr val="tx1"/>
            </a:solidFill>
          </p:grpSpPr>
          <p:sp>
            <p:nvSpPr>
              <p:cNvPr id="266" name="Picture Placeholder 89">
                <a:extLst>
                  <a:ext uri="{FF2B5EF4-FFF2-40B4-BE49-F238E27FC236}">
                    <a16:creationId xmlns:a16="http://schemas.microsoft.com/office/drawing/2014/main" id="{F22861FE-7B7F-40B2-AE3A-8E88BAE9F9C8}"/>
                  </a:ext>
                </a:extLst>
              </p:cNvPr>
              <p:cNvSpPr/>
              <p:nvPr/>
            </p:nvSpPr>
            <p:spPr>
              <a:xfrm>
                <a:off x="8438627" y="1946048"/>
                <a:ext cx="588187" cy="471182"/>
              </a:xfrm>
              <a:custGeom>
                <a:avLst/>
                <a:gdLst>
                  <a:gd name="connsiteX0" fmla="*/ 17076 w 588187"/>
                  <a:gd name="connsiteY0" fmla="*/ 302948 h 471182"/>
                  <a:gd name="connsiteX1" fmla="*/ 302948 w 588187"/>
                  <a:gd name="connsiteY1" fmla="*/ 17076 h 471182"/>
                  <a:gd name="connsiteX2" fmla="*/ 550240 w 588187"/>
                  <a:gd name="connsiteY2" fmla="*/ 158747 h 471182"/>
                  <a:gd name="connsiteX3" fmla="*/ 501541 w 588187"/>
                  <a:gd name="connsiteY3" fmla="*/ 149893 h 471182"/>
                  <a:gd name="connsiteX4" fmla="*/ 498379 w 588187"/>
                  <a:gd name="connsiteY4" fmla="*/ 166337 h 471182"/>
                  <a:gd name="connsiteX5" fmla="*/ 573009 w 588187"/>
                  <a:gd name="connsiteY5" fmla="*/ 179619 h 471182"/>
                  <a:gd name="connsiteX6" fmla="*/ 588188 w 588187"/>
                  <a:gd name="connsiteY6" fmla="*/ 105621 h 471182"/>
                  <a:gd name="connsiteX7" fmla="*/ 571744 w 588187"/>
                  <a:gd name="connsiteY7" fmla="*/ 102459 h 471182"/>
                  <a:gd name="connsiteX8" fmla="*/ 562257 w 588187"/>
                  <a:gd name="connsiteY8" fmla="*/ 146731 h 471182"/>
                  <a:gd name="connsiteX9" fmla="*/ 302948 w 588187"/>
                  <a:gd name="connsiteY9" fmla="*/ 0 h 471182"/>
                  <a:gd name="connsiteX10" fmla="*/ 0 w 588187"/>
                  <a:gd name="connsiteY10" fmla="*/ 302948 h 471182"/>
                  <a:gd name="connsiteX11" fmla="*/ 50597 w 588187"/>
                  <a:gd name="connsiteY11" fmla="*/ 471183 h 471182"/>
                  <a:gd name="connsiteX12" fmla="*/ 64511 w 588187"/>
                  <a:gd name="connsiteY12" fmla="*/ 461696 h 471182"/>
                  <a:gd name="connsiteX13" fmla="*/ 17076 w 588187"/>
                  <a:gd name="connsiteY13" fmla="*/ 302948 h 4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8187" h="471182">
                    <a:moveTo>
                      <a:pt x="17076" y="302948"/>
                    </a:moveTo>
                    <a:cubicBezTo>
                      <a:pt x="17076" y="145466"/>
                      <a:pt x="145466" y="17076"/>
                      <a:pt x="302948" y="17076"/>
                    </a:cubicBezTo>
                    <a:cubicBezTo>
                      <a:pt x="405407" y="17076"/>
                      <a:pt x="499011" y="70836"/>
                      <a:pt x="550240" y="158747"/>
                    </a:cubicBezTo>
                    <a:lnTo>
                      <a:pt x="501541" y="149893"/>
                    </a:lnTo>
                    <a:lnTo>
                      <a:pt x="498379" y="166337"/>
                    </a:lnTo>
                    <a:lnTo>
                      <a:pt x="573009" y="179619"/>
                    </a:lnTo>
                    <a:lnTo>
                      <a:pt x="588188" y="105621"/>
                    </a:lnTo>
                    <a:lnTo>
                      <a:pt x="571744" y="102459"/>
                    </a:lnTo>
                    <a:lnTo>
                      <a:pt x="562257" y="146731"/>
                    </a:lnTo>
                    <a:cubicBezTo>
                      <a:pt x="507865" y="55656"/>
                      <a:pt x="409834" y="0"/>
                      <a:pt x="302948" y="0"/>
                    </a:cubicBezTo>
                    <a:cubicBezTo>
                      <a:pt x="135979" y="0"/>
                      <a:pt x="0" y="135979"/>
                      <a:pt x="0" y="302948"/>
                    </a:cubicBezTo>
                    <a:cubicBezTo>
                      <a:pt x="0" y="363032"/>
                      <a:pt x="17709" y="421218"/>
                      <a:pt x="50597" y="471183"/>
                    </a:cubicBezTo>
                    <a:lnTo>
                      <a:pt x="64511" y="461696"/>
                    </a:lnTo>
                    <a:cubicBezTo>
                      <a:pt x="34153" y="414261"/>
                      <a:pt x="17076" y="359870"/>
                      <a:pt x="17076" y="302948"/>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67" name="Picture Placeholder 89">
                <a:extLst>
                  <a:ext uri="{FF2B5EF4-FFF2-40B4-BE49-F238E27FC236}">
                    <a16:creationId xmlns:a16="http://schemas.microsoft.com/office/drawing/2014/main" id="{F94ABC2A-AF01-4F74-94E2-FDAE02EC7D1B}"/>
                  </a:ext>
                </a:extLst>
              </p:cNvPr>
              <p:cNvSpPr/>
              <p:nvPr/>
            </p:nvSpPr>
            <p:spPr>
              <a:xfrm>
                <a:off x="8500608" y="2143376"/>
                <a:ext cx="543915" cy="407936"/>
              </a:xfrm>
              <a:custGeom>
                <a:avLst/>
                <a:gdLst>
                  <a:gd name="connsiteX0" fmla="*/ 524942 w 543915"/>
                  <a:gd name="connsiteY0" fmla="*/ 0 h 407936"/>
                  <a:gd name="connsiteX1" fmla="*/ 509130 w 543915"/>
                  <a:gd name="connsiteY1" fmla="*/ 5692 h 407936"/>
                  <a:gd name="connsiteX2" fmla="*/ 526839 w 543915"/>
                  <a:gd name="connsiteY2" fmla="*/ 105621 h 407936"/>
                  <a:gd name="connsiteX3" fmla="*/ 240967 w 543915"/>
                  <a:gd name="connsiteY3" fmla="*/ 391493 h 407936"/>
                  <a:gd name="connsiteX4" fmla="*/ 37315 w 543915"/>
                  <a:gd name="connsiteY4" fmla="*/ 306111 h 407936"/>
                  <a:gd name="connsiteX5" fmla="*/ 86647 w 543915"/>
                  <a:gd name="connsiteY5" fmla="*/ 314965 h 407936"/>
                  <a:gd name="connsiteX6" fmla="*/ 89809 w 543915"/>
                  <a:gd name="connsiteY6" fmla="*/ 298521 h 407936"/>
                  <a:gd name="connsiteX7" fmla="*/ 15179 w 543915"/>
                  <a:gd name="connsiteY7" fmla="*/ 285239 h 407936"/>
                  <a:gd name="connsiteX8" fmla="*/ 0 w 543915"/>
                  <a:gd name="connsiteY8" fmla="*/ 359237 h 407936"/>
                  <a:gd name="connsiteX9" fmla="*/ 16444 w 543915"/>
                  <a:gd name="connsiteY9" fmla="*/ 362400 h 407936"/>
                  <a:gd name="connsiteX10" fmla="*/ 25931 w 543915"/>
                  <a:gd name="connsiteY10" fmla="*/ 318127 h 407936"/>
                  <a:gd name="connsiteX11" fmla="*/ 240967 w 543915"/>
                  <a:gd name="connsiteY11" fmla="*/ 407937 h 407936"/>
                  <a:gd name="connsiteX12" fmla="*/ 543916 w 543915"/>
                  <a:gd name="connsiteY12" fmla="*/ 104988 h 407936"/>
                  <a:gd name="connsiteX13" fmla="*/ 524942 w 543915"/>
                  <a:gd name="connsiteY13" fmla="*/ 0 h 407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3915" h="407936">
                    <a:moveTo>
                      <a:pt x="524942" y="0"/>
                    </a:moveTo>
                    <a:lnTo>
                      <a:pt x="509130" y="5692"/>
                    </a:lnTo>
                    <a:cubicBezTo>
                      <a:pt x="521147" y="37315"/>
                      <a:pt x="526839" y="71468"/>
                      <a:pt x="526839" y="105621"/>
                    </a:cubicBezTo>
                    <a:cubicBezTo>
                      <a:pt x="526839" y="263103"/>
                      <a:pt x="398450" y="391493"/>
                      <a:pt x="240967" y="391493"/>
                    </a:cubicBezTo>
                    <a:cubicBezTo>
                      <a:pt x="164440" y="391493"/>
                      <a:pt x="91074" y="360502"/>
                      <a:pt x="37315" y="306111"/>
                    </a:cubicBezTo>
                    <a:lnTo>
                      <a:pt x="86647" y="314965"/>
                    </a:lnTo>
                    <a:lnTo>
                      <a:pt x="89809" y="298521"/>
                    </a:lnTo>
                    <a:lnTo>
                      <a:pt x="15179" y="285239"/>
                    </a:lnTo>
                    <a:lnTo>
                      <a:pt x="0" y="359237"/>
                    </a:lnTo>
                    <a:lnTo>
                      <a:pt x="16444" y="362400"/>
                    </a:lnTo>
                    <a:lnTo>
                      <a:pt x="25931" y="318127"/>
                    </a:lnTo>
                    <a:cubicBezTo>
                      <a:pt x="82852" y="375681"/>
                      <a:pt x="160012" y="407937"/>
                      <a:pt x="240967" y="407937"/>
                    </a:cubicBezTo>
                    <a:cubicBezTo>
                      <a:pt x="407937" y="407937"/>
                      <a:pt x="543916" y="271958"/>
                      <a:pt x="543916" y="104988"/>
                    </a:cubicBezTo>
                    <a:cubicBezTo>
                      <a:pt x="543916" y="68938"/>
                      <a:pt x="537591" y="33520"/>
                      <a:pt x="524942"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68" name="Picture Placeholder 89">
                <a:extLst>
                  <a:ext uri="{FF2B5EF4-FFF2-40B4-BE49-F238E27FC236}">
                    <a16:creationId xmlns:a16="http://schemas.microsoft.com/office/drawing/2014/main" id="{57A80703-98B7-470C-90B3-A5E39796C4C0}"/>
                  </a:ext>
                </a:extLst>
              </p:cNvPr>
              <p:cNvSpPr/>
              <p:nvPr/>
            </p:nvSpPr>
            <p:spPr>
              <a:xfrm>
                <a:off x="8721969" y="2275560"/>
                <a:ext cx="46169" cy="72100"/>
              </a:xfrm>
              <a:custGeom>
                <a:avLst/>
                <a:gdLst>
                  <a:gd name="connsiteX0" fmla="*/ 0 w 46169"/>
                  <a:gd name="connsiteY0" fmla="*/ 22769 h 72100"/>
                  <a:gd name="connsiteX1" fmla="*/ 11384 w 46169"/>
                  <a:gd name="connsiteY1" fmla="*/ 42375 h 72100"/>
                  <a:gd name="connsiteX2" fmla="*/ 11384 w 46169"/>
                  <a:gd name="connsiteY2" fmla="*/ 65776 h 72100"/>
                  <a:gd name="connsiteX3" fmla="*/ 17709 w 46169"/>
                  <a:gd name="connsiteY3" fmla="*/ 72100 h 72100"/>
                  <a:gd name="connsiteX4" fmla="*/ 28461 w 46169"/>
                  <a:gd name="connsiteY4" fmla="*/ 72100 h 72100"/>
                  <a:gd name="connsiteX5" fmla="*/ 34785 w 46169"/>
                  <a:gd name="connsiteY5" fmla="*/ 65776 h 72100"/>
                  <a:gd name="connsiteX6" fmla="*/ 34785 w 46169"/>
                  <a:gd name="connsiteY6" fmla="*/ 42375 h 72100"/>
                  <a:gd name="connsiteX7" fmla="*/ 46170 w 46169"/>
                  <a:gd name="connsiteY7" fmla="*/ 22769 h 72100"/>
                  <a:gd name="connsiteX8" fmla="*/ 23401 w 46169"/>
                  <a:gd name="connsiteY8" fmla="*/ 0 h 72100"/>
                  <a:gd name="connsiteX9" fmla="*/ 0 w 46169"/>
                  <a:gd name="connsiteY9" fmla="*/ 22769 h 7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169" h="72100">
                    <a:moveTo>
                      <a:pt x="0" y="22769"/>
                    </a:moveTo>
                    <a:cubicBezTo>
                      <a:pt x="0" y="30991"/>
                      <a:pt x="4427" y="38580"/>
                      <a:pt x="11384" y="42375"/>
                    </a:cubicBezTo>
                    <a:lnTo>
                      <a:pt x="11384" y="65776"/>
                    </a:lnTo>
                    <a:cubicBezTo>
                      <a:pt x="11384" y="68938"/>
                      <a:pt x="13914" y="72100"/>
                      <a:pt x="17709" y="72100"/>
                    </a:cubicBezTo>
                    <a:lnTo>
                      <a:pt x="28461" y="72100"/>
                    </a:lnTo>
                    <a:cubicBezTo>
                      <a:pt x="31623" y="72100"/>
                      <a:pt x="34785" y="69571"/>
                      <a:pt x="34785" y="65776"/>
                    </a:cubicBezTo>
                    <a:lnTo>
                      <a:pt x="34785" y="42375"/>
                    </a:lnTo>
                    <a:cubicBezTo>
                      <a:pt x="41742" y="38580"/>
                      <a:pt x="46170" y="30991"/>
                      <a:pt x="46170" y="22769"/>
                    </a:cubicBezTo>
                    <a:cubicBezTo>
                      <a:pt x="46170" y="10119"/>
                      <a:pt x="36050" y="0"/>
                      <a:pt x="23401" y="0"/>
                    </a:cubicBezTo>
                    <a:cubicBezTo>
                      <a:pt x="10119" y="0"/>
                      <a:pt x="0" y="10119"/>
                      <a:pt x="0" y="2276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69" name="Picture Placeholder 89">
                <a:extLst>
                  <a:ext uri="{FF2B5EF4-FFF2-40B4-BE49-F238E27FC236}">
                    <a16:creationId xmlns:a16="http://schemas.microsoft.com/office/drawing/2014/main" id="{7DEA4763-0426-48C9-80F3-AC5199FA23DE}"/>
                  </a:ext>
                </a:extLst>
              </p:cNvPr>
              <p:cNvSpPr/>
              <p:nvPr/>
            </p:nvSpPr>
            <p:spPr>
              <a:xfrm>
                <a:off x="8604331" y="2045977"/>
                <a:ext cx="282077" cy="408569"/>
              </a:xfrm>
              <a:custGeom>
                <a:avLst/>
                <a:gdLst>
                  <a:gd name="connsiteX0" fmla="*/ 141039 w 282077"/>
                  <a:gd name="connsiteY0" fmla="*/ 0 h 408569"/>
                  <a:gd name="connsiteX1" fmla="*/ 64511 w 282077"/>
                  <a:gd name="connsiteY1" fmla="*/ 76528 h 408569"/>
                  <a:gd name="connsiteX2" fmla="*/ 64511 w 282077"/>
                  <a:gd name="connsiteY2" fmla="*/ 149261 h 408569"/>
                  <a:gd name="connsiteX3" fmla="*/ 0 w 282077"/>
                  <a:gd name="connsiteY3" fmla="*/ 267531 h 408569"/>
                  <a:gd name="connsiteX4" fmla="*/ 141039 w 282077"/>
                  <a:gd name="connsiteY4" fmla="*/ 408569 h 408569"/>
                  <a:gd name="connsiteX5" fmla="*/ 282077 w 282077"/>
                  <a:gd name="connsiteY5" fmla="*/ 267531 h 408569"/>
                  <a:gd name="connsiteX6" fmla="*/ 217566 w 282077"/>
                  <a:gd name="connsiteY6" fmla="*/ 149261 h 408569"/>
                  <a:gd name="connsiteX7" fmla="*/ 217566 w 282077"/>
                  <a:gd name="connsiteY7" fmla="*/ 76528 h 408569"/>
                  <a:gd name="connsiteX8" fmla="*/ 141039 w 282077"/>
                  <a:gd name="connsiteY8" fmla="*/ 0 h 408569"/>
                  <a:gd name="connsiteX9" fmla="*/ 83485 w 282077"/>
                  <a:gd name="connsiteY9" fmla="*/ 76528 h 408569"/>
                  <a:gd name="connsiteX10" fmla="*/ 141039 w 282077"/>
                  <a:gd name="connsiteY10" fmla="*/ 18974 h 408569"/>
                  <a:gd name="connsiteX11" fmla="*/ 198592 w 282077"/>
                  <a:gd name="connsiteY11" fmla="*/ 76528 h 408569"/>
                  <a:gd name="connsiteX12" fmla="*/ 198592 w 282077"/>
                  <a:gd name="connsiteY12" fmla="*/ 139141 h 408569"/>
                  <a:gd name="connsiteX13" fmla="*/ 141039 w 282077"/>
                  <a:gd name="connsiteY13" fmla="*/ 126492 h 408569"/>
                  <a:gd name="connsiteX14" fmla="*/ 83485 w 282077"/>
                  <a:gd name="connsiteY14" fmla="*/ 138509 h 408569"/>
                  <a:gd name="connsiteX15" fmla="*/ 83485 w 282077"/>
                  <a:gd name="connsiteY15" fmla="*/ 76528 h 408569"/>
                  <a:gd name="connsiteX16" fmla="*/ 262471 w 282077"/>
                  <a:gd name="connsiteY16" fmla="*/ 267531 h 408569"/>
                  <a:gd name="connsiteX17" fmla="*/ 140406 w 282077"/>
                  <a:gd name="connsiteY17" fmla="*/ 389595 h 408569"/>
                  <a:gd name="connsiteX18" fmla="*/ 18341 w 282077"/>
                  <a:gd name="connsiteY18" fmla="*/ 267531 h 408569"/>
                  <a:gd name="connsiteX19" fmla="*/ 140406 w 282077"/>
                  <a:gd name="connsiteY19" fmla="*/ 145466 h 408569"/>
                  <a:gd name="connsiteX20" fmla="*/ 262471 w 282077"/>
                  <a:gd name="connsiteY20" fmla="*/ 267531 h 408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2077" h="408569">
                    <a:moveTo>
                      <a:pt x="141039" y="0"/>
                    </a:moveTo>
                    <a:cubicBezTo>
                      <a:pt x="98664" y="0"/>
                      <a:pt x="64511" y="34153"/>
                      <a:pt x="64511" y="76528"/>
                    </a:cubicBezTo>
                    <a:lnTo>
                      <a:pt x="64511" y="149261"/>
                    </a:lnTo>
                    <a:cubicBezTo>
                      <a:pt x="25298" y="174559"/>
                      <a:pt x="0" y="218199"/>
                      <a:pt x="0" y="267531"/>
                    </a:cubicBezTo>
                    <a:cubicBezTo>
                      <a:pt x="0" y="345323"/>
                      <a:pt x="63246" y="408569"/>
                      <a:pt x="141039" y="408569"/>
                    </a:cubicBezTo>
                    <a:cubicBezTo>
                      <a:pt x="218831" y="408569"/>
                      <a:pt x="282077" y="345323"/>
                      <a:pt x="282077" y="267531"/>
                    </a:cubicBezTo>
                    <a:cubicBezTo>
                      <a:pt x="282077" y="218199"/>
                      <a:pt x="256146" y="174559"/>
                      <a:pt x="217566" y="149261"/>
                    </a:cubicBezTo>
                    <a:lnTo>
                      <a:pt x="217566" y="76528"/>
                    </a:lnTo>
                    <a:cubicBezTo>
                      <a:pt x="217566" y="34153"/>
                      <a:pt x="182781" y="0"/>
                      <a:pt x="141039" y="0"/>
                    </a:cubicBezTo>
                    <a:close/>
                    <a:moveTo>
                      <a:pt x="83485" y="76528"/>
                    </a:moveTo>
                    <a:cubicBezTo>
                      <a:pt x="83485" y="44905"/>
                      <a:pt x="109416" y="18974"/>
                      <a:pt x="141039" y="18974"/>
                    </a:cubicBezTo>
                    <a:cubicBezTo>
                      <a:pt x="172662" y="18974"/>
                      <a:pt x="198592" y="44905"/>
                      <a:pt x="198592" y="76528"/>
                    </a:cubicBezTo>
                    <a:lnTo>
                      <a:pt x="198592" y="139141"/>
                    </a:lnTo>
                    <a:cubicBezTo>
                      <a:pt x="180884" y="130919"/>
                      <a:pt x="161277" y="126492"/>
                      <a:pt x="141039" y="126492"/>
                    </a:cubicBezTo>
                    <a:cubicBezTo>
                      <a:pt x="120800" y="126492"/>
                      <a:pt x="101194" y="130919"/>
                      <a:pt x="83485" y="138509"/>
                    </a:cubicBezTo>
                    <a:lnTo>
                      <a:pt x="83485" y="76528"/>
                    </a:lnTo>
                    <a:close/>
                    <a:moveTo>
                      <a:pt x="262471" y="267531"/>
                    </a:moveTo>
                    <a:cubicBezTo>
                      <a:pt x="262471" y="334571"/>
                      <a:pt x="207447" y="389595"/>
                      <a:pt x="140406" y="389595"/>
                    </a:cubicBezTo>
                    <a:cubicBezTo>
                      <a:pt x="73365" y="389595"/>
                      <a:pt x="18341" y="335204"/>
                      <a:pt x="18341" y="267531"/>
                    </a:cubicBezTo>
                    <a:cubicBezTo>
                      <a:pt x="18341" y="199857"/>
                      <a:pt x="73365" y="145466"/>
                      <a:pt x="140406" y="145466"/>
                    </a:cubicBezTo>
                    <a:cubicBezTo>
                      <a:pt x="207447" y="145466"/>
                      <a:pt x="262471" y="200490"/>
                      <a:pt x="262471" y="26753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22" name="Group 21">
            <a:extLst>
              <a:ext uri="{FF2B5EF4-FFF2-40B4-BE49-F238E27FC236}">
                <a16:creationId xmlns:a16="http://schemas.microsoft.com/office/drawing/2014/main" id="{8B032D61-58CE-4ECB-AB1F-7245C13214E9}"/>
              </a:ext>
            </a:extLst>
          </p:cNvPr>
          <p:cNvGrpSpPr/>
          <p:nvPr/>
        </p:nvGrpSpPr>
        <p:grpSpPr>
          <a:xfrm>
            <a:off x="1623789" y="3523164"/>
            <a:ext cx="758008" cy="1303912"/>
            <a:chOff x="1501458" y="3698729"/>
            <a:chExt cx="758008" cy="1303912"/>
          </a:xfrm>
        </p:grpSpPr>
        <p:cxnSp>
          <p:nvCxnSpPr>
            <p:cNvPr id="156" name="Straight Connector 155">
              <a:extLst>
                <a:ext uri="{FF2B5EF4-FFF2-40B4-BE49-F238E27FC236}">
                  <a16:creationId xmlns:a16="http://schemas.microsoft.com/office/drawing/2014/main" id="{A76821C1-22F0-4301-B17C-BDA352599A6A}"/>
                </a:ext>
              </a:extLst>
            </p:cNvPr>
            <p:cNvCxnSpPr>
              <a:cxnSpLocks/>
            </p:cNvCxnSpPr>
            <p:nvPr/>
          </p:nvCxnSpPr>
          <p:spPr bwMode="gray">
            <a:xfrm rot="10800000" flipV="1">
              <a:off x="1875114" y="3698729"/>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00" name="Oval 199">
              <a:extLst>
                <a:ext uri="{FF2B5EF4-FFF2-40B4-BE49-F238E27FC236}">
                  <a16:creationId xmlns:a16="http://schemas.microsoft.com/office/drawing/2014/main" id="{4507A491-DCA2-40D8-94C0-D1CD1AD371DC}"/>
                </a:ext>
              </a:extLst>
            </p:cNvPr>
            <p:cNvSpPr/>
            <p:nvPr/>
          </p:nvSpPr>
          <p:spPr>
            <a:xfrm rot="10800000">
              <a:off x="1641100" y="4062825"/>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201" name="Rounded Rectangle 31">
              <a:extLst>
                <a:ext uri="{FF2B5EF4-FFF2-40B4-BE49-F238E27FC236}">
                  <a16:creationId xmlns:a16="http://schemas.microsoft.com/office/drawing/2014/main" id="{56D4F053-C9FD-4222-8B20-52C177E9C2C1}"/>
                </a:ext>
              </a:extLst>
            </p:cNvPr>
            <p:cNvSpPr/>
            <p:nvPr/>
          </p:nvSpPr>
          <p:spPr>
            <a:xfrm>
              <a:off x="1501458" y="4623637"/>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Application</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Load Balancing</a:t>
              </a:r>
            </a:p>
          </p:txBody>
        </p:sp>
        <p:grpSp>
          <p:nvGrpSpPr>
            <p:cNvPr id="270" name="Picture Placeholder 101" descr="Visibility&#10;">
              <a:extLst>
                <a:ext uri="{FF2B5EF4-FFF2-40B4-BE49-F238E27FC236}">
                  <a16:creationId xmlns:a16="http://schemas.microsoft.com/office/drawing/2014/main" id="{1F88B282-92EE-4599-BF9A-42C7E6AACBC4}"/>
                </a:ext>
              </a:extLst>
            </p:cNvPr>
            <p:cNvGrpSpPr>
              <a:grpSpLocks noChangeAspect="1"/>
            </p:cNvGrpSpPr>
            <p:nvPr/>
          </p:nvGrpSpPr>
          <p:grpSpPr>
            <a:xfrm>
              <a:off x="1700949" y="4199234"/>
              <a:ext cx="365760" cy="211756"/>
              <a:chOff x="530529" y="4527708"/>
              <a:chExt cx="600837" cy="347853"/>
            </a:xfrm>
            <a:solidFill>
              <a:schemeClr val="tx1"/>
            </a:solidFill>
          </p:grpSpPr>
          <p:sp>
            <p:nvSpPr>
              <p:cNvPr id="271" name="Picture Placeholder 101">
                <a:extLst>
                  <a:ext uri="{FF2B5EF4-FFF2-40B4-BE49-F238E27FC236}">
                    <a16:creationId xmlns:a16="http://schemas.microsoft.com/office/drawing/2014/main" id="{E69CF689-04B0-48FC-992B-5A86E9472DC3}"/>
                  </a:ext>
                </a:extLst>
              </p:cNvPr>
              <p:cNvSpPr/>
              <p:nvPr/>
            </p:nvSpPr>
            <p:spPr>
              <a:xfrm>
                <a:off x="734181" y="4606766"/>
                <a:ext cx="193532" cy="189738"/>
              </a:xfrm>
              <a:custGeom>
                <a:avLst/>
                <a:gdLst>
                  <a:gd name="connsiteX0" fmla="*/ 96766 w 193532"/>
                  <a:gd name="connsiteY0" fmla="*/ 189738 h 189738"/>
                  <a:gd name="connsiteX1" fmla="*/ 0 w 193532"/>
                  <a:gd name="connsiteY1" fmla="*/ 94869 h 189738"/>
                  <a:gd name="connsiteX2" fmla="*/ 96766 w 193532"/>
                  <a:gd name="connsiteY2" fmla="*/ 0 h 189738"/>
                  <a:gd name="connsiteX3" fmla="*/ 193533 w 193532"/>
                  <a:gd name="connsiteY3" fmla="*/ 94869 h 189738"/>
                  <a:gd name="connsiteX4" fmla="*/ 96766 w 193532"/>
                  <a:gd name="connsiteY4" fmla="*/ 189738 h 189738"/>
                  <a:gd name="connsiteX5" fmla="*/ 96766 w 193532"/>
                  <a:gd name="connsiteY5" fmla="*/ 15812 h 189738"/>
                  <a:gd name="connsiteX6" fmla="*/ 15812 w 193532"/>
                  <a:gd name="connsiteY6" fmla="*/ 94869 h 189738"/>
                  <a:gd name="connsiteX7" fmla="*/ 96766 w 193532"/>
                  <a:gd name="connsiteY7" fmla="*/ 173927 h 189738"/>
                  <a:gd name="connsiteX8" fmla="*/ 177721 w 193532"/>
                  <a:gd name="connsiteY8" fmla="*/ 94869 h 189738"/>
                  <a:gd name="connsiteX9" fmla="*/ 96766 w 193532"/>
                  <a:gd name="connsiteY9" fmla="*/ 15812 h 189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3532" h="189738">
                    <a:moveTo>
                      <a:pt x="96766" y="189738"/>
                    </a:moveTo>
                    <a:cubicBezTo>
                      <a:pt x="43640" y="189738"/>
                      <a:pt x="0" y="147363"/>
                      <a:pt x="0" y="94869"/>
                    </a:cubicBezTo>
                    <a:cubicBezTo>
                      <a:pt x="0" y="42375"/>
                      <a:pt x="43007" y="0"/>
                      <a:pt x="96766" y="0"/>
                    </a:cubicBezTo>
                    <a:cubicBezTo>
                      <a:pt x="149893" y="0"/>
                      <a:pt x="193533" y="42375"/>
                      <a:pt x="193533" y="94869"/>
                    </a:cubicBezTo>
                    <a:cubicBezTo>
                      <a:pt x="193533" y="147363"/>
                      <a:pt x="149893" y="189738"/>
                      <a:pt x="96766" y="189738"/>
                    </a:cubicBezTo>
                    <a:close/>
                    <a:moveTo>
                      <a:pt x="96766" y="15812"/>
                    </a:moveTo>
                    <a:cubicBezTo>
                      <a:pt x="51862" y="15812"/>
                      <a:pt x="15812" y="51229"/>
                      <a:pt x="15812" y="94869"/>
                    </a:cubicBezTo>
                    <a:cubicBezTo>
                      <a:pt x="15812" y="138509"/>
                      <a:pt x="51862" y="173927"/>
                      <a:pt x="96766" y="173927"/>
                    </a:cubicBezTo>
                    <a:cubicBezTo>
                      <a:pt x="141671" y="173927"/>
                      <a:pt x="177721" y="138509"/>
                      <a:pt x="177721" y="94869"/>
                    </a:cubicBezTo>
                    <a:cubicBezTo>
                      <a:pt x="177721" y="51229"/>
                      <a:pt x="141039" y="15812"/>
                      <a:pt x="96766" y="1581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2" name="Picture Placeholder 101">
                <a:extLst>
                  <a:ext uri="{FF2B5EF4-FFF2-40B4-BE49-F238E27FC236}">
                    <a16:creationId xmlns:a16="http://schemas.microsoft.com/office/drawing/2014/main" id="{1C31268D-E92C-4E23-B13E-3D31BBF8E949}"/>
                  </a:ext>
                </a:extLst>
              </p:cNvPr>
              <p:cNvSpPr/>
              <p:nvPr/>
            </p:nvSpPr>
            <p:spPr>
              <a:xfrm>
                <a:off x="530529" y="4527708"/>
                <a:ext cx="600837" cy="347853"/>
              </a:xfrm>
              <a:custGeom>
                <a:avLst/>
                <a:gdLst>
                  <a:gd name="connsiteX0" fmla="*/ 597042 w 600837"/>
                  <a:gd name="connsiteY0" fmla="*/ 169499 h 347853"/>
                  <a:gd name="connsiteX1" fmla="*/ 510395 w 600837"/>
                  <a:gd name="connsiteY1" fmla="*/ 85382 h 347853"/>
                  <a:gd name="connsiteX2" fmla="*/ 300419 w 600837"/>
                  <a:gd name="connsiteY2" fmla="*/ 0 h 347853"/>
                  <a:gd name="connsiteX3" fmla="*/ 89809 w 600837"/>
                  <a:gd name="connsiteY3" fmla="*/ 84750 h 347853"/>
                  <a:gd name="connsiteX4" fmla="*/ 3795 w 600837"/>
                  <a:gd name="connsiteY4" fmla="*/ 169499 h 347853"/>
                  <a:gd name="connsiteX5" fmla="*/ 0 w 600837"/>
                  <a:gd name="connsiteY5" fmla="*/ 173927 h 347853"/>
                  <a:gd name="connsiteX6" fmla="*/ 3795 w 600837"/>
                  <a:gd name="connsiteY6" fmla="*/ 178986 h 347853"/>
                  <a:gd name="connsiteX7" fmla="*/ 10119 w 600837"/>
                  <a:gd name="connsiteY7" fmla="*/ 186576 h 347853"/>
                  <a:gd name="connsiteX8" fmla="*/ 20871 w 600837"/>
                  <a:gd name="connsiteY8" fmla="*/ 174559 h 347853"/>
                  <a:gd name="connsiteX9" fmla="*/ 20871 w 600837"/>
                  <a:gd name="connsiteY9" fmla="*/ 173927 h 347853"/>
                  <a:gd name="connsiteX10" fmla="*/ 301051 w 600837"/>
                  <a:gd name="connsiteY10" fmla="*/ 15812 h 347853"/>
                  <a:gd name="connsiteX11" fmla="*/ 581231 w 600837"/>
                  <a:gd name="connsiteY11" fmla="*/ 173927 h 347853"/>
                  <a:gd name="connsiteX12" fmla="*/ 301051 w 600837"/>
                  <a:gd name="connsiteY12" fmla="*/ 332042 h 347853"/>
                  <a:gd name="connsiteX13" fmla="*/ 41742 w 600837"/>
                  <a:gd name="connsiteY13" fmla="*/ 196695 h 347853"/>
                  <a:gd name="connsiteX14" fmla="*/ 30358 w 600837"/>
                  <a:gd name="connsiteY14" fmla="*/ 208079 h 347853"/>
                  <a:gd name="connsiteX15" fmla="*/ 90442 w 600837"/>
                  <a:gd name="connsiteY15" fmla="*/ 263103 h 347853"/>
                  <a:gd name="connsiteX16" fmla="*/ 300419 w 600837"/>
                  <a:gd name="connsiteY16" fmla="*/ 347853 h 347853"/>
                  <a:gd name="connsiteX17" fmla="*/ 510395 w 600837"/>
                  <a:gd name="connsiteY17" fmla="*/ 263103 h 347853"/>
                  <a:gd name="connsiteX18" fmla="*/ 597042 w 600837"/>
                  <a:gd name="connsiteY18" fmla="*/ 178986 h 347853"/>
                  <a:gd name="connsiteX19" fmla="*/ 600837 w 600837"/>
                  <a:gd name="connsiteY19" fmla="*/ 173927 h 347853"/>
                  <a:gd name="connsiteX20" fmla="*/ 597042 w 600837"/>
                  <a:gd name="connsiteY20" fmla="*/ 169499 h 347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0837" h="347853">
                    <a:moveTo>
                      <a:pt x="597042" y="169499"/>
                    </a:moveTo>
                    <a:cubicBezTo>
                      <a:pt x="595777" y="167602"/>
                      <a:pt x="563522" y="126492"/>
                      <a:pt x="510395" y="85382"/>
                    </a:cubicBezTo>
                    <a:cubicBezTo>
                      <a:pt x="461696" y="46170"/>
                      <a:pt x="385168" y="0"/>
                      <a:pt x="300419" y="0"/>
                    </a:cubicBezTo>
                    <a:cubicBezTo>
                      <a:pt x="215669" y="0"/>
                      <a:pt x="139141" y="46170"/>
                      <a:pt x="89809" y="84750"/>
                    </a:cubicBezTo>
                    <a:cubicBezTo>
                      <a:pt x="37315" y="126492"/>
                      <a:pt x="5060" y="167602"/>
                      <a:pt x="3795" y="169499"/>
                    </a:cubicBezTo>
                    <a:lnTo>
                      <a:pt x="0" y="173927"/>
                    </a:lnTo>
                    <a:lnTo>
                      <a:pt x="3795" y="178986"/>
                    </a:lnTo>
                    <a:cubicBezTo>
                      <a:pt x="4427" y="179619"/>
                      <a:pt x="6325" y="182148"/>
                      <a:pt x="10119" y="186576"/>
                    </a:cubicBezTo>
                    <a:lnTo>
                      <a:pt x="20871" y="174559"/>
                    </a:lnTo>
                    <a:cubicBezTo>
                      <a:pt x="20871" y="174559"/>
                      <a:pt x="20871" y="174559"/>
                      <a:pt x="20871" y="173927"/>
                    </a:cubicBezTo>
                    <a:cubicBezTo>
                      <a:pt x="43640" y="146731"/>
                      <a:pt x="161910" y="15812"/>
                      <a:pt x="301051" y="15812"/>
                    </a:cubicBezTo>
                    <a:cubicBezTo>
                      <a:pt x="440192" y="15812"/>
                      <a:pt x="558462" y="146731"/>
                      <a:pt x="581231" y="173927"/>
                    </a:cubicBezTo>
                    <a:cubicBezTo>
                      <a:pt x="558462" y="201122"/>
                      <a:pt x="440192" y="332042"/>
                      <a:pt x="301051" y="332042"/>
                    </a:cubicBezTo>
                    <a:cubicBezTo>
                      <a:pt x="186576" y="332042"/>
                      <a:pt x="86647" y="243497"/>
                      <a:pt x="41742" y="196695"/>
                    </a:cubicBezTo>
                    <a:lnTo>
                      <a:pt x="30358" y="208079"/>
                    </a:lnTo>
                    <a:cubicBezTo>
                      <a:pt x="44905" y="223258"/>
                      <a:pt x="65776" y="242865"/>
                      <a:pt x="90442" y="263103"/>
                    </a:cubicBezTo>
                    <a:cubicBezTo>
                      <a:pt x="139141" y="301683"/>
                      <a:pt x="215036" y="347853"/>
                      <a:pt x="300419" y="347853"/>
                    </a:cubicBezTo>
                    <a:cubicBezTo>
                      <a:pt x="385801" y="347853"/>
                      <a:pt x="461696" y="301683"/>
                      <a:pt x="510395" y="263103"/>
                    </a:cubicBezTo>
                    <a:cubicBezTo>
                      <a:pt x="562889" y="221361"/>
                      <a:pt x="595145" y="180251"/>
                      <a:pt x="597042" y="178986"/>
                    </a:cubicBezTo>
                    <a:lnTo>
                      <a:pt x="600837" y="173927"/>
                    </a:lnTo>
                    <a:lnTo>
                      <a:pt x="597042" y="169499"/>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19" name="Group 18">
            <a:extLst>
              <a:ext uri="{FF2B5EF4-FFF2-40B4-BE49-F238E27FC236}">
                <a16:creationId xmlns:a16="http://schemas.microsoft.com/office/drawing/2014/main" id="{11193379-41C7-4F33-944D-B697F30F15CC}"/>
              </a:ext>
            </a:extLst>
          </p:cNvPr>
          <p:cNvGrpSpPr/>
          <p:nvPr/>
        </p:nvGrpSpPr>
        <p:grpSpPr>
          <a:xfrm>
            <a:off x="9200569" y="1261010"/>
            <a:ext cx="758008" cy="1317802"/>
            <a:chOff x="9308111" y="1436575"/>
            <a:chExt cx="758008" cy="1317802"/>
          </a:xfrm>
        </p:grpSpPr>
        <p:cxnSp>
          <p:nvCxnSpPr>
            <p:cNvPr id="248" name="Straight Connector 247">
              <a:extLst>
                <a:ext uri="{FF2B5EF4-FFF2-40B4-BE49-F238E27FC236}">
                  <a16:creationId xmlns:a16="http://schemas.microsoft.com/office/drawing/2014/main" id="{19752386-6F9A-4053-9ECB-DBD86891E713}"/>
                </a:ext>
              </a:extLst>
            </p:cNvPr>
            <p:cNvCxnSpPr>
              <a:cxnSpLocks/>
            </p:cNvCxnSpPr>
            <p:nvPr/>
          </p:nvCxnSpPr>
          <p:spPr bwMode="gray">
            <a:xfrm flipV="1">
              <a:off x="9687112" y="2388712"/>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49" name="Oval 248">
              <a:extLst>
                <a:ext uri="{FF2B5EF4-FFF2-40B4-BE49-F238E27FC236}">
                  <a16:creationId xmlns:a16="http://schemas.microsoft.com/office/drawing/2014/main" id="{127E3563-329F-4590-995E-9E39F98F73F6}"/>
                </a:ext>
              </a:extLst>
            </p:cNvPr>
            <p:cNvSpPr/>
            <p:nvPr/>
          </p:nvSpPr>
          <p:spPr>
            <a:xfrm>
              <a:off x="9447052"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250" name="Rounded Rectangle 37">
              <a:extLst>
                <a:ext uri="{FF2B5EF4-FFF2-40B4-BE49-F238E27FC236}">
                  <a16:creationId xmlns:a16="http://schemas.microsoft.com/office/drawing/2014/main" id="{3EF411E6-FE78-45CA-9896-9E59ED36A8A0}"/>
                </a:ext>
              </a:extLst>
            </p:cNvPr>
            <p:cNvSpPr/>
            <p:nvPr/>
          </p:nvSpPr>
          <p:spPr>
            <a:xfrm>
              <a:off x="9308111"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Redeploy</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Modern App</a:t>
              </a:r>
            </a:p>
          </p:txBody>
        </p:sp>
        <p:grpSp>
          <p:nvGrpSpPr>
            <p:cNvPr id="273" name="Picture Placeholder 77" descr="DevOps&#10;">
              <a:extLst>
                <a:ext uri="{FF2B5EF4-FFF2-40B4-BE49-F238E27FC236}">
                  <a16:creationId xmlns:a16="http://schemas.microsoft.com/office/drawing/2014/main" id="{ACD3C024-0F61-4796-8BD7-7121FB23E2C7}"/>
                </a:ext>
              </a:extLst>
            </p:cNvPr>
            <p:cNvGrpSpPr>
              <a:grpSpLocks noChangeAspect="1"/>
            </p:cNvGrpSpPr>
            <p:nvPr/>
          </p:nvGrpSpPr>
          <p:grpSpPr>
            <a:xfrm>
              <a:off x="9504232" y="2043825"/>
              <a:ext cx="365760" cy="204316"/>
              <a:chOff x="4511243" y="4174113"/>
              <a:chExt cx="598939" cy="334571"/>
            </a:xfrm>
            <a:solidFill>
              <a:schemeClr val="tx1"/>
            </a:solidFill>
          </p:grpSpPr>
          <p:sp>
            <p:nvSpPr>
              <p:cNvPr id="274" name="Picture Placeholder 77">
                <a:extLst>
                  <a:ext uri="{FF2B5EF4-FFF2-40B4-BE49-F238E27FC236}">
                    <a16:creationId xmlns:a16="http://schemas.microsoft.com/office/drawing/2014/main" id="{17EE068B-3371-4C3B-B2EA-AD5FB54159CF}"/>
                  </a:ext>
                </a:extLst>
              </p:cNvPr>
              <p:cNvSpPr/>
              <p:nvPr/>
            </p:nvSpPr>
            <p:spPr>
              <a:xfrm>
                <a:off x="4581446" y="4176643"/>
                <a:ext cx="528736" cy="332041"/>
              </a:xfrm>
              <a:custGeom>
                <a:avLst/>
                <a:gdLst>
                  <a:gd name="connsiteX0" fmla="*/ 361767 w 528736"/>
                  <a:gd name="connsiteY0" fmla="*/ 332042 h 332041"/>
                  <a:gd name="connsiteX1" fmla="*/ 263736 w 528736"/>
                  <a:gd name="connsiteY1" fmla="*/ 300419 h 332041"/>
                  <a:gd name="connsiteX2" fmla="*/ 240335 w 528736"/>
                  <a:gd name="connsiteY2" fmla="*/ 279547 h 332041"/>
                  <a:gd name="connsiteX3" fmla="*/ 252984 w 528736"/>
                  <a:gd name="connsiteY3" fmla="*/ 268796 h 332041"/>
                  <a:gd name="connsiteX4" fmla="*/ 273855 w 528736"/>
                  <a:gd name="connsiteY4" fmla="*/ 287137 h 332041"/>
                  <a:gd name="connsiteX5" fmla="*/ 362400 w 528736"/>
                  <a:gd name="connsiteY5" fmla="*/ 316230 h 332041"/>
                  <a:gd name="connsiteX6" fmla="*/ 512925 w 528736"/>
                  <a:gd name="connsiteY6" fmla="*/ 165705 h 332041"/>
                  <a:gd name="connsiteX7" fmla="*/ 362400 w 528736"/>
                  <a:gd name="connsiteY7" fmla="*/ 15179 h 332041"/>
                  <a:gd name="connsiteX8" fmla="*/ 228318 w 528736"/>
                  <a:gd name="connsiteY8" fmla="*/ 96766 h 332041"/>
                  <a:gd name="connsiteX9" fmla="*/ 212507 w 528736"/>
                  <a:gd name="connsiteY9" fmla="*/ 150525 h 332041"/>
                  <a:gd name="connsiteX10" fmla="*/ 209344 w 528736"/>
                  <a:gd name="connsiteY10" fmla="*/ 167602 h 332041"/>
                  <a:gd name="connsiteX11" fmla="*/ 209344 w 528736"/>
                  <a:gd name="connsiteY11" fmla="*/ 167602 h 332041"/>
                  <a:gd name="connsiteX12" fmla="*/ 209344 w 528736"/>
                  <a:gd name="connsiteY12" fmla="*/ 167602 h 332041"/>
                  <a:gd name="connsiteX13" fmla="*/ 200490 w 528736"/>
                  <a:gd name="connsiteY13" fmla="*/ 197960 h 332041"/>
                  <a:gd name="connsiteX14" fmla="*/ 96766 w 528736"/>
                  <a:gd name="connsiteY14" fmla="*/ 263103 h 332041"/>
                  <a:gd name="connsiteX15" fmla="*/ 0 w 528736"/>
                  <a:gd name="connsiteY15" fmla="*/ 166337 h 332041"/>
                  <a:gd name="connsiteX16" fmla="*/ 96766 w 528736"/>
                  <a:gd name="connsiteY16" fmla="*/ 69571 h 332041"/>
                  <a:gd name="connsiteX17" fmla="*/ 183413 w 528736"/>
                  <a:gd name="connsiteY17" fmla="*/ 110681 h 332041"/>
                  <a:gd name="connsiteX18" fmla="*/ 197960 w 528736"/>
                  <a:gd name="connsiteY18" fmla="*/ 137244 h 332041"/>
                  <a:gd name="connsiteX19" fmla="*/ 213139 w 528736"/>
                  <a:gd name="connsiteY19" fmla="*/ 90442 h 332041"/>
                  <a:gd name="connsiteX20" fmla="*/ 361767 w 528736"/>
                  <a:gd name="connsiteY20" fmla="*/ 0 h 332041"/>
                  <a:gd name="connsiteX21" fmla="*/ 528737 w 528736"/>
                  <a:gd name="connsiteY21" fmla="*/ 166969 h 332041"/>
                  <a:gd name="connsiteX22" fmla="*/ 361767 w 528736"/>
                  <a:gd name="connsiteY22" fmla="*/ 332042 h 332041"/>
                  <a:gd name="connsiteX23" fmla="*/ 96766 w 528736"/>
                  <a:gd name="connsiteY23" fmla="*/ 84117 h 332041"/>
                  <a:gd name="connsiteX24" fmla="*/ 16444 w 528736"/>
                  <a:gd name="connsiteY24" fmla="*/ 164440 h 332041"/>
                  <a:gd name="connsiteX25" fmla="*/ 96766 w 528736"/>
                  <a:gd name="connsiteY25" fmla="*/ 244762 h 332041"/>
                  <a:gd name="connsiteX26" fmla="*/ 184678 w 528736"/>
                  <a:gd name="connsiteY26" fmla="*/ 190370 h 332041"/>
                  <a:gd name="connsiteX27" fmla="*/ 191635 w 528736"/>
                  <a:gd name="connsiteY27" fmla="*/ 166337 h 332041"/>
                  <a:gd name="connsiteX28" fmla="*/ 170132 w 528736"/>
                  <a:gd name="connsiteY28" fmla="*/ 118270 h 332041"/>
                  <a:gd name="connsiteX29" fmla="*/ 96766 w 528736"/>
                  <a:gd name="connsiteY29" fmla="*/ 84117 h 332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8736" h="332041">
                    <a:moveTo>
                      <a:pt x="361767" y="332042"/>
                    </a:moveTo>
                    <a:cubicBezTo>
                      <a:pt x="326349" y="332042"/>
                      <a:pt x="292197" y="321290"/>
                      <a:pt x="263736" y="300419"/>
                    </a:cubicBezTo>
                    <a:cubicBezTo>
                      <a:pt x="254881" y="294726"/>
                      <a:pt x="247292" y="287769"/>
                      <a:pt x="240335" y="279547"/>
                    </a:cubicBezTo>
                    <a:lnTo>
                      <a:pt x="252984" y="268796"/>
                    </a:lnTo>
                    <a:cubicBezTo>
                      <a:pt x="259309" y="276385"/>
                      <a:pt x="265633" y="281445"/>
                      <a:pt x="273855" y="287137"/>
                    </a:cubicBezTo>
                    <a:cubicBezTo>
                      <a:pt x="299786" y="306111"/>
                      <a:pt x="330777" y="316230"/>
                      <a:pt x="362400" y="316230"/>
                    </a:cubicBezTo>
                    <a:cubicBezTo>
                      <a:pt x="445252" y="316230"/>
                      <a:pt x="512925" y="248557"/>
                      <a:pt x="512925" y="165705"/>
                    </a:cubicBezTo>
                    <a:cubicBezTo>
                      <a:pt x="512925" y="82852"/>
                      <a:pt x="445252" y="15179"/>
                      <a:pt x="362400" y="15179"/>
                    </a:cubicBezTo>
                    <a:cubicBezTo>
                      <a:pt x="306743" y="15179"/>
                      <a:pt x="254249" y="47435"/>
                      <a:pt x="228318" y="96766"/>
                    </a:cubicBezTo>
                    <a:cubicBezTo>
                      <a:pt x="219464" y="113210"/>
                      <a:pt x="216301" y="131552"/>
                      <a:pt x="212507" y="150525"/>
                    </a:cubicBezTo>
                    <a:cubicBezTo>
                      <a:pt x="211242" y="156218"/>
                      <a:pt x="210609" y="161910"/>
                      <a:pt x="209344" y="167602"/>
                    </a:cubicBezTo>
                    <a:cubicBezTo>
                      <a:pt x="209344" y="167602"/>
                      <a:pt x="209344" y="167602"/>
                      <a:pt x="209344" y="167602"/>
                    </a:cubicBezTo>
                    <a:lnTo>
                      <a:pt x="209344" y="167602"/>
                    </a:lnTo>
                    <a:cubicBezTo>
                      <a:pt x="207447" y="177721"/>
                      <a:pt x="204285" y="187841"/>
                      <a:pt x="200490" y="197960"/>
                    </a:cubicBezTo>
                    <a:cubicBezTo>
                      <a:pt x="184678" y="238437"/>
                      <a:pt x="146098" y="263103"/>
                      <a:pt x="96766" y="263103"/>
                    </a:cubicBezTo>
                    <a:cubicBezTo>
                      <a:pt x="43640" y="263103"/>
                      <a:pt x="0" y="219464"/>
                      <a:pt x="0" y="166337"/>
                    </a:cubicBezTo>
                    <a:cubicBezTo>
                      <a:pt x="0" y="113210"/>
                      <a:pt x="43640" y="69571"/>
                      <a:pt x="96766" y="69571"/>
                    </a:cubicBezTo>
                    <a:cubicBezTo>
                      <a:pt x="126492" y="69571"/>
                      <a:pt x="154953" y="72733"/>
                      <a:pt x="183413" y="110681"/>
                    </a:cubicBezTo>
                    <a:cubicBezTo>
                      <a:pt x="189106" y="118902"/>
                      <a:pt x="194165" y="127757"/>
                      <a:pt x="197960" y="137244"/>
                    </a:cubicBezTo>
                    <a:cubicBezTo>
                      <a:pt x="201122" y="121432"/>
                      <a:pt x="204917" y="105621"/>
                      <a:pt x="213139" y="90442"/>
                    </a:cubicBezTo>
                    <a:cubicBezTo>
                      <a:pt x="241600" y="35418"/>
                      <a:pt x="299786" y="0"/>
                      <a:pt x="361767" y="0"/>
                    </a:cubicBezTo>
                    <a:cubicBezTo>
                      <a:pt x="454106" y="0"/>
                      <a:pt x="528737" y="74630"/>
                      <a:pt x="528737" y="166969"/>
                    </a:cubicBezTo>
                    <a:cubicBezTo>
                      <a:pt x="528737" y="256779"/>
                      <a:pt x="454106" y="332042"/>
                      <a:pt x="361767" y="332042"/>
                    </a:cubicBezTo>
                    <a:close/>
                    <a:moveTo>
                      <a:pt x="96766" y="84117"/>
                    </a:moveTo>
                    <a:cubicBezTo>
                      <a:pt x="52494" y="84117"/>
                      <a:pt x="16444" y="120167"/>
                      <a:pt x="16444" y="164440"/>
                    </a:cubicBezTo>
                    <a:cubicBezTo>
                      <a:pt x="16444" y="208712"/>
                      <a:pt x="52494" y="244762"/>
                      <a:pt x="96766" y="244762"/>
                    </a:cubicBezTo>
                    <a:cubicBezTo>
                      <a:pt x="138509" y="244762"/>
                      <a:pt x="171397" y="224523"/>
                      <a:pt x="184678" y="190370"/>
                    </a:cubicBezTo>
                    <a:cubicBezTo>
                      <a:pt x="187841" y="182781"/>
                      <a:pt x="189738" y="174559"/>
                      <a:pt x="191635" y="166337"/>
                    </a:cubicBezTo>
                    <a:cubicBezTo>
                      <a:pt x="189106" y="157483"/>
                      <a:pt x="182148" y="134082"/>
                      <a:pt x="170132" y="118270"/>
                    </a:cubicBezTo>
                    <a:cubicBezTo>
                      <a:pt x="146731" y="86647"/>
                      <a:pt x="123962" y="84117"/>
                      <a:pt x="96766" y="8411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5" name="Picture Placeholder 77">
                <a:extLst>
                  <a:ext uri="{FF2B5EF4-FFF2-40B4-BE49-F238E27FC236}">
                    <a16:creationId xmlns:a16="http://schemas.microsoft.com/office/drawing/2014/main" id="{4082AE4F-CCD9-4097-A2E7-9D1DD4BF52F8}"/>
                  </a:ext>
                </a:extLst>
              </p:cNvPr>
              <p:cNvSpPr/>
              <p:nvPr/>
            </p:nvSpPr>
            <p:spPr>
              <a:xfrm>
                <a:off x="4511243" y="4174113"/>
                <a:ext cx="529369" cy="334571"/>
              </a:xfrm>
              <a:custGeom>
                <a:avLst/>
                <a:gdLst>
                  <a:gd name="connsiteX0" fmla="*/ 166969 w 529369"/>
                  <a:gd name="connsiteY0" fmla="*/ 334571 h 334571"/>
                  <a:gd name="connsiteX1" fmla="*/ 166969 w 529369"/>
                  <a:gd name="connsiteY1" fmla="*/ 334571 h 334571"/>
                  <a:gd name="connsiteX2" fmla="*/ 0 w 529369"/>
                  <a:gd name="connsiteY2" fmla="*/ 166969 h 334571"/>
                  <a:gd name="connsiteX3" fmla="*/ 166969 w 529369"/>
                  <a:gd name="connsiteY3" fmla="*/ 0 h 334571"/>
                  <a:gd name="connsiteX4" fmla="*/ 289034 w 529369"/>
                  <a:gd name="connsiteY4" fmla="*/ 50597 h 334571"/>
                  <a:gd name="connsiteX5" fmla="*/ 277650 w 529369"/>
                  <a:gd name="connsiteY5" fmla="*/ 62614 h 334571"/>
                  <a:gd name="connsiteX6" fmla="*/ 167602 w 529369"/>
                  <a:gd name="connsiteY6" fmla="*/ 16444 h 334571"/>
                  <a:gd name="connsiteX7" fmla="*/ 17076 w 529369"/>
                  <a:gd name="connsiteY7" fmla="*/ 166969 h 334571"/>
                  <a:gd name="connsiteX8" fmla="*/ 167602 w 529369"/>
                  <a:gd name="connsiteY8" fmla="*/ 317495 h 334571"/>
                  <a:gd name="connsiteX9" fmla="*/ 167602 w 529369"/>
                  <a:gd name="connsiteY9" fmla="*/ 317495 h 334571"/>
                  <a:gd name="connsiteX10" fmla="*/ 287769 w 529369"/>
                  <a:gd name="connsiteY10" fmla="*/ 264368 h 334571"/>
                  <a:gd name="connsiteX11" fmla="*/ 326349 w 529369"/>
                  <a:gd name="connsiteY11" fmla="*/ 178986 h 334571"/>
                  <a:gd name="connsiteX12" fmla="*/ 343426 w 529369"/>
                  <a:gd name="connsiteY12" fmla="*/ 129654 h 334571"/>
                  <a:gd name="connsiteX13" fmla="*/ 432603 w 529369"/>
                  <a:gd name="connsiteY13" fmla="*/ 70203 h 334571"/>
                  <a:gd name="connsiteX14" fmla="*/ 529369 w 529369"/>
                  <a:gd name="connsiteY14" fmla="*/ 166969 h 334571"/>
                  <a:gd name="connsiteX15" fmla="*/ 432603 w 529369"/>
                  <a:gd name="connsiteY15" fmla="*/ 263736 h 334571"/>
                  <a:gd name="connsiteX16" fmla="*/ 361767 w 529369"/>
                  <a:gd name="connsiteY16" fmla="*/ 232745 h 334571"/>
                  <a:gd name="connsiteX17" fmla="*/ 349118 w 529369"/>
                  <a:gd name="connsiteY17" fmla="*/ 220096 h 334571"/>
                  <a:gd name="connsiteX18" fmla="*/ 361135 w 529369"/>
                  <a:gd name="connsiteY18" fmla="*/ 208712 h 334571"/>
                  <a:gd name="connsiteX19" fmla="*/ 373784 w 529369"/>
                  <a:gd name="connsiteY19" fmla="*/ 221993 h 334571"/>
                  <a:gd name="connsiteX20" fmla="*/ 432603 w 529369"/>
                  <a:gd name="connsiteY20" fmla="*/ 247924 h 334571"/>
                  <a:gd name="connsiteX21" fmla="*/ 512925 w 529369"/>
                  <a:gd name="connsiteY21" fmla="*/ 167602 h 334571"/>
                  <a:gd name="connsiteX22" fmla="*/ 432603 w 529369"/>
                  <a:gd name="connsiteY22" fmla="*/ 87280 h 334571"/>
                  <a:gd name="connsiteX23" fmla="*/ 358605 w 529369"/>
                  <a:gd name="connsiteY23" fmla="*/ 136611 h 334571"/>
                  <a:gd name="connsiteX24" fmla="*/ 342161 w 529369"/>
                  <a:gd name="connsiteY24" fmla="*/ 184678 h 334571"/>
                  <a:gd name="connsiteX25" fmla="*/ 300419 w 529369"/>
                  <a:gd name="connsiteY25" fmla="*/ 275753 h 334571"/>
                  <a:gd name="connsiteX26" fmla="*/ 166969 w 529369"/>
                  <a:gd name="connsiteY26" fmla="*/ 334571 h 33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29369" h="334571">
                    <a:moveTo>
                      <a:pt x="166969" y="334571"/>
                    </a:moveTo>
                    <a:cubicBezTo>
                      <a:pt x="166969" y="334571"/>
                      <a:pt x="166969" y="334571"/>
                      <a:pt x="166969" y="334571"/>
                    </a:cubicBezTo>
                    <a:cubicBezTo>
                      <a:pt x="75263" y="334571"/>
                      <a:pt x="0" y="259309"/>
                      <a:pt x="0" y="166969"/>
                    </a:cubicBezTo>
                    <a:cubicBezTo>
                      <a:pt x="0" y="74630"/>
                      <a:pt x="74630" y="0"/>
                      <a:pt x="166969" y="0"/>
                    </a:cubicBezTo>
                    <a:cubicBezTo>
                      <a:pt x="213139" y="0"/>
                      <a:pt x="244762" y="7590"/>
                      <a:pt x="289034" y="50597"/>
                    </a:cubicBezTo>
                    <a:lnTo>
                      <a:pt x="277650" y="62614"/>
                    </a:lnTo>
                    <a:cubicBezTo>
                      <a:pt x="237805" y="23401"/>
                      <a:pt x="209977" y="16444"/>
                      <a:pt x="167602" y="16444"/>
                    </a:cubicBezTo>
                    <a:cubicBezTo>
                      <a:pt x="84750" y="16444"/>
                      <a:pt x="17076" y="84117"/>
                      <a:pt x="17076" y="166969"/>
                    </a:cubicBezTo>
                    <a:cubicBezTo>
                      <a:pt x="17076" y="249822"/>
                      <a:pt x="84750" y="317495"/>
                      <a:pt x="167602" y="317495"/>
                    </a:cubicBezTo>
                    <a:cubicBezTo>
                      <a:pt x="167602" y="317495"/>
                      <a:pt x="167602" y="317495"/>
                      <a:pt x="167602" y="317495"/>
                    </a:cubicBezTo>
                    <a:cubicBezTo>
                      <a:pt x="214404" y="317495"/>
                      <a:pt x="260574" y="297256"/>
                      <a:pt x="287769" y="264368"/>
                    </a:cubicBezTo>
                    <a:cubicBezTo>
                      <a:pt x="308640" y="239070"/>
                      <a:pt x="317495" y="209977"/>
                      <a:pt x="326349" y="178986"/>
                    </a:cubicBezTo>
                    <a:cubicBezTo>
                      <a:pt x="331409" y="162542"/>
                      <a:pt x="336469" y="146098"/>
                      <a:pt x="343426" y="129654"/>
                    </a:cubicBezTo>
                    <a:cubicBezTo>
                      <a:pt x="358605" y="94237"/>
                      <a:pt x="394023" y="70203"/>
                      <a:pt x="432603" y="70203"/>
                    </a:cubicBezTo>
                    <a:cubicBezTo>
                      <a:pt x="485729" y="70203"/>
                      <a:pt x="529369" y="113843"/>
                      <a:pt x="529369" y="166969"/>
                    </a:cubicBezTo>
                    <a:cubicBezTo>
                      <a:pt x="529369" y="220096"/>
                      <a:pt x="485729" y="263736"/>
                      <a:pt x="432603" y="263736"/>
                    </a:cubicBezTo>
                    <a:cubicBezTo>
                      <a:pt x="406039" y="263736"/>
                      <a:pt x="380108" y="252352"/>
                      <a:pt x="361767" y="232745"/>
                    </a:cubicBezTo>
                    <a:lnTo>
                      <a:pt x="349118" y="220096"/>
                    </a:lnTo>
                    <a:lnTo>
                      <a:pt x="361135" y="208712"/>
                    </a:lnTo>
                    <a:lnTo>
                      <a:pt x="373784" y="221993"/>
                    </a:lnTo>
                    <a:cubicBezTo>
                      <a:pt x="388963" y="238437"/>
                      <a:pt x="410467" y="247924"/>
                      <a:pt x="432603" y="247924"/>
                    </a:cubicBezTo>
                    <a:cubicBezTo>
                      <a:pt x="476875" y="247924"/>
                      <a:pt x="512925" y="211874"/>
                      <a:pt x="512925" y="167602"/>
                    </a:cubicBezTo>
                    <a:cubicBezTo>
                      <a:pt x="512925" y="123330"/>
                      <a:pt x="476875" y="87280"/>
                      <a:pt x="432603" y="87280"/>
                    </a:cubicBezTo>
                    <a:cubicBezTo>
                      <a:pt x="400347" y="87280"/>
                      <a:pt x="370622" y="106886"/>
                      <a:pt x="358605" y="136611"/>
                    </a:cubicBezTo>
                    <a:cubicBezTo>
                      <a:pt x="352280" y="152423"/>
                      <a:pt x="347221" y="168867"/>
                      <a:pt x="342161" y="184678"/>
                    </a:cubicBezTo>
                    <a:cubicBezTo>
                      <a:pt x="332674" y="215669"/>
                      <a:pt x="323187" y="247924"/>
                      <a:pt x="300419" y="275753"/>
                    </a:cubicBezTo>
                    <a:cubicBezTo>
                      <a:pt x="269428" y="311803"/>
                      <a:pt x="218831" y="334571"/>
                      <a:pt x="166969" y="33457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6" name="Picture Placeholder 77">
                <a:extLst>
                  <a:ext uri="{FF2B5EF4-FFF2-40B4-BE49-F238E27FC236}">
                    <a16:creationId xmlns:a16="http://schemas.microsoft.com/office/drawing/2014/main" id="{E648CA5E-7B75-471D-880F-3D55E246B484}"/>
                  </a:ext>
                </a:extLst>
              </p:cNvPr>
              <p:cNvSpPr/>
              <p:nvPr/>
            </p:nvSpPr>
            <p:spPr>
              <a:xfrm>
                <a:off x="4784226" y="4287084"/>
                <a:ext cx="74288" cy="50836"/>
              </a:xfrm>
              <a:custGeom>
                <a:avLst/>
                <a:gdLst>
                  <a:gd name="connsiteX0" fmla="*/ 66648 w 74288"/>
                  <a:gd name="connsiteY0" fmla="*/ 50836 h 50836"/>
                  <a:gd name="connsiteX1" fmla="*/ 59690 w 74288"/>
                  <a:gd name="connsiteY1" fmla="*/ 47041 h 50836"/>
                  <a:gd name="connsiteX2" fmla="*/ 41982 w 74288"/>
                  <a:gd name="connsiteY2" fmla="*/ 19213 h 50836"/>
                  <a:gd name="connsiteX3" fmla="*/ 12256 w 74288"/>
                  <a:gd name="connsiteY3" fmla="*/ 35025 h 50836"/>
                  <a:gd name="connsiteX4" fmla="*/ 872 w 74288"/>
                  <a:gd name="connsiteY4" fmla="*/ 31862 h 50836"/>
                  <a:gd name="connsiteX5" fmla="*/ 4034 w 74288"/>
                  <a:gd name="connsiteY5" fmla="*/ 20478 h 50836"/>
                  <a:gd name="connsiteX6" fmla="*/ 40717 w 74288"/>
                  <a:gd name="connsiteY6" fmla="*/ 872 h 50836"/>
                  <a:gd name="connsiteX7" fmla="*/ 51469 w 74288"/>
                  <a:gd name="connsiteY7" fmla="*/ 4034 h 50836"/>
                  <a:gd name="connsiteX8" fmla="*/ 72972 w 74288"/>
                  <a:gd name="connsiteY8" fmla="*/ 38187 h 50836"/>
                  <a:gd name="connsiteX9" fmla="*/ 70442 w 74288"/>
                  <a:gd name="connsiteY9" fmla="*/ 49571 h 50836"/>
                  <a:gd name="connsiteX10" fmla="*/ 66648 w 74288"/>
                  <a:gd name="connsiteY10" fmla="*/ 50836 h 5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288" h="50836">
                    <a:moveTo>
                      <a:pt x="66648" y="50836"/>
                    </a:moveTo>
                    <a:cubicBezTo>
                      <a:pt x="64118" y="50836"/>
                      <a:pt x="60955" y="49571"/>
                      <a:pt x="59690" y="47041"/>
                    </a:cubicBezTo>
                    <a:lnTo>
                      <a:pt x="41982" y="19213"/>
                    </a:lnTo>
                    <a:lnTo>
                      <a:pt x="12256" y="35025"/>
                    </a:lnTo>
                    <a:cubicBezTo>
                      <a:pt x="8461" y="36922"/>
                      <a:pt x="3402" y="35657"/>
                      <a:pt x="872" y="31862"/>
                    </a:cubicBezTo>
                    <a:cubicBezTo>
                      <a:pt x="-1026" y="28068"/>
                      <a:pt x="239" y="23008"/>
                      <a:pt x="4034" y="20478"/>
                    </a:cubicBezTo>
                    <a:lnTo>
                      <a:pt x="40717" y="872"/>
                    </a:lnTo>
                    <a:cubicBezTo>
                      <a:pt x="44511" y="-1026"/>
                      <a:pt x="48939" y="239"/>
                      <a:pt x="51469" y="4034"/>
                    </a:cubicBezTo>
                    <a:lnTo>
                      <a:pt x="72972" y="38187"/>
                    </a:lnTo>
                    <a:cubicBezTo>
                      <a:pt x="75502" y="41982"/>
                      <a:pt x="74237" y="47041"/>
                      <a:pt x="70442" y="49571"/>
                    </a:cubicBezTo>
                    <a:cubicBezTo>
                      <a:pt x="69810" y="50204"/>
                      <a:pt x="67912" y="50836"/>
                      <a:pt x="66648" y="5083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7" name="Picture Placeholder 77">
                <a:extLst>
                  <a:ext uri="{FF2B5EF4-FFF2-40B4-BE49-F238E27FC236}">
                    <a16:creationId xmlns:a16="http://schemas.microsoft.com/office/drawing/2014/main" id="{8BB664F5-C34C-4446-A324-650EC8053F9B}"/>
                  </a:ext>
                </a:extLst>
              </p:cNvPr>
              <p:cNvSpPr/>
              <p:nvPr/>
            </p:nvSpPr>
            <p:spPr>
              <a:xfrm>
                <a:off x="4899522" y="4184813"/>
                <a:ext cx="52784" cy="74049"/>
              </a:xfrm>
              <a:custGeom>
                <a:avLst/>
                <a:gdLst>
                  <a:gd name="connsiteX0" fmla="*/ 25982 w 52784"/>
                  <a:gd name="connsiteY0" fmla="*/ 74049 h 74049"/>
                  <a:gd name="connsiteX1" fmla="*/ 22187 w 52784"/>
                  <a:gd name="connsiteY1" fmla="*/ 73417 h 74049"/>
                  <a:gd name="connsiteX2" fmla="*/ 18393 w 52784"/>
                  <a:gd name="connsiteY2" fmla="*/ 62665 h 74049"/>
                  <a:gd name="connsiteX3" fmla="*/ 33572 w 52784"/>
                  <a:gd name="connsiteY3" fmla="*/ 33572 h 74049"/>
                  <a:gd name="connsiteX4" fmla="*/ 3846 w 52784"/>
                  <a:gd name="connsiteY4" fmla="*/ 15230 h 74049"/>
                  <a:gd name="connsiteX5" fmla="*/ 1316 w 52784"/>
                  <a:gd name="connsiteY5" fmla="*/ 3846 h 74049"/>
                  <a:gd name="connsiteX6" fmla="*/ 12700 w 52784"/>
                  <a:gd name="connsiteY6" fmla="*/ 1316 h 74049"/>
                  <a:gd name="connsiteX7" fmla="*/ 48751 w 52784"/>
                  <a:gd name="connsiteY7" fmla="*/ 22820 h 74049"/>
                  <a:gd name="connsiteX8" fmla="*/ 51913 w 52784"/>
                  <a:gd name="connsiteY8" fmla="*/ 33572 h 74049"/>
                  <a:gd name="connsiteX9" fmla="*/ 33572 w 52784"/>
                  <a:gd name="connsiteY9" fmla="*/ 69622 h 74049"/>
                  <a:gd name="connsiteX10" fmla="*/ 25982 w 52784"/>
                  <a:gd name="connsiteY10" fmla="*/ 74049 h 7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84" h="74049">
                    <a:moveTo>
                      <a:pt x="25982" y="74049"/>
                    </a:moveTo>
                    <a:cubicBezTo>
                      <a:pt x="24717" y="74049"/>
                      <a:pt x="23452" y="74049"/>
                      <a:pt x="22187" y="73417"/>
                    </a:cubicBezTo>
                    <a:cubicBezTo>
                      <a:pt x="18393" y="71519"/>
                      <a:pt x="16495" y="66460"/>
                      <a:pt x="18393" y="62665"/>
                    </a:cubicBezTo>
                    <a:lnTo>
                      <a:pt x="33572" y="33572"/>
                    </a:lnTo>
                    <a:lnTo>
                      <a:pt x="3846" y="15230"/>
                    </a:lnTo>
                    <a:cubicBezTo>
                      <a:pt x="51" y="12700"/>
                      <a:pt x="-1214" y="7641"/>
                      <a:pt x="1316" y="3846"/>
                    </a:cubicBezTo>
                    <a:cubicBezTo>
                      <a:pt x="3846" y="51"/>
                      <a:pt x="8906" y="-1214"/>
                      <a:pt x="12700" y="1316"/>
                    </a:cubicBezTo>
                    <a:lnTo>
                      <a:pt x="48751" y="22820"/>
                    </a:lnTo>
                    <a:cubicBezTo>
                      <a:pt x="52545" y="25350"/>
                      <a:pt x="53810" y="29777"/>
                      <a:pt x="51913" y="33572"/>
                    </a:cubicBezTo>
                    <a:lnTo>
                      <a:pt x="33572" y="69622"/>
                    </a:lnTo>
                    <a:cubicBezTo>
                      <a:pt x="31674" y="72784"/>
                      <a:pt x="28512" y="74049"/>
                      <a:pt x="25982" y="7404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8" name="Picture Placeholder 77">
                <a:extLst>
                  <a:ext uri="{FF2B5EF4-FFF2-40B4-BE49-F238E27FC236}">
                    <a16:creationId xmlns:a16="http://schemas.microsoft.com/office/drawing/2014/main" id="{A4CDD2FC-221F-4D3C-8D5B-71C040C2FC39}"/>
                  </a:ext>
                </a:extLst>
              </p:cNvPr>
              <p:cNvSpPr/>
              <p:nvPr/>
            </p:nvSpPr>
            <p:spPr>
              <a:xfrm>
                <a:off x="5011438" y="4242137"/>
                <a:ext cx="64872" cy="56569"/>
              </a:xfrm>
              <a:custGeom>
                <a:avLst/>
                <a:gdLst>
                  <a:gd name="connsiteX0" fmla="*/ 48148 w 64872"/>
                  <a:gd name="connsiteY0" fmla="*/ 56570 h 56569"/>
                  <a:gd name="connsiteX1" fmla="*/ 46883 w 64872"/>
                  <a:gd name="connsiteY1" fmla="*/ 56570 h 56569"/>
                  <a:gd name="connsiteX2" fmla="*/ 7038 w 64872"/>
                  <a:gd name="connsiteY2" fmla="*/ 51510 h 56569"/>
                  <a:gd name="connsiteX3" fmla="*/ 81 w 64872"/>
                  <a:gd name="connsiteY3" fmla="*/ 42656 h 56569"/>
                  <a:gd name="connsiteX4" fmla="*/ 9567 w 64872"/>
                  <a:gd name="connsiteY4" fmla="*/ 35699 h 56569"/>
                  <a:gd name="connsiteX5" fmla="*/ 41823 w 64872"/>
                  <a:gd name="connsiteY5" fmla="*/ 40126 h 56569"/>
                  <a:gd name="connsiteX6" fmla="*/ 48780 w 64872"/>
                  <a:gd name="connsiteY6" fmla="*/ 6606 h 56569"/>
                  <a:gd name="connsiteX7" fmla="*/ 58267 w 64872"/>
                  <a:gd name="connsiteY7" fmla="*/ 281 h 56569"/>
                  <a:gd name="connsiteX8" fmla="*/ 64592 w 64872"/>
                  <a:gd name="connsiteY8" fmla="*/ 9768 h 56569"/>
                  <a:gd name="connsiteX9" fmla="*/ 56370 w 64872"/>
                  <a:gd name="connsiteY9" fmla="*/ 50878 h 56569"/>
                  <a:gd name="connsiteX10" fmla="*/ 48148 w 64872"/>
                  <a:gd name="connsiteY10" fmla="*/ 56570 h 5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872" h="56569">
                    <a:moveTo>
                      <a:pt x="48148" y="56570"/>
                    </a:moveTo>
                    <a:cubicBezTo>
                      <a:pt x="47515" y="56570"/>
                      <a:pt x="47515" y="56570"/>
                      <a:pt x="46883" y="56570"/>
                    </a:cubicBezTo>
                    <a:lnTo>
                      <a:pt x="7038" y="51510"/>
                    </a:lnTo>
                    <a:cubicBezTo>
                      <a:pt x="2610" y="50878"/>
                      <a:pt x="-552" y="47083"/>
                      <a:pt x="81" y="42656"/>
                    </a:cubicBezTo>
                    <a:cubicBezTo>
                      <a:pt x="713" y="38229"/>
                      <a:pt x="4508" y="35066"/>
                      <a:pt x="9567" y="35699"/>
                    </a:cubicBezTo>
                    <a:lnTo>
                      <a:pt x="41823" y="40126"/>
                    </a:lnTo>
                    <a:lnTo>
                      <a:pt x="48780" y="6606"/>
                    </a:lnTo>
                    <a:cubicBezTo>
                      <a:pt x="49412" y="2178"/>
                      <a:pt x="53840" y="-984"/>
                      <a:pt x="58267" y="281"/>
                    </a:cubicBezTo>
                    <a:cubicBezTo>
                      <a:pt x="62694" y="914"/>
                      <a:pt x="65856" y="5341"/>
                      <a:pt x="64592" y="9768"/>
                    </a:cubicBezTo>
                    <a:lnTo>
                      <a:pt x="56370" y="50878"/>
                    </a:lnTo>
                    <a:cubicBezTo>
                      <a:pt x="55105" y="53408"/>
                      <a:pt x="51942" y="56570"/>
                      <a:pt x="48148" y="5657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9" name="Picture Placeholder 77">
                <a:extLst>
                  <a:ext uri="{FF2B5EF4-FFF2-40B4-BE49-F238E27FC236}">
                    <a16:creationId xmlns:a16="http://schemas.microsoft.com/office/drawing/2014/main" id="{F5FCCAED-341D-4DED-B0EE-14F76DC00216}"/>
                  </a:ext>
                </a:extLst>
              </p:cNvPr>
              <p:cNvSpPr/>
              <p:nvPr/>
            </p:nvSpPr>
            <p:spPr>
              <a:xfrm>
                <a:off x="5001751" y="4393928"/>
                <a:ext cx="67402" cy="56570"/>
              </a:xfrm>
              <a:custGeom>
                <a:avLst/>
                <a:gdLst>
                  <a:gd name="connsiteX0" fmla="*/ 17358 w 67402"/>
                  <a:gd name="connsiteY0" fmla="*/ 56570 h 56570"/>
                  <a:gd name="connsiteX1" fmla="*/ 9136 w 67402"/>
                  <a:gd name="connsiteY1" fmla="*/ 50245 h 56570"/>
                  <a:gd name="connsiteX2" fmla="*/ 281 w 67402"/>
                  <a:gd name="connsiteY2" fmla="*/ 10400 h 56570"/>
                  <a:gd name="connsiteX3" fmla="*/ 6606 w 67402"/>
                  <a:gd name="connsiteY3" fmla="*/ 281 h 56570"/>
                  <a:gd name="connsiteX4" fmla="*/ 16725 w 67402"/>
                  <a:gd name="connsiteY4" fmla="*/ 6606 h 56570"/>
                  <a:gd name="connsiteX5" fmla="*/ 24315 w 67402"/>
                  <a:gd name="connsiteY5" fmla="*/ 38861 h 56570"/>
                  <a:gd name="connsiteX6" fmla="*/ 57835 w 67402"/>
                  <a:gd name="connsiteY6" fmla="*/ 33169 h 56570"/>
                  <a:gd name="connsiteX7" fmla="*/ 67322 w 67402"/>
                  <a:gd name="connsiteY7" fmla="*/ 40126 h 56570"/>
                  <a:gd name="connsiteX8" fmla="*/ 60365 w 67402"/>
                  <a:gd name="connsiteY8" fmla="*/ 49613 h 56570"/>
                  <a:gd name="connsiteX9" fmla="*/ 19255 w 67402"/>
                  <a:gd name="connsiteY9" fmla="*/ 56570 h 56570"/>
                  <a:gd name="connsiteX10" fmla="*/ 17358 w 67402"/>
                  <a:gd name="connsiteY10" fmla="*/ 56570 h 5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7402" h="56570">
                    <a:moveTo>
                      <a:pt x="17358" y="56570"/>
                    </a:moveTo>
                    <a:cubicBezTo>
                      <a:pt x="13563" y="56570"/>
                      <a:pt x="10400" y="54040"/>
                      <a:pt x="9136" y="50245"/>
                    </a:cubicBezTo>
                    <a:lnTo>
                      <a:pt x="281" y="10400"/>
                    </a:lnTo>
                    <a:cubicBezTo>
                      <a:pt x="-984" y="5973"/>
                      <a:pt x="2178" y="1546"/>
                      <a:pt x="6606" y="281"/>
                    </a:cubicBezTo>
                    <a:cubicBezTo>
                      <a:pt x="11033" y="-984"/>
                      <a:pt x="15460" y="2178"/>
                      <a:pt x="16725" y="6606"/>
                    </a:cubicBezTo>
                    <a:lnTo>
                      <a:pt x="24315" y="38861"/>
                    </a:lnTo>
                    <a:lnTo>
                      <a:pt x="57835" y="33169"/>
                    </a:lnTo>
                    <a:cubicBezTo>
                      <a:pt x="62262" y="32537"/>
                      <a:pt x="66689" y="35699"/>
                      <a:pt x="67322" y="40126"/>
                    </a:cubicBezTo>
                    <a:cubicBezTo>
                      <a:pt x="67954" y="44553"/>
                      <a:pt x="64792" y="48980"/>
                      <a:pt x="60365" y="49613"/>
                    </a:cubicBezTo>
                    <a:lnTo>
                      <a:pt x="19255" y="56570"/>
                    </a:lnTo>
                    <a:cubicBezTo>
                      <a:pt x="18622" y="56570"/>
                      <a:pt x="17990" y="56570"/>
                      <a:pt x="17358" y="5657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80" name="Picture Placeholder 77">
                <a:extLst>
                  <a:ext uri="{FF2B5EF4-FFF2-40B4-BE49-F238E27FC236}">
                    <a16:creationId xmlns:a16="http://schemas.microsoft.com/office/drawing/2014/main" id="{97B31A05-751B-4042-907F-1502BFB9423B}"/>
                  </a:ext>
                </a:extLst>
              </p:cNvPr>
              <p:cNvSpPr/>
              <p:nvPr/>
            </p:nvSpPr>
            <p:spPr>
              <a:xfrm>
                <a:off x="4860896" y="4416019"/>
                <a:ext cx="54814" cy="68631"/>
              </a:xfrm>
              <a:custGeom>
                <a:avLst/>
                <a:gdLst>
                  <a:gd name="connsiteX0" fmla="*/ 17173 w 54814"/>
                  <a:gd name="connsiteY0" fmla="*/ 68631 h 68631"/>
                  <a:gd name="connsiteX1" fmla="*/ 8951 w 54814"/>
                  <a:gd name="connsiteY1" fmla="*/ 62307 h 68631"/>
                  <a:gd name="connsiteX2" fmla="*/ 97 w 54814"/>
                  <a:gd name="connsiteY2" fmla="*/ 21197 h 68631"/>
                  <a:gd name="connsiteX3" fmla="*/ 5789 w 54814"/>
                  <a:gd name="connsiteY3" fmla="*/ 11710 h 68631"/>
                  <a:gd name="connsiteX4" fmla="*/ 44369 w 54814"/>
                  <a:gd name="connsiteY4" fmla="*/ 326 h 68631"/>
                  <a:gd name="connsiteX5" fmla="*/ 54488 w 54814"/>
                  <a:gd name="connsiteY5" fmla="*/ 6018 h 68631"/>
                  <a:gd name="connsiteX6" fmla="*/ 48796 w 54814"/>
                  <a:gd name="connsiteY6" fmla="*/ 16137 h 68631"/>
                  <a:gd name="connsiteX7" fmla="*/ 17173 w 54814"/>
                  <a:gd name="connsiteY7" fmla="*/ 24992 h 68631"/>
                  <a:gd name="connsiteX8" fmla="*/ 24130 w 54814"/>
                  <a:gd name="connsiteY8" fmla="*/ 58512 h 68631"/>
                  <a:gd name="connsiteX9" fmla="*/ 17806 w 54814"/>
                  <a:gd name="connsiteY9" fmla="*/ 67999 h 68631"/>
                  <a:gd name="connsiteX10" fmla="*/ 17173 w 54814"/>
                  <a:gd name="connsiteY10" fmla="*/ 68631 h 6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14" h="68631">
                    <a:moveTo>
                      <a:pt x="17173" y="68631"/>
                    </a:moveTo>
                    <a:cubicBezTo>
                      <a:pt x="13379" y="68631"/>
                      <a:pt x="10216" y="66101"/>
                      <a:pt x="8951" y="62307"/>
                    </a:cubicBezTo>
                    <a:lnTo>
                      <a:pt x="97" y="21197"/>
                    </a:lnTo>
                    <a:cubicBezTo>
                      <a:pt x="-536" y="16770"/>
                      <a:pt x="1994" y="12975"/>
                      <a:pt x="5789" y="11710"/>
                    </a:cubicBezTo>
                    <a:lnTo>
                      <a:pt x="44369" y="326"/>
                    </a:lnTo>
                    <a:cubicBezTo>
                      <a:pt x="48796" y="-939"/>
                      <a:pt x="53223" y="1591"/>
                      <a:pt x="54488" y="6018"/>
                    </a:cubicBezTo>
                    <a:cubicBezTo>
                      <a:pt x="55753" y="10445"/>
                      <a:pt x="53223" y="14872"/>
                      <a:pt x="48796" y="16137"/>
                    </a:cubicBezTo>
                    <a:lnTo>
                      <a:pt x="17173" y="24992"/>
                    </a:lnTo>
                    <a:lnTo>
                      <a:pt x="24130" y="58512"/>
                    </a:lnTo>
                    <a:cubicBezTo>
                      <a:pt x="24763" y="62939"/>
                      <a:pt x="22233" y="67366"/>
                      <a:pt x="17806" y="67999"/>
                    </a:cubicBezTo>
                    <a:cubicBezTo>
                      <a:pt x="18438" y="68631"/>
                      <a:pt x="17806" y="68631"/>
                      <a:pt x="17173" y="6863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281" name="Picture Placeholder 77">
                <a:extLst>
                  <a:ext uri="{FF2B5EF4-FFF2-40B4-BE49-F238E27FC236}">
                    <a16:creationId xmlns:a16="http://schemas.microsoft.com/office/drawing/2014/main" id="{046CA95E-4120-46EC-BC0A-FE5033FB8593}"/>
                  </a:ext>
                </a:extLst>
              </p:cNvPr>
              <p:cNvGrpSpPr/>
              <p:nvPr/>
            </p:nvGrpSpPr>
            <p:grpSpPr>
              <a:xfrm>
                <a:off x="4515037" y="4323373"/>
                <a:ext cx="84749" cy="84117"/>
                <a:chOff x="4515037" y="4323373"/>
                <a:chExt cx="84749" cy="84117"/>
              </a:xfrm>
              <a:grpFill/>
            </p:grpSpPr>
            <p:sp>
              <p:nvSpPr>
                <p:cNvPr id="294" name="Picture Placeholder 77">
                  <a:extLst>
                    <a:ext uri="{FF2B5EF4-FFF2-40B4-BE49-F238E27FC236}">
                      <a16:creationId xmlns:a16="http://schemas.microsoft.com/office/drawing/2014/main" id="{87108E74-CF77-455B-8665-57378AAF5789}"/>
                    </a:ext>
                  </a:extLst>
                </p:cNvPr>
                <p:cNvSpPr/>
                <p:nvPr/>
              </p:nvSpPr>
              <p:spPr>
                <a:xfrm>
                  <a:off x="4518200" y="4359423"/>
                  <a:ext cx="81587" cy="48066"/>
                </a:xfrm>
                <a:custGeom>
                  <a:avLst/>
                  <a:gdLst>
                    <a:gd name="connsiteX0" fmla="*/ 51229 w 81587"/>
                    <a:gd name="connsiteY0" fmla="*/ 48067 h 48066"/>
                    <a:gd name="connsiteX1" fmla="*/ 47435 w 81587"/>
                    <a:gd name="connsiteY1" fmla="*/ 46802 h 48066"/>
                    <a:gd name="connsiteX2" fmla="*/ 0 w 81587"/>
                    <a:gd name="connsiteY2" fmla="*/ 20239 h 48066"/>
                    <a:gd name="connsiteX3" fmla="*/ 8222 w 81587"/>
                    <a:gd name="connsiteY3" fmla="*/ 5692 h 48066"/>
                    <a:gd name="connsiteX4" fmla="*/ 48699 w 81587"/>
                    <a:gd name="connsiteY4" fmla="*/ 28461 h 48066"/>
                    <a:gd name="connsiteX5" fmla="*/ 67673 w 81587"/>
                    <a:gd name="connsiteY5" fmla="*/ 0 h 48066"/>
                    <a:gd name="connsiteX6" fmla="*/ 81587 w 81587"/>
                    <a:gd name="connsiteY6" fmla="*/ 8854 h 48066"/>
                    <a:gd name="connsiteX7" fmla="*/ 58186 w 81587"/>
                    <a:gd name="connsiteY7" fmla="*/ 43640 h 48066"/>
                    <a:gd name="connsiteX8" fmla="*/ 51229 w 81587"/>
                    <a:gd name="connsiteY8" fmla="*/ 48067 h 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587" h="48066">
                      <a:moveTo>
                        <a:pt x="51229" y="48067"/>
                      </a:moveTo>
                      <a:cubicBezTo>
                        <a:pt x="49964" y="48067"/>
                        <a:pt x="48699" y="47435"/>
                        <a:pt x="47435" y="46802"/>
                      </a:cubicBezTo>
                      <a:lnTo>
                        <a:pt x="0" y="20239"/>
                      </a:lnTo>
                      <a:lnTo>
                        <a:pt x="8222" y="5692"/>
                      </a:lnTo>
                      <a:lnTo>
                        <a:pt x="48699" y="28461"/>
                      </a:lnTo>
                      <a:lnTo>
                        <a:pt x="67673" y="0"/>
                      </a:lnTo>
                      <a:lnTo>
                        <a:pt x="81587" y="8854"/>
                      </a:lnTo>
                      <a:lnTo>
                        <a:pt x="58186" y="43640"/>
                      </a:lnTo>
                      <a:cubicBezTo>
                        <a:pt x="56921" y="46802"/>
                        <a:pt x="53759" y="48067"/>
                        <a:pt x="51229" y="4806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95" name="Picture Placeholder 77">
                  <a:extLst>
                    <a:ext uri="{FF2B5EF4-FFF2-40B4-BE49-F238E27FC236}">
                      <a16:creationId xmlns:a16="http://schemas.microsoft.com/office/drawing/2014/main" id="{DBB72692-3567-4814-94E7-52AC16F69DB0}"/>
                    </a:ext>
                  </a:extLst>
                </p:cNvPr>
                <p:cNvSpPr/>
                <p:nvPr/>
              </p:nvSpPr>
              <p:spPr>
                <a:xfrm>
                  <a:off x="4515037" y="4323373"/>
                  <a:ext cx="82852" cy="55656"/>
                </a:xfrm>
                <a:custGeom>
                  <a:avLst/>
                  <a:gdLst>
                    <a:gd name="connsiteX0" fmla="*/ 48067 w 82852"/>
                    <a:gd name="connsiteY0" fmla="*/ 55656 h 55656"/>
                    <a:gd name="connsiteX1" fmla="*/ 44272 w 82852"/>
                    <a:gd name="connsiteY1" fmla="*/ 54392 h 55656"/>
                    <a:gd name="connsiteX2" fmla="*/ 0 w 82852"/>
                    <a:gd name="connsiteY2" fmla="*/ 29726 h 55656"/>
                    <a:gd name="connsiteX3" fmla="*/ 8222 w 82852"/>
                    <a:gd name="connsiteY3" fmla="*/ 15179 h 55656"/>
                    <a:gd name="connsiteX4" fmla="*/ 45537 w 82852"/>
                    <a:gd name="connsiteY4" fmla="*/ 36050 h 55656"/>
                    <a:gd name="connsiteX5" fmla="*/ 68938 w 82852"/>
                    <a:gd name="connsiteY5" fmla="*/ 0 h 55656"/>
                    <a:gd name="connsiteX6" fmla="*/ 82852 w 82852"/>
                    <a:gd name="connsiteY6" fmla="*/ 8854 h 55656"/>
                    <a:gd name="connsiteX7" fmla="*/ 55024 w 82852"/>
                    <a:gd name="connsiteY7" fmla="*/ 51229 h 55656"/>
                    <a:gd name="connsiteX8" fmla="*/ 48067 w 82852"/>
                    <a:gd name="connsiteY8" fmla="*/ 55656 h 5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852" h="55656">
                      <a:moveTo>
                        <a:pt x="48067" y="55656"/>
                      </a:moveTo>
                      <a:cubicBezTo>
                        <a:pt x="46802" y="55656"/>
                        <a:pt x="45537" y="55024"/>
                        <a:pt x="44272" y="54392"/>
                      </a:cubicBezTo>
                      <a:lnTo>
                        <a:pt x="0" y="29726"/>
                      </a:lnTo>
                      <a:lnTo>
                        <a:pt x="8222" y="15179"/>
                      </a:lnTo>
                      <a:lnTo>
                        <a:pt x="45537" y="36050"/>
                      </a:lnTo>
                      <a:lnTo>
                        <a:pt x="68938" y="0"/>
                      </a:lnTo>
                      <a:lnTo>
                        <a:pt x="82852" y="8854"/>
                      </a:lnTo>
                      <a:lnTo>
                        <a:pt x="55024" y="51229"/>
                      </a:lnTo>
                      <a:cubicBezTo>
                        <a:pt x="53127" y="54392"/>
                        <a:pt x="50597" y="55656"/>
                        <a:pt x="48067" y="5565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282" name="Picture Placeholder 77">
                <a:extLst>
                  <a:ext uri="{FF2B5EF4-FFF2-40B4-BE49-F238E27FC236}">
                    <a16:creationId xmlns:a16="http://schemas.microsoft.com/office/drawing/2014/main" id="{B722DA8B-8120-44AE-91C8-20A79882E4FA}"/>
                  </a:ext>
                </a:extLst>
              </p:cNvPr>
              <p:cNvGrpSpPr/>
              <p:nvPr/>
            </p:nvGrpSpPr>
            <p:grpSpPr>
              <a:xfrm>
                <a:off x="4712917" y="4200676"/>
                <a:ext cx="74710" cy="80322"/>
                <a:chOff x="4712917" y="4200676"/>
                <a:chExt cx="74710" cy="80322"/>
              </a:xfrm>
              <a:grpFill/>
            </p:grpSpPr>
            <p:sp>
              <p:nvSpPr>
                <p:cNvPr id="292" name="Picture Placeholder 77">
                  <a:extLst>
                    <a:ext uri="{FF2B5EF4-FFF2-40B4-BE49-F238E27FC236}">
                      <a16:creationId xmlns:a16="http://schemas.microsoft.com/office/drawing/2014/main" id="{67E71C40-A741-4DF3-B716-3E35E552821A}"/>
                    </a:ext>
                  </a:extLst>
                </p:cNvPr>
                <p:cNvSpPr/>
                <p:nvPr/>
              </p:nvSpPr>
              <p:spPr>
                <a:xfrm>
                  <a:off x="4712917" y="4200676"/>
                  <a:ext cx="57634" cy="61981"/>
                </a:xfrm>
                <a:custGeom>
                  <a:avLst/>
                  <a:gdLst>
                    <a:gd name="connsiteX0" fmla="*/ 5140 w 57634"/>
                    <a:gd name="connsiteY0" fmla="*/ 61981 h 61981"/>
                    <a:gd name="connsiteX1" fmla="*/ 81 w 57634"/>
                    <a:gd name="connsiteY1" fmla="*/ 17709 h 61981"/>
                    <a:gd name="connsiteX2" fmla="*/ 7038 w 57634"/>
                    <a:gd name="connsiteY2" fmla="*/ 8854 h 61981"/>
                    <a:gd name="connsiteX3" fmla="*/ 54472 w 57634"/>
                    <a:gd name="connsiteY3" fmla="*/ 0 h 61981"/>
                    <a:gd name="connsiteX4" fmla="*/ 57634 w 57634"/>
                    <a:gd name="connsiteY4" fmla="*/ 15812 h 61981"/>
                    <a:gd name="connsiteX5" fmla="*/ 17157 w 57634"/>
                    <a:gd name="connsiteY5" fmla="*/ 23401 h 61981"/>
                    <a:gd name="connsiteX6" fmla="*/ 20952 w 57634"/>
                    <a:gd name="connsiteY6" fmla="*/ 60084 h 61981"/>
                    <a:gd name="connsiteX7" fmla="*/ 5140 w 57634"/>
                    <a:gd name="connsiteY7" fmla="*/ 61981 h 6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634" h="61981">
                      <a:moveTo>
                        <a:pt x="5140" y="61981"/>
                      </a:moveTo>
                      <a:lnTo>
                        <a:pt x="81" y="17709"/>
                      </a:lnTo>
                      <a:cubicBezTo>
                        <a:pt x="-552" y="13282"/>
                        <a:pt x="2610" y="9487"/>
                        <a:pt x="7038" y="8854"/>
                      </a:cubicBezTo>
                      <a:lnTo>
                        <a:pt x="54472" y="0"/>
                      </a:lnTo>
                      <a:lnTo>
                        <a:pt x="57634" y="15812"/>
                      </a:lnTo>
                      <a:lnTo>
                        <a:pt x="17157" y="23401"/>
                      </a:lnTo>
                      <a:lnTo>
                        <a:pt x="20952" y="60084"/>
                      </a:lnTo>
                      <a:lnTo>
                        <a:pt x="5140" y="61981"/>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93" name="Picture Placeholder 77">
                  <a:extLst>
                    <a:ext uri="{FF2B5EF4-FFF2-40B4-BE49-F238E27FC236}">
                      <a16:creationId xmlns:a16="http://schemas.microsoft.com/office/drawing/2014/main" id="{1A725FEE-9EAB-4585-9453-3A677E9C7077}"/>
                    </a:ext>
                  </a:extLst>
                </p:cNvPr>
                <p:cNvSpPr/>
                <p:nvPr/>
              </p:nvSpPr>
              <p:spPr>
                <a:xfrm>
                  <a:off x="4736950" y="4220282"/>
                  <a:ext cx="50677" cy="60716"/>
                </a:xfrm>
                <a:custGeom>
                  <a:avLst/>
                  <a:gdLst>
                    <a:gd name="connsiteX0" fmla="*/ 5141 w 50677"/>
                    <a:gd name="connsiteY0" fmla="*/ 60716 h 60716"/>
                    <a:gd name="connsiteX1" fmla="*/ 81 w 50677"/>
                    <a:gd name="connsiteY1" fmla="*/ 16444 h 60716"/>
                    <a:gd name="connsiteX2" fmla="*/ 6406 w 50677"/>
                    <a:gd name="connsiteY2" fmla="*/ 7590 h 60716"/>
                    <a:gd name="connsiteX3" fmla="*/ 47515 w 50677"/>
                    <a:gd name="connsiteY3" fmla="*/ 0 h 60716"/>
                    <a:gd name="connsiteX4" fmla="*/ 50678 w 50677"/>
                    <a:gd name="connsiteY4" fmla="*/ 15812 h 60716"/>
                    <a:gd name="connsiteX5" fmla="*/ 16525 w 50677"/>
                    <a:gd name="connsiteY5" fmla="*/ 22136 h 60716"/>
                    <a:gd name="connsiteX6" fmla="*/ 20952 w 50677"/>
                    <a:gd name="connsiteY6" fmla="*/ 58819 h 60716"/>
                    <a:gd name="connsiteX7" fmla="*/ 5141 w 50677"/>
                    <a:gd name="connsiteY7" fmla="*/ 60716 h 60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677" h="60716">
                      <a:moveTo>
                        <a:pt x="5141" y="60716"/>
                      </a:moveTo>
                      <a:lnTo>
                        <a:pt x="81" y="16444"/>
                      </a:lnTo>
                      <a:cubicBezTo>
                        <a:pt x="-551" y="12017"/>
                        <a:pt x="2611" y="8222"/>
                        <a:pt x="6406" y="7590"/>
                      </a:cubicBezTo>
                      <a:lnTo>
                        <a:pt x="47515" y="0"/>
                      </a:lnTo>
                      <a:lnTo>
                        <a:pt x="50678" y="15812"/>
                      </a:lnTo>
                      <a:lnTo>
                        <a:pt x="16525" y="22136"/>
                      </a:lnTo>
                      <a:lnTo>
                        <a:pt x="20952" y="58819"/>
                      </a:lnTo>
                      <a:lnTo>
                        <a:pt x="5141" y="60716"/>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283" name="Picture Placeholder 77">
                <a:extLst>
                  <a:ext uri="{FF2B5EF4-FFF2-40B4-BE49-F238E27FC236}">
                    <a16:creationId xmlns:a16="http://schemas.microsoft.com/office/drawing/2014/main" id="{E84CD161-51B6-4273-BF43-54A214B46AC9}"/>
                  </a:ext>
                </a:extLst>
              </p:cNvPr>
              <p:cNvGrpSpPr/>
              <p:nvPr/>
            </p:nvGrpSpPr>
            <p:grpSpPr>
              <a:xfrm>
                <a:off x="4632043" y="4414447"/>
                <a:ext cx="82463" cy="91074"/>
                <a:chOff x="4632043" y="4414447"/>
                <a:chExt cx="82463" cy="91074"/>
              </a:xfrm>
              <a:grpFill/>
            </p:grpSpPr>
            <p:sp>
              <p:nvSpPr>
                <p:cNvPr id="290" name="Picture Placeholder 77">
                  <a:extLst>
                    <a:ext uri="{FF2B5EF4-FFF2-40B4-BE49-F238E27FC236}">
                      <a16:creationId xmlns:a16="http://schemas.microsoft.com/office/drawing/2014/main" id="{83C62B3A-B2DE-4326-A16B-21A515B91CC9}"/>
                    </a:ext>
                  </a:extLst>
                </p:cNvPr>
                <p:cNvSpPr/>
                <p:nvPr/>
              </p:nvSpPr>
              <p:spPr>
                <a:xfrm>
                  <a:off x="4664930" y="4425199"/>
                  <a:ext cx="49575" cy="80322"/>
                </a:xfrm>
                <a:custGeom>
                  <a:avLst/>
                  <a:gdLst>
                    <a:gd name="connsiteX0" fmla="*/ 12017 w 49575"/>
                    <a:gd name="connsiteY0" fmla="*/ 80322 h 80322"/>
                    <a:gd name="connsiteX1" fmla="*/ 0 w 49575"/>
                    <a:gd name="connsiteY1" fmla="*/ 68938 h 80322"/>
                    <a:gd name="connsiteX2" fmla="*/ 29726 w 49575"/>
                    <a:gd name="connsiteY2" fmla="*/ 37948 h 80322"/>
                    <a:gd name="connsiteX3" fmla="*/ 5692 w 49575"/>
                    <a:gd name="connsiteY3" fmla="*/ 10752 h 80322"/>
                    <a:gd name="connsiteX4" fmla="*/ 17709 w 49575"/>
                    <a:gd name="connsiteY4" fmla="*/ 0 h 80322"/>
                    <a:gd name="connsiteX5" fmla="*/ 47435 w 49575"/>
                    <a:gd name="connsiteY5" fmla="*/ 32888 h 80322"/>
                    <a:gd name="connsiteX6" fmla="*/ 47435 w 49575"/>
                    <a:gd name="connsiteY6" fmla="*/ 44272 h 80322"/>
                    <a:gd name="connsiteX7" fmla="*/ 12017 w 49575"/>
                    <a:gd name="connsiteY7" fmla="*/ 80322 h 8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75" h="80322">
                      <a:moveTo>
                        <a:pt x="12017" y="80322"/>
                      </a:moveTo>
                      <a:lnTo>
                        <a:pt x="0" y="68938"/>
                      </a:lnTo>
                      <a:lnTo>
                        <a:pt x="29726" y="37948"/>
                      </a:lnTo>
                      <a:lnTo>
                        <a:pt x="5692" y="10752"/>
                      </a:lnTo>
                      <a:lnTo>
                        <a:pt x="17709" y="0"/>
                      </a:lnTo>
                      <a:lnTo>
                        <a:pt x="47435" y="32888"/>
                      </a:lnTo>
                      <a:cubicBezTo>
                        <a:pt x="50597" y="36050"/>
                        <a:pt x="49964" y="41110"/>
                        <a:pt x="47435" y="44272"/>
                      </a:cubicBezTo>
                      <a:lnTo>
                        <a:pt x="12017" y="8032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91" name="Picture Placeholder 77">
                  <a:extLst>
                    <a:ext uri="{FF2B5EF4-FFF2-40B4-BE49-F238E27FC236}">
                      <a16:creationId xmlns:a16="http://schemas.microsoft.com/office/drawing/2014/main" id="{CA3E8DC1-9D05-4523-8DC3-328E069DADB7}"/>
                    </a:ext>
                  </a:extLst>
                </p:cNvPr>
                <p:cNvSpPr/>
                <p:nvPr/>
              </p:nvSpPr>
              <p:spPr>
                <a:xfrm>
                  <a:off x="4632043" y="4414447"/>
                  <a:ext cx="53600" cy="87911"/>
                </a:xfrm>
                <a:custGeom>
                  <a:avLst/>
                  <a:gdLst>
                    <a:gd name="connsiteX0" fmla="*/ 18974 w 53600"/>
                    <a:gd name="connsiteY0" fmla="*/ 87912 h 87911"/>
                    <a:gd name="connsiteX1" fmla="*/ 6957 w 53600"/>
                    <a:gd name="connsiteY1" fmla="*/ 76528 h 87911"/>
                    <a:gd name="connsiteX2" fmla="*/ 34153 w 53600"/>
                    <a:gd name="connsiteY2" fmla="*/ 48067 h 87911"/>
                    <a:gd name="connsiteX3" fmla="*/ 0 w 53600"/>
                    <a:gd name="connsiteY3" fmla="*/ 11384 h 87911"/>
                    <a:gd name="connsiteX4" fmla="*/ 12017 w 53600"/>
                    <a:gd name="connsiteY4" fmla="*/ 0 h 87911"/>
                    <a:gd name="connsiteX5" fmla="*/ 51229 w 53600"/>
                    <a:gd name="connsiteY5" fmla="*/ 42375 h 87911"/>
                    <a:gd name="connsiteX6" fmla="*/ 51229 w 53600"/>
                    <a:gd name="connsiteY6" fmla="*/ 53759 h 87911"/>
                    <a:gd name="connsiteX7" fmla="*/ 18974 w 53600"/>
                    <a:gd name="connsiteY7" fmla="*/ 87912 h 8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600" h="87911">
                      <a:moveTo>
                        <a:pt x="18974" y="87912"/>
                      </a:moveTo>
                      <a:lnTo>
                        <a:pt x="6957" y="76528"/>
                      </a:lnTo>
                      <a:lnTo>
                        <a:pt x="34153" y="48067"/>
                      </a:lnTo>
                      <a:lnTo>
                        <a:pt x="0" y="11384"/>
                      </a:lnTo>
                      <a:lnTo>
                        <a:pt x="12017" y="0"/>
                      </a:lnTo>
                      <a:lnTo>
                        <a:pt x="51229" y="42375"/>
                      </a:lnTo>
                      <a:cubicBezTo>
                        <a:pt x="54392" y="45537"/>
                        <a:pt x="54392" y="50597"/>
                        <a:pt x="51229" y="53759"/>
                      </a:cubicBezTo>
                      <a:lnTo>
                        <a:pt x="18974" y="8791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284" name="Picture Placeholder 77">
                <a:extLst>
                  <a:ext uri="{FF2B5EF4-FFF2-40B4-BE49-F238E27FC236}">
                    <a16:creationId xmlns:a16="http://schemas.microsoft.com/office/drawing/2014/main" id="{5A3C32C2-55D9-4D5F-A460-4FD81979A5AC}"/>
                  </a:ext>
                </a:extLst>
              </p:cNvPr>
              <p:cNvGrpSpPr/>
              <p:nvPr/>
            </p:nvGrpSpPr>
            <p:grpSpPr>
              <a:xfrm>
                <a:off x="4741458" y="4375154"/>
                <a:ext cx="79057" cy="82300"/>
                <a:chOff x="4741458" y="4375154"/>
                <a:chExt cx="79057" cy="82300"/>
              </a:xfrm>
              <a:grpFill/>
            </p:grpSpPr>
            <p:sp>
              <p:nvSpPr>
                <p:cNvPr id="288" name="Picture Placeholder 77">
                  <a:extLst>
                    <a:ext uri="{FF2B5EF4-FFF2-40B4-BE49-F238E27FC236}">
                      <a16:creationId xmlns:a16="http://schemas.microsoft.com/office/drawing/2014/main" id="{AEFF7015-8E49-46A7-8115-7B4221BA2B63}"/>
                    </a:ext>
                  </a:extLst>
                </p:cNvPr>
                <p:cNvSpPr/>
                <p:nvPr/>
              </p:nvSpPr>
              <p:spPr>
                <a:xfrm>
                  <a:off x="4764227" y="4375154"/>
                  <a:ext cx="56288" cy="58899"/>
                </a:xfrm>
                <a:custGeom>
                  <a:avLst/>
                  <a:gdLst>
                    <a:gd name="connsiteX0" fmla="*/ 40477 w 56288"/>
                    <a:gd name="connsiteY0" fmla="*/ 58899 h 58899"/>
                    <a:gd name="connsiteX1" fmla="*/ 32888 w 56288"/>
                    <a:gd name="connsiteY1" fmla="*/ 16525 h 58899"/>
                    <a:gd name="connsiteX2" fmla="*/ 1897 w 56288"/>
                    <a:gd name="connsiteY2" fmla="*/ 19687 h 58899"/>
                    <a:gd name="connsiteX3" fmla="*/ 0 w 56288"/>
                    <a:gd name="connsiteY3" fmla="*/ 3875 h 58899"/>
                    <a:gd name="connsiteX4" fmla="*/ 38580 w 56288"/>
                    <a:gd name="connsiteY4" fmla="*/ 81 h 58899"/>
                    <a:gd name="connsiteX5" fmla="*/ 47435 w 56288"/>
                    <a:gd name="connsiteY5" fmla="*/ 7038 h 58899"/>
                    <a:gd name="connsiteX6" fmla="*/ 56289 w 56288"/>
                    <a:gd name="connsiteY6" fmla="*/ 56370 h 58899"/>
                    <a:gd name="connsiteX7" fmla="*/ 40477 w 56288"/>
                    <a:gd name="connsiteY7" fmla="*/ 58899 h 5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288" h="58899">
                      <a:moveTo>
                        <a:pt x="40477" y="58899"/>
                      </a:moveTo>
                      <a:lnTo>
                        <a:pt x="32888" y="16525"/>
                      </a:lnTo>
                      <a:lnTo>
                        <a:pt x="1897" y="19687"/>
                      </a:lnTo>
                      <a:lnTo>
                        <a:pt x="0" y="3875"/>
                      </a:lnTo>
                      <a:lnTo>
                        <a:pt x="38580" y="81"/>
                      </a:lnTo>
                      <a:cubicBezTo>
                        <a:pt x="43007" y="-552"/>
                        <a:pt x="46802" y="2610"/>
                        <a:pt x="47435" y="7038"/>
                      </a:cubicBezTo>
                      <a:lnTo>
                        <a:pt x="56289" y="56370"/>
                      </a:lnTo>
                      <a:lnTo>
                        <a:pt x="40477" y="58899"/>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89" name="Picture Placeholder 77">
                  <a:extLst>
                    <a:ext uri="{FF2B5EF4-FFF2-40B4-BE49-F238E27FC236}">
                      <a16:creationId xmlns:a16="http://schemas.microsoft.com/office/drawing/2014/main" id="{5C5484F9-33AA-4F9C-B57A-93FF5E6B8966}"/>
                    </a:ext>
                  </a:extLst>
                </p:cNvPr>
                <p:cNvSpPr/>
                <p:nvPr/>
              </p:nvSpPr>
              <p:spPr>
                <a:xfrm>
                  <a:off x="4741458" y="4397923"/>
                  <a:ext cx="62613" cy="59531"/>
                </a:xfrm>
                <a:custGeom>
                  <a:avLst/>
                  <a:gdLst>
                    <a:gd name="connsiteX0" fmla="*/ 46170 w 62613"/>
                    <a:gd name="connsiteY0" fmla="*/ 59532 h 59531"/>
                    <a:gd name="connsiteX1" fmla="*/ 38580 w 62613"/>
                    <a:gd name="connsiteY1" fmla="*/ 17157 h 59531"/>
                    <a:gd name="connsiteX2" fmla="*/ 1897 w 62613"/>
                    <a:gd name="connsiteY2" fmla="*/ 21584 h 59531"/>
                    <a:gd name="connsiteX3" fmla="*/ 0 w 62613"/>
                    <a:gd name="connsiteY3" fmla="*/ 5140 h 59531"/>
                    <a:gd name="connsiteX4" fmla="*/ 44272 w 62613"/>
                    <a:gd name="connsiteY4" fmla="*/ 81 h 59531"/>
                    <a:gd name="connsiteX5" fmla="*/ 53127 w 62613"/>
                    <a:gd name="connsiteY5" fmla="*/ 7038 h 59531"/>
                    <a:gd name="connsiteX6" fmla="*/ 62614 w 62613"/>
                    <a:gd name="connsiteY6" fmla="*/ 57002 h 59531"/>
                    <a:gd name="connsiteX7" fmla="*/ 46170 w 62613"/>
                    <a:gd name="connsiteY7" fmla="*/ 59532 h 59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13" h="59531">
                      <a:moveTo>
                        <a:pt x="46170" y="59532"/>
                      </a:moveTo>
                      <a:lnTo>
                        <a:pt x="38580" y="17157"/>
                      </a:lnTo>
                      <a:lnTo>
                        <a:pt x="1897" y="21584"/>
                      </a:lnTo>
                      <a:lnTo>
                        <a:pt x="0" y="5140"/>
                      </a:lnTo>
                      <a:lnTo>
                        <a:pt x="44272" y="81"/>
                      </a:lnTo>
                      <a:cubicBezTo>
                        <a:pt x="48699" y="-552"/>
                        <a:pt x="52494" y="2610"/>
                        <a:pt x="53127" y="7038"/>
                      </a:cubicBezTo>
                      <a:lnTo>
                        <a:pt x="62614" y="57002"/>
                      </a:lnTo>
                      <a:lnTo>
                        <a:pt x="46170" y="5953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285" name="Picture Placeholder 77">
                <a:extLst>
                  <a:ext uri="{FF2B5EF4-FFF2-40B4-BE49-F238E27FC236}">
                    <a16:creationId xmlns:a16="http://schemas.microsoft.com/office/drawing/2014/main" id="{9A7869E8-6D53-4D3C-8944-A5AF4320F545}"/>
                  </a:ext>
                </a:extLst>
              </p:cNvPr>
              <p:cNvGrpSpPr/>
              <p:nvPr/>
            </p:nvGrpSpPr>
            <p:grpSpPr>
              <a:xfrm>
                <a:off x="4574392" y="4191822"/>
                <a:ext cx="82316" cy="86647"/>
                <a:chOff x="4574392" y="4191822"/>
                <a:chExt cx="82316" cy="86647"/>
              </a:xfrm>
              <a:grpFill/>
            </p:grpSpPr>
            <p:sp>
              <p:nvSpPr>
                <p:cNvPr id="286" name="Picture Placeholder 77">
                  <a:extLst>
                    <a:ext uri="{FF2B5EF4-FFF2-40B4-BE49-F238E27FC236}">
                      <a16:creationId xmlns:a16="http://schemas.microsoft.com/office/drawing/2014/main" id="{36D7D2C0-1665-4761-83AB-809064041D67}"/>
                    </a:ext>
                  </a:extLst>
                </p:cNvPr>
                <p:cNvSpPr/>
                <p:nvPr/>
              </p:nvSpPr>
              <p:spPr>
                <a:xfrm>
                  <a:off x="4574392" y="4205103"/>
                  <a:ext cx="53223" cy="73365"/>
                </a:xfrm>
                <a:custGeom>
                  <a:avLst/>
                  <a:gdLst>
                    <a:gd name="connsiteX0" fmla="*/ 48796 w 53223"/>
                    <a:gd name="connsiteY0" fmla="*/ 73365 h 73365"/>
                    <a:gd name="connsiteX1" fmla="*/ 5789 w 53223"/>
                    <a:gd name="connsiteY1" fmla="*/ 59451 h 73365"/>
                    <a:gd name="connsiteX2" fmla="*/ 97 w 53223"/>
                    <a:gd name="connsiteY2" fmla="*/ 49964 h 73365"/>
                    <a:gd name="connsiteX3" fmla="*/ 12746 w 53223"/>
                    <a:gd name="connsiteY3" fmla="*/ 0 h 73365"/>
                    <a:gd name="connsiteX4" fmla="*/ 28558 w 53223"/>
                    <a:gd name="connsiteY4" fmla="*/ 3795 h 73365"/>
                    <a:gd name="connsiteX5" fmla="*/ 17806 w 53223"/>
                    <a:gd name="connsiteY5" fmla="*/ 46802 h 73365"/>
                    <a:gd name="connsiteX6" fmla="*/ 53223 w 53223"/>
                    <a:gd name="connsiteY6" fmla="*/ 58186 h 73365"/>
                    <a:gd name="connsiteX7" fmla="*/ 48796 w 53223"/>
                    <a:gd name="connsiteY7" fmla="*/ 73365 h 7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23" h="73365">
                      <a:moveTo>
                        <a:pt x="48796" y="73365"/>
                      </a:moveTo>
                      <a:lnTo>
                        <a:pt x="5789" y="59451"/>
                      </a:lnTo>
                      <a:cubicBezTo>
                        <a:pt x="1994" y="58186"/>
                        <a:pt x="-536" y="53759"/>
                        <a:pt x="97" y="49964"/>
                      </a:cubicBezTo>
                      <a:lnTo>
                        <a:pt x="12746" y="0"/>
                      </a:lnTo>
                      <a:lnTo>
                        <a:pt x="28558" y="3795"/>
                      </a:lnTo>
                      <a:lnTo>
                        <a:pt x="17806" y="46802"/>
                      </a:lnTo>
                      <a:lnTo>
                        <a:pt x="53223" y="58186"/>
                      </a:lnTo>
                      <a:lnTo>
                        <a:pt x="48796" y="73365"/>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87" name="Picture Placeholder 77">
                  <a:extLst>
                    <a:ext uri="{FF2B5EF4-FFF2-40B4-BE49-F238E27FC236}">
                      <a16:creationId xmlns:a16="http://schemas.microsoft.com/office/drawing/2014/main" id="{71281B81-ED5A-4009-996A-93B9019D0575}"/>
                    </a:ext>
                  </a:extLst>
                </p:cNvPr>
                <p:cNvSpPr/>
                <p:nvPr/>
              </p:nvSpPr>
              <p:spPr>
                <a:xfrm>
                  <a:off x="4600323" y="4191822"/>
                  <a:ext cx="56385" cy="72100"/>
                </a:xfrm>
                <a:custGeom>
                  <a:avLst/>
                  <a:gdLst>
                    <a:gd name="connsiteX0" fmla="*/ 51326 w 56385"/>
                    <a:gd name="connsiteY0" fmla="*/ 72100 h 72100"/>
                    <a:gd name="connsiteX1" fmla="*/ 5789 w 56385"/>
                    <a:gd name="connsiteY1" fmla="*/ 57554 h 72100"/>
                    <a:gd name="connsiteX2" fmla="*/ 97 w 56385"/>
                    <a:gd name="connsiteY2" fmla="*/ 48067 h 72100"/>
                    <a:gd name="connsiteX3" fmla="*/ 12114 w 56385"/>
                    <a:gd name="connsiteY3" fmla="*/ 0 h 72100"/>
                    <a:gd name="connsiteX4" fmla="*/ 27925 w 56385"/>
                    <a:gd name="connsiteY4" fmla="*/ 3795 h 72100"/>
                    <a:gd name="connsiteX5" fmla="*/ 17806 w 56385"/>
                    <a:gd name="connsiteY5" fmla="*/ 44272 h 72100"/>
                    <a:gd name="connsiteX6" fmla="*/ 56386 w 56385"/>
                    <a:gd name="connsiteY6" fmla="*/ 56921 h 72100"/>
                    <a:gd name="connsiteX7" fmla="*/ 51326 w 56385"/>
                    <a:gd name="connsiteY7" fmla="*/ 72100 h 7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385" h="72100">
                      <a:moveTo>
                        <a:pt x="51326" y="72100"/>
                      </a:moveTo>
                      <a:lnTo>
                        <a:pt x="5789" y="57554"/>
                      </a:lnTo>
                      <a:cubicBezTo>
                        <a:pt x="1994" y="56289"/>
                        <a:pt x="-536" y="51862"/>
                        <a:pt x="97" y="48067"/>
                      </a:cubicBezTo>
                      <a:lnTo>
                        <a:pt x="12114" y="0"/>
                      </a:lnTo>
                      <a:lnTo>
                        <a:pt x="27925" y="3795"/>
                      </a:lnTo>
                      <a:lnTo>
                        <a:pt x="17806" y="44272"/>
                      </a:lnTo>
                      <a:lnTo>
                        <a:pt x="56386" y="56921"/>
                      </a:lnTo>
                      <a:lnTo>
                        <a:pt x="51326" y="7210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39" name="Group 38">
            <a:extLst>
              <a:ext uri="{FF2B5EF4-FFF2-40B4-BE49-F238E27FC236}">
                <a16:creationId xmlns:a16="http://schemas.microsoft.com/office/drawing/2014/main" id="{9E9982EC-34C8-4F60-816A-C4A39E886099}"/>
              </a:ext>
            </a:extLst>
          </p:cNvPr>
          <p:cNvGrpSpPr/>
          <p:nvPr/>
        </p:nvGrpSpPr>
        <p:grpSpPr>
          <a:xfrm>
            <a:off x="5463093" y="3527622"/>
            <a:ext cx="758008" cy="2475217"/>
            <a:chOff x="4922073" y="3703187"/>
            <a:chExt cx="758008" cy="2475217"/>
          </a:xfrm>
        </p:grpSpPr>
        <p:sp>
          <p:nvSpPr>
            <p:cNvPr id="222" name="Rounded Rectangle 37">
              <a:extLst>
                <a:ext uri="{FF2B5EF4-FFF2-40B4-BE49-F238E27FC236}">
                  <a16:creationId xmlns:a16="http://schemas.microsoft.com/office/drawing/2014/main" id="{F942D06B-AD3B-4B8C-935B-9E54A6562D7D}"/>
                </a:ext>
              </a:extLst>
            </p:cNvPr>
            <p:cNvSpPr/>
            <p:nvPr/>
          </p:nvSpPr>
          <p:spPr>
            <a:xfrm>
              <a:off x="4922073"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Log</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Monitoring</a:t>
              </a:r>
            </a:p>
          </p:txBody>
        </p:sp>
        <p:cxnSp>
          <p:nvCxnSpPr>
            <p:cNvPr id="223" name="Straight Connector 222">
              <a:extLst>
                <a:ext uri="{FF2B5EF4-FFF2-40B4-BE49-F238E27FC236}">
                  <a16:creationId xmlns:a16="http://schemas.microsoft.com/office/drawing/2014/main" id="{07FEA3D0-13BD-4223-B063-BAF026EB384F}"/>
                </a:ext>
              </a:extLst>
            </p:cNvPr>
            <p:cNvCxnSpPr>
              <a:cxnSpLocks/>
            </p:cNvCxnSpPr>
            <p:nvPr/>
          </p:nvCxnSpPr>
          <p:spPr bwMode="gray">
            <a:xfrm>
              <a:off x="530107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24" name="Oval 223">
              <a:extLst>
                <a:ext uri="{FF2B5EF4-FFF2-40B4-BE49-F238E27FC236}">
                  <a16:creationId xmlns:a16="http://schemas.microsoft.com/office/drawing/2014/main" id="{7CA7A697-78B9-4EC1-8BA5-798F2570CB93}"/>
                </a:ext>
              </a:extLst>
            </p:cNvPr>
            <p:cNvSpPr/>
            <p:nvPr/>
          </p:nvSpPr>
          <p:spPr>
            <a:xfrm rot="10800000">
              <a:off x="5061016"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grpSp>
          <p:nvGrpSpPr>
            <p:cNvPr id="296" name="Picture Placeholder 89" descr="Filtered Data&#10;">
              <a:extLst>
                <a:ext uri="{FF2B5EF4-FFF2-40B4-BE49-F238E27FC236}">
                  <a16:creationId xmlns:a16="http://schemas.microsoft.com/office/drawing/2014/main" id="{52AFA1DD-FE7C-4922-A3B5-6AB2A58481C1}"/>
                </a:ext>
              </a:extLst>
            </p:cNvPr>
            <p:cNvGrpSpPr>
              <a:grpSpLocks noChangeAspect="1"/>
            </p:cNvGrpSpPr>
            <p:nvPr/>
          </p:nvGrpSpPr>
          <p:grpSpPr>
            <a:xfrm>
              <a:off x="5163916" y="5354825"/>
              <a:ext cx="274320" cy="273180"/>
              <a:chOff x="7128581" y="1952373"/>
              <a:chExt cx="598263" cy="595777"/>
            </a:xfrm>
            <a:solidFill>
              <a:schemeClr val="tx1"/>
            </a:solidFill>
          </p:grpSpPr>
          <p:sp>
            <p:nvSpPr>
              <p:cNvPr id="297" name="Picture Placeholder 89">
                <a:extLst>
                  <a:ext uri="{FF2B5EF4-FFF2-40B4-BE49-F238E27FC236}">
                    <a16:creationId xmlns:a16="http://schemas.microsoft.com/office/drawing/2014/main" id="{F9C2B044-F36C-47C1-9A34-372E3FD1730A}"/>
                  </a:ext>
                </a:extLst>
              </p:cNvPr>
              <p:cNvSpPr/>
              <p:nvPr/>
            </p:nvSpPr>
            <p:spPr>
              <a:xfrm>
                <a:off x="7314912" y="1952373"/>
                <a:ext cx="229427" cy="595777"/>
              </a:xfrm>
              <a:custGeom>
                <a:avLst/>
                <a:gdLst>
                  <a:gd name="connsiteX0" fmla="*/ 58941 w 229427"/>
                  <a:gd name="connsiteY0" fmla="*/ 595777 h 595777"/>
                  <a:gd name="connsiteX1" fmla="*/ 0 w 229427"/>
                  <a:gd name="connsiteY1" fmla="*/ 595777 h 595777"/>
                  <a:gd name="connsiteX2" fmla="*/ 0 w 229427"/>
                  <a:gd name="connsiteY2" fmla="*/ 576804 h 595777"/>
                  <a:gd name="connsiteX3" fmla="*/ 48167 w 229427"/>
                  <a:gd name="connsiteY3" fmla="*/ 576804 h 595777"/>
                  <a:gd name="connsiteX4" fmla="*/ 207879 w 229427"/>
                  <a:gd name="connsiteY4" fmla="*/ 297889 h 595777"/>
                  <a:gd name="connsiteX5" fmla="*/ 48167 w 229427"/>
                  <a:gd name="connsiteY5" fmla="*/ 18974 h 595777"/>
                  <a:gd name="connsiteX6" fmla="*/ 0 w 229427"/>
                  <a:gd name="connsiteY6" fmla="*/ 18974 h 595777"/>
                  <a:gd name="connsiteX7" fmla="*/ 0 w 229427"/>
                  <a:gd name="connsiteY7" fmla="*/ 0 h 595777"/>
                  <a:gd name="connsiteX8" fmla="*/ 58941 w 229427"/>
                  <a:gd name="connsiteY8" fmla="*/ 0 h 595777"/>
                  <a:gd name="connsiteX9" fmla="*/ 229428 w 229427"/>
                  <a:gd name="connsiteY9" fmla="*/ 297889 h 59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427" h="595777">
                    <a:moveTo>
                      <a:pt x="58941" y="595777"/>
                    </a:moveTo>
                    <a:lnTo>
                      <a:pt x="0" y="595777"/>
                    </a:lnTo>
                    <a:lnTo>
                      <a:pt x="0" y="576804"/>
                    </a:lnTo>
                    <a:lnTo>
                      <a:pt x="48167" y="576804"/>
                    </a:lnTo>
                    <a:lnTo>
                      <a:pt x="207879" y="297889"/>
                    </a:lnTo>
                    <a:lnTo>
                      <a:pt x="48167" y="18974"/>
                    </a:lnTo>
                    <a:lnTo>
                      <a:pt x="0" y="18974"/>
                    </a:lnTo>
                    <a:lnTo>
                      <a:pt x="0" y="0"/>
                    </a:lnTo>
                    <a:lnTo>
                      <a:pt x="58941" y="0"/>
                    </a:lnTo>
                    <a:lnTo>
                      <a:pt x="229428" y="297889"/>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298" name="Picture Placeholder 89">
                <a:extLst>
                  <a:ext uri="{FF2B5EF4-FFF2-40B4-BE49-F238E27FC236}">
                    <a16:creationId xmlns:a16="http://schemas.microsoft.com/office/drawing/2014/main" id="{EFF174B1-9BCD-4261-9BC0-59A9F7B8573E}"/>
                  </a:ext>
                </a:extLst>
              </p:cNvPr>
              <p:cNvGrpSpPr/>
              <p:nvPr/>
            </p:nvGrpSpPr>
            <p:grpSpPr>
              <a:xfrm>
                <a:off x="7253435" y="2016251"/>
                <a:ext cx="348033" cy="35417"/>
                <a:chOff x="7253435" y="2016251"/>
                <a:chExt cx="348033" cy="35417"/>
              </a:xfrm>
              <a:grpFill/>
            </p:grpSpPr>
            <p:sp>
              <p:nvSpPr>
                <p:cNvPr id="335" name="Picture Placeholder 89">
                  <a:extLst>
                    <a:ext uri="{FF2B5EF4-FFF2-40B4-BE49-F238E27FC236}">
                      <a16:creationId xmlns:a16="http://schemas.microsoft.com/office/drawing/2014/main" id="{1891BAA0-9E20-434A-AE8B-F8D8BCE199DB}"/>
                    </a:ext>
                  </a:extLst>
                </p:cNvPr>
                <p:cNvSpPr/>
                <p:nvPr/>
              </p:nvSpPr>
              <p:spPr>
                <a:xfrm>
                  <a:off x="7253435"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6" name="Picture Placeholder 89">
                  <a:extLst>
                    <a:ext uri="{FF2B5EF4-FFF2-40B4-BE49-F238E27FC236}">
                      <a16:creationId xmlns:a16="http://schemas.microsoft.com/office/drawing/2014/main" id="{D8B17F51-E5C0-4739-B7D0-BB777D7D4390}"/>
                    </a:ext>
                  </a:extLst>
                </p:cNvPr>
                <p:cNvSpPr/>
                <p:nvPr/>
              </p:nvSpPr>
              <p:spPr>
                <a:xfrm>
                  <a:off x="7315545"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7" name="Picture Placeholder 89">
                  <a:extLst>
                    <a:ext uri="{FF2B5EF4-FFF2-40B4-BE49-F238E27FC236}">
                      <a16:creationId xmlns:a16="http://schemas.microsoft.com/office/drawing/2014/main" id="{6EBB41C5-E411-46A7-8454-547A671831FB}"/>
                    </a:ext>
                  </a:extLst>
                </p:cNvPr>
                <p:cNvSpPr/>
                <p:nvPr/>
              </p:nvSpPr>
              <p:spPr>
                <a:xfrm>
                  <a:off x="7378290"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8" name="Picture Placeholder 89">
                  <a:extLst>
                    <a:ext uri="{FF2B5EF4-FFF2-40B4-BE49-F238E27FC236}">
                      <a16:creationId xmlns:a16="http://schemas.microsoft.com/office/drawing/2014/main" id="{F343DBFA-E8A0-4D65-B28E-B481D4970C91}"/>
                    </a:ext>
                  </a:extLst>
                </p:cNvPr>
                <p:cNvSpPr/>
                <p:nvPr/>
              </p:nvSpPr>
              <p:spPr>
                <a:xfrm>
                  <a:off x="7503144"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9" name="Picture Placeholder 89">
                  <a:extLst>
                    <a:ext uri="{FF2B5EF4-FFF2-40B4-BE49-F238E27FC236}">
                      <a16:creationId xmlns:a16="http://schemas.microsoft.com/office/drawing/2014/main" id="{B91553CF-6DB6-4BA0-8EED-03CEFE150BBF}"/>
                    </a:ext>
                  </a:extLst>
                </p:cNvPr>
                <p:cNvSpPr/>
                <p:nvPr/>
              </p:nvSpPr>
              <p:spPr>
                <a:xfrm>
                  <a:off x="7565254"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299" name="Picture Placeholder 89">
                <a:extLst>
                  <a:ext uri="{FF2B5EF4-FFF2-40B4-BE49-F238E27FC236}">
                    <a16:creationId xmlns:a16="http://schemas.microsoft.com/office/drawing/2014/main" id="{C4362ED3-41CD-4C17-9117-02113D8EE1AF}"/>
                  </a:ext>
                </a:extLst>
              </p:cNvPr>
              <p:cNvGrpSpPr/>
              <p:nvPr/>
            </p:nvGrpSpPr>
            <p:grpSpPr>
              <a:xfrm>
                <a:off x="7315545" y="2102898"/>
                <a:ext cx="348033" cy="35417"/>
                <a:chOff x="7315545" y="2102898"/>
                <a:chExt cx="348033" cy="35417"/>
              </a:xfrm>
              <a:grpFill/>
            </p:grpSpPr>
            <p:sp>
              <p:nvSpPr>
                <p:cNvPr id="332" name="Picture Placeholder 89">
                  <a:extLst>
                    <a:ext uri="{FF2B5EF4-FFF2-40B4-BE49-F238E27FC236}">
                      <a16:creationId xmlns:a16="http://schemas.microsoft.com/office/drawing/2014/main" id="{626F258A-2B3E-4443-8737-FA4075B5F4A5}"/>
                    </a:ext>
                  </a:extLst>
                </p:cNvPr>
                <p:cNvSpPr/>
                <p:nvPr/>
              </p:nvSpPr>
              <p:spPr>
                <a:xfrm>
                  <a:off x="7315545"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3" name="Picture Placeholder 89">
                  <a:extLst>
                    <a:ext uri="{FF2B5EF4-FFF2-40B4-BE49-F238E27FC236}">
                      <a16:creationId xmlns:a16="http://schemas.microsoft.com/office/drawing/2014/main" id="{C923F183-5471-4900-A785-D65A44F82249}"/>
                    </a:ext>
                  </a:extLst>
                </p:cNvPr>
                <p:cNvSpPr/>
                <p:nvPr/>
              </p:nvSpPr>
              <p:spPr>
                <a:xfrm>
                  <a:off x="7378290"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4" name="Picture Placeholder 89">
                  <a:extLst>
                    <a:ext uri="{FF2B5EF4-FFF2-40B4-BE49-F238E27FC236}">
                      <a16:creationId xmlns:a16="http://schemas.microsoft.com/office/drawing/2014/main" id="{61903FB3-22F5-4AFA-B292-82D544DD70B6}"/>
                    </a:ext>
                  </a:extLst>
                </p:cNvPr>
                <p:cNvSpPr/>
                <p:nvPr/>
              </p:nvSpPr>
              <p:spPr>
                <a:xfrm>
                  <a:off x="7627364"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300" name="Picture Placeholder 89">
                <a:extLst>
                  <a:ext uri="{FF2B5EF4-FFF2-40B4-BE49-F238E27FC236}">
                    <a16:creationId xmlns:a16="http://schemas.microsoft.com/office/drawing/2014/main" id="{19BE9330-3C8F-4314-A858-5EC9458C8CAB}"/>
                  </a:ext>
                </a:extLst>
              </p:cNvPr>
              <p:cNvGrpSpPr/>
              <p:nvPr/>
            </p:nvGrpSpPr>
            <p:grpSpPr>
              <a:xfrm>
                <a:off x="7191959" y="2189545"/>
                <a:ext cx="534753" cy="35417"/>
                <a:chOff x="7191959" y="2189545"/>
                <a:chExt cx="534753" cy="35417"/>
              </a:xfrm>
              <a:grpFill/>
            </p:grpSpPr>
            <p:sp>
              <p:nvSpPr>
                <p:cNvPr id="325" name="Picture Placeholder 89">
                  <a:extLst>
                    <a:ext uri="{FF2B5EF4-FFF2-40B4-BE49-F238E27FC236}">
                      <a16:creationId xmlns:a16="http://schemas.microsoft.com/office/drawing/2014/main" id="{312CA598-9371-4FF0-A826-91FFA9B0F731}"/>
                    </a:ext>
                  </a:extLst>
                </p:cNvPr>
                <p:cNvSpPr/>
                <p:nvPr/>
              </p:nvSpPr>
              <p:spPr>
                <a:xfrm>
                  <a:off x="7253435"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6" name="Picture Placeholder 89">
                  <a:extLst>
                    <a:ext uri="{FF2B5EF4-FFF2-40B4-BE49-F238E27FC236}">
                      <a16:creationId xmlns:a16="http://schemas.microsoft.com/office/drawing/2014/main" id="{606415EE-B65A-40EC-A23D-1D13E0C5CA41}"/>
                    </a:ext>
                  </a:extLst>
                </p:cNvPr>
                <p:cNvSpPr/>
                <p:nvPr/>
              </p:nvSpPr>
              <p:spPr>
                <a:xfrm>
                  <a:off x="7191959"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7" name="Picture Placeholder 89">
                  <a:extLst>
                    <a:ext uri="{FF2B5EF4-FFF2-40B4-BE49-F238E27FC236}">
                      <a16:creationId xmlns:a16="http://schemas.microsoft.com/office/drawing/2014/main" id="{D35DEB1C-9F72-4B3C-843F-0ADD2D5FE53F}"/>
                    </a:ext>
                  </a:extLst>
                </p:cNvPr>
                <p:cNvSpPr/>
                <p:nvPr/>
              </p:nvSpPr>
              <p:spPr>
                <a:xfrm>
                  <a:off x="7315545"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8" name="Picture Placeholder 89">
                  <a:extLst>
                    <a:ext uri="{FF2B5EF4-FFF2-40B4-BE49-F238E27FC236}">
                      <a16:creationId xmlns:a16="http://schemas.microsoft.com/office/drawing/2014/main" id="{61AB677B-2D27-4C93-98C6-193F9C28B7A9}"/>
                    </a:ext>
                  </a:extLst>
                </p:cNvPr>
                <p:cNvSpPr/>
                <p:nvPr/>
              </p:nvSpPr>
              <p:spPr>
                <a:xfrm>
                  <a:off x="7378290"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9" name="Picture Placeholder 89">
                  <a:extLst>
                    <a:ext uri="{FF2B5EF4-FFF2-40B4-BE49-F238E27FC236}">
                      <a16:creationId xmlns:a16="http://schemas.microsoft.com/office/drawing/2014/main" id="{EA3D1878-56FE-4454-997D-70A8AFA88751}"/>
                    </a:ext>
                  </a:extLst>
                </p:cNvPr>
                <p:cNvSpPr/>
                <p:nvPr/>
              </p:nvSpPr>
              <p:spPr>
                <a:xfrm>
                  <a:off x="7440400"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0" name="Picture Placeholder 89">
                  <a:extLst>
                    <a:ext uri="{FF2B5EF4-FFF2-40B4-BE49-F238E27FC236}">
                      <a16:creationId xmlns:a16="http://schemas.microsoft.com/office/drawing/2014/main" id="{8432DA26-5DB4-4B6E-A20F-11FCE1D22590}"/>
                    </a:ext>
                  </a:extLst>
                </p:cNvPr>
                <p:cNvSpPr/>
                <p:nvPr/>
              </p:nvSpPr>
              <p:spPr>
                <a:xfrm>
                  <a:off x="7627364"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1" name="Picture Placeholder 89">
                  <a:extLst>
                    <a:ext uri="{FF2B5EF4-FFF2-40B4-BE49-F238E27FC236}">
                      <a16:creationId xmlns:a16="http://schemas.microsoft.com/office/drawing/2014/main" id="{0BD7AB13-4709-4803-9F71-12365CF3AAE7}"/>
                    </a:ext>
                  </a:extLst>
                </p:cNvPr>
                <p:cNvSpPr/>
                <p:nvPr/>
              </p:nvSpPr>
              <p:spPr>
                <a:xfrm>
                  <a:off x="7690108"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301" name="Picture Placeholder 89">
                <a:extLst>
                  <a:ext uri="{FF2B5EF4-FFF2-40B4-BE49-F238E27FC236}">
                    <a16:creationId xmlns:a16="http://schemas.microsoft.com/office/drawing/2014/main" id="{24C3032B-FCD3-43ED-A991-72F0F623C5A2}"/>
                  </a:ext>
                </a:extLst>
              </p:cNvPr>
              <p:cNvGrpSpPr/>
              <p:nvPr/>
            </p:nvGrpSpPr>
            <p:grpSpPr>
              <a:xfrm>
                <a:off x="7128581" y="2275560"/>
                <a:ext cx="473148" cy="35417"/>
                <a:chOff x="7128581" y="2275560"/>
                <a:chExt cx="473148" cy="35417"/>
              </a:xfrm>
              <a:grpFill/>
            </p:grpSpPr>
            <p:sp>
              <p:nvSpPr>
                <p:cNvPr id="317" name="Picture Placeholder 89">
                  <a:extLst>
                    <a:ext uri="{FF2B5EF4-FFF2-40B4-BE49-F238E27FC236}">
                      <a16:creationId xmlns:a16="http://schemas.microsoft.com/office/drawing/2014/main" id="{79D54625-1E03-4BB4-A3B0-EDB6F23D232F}"/>
                    </a:ext>
                  </a:extLst>
                </p:cNvPr>
                <p:cNvSpPr/>
                <p:nvPr/>
              </p:nvSpPr>
              <p:spPr>
                <a:xfrm>
                  <a:off x="725343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8" name="Picture Placeholder 89">
                  <a:extLst>
                    <a:ext uri="{FF2B5EF4-FFF2-40B4-BE49-F238E27FC236}">
                      <a16:creationId xmlns:a16="http://schemas.microsoft.com/office/drawing/2014/main" id="{F5A86BA6-1AF3-46DE-BA87-AEBC08071D70}"/>
                    </a:ext>
                  </a:extLst>
                </p:cNvPr>
                <p:cNvSpPr/>
                <p:nvPr/>
              </p:nvSpPr>
              <p:spPr>
                <a:xfrm>
                  <a:off x="719132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9" name="Picture Placeholder 89">
                  <a:extLst>
                    <a:ext uri="{FF2B5EF4-FFF2-40B4-BE49-F238E27FC236}">
                      <a16:creationId xmlns:a16="http://schemas.microsoft.com/office/drawing/2014/main" id="{CD354873-AC0B-4412-A2FC-6A050E21CE55}"/>
                    </a:ext>
                  </a:extLst>
                </p:cNvPr>
                <p:cNvSpPr/>
                <p:nvPr/>
              </p:nvSpPr>
              <p:spPr>
                <a:xfrm>
                  <a:off x="7128581"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0" name="Picture Placeholder 89">
                  <a:extLst>
                    <a:ext uri="{FF2B5EF4-FFF2-40B4-BE49-F238E27FC236}">
                      <a16:creationId xmlns:a16="http://schemas.microsoft.com/office/drawing/2014/main" id="{0E6C507A-9129-44EF-8633-930F73F3B2DB}"/>
                    </a:ext>
                  </a:extLst>
                </p:cNvPr>
                <p:cNvSpPr/>
                <p:nvPr/>
              </p:nvSpPr>
              <p:spPr>
                <a:xfrm>
                  <a:off x="731554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1" name="Picture Placeholder 89">
                  <a:extLst>
                    <a:ext uri="{FF2B5EF4-FFF2-40B4-BE49-F238E27FC236}">
                      <a16:creationId xmlns:a16="http://schemas.microsoft.com/office/drawing/2014/main" id="{06F486B1-012E-4489-9C48-22957E25648A}"/>
                    </a:ext>
                  </a:extLst>
                </p:cNvPr>
                <p:cNvSpPr/>
                <p:nvPr/>
              </p:nvSpPr>
              <p:spPr>
                <a:xfrm>
                  <a:off x="7378290"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2" name="Picture Placeholder 89">
                  <a:extLst>
                    <a:ext uri="{FF2B5EF4-FFF2-40B4-BE49-F238E27FC236}">
                      <a16:creationId xmlns:a16="http://schemas.microsoft.com/office/drawing/2014/main" id="{CC570EC1-AE80-4933-B0A5-7E11E324616F}"/>
                    </a:ext>
                  </a:extLst>
                </p:cNvPr>
                <p:cNvSpPr/>
                <p:nvPr/>
              </p:nvSpPr>
              <p:spPr>
                <a:xfrm>
                  <a:off x="7440400"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3" name="Picture Placeholder 89">
                  <a:extLst>
                    <a:ext uri="{FF2B5EF4-FFF2-40B4-BE49-F238E27FC236}">
                      <a16:creationId xmlns:a16="http://schemas.microsoft.com/office/drawing/2014/main" id="{1C7ED8BA-36B8-4B5B-A65C-6DD1655CFD65}"/>
                    </a:ext>
                  </a:extLst>
                </p:cNvPr>
                <p:cNvSpPr/>
                <p:nvPr/>
              </p:nvSpPr>
              <p:spPr>
                <a:xfrm>
                  <a:off x="7503144"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4" name="Picture Placeholder 89">
                  <a:extLst>
                    <a:ext uri="{FF2B5EF4-FFF2-40B4-BE49-F238E27FC236}">
                      <a16:creationId xmlns:a16="http://schemas.microsoft.com/office/drawing/2014/main" id="{D3A162EB-C016-4850-92B5-1EBD3792B441}"/>
                    </a:ext>
                  </a:extLst>
                </p:cNvPr>
                <p:cNvSpPr/>
                <p:nvPr/>
              </p:nvSpPr>
              <p:spPr>
                <a:xfrm>
                  <a:off x="7565254"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302" name="Picture Placeholder 89">
                <a:extLst>
                  <a:ext uri="{FF2B5EF4-FFF2-40B4-BE49-F238E27FC236}">
                    <a16:creationId xmlns:a16="http://schemas.microsoft.com/office/drawing/2014/main" id="{089863D8-14EE-4ED3-A8FF-49AE80EE7F13}"/>
                  </a:ext>
                </a:extLst>
              </p:cNvPr>
              <p:cNvGrpSpPr/>
              <p:nvPr/>
            </p:nvGrpSpPr>
            <p:grpSpPr>
              <a:xfrm>
                <a:off x="7191325" y="2362207"/>
                <a:ext cx="535388" cy="35417"/>
                <a:chOff x="7191325" y="2362207"/>
                <a:chExt cx="535388" cy="35417"/>
              </a:xfrm>
              <a:grpFill/>
            </p:grpSpPr>
            <p:sp>
              <p:nvSpPr>
                <p:cNvPr id="310" name="Picture Placeholder 89">
                  <a:extLst>
                    <a:ext uri="{FF2B5EF4-FFF2-40B4-BE49-F238E27FC236}">
                      <a16:creationId xmlns:a16="http://schemas.microsoft.com/office/drawing/2014/main" id="{E93E5577-70E3-4E5C-B928-C810F3E5F8B6}"/>
                    </a:ext>
                  </a:extLst>
                </p:cNvPr>
                <p:cNvSpPr/>
                <p:nvPr/>
              </p:nvSpPr>
              <p:spPr>
                <a:xfrm>
                  <a:off x="725343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1" name="Picture Placeholder 89">
                  <a:extLst>
                    <a:ext uri="{FF2B5EF4-FFF2-40B4-BE49-F238E27FC236}">
                      <a16:creationId xmlns:a16="http://schemas.microsoft.com/office/drawing/2014/main" id="{2BED8447-6BDF-4817-851A-A02EFCE5631B}"/>
                    </a:ext>
                  </a:extLst>
                </p:cNvPr>
                <p:cNvSpPr/>
                <p:nvPr/>
              </p:nvSpPr>
              <p:spPr>
                <a:xfrm>
                  <a:off x="719132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2" name="Picture Placeholder 89">
                  <a:extLst>
                    <a:ext uri="{FF2B5EF4-FFF2-40B4-BE49-F238E27FC236}">
                      <a16:creationId xmlns:a16="http://schemas.microsoft.com/office/drawing/2014/main" id="{1CA4A340-B941-485B-8228-B167BC09FCF4}"/>
                    </a:ext>
                  </a:extLst>
                </p:cNvPr>
                <p:cNvSpPr/>
                <p:nvPr/>
              </p:nvSpPr>
              <p:spPr>
                <a:xfrm>
                  <a:off x="731554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3" name="Picture Placeholder 89">
                  <a:extLst>
                    <a:ext uri="{FF2B5EF4-FFF2-40B4-BE49-F238E27FC236}">
                      <a16:creationId xmlns:a16="http://schemas.microsoft.com/office/drawing/2014/main" id="{38F31B82-5513-4411-95BA-AB50DB58BE9A}"/>
                    </a:ext>
                  </a:extLst>
                </p:cNvPr>
                <p:cNvSpPr/>
                <p:nvPr/>
              </p:nvSpPr>
              <p:spPr>
                <a:xfrm>
                  <a:off x="7378290"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4" name="Picture Placeholder 89">
                  <a:extLst>
                    <a:ext uri="{FF2B5EF4-FFF2-40B4-BE49-F238E27FC236}">
                      <a16:creationId xmlns:a16="http://schemas.microsoft.com/office/drawing/2014/main" id="{8BF8FBE8-54A4-4BE2-8424-D6EA1270F944}"/>
                    </a:ext>
                  </a:extLst>
                </p:cNvPr>
                <p:cNvSpPr/>
                <p:nvPr/>
              </p:nvSpPr>
              <p:spPr>
                <a:xfrm>
                  <a:off x="7503144"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5" name="Picture Placeholder 89">
                  <a:extLst>
                    <a:ext uri="{FF2B5EF4-FFF2-40B4-BE49-F238E27FC236}">
                      <a16:creationId xmlns:a16="http://schemas.microsoft.com/office/drawing/2014/main" id="{AAA5866A-38ED-48C1-9FD3-C83A0B4B5E06}"/>
                    </a:ext>
                  </a:extLst>
                </p:cNvPr>
                <p:cNvSpPr/>
                <p:nvPr/>
              </p:nvSpPr>
              <p:spPr>
                <a:xfrm>
                  <a:off x="7565254"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6" name="Picture Placeholder 89">
                  <a:extLst>
                    <a:ext uri="{FF2B5EF4-FFF2-40B4-BE49-F238E27FC236}">
                      <a16:creationId xmlns:a16="http://schemas.microsoft.com/office/drawing/2014/main" id="{8ADC0B4F-CB73-4164-921D-AD454ADD3979}"/>
                    </a:ext>
                  </a:extLst>
                </p:cNvPr>
                <p:cNvSpPr/>
                <p:nvPr/>
              </p:nvSpPr>
              <p:spPr>
                <a:xfrm>
                  <a:off x="7690108"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303" name="Picture Placeholder 89">
                <a:extLst>
                  <a:ext uri="{FF2B5EF4-FFF2-40B4-BE49-F238E27FC236}">
                    <a16:creationId xmlns:a16="http://schemas.microsoft.com/office/drawing/2014/main" id="{EC539271-5924-4382-BA1B-758A9E21EF4B}"/>
                  </a:ext>
                </a:extLst>
              </p:cNvPr>
              <p:cNvGrpSpPr/>
              <p:nvPr/>
            </p:nvGrpSpPr>
            <p:grpSpPr>
              <a:xfrm>
                <a:off x="7253435" y="2448854"/>
                <a:ext cx="410273" cy="35417"/>
                <a:chOff x="7253435" y="2448854"/>
                <a:chExt cx="410273" cy="35417"/>
              </a:xfrm>
              <a:grpFill/>
            </p:grpSpPr>
            <p:sp>
              <p:nvSpPr>
                <p:cNvPr id="304" name="Picture Placeholder 89">
                  <a:extLst>
                    <a:ext uri="{FF2B5EF4-FFF2-40B4-BE49-F238E27FC236}">
                      <a16:creationId xmlns:a16="http://schemas.microsoft.com/office/drawing/2014/main" id="{36EB4CF0-822E-434C-8936-54CCB53E8338}"/>
                    </a:ext>
                  </a:extLst>
                </p:cNvPr>
                <p:cNvSpPr/>
                <p:nvPr/>
              </p:nvSpPr>
              <p:spPr>
                <a:xfrm>
                  <a:off x="7253435"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05" name="Picture Placeholder 89">
                  <a:extLst>
                    <a:ext uri="{FF2B5EF4-FFF2-40B4-BE49-F238E27FC236}">
                      <a16:creationId xmlns:a16="http://schemas.microsoft.com/office/drawing/2014/main" id="{97ABC2F2-217E-40B3-8AA3-3CB9C6ED44D0}"/>
                    </a:ext>
                  </a:extLst>
                </p:cNvPr>
                <p:cNvSpPr/>
                <p:nvPr/>
              </p:nvSpPr>
              <p:spPr>
                <a:xfrm>
                  <a:off x="7315545"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06" name="Picture Placeholder 89">
                  <a:extLst>
                    <a:ext uri="{FF2B5EF4-FFF2-40B4-BE49-F238E27FC236}">
                      <a16:creationId xmlns:a16="http://schemas.microsoft.com/office/drawing/2014/main" id="{157F5D1A-D853-4155-BEBE-377438085CEE}"/>
                    </a:ext>
                  </a:extLst>
                </p:cNvPr>
                <p:cNvSpPr/>
                <p:nvPr/>
              </p:nvSpPr>
              <p:spPr>
                <a:xfrm>
                  <a:off x="7378290"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07" name="Picture Placeholder 89">
                  <a:extLst>
                    <a:ext uri="{FF2B5EF4-FFF2-40B4-BE49-F238E27FC236}">
                      <a16:creationId xmlns:a16="http://schemas.microsoft.com/office/drawing/2014/main" id="{D4BA70F0-02C9-4742-AE32-593B1FE7896F}"/>
                    </a:ext>
                  </a:extLst>
                </p:cNvPr>
                <p:cNvSpPr/>
                <p:nvPr/>
              </p:nvSpPr>
              <p:spPr>
                <a:xfrm>
                  <a:off x="750314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08" name="Picture Placeholder 89">
                  <a:extLst>
                    <a:ext uri="{FF2B5EF4-FFF2-40B4-BE49-F238E27FC236}">
                      <a16:creationId xmlns:a16="http://schemas.microsoft.com/office/drawing/2014/main" id="{0092328D-B07A-43BF-B6A4-AD4C9F93D185}"/>
                    </a:ext>
                  </a:extLst>
                </p:cNvPr>
                <p:cNvSpPr/>
                <p:nvPr/>
              </p:nvSpPr>
              <p:spPr>
                <a:xfrm>
                  <a:off x="756525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09" name="Picture Placeholder 89">
                  <a:extLst>
                    <a:ext uri="{FF2B5EF4-FFF2-40B4-BE49-F238E27FC236}">
                      <a16:creationId xmlns:a16="http://schemas.microsoft.com/office/drawing/2014/main" id="{7B74B25F-451D-43B3-AC47-2EABA0CC7C5C}"/>
                    </a:ext>
                  </a:extLst>
                </p:cNvPr>
                <p:cNvSpPr/>
                <p:nvPr/>
              </p:nvSpPr>
              <p:spPr>
                <a:xfrm>
                  <a:off x="762736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18" name="Group 17">
            <a:extLst>
              <a:ext uri="{FF2B5EF4-FFF2-40B4-BE49-F238E27FC236}">
                <a16:creationId xmlns:a16="http://schemas.microsoft.com/office/drawing/2014/main" id="{95667FE4-9B4C-4D57-A3EF-1D89C2E0D95B}"/>
              </a:ext>
            </a:extLst>
          </p:cNvPr>
          <p:cNvGrpSpPr/>
          <p:nvPr/>
        </p:nvGrpSpPr>
        <p:grpSpPr>
          <a:xfrm>
            <a:off x="8146291" y="1261010"/>
            <a:ext cx="758008" cy="1317802"/>
            <a:chOff x="8233691" y="1436575"/>
            <a:chExt cx="758008" cy="1317802"/>
          </a:xfrm>
        </p:grpSpPr>
        <p:cxnSp>
          <p:nvCxnSpPr>
            <p:cNvPr id="238" name="Straight Connector 237">
              <a:extLst>
                <a:ext uri="{FF2B5EF4-FFF2-40B4-BE49-F238E27FC236}">
                  <a16:creationId xmlns:a16="http://schemas.microsoft.com/office/drawing/2014/main" id="{FBDEBFCB-BC09-4D62-A8A4-A816265CE2D0}"/>
                </a:ext>
              </a:extLst>
            </p:cNvPr>
            <p:cNvCxnSpPr>
              <a:cxnSpLocks/>
            </p:cNvCxnSpPr>
            <p:nvPr/>
          </p:nvCxnSpPr>
          <p:spPr bwMode="gray">
            <a:xfrm flipV="1">
              <a:off x="8612692" y="2388712"/>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39" name="Oval 238">
              <a:extLst>
                <a:ext uri="{FF2B5EF4-FFF2-40B4-BE49-F238E27FC236}">
                  <a16:creationId xmlns:a16="http://schemas.microsoft.com/office/drawing/2014/main" id="{4F37F6F5-15D2-47F0-8F7B-59CBE55DC096}"/>
                </a:ext>
              </a:extLst>
            </p:cNvPr>
            <p:cNvSpPr/>
            <p:nvPr/>
          </p:nvSpPr>
          <p:spPr>
            <a:xfrm>
              <a:off x="8372632"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240" name="Rounded Rectangle 37">
              <a:extLst>
                <a:ext uri="{FF2B5EF4-FFF2-40B4-BE49-F238E27FC236}">
                  <a16:creationId xmlns:a16="http://schemas.microsoft.com/office/drawing/2014/main" id="{A4DE08E7-56D0-4820-80D6-501452429FA4}"/>
                </a:ext>
              </a:extLst>
            </p:cNvPr>
            <p:cNvSpPr/>
            <p:nvPr/>
          </p:nvSpPr>
          <p:spPr>
            <a:xfrm>
              <a:off x="8233691"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High</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Availability</a:t>
              </a:r>
            </a:p>
          </p:txBody>
        </p:sp>
        <p:grpSp>
          <p:nvGrpSpPr>
            <p:cNvPr id="341" name="Picture Placeholder 76" descr="vSAN HCI Mesh&#10;">
              <a:extLst>
                <a:ext uri="{FF2B5EF4-FFF2-40B4-BE49-F238E27FC236}">
                  <a16:creationId xmlns:a16="http://schemas.microsoft.com/office/drawing/2014/main" id="{5874C21B-B535-4BDD-9C11-C56EABA6BC2A}"/>
                </a:ext>
              </a:extLst>
            </p:cNvPr>
            <p:cNvGrpSpPr>
              <a:grpSpLocks noChangeAspect="1"/>
            </p:cNvGrpSpPr>
            <p:nvPr/>
          </p:nvGrpSpPr>
          <p:grpSpPr>
            <a:xfrm>
              <a:off x="8475798" y="2006160"/>
              <a:ext cx="274320" cy="254154"/>
              <a:chOff x="3176259" y="5196894"/>
              <a:chExt cx="585025" cy="542018"/>
            </a:xfrm>
            <a:solidFill>
              <a:schemeClr val="tx1"/>
            </a:solidFill>
          </p:grpSpPr>
          <p:sp>
            <p:nvSpPr>
              <p:cNvPr id="342" name="Picture Placeholder 76">
                <a:extLst>
                  <a:ext uri="{FF2B5EF4-FFF2-40B4-BE49-F238E27FC236}">
                    <a16:creationId xmlns:a16="http://schemas.microsoft.com/office/drawing/2014/main" id="{EB2E0C9C-C028-48BF-AA3C-07AAE4842764}"/>
                  </a:ext>
                </a:extLst>
              </p:cNvPr>
              <p:cNvSpPr/>
              <p:nvPr/>
            </p:nvSpPr>
            <p:spPr>
              <a:xfrm>
                <a:off x="3178157" y="5197527"/>
                <a:ext cx="166336" cy="99928"/>
              </a:xfrm>
              <a:custGeom>
                <a:avLst/>
                <a:gdLst>
                  <a:gd name="connsiteX0" fmla="*/ 82852 w 166336"/>
                  <a:gd name="connsiteY0" fmla="*/ 53127 h 99928"/>
                  <a:gd name="connsiteX1" fmla="*/ 150525 w 166336"/>
                  <a:gd name="connsiteY1" fmla="*/ 43007 h 99928"/>
                  <a:gd name="connsiteX2" fmla="*/ 150525 w 166336"/>
                  <a:gd name="connsiteY2" fmla="*/ 70203 h 99928"/>
                  <a:gd name="connsiteX3" fmla="*/ 83485 w 166336"/>
                  <a:gd name="connsiteY3" fmla="*/ 82220 h 99928"/>
                  <a:gd name="connsiteX4" fmla="*/ 16444 w 166336"/>
                  <a:gd name="connsiteY4" fmla="*/ 70203 h 99928"/>
                  <a:gd name="connsiteX5" fmla="*/ 16444 w 166336"/>
                  <a:gd name="connsiteY5" fmla="*/ 52494 h 99928"/>
                  <a:gd name="connsiteX6" fmla="*/ 632 w 166336"/>
                  <a:gd name="connsiteY6" fmla="*/ 52494 h 99928"/>
                  <a:gd name="connsiteX7" fmla="*/ 632 w 166336"/>
                  <a:gd name="connsiteY7" fmla="*/ 71468 h 99928"/>
                  <a:gd name="connsiteX8" fmla="*/ 83485 w 166336"/>
                  <a:gd name="connsiteY8" fmla="*/ 98031 h 99928"/>
                  <a:gd name="connsiteX9" fmla="*/ 150525 w 166336"/>
                  <a:gd name="connsiteY9" fmla="*/ 88544 h 99928"/>
                  <a:gd name="connsiteX10" fmla="*/ 150525 w 166336"/>
                  <a:gd name="connsiteY10" fmla="*/ 99929 h 99928"/>
                  <a:gd name="connsiteX11" fmla="*/ 166337 w 166336"/>
                  <a:gd name="connsiteY11" fmla="*/ 99929 h 99928"/>
                  <a:gd name="connsiteX12" fmla="*/ 166337 w 166336"/>
                  <a:gd name="connsiteY12" fmla="*/ 80322 h 99928"/>
                  <a:gd name="connsiteX13" fmla="*/ 162542 w 166336"/>
                  <a:gd name="connsiteY13" fmla="*/ 80322 h 99928"/>
                  <a:gd name="connsiteX14" fmla="*/ 166337 w 166336"/>
                  <a:gd name="connsiteY14" fmla="*/ 71468 h 99928"/>
                  <a:gd name="connsiteX15" fmla="*/ 166337 w 166336"/>
                  <a:gd name="connsiteY15" fmla="*/ 36683 h 99928"/>
                  <a:gd name="connsiteX16" fmla="*/ 166337 w 166336"/>
                  <a:gd name="connsiteY16" fmla="*/ 27828 h 99928"/>
                  <a:gd name="connsiteX17" fmla="*/ 165705 w 166336"/>
                  <a:gd name="connsiteY17" fmla="*/ 27828 h 99928"/>
                  <a:gd name="connsiteX18" fmla="*/ 165705 w 166336"/>
                  <a:gd name="connsiteY18" fmla="*/ 26563 h 99928"/>
                  <a:gd name="connsiteX19" fmla="*/ 82852 w 166336"/>
                  <a:gd name="connsiteY19" fmla="*/ 0 h 99928"/>
                  <a:gd name="connsiteX20" fmla="*/ 0 w 166336"/>
                  <a:gd name="connsiteY20" fmla="*/ 26563 h 99928"/>
                  <a:gd name="connsiteX21" fmla="*/ 82852 w 166336"/>
                  <a:gd name="connsiteY21" fmla="*/ 53127 h 99928"/>
                  <a:gd name="connsiteX22" fmla="*/ 82852 w 166336"/>
                  <a:gd name="connsiteY22" fmla="*/ 15812 h 99928"/>
                  <a:gd name="connsiteX23" fmla="*/ 149261 w 166336"/>
                  <a:gd name="connsiteY23" fmla="*/ 26563 h 99928"/>
                  <a:gd name="connsiteX24" fmla="*/ 82852 w 166336"/>
                  <a:gd name="connsiteY24" fmla="*/ 37315 h 99928"/>
                  <a:gd name="connsiteX25" fmla="*/ 16444 w 166336"/>
                  <a:gd name="connsiteY25" fmla="*/ 26563 h 99928"/>
                  <a:gd name="connsiteX26" fmla="*/ 82852 w 166336"/>
                  <a:gd name="connsiteY26" fmla="*/ 15812 h 99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6336" h="99928">
                    <a:moveTo>
                      <a:pt x="82852" y="53127"/>
                    </a:moveTo>
                    <a:cubicBezTo>
                      <a:pt x="89177" y="53127"/>
                      <a:pt x="127757" y="52494"/>
                      <a:pt x="150525" y="43007"/>
                    </a:cubicBezTo>
                    <a:cubicBezTo>
                      <a:pt x="150525" y="53127"/>
                      <a:pt x="150525" y="65143"/>
                      <a:pt x="150525" y="70203"/>
                    </a:cubicBezTo>
                    <a:cubicBezTo>
                      <a:pt x="146731" y="74630"/>
                      <a:pt x="123330" y="82220"/>
                      <a:pt x="83485" y="82220"/>
                    </a:cubicBezTo>
                    <a:cubicBezTo>
                      <a:pt x="43007" y="82220"/>
                      <a:pt x="20239" y="74630"/>
                      <a:pt x="16444" y="70203"/>
                    </a:cubicBezTo>
                    <a:lnTo>
                      <a:pt x="16444" y="52494"/>
                    </a:lnTo>
                    <a:lnTo>
                      <a:pt x="632" y="52494"/>
                    </a:lnTo>
                    <a:lnTo>
                      <a:pt x="632" y="71468"/>
                    </a:lnTo>
                    <a:cubicBezTo>
                      <a:pt x="632" y="97399"/>
                      <a:pt x="75263" y="98031"/>
                      <a:pt x="83485" y="98031"/>
                    </a:cubicBezTo>
                    <a:cubicBezTo>
                      <a:pt x="89177" y="98031"/>
                      <a:pt x="128389" y="97399"/>
                      <a:pt x="150525" y="88544"/>
                    </a:cubicBezTo>
                    <a:lnTo>
                      <a:pt x="150525" y="99929"/>
                    </a:lnTo>
                    <a:lnTo>
                      <a:pt x="166337" y="99929"/>
                    </a:lnTo>
                    <a:lnTo>
                      <a:pt x="166337" y="80322"/>
                    </a:lnTo>
                    <a:lnTo>
                      <a:pt x="162542" y="80322"/>
                    </a:lnTo>
                    <a:cubicBezTo>
                      <a:pt x="165072" y="77793"/>
                      <a:pt x="166337" y="74630"/>
                      <a:pt x="166337" y="71468"/>
                    </a:cubicBezTo>
                    <a:cubicBezTo>
                      <a:pt x="166337" y="67041"/>
                      <a:pt x="166337" y="48067"/>
                      <a:pt x="166337" y="36683"/>
                    </a:cubicBezTo>
                    <a:lnTo>
                      <a:pt x="166337" y="27828"/>
                    </a:lnTo>
                    <a:lnTo>
                      <a:pt x="165705" y="27828"/>
                    </a:lnTo>
                    <a:cubicBezTo>
                      <a:pt x="165705" y="27196"/>
                      <a:pt x="165705" y="27196"/>
                      <a:pt x="165705" y="26563"/>
                    </a:cubicBezTo>
                    <a:cubicBezTo>
                      <a:pt x="165705" y="632"/>
                      <a:pt x="91074" y="0"/>
                      <a:pt x="82852" y="0"/>
                    </a:cubicBezTo>
                    <a:cubicBezTo>
                      <a:pt x="74630" y="0"/>
                      <a:pt x="0" y="632"/>
                      <a:pt x="0" y="26563"/>
                    </a:cubicBezTo>
                    <a:cubicBezTo>
                      <a:pt x="0" y="52494"/>
                      <a:pt x="73998" y="53127"/>
                      <a:pt x="82852" y="53127"/>
                    </a:cubicBezTo>
                    <a:close/>
                    <a:moveTo>
                      <a:pt x="82852" y="15812"/>
                    </a:moveTo>
                    <a:cubicBezTo>
                      <a:pt x="120800" y="15812"/>
                      <a:pt x="142936" y="22769"/>
                      <a:pt x="149261" y="26563"/>
                    </a:cubicBezTo>
                    <a:cubicBezTo>
                      <a:pt x="143568" y="30991"/>
                      <a:pt x="120800" y="37315"/>
                      <a:pt x="82852" y="37315"/>
                    </a:cubicBezTo>
                    <a:cubicBezTo>
                      <a:pt x="44905" y="37315"/>
                      <a:pt x="22769" y="30358"/>
                      <a:pt x="16444" y="26563"/>
                    </a:cubicBezTo>
                    <a:cubicBezTo>
                      <a:pt x="22136" y="22136"/>
                      <a:pt x="44905" y="15812"/>
                      <a:pt x="82852" y="1581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3" name="Picture Placeholder 76">
                <a:extLst>
                  <a:ext uri="{FF2B5EF4-FFF2-40B4-BE49-F238E27FC236}">
                    <a16:creationId xmlns:a16="http://schemas.microsoft.com/office/drawing/2014/main" id="{C9EDA778-49FE-4139-9962-F1F537A379D4}"/>
                  </a:ext>
                </a:extLst>
              </p:cNvPr>
              <p:cNvSpPr/>
              <p:nvPr/>
            </p:nvSpPr>
            <p:spPr>
              <a:xfrm>
                <a:off x="3178157" y="5296823"/>
                <a:ext cx="39212" cy="42374"/>
              </a:xfrm>
              <a:custGeom>
                <a:avLst/>
                <a:gdLst>
                  <a:gd name="connsiteX0" fmla="*/ 15812 w 39212"/>
                  <a:gd name="connsiteY0" fmla="*/ 18974 h 42374"/>
                  <a:gd name="connsiteX1" fmla="*/ 15812 w 39212"/>
                  <a:gd name="connsiteY1" fmla="*/ 0 h 42374"/>
                  <a:gd name="connsiteX2" fmla="*/ 0 w 39212"/>
                  <a:gd name="connsiteY2" fmla="*/ 0 h 42374"/>
                  <a:gd name="connsiteX3" fmla="*/ 0 w 39212"/>
                  <a:gd name="connsiteY3" fmla="*/ 19606 h 42374"/>
                  <a:gd name="connsiteX4" fmla="*/ 36050 w 39212"/>
                  <a:gd name="connsiteY4" fmla="*/ 42375 h 42374"/>
                  <a:gd name="connsiteX5" fmla="*/ 39213 w 39212"/>
                  <a:gd name="connsiteY5" fmla="*/ 26563 h 42374"/>
                  <a:gd name="connsiteX6" fmla="*/ 15812 w 39212"/>
                  <a:gd name="connsiteY6" fmla="*/ 18974 h 4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12" h="42374">
                    <a:moveTo>
                      <a:pt x="15812" y="18974"/>
                    </a:moveTo>
                    <a:lnTo>
                      <a:pt x="15812" y="0"/>
                    </a:lnTo>
                    <a:lnTo>
                      <a:pt x="0" y="0"/>
                    </a:lnTo>
                    <a:lnTo>
                      <a:pt x="0" y="19606"/>
                    </a:lnTo>
                    <a:cubicBezTo>
                      <a:pt x="0" y="30358"/>
                      <a:pt x="12017" y="37948"/>
                      <a:pt x="36050" y="42375"/>
                    </a:cubicBezTo>
                    <a:lnTo>
                      <a:pt x="39213" y="26563"/>
                    </a:lnTo>
                    <a:cubicBezTo>
                      <a:pt x="23401" y="24033"/>
                      <a:pt x="17076" y="20239"/>
                      <a:pt x="15812" y="1897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4" name="Picture Placeholder 76">
                <a:extLst>
                  <a:ext uri="{FF2B5EF4-FFF2-40B4-BE49-F238E27FC236}">
                    <a16:creationId xmlns:a16="http://schemas.microsoft.com/office/drawing/2014/main" id="{D029DED5-B34C-4053-A72F-4573CAA63812}"/>
                  </a:ext>
                </a:extLst>
              </p:cNvPr>
              <p:cNvSpPr/>
              <p:nvPr/>
            </p:nvSpPr>
            <p:spPr>
              <a:xfrm>
                <a:off x="3178157" y="5344258"/>
                <a:ext cx="37947" cy="42374"/>
              </a:xfrm>
              <a:custGeom>
                <a:avLst/>
                <a:gdLst>
                  <a:gd name="connsiteX0" fmla="*/ 0 w 37947"/>
                  <a:gd name="connsiteY0" fmla="*/ 0 h 42374"/>
                  <a:gd name="connsiteX1" fmla="*/ 0 w 37947"/>
                  <a:gd name="connsiteY1" fmla="*/ 19606 h 42374"/>
                  <a:gd name="connsiteX2" fmla="*/ 34785 w 37947"/>
                  <a:gd name="connsiteY2" fmla="*/ 42375 h 42374"/>
                  <a:gd name="connsiteX3" fmla="*/ 37948 w 37947"/>
                  <a:gd name="connsiteY3" fmla="*/ 26563 h 42374"/>
                  <a:gd name="connsiteX4" fmla="*/ 15812 w 37947"/>
                  <a:gd name="connsiteY4" fmla="*/ 18974 h 42374"/>
                  <a:gd name="connsiteX5" fmla="*/ 15812 w 37947"/>
                  <a:gd name="connsiteY5" fmla="*/ 0 h 42374"/>
                  <a:gd name="connsiteX6" fmla="*/ 0 w 37947"/>
                  <a:gd name="connsiteY6" fmla="*/ 0 h 4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47" h="42374">
                    <a:moveTo>
                      <a:pt x="0" y="0"/>
                    </a:moveTo>
                    <a:lnTo>
                      <a:pt x="0" y="19606"/>
                    </a:lnTo>
                    <a:cubicBezTo>
                      <a:pt x="0" y="30358"/>
                      <a:pt x="11384" y="37315"/>
                      <a:pt x="34785" y="42375"/>
                    </a:cubicBezTo>
                    <a:lnTo>
                      <a:pt x="37948" y="26563"/>
                    </a:lnTo>
                    <a:cubicBezTo>
                      <a:pt x="23401" y="23401"/>
                      <a:pt x="17709" y="20239"/>
                      <a:pt x="15812" y="18974"/>
                    </a:cubicBezTo>
                    <a:lnTo>
                      <a:pt x="15812" y="0"/>
                    </a:lnTo>
                    <a:lnTo>
                      <a:pt x="0"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5" name="Picture Placeholder 76">
                <a:extLst>
                  <a:ext uri="{FF2B5EF4-FFF2-40B4-BE49-F238E27FC236}">
                    <a16:creationId xmlns:a16="http://schemas.microsoft.com/office/drawing/2014/main" id="{C168B8DF-2EF7-4A81-86BA-A492236B8DD2}"/>
                  </a:ext>
                </a:extLst>
              </p:cNvPr>
              <p:cNvSpPr/>
              <p:nvPr/>
            </p:nvSpPr>
            <p:spPr>
              <a:xfrm>
                <a:off x="3412799" y="5341095"/>
                <a:ext cx="36682" cy="36682"/>
              </a:xfrm>
              <a:custGeom>
                <a:avLst/>
                <a:gdLst>
                  <a:gd name="connsiteX0" fmla="*/ 18341 w 36682"/>
                  <a:gd name="connsiteY0" fmla="*/ 0 h 36682"/>
                  <a:gd name="connsiteX1" fmla="*/ 0 w 36682"/>
                  <a:gd name="connsiteY1" fmla="*/ 18341 h 36682"/>
                  <a:gd name="connsiteX2" fmla="*/ 18341 w 36682"/>
                  <a:gd name="connsiteY2" fmla="*/ 36683 h 36682"/>
                  <a:gd name="connsiteX3" fmla="*/ 36683 w 36682"/>
                  <a:gd name="connsiteY3" fmla="*/ 18341 h 36682"/>
                  <a:gd name="connsiteX4" fmla="*/ 18341 w 36682"/>
                  <a:gd name="connsiteY4" fmla="*/ 0 h 36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82" h="36682">
                    <a:moveTo>
                      <a:pt x="18341" y="0"/>
                    </a:moveTo>
                    <a:cubicBezTo>
                      <a:pt x="8222" y="0"/>
                      <a:pt x="0" y="8222"/>
                      <a:pt x="0" y="18341"/>
                    </a:cubicBezTo>
                    <a:cubicBezTo>
                      <a:pt x="0" y="28461"/>
                      <a:pt x="8222" y="36683"/>
                      <a:pt x="18341" y="36683"/>
                    </a:cubicBezTo>
                    <a:cubicBezTo>
                      <a:pt x="28461" y="36683"/>
                      <a:pt x="36683" y="28461"/>
                      <a:pt x="36683" y="18341"/>
                    </a:cubicBezTo>
                    <a:cubicBezTo>
                      <a:pt x="36683" y="8222"/>
                      <a:pt x="27828" y="0"/>
                      <a:pt x="18341"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6" name="Picture Placeholder 76">
                <a:extLst>
                  <a:ext uri="{FF2B5EF4-FFF2-40B4-BE49-F238E27FC236}">
                    <a16:creationId xmlns:a16="http://schemas.microsoft.com/office/drawing/2014/main" id="{1E8BA1C5-BC6A-43CD-BB85-83B684466D9A}"/>
                  </a:ext>
                </a:extLst>
              </p:cNvPr>
              <p:cNvSpPr/>
              <p:nvPr/>
            </p:nvSpPr>
            <p:spPr>
              <a:xfrm>
                <a:off x="3261641"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7" name="Picture Placeholder 76">
                <a:extLst>
                  <a:ext uri="{FF2B5EF4-FFF2-40B4-BE49-F238E27FC236}">
                    <a16:creationId xmlns:a16="http://schemas.microsoft.com/office/drawing/2014/main" id="{10364E3A-763A-4AE5-89AA-6746897000BE}"/>
                  </a:ext>
                </a:extLst>
              </p:cNvPr>
              <p:cNvSpPr/>
              <p:nvPr/>
            </p:nvSpPr>
            <p:spPr>
              <a:xfrm>
                <a:off x="3286940"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8" name="Picture Placeholder 76">
                <a:extLst>
                  <a:ext uri="{FF2B5EF4-FFF2-40B4-BE49-F238E27FC236}">
                    <a16:creationId xmlns:a16="http://schemas.microsoft.com/office/drawing/2014/main" id="{D9AC8942-361E-47FC-8BAF-23FB07D3DFE2}"/>
                  </a:ext>
                </a:extLst>
              </p:cNvPr>
              <p:cNvSpPr/>
              <p:nvPr/>
            </p:nvSpPr>
            <p:spPr>
              <a:xfrm>
                <a:off x="3312238"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9" name="Picture Placeholder 76">
                <a:extLst>
                  <a:ext uri="{FF2B5EF4-FFF2-40B4-BE49-F238E27FC236}">
                    <a16:creationId xmlns:a16="http://schemas.microsoft.com/office/drawing/2014/main" id="{DE94B5D8-8A32-4AB7-BB1C-62B533C6BAF5}"/>
                  </a:ext>
                </a:extLst>
              </p:cNvPr>
              <p:cNvSpPr/>
              <p:nvPr/>
            </p:nvSpPr>
            <p:spPr>
              <a:xfrm>
                <a:off x="3336904"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0" name="Picture Placeholder 76">
                <a:extLst>
                  <a:ext uri="{FF2B5EF4-FFF2-40B4-BE49-F238E27FC236}">
                    <a16:creationId xmlns:a16="http://schemas.microsoft.com/office/drawing/2014/main" id="{C138BF64-5C8B-42E3-B980-851732196B4F}"/>
                  </a:ext>
                </a:extLst>
              </p:cNvPr>
              <p:cNvSpPr/>
              <p:nvPr/>
            </p:nvSpPr>
            <p:spPr>
              <a:xfrm>
                <a:off x="3362202"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1" name="Picture Placeholder 76">
                <a:extLst>
                  <a:ext uri="{FF2B5EF4-FFF2-40B4-BE49-F238E27FC236}">
                    <a16:creationId xmlns:a16="http://schemas.microsoft.com/office/drawing/2014/main" id="{FE24E81D-5BC4-4A35-B42E-ACA36CFBB50D}"/>
                  </a:ext>
                </a:extLst>
              </p:cNvPr>
              <p:cNvSpPr/>
              <p:nvPr/>
            </p:nvSpPr>
            <p:spPr>
              <a:xfrm>
                <a:off x="3594948" y="5404341"/>
                <a:ext cx="165710" cy="314965"/>
              </a:xfrm>
              <a:custGeom>
                <a:avLst/>
                <a:gdLst>
                  <a:gd name="connsiteX0" fmla="*/ 94237 w 165710"/>
                  <a:gd name="connsiteY0" fmla="*/ 122065 h 314965"/>
                  <a:gd name="connsiteX1" fmla="*/ 94237 w 165710"/>
                  <a:gd name="connsiteY1" fmla="*/ 0 h 314965"/>
                  <a:gd name="connsiteX2" fmla="*/ 78425 w 165710"/>
                  <a:gd name="connsiteY2" fmla="*/ 0 h 314965"/>
                  <a:gd name="connsiteX3" fmla="*/ 78425 w 165710"/>
                  <a:gd name="connsiteY3" fmla="*/ 122065 h 314965"/>
                  <a:gd name="connsiteX4" fmla="*/ 0 w 165710"/>
                  <a:gd name="connsiteY4" fmla="*/ 148628 h 314965"/>
                  <a:gd name="connsiteX5" fmla="*/ 82852 w 165710"/>
                  <a:gd name="connsiteY5" fmla="*/ 175191 h 314965"/>
                  <a:gd name="connsiteX6" fmla="*/ 149893 w 165710"/>
                  <a:gd name="connsiteY6" fmla="*/ 165705 h 314965"/>
                  <a:gd name="connsiteX7" fmla="*/ 149893 w 165710"/>
                  <a:gd name="connsiteY7" fmla="*/ 192900 h 314965"/>
                  <a:gd name="connsiteX8" fmla="*/ 82852 w 165710"/>
                  <a:gd name="connsiteY8" fmla="*/ 204917 h 314965"/>
                  <a:gd name="connsiteX9" fmla="*/ 15812 w 165710"/>
                  <a:gd name="connsiteY9" fmla="*/ 192900 h 314965"/>
                  <a:gd name="connsiteX10" fmla="*/ 16444 w 165710"/>
                  <a:gd name="connsiteY10" fmla="*/ 174559 h 314965"/>
                  <a:gd name="connsiteX11" fmla="*/ 632 w 165710"/>
                  <a:gd name="connsiteY11" fmla="*/ 173927 h 314965"/>
                  <a:gd name="connsiteX12" fmla="*/ 0 w 165710"/>
                  <a:gd name="connsiteY12" fmla="*/ 193533 h 314965"/>
                  <a:gd name="connsiteX13" fmla="*/ 82852 w 165710"/>
                  <a:gd name="connsiteY13" fmla="*/ 220096 h 314965"/>
                  <a:gd name="connsiteX14" fmla="*/ 149893 w 165710"/>
                  <a:gd name="connsiteY14" fmla="*/ 210609 h 314965"/>
                  <a:gd name="connsiteX15" fmla="*/ 149893 w 165710"/>
                  <a:gd name="connsiteY15" fmla="*/ 240335 h 314965"/>
                  <a:gd name="connsiteX16" fmla="*/ 99296 w 165710"/>
                  <a:gd name="connsiteY16" fmla="*/ 251719 h 314965"/>
                  <a:gd name="connsiteX17" fmla="*/ 99929 w 165710"/>
                  <a:gd name="connsiteY17" fmla="*/ 267531 h 314965"/>
                  <a:gd name="connsiteX18" fmla="*/ 149893 w 165710"/>
                  <a:gd name="connsiteY18" fmla="*/ 258044 h 314965"/>
                  <a:gd name="connsiteX19" fmla="*/ 149893 w 165710"/>
                  <a:gd name="connsiteY19" fmla="*/ 287769 h 314965"/>
                  <a:gd name="connsiteX20" fmla="*/ 99296 w 165710"/>
                  <a:gd name="connsiteY20" fmla="*/ 299154 h 314965"/>
                  <a:gd name="connsiteX21" fmla="*/ 99929 w 165710"/>
                  <a:gd name="connsiteY21" fmla="*/ 314965 h 314965"/>
                  <a:gd name="connsiteX22" fmla="*/ 165705 w 165710"/>
                  <a:gd name="connsiteY22" fmla="*/ 288402 h 314965"/>
                  <a:gd name="connsiteX23" fmla="*/ 165705 w 165710"/>
                  <a:gd name="connsiteY23" fmla="*/ 249822 h 314965"/>
                  <a:gd name="connsiteX24" fmla="*/ 161910 w 165710"/>
                  <a:gd name="connsiteY24" fmla="*/ 249822 h 314965"/>
                  <a:gd name="connsiteX25" fmla="*/ 165705 w 165710"/>
                  <a:gd name="connsiteY25" fmla="*/ 240967 h 314965"/>
                  <a:gd name="connsiteX26" fmla="*/ 165705 w 165710"/>
                  <a:gd name="connsiteY26" fmla="*/ 202387 h 314965"/>
                  <a:gd name="connsiteX27" fmla="*/ 161910 w 165710"/>
                  <a:gd name="connsiteY27" fmla="*/ 202387 h 314965"/>
                  <a:gd name="connsiteX28" fmla="*/ 165705 w 165710"/>
                  <a:gd name="connsiteY28" fmla="*/ 193533 h 314965"/>
                  <a:gd name="connsiteX29" fmla="*/ 165705 w 165710"/>
                  <a:gd name="connsiteY29" fmla="*/ 154953 h 314965"/>
                  <a:gd name="connsiteX30" fmla="*/ 163807 w 165710"/>
                  <a:gd name="connsiteY30" fmla="*/ 154953 h 314965"/>
                  <a:gd name="connsiteX31" fmla="*/ 165705 w 165710"/>
                  <a:gd name="connsiteY31" fmla="*/ 148628 h 314965"/>
                  <a:gd name="connsiteX32" fmla="*/ 94237 w 165710"/>
                  <a:gd name="connsiteY32" fmla="*/ 122065 h 314965"/>
                  <a:gd name="connsiteX33" fmla="*/ 82852 w 165710"/>
                  <a:gd name="connsiteY33" fmla="*/ 159380 h 314965"/>
                  <a:gd name="connsiteX34" fmla="*/ 16444 w 165710"/>
                  <a:gd name="connsiteY34" fmla="*/ 148628 h 314965"/>
                  <a:gd name="connsiteX35" fmla="*/ 82852 w 165710"/>
                  <a:gd name="connsiteY35" fmla="*/ 137876 h 314965"/>
                  <a:gd name="connsiteX36" fmla="*/ 149261 w 165710"/>
                  <a:gd name="connsiteY36" fmla="*/ 148628 h 314965"/>
                  <a:gd name="connsiteX37" fmla="*/ 82852 w 165710"/>
                  <a:gd name="connsiteY37" fmla="*/ 159380 h 31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5710" h="314965">
                    <a:moveTo>
                      <a:pt x="94237" y="122065"/>
                    </a:moveTo>
                    <a:lnTo>
                      <a:pt x="94237" y="0"/>
                    </a:lnTo>
                    <a:lnTo>
                      <a:pt x="78425" y="0"/>
                    </a:lnTo>
                    <a:lnTo>
                      <a:pt x="78425" y="122065"/>
                    </a:lnTo>
                    <a:cubicBezTo>
                      <a:pt x="60084" y="122697"/>
                      <a:pt x="0" y="125227"/>
                      <a:pt x="0" y="148628"/>
                    </a:cubicBezTo>
                    <a:cubicBezTo>
                      <a:pt x="0" y="174559"/>
                      <a:pt x="74630" y="175191"/>
                      <a:pt x="82852" y="175191"/>
                    </a:cubicBezTo>
                    <a:cubicBezTo>
                      <a:pt x="88544" y="175191"/>
                      <a:pt x="127757" y="174559"/>
                      <a:pt x="149893" y="165705"/>
                    </a:cubicBezTo>
                    <a:lnTo>
                      <a:pt x="149893" y="192900"/>
                    </a:lnTo>
                    <a:cubicBezTo>
                      <a:pt x="146098" y="197328"/>
                      <a:pt x="122697" y="204917"/>
                      <a:pt x="82852" y="204917"/>
                    </a:cubicBezTo>
                    <a:cubicBezTo>
                      <a:pt x="42375" y="204917"/>
                      <a:pt x="19606" y="197328"/>
                      <a:pt x="15812" y="192900"/>
                    </a:cubicBezTo>
                    <a:cubicBezTo>
                      <a:pt x="15812" y="187841"/>
                      <a:pt x="16444" y="174559"/>
                      <a:pt x="16444" y="174559"/>
                    </a:cubicBezTo>
                    <a:lnTo>
                      <a:pt x="632" y="173927"/>
                    </a:lnTo>
                    <a:cubicBezTo>
                      <a:pt x="632" y="173927"/>
                      <a:pt x="0" y="188473"/>
                      <a:pt x="0" y="193533"/>
                    </a:cubicBezTo>
                    <a:cubicBezTo>
                      <a:pt x="0" y="219464"/>
                      <a:pt x="74630" y="220096"/>
                      <a:pt x="82852" y="220096"/>
                    </a:cubicBezTo>
                    <a:cubicBezTo>
                      <a:pt x="88544" y="220096"/>
                      <a:pt x="127757" y="219464"/>
                      <a:pt x="149893" y="210609"/>
                    </a:cubicBezTo>
                    <a:lnTo>
                      <a:pt x="149893" y="240335"/>
                    </a:lnTo>
                    <a:cubicBezTo>
                      <a:pt x="146731" y="243497"/>
                      <a:pt x="131552" y="249822"/>
                      <a:pt x="99296" y="251719"/>
                    </a:cubicBezTo>
                    <a:lnTo>
                      <a:pt x="99929" y="267531"/>
                    </a:lnTo>
                    <a:cubicBezTo>
                      <a:pt x="111945" y="266898"/>
                      <a:pt x="134714" y="264368"/>
                      <a:pt x="149893" y="258044"/>
                    </a:cubicBezTo>
                    <a:lnTo>
                      <a:pt x="149893" y="287769"/>
                    </a:lnTo>
                    <a:cubicBezTo>
                      <a:pt x="146731" y="290932"/>
                      <a:pt x="131552" y="297256"/>
                      <a:pt x="99296" y="299154"/>
                    </a:cubicBezTo>
                    <a:lnTo>
                      <a:pt x="99929" y="314965"/>
                    </a:lnTo>
                    <a:cubicBezTo>
                      <a:pt x="119535" y="313700"/>
                      <a:pt x="165705" y="308640"/>
                      <a:pt x="165705" y="288402"/>
                    </a:cubicBezTo>
                    <a:lnTo>
                      <a:pt x="165705" y="249822"/>
                    </a:lnTo>
                    <a:lnTo>
                      <a:pt x="161910" y="249822"/>
                    </a:lnTo>
                    <a:cubicBezTo>
                      <a:pt x="164440" y="247292"/>
                      <a:pt x="165705" y="244130"/>
                      <a:pt x="165705" y="240967"/>
                    </a:cubicBezTo>
                    <a:lnTo>
                      <a:pt x="165705" y="202387"/>
                    </a:lnTo>
                    <a:lnTo>
                      <a:pt x="161910" y="202387"/>
                    </a:lnTo>
                    <a:cubicBezTo>
                      <a:pt x="164440" y="199857"/>
                      <a:pt x="165705" y="196695"/>
                      <a:pt x="165705" y="193533"/>
                    </a:cubicBezTo>
                    <a:lnTo>
                      <a:pt x="165705" y="154953"/>
                    </a:lnTo>
                    <a:lnTo>
                      <a:pt x="163807" y="154953"/>
                    </a:lnTo>
                    <a:cubicBezTo>
                      <a:pt x="165072" y="153055"/>
                      <a:pt x="165705" y="150525"/>
                      <a:pt x="165705" y="148628"/>
                    </a:cubicBezTo>
                    <a:cubicBezTo>
                      <a:pt x="166337" y="127757"/>
                      <a:pt x="117638" y="122697"/>
                      <a:pt x="94237" y="122065"/>
                    </a:cubicBezTo>
                    <a:close/>
                    <a:moveTo>
                      <a:pt x="82852" y="159380"/>
                    </a:moveTo>
                    <a:cubicBezTo>
                      <a:pt x="44905" y="159380"/>
                      <a:pt x="22769" y="152423"/>
                      <a:pt x="16444" y="148628"/>
                    </a:cubicBezTo>
                    <a:cubicBezTo>
                      <a:pt x="22136" y="144201"/>
                      <a:pt x="44905" y="137876"/>
                      <a:pt x="82852" y="137876"/>
                    </a:cubicBezTo>
                    <a:cubicBezTo>
                      <a:pt x="120800" y="137876"/>
                      <a:pt x="142936" y="144833"/>
                      <a:pt x="149261" y="148628"/>
                    </a:cubicBezTo>
                    <a:cubicBezTo>
                      <a:pt x="143568" y="153055"/>
                      <a:pt x="120800" y="159380"/>
                      <a:pt x="82852" y="15938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2" name="Picture Placeholder 76">
                <a:extLst>
                  <a:ext uri="{FF2B5EF4-FFF2-40B4-BE49-F238E27FC236}">
                    <a16:creationId xmlns:a16="http://schemas.microsoft.com/office/drawing/2014/main" id="{D5BAF6F1-A3FD-41CC-8187-4F4E372775AF}"/>
                  </a:ext>
                </a:extLst>
              </p:cNvPr>
              <p:cNvSpPr/>
              <p:nvPr/>
            </p:nvSpPr>
            <p:spPr>
              <a:xfrm>
                <a:off x="3429876" y="5640881"/>
                <a:ext cx="252351" cy="93604"/>
              </a:xfrm>
              <a:custGeom>
                <a:avLst/>
                <a:gdLst>
                  <a:gd name="connsiteX0" fmla="*/ 0 w 252351"/>
                  <a:gd name="connsiteY0" fmla="*/ 93604 h 93604"/>
                  <a:gd name="connsiteX1" fmla="*/ 252352 w 252351"/>
                  <a:gd name="connsiteY1" fmla="*/ 93604 h 93604"/>
                  <a:gd name="connsiteX2" fmla="*/ 252352 w 252351"/>
                  <a:gd name="connsiteY2" fmla="*/ 0 h 93604"/>
                  <a:gd name="connsiteX3" fmla="*/ 0 w 252351"/>
                  <a:gd name="connsiteY3" fmla="*/ 0 h 93604"/>
                  <a:gd name="connsiteX4" fmla="*/ 0 w 252351"/>
                  <a:gd name="connsiteY4" fmla="*/ 93604 h 93604"/>
                  <a:gd name="connsiteX5" fmla="*/ 15812 w 252351"/>
                  <a:gd name="connsiteY5" fmla="*/ 15812 h 93604"/>
                  <a:gd name="connsiteX6" fmla="*/ 236540 w 252351"/>
                  <a:gd name="connsiteY6" fmla="*/ 15812 h 93604"/>
                  <a:gd name="connsiteX7" fmla="*/ 236540 w 252351"/>
                  <a:gd name="connsiteY7" fmla="*/ 77793 h 93604"/>
                  <a:gd name="connsiteX8" fmla="*/ 15812 w 252351"/>
                  <a:gd name="connsiteY8" fmla="*/ 77793 h 93604"/>
                  <a:gd name="connsiteX9" fmla="*/ 15812 w 252351"/>
                  <a:gd name="connsiteY9" fmla="*/ 15812 h 9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2351" h="93604">
                    <a:moveTo>
                      <a:pt x="0" y="93604"/>
                    </a:moveTo>
                    <a:lnTo>
                      <a:pt x="252352" y="93604"/>
                    </a:lnTo>
                    <a:lnTo>
                      <a:pt x="252352" y="0"/>
                    </a:lnTo>
                    <a:lnTo>
                      <a:pt x="0" y="0"/>
                    </a:lnTo>
                    <a:lnTo>
                      <a:pt x="0" y="93604"/>
                    </a:lnTo>
                    <a:close/>
                    <a:moveTo>
                      <a:pt x="15812" y="15812"/>
                    </a:moveTo>
                    <a:lnTo>
                      <a:pt x="236540" y="15812"/>
                    </a:lnTo>
                    <a:lnTo>
                      <a:pt x="236540" y="77793"/>
                    </a:lnTo>
                    <a:lnTo>
                      <a:pt x="15812" y="77793"/>
                    </a:lnTo>
                    <a:lnTo>
                      <a:pt x="15812" y="1581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3" name="Picture Placeholder 76">
                <a:extLst>
                  <a:ext uri="{FF2B5EF4-FFF2-40B4-BE49-F238E27FC236}">
                    <a16:creationId xmlns:a16="http://schemas.microsoft.com/office/drawing/2014/main" id="{58644F80-4B77-4894-A3DA-45607155F29D}"/>
                  </a:ext>
                </a:extLst>
              </p:cNvPr>
              <p:cNvSpPr/>
              <p:nvPr/>
            </p:nvSpPr>
            <p:spPr>
              <a:xfrm>
                <a:off x="3607597" y="5669975"/>
                <a:ext cx="36682" cy="36682"/>
              </a:xfrm>
              <a:custGeom>
                <a:avLst/>
                <a:gdLst>
                  <a:gd name="connsiteX0" fmla="*/ 18341 w 36682"/>
                  <a:gd name="connsiteY0" fmla="*/ 0 h 36682"/>
                  <a:gd name="connsiteX1" fmla="*/ 0 w 36682"/>
                  <a:gd name="connsiteY1" fmla="*/ 18341 h 36682"/>
                  <a:gd name="connsiteX2" fmla="*/ 18341 w 36682"/>
                  <a:gd name="connsiteY2" fmla="*/ 36683 h 36682"/>
                  <a:gd name="connsiteX3" fmla="*/ 36683 w 36682"/>
                  <a:gd name="connsiteY3" fmla="*/ 18341 h 36682"/>
                  <a:gd name="connsiteX4" fmla="*/ 18341 w 36682"/>
                  <a:gd name="connsiteY4" fmla="*/ 0 h 36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82" h="36682">
                    <a:moveTo>
                      <a:pt x="18341" y="0"/>
                    </a:moveTo>
                    <a:cubicBezTo>
                      <a:pt x="8222" y="0"/>
                      <a:pt x="0" y="8222"/>
                      <a:pt x="0" y="18341"/>
                    </a:cubicBezTo>
                    <a:cubicBezTo>
                      <a:pt x="0" y="28461"/>
                      <a:pt x="8222" y="36683"/>
                      <a:pt x="18341" y="36683"/>
                    </a:cubicBezTo>
                    <a:cubicBezTo>
                      <a:pt x="28461" y="36683"/>
                      <a:pt x="36683" y="28461"/>
                      <a:pt x="36683" y="18341"/>
                    </a:cubicBezTo>
                    <a:cubicBezTo>
                      <a:pt x="36683" y="8222"/>
                      <a:pt x="27828" y="0"/>
                      <a:pt x="18341"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4" name="Picture Placeholder 76">
                <a:extLst>
                  <a:ext uri="{FF2B5EF4-FFF2-40B4-BE49-F238E27FC236}">
                    <a16:creationId xmlns:a16="http://schemas.microsoft.com/office/drawing/2014/main" id="{4E41626D-CE31-4E2C-B3C8-DD163E4C4D19}"/>
                  </a:ext>
                </a:extLst>
              </p:cNvPr>
              <p:cNvSpPr/>
              <p:nvPr/>
            </p:nvSpPr>
            <p:spPr>
              <a:xfrm>
                <a:off x="3461499"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5" name="Picture Placeholder 76">
                <a:extLst>
                  <a:ext uri="{FF2B5EF4-FFF2-40B4-BE49-F238E27FC236}">
                    <a16:creationId xmlns:a16="http://schemas.microsoft.com/office/drawing/2014/main" id="{BEA52E58-B39E-42B4-B1BF-620CBC7A77AC}"/>
                  </a:ext>
                </a:extLst>
              </p:cNvPr>
              <p:cNvSpPr/>
              <p:nvPr/>
            </p:nvSpPr>
            <p:spPr>
              <a:xfrm>
                <a:off x="3486797"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6" name="Picture Placeholder 76">
                <a:extLst>
                  <a:ext uri="{FF2B5EF4-FFF2-40B4-BE49-F238E27FC236}">
                    <a16:creationId xmlns:a16="http://schemas.microsoft.com/office/drawing/2014/main" id="{E25EA74E-4E39-4F9D-9FB0-7F57B1C8744A}"/>
                  </a:ext>
                </a:extLst>
              </p:cNvPr>
              <p:cNvSpPr/>
              <p:nvPr/>
            </p:nvSpPr>
            <p:spPr>
              <a:xfrm>
                <a:off x="3512095"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7" name="Picture Placeholder 76">
                <a:extLst>
                  <a:ext uri="{FF2B5EF4-FFF2-40B4-BE49-F238E27FC236}">
                    <a16:creationId xmlns:a16="http://schemas.microsoft.com/office/drawing/2014/main" id="{CA7F20F5-6C8A-40C6-A68E-CE3A9F552559}"/>
                  </a:ext>
                </a:extLst>
              </p:cNvPr>
              <p:cNvSpPr/>
              <p:nvPr/>
            </p:nvSpPr>
            <p:spPr>
              <a:xfrm>
                <a:off x="3537394"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8" name="Picture Placeholder 76">
                <a:extLst>
                  <a:ext uri="{FF2B5EF4-FFF2-40B4-BE49-F238E27FC236}">
                    <a16:creationId xmlns:a16="http://schemas.microsoft.com/office/drawing/2014/main" id="{7F256F3B-AFE9-4148-B622-9E837A20787F}"/>
                  </a:ext>
                </a:extLst>
              </p:cNvPr>
              <p:cNvSpPr/>
              <p:nvPr/>
            </p:nvSpPr>
            <p:spPr>
              <a:xfrm>
                <a:off x="3562692"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9" name="Picture Placeholder 76">
                <a:extLst>
                  <a:ext uri="{FF2B5EF4-FFF2-40B4-BE49-F238E27FC236}">
                    <a16:creationId xmlns:a16="http://schemas.microsoft.com/office/drawing/2014/main" id="{56A14552-1DB3-4AC7-A9F8-42A584F91F5B}"/>
                  </a:ext>
                </a:extLst>
              </p:cNvPr>
              <p:cNvSpPr/>
              <p:nvPr/>
            </p:nvSpPr>
            <p:spPr>
              <a:xfrm>
                <a:off x="3176259" y="5541585"/>
                <a:ext cx="237804" cy="197327"/>
              </a:xfrm>
              <a:custGeom>
                <a:avLst/>
                <a:gdLst>
                  <a:gd name="connsiteX0" fmla="*/ 172662 w 237804"/>
                  <a:gd name="connsiteY0" fmla="*/ 131552 h 197327"/>
                  <a:gd name="connsiteX1" fmla="*/ 168867 w 237804"/>
                  <a:gd name="connsiteY1" fmla="*/ 131552 h 197327"/>
                  <a:gd name="connsiteX2" fmla="*/ 172662 w 237804"/>
                  <a:gd name="connsiteY2" fmla="*/ 122065 h 197327"/>
                  <a:gd name="connsiteX3" fmla="*/ 172662 w 237804"/>
                  <a:gd name="connsiteY3" fmla="*/ 82852 h 197327"/>
                  <a:gd name="connsiteX4" fmla="*/ 168867 w 237804"/>
                  <a:gd name="connsiteY4" fmla="*/ 82852 h 197327"/>
                  <a:gd name="connsiteX5" fmla="*/ 172662 w 237804"/>
                  <a:gd name="connsiteY5" fmla="*/ 73365 h 197327"/>
                  <a:gd name="connsiteX6" fmla="*/ 172662 w 237804"/>
                  <a:gd name="connsiteY6" fmla="*/ 34153 h 197327"/>
                  <a:gd name="connsiteX7" fmla="*/ 170764 w 237804"/>
                  <a:gd name="connsiteY7" fmla="*/ 34153 h 197327"/>
                  <a:gd name="connsiteX8" fmla="*/ 172662 w 237804"/>
                  <a:gd name="connsiteY8" fmla="*/ 27196 h 197327"/>
                  <a:gd name="connsiteX9" fmla="*/ 86647 w 237804"/>
                  <a:gd name="connsiteY9" fmla="*/ 0 h 197327"/>
                  <a:gd name="connsiteX10" fmla="*/ 632 w 237804"/>
                  <a:gd name="connsiteY10" fmla="*/ 27196 h 197327"/>
                  <a:gd name="connsiteX11" fmla="*/ 86647 w 237804"/>
                  <a:gd name="connsiteY11" fmla="*/ 54392 h 197327"/>
                  <a:gd name="connsiteX12" fmla="*/ 156850 w 237804"/>
                  <a:gd name="connsiteY12" fmla="*/ 44272 h 197327"/>
                  <a:gd name="connsiteX13" fmla="*/ 156850 w 237804"/>
                  <a:gd name="connsiteY13" fmla="*/ 72100 h 197327"/>
                  <a:gd name="connsiteX14" fmla="*/ 86647 w 237804"/>
                  <a:gd name="connsiteY14" fmla="*/ 84117 h 197327"/>
                  <a:gd name="connsiteX15" fmla="*/ 15812 w 237804"/>
                  <a:gd name="connsiteY15" fmla="*/ 71468 h 197327"/>
                  <a:gd name="connsiteX16" fmla="*/ 15812 w 237804"/>
                  <a:gd name="connsiteY16" fmla="*/ 53127 h 197327"/>
                  <a:gd name="connsiteX17" fmla="*/ 0 w 237804"/>
                  <a:gd name="connsiteY17" fmla="*/ 53127 h 197327"/>
                  <a:gd name="connsiteX18" fmla="*/ 0 w 237804"/>
                  <a:gd name="connsiteY18" fmla="*/ 72100 h 197327"/>
                  <a:gd name="connsiteX19" fmla="*/ 86647 w 237804"/>
                  <a:gd name="connsiteY19" fmla="*/ 99296 h 197327"/>
                  <a:gd name="connsiteX20" fmla="*/ 156850 w 237804"/>
                  <a:gd name="connsiteY20" fmla="*/ 89177 h 197327"/>
                  <a:gd name="connsiteX21" fmla="*/ 156850 w 237804"/>
                  <a:gd name="connsiteY21" fmla="*/ 120167 h 197327"/>
                  <a:gd name="connsiteX22" fmla="*/ 86647 w 237804"/>
                  <a:gd name="connsiteY22" fmla="*/ 132184 h 197327"/>
                  <a:gd name="connsiteX23" fmla="*/ 15812 w 237804"/>
                  <a:gd name="connsiteY23" fmla="*/ 119535 h 197327"/>
                  <a:gd name="connsiteX24" fmla="*/ 15812 w 237804"/>
                  <a:gd name="connsiteY24" fmla="*/ 101194 h 197327"/>
                  <a:gd name="connsiteX25" fmla="*/ 0 w 237804"/>
                  <a:gd name="connsiteY25" fmla="*/ 101194 h 197327"/>
                  <a:gd name="connsiteX26" fmla="*/ 0 w 237804"/>
                  <a:gd name="connsiteY26" fmla="*/ 120167 h 197327"/>
                  <a:gd name="connsiteX27" fmla="*/ 86647 w 237804"/>
                  <a:gd name="connsiteY27" fmla="*/ 147363 h 197327"/>
                  <a:gd name="connsiteX28" fmla="*/ 156850 w 237804"/>
                  <a:gd name="connsiteY28" fmla="*/ 137244 h 197327"/>
                  <a:gd name="connsiteX29" fmla="*/ 156850 w 237804"/>
                  <a:gd name="connsiteY29" fmla="*/ 170132 h 197327"/>
                  <a:gd name="connsiteX30" fmla="*/ 86647 w 237804"/>
                  <a:gd name="connsiteY30" fmla="*/ 182149 h 197327"/>
                  <a:gd name="connsiteX31" fmla="*/ 15812 w 237804"/>
                  <a:gd name="connsiteY31" fmla="*/ 169499 h 197327"/>
                  <a:gd name="connsiteX32" fmla="*/ 15812 w 237804"/>
                  <a:gd name="connsiteY32" fmla="*/ 151158 h 197327"/>
                  <a:gd name="connsiteX33" fmla="*/ 0 w 237804"/>
                  <a:gd name="connsiteY33" fmla="*/ 151158 h 197327"/>
                  <a:gd name="connsiteX34" fmla="*/ 0 w 237804"/>
                  <a:gd name="connsiteY34" fmla="*/ 170132 h 197327"/>
                  <a:gd name="connsiteX35" fmla="*/ 86647 w 237804"/>
                  <a:gd name="connsiteY35" fmla="*/ 197328 h 197327"/>
                  <a:gd name="connsiteX36" fmla="*/ 172662 w 237804"/>
                  <a:gd name="connsiteY36" fmla="*/ 170132 h 197327"/>
                  <a:gd name="connsiteX37" fmla="*/ 172662 w 237804"/>
                  <a:gd name="connsiteY37" fmla="*/ 155585 h 197327"/>
                  <a:gd name="connsiteX38" fmla="*/ 237805 w 237804"/>
                  <a:gd name="connsiteY38" fmla="*/ 155585 h 197327"/>
                  <a:gd name="connsiteX39" fmla="*/ 237805 w 237804"/>
                  <a:gd name="connsiteY39" fmla="*/ 139774 h 197327"/>
                  <a:gd name="connsiteX40" fmla="*/ 172662 w 237804"/>
                  <a:gd name="connsiteY40" fmla="*/ 139774 h 197327"/>
                  <a:gd name="connsiteX41" fmla="*/ 172662 w 237804"/>
                  <a:gd name="connsiteY41" fmla="*/ 131552 h 197327"/>
                  <a:gd name="connsiteX42" fmla="*/ 86647 w 237804"/>
                  <a:gd name="connsiteY42" fmla="*/ 39213 h 197327"/>
                  <a:gd name="connsiteX43" fmla="*/ 17709 w 237804"/>
                  <a:gd name="connsiteY43" fmla="*/ 27828 h 197327"/>
                  <a:gd name="connsiteX44" fmla="*/ 86647 w 237804"/>
                  <a:gd name="connsiteY44" fmla="*/ 16444 h 197327"/>
                  <a:gd name="connsiteX45" fmla="*/ 155585 w 237804"/>
                  <a:gd name="connsiteY45" fmla="*/ 27828 h 197327"/>
                  <a:gd name="connsiteX46" fmla="*/ 86647 w 237804"/>
                  <a:gd name="connsiteY46" fmla="*/ 39213 h 197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37804" h="197327">
                    <a:moveTo>
                      <a:pt x="172662" y="131552"/>
                    </a:moveTo>
                    <a:lnTo>
                      <a:pt x="168867" y="131552"/>
                    </a:lnTo>
                    <a:cubicBezTo>
                      <a:pt x="171397" y="129022"/>
                      <a:pt x="172662" y="125860"/>
                      <a:pt x="172662" y="122065"/>
                    </a:cubicBezTo>
                    <a:lnTo>
                      <a:pt x="172662" y="82852"/>
                    </a:lnTo>
                    <a:lnTo>
                      <a:pt x="168867" y="82852"/>
                    </a:lnTo>
                    <a:cubicBezTo>
                      <a:pt x="171397" y="80322"/>
                      <a:pt x="172662" y="77160"/>
                      <a:pt x="172662" y="73365"/>
                    </a:cubicBezTo>
                    <a:lnTo>
                      <a:pt x="172662" y="34153"/>
                    </a:lnTo>
                    <a:lnTo>
                      <a:pt x="170764" y="34153"/>
                    </a:lnTo>
                    <a:cubicBezTo>
                      <a:pt x="172029" y="32255"/>
                      <a:pt x="172662" y="29726"/>
                      <a:pt x="172662" y="27196"/>
                    </a:cubicBezTo>
                    <a:cubicBezTo>
                      <a:pt x="172662" y="632"/>
                      <a:pt x="95501" y="0"/>
                      <a:pt x="86647" y="0"/>
                    </a:cubicBezTo>
                    <a:cubicBezTo>
                      <a:pt x="77793" y="0"/>
                      <a:pt x="632" y="632"/>
                      <a:pt x="632" y="27196"/>
                    </a:cubicBezTo>
                    <a:cubicBezTo>
                      <a:pt x="632" y="53759"/>
                      <a:pt x="77793" y="54392"/>
                      <a:pt x="86647" y="54392"/>
                    </a:cubicBezTo>
                    <a:cubicBezTo>
                      <a:pt x="92972" y="54392"/>
                      <a:pt x="133449" y="53759"/>
                      <a:pt x="156850" y="44272"/>
                    </a:cubicBezTo>
                    <a:lnTo>
                      <a:pt x="156850" y="72100"/>
                    </a:lnTo>
                    <a:cubicBezTo>
                      <a:pt x="153055" y="76528"/>
                      <a:pt x="129022" y="84117"/>
                      <a:pt x="86647" y="84117"/>
                    </a:cubicBezTo>
                    <a:cubicBezTo>
                      <a:pt x="46170" y="84117"/>
                      <a:pt x="20239" y="76528"/>
                      <a:pt x="15812" y="71468"/>
                    </a:cubicBezTo>
                    <a:lnTo>
                      <a:pt x="15812" y="53127"/>
                    </a:lnTo>
                    <a:lnTo>
                      <a:pt x="0" y="53127"/>
                    </a:lnTo>
                    <a:lnTo>
                      <a:pt x="0" y="72100"/>
                    </a:lnTo>
                    <a:cubicBezTo>
                      <a:pt x="0" y="98664"/>
                      <a:pt x="77793" y="99296"/>
                      <a:pt x="86647" y="99296"/>
                    </a:cubicBezTo>
                    <a:cubicBezTo>
                      <a:pt x="92972" y="99296"/>
                      <a:pt x="133449" y="98664"/>
                      <a:pt x="156850" y="89177"/>
                    </a:cubicBezTo>
                    <a:lnTo>
                      <a:pt x="156850" y="120167"/>
                    </a:lnTo>
                    <a:cubicBezTo>
                      <a:pt x="153055" y="124595"/>
                      <a:pt x="129022" y="132184"/>
                      <a:pt x="86647" y="132184"/>
                    </a:cubicBezTo>
                    <a:cubicBezTo>
                      <a:pt x="46170" y="132184"/>
                      <a:pt x="20239" y="124595"/>
                      <a:pt x="15812" y="119535"/>
                    </a:cubicBezTo>
                    <a:lnTo>
                      <a:pt x="15812" y="101194"/>
                    </a:lnTo>
                    <a:lnTo>
                      <a:pt x="0" y="101194"/>
                    </a:lnTo>
                    <a:lnTo>
                      <a:pt x="0" y="120167"/>
                    </a:lnTo>
                    <a:cubicBezTo>
                      <a:pt x="0" y="146731"/>
                      <a:pt x="77793" y="147363"/>
                      <a:pt x="86647" y="147363"/>
                    </a:cubicBezTo>
                    <a:cubicBezTo>
                      <a:pt x="92972" y="147363"/>
                      <a:pt x="133449" y="146731"/>
                      <a:pt x="156850" y="137244"/>
                    </a:cubicBezTo>
                    <a:lnTo>
                      <a:pt x="156850" y="170132"/>
                    </a:lnTo>
                    <a:cubicBezTo>
                      <a:pt x="153055" y="174559"/>
                      <a:pt x="129022" y="182149"/>
                      <a:pt x="86647" y="182149"/>
                    </a:cubicBezTo>
                    <a:cubicBezTo>
                      <a:pt x="46170" y="182149"/>
                      <a:pt x="20239" y="174559"/>
                      <a:pt x="15812" y="169499"/>
                    </a:cubicBezTo>
                    <a:lnTo>
                      <a:pt x="15812" y="151158"/>
                    </a:lnTo>
                    <a:lnTo>
                      <a:pt x="0" y="151158"/>
                    </a:lnTo>
                    <a:lnTo>
                      <a:pt x="0" y="170132"/>
                    </a:lnTo>
                    <a:cubicBezTo>
                      <a:pt x="0" y="196695"/>
                      <a:pt x="77793" y="197328"/>
                      <a:pt x="86647" y="197328"/>
                    </a:cubicBezTo>
                    <a:cubicBezTo>
                      <a:pt x="95501" y="197328"/>
                      <a:pt x="172662" y="196695"/>
                      <a:pt x="172662" y="170132"/>
                    </a:cubicBezTo>
                    <a:lnTo>
                      <a:pt x="172662" y="155585"/>
                    </a:lnTo>
                    <a:lnTo>
                      <a:pt x="237805" y="155585"/>
                    </a:lnTo>
                    <a:lnTo>
                      <a:pt x="237805" y="139774"/>
                    </a:lnTo>
                    <a:lnTo>
                      <a:pt x="172662" y="139774"/>
                    </a:lnTo>
                    <a:lnTo>
                      <a:pt x="172662" y="131552"/>
                    </a:lnTo>
                    <a:close/>
                    <a:moveTo>
                      <a:pt x="86647" y="39213"/>
                    </a:moveTo>
                    <a:cubicBezTo>
                      <a:pt x="46802" y="39213"/>
                      <a:pt x="23401" y="32255"/>
                      <a:pt x="17709" y="27828"/>
                    </a:cubicBezTo>
                    <a:cubicBezTo>
                      <a:pt x="23401" y="23401"/>
                      <a:pt x="47435" y="16444"/>
                      <a:pt x="86647" y="16444"/>
                    </a:cubicBezTo>
                    <a:cubicBezTo>
                      <a:pt x="125860" y="16444"/>
                      <a:pt x="149893" y="23401"/>
                      <a:pt x="155585" y="27828"/>
                    </a:cubicBezTo>
                    <a:cubicBezTo>
                      <a:pt x="149893" y="32255"/>
                      <a:pt x="126492" y="39213"/>
                      <a:pt x="86647" y="39213"/>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0" name="Picture Placeholder 76">
                <a:extLst>
                  <a:ext uri="{FF2B5EF4-FFF2-40B4-BE49-F238E27FC236}">
                    <a16:creationId xmlns:a16="http://schemas.microsoft.com/office/drawing/2014/main" id="{DBC73C7B-CB28-4998-8EC2-EB26B04FF6AE}"/>
                  </a:ext>
                </a:extLst>
              </p:cNvPr>
              <p:cNvSpPr/>
              <p:nvPr/>
            </p:nvSpPr>
            <p:spPr>
              <a:xfrm>
                <a:off x="3494387" y="5196894"/>
                <a:ext cx="266898" cy="197327"/>
              </a:xfrm>
              <a:custGeom>
                <a:avLst/>
                <a:gdLst>
                  <a:gd name="connsiteX0" fmla="*/ 266898 w 266898"/>
                  <a:gd name="connsiteY0" fmla="*/ 27196 h 197327"/>
                  <a:gd name="connsiteX1" fmla="*/ 180884 w 266898"/>
                  <a:gd name="connsiteY1" fmla="*/ 0 h 197327"/>
                  <a:gd name="connsiteX2" fmla="*/ 94869 w 266898"/>
                  <a:gd name="connsiteY2" fmla="*/ 27196 h 197327"/>
                  <a:gd name="connsiteX3" fmla="*/ 180884 w 266898"/>
                  <a:gd name="connsiteY3" fmla="*/ 54392 h 197327"/>
                  <a:gd name="connsiteX4" fmla="*/ 251087 w 266898"/>
                  <a:gd name="connsiteY4" fmla="*/ 44272 h 197327"/>
                  <a:gd name="connsiteX5" fmla="*/ 251087 w 266898"/>
                  <a:gd name="connsiteY5" fmla="*/ 72100 h 197327"/>
                  <a:gd name="connsiteX6" fmla="*/ 180884 w 266898"/>
                  <a:gd name="connsiteY6" fmla="*/ 84117 h 197327"/>
                  <a:gd name="connsiteX7" fmla="*/ 110680 w 266898"/>
                  <a:gd name="connsiteY7" fmla="*/ 72100 h 197327"/>
                  <a:gd name="connsiteX8" fmla="*/ 110680 w 266898"/>
                  <a:gd name="connsiteY8" fmla="*/ 53759 h 197327"/>
                  <a:gd name="connsiteX9" fmla="*/ 94869 w 266898"/>
                  <a:gd name="connsiteY9" fmla="*/ 53759 h 197327"/>
                  <a:gd name="connsiteX10" fmla="*/ 94869 w 266898"/>
                  <a:gd name="connsiteY10" fmla="*/ 72733 h 197327"/>
                  <a:gd name="connsiteX11" fmla="*/ 180884 w 266898"/>
                  <a:gd name="connsiteY11" fmla="*/ 99929 h 197327"/>
                  <a:gd name="connsiteX12" fmla="*/ 251087 w 266898"/>
                  <a:gd name="connsiteY12" fmla="*/ 89809 h 197327"/>
                  <a:gd name="connsiteX13" fmla="*/ 251087 w 266898"/>
                  <a:gd name="connsiteY13" fmla="*/ 120800 h 197327"/>
                  <a:gd name="connsiteX14" fmla="*/ 180884 w 266898"/>
                  <a:gd name="connsiteY14" fmla="*/ 132817 h 197327"/>
                  <a:gd name="connsiteX15" fmla="*/ 110680 w 266898"/>
                  <a:gd name="connsiteY15" fmla="*/ 120800 h 197327"/>
                  <a:gd name="connsiteX16" fmla="*/ 110680 w 266898"/>
                  <a:gd name="connsiteY16" fmla="*/ 101826 h 197327"/>
                  <a:gd name="connsiteX17" fmla="*/ 94869 w 266898"/>
                  <a:gd name="connsiteY17" fmla="*/ 101826 h 197327"/>
                  <a:gd name="connsiteX18" fmla="*/ 94869 w 266898"/>
                  <a:gd name="connsiteY18" fmla="*/ 121432 h 197327"/>
                  <a:gd name="connsiteX19" fmla="*/ 180884 w 266898"/>
                  <a:gd name="connsiteY19" fmla="*/ 148628 h 197327"/>
                  <a:gd name="connsiteX20" fmla="*/ 251087 w 266898"/>
                  <a:gd name="connsiteY20" fmla="*/ 138509 h 197327"/>
                  <a:gd name="connsiteX21" fmla="*/ 251087 w 266898"/>
                  <a:gd name="connsiteY21" fmla="*/ 169499 h 197327"/>
                  <a:gd name="connsiteX22" fmla="*/ 180884 w 266898"/>
                  <a:gd name="connsiteY22" fmla="*/ 181516 h 197327"/>
                  <a:gd name="connsiteX23" fmla="*/ 110680 w 266898"/>
                  <a:gd name="connsiteY23" fmla="*/ 169499 h 197327"/>
                  <a:gd name="connsiteX24" fmla="*/ 110680 w 266898"/>
                  <a:gd name="connsiteY24" fmla="*/ 149893 h 197327"/>
                  <a:gd name="connsiteX25" fmla="*/ 104356 w 266898"/>
                  <a:gd name="connsiteY25" fmla="*/ 149893 h 197327"/>
                  <a:gd name="connsiteX26" fmla="*/ 104356 w 266898"/>
                  <a:gd name="connsiteY26" fmla="*/ 149893 h 197327"/>
                  <a:gd name="connsiteX27" fmla="*/ 0 w 266898"/>
                  <a:gd name="connsiteY27" fmla="*/ 149893 h 197327"/>
                  <a:gd name="connsiteX28" fmla="*/ 0 w 266898"/>
                  <a:gd name="connsiteY28" fmla="*/ 165705 h 197327"/>
                  <a:gd name="connsiteX29" fmla="*/ 94869 w 266898"/>
                  <a:gd name="connsiteY29" fmla="*/ 165705 h 197327"/>
                  <a:gd name="connsiteX30" fmla="*/ 94869 w 266898"/>
                  <a:gd name="connsiteY30" fmla="*/ 170132 h 197327"/>
                  <a:gd name="connsiteX31" fmla="*/ 180884 w 266898"/>
                  <a:gd name="connsiteY31" fmla="*/ 197328 h 197327"/>
                  <a:gd name="connsiteX32" fmla="*/ 266898 w 266898"/>
                  <a:gd name="connsiteY32" fmla="*/ 170132 h 197327"/>
                  <a:gd name="connsiteX33" fmla="*/ 266898 w 266898"/>
                  <a:gd name="connsiteY33" fmla="*/ 130919 h 197327"/>
                  <a:gd name="connsiteX34" fmla="*/ 263103 w 266898"/>
                  <a:gd name="connsiteY34" fmla="*/ 130919 h 197327"/>
                  <a:gd name="connsiteX35" fmla="*/ 266898 w 266898"/>
                  <a:gd name="connsiteY35" fmla="*/ 121432 h 197327"/>
                  <a:gd name="connsiteX36" fmla="*/ 266898 w 266898"/>
                  <a:gd name="connsiteY36" fmla="*/ 82220 h 197327"/>
                  <a:gd name="connsiteX37" fmla="*/ 263103 w 266898"/>
                  <a:gd name="connsiteY37" fmla="*/ 82220 h 197327"/>
                  <a:gd name="connsiteX38" fmla="*/ 266898 w 266898"/>
                  <a:gd name="connsiteY38" fmla="*/ 72733 h 197327"/>
                  <a:gd name="connsiteX39" fmla="*/ 266898 w 266898"/>
                  <a:gd name="connsiteY39" fmla="*/ 34153 h 197327"/>
                  <a:gd name="connsiteX40" fmla="*/ 265001 w 266898"/>
                  <a:gd name="connsiteY40" fmla="*/ 34153 h 197327"/>
                  <a:gd name="connsiteX41" fmla="*/ 266898 w 266898"/>
                  <a:gd name="connsiteY41" fmla="*/ 27196 h 197327"/>
                  <a:gd name="connsiteX42" fmla="*/ 180884 w 266898"/>
                  <a:gd name="connsiteY42" fmla="*/ 39213 h 197327"/>
                  <a:gd name="connsiteX43" fmla="*/ 111945 w 266898"/>
                  <a:gd name="connsiteY43" fmla="*/ 27828 h 197327"/>
                  <a:gd name="connsiteX44" fmla="*/ 180884 w 266898"/>
                  <a:gd name="connsiteY44" fmla="*/ 16444 h 197327"/>
                  <a:gd name="connsiteX45" fmla="*/ 249822 w 266898"/>
                  <a:gd name="connsiteY45" fmla="*/ 27828 h 197327"/>
                  <a:gd name="connsiteX46" fmla="*/ 180884 w 266898"/>
                  <a:gd name="connsiteY46" fmla="*/ 39213 h 197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66898" h="197327">
                    <a:moveTo>
                      <a:pt x="266898" y="27196"/>
                    </a:moveTo>
                    <a:cubicBezTo>
                      <a:pt x="266898" y="632"/>
                      <a:pt x="189738" y="0"/>
                      <a:pt x="180884" y="0"/>
                    </a:cubicBezTo>
                    <a:cubicBezTo>
                      <a:pt x="172029" y="0"/>
                      <a:pt x="94869" y="632"/>
                      <a:pt x="94869" y="27196"/>
                    </a:cubicBezTo>
                    <a:cubicBezTo>
                      <a:pt x="94869" y="53759"/>
                      <a:pt x="172029" y="54392"/>
                      <a:pt x="180884" y="54392"/>
                    </a:cubicBezTo>
                    <a:cubicBezTo>
                      <a:pt x="187208" y="54392"/>
                      <a:pt x="227686" y="53759"/>
                      <a:pt x="251087" y="44272"/>
                    </a:cubicBezTo>
                    <a:lnTo>
                      <a:pt x="251087" y="72100"/>
                    </a:lnTo>
                    <a:cubicBezTo>
                      <a:pt x="247292" y="76528"/>
                      <a:pt x="223258" y="84117"/>
                      <a:pt x="180884" y="84117"/>
                    </a:cubicBezTo>
                    <a:cubicBezTo>
                      <a:pt x="138509" y="84117"/>
                      <a:pt x="114475" y="75895"/>
                      <a:pt x="110680" y="72100"/>
                    </a:cubicBezTo>
                    <a:cubicBezTo>
                      <a:pt x="110680" y="66408"/>
                      <a:pt x="110680" y="53759"/>
                      <a:pt x="110680" y="53759"/>
                    </a:cubicBezTo>
                    <a:lnTo>
                      <a:pt x="94869" y="53759"/>
                    </a:lnTo>
                    <a:cubicBezTo>
                      <a:pt x="94869" y="53759"/>
                      <a:pt x="94869" y="68306"/>
                      <a:pt x="94869" y="72733"/>
                    </a:cubicBezTo>
                    <a:cubicBezTo>
                      <a:pt x="94869" y="99296"/>
                      <a:pt x="172029" y="99929"/>
                      <a:pt x="180884" y="99929"/>
                    </a:cubicBezTo>
                    <a:cubicBezTo>
                      <a:pt x="187208" y="99929"/>
                      <a:pt x="227686" y="99296"/>
                      <a:pt x="251087" y="89809"/>
                    </a:cubicBezTo>
                    <a:lnTo>
                      <a:pt x="251087" y="120800"/>
                    </a:lnTo>
                    <a:cubicBezTo>
                      <a:pt x="247292" y="125227"/>
                      <a:pt x="223258" y="132817"/>
                      <a:pt x="180884" y="132817"/>
                    </a:cubicBezTo>
                    <a:cubicBezTo>
                      <a:pt x="138509" y="132817"/>
                      <a:pt x="114475" y="124595"/>
                      <a:pt x="110680" y="120800"/>
                    </a:cubicBezTo>
                    <a:cubicBezTo>
                      <a:pt x="110680" y="115108"/>
                      <a:pt x="110680" y="101826"/>
                      <a:pt x="110680" y="101826"/>
                    </a:cubicBezTo>
                    <a:lnTo>
                      <a:pt x="94869" y="101826"/>
                    </a:lnTo>
                    <a:cubicBezTo>
                      <a:pt x="94869" y="101826"/>
                      <a:pt x="94869" y="116373"/>
                      <a:pt x="94869" y="121432"/>
                    </a:cubicBezTo>
                    <a:cubicBezTo>
                      <a:pt x="94869" y="147996"/>
                      <a:pt x="172029" y="148628"/>
                      <a:pt x="180884" y="148628"/>
                    </a:cubicBezTo>
                    <a:cubicBezTo>
                      <a:pt x="187208" y="148628"/>
                      <a:pt x="227686" y="147996"/>
                      <a:pt x="251087" y="138509"/>
                    </a:cubicBezTo>
                    <a:lnTo>
                      <a:pt x="251087" y="169499"/>
                    </a:lnTo>
                    <a:cubicBezTo>
                      <a:pt x="247292" y="173926"/>
                      <a:pt x="223258" y="181516"/>
                      <a:pt x="180884" y="181516"/>
                    </a:cubicBezTo>
                    <a:cubicBezTo>
                      <a:pt x="138509" y="181516"/>
                      <a:pt x="114475" y="173294"/>
                      <a:pt x="110680" y="169499"/>
                    </a:cubicBezTo>
                    <a:cubicBezTo>
                      <a:pt x="110680" y="163807"/>
                      <a:pt x="110680" y="149893"/>
                      <a:pt x="110680" y="149893"/>
                    </a:cubicBezTo>
                    <a:lnTo>
                      <a:pt x="104356" y="149893"/>
                    </a:lnTo>
                    <a:lnTo>
                      <a:pt x="104356" y="149893"/>
                    </a:lnTo>
                    <a:lnTo>
                      <a:pt x="0" y="149893"/>
                    </a:lnTo>
                    <a:lnTo>
                      <a:pt x="0" y="165705"/>
                    </a:lnTo>
                    <a:lnTo>
                      <a:pt x="94869" y="165705"/>
                    </a:lnTo>
                    <a:cubicBezTo>
                      <a:pt x="94869" y="167602"/>
                      <a:pt x="94869" y="169499"/>
                      <a:pt x="94869" y="170132"/>
                    </a:cubicBezTo>
                    <a:cubicBezTo>
                      <a:pt x="94869" y="196695"/>
                      <a:pt x="172029" y="197328"/>
                      <a:pt x="180884" y="197328"/>
                    </a:cubicBezTo>
                    <a:cubicBezTo>
                      <a:pt x="189738" y="197328"/>
                      <a:pt x="266898" y="196695"/>
                      <a:pt x="266898" y="170132"/>
                    </a:cubicBezTo>
                    <a:lnTo>
                      <a:pt x="266898" y="130919"/>
                    </a:lnTo>
                    <a:lnTo>
                      <a:pt x="263103" y="130919"/>
                    </a:lnTo>
                    <a:cubicBezTo>
                      <a:pt x="265633" y="128389"/>
                      <a:pt x="266898" y="125227"/>
                      <a:pt x="266898" y="121432"/>
                    </a:cubicBezTo>
                    <a:lnTo>
                      <a:pt x="266898" y="82220"/>
                    </a:lnTo>
                    <a:lnTo>
                      <a:pt x="263103" y="82220"/>
                    </a:lnTo>
                    <a:cubicBezTo>
                      <a:pt x="265633" y="79690"/>
                      <a:pt x="266898" y="76528"/>
                      <a:pt x="266898" y="72733"/>
                    </a:cubicBezTo>
                    <a:lnTo>
                      <a:pt x="266898" y="34153"/>
                    </a:lnTo>
                    <a:lnTo>
                      <a:pt x="265001" y="34153"/>
                    </a:lnTo>
                    <a:cubicBezTo>
                      <a:pt x="266266" y="32255"/>
                      <a:pt x="266898" y="29726"/>
                      <a:pt x="266898" y="27196"/>
                    </a:cubicBezTo>
                    <a:close/>
                    <a:moveTo>
                      <a:pt x="180884" y="39213"/>
                    </a:moveTo>
                    <a:cubicBezTo>
                      <a:pt x="141039" y="39213"/>
                      <a:pt x="117638" y="32255"/>
                      <a:pt x="111945" y="27828"/>
                    </a:cubicBezTo>
                    <a:cubicBezTo>
                      <a:pt x="117638" y="23401"/>
                      <a:pt x="141671" y="16444"/>
                      <a:pt x="180884" y="16444"/>
                    </a:cubicBezTo>
                    <a:cubicBezTo>
                      <a:pt x="220096" y="16444"/>
                      <a:pt x="244130" y="23401"/>
                      <a:pt x="249822" y="27828"/>
                    </a:cubicBezTo>
                    <a:cubicBezTo>
                      <a:pt x="244130" y="32255"/>
                      <a:pt x="220096" y="39213"/>
                      <a:pt x="180884" y="39213"/>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1" name="Picture Placeholder 76">
                <a:extLst>
                  <a:ext uri="{FF2B5EF4-FFF2-40B4-BE49-F238E27FC236}">
                    <a16:creationId xmlns:a16="http://schemas.microsoft.com/office/drawing/2014/main" id="{DD3F98A5-A746-48CF-8156-3145B1458D6E}"/>
                  </a:ext>
                </a:extLst>
              </p:cNvPr>
              <p:cNvSpPr/>
              <p:nvPr/>
            </p:nvSpPr>
            <p:spPr>
              <a:xfrm>
                <a:off x="3229386" y="5312002"/>
                <a:ext cx="252984" cy="216933"/>
              </a:xfrm>
              <a:custGeom>
                <a:avLst/>
                <a:gdLst>
                  <a:gd name="connsiteX0" fmla="*/ 40477 w 252984"/>
                  <a:gd name="connsiteY0" fmla="*/ 216934 h 216933"/>
                  <a:gd name="connsiteX1" fmla="*/ 40477 w 252984"/>
                  <a:gd name="connsiteY1" fmla="*/ 93604 h 216933"/>
                  <a:gd name="connsiteX2" fmla="*/ 252984 w 252984"/>
                  <a:gd name="connsiteY2" fmla="*/ 93604 h 216933"/>
                  <a:gd name="connsiteX3" fmla="*/ 252984 w 252984"/>
                  <a:gd name="connsiteY3" fmla="*/ 0 h 216933"/>
                  <a:gd name="connsiteX4" fmla="*/ 0 w 252984"/>
                  <a:gd name="connsiteY4" fmla="*/ 0 h 216933"/>
                  <a:gd name="connsiteX5" fmla="*/ 0 w 252984"/>
                  <a:gd name="connsiteY5" fmla="*/ 93604 h 216933"/>
                  <a:gd name="connsiteX6" fmla="*/ 24033 w 252984"/>
                  <a:gd name="connsiteY6" fmla="*/ 93604 h 216933"/>
                  <a:gd name="connsiteX7" fmla="*/ 24033 w 252984"/>
                  <a:gd name="connsiteY7" fmla="*/ 216934 h 216933"/>
                  <a:gd name="connsiteX8" fmla="*/ 40477 w 252984"/>
                  <a:gd name="connsiteY8" fmla="*/ 216934 h 216933"/>
                  <a:gd name="connsiteX9" fmla="*/ 15812 w 252984"/>
                  <a:gd name="connsiteY9" fmla="*/ 15812 h 216933"/>
                  <a:gd name="connsiteX10" fmla="*/ 236540 w 252984"/>
                  <a:gd name="connsiteY10" fmla="*/ 15812 h 216933"/>
                  <a:gd name="connsiteX11" fmla="*/ 236540 w 252984"/>
                  <a:gd name="connsiteY11" fmla="*/ 77793 h 216933"/>
                  <a:gd name="connsiteX12" fmla="*/ 15812 w 252984"/>
                  <a:gd name="connsiteY12" fmla="*/ 77793 h 216933"/>
                  <a:gd name="connsiteX13" fmla="*/ 15812 w 252984"/>
                  <a:gd name="connsiteY13" fmla="*/ 15812 h 216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2984" h="216933">
                    <a:moveTo>
                      <a:pt x="40477" y="216934"/>
                    </a:moveTo>
                    <a:lnTo>
                      <a:pt x="40477" y="93604"/>
                    </a:lnTo>
                    <a:lnTo>
                      <a:pt x="252984" y="93604"/>
                    </a:lnTo>
                    <a:lnTo>
                      <a:pt x="252984" y="0"/>
                    </a:lnTo>
                    <a:lnTo>
                      <a:pt x="0" y="0"/>
                    </a:lnTo>
                    <a:lnTo>
                      <a:pt x="0" y="93604"/>
                    </a:lnTo>
                    <a:lnTo>
                      <a:pt x="24033" y="93604"/>
                    </a:lnTo>
                    <a:lnTo>
                      <a:pt x="24033" y="216934"/>
                    </a:lnTo>
                    <a:lnTo>
                      <a:pt x="40477" y="216934"/>
                    </a:lnTo>
                    <a:close/>
                    <a:moveTo>
                      <a:pt x="15812" y="15812"/>
                    </a:moveTo>
                    <a:lnTo>
                      <a:pt x="236540" y="15812"/>
                    </a:lnTo>
                    <a:lnTo>
                      <a:pt x="236540" y="77793"/>
                    </a:lnTo>
                    <a:lnTo>
                      <a:pt x="15812" y="77793"/>
                    </a:lnTo>
                    <a:lnTo>
                      <a:pt x="15812" y="1581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24" name="Group 23">
            <a:extLst>
              <a:ext uri="{FF2B5EF4-FFF2-40B4-BE49-F238E27FC236}">
                <a16:creationId xmlns:a16="http://schemas.microsoft.com/office/drawing/2014/main" id="{3CED9DB8-F0EA-4C9C-B73A-A13D9F85C632}"/>
              </a:ext>
            </a:extLst>
          </p:cNvPr>
          <p:cNvGrpSpPr/>
          <p:nvPr/>
        </p:nvGrpSpPr>
        <p:grpSpPr>
          <a:xfrm>
            <a:off x="2171258" y="3527622"/>
            <a:ext cx="758008" cy="2475217"/>
            <a:chOff x="2879918" y="3703187"/>
            <a:chExt cx="758008" cy="2475217"/>
          </a:xfrm>
        </p:grpSpPr>
        <p:cxnSp>
          <p:nvCxnSpPr>
            <p:cNvPr id="81" name="Straight Connector 80">
              <a:extLst>
                <a:ext uri="{FF2B5EF4-FFF2-40B4-BE49-F238E27FC236}">
                  <a16:creationId xmlns:a16="http://schemas.microsoft.com/office/drawing/2014/main" id="{63D7B52C-DEDD-D944-9517-A76FD4701057}"/>
                </a:ext>
              </a:extLst>
            </p:cNvPr>
            <p:cNvCxnSpPr>
              <a:cxnSpLocks/>
            </p:cNvCxnSpPr>
            <p:nvPr/>
          </p:nvCxnSpPr>
          <p:spPr bwMode="gray">
            <a:xfrm>
              <a:off x="3260152"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D9C4D265-B1EF-F542-A661-5958C3DF7D9F}"/>
                </a:ext>
              </a:extLst>
            </p:cNvPr>
            <p:cNvSpPr/>
            <p:nvPr/>
          </p:nvSpPr>
          <p:spPr>
            <a:xfrm rot="10800000">
              <a:off x="3020093"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96" name="Rounded Rectangle 38">
              <a:extLst>
                <a:ext uri="{FF2B5EF4-FFF2-40B4-BE49-F238E27FC236}">
                  <a16:creationId xmlns:a16="http://schemas.microsoft.com/office/drawing/2014/main" id="{7E19578D-A1DC-F345-84A1-F33560040E87}"/>
                </a:ext>
              </a:extLst>
            </p:cNvPr>
            <p:cNvSpPr/>
            <p:nvPr/>
          </p:nvSpPr>
          <p:spPr>
            <a:xfrm>
              <a:off x="2879918"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sym typeface="Arial"/>
                </a:rPr>
                <a:t>Data-in-Transit</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sym typeface="Arial"/>
                </a:rPr>
                <a:t>Encryption</a:t>
              </a:r>
              <a:endPar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endParaRPr>
            </a:p>
          </p:txBody>
        </p:sp>
        <p:grpSp>
          <p:nvGrpSpPr>
            <p:cNvPr id="362" name="Group 361" descr="NSX/SDN Controller&#10;">
              <a:extLst>
                <a:ext uri="{FF2B5EF4-FFF2-40B4-BE49-F238E27FC236}">
                  <a16:creationId xmlns:a16="http://schemas.microsoft.com/office/drawing/2014/main" id="{4C78E345-80B2-4442-9B5E-822C078559A9}"/>
                </a:ext>
              </a:extLst>
            </p:cNvPr>
            <p:cNvGrpSpPr>
              <a:grpSpLocks noChangeAspect="1"/>
            </p:cNvGrpSpPr>
            <p:nvPr/>
          </p:nvGrpSpPr>
          <p:grpSpPr>
            <a:xfrm>
              <a:off x="3125618" y="5353132"/>
              <a:ext cx="274320" cy="274320"/>
              <a:chOff x="4485843" y="1946681"/>
              <a:chExt cx="600837" cy="600837"/>
            </a:xfrm>
            <a:solidFill>
              <a:schemeClr val="tx1"/>
            </a:solidFill>
          </p:grpSpPr>
          <p:sp>
            <p:nvSpPr>
              <p:cNvPr id="363" name="Picture Placeholder 91">
                <a:extLst>
                  <a:ext uri="{FF2B5EF4-FFF2-40B4-BE49-F238E27FC236}">
                    <a16:creationId xmlns:a16="http://schemas.microsoft.com/office/drawing/2014/main" id="{D9578990-8EBC-4AB9-BB87-2A00DE3983E1}"/>
                  </a:ext>
                </a:extLst>
              </p:cNvPr>
              <p:cNvSpPr/>
              <p:nvPr/>
            </p:nvSpPr>
            <p:spPr>
              <a:xfrm>
                <a:off x="4485843" y="1946681"/>
                <a:ext cx="600837" cy="600837"/>
              </a:xfrm>
              <a:custGeom>
                <a:avLst/>
                <a:gdLst>
                  <a:gd name="connsiteX0" fmla="*/ 300419 w 600837"/>
                  <a:gd name="connsiteY0" fmla="*/ 15812 h 600837"/>
                  <a:gd name="connsiteX1" fmla="*/ 585026 w 600837"/>
                  <a:gd name="connsiteY1" fmla="*/ 300419 h 600837"/>
                  <a:gd name="connsiteX2" fmla="*/ 300419 w 600837"/>
                  <a:gd name="connsiteY2" fmla="*/ 585026 h 600837"/>
                  <a:gd name="connsiteX3" fmla="*/ 15812 w 600837"/>
                  <a:gd name="connsiteY3" fmla="*/ 300419 h 600837"/>
                  <a:gd name="connsiteX4" fmla="*/ 300419 w 600837"/>
                  <a:gd name="connsiteY4" fmla="*/ 15812 h 600837"/>
                  <a:gd name="connsiteX5" fmla="*/ 300419 w 600837"/>
                  <a:gd name="connsiteY5" fmla="*/ 0 h 600837"/>
                  <a:gd name="connsiteX6" fmla="*/ 0 w 600837"/>
                  <a:gd name="connsiteY6" fmla="*/ 300419 h 600837"/>
                  <a:gd name="connsiteX7" fmla="*/ 300419 w 600837"/>
                  <a:gd name="connsiteY7" fmla="*/ 600837 h 600837"/>
                  <a:gd name="connsiteX8" fmla="*/ 600837 w 600837"/>
                  <a:gd name="connsiteY8" fmla="*/ 300419 h 600837"/>
                  <a:gd name="connsiteX9" fmla="*/ 300419 w 600837"/>
                  <a:gd name="connsiteY9" fmla="*/ 0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7" h="600837">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4" name="Picture Placeholder 91">
                <a:extLst>
                  <a:ext uri="{FF2B5EF4-FFF2-40B4-BE49-F238E27FC236}">
                    <a16:creationId xmlns:a16="http://schemas.microsoft.com/office/drawing/2014/main" id="{364B7ADD-21E1-4C79-B62B-948E35380BCD}"/>
                  </a:ext>
                </a:extLst>
              </p:cNvPr>
              <p:cNvSpPr/>
              <p:nvPr/>
            </p:nvSpPr>
            <p:spPr>
              <a:xfrm>
                <a:off x="4816872" y="2261456"/>
                <a:ext cx="94869" cy="94869"/>
              </a:xfrm>
              <a:custGeom>
                <a:avLst/>
                <a:gdLst>
                  <a:gd name="connsiteX0" fmla="*/ 94869 w 94869"/>
                  <a:gd name="connsiteY0" fmla="*/ 47434 h 94869"/>
                  <a:gd name="connsiteX1" fmla="*/ 47434 w 94869"/>
                  <a:gd name="connsiteY1" fmla="*/ 94869 h 94869"/>
                  <a:gd name="connsiteX2" fmla="*/ 0 w 94869"/>
                  <a:gd name="connsiteY2" fmla="*/ 47434 h 94869"/>
                  <a:gd name="connsiteX3" fmla="*/ 47434 w 94869"/>
                  <a:gd name="connsiteY3" fmla="*/ 0 h 94869"/>
                  <a:gd name="connsiteX4" fmla="*/ 94869 w 94869"/>
                  <a:gd name="connsiteY4" fmla="*/ 47434 h 94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4869">
                    <a:moveTo>
                      <a:pt x="94869" y="47434"/>
                    </a:moveTo>
                    <a:cubicBezTo>
                      <a:pt x="94869" y="73632"/>
                      <a:pt x="73632" y="94869"/>
                      <a:pt x="47434" y="94869"/>
                    </a:cubicBezTo>
                    <a:cubicBezTo>
                      <a:pt x="21237" y="94869"/>
                      <a:pt x="0" y="73632"/>
                      <a:pt x="0" y="47434"/>
                    </a:cubicBezTo>
                    <a:cubicBezTo>
                      <a:pt x="0" y="21237"/>
                      <a:pt x="21237" y="0"/>
                      <a:pt x="47434" y="0"/>
                    </a:cubicBezTo>
                    <a:cubicBezTo>
                      <a:pt x="73632" y="0"/>
                      <a:pt x="94869" y="21237"/>
                      <a:pt x="94869" y="4743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5" name="Picture Placeholder 91">
                <a:extLst>
                  <a:ext uri="{FF2B5EF4-FFF2-40B4-BE49-F238E27FC236}">
                    <a16:creationId xmlns:a16="http://schemas.microsoft.com/office/drawing/2014/main" id="{B7538D02-0193-45E8-B983-27FC17AC801E}"/>
                  </a:ext>
                </a:extLst>
              </p:cNvPr>
              <p:cNvSpPr/>
              <p:nvPr/>
            </p:nvSpPr>
            <p:spPr>
              <a:xfrm>
                <a:off x="4643894" y="2330015"/>
                <a:ext cx="94869" cy="94869"/>
              </a:xfrm>
              <a:custGeom>
                <a:avLst/>
                <a:gdLst>
                  <a:gd name="connsiteX0" fmla="*/ 94869 w 94869"/>
                  <a:gd name="connsiteY0" fmla="*/ 47435 h 94869"/>
                  <a:gd name="connsiteX1" fmla="*/ 47435 w 94869"/>
                  <a:gd name="connsiteY1" fmla="*/ 94869 h 94869"/>
                  <a:gd name="connsiteX2" fmla="*/ 0 w 94869"/>
                  <a:gd name="connsiteY2" fmla="*/ 47435 h 94869"/>
                  <a:gd name="connsiteX3" fmla="*/ 47435 w 94869"/>
                  <a:gd name="connsiteY3" fmla="*/ 0 h 94869"/>
                  <a:gd name="connsiteX4" fmla="*/ 94869 w 94869"/>
                  <a:gd name="connsiteY4" fmla="*/ 47435 h 94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4869">
                    <a:moveTo>
                      <a:pt x="94869" y="47435"/>
                    </a:moveTo>
                    <a:cubicBezTo>
                      <a:pt x="94869" y="73632"/>
                      <a:pt x="73632" y="94869"/>
                      <a:pt x="47435" y="94869"/>
                    </a:cubicBezTo>
                    <a:cubicBezTo>
                      <a:pt x="21237" y="94869"/>
                      <a:pt x="0" y="73632"/>
                      <a:pt x="0" y="47435"/>
                    </a:cubicBezTo>
                    <a:cubicBezTo>
                      <a:pt x="0" y="21237"/>
                      <a:pt x="21237" y="0"/>
                      <a:pt x="47435" y="0"/>
                    </a:cubicBezTo>
                    <a:cubicBezTo>
                      <a:pt x="73632" y="0"/>
                      <a:pt x="94869" y="21237"/>
                      <a:pt x="94869" y="47435"/>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6" name="Picture Placeholder 91">
                <a:extLst>
                  <a:ext uri="{FF2B5EF4-FFF2-40B4-BE49-F238E27FC236}">
                    <a16:creationId xmlns:a16="http://schemas.microsoft.com/office/drawing/2014/main" id="{E012BEF2-4E80-4B3E-8F6A-0609188CFFB6}"/>
                  </a:ext>
                </a:extLst>
              </p:cNvPr>
              <p:cNvSpPr/>
              <p:nvPr/>
            </p:nvSpPr>
            <p:spPr>
              <a:xfrm>
                <a:off x="4880751" y="2094044"/>
                <a:ext cx="94869" cy="94869"/>
              </a:xfrm>
              <a:custGeom>
                <a:avLst/>
                <a:gdLst>
                  <a:gd name="connsiteX0" fmla="*/ 94869 w 94869"/>
                  <a:gd name="connsiteY0" fmla="*/ 47434 h 94869"/>
                  <a:gd name="connsiteX1" fmla="*/ 47435 w 94869"/>
                  <a:gd name="connsiteY1" fmla="*/ 94869 h 94869"/>
                  <a:gd name="connsiteX2" fmla="*/ 0 w 94869"/>
                  <a:gd name="connsiteY2" fmla="*/ 47434 h 94869"/>
                  <a:gd name="connsiteX3" fmla="*/ 47435 w 94869"/>
                  <a:gd name="connsiteY3" fmla="*/ 0 h 94869"/>
                  <a:gd name="connsiteX4" fmla="*/ 94869 w 94869"/>
                  <a:gd name="connsiteY4" fmla="*/ 47434 h 94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4869">
                    <a:moveTo>
                      <a:pt x="94869" y="47434"/>
                    </a:moveTo>
                    <a:cubicBezTo>
                      <a:pt x="94869" y="73632"/>
                      <a:pt x="73632" y="94869"/>
                      <a:pt x="47435" y="94869"/>
                    </a:cubicBezTo>
                    <a:cubicBezTo>
                      <a:pt x="21237" y="94869"/>
                      <a:pt x="0" y="73632"/>
                      <a:pt x="0" y="47434"/>
                    </a:cubicBezTo>
                    <a:cubicBezTo>
                      <a:pt x="0" y="21237"/>
                      <a:pt x="21237" y="0"/>
                      <a:pt x="47435" y="0"/>
                    </a:cubicBezTo>
                    <a:cubicBezTo>
                      <a:pt x="73632" y="0"/>
                      <a:pt x="94869" y="21237"/>
                      <a:pt x="94869" y="4743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7" name="Picture Placeholder 91">
                <a:extLst>
                  <a:ext uri="{FF2B5EF4-FFF2-40B4-BE49-F238E27FC236}">
                    <a16:creationId xmlns:a16="http://schemas.microsoft.com/office/drawing/2014/main" id="{75321A79-8566-4D0E-A1D5-C8B37DC344E6}"/>
                  </a:ext>
                </a:extLst>
              </p:cNvPr>
              <p:cNvSpPr/>
              <p:nvPr/>
            </p:nvSpPr>
            <p:spPr>
              <a:xfrm>
                <a:off x="4635230" y="2086328"/>
                <a:ext cx="110680" cy="110680"/>
              </a:xfrm>
              <a:custGeom>
                <a:avLst/>
                <a:gdLst>
                  <a:gd name="connsiteX0" fmla="*/ 55340 w 110680"/>
                  <a:gd name="connsiteY0" fmla="*/ 15812 h 110680"/>
                  <a:gd name="connsiteX1" fmla="*/ 94869 w 110680"/>
                  <a:gd name="connsiteY1" fmla="*/ 55340 h 110680"/>
                  <a:gd name="connsiteX2" fmla="*/ 55340 w 110680"/>
                  <a:gd name="connsiteY2" fmla="*/ 94869 h 110680"/>
                  <a:gd name="connsiteX3" fmla="*/ 15812 w 110680"/>
                  <a:gd name="connsiteY3" fmla="*/ 55340 h 110680"/>
                  <a:gd name="connsiteX4" fmla="*/ 55340 w 110680"/>
                  <a:gd name="connsiteY4" fmla="*/ 15812 h 110680"/>
                  <a:gd name="connsiteX5" fmla="*/ 55340 w 110680"/>
                  <a:gd name="connsiteY5" fmla="*/ 0 h 110680"/>
                  <a:gd name="connsiteX6" fmla="*/ 0 w 110680"/>
                  <a:gd name="connsiteY6" fmla="*/ 55340 h 110680"/>
                  <a:gd name="connsiteX7" fmla="*/ 55340 w 110680"/>
                  <a:gd name="connsiteY7" fmla="*/ 110681 h 110680"/>
                  <a:gd name="connsiteX8" fmla="*/ 110681 w 110680"/>
                  <a:gd name="connsiteY8" fmla="*/ 55340 h 110680"/>
                  <a:gd name="connsiteX9" fmla="*/ 55340 w 110680"/>
                  <a:gd name="connsiteY9" fmla="*/ 0 h 11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680" h="110680">
                    <a:moveTo>
                      <a:pt x="55340" y="15812"/>
                    </a:moveTo>
                    <a:cubicBezTo>
                      <a:pt x="77172" y="15812"/>
                      <a:pt x="94869" y="33509"/>
                      <a:pt x="94869" y="55340"/>
                    </a:cubicBezTo>
                    <a:cubicBezTo>
                      <a:pt x="94869" y="77171"/>
                      <a:pt x="77172" y="94869"/>
                      <a:pt x="55340" y="94869"/>
                    </a:cubicBezTo>
                    <a:cubicBezTo>
                      <a:pt x="33509" y="94869"/>
                      <a:pt x="15812" y="77171"/>
                      <a:pt x="15812" y="55340"/>
                    </a:cubicBezTo>
                    <a:cubicBezTo>
                      <a:pt x="15812" y="33509"/>
                      <a:pt x="33509" y="15812"/>
                      <a:pt x="55340" y="15812"/>
                    </a:cubicBezTo>
                    <a:moveTo>
                      <a:pt x="55340" y="0"/>
                    </a:moveTo>
                    <a:cubicBezTo>
                      <a:pt x="24777" y="0"/>
                      <a:pt x="0" y="24777"/>
                      <a:pt x="0" y="55340"/>
                    </a:cubicBezTo>
                    <a:cubicBezTo>
                      <a:pt x="0" y="85904"/>
                      <a:pt x="24777" y="110681"/>
                      <a:pt x="55340" y="110681"/>
                    </a:cubicBezTo>
                    <a:cubicBezTo>
                      <a:pt x="85904" y="110681"/>
                      <a:pt x="110681" y="85904"/>
                      <a:pt x="110681" y="55340"/>
                    </a:cubicBezTo>
                    <a:cubicBezTo>
                      <a:pt x="110681" y="24777"/>
                      <a:pt x="85904" y="0"/>
                      <a:pt x="55340"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8" name="Picture Placeholder 91">
                <a:extLst>
                  <a:ext uri="{FF2B5EF4-FFF2-40B4-BE49-F238E27FC236}">
                    <a16:creationId xmlns:a16="http://schemas.microsoft.com/office/drawing/2014/main" id="{118A47CD-0374-44CF-869E-FEC16048440E}"/>
                  </a:ext>
                </a:extLst>
              </p:cNvPr>
              <p:cNvSpPr/>
              <p:nvPr/>
            </p:nvSpPr>
            <p:spPr>
              <a:xfrm>
                <a:off x="4685004" y="2214717"/>
                <a:ext cx="15811" cy="102648"/>
              </a:xfrm>
              <a:custGeom>
                <a:avLst/>
                <a:gdLst>
                  <a:gd name="connsiteX0" fmla="*/ 0 w 15811"/>
                  <a:gd name="connsiteY0" fmla="*/ 0 h 102648"/>
                  <a:gd name="connsiteX1" fmla="*/ 15812 w 15811"/>
                  <a:gd name="connsiteY1" fmla="*/ 0 h 102648"/>
                  <a:gd name="connsiteX2" fmla="*/ 15812 w 15811"/>
                  <a:gd name="connsiteY2" fmla="*/ 102648 h 102648"/>
                  <a:gd name="connsiteX3" fmla="*/ 0 w 15811"/>
                  <a:gd name="connsiteY3" fmla="*/ 102648 h 102648"/>
                </a:gdLst>
                <a:ahLst/>
                <a:cxnLst>
                  <a:cxn ang="0">
                    <a:pos x="connsiteX0" y="connsiteY0"/>
                  </a:cxn>
                  <a:cxn ang="0">
                    <a:pos x="connsiteX1" y="connsiteY1"/>
                  </a:cxn>
                  <a:cxn ang="0">
                    <a:pos x="connsiteX2" y="connsiteY2"/>
                  </a:cxn>
                  <a:cxn ang="0">
                    <a:pos x="connsiteX3" y="connsiteY3"/>
                  </a:cxn>
                </a:cxnLst>
                <a:rect l="l" t="t" r="r" b="b"/>
                <a:pathLst>
                  <a:path w="15811" h="102648">
                    <a:moveTo>
                      <a:pt x="0" y="0"/>
                    </a:moveTo>
                    <a:lnTo>
                      <a:pt x="15812" y="0"/>
                    </a:lnTo>
                    <a:lnTo>
                      <a:pt x="15812" y="102648"/>
                    </a:lnTo>
                    <a:lnTo>
                      <a:pt x="0" y="10264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9" name="Picture Placeholder 91">
                <a:extLst>
                  <a:ext uri="{FF2B5EF4-FFF2-40B4-BE49-F238E27FC236}">
                    <a16:creationId xmlns:a16="http://schemas.microsoft.com/office/drawing/2014/main" id="{69212696-B1B3-48D0-95B2-29529877F366}"/>
                  </a:ext>
                </a:extLst>
              </p:cNvPr>
              <p:cNvSpPr/>
              <p:nvPr/>
            </p:nvSpPr>
            <p:spPr>
              <a:xfrm>
                <a:off x="4763429" y="2135154"/>
                <a:ext cx="102648" cy="15811"/>
              </a:xfrm>
              <a:custGeom>
                <a:avLst/>
                <a:gdLst>
                  <a:gd name="connsiteX0" fmla="*/ 0 w 102648"/>
                  <a:gd name="connsiteY0" fmla="*/ 0 h 15811"/>
                  <a:gd name="connsiteX1" fmla="*/ 102648 w 102648"/>
                  <a:gd name="connsiteY1" fmla="*/ 0 h 15811"/>
                  <a:gd name="connsiteX2" fmla="*/ 102648 w 102648"/>
                  <a:gd name="connsiteY2" fmla="*/ 15811 h 15811"/>
                  <a:gd name="connsiteX3" fmla="*/ 0 w 102648"/>
                  <a:gd name="connsiteY3" fmla="*/ 15811 h 15811"/>
                </a:gdLst>
                <a:ahLst/>
                <a:cxnLst>
                  <a:cxn ang="0">
                    <a:pos x="connsiteX0" y="connsiteY0"/>
                  </a:cxn>
                  <a:cxn ang="0">
                    <a:pos x="connsiteX1" y="connsiteY1"/>
                  </a:cxn>
                  <a:cxn ang="0">
                    <a:pos x="connsiteX2" y="connsiteY2"/>
                  </a:cxn>
                  <a:cxn ang="0">
                    <a:pos x="connsiteX3" y="connsiteY3"/>
                  </a:cxn>
                </a:cxnLst>
                <a:rect l="l" t="t" r="r" b="b"/>
                <a:pathLst>
                  <a:path w="102648" h="15811">
                    <a:moveTo>
                      <a:pt x="0" y="0"/>
                    </a:moveTo>
                    <a:lnTo>
                      <a:pt x="102648" y="0"/>
                    </a:lnTo>
                    <a:lnTo>
                      <a:pt x="102648" y="15811"/>
                    </a:lnTo>
                    <a:lnTo>
                      <a:pt x="0" y="15811"/>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70" name="Picture Placeholder 91">
                <a:extLst>
                  <a:ext uri="{FF2B5EF4-FFF2-40B4-BE49-F238E27FC236}">
                    <a16:creationId xmlns:a16="http://schemas.microsoft.com/office/drawing/2014/main" id="{140F1C72-1C45-4006-87BE-29AC314EBCA6}"/>
                  </a:ext>
                </a:extLst>
              </p:cNvPr>
              <p:cNvSpPr/>
              <p:nvPr/>
            </p:nvSpPr>
            <p:spPr>
              <a:xfrm rot="-2700000">
                <a:off x="4776000" y="2177112"/>
                <a:ext cx="15811" cy="102648"/>
              </a:xfrm>
              <a:custGeom>
                <a:avLst/>
                <a:gdLst>
                  <a:gd name="connsiteX0" fmla="*/ 0 w 15811"/>
                  <a:gd name="connsiteY0" fmla="*/ 0 h 102648"/>
                  <a:gd name="connsiteX1" fmla="*/ 15812 w 15811"/>
                  <a:gd name="connsiteY1" fmla="*/ 0 h 102648"/>
                  <a:gd name="connsiteX2" fmla="*/ 15812 w 15811"/>
                  <a:gd name="connsiteY2" fmla="*/ 102648 h 102648"/>
                  <a:gd name="connsiteX3" fmla="*/ 0 w 15811"/>
                  <a:gd name="connsiteY3" fmla="*/ 102648 h 102648"/>
                </a:gdLst>
                <a:ahLst/>
                <a:cxnLst>
                  <a:cxn ang="0">
                    <a:pos x="connsiteX0" y="connsiteY0"/>
                  </a:cxn>
                  <a:cxn ang="0">
                    <a:pos x="connsiteX1" y="connsiteY1"/>
                  </a:cxn>
                  <a:cxn ang="0">
                    <a:pos x="connsiteX2" y="connsiteY2"/>
                  </a:cxn>
                  <a:cxn ang="0">
                    <a:pos x="connsiteX3" y="connsiteY3"/>
                  </a:cxn>
                </a:cxnLst>
                <a:rect l="l" t="t" r="r" b="b"/>
                <a:pathLst>
                  <a:path w="15811" h="102648">
                    <a:moveTo>
                      <a:pt x="0" y="0"/>
                    </a:moveTo>
                    <a:lnTo>
                      <a:pt x="15812" y="0"/>
                    </a:lnTo>
                    <a:lnTo>
                      <a:pt x="15812" y="102648"/>
                    </a:lnTo>
                    <a:lnTo>
                      <a:pt x="0" y="10264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38" name="Group 37">
            <a:extLst>
              <a:ext uri="{FF2B5EF4-FFF2-40B4-BE49-F238E27FC236}">
                <a16:creationId xmlns:a16="http://schemas.microsoft.com/office/drawing/2014/main" id="{41134C1F-D7B0-418F-9CB3-01F4FE1DCE3D}"/>
              </a:ext>
            </a:extLst>
          </p:cNvPr>
          <p:cNvGrpSpPr/>
          <p:nvPr/>
        </p:nvGrpSpPr>
        <p:grpSpPr>
          <a:xfrm>
            <a:off x="6588431" y="3527622"/>
            <a:ext cx="758008" cy="2475217"/>
            <a:chOff x="6055031" y="3703187"/>
            <a:chExt cx="758008" cy="2475217"/>
          </a:xfrm>
        </p:grpSpPr>
        <p:cxnSp>
          <p:nvCxnSpPr>
            <p:cNvPr id="371" name="Straight Connector 370">
              <a:extLst>
                <a:ext uri="{FF2B5EF4-FFF2-40B4-BE49-F238E27FC236}">
                  <a16:creationId xmlns:a16="http://schemas.microsoft.com/office/drawing/2014/main" id="{2B357730-66EE-4D05-9D42-5E9C15DB8882}"/>
                </a:ext>
              </a:extLst>
            </p:cNvPr>
            <p:cNvCxnSpPr>
              <a:cxnSpLocks/>
            </p:cNvCxnSpPr>
            <p:nvPr/>
          </p:nvCxnSpPr>
          <p:spPr bwMode="gray">
            <a:xfrm>
              <a:off x="643526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72" name="Oval 371">
              <a:extLst>
                <a:ext uri="{FF2B5EF4-FFF2-40B4-BE49-F238E27FC236}">
                  <a16:creationId xmlns:a16="http://schemas.microsoft.com/office/drawing/2014/main" id="{B7148998-8299-41F1-902E-51CFDF76B44B}"/>
                </a:ext>
              </a:extLst>
            </p:cNvPr>
            <p:cNvSpPr/>
            <p:nvPr/>
          </p:nvSpPr>
          <p:spPr>
            <a:xfrm rot="10800000">
              <a:off x="6195205"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373" name="Rounded Rectangle 38">
              <a:extLst>
                <a:ext uri="{FF2B5EF4-FFF2-40B4-BE49-F238E27FC236}">
                  <a16:creationId xmlns:a16="http://schemas.microsoft.com/office/drawing/2014/main" id="{373EF4DE-DB47-4129-8EA9-6EB0B85C7A4D}"/>
                </a:ext>
              </a:extLst>
            </p:cNvPr>
            <p:cNvSpPr/>
            <p:nvPr/>
          </p:nvSpPr>
          <p:spPr>
            <a:xfrm>
              <a:off x="6055031"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Code</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Signing</a:t>
              </a:r>
            </a:p>
          </p:txBody>
        </p:sp>
        <p:pic>
          <p:nvPicPr>
            <p:cNvPr id="375" name="Graphic 374">
              <a:extLst>
                <a:ext uri="{FF2B5EF4-FFF2-40B4-BE49-F238E27FC236}">
                  <a16:creationId xmlns:a16="http://schemas.microsoft.com/office/drawing/2014/main" id="{201DD3BF-E24E-43FA-BB73-773491515021}"/>
                </a:ext>
              </a:extLst>
            </p:cNvPr>
            <p:cNvPicPr>
              <a:picLocks noChangeAspect="1"/>
            </p:cNvPicPr>
            <p:nvPr/>
          </p:nvPicPr>
          <p:blipFill>
            <a:blip r:embed="rId19" cstate="email">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6281929" y="5338153"/>
              <a:ext cx="302147" cy="302147"/>
            </a:xfrm>
            <a:prstGeom prst="rect">
              <a:avLst/>
            </a:prstGeom>
          </p:spPr>
        </p:pic>
      </p:grpSp>
      <p:grpSp>
        <p:nvGrpSpPr>
          <p:cNvPr id="425" name="Group 424">
            <a:extLst>
              <a:ext uri="{FF2B5EF4-FFF2-40B4-BE49-F238E27FC236}">
                <a16:creationId xmlns:a16="http://schemas.microsoft.com/office/drawing/2014/main" id="{8ADED495-DFD1-B871-9E7A-95797ADDAA19}"/>
              </a:ext>
            </a:extLst>
          </p:cNvPr>
          <p:cNvGrpSpPr/>
          <p:nvPr/>
        </p:nvGrpSpPr>
        <p:grpSpPr>
          <a:xfrm>
            <a:off x="6062429" y="3523164"/>
            <a:ext cx="758008" cy="1303912"/>
            <a:chOff x="6062429" y="3523164"/>
            <a:chExt cx="758008" cy="1303912"/>
          </a:xfrm>
        </p:grpSpPr>
        <p:cxnSp>
          <p:nvCxnSpPr>
            <p:cNvPr id="202" name="Straight Connector 201">
              <a:extLst>
                <a:ext uri="{FF2B5EF4-FFF2-40B4-BE49-F238E27FC236}">
                  <a16:creationId xmlns:a16="http://schemas.microsoft.com/office/drawing/2014/main" id="{DCA3FBC8-2853-4807-87E8-853CD8F2D24B}"/>
                </a:ext>
              </a:extLst>
            </p:cNvPr>
            <p:cNvCxnSpPr>
              <a:cxnSpLocks/>
            </p:cNvCxnSpPr>
            <p:nvPr/>
          </p:nvCxnSpPr>
          <p:spPr bwMode="gray">
            <a:xfrm rot="10800000" flipV="1">
              <a:off x="6436085" y="3523164"/>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03" name="Oval 202">
              <a:extLst>
                <a:ext uri="{FF2B5EF4-FFF2-40B4-BE49-F238E27FC236}">
                  <a16:creationId xmlns:a16="http://schemas.microsoft.com/office/drawing/2014/main" id="{661637F9-4DB4-4EA6-A9AD-F69B7E84F73C}"/>
                </a:ext>
              </a:extLst>
            </p:cNvPr>
            <p:cNvSpPr/>
            <p:nvPr/>
          </p:nvSpPr>
          <p:spPr>
            <a:xfrm rot="10800000">
              <a:off x="6202071" y="3887260"/>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204" name="Rounded Rectangle 31">
              <a:extLst>
                <a:ext uri="{FF2B5EF4-FFF2-40B4-BE49-F238E27FC236}">
                  <a16:creationId xmlns:a16="http://schemas.microsoft.com/office/drawing/2014/main" id="{D7C2D375-0129-46F1-9C35-04F1149BC948}"/>
                </a:ext>
              </a:extLst>
            </p:cNvPr>
            <p:cNvSpPr/>
            <p:nvPr/>
          </p:nvSpPr>
          <p:spPr>
            <a:xfrm>
              <a:off x="6062429" y="4448072"/>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Intrusion</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Detection</a:t>
              </a:r>
            </a:p>
          </p:txBody>
        </p:sp>
        <p:grpSp>
          <p:nvGrpSpPr>
            <p:cNvPr id="376" name="Picture Placeholder 95" descr="Detections 3&#10;">
              <a:extLst>
                <a:ext uri="{FF2B5EF4-FFF2-40B4-BE49-F238E27FC236}">
                  <a16:creationId xmlns:a16="http://schemas.microsoft.com/office/drawing/2014/main" id="{5EDF3549-7B0A-44EF-9020-4B229CAB05BB}"/>
                </a:ext>
              </a:extLst>
            </p:cNvPr>
            <p:cNvGrpSpPr>
              <a:grpSpLocks noChangeAspect="1"/>
            </p:cNvGrpSpPr>
            <p:nvPr/>
          </p:nvGrpSpPr>
          <p:grpSpPr>
            <a:xfrm>
              <a:off x="6255780" y="3949239"/>
              <a:ext cx="365760" cy="366898"/>
              <a:chOff x="11081827" y="720438"/>
              <a:chExt cx="600204" cy="602073"/>
            </a:xfrm>
            <a:solidFill>
              <a:schemeClr val="tx1"/>
            </a:solidFill>
          </p:grpSpPr>
          <p:sp>
            <p:nvSpPr>
              <p:cNvPr id="377" name="Picture Placeholder 95">
                <a:extLst>
                  <a:ext uri="{FF2B5EF4-FFF2-40B4-BE49-F238E27FC236}">
                    <a16:creationId xmlns:a16="http://schemas.microsoft.com/office/drawing/2014/main" id="{9531753A-FF39-4D54-9BE7-FAAAF10B9F7D}"/>
                  </a:ext>
                </a:extLst>
              </p:cNvPr>
              <p:cNvSpPr/>
              <p:nvPr/>
            </p:nvSpPr>
            <p:spPr>
              <a:xfrm>
                <a:off x="11373392" y="1258515"/>
                <a:ext cx="15811" cy="62744"/>
              </a:xfrm>
              <a:custGeom>
                <a:avLst/>
                <a:gdLst>
                  <a:gd name="connsiteX0" fmla="*/ 0 w 15811"/>
                  <a:gd name="connsiteY0" fmla="*/ 0 h 62744"/>
                  <a:gd name="connsiteX1" fmla="*/ 15812 w 15811"/>
                  <a:gd name="connsiteY1" fmla="*/ 0 h 62744"/>
                  <a:gd name="connsiteX2" fmla="*/ 15812 w 15811"/>
                  <a:gd name="connsiteY2" fmla="*/ 62744 h 62744"/>
                  <a:gd name="connsiteX3" fmla="*/ 0 w 15811"/>
                  <a:gd name="connsiteY3" fmla="*/ 62744 h 62744"/>
                </a:gdLst>
                <a:ahLst/>
                <a:cxnLst>
                  <a:cxn ang="0">
                    <a:pos x="connsiteX0" y="connsiteY0"/>
                  </a:cxn>
                  <a:cxn ang="0">
                    <a:pos x="connsiteX1" y="connsiteY1"/>
                  </a:cxn>
                  <a:cxn ang="0">
                    <a:pos x="connsiteX2" y="connsiteY2"/>
                  </a:cxn>
                  <a:cxn ang="0">
                    <a:pos x="connsiteX3" y="connsiteY3"/>
                  </a:cxn>
                </a:cxnLst>
                <a:rect l="l" t="t" r="r" b="b"/>
                <a:pathLst>
                  <a:path w="15811" h="62744">
                    <a:moveTo>
                      <a:pt x="0" y="0"/>
                    </a:moveTo>
                    <a:lnTo>
                      <a:pt x="15812" y="0"/>
                    </a:lnTo>
                    <a:lnTo>
                      <a:pt x="15812" y="62744"/>
                    </a:lnTo>
                    <a:lnTo>
                      <a:pt x="0" y="627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378" name="Picture Placeholder 95">
                <a:extLst>
                  <a:ext uri="{FF2B5EF4-FFF2-40B4-BE49-F238E27FC236}">
                    <a16:creationId xmlns:a16="http://schemas.microsoft.com/office/drawing/2014/main" id="{98E5D8D7-105C-42EC-A6A5-2EB8F0C3E2A1}"/>
                  </a:ext>
                </a:extLst>
              </p:cNvPr>
              <p:cNvGrpSpPr/>
              <p:nvPr/>
            </p:nvGrpSpPr>
            <p:grpSpPr>
              <a:xfrm>
                <a:off x="11081827" y="720438"/>
                <a:ext cx="600204" cy="553805"/>
                <a:chOff x="11081827" y="720438"/>
                <a:chExt cx="600204" cy="553805"/>
              </a:xfrm>
              <a:grpFill/>
            </p:grpSpPr>
            <p:grpSp>
              <p:nvGrpSpPr>
                <p:cNvPr id="379" name="Picture Placeholder 95">
                  <a:extLst>
                    <a:ext uri="{FF2B5EF4-FFF2-40B4-BE49-F238E27FC236}">
                      <a16:creationId xmlns:a16="http://schemas.microsoft.com/office/drawing/2014/main" id="{1DAD3A0F-445D-4918-931F-E7E62A4182AA}"/>
                    </a:ext>
                  </a:extLst>
                </p:cNvPr>
                <p:cNvGrpSpPr/>
                <p:nvPr/>
              </p:nvGrpSpPr>
              <p:grpSpPr>
                <a:xfrm>
                  <a:off x="11252592" y="851999"/>
                  <a:ext cx="263103" cy="338137"/>
                  <a:chOff x="11252592" y="851999"/>
                  <a:chExt cx="263103" cy="338137"/>
                </a:xfrm>
                <a:grpFill/>
              </p:grpSpPr>
              <p:sp>
                <p:nvSpPr>
                  <p:cNvPr id="387" name="Picture Placeholder 95">
                    <a:extLst>
                      <a:ext uri="{FF2B5EF4-FFF2-40B4-BE49-F238E27FC236}">
                        <a16:creationId xmlns:a16="http://schemas.microsoft.com/office/drawing/2014/main" id="{7CB1153D-7EC8-4679-A820-0926CBDF52D7}"/>
                      </a:ext>
                    </a:extLst>
                  </p:cNvPr>
                  <p:cNvSpPr/>
                  <p:nvPr/>
                </p:nvSpPr>
                <p:spPr>
                  <a:xfrm>
                    <a:off x="11326589" y="1114014"/>
                    <a:ext cx="125859" cy="61476"/>
                  </a:xfrm>
                  <a:custGeom>
                    <a:avLst/>
                    <a:gdLst>
                      <a:gd name="connsiteX0" fmla="*/ 4427 w 125859"/>
                      <a:gd name="connsiteY0" fmla="*/ 61477 h 61476"/>
                      <a:gd name="connsiteX1" fmla="*/ 0 w 125859"/>
                      <a:gd name="connsiteY1" fmla="*/ 46266 h 61476"/>
                      <a:gd name="connsiteX2" fmla="*/ 67673 w 125859"/>
                      <a:gd name="connsiteY2" fmla="*/ 0 h 61476"/>
                      <a:gd name="connsiteX3" fmla="*/ 80955 w 125859"/>
                      <a:gd name="connsiteY3" fmla="*/ 0 h 61476"/>
                      <a:gd name="connsiteX4" fmla="*/ 125860 w 125859"/>
                      <a:gd name="connsiteY4" fmla="*/ 34858 h 61476"/>
                      <a:gd name="connsiteX5" fmla="*/ 120800 w 125859"/>
                      <a:gd name="connsiteY5" fmla="*/ 50068 h 61476"/>
                      <a:gd name="connsiteX6" fmla="*/ 73998 w 125859"/>
                      <a:gd name="connsiteY6" fmla="*/ 17746 h 61476"/>
                      <a:gd name="connsiteX7" fmla="*/ 4427 w 125859"/>
                      <a:gd name="connsiteY7" fmla="*/ 61477 h 6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859" h="61476">
                        <a:moveTo>
                          <a:pt x="4427" y="61477"/>
                        </a:moveTo>
                        <a:lnTo>
                          <a:pt x="0" y="46266"/>
                        </a:lnTo>
                        <a:cubicBezTo>
                          <a:pt x="632" y="46266"/>
                          <a:pt x="45537" y="32957"/>
                          <a:pt x="67673" y="0"/>
                        </a:cubicBezTo>
                        <a:lnTo>
                          <a:pt x="80955" y="0"/>
                        </a:lnTo>
                        <a:cubicBezTo>
                          <a:pt x="80955" y="0"/>
                          <a:pt x="97399" y="25351"/>
                          <a:pt x="125860" y="34858"/>
                        </a:cubicBezTo>
                        <a:lnTo>
                          <a:pt x="120800" y="50068"/>
                        </a:lnTo>
                        <a:cubicBezTo>
                          <a:pt x="98031" y="42463"/>
                          <a:pt x="82220" y="27252"/>
                          <a:pt x="73998" y="17746"/>
                        </a:cubicBezTo>
                        <a:cubicBezTo>
                          <a:pt x="47435" y="48801"/>
                          <a:pt x="6325" y="60843"/>
                          <a:pt x="4427" y="6147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8" name="Picture Placeholder 95">
                    <a:extLst>
                      <a:ext uri="{FF2B5EF4-FFF2-40B4-BE49-F238E27FC236}">
                        <a16:creationId xmlns:a16="http://schemas.microsoft.com/office/drawing/2014/main" id="{391AEFE5-5BE6-4254-8DE9-D1C01B86DF5E}"/>
                      </a:ext>
                    </a:extLst>
                  </p:cNvPr>
                  <p:cNvSpPr/>
                  <p:nvPr/>
                </p:nvSpPr>
                <p:spPr>
                  <a:xfrm>
                    <a:off x="11367067" y="1148872"/>
                    <a:ext cx="46169" cy="40561"/>
                  </a:xfrm>
                  <a:custGeom>
                    <a:avLst/>
                    <a:gdLst>
                      <a:gd name="connsiteX0" fmla="*/ 3795 w 46169"/>
                      <a:gd name="connsiteY0" fmla="*/ 40562 h 40561"/>
                      <a:gd name="connsiteX1" fmla="*/ 0 w 46169"/>
                      <a:gd name="connsiteY1" fmla="*/ 25351 h 40561"/>
                      <a:gd name="connsiteX2" fmla="*/ 32255 w 46169"/>
                      <a:gd name="connsiteY2" fmla="*/ 0 h 40561"/>
                      <a:gd name="connsiteX3" fmla="*/ 46170 w 46169"/>
                      <a:gd name="connsiteY3" fmla="*/ 7605 h 40561"/>
                      <a:gd name="connsiteX4" fmla="*/ 3795 w 46169"/>
                      <a:gd name="connsiteY4" fmla="*/ 40562 h 40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69" h="40561">
                        <a:moveTo>
                          <a:pt x="3795" y="40562"/>
                        </a:moveTo>
                        <a:lnTo>
                          <a:pt x="0" y="25351"/>
                        </a:lnTo>
                        <a:cubicBezTo>
                          <a:pt x="0" y="25351"/>
                          <a:pt x="20871" y="20281"/>
                          <a:pt x="32255" y="0"/>
                        </a:cubicBezTo>
                        <a:lnTo>
                          <a:pt x="46170" y="7605"/>
                        </a:lnTo>
                        <a:cubicBezTo>
                          <a:pt x="31623" y="34224"/>
                          <a:pt x="5060" y="40562"/>
                          <a:pt x="3795" y="4056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9" name="Picture Placeholder 95">
                    <a:extLst>
                      <a:ext uri="{FF2B5EF4-FFF2-40B4-BE49-F238E27FC236}">
                        <a16:creationId xmlns:a16="http://schemas.microsoft.com/office/drawing/2014/main" id="{B7FB7508-EAB7-47D8-987F-46E11A09B1FF}"/>
                      </a:ext>
                    </a:extLst>
                  </p:cNvPr>
                  <p:cNvSpPr/>
                  <p:nvPr/>
                </p:nvSpPr>
                <p:spPr>
                  <a:xfrm>
                    <a:off x="11413237" y="1082959"/>
                    <a:ext cx="67040" cy="51969"/>
                  </a:xfrm>
                  <a:custGeom>
                    <a:avLst/>
                    <a:gdLst>
                      <a:gd name="connsiteX0" fmla="*/ 63878 w 67040"/>
                      <a:gd name="connsiteY0" fmla="*/ 51970 h 51969"/>
                      <a:gd name="connsiteX1" fmla="*/ 0 w 67040"/>
                      <a:gd name="connsiteY1" fmla="*/ 5070 h 51969"/>
                      <a:gd name="connsiteX2" fmla="*/ 15179 w 67040"/>
                      <a:gd name="connsiteY2" fmla="*/ 0 h 51969"/>
                      <a:gd name="connsiteX3" fmla="*/ 67041 w 67040"/>
                      <a:gd name="connsiteY3" fmla="*/ 36759 h 51969"/>
                      <a:gd name="connsiteX4" fmla="*/ 63878 w 67040"/>
                      <a:gd name="connsiteY4" fmla="*/ 51970 h 51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40" h="51969">
                        <a:moveTo>
                          <a:pt x="63878" y="51970"/>
                        </a:moveTo>
                        <a:cubicBezTo>
                          <a:pt x="61981" y="51336"/>
                          <a:pt x="13282" y="43097"/>
                          <a:pt x="0" y="5070"/>
                        </a:cubicBezTo>
                        <a:lnTo>
                          <a:pt x="15179" y="0"/>
                        </a:lnTo>
                        <a:cubicBezTo>
                          <a:pt x="25931" y="29788"/>
                          <a:pt x="66408" y="36759"/>
                          <a:pt x="67041" y="36759"/>
                        </a:cubicBezTo>
                        <a:lnTo>
                          <a:pt x="63878" y="5197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0" name="Picture Placeholder 95">
                    <a:extLst>
                      <a:ext uri="{FF2B5EF4-FFF2-40B4-BE49-F238E27FC236}">
                        <a16:creationId xmlns:a16="http://schemas.microsoft.com/office/drawing/2014/main" id="{F22FE6D6-8E7A-4CF2-92A9-14D8A3791C9F}"/>
                      </a:ext>
                    </a:extLst>
                  </p:cNvPr>
                  <p:cNvSpPr/>
                  <p:nvPr/>
                </p:nvSpPr>
                <p:spPr>
                  <a:xfrm>
                    <a:off x="11258916" y="920426"/>
                    <a:ext cx="234010" cy="187883"/>
                  </a:xfrm>
                  <a:custGeom>
                    <a:avLst/>
                    <a:gdLst>
                      <a:gd name="connsiteX0" fmla="*/ 230848 w 234010"/>
                      <a:gd name="connsiteY0" fmla="*/ 187884 h 187883"/>
                      <a:gd name="connsiteX1" fmla="*/ 184678 w 234010"/>
                      <a:gd name="connsiteY1" fmla="*/ 139716 h 187883"/>
                      <a:gd name="connsiteX2" fmla="*/ 194165 w 234010"/>
                      <a:gd name="connsiteY2" fmla="*/ 112464 h 187883"/>
                      <a:gd name="connsiteX3" fmla="*/ 199857 w 234010"/>
                      <a:gd name="connsiteY3" fmla="*/ 51621 h 187883"/>
                      <a:gd name="connsiteX4" fmla="*/ 161910 w 234010"/>
                      <a:gd name="connsiteY4" fmla="*/ 19932 h 187883"/>
                      <a:gd name="connsiteX5" fmla="*/ 108151 w 234010"/>
                      <a:gd name="connsiteY5" fmla="*/ 22467 h 187883"/>
                      <a:gd name="connsiteX6" fmla="*/ 78425 w 234010"/>
                      <a:gd name="connsiteY6" fmla="*/ 68733 h 187883"/>
                      <a:gd name="connsiteX7" fmla="*/ 5060 w 234010"/>
                      <a:gd name="connsiteY7" fmla="*/ 147322 h 187883"/>
                      <a:gd name="connsiteX8" fmla="*/ 0 w 234010"/>
                      <a:gd name="connsiteY8" fmla="*/ 132111 h 187883"/>
                      <a:gd name="connsiteX9" fmla="*/ 63246 w 234010"/>
                      <a:gd name="connsiteY9" fmla="*/ 64297 h 187883"/>
                      <a:gd name="connsiteX10" fmla="*/ 100561 w 234010"/>
                      <a:gd name="connsiteY10" fmla="*/ 9158 h 187883"/>
                      <a:gd name="connsiteX11" fmla="*/ 166969 w 234010"/>
                      <a:gd name="connsiteY11" fmla="*/ 5355 h 187883"/>
                      <a:gd name="connsiteX12" fmla="*/ 214404 w 234010"/>
                      <a:gd name="connsiteY12" fmla="*/ 45917 h 187883"/>
                      <a:gd name="connsiteX13" fmla="*/ 208712 w 234010"/>
                      <a:gd name="connsiteY13" fmla="*/ 119436 h 187883"/>
                      <a:gd name="connsiteX14" fmla="*/ 200490 w 234010"/>
                      <a:gd name="connsiteY14" fmla="*/ 143519 h 187883"/>
                      <a:gd name="connsiteX15" fmla="*/ 234010 w 234010"/>
                      <a:gd name="connsiteY15" fmla="*/ 173307 h 187883"/>
                      <a:gd name="connsiteX16" fmla="*/ 230848 w 234010"/>
                      <a:gd name="connsiteY16" fmla="*/ 187884 h 18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010" h="187883">
                        <a:moveTo>
                          <a:pt x="230848" y="187884"/>
                        </a:moveTo>
                        <a:cubicBezTo>
                          <a:pt x="212507" y="184081"/>
                          <a:pt x="178986" y="170138"/>
                          <a:pt x="184678" y="139716"/>
                        </a:cubicBezTo>
                        <a:cubicBezTo>
                          <a:pt x="186576" y="130210"/>
                          <a:pt x="190370" y="121337"/>
                          <a:pt x="194165" y="112464"/>
                        </a:cubicBezTo>
                        <a:cubicBezTo>
                          <a:pt x="202387" y="93451"/>
                          <a:pt x="209977" y="75071"/>
                          <a:pt x="199857" y="51621"/>
                        </a:cubicBezTo>
                        <a:cubicBezTo>
                          <a:pt x="194165" y="38312"/>
                          <a:pt x="179619" y="26270"/>
                          <a:pt x="161910" y="19932"/>
                        </a:cubicBezTo>
                        <a:cubicBezTo>
                          <a:pt x="142936" y="13595"/>
                          <a:pt x="123962" y="14228"/>
                          <a:pt x="108151" y="22467"/>
                        </a:cubicBezTo>
                        <a:cubicBezTo>
                          <a:pt x="87912" y="33242"/>
                          <a:pt x="83485" y="49720"/>
                          <a:pt x="78425" y="68733"/>
                        </a:cubicBezTo>
                        <a:cubicBezTo>
                          <a:pt x="70836" y="96620"/>
                          <a:pt x="61981" y="127675"/>
                          <a:pt x="5060" y="147322"/>
                        </a:cubicBezTo>
                        <a:lnTo>
                          <a:pt x="0" y="132111"/>
                        </a:lnTo>
                        <a:cubicBezTo>
                          <a:pt x="48699" y="115633"/>
                          <a:pt x="55657" y="90915"/>
                          <a:pt x="63246" y="64297"/>
                        </a:cubicBezTo>
                        <a:cubicBezTo>
                          <a:pt x="68938" y="44016"/>
                          <a:pt x="75263" y="23101"/>
                          <a:pt x="100561" y="9158"/>
                        </a:cubicBezTo>
                        <a:cubicBezTo>
                          <a:pt x="120167" y="-1616"/>
                          <a:pt x="143568" y="-2884"/>
                          <a:pt x="166969" y="5355"/>
                        </a:cubicBezTo>
                        <a:cubicBezTo>
                          <a:pt x="189106" y="12961"/>
                          <a:pt x="206814" y="28171"/>
                          <a:pt x="214404" y="45917"/>
                        </a:cubicBezTo>
                        <a:cubicBezTo>
                          <a:pt x="227053" y="75705"/>
                          <a:pt x="217566" y="98521"/>
                          <a:pt x="208712" y="119436"/>
                        </a:cubicBezTo>
                        <a:cubicBezTo>
                          <a:pt x="204917" y="127675"/>
                          <a:pt x="201755" y="135914"/>
                          <a:pt x="200490" y="143519"/>
                        </a:cubicBezTo>
                        <a:cubicBezTo>
                          <a:pt x="196695" y="165701"/>
                          <a:pt x="234010" y="173307"/>
                          <a:pt x="234010" y="173307"/>
                        </a:cubicBezTo>
                        <a:lnTo>
                          <a:pt x="230848" y="18788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1" name="Picture Placeholder 95">
                    <a:extLst>
                      <a:ext uri="{FF2B5EF4-FFF2-40B4-BE49-F238E27FC236}">
                        <a16:creationId xmlns:a16="http://schemas.microsoft.com/office/drawing/2014/main" id="{D21F653C-3323-4FEB-BDD2-9E74C5B4E55F}"/>
                      </a:ext>
                    </a:extLst>
                  </p:cNvPr>
                  <p:cNvSpPr/>
                  <p:nvPr/>
                </p:nvSpPr>
                <p:spPr>
                  <a:xfrm>
                    <a:off x="11266506" y="955461"/>
                    <a:ext cx="173239" cy="201015"/>
                  </a:xfrm>
                  <a:custGeom>
                    <a:avLst/>
                    <a:gdLst>
                      <a:gd name="connsiteX0" fmla="*/ 38580 w 173239"/>
                      <a:gd name="connsiteY0" fmla="*/ 201016 h 201015"/>
                      <a:gd name="connsiteX1" fmla="*/ 32255 w 173239"/>
                      <a:gd name="connsiteY1" fmla="*/ 186439 h 201015"/>
                      <a:gd name="connsiteX2" fmla="*/ 139774 w 173239"/>
                      <a:gd name="connsiteY2" fmla="*/ 97710 h 201015"/>
                      <a:gd name="connsiteX3" fmla="*/ 152423 w 173239"/>
                      <a:gd name="connsiteY3" fmla="*/ 27994 h 201015"/>
                      <a:gd name="connsiteX4" fmla="*/ 135346 w 173239"/>
                      <a:gd name="connsiteY4" fmla="*/ 16586 h 201015"/>
                      <a:gd name="connsiteX5" fmla="*/ 101194 w 173239"/>
                      <a:gd name="connsiteY5" fmla="*/ 52712 h 201015"/>
                      <a:gd name="connsiteX6" fmla="*/ 86647 w 173239"/>
                      <a:gd name="connsiteY6" fmla="*/ 85668 h 201015"/>
                      <a:gd name="connsiteX7" fmla="*/ 5060 w 173239"/>
                      <a:gd name="connsiteY7" fmla="*/ 146511 h 201015"/>
                      <a:gd name="connsiteX8" fmla="*/ 0 w 173239"/>
                      <a:gd name="connsiteY8" fmla="*/ 131300 h 201015"/>
                      <a:gd name="connsiteX9" fmla="*/ 73365 w 173239"/>
                      <a:gd name="connsiteY9" fmla="*/ 77429 h 201015"/>
                      <a:gd name="connsiteX10" fmla="*/ 87279 w 173239"/>
                      <a:gd name="connsiteY10" fmla="*/ 46374 h 201015"/>
                      <a:gd name="connsiteX11" fmla="*/ 137244 w 173239"/>
                      <a:gd name="connsiteY11" fmla="*/ 108 h 201015"/>
                      <a:gd name="connsiteX12" fmla="*/ 168234 w 173239"/>
                      <a:gd name="connsiteY12" fmla="*/ 20389 h 201015"/>
                      <a:gd name="connsiteX13" fmla="*/ 154320 w 173239"/>
                      <a:gd name="connsiteY13" fmla="*/ 105949 h 201015"/>
                      <a:gd name="connsiteX14" fmla="*/ 38580 w 173239"/>
                      <a:gd name="connsiteY14" fmla="*/ 201016 h 20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239" h="201015">
                        <a:moveTo>
                          <a:pt x="38580" y="201016"/>
                        </a:moveTo>
                        <a:lnTo>
                          <a:pt x="32255" y="186439"/>
                        </a:lnTo>
                        <a:cubicBezTo>
                          <a:pt x="84117" y="163623"/>
                          <a:pt x="118902" y="125596"/>
                          <a:pt x="139774" y="97710"/>
                        </a:cubicBezTo>
                        <a:cubicBezTo>
                          <a:pt x="153055" y="79964"/>
                          <a:pt x="160645" y="46374"/>
                          <a:pt x="152423" y="27994"/>
                        </a:cubicBezTo>
                        <a:cubicBezTo>
                          <a:pt x="149261" y="21023"/>
                          <a:pt x="143568" y="17220"/>
                          <a:pt x="135346" y="16586"/>
                        </a:cubicBezTo>
                        <a:cubicBezTo>
                          <a:pt x="116373" y="15319"/>
                          <a:pt x="111313" y="26727"/>
                          <a:pt x="101194" y="52712"/>
                        </a:cubicBezTo>
                        <a:cubicBezTo>
                          <a:pt x="97399" y="62852"/>
                          <a:pt x="92972" y="74260"/>
                          <a:pt x="86647" y="85668"/>
                        </a:cubicBezTo>
                        <a:cubicBezTo>
                          <a:pt x="63878" y="126230"/>
                          <a:pt x="6957" y="145877"/>
                          <a:pt x="5060" y="146511"/>
                        </a:cubicBezTo>
                        <a:lnTo>
                          <a:pt x="0" y="131300"/>
                        </a:lnTo>
                        <a:cubicBezTo>
                          <a:pt x="632" y="131300"/>
                          <a:pt x="53127" y="112921"/>
                          <a:pt x="73365" y="77429"/>
                        </a:cubicBezTo>
                        <a:cubicBezTo>
                          <a:pt x="79058" y="67289"/>
                          <a:pt x="83485" y="56515"/>
                          <a:pt x="87279" y="46374"/>
                        </a:cubicBezTo>
                        <a:cubicBezTo>
                          <a:pt x="96766" y="21657"/>
                          <a:pt x="106253" y="-1793"/>
                          <a:pt x="137244" y="108"/>
                        </a:cubicBezTo>
                        <a:cubicBezTo>
                          <a:pt x="151158" y="742"/>
                          <a:pt x="161910" y="8347"/>
                          <a:pt x="168234" y="20389"/>
                        </a:cubicBezTo>
                        <a:cubicBezTo>
                          <a:pt x="179619" y="44473"/>
                          <a:pt x="170132" y="84401"/>
                          <a:pt x="154320" y="105949"/>
                        </a:cubicBezTo>
                        <a:cubicBezTo>
                          <a:pt x="130919" y="136371"/>
                          <a:pt x="93604" y="176932"/>
                          <a:pt x="38580" y="20101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2" name="Picture Placeholder 95">
                    <a:extLst>
                      <a:ext uri="{FF2B5EF4-FFF2-40B4-BE49-F238E27FC236}">
                        <a16:creationId xmlns:a16="http://schemas.microsoft.com/office/drawing/2014/main" id="{A8B7C22C-C94E-4EA0-8C41-5B962862BC45}"/>
                      </a:ext>
                    </a:extLst>
                  </p:cNvPr>
                  <p:cNvSpPr/>
                  <p:nvPr/>
                </p:nvSpPr>
                <p:spPr>
                  <a:xfrm>
                    <a:off x="11279155" y="998032"/>
                    <a:ext cx="125227" cy="131192"/>
                  </a:xfrm>
                  <a:custGeom>
                    <a:avLst/>
                    <a:gdLst>
                      <a:gd name="connsiteX0" fmla="*/ 5060 w 125227"/>
                      <a:gd name="connsiteY0" fmla="*/ 131192 h 131192"/>
                      <a:gd name="connsiteX1" fmla="*/ 0 w 125227"/>
                      <a:gd name="connsiteY1" fmla="*/ 115981 h 131192"/>
                      <a:gd name="connsiteX2" fmla="*/ 109416 w 125227"/>
                      <a:gd name="connsiteY2" fmla="*/ 0 h 131192"/>
                      <a:gd name="connsiteX3" fmla="*/ 125227 w 125227"/>
                      <a:gd name="connsiteY3" fmla="*/ 634 h 131192"/>
                      <a:gd name="connsiteX4" fmla="*/ 5060 w 125227"/>
                      <a:gd name="connsiteY4" fmla="*/ 131192 h 131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27" h="131192">
                        <a:moveTo>
                          <a:pt x="5060" y="131192"/>
                        </a:moveTo>
                        <a:lnTo>
                          <a:pt x="0" y="115981"/>
                        </a:lnTo>
                        <a:cubicBezTo>
                          <a:pt x="1265" y="115348"/>
                          <a:pt x="104988" y="77955"/>
                          <a:pt x="109416" y="0"/>
                        </a:cubicBezTo>
                        <a:lnTo>
                          <a:pt x="125227" y="634"/>
                        </a:lnTo>
                        <a:cubicBezTo>
                          <a:pt x="120167" y="89363"/>
                          <a:pt x="10119" y="129291"/>
                          <a:pt x="5060" y="13119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3" name="Picture Placeholder 95">
                    <a:extLst>
                      <a:ext uri="{FF2B5EF4-FFF2-40B4-BE49-F238E27FC236}">
                        <a16:creationId xmlns:a16="http://schemas.microsoft.com/office/drawing/2014/main" id="{B0CC83C3-5B78-42D7-8DF3-C2FACE64C745}"/>
                      </a:ext>
                    </a:extLst>
                  </p:cNvPr>
                  <p:cNvSpPr/>
                  <p:nvPr/>
                </p:nvSpPr>
                <p:spPr>
                  <a:xfrm>
                    <a:off x="11254489" y="886878"/>
                    <a:ext cx="260481" cy="187842"/>
                  </a:xfrm>
                  <a:custGeom>
                    <a:avLst/>
                    <a:gdLst>
                      <a:gd name="connsiteX0" fmla="*/ 240335 w 260481"/>
                      <a:gd name="connsiteY0" fmla="*/ 187842 h 187842"/>
                      <a:gd name="connsiteX1" fmla="*/ 226421 w 260481"/>
                      <a:gd name="connsiteY1" fmla="*/ 180871 h 187842"/>
                      <a:gd name="connsiteX2" fmla="*/ 239070 w 260481"/>
                      <a:gd name="connsiteY2" fmla="*/ 81367 h 187842"/>
                      <a:gd name="connsiteX3" fmla="*/ 187841 w 260481"/>
                      <a:gd name="connsiteY3" fmla="*/ 28130 h 187842"/>
                      <a:gd name="connsiteX4" fmla="*/ 73365 w 260481"/>
                      <a:gd name="connsiteY4" fmla="*/ 40806 h 187842"/>
                      <a:gd name="connsiteX5" fmla="*/ 47435 w 260481"/>
                      <a:gd name="connsiteY5" fmla="*/ 90240 h 187842"/>
                      <a:gd name="connsiteX6" fmla="*/ 0 w 260481"/>
                      <a:gd name="connsiteY6" fmla="*/ 138407 h 187842"/>
                      <a:gd name="connsiteX7" fmla="*/ 0 w 260481"/>
                      <a:gd name="connsiteY7" fmla="*/ 122563 h 187842"/>
                      <a:gd name="connsiteX8" fmla="*/ 32255 w 260481"/>
                      <a:gd name="connsiteY8" fmla="*/ 85170 h 187842"/>
                      <a:gd name="connsiteX9" fmla="*/ 61981 w 260481"/>
                      <a:gd name="connsiteY9" fmla="*/ 29398 h 187842"/>
                      <a:gd name="connsiteX10" fmla="*/ 193533 w 260481"/>
                      <a:gd name="connsiteY10" fmla="*/ 12919 h 187842"/>
                      <a:gd name="connsiteX11" fmla="*/ 253616 w 260481"/>
                      <a:gd name="connsiteY11" fmla="*/ 75663 h 187842"/>
                      <a:gd name="connsiteX12" fmla="*/ 240335 w 260481"/>
                      <a:gd name="connsiteY12" fmla="*/ 187842 h 18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481" h="187842">
                        <a:moveTo>
                          <a:pt x="240335" y="187842"/>
                        </a:moveTo>
                        <a:lnTo>
                          <a:pt x="226421" y="180871"/>
                        </a:lnTo>
                        <a:cubicBezTo>
                          <a:pt x="245394" y="143478"/>
                          <a:pt x="249822" y="110521"/>
                          <a:pt x="239070" y="81367"/>
                        </a:cubicBezTo>
                        <a:cubicBezTo>
                          <a:pt x="228951" y="53481"/>
                          <a:pt x="205550" y="35102"/>
                          <a:pt x="187841" y="28130"/>
                        </a:cubicBezTo>
                        <a:cubicBezTo>
                          <a:pt x="161277" y="16722"/>
                          <a:pt x="110048" y="4046"/>
                          <a:pt x="73365" y="40806"/>
                        </a:cubicBezTo>
                        <a:cubicBezTo>
                          <a:pt x="59451" y="54749"/>
                          <a:pt x="53127" y="73128"/>
                          <a:pt x="47435" y="90240"/>
                        </a:cubicBezTo>
                        <a:cubicBezTo>
                          <a:pt x="39845" y="113690"/>
                          <a:pt x="31623" y="138407"/>
                          <a:pt x="0" y="138407"/>
                        </a:cubicBezTo>
                        <a:lnTo>
                          <a:pt x="0" y="122563"/>
                        </a:lnTo>
                        <a:cubicBezTo>
                          <a:pt x="18974" y="122563"/>
                          <a:pt x="24033" y="110521"/>
                          <a:pt x="32255" y="85170"/>
                        </a:cubicBezTo>
                        <a:cubicBezTo>
                          <a:pt x="38580" y="66790"/>
                          <a:pt x="44905" y="46510"/>
                          <a:pt x="61981" y="29398"/>
                        </a:cubicBezTo>
                        <a:cubicBezTo>
                          <a:pt x="105621" y="-14333"/>
                          <a:pt x="163175" y="244"/>
                          <a:pt x="193533" y="12919"/>
                        </a:cubicBezTo>
                        <a:cubicBezTo>
                          <a:pt x="203652" y="17356"/>
                          <a:pt x="238437" y="34468"/>
                          <a:pt x="253616" y="75663"/>
                        </a:cubicBezTo>
                        <a:cubicBezTo>
                          <a:pt x="266266" y="109254"/>
                          <a:pt x="261206" y="146646"/>
                          <a:pt x="240335" y="18784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4" name="Picture Placeholder 95">
                    <a:extLst>
                      <a:ext uri="{FF2B5EF4-FFF2-40B4-BE49-F238E27FC236}">
                        <a16:creationId xmlns:a16="http://schemas.microsoft.com/office/drawing/2014/main" id="{C9C1BABD-64B9-43B0-BEEF-12CC23CC9E9A}"/>
                      </a:ext>
                    </a:extLst>
                  </p:cNvPr>
                  <p:cNvSpPr/>
                  <p:nvPr/>
                </p:nvSpPr>
                <p:spPr>
                  <a:xfrm>
                    <a:off x="11252592" y="851999"/>
                    <a:ext cx="263103" cy="132723"/>
                  </a:xfrm>
                  <a:custGeom>
                    <a:avLst/>
                    <a:gdLst>
                      <a:gd name="connsiteX0" fmla="*/ 15812 w 263103"/>
                      <a:gd name="connsiteY0" fmla="*/ 132724 h 132723"/>
                      <a:gd name="connsiteX1" fmla="*/ 0 w 263103"/>
                      <a:gd name="connsiteY1" fmla="*/ 132724 h 132723"/>
                      <a:gd name="connsiteX2" fmla="*/ 91074 w 263103"/>
                      <a:gd name="connsiteY2" fmla="*/ 5968 h 132723"/>
                      <a:gd name="connsiteX3" fmla="*/ 263103 w 263103"/>
                      <a:gd name="connsiteY3" fmla="*/ 58572 h 132723"/>
                      <a:gd name="connsiteX4" fmla="*/ 250454 w 263103"/>
                      <a:gd name="connsiteY4" fmla="*/ 68079 h 132723"/>
                      <a:gd name="connsiteX5" fmla="*/ 94869 w 263103"/>
                      <a:gd name="connsiteY5" fmla="*/ 21179 h 132723"/>
                      <a:gd name="connsiteX6" fmla="*/ 15812 w 263103"/>
                      <a:gd name="connsiteY6" fmla="*/ 132724 h 13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3103" h="132723">
                        <a:moveTo>
                          <a:pt x="15812" y="132724"/>
                        </a:moveTo>
                        <a:lnTo>
                          <a:pt x="0" y="132724"/>
                        </a:lnTo>
                        <a:cubicBezTo>
                          <a:pt x="0" y="131456"/>
                          <a:pt x="2530" y="24982"/>
                          <a:pt x="91074" y="5968"/>
                        </a:cubicBezTo>
                        <a:cubicBezTo>
                          <a:pt x="185943" y="-14946"/>
                          <a:pt x="237173" y="23080"/>
                          <a:pt x="263103" y="58572"/>
                        </a:cubicBezTo>
                        <a:lnTo>
                          <a:pt x="250454" y="68079"/>
                        </a:lnTo>
                        <a:cubicBezTo>
                          <a:pt x="227686" y="36390"/>
                          <a:pt x="181516" y="2799"/>
                          <a:pt x="94869" y="21179"/>
                        </a:cubicBezTo>
                        <a:cubicBezTo>
                          <a:pt x="18341" y="37657"/>
                          <a:pt x="15812" y="128921"/>
                          <a:pt x="15812" y="13272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380" name="Picture Placeholder 95">
                  <a:extLst>
                    <a:ext uri="{FF2B5EF4-FFF2-40B4-BE49-F238E27FC236}">
                      <a16:creationId xmlns:a16="http://schemas.microsoft.com/office/drawing/2014/main" id="{3D317DA8-3840-42FC-B3E8-B2D7ADA061D2}"/>
                    </a:ext>
                  </a:extLst>
                </p:cNvPr>
                <p:cNvSpPr/>
                <p:nvPr/>
              </p:nvSpPr>
              <p:spPr>
                <a:xfrm>
                  <a:off x="11406912" y="768605"/>
                  <a:ext cx="227685" cy="228793"/>
                </a:xfrm>
                <a:custGeom>
                  <a:avLst/>
                  <a:gdLst>
                    <a:gd name="connsiteX0" fmla="*/ 227686 w 227685"/>
                    <a:gd name="connsiteY0" fmla="*/ 228794 h 228793"/>
                    <a:gd name="connsiteX1" fmla="*/ 0 w 227685"/>
                    <a:gd name="connsiteY1" fmla="*/ 0 h 228793"/>
                    <a:gd name="connsiteX2" fmla="*/ 0 w 227685"/>
                    <a:gd name="connsiteY2" fmla="*/ 15844 h 228793"/>
                    <a:gd name="connsiteX3" fmla="*/ 211874 w 227685"/>
                    <a:gd name="connsiteY3" fmla="*/ 228794 h 228793"/>
                    <a:gd name="connsiteX4" fmla="*/ 227686 w 227685"/>
                    <a:gd name="connsiteY4" fmla="*/ 228794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227686" y="228794"/>
                      </a:moveTo>
                      <a:cubicBezTo>
                        <a:pt x="216301" y="107742"/>
                        <a:pt x="120167" y="11408"/>
                        <a:pt x="0" y="0"/>
                      </a:cubicBezTo>
                      <a:lnTo>
                        <a:pt x="0" y="15844"/>
                      </a:lnTo>
                      <a:cubicBezTo>
                        <a:pt x="111945" y="27252"/>
                        <a:pt x="201122" y="116615"/>
                        <a:pt x="211874" y="228794"/>
                      </a:cubicBezTo>
                      <a:lnTo>
                        <a:pt x="227686" y="22879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1" name="Picture Placeholder 95">
                  <a:extLst>
                    <a:ext uri="{FF2B5EF4-FFF2-40B4-BE49-F238E27FC236}">
                      <a16:creationId xmlns:a16="http://schemas.microsoft.com/office/drawing/2014/main" id="{C383FA5A-C00A-4644-91BF-597B741BD9A1}"/>
                    </a:ext>
                  </a:extLst>
                </p:cNvPr>
                <p:cNvSpPr/>
                <p:nvPr/>
              </p:nvSpPr>
              <p:spPr>
                <a:xfrm>
                  <a:off x="11081827" y="1013243"/>
                  <a:ext cx="63878" cy="15844"/>
                </a:xfrm>
                <a:custGeom>
                  <a:avLst/>
                  <a:gdLst>
                    <a:gd name="connsiteX0" fmla="*/ 0 w 63878"/>
                    <a:gd name="connsiteY0" fmla="*/ 0 h 15844"/>
                    <a:gd name="connsiteX1" fmla="*/ 63878 w 63878"/>
                    <a:gd name="connsiteY1" fmla="*/ 0 h 15844"/>
                    <a:gd name="connsiteX2" fmla="*/ 63878 w 63878"/>
                    <a:gd name="connsiteY2" fmla="*/ 15844 h 15844"/>
                    <a:gd name="connsiteX3" fmla="*/ 0 w 6387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3878" h="15844">
                      <a:moveTo>
                        <a:pt x="0" y="0"/>
                      </a:moveTo>
                      <a:lnTo>
                        <a:pt x="63878" y="0"/>
                      </a:lnTo>
                      <a:lnTo>
                        <a:pt x="63878"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2" name="Picture Placeholder 95">
                  <a:extLst>
                    <a:ext uri="{FF2B5EF4-FFF2-40B4-BE49-F238E27FC236}">
                      <a16:creationId xmlns:a16="http://schemas.microsoft.com/office/drawing/2014/main" id="{8EFF5777-6C41-41F2-8AFB-56DBB89F472D}"/>
                    </a:ext>
                  </a:extLst>
                </p:cNvPr>
                <p:cNvSpPr/>
                <p:nvPr/>
              </p:nvSpPr>
              <p:spPr>
                <a:xfrm>
                  <a:off x="11373392" y="720438"/>
                  <a:ext cx="15811" cy="63377"/>
                </a:xfrm>
                <a:custGeom>
                  <a:avLst/>
                  <a:gdLst>
                    <a:gd name="connsiteX0" fmla="*/ 0 w 15811"/>
                    <a:gd name="connsiteY0" fmla="*/ 0 h 63377"/>
                    <a:gd name="connsiteX1" fmla="*/ 15812 w 15811"/>
                    <a:gd name="connsiteY1" fmla="*/ 0 h 63377"/>
                    <a:gd name="connsiteX2" fmla="*/ 15812 w 15811"/>
                    <a:gd name="connsiteY2" fmla="*/ 63378 h 63377"/>
                    <a:gd name="connsiteX3" fmla="*/ 0 w 15811"/>
                    <a:gd name="connsiteY3" fmla="*/ 63378 h 63377"/>
                  </a:gdLst>
                  <a:ahLst/>
                  <a:cxnLst>
                    <a:cxn ang="0">
                      <a:pos x="connsiteX0" y="connsiteY0"/>
                    </a:cxn>
                    <a:cxn ang="0">
                      <a:pos x="connsiteX1" y="connsiteY1"/>
                    </a:cxn>
                    <a:cxn ang="0">
                      <a:pos x="connsiteX2" y="connsiteY2"/>
                    </a:cxn>
                    <a:cxn ang="0">
                      <a:pos x="connsiteX3" y="connsiteY3"/>
                    </a:cxn>
                  </a:cxnLst>
                  <a:rect l="l" t="t" r="r" b="b"/>
                  <a:pathLst>
                    <a:path w="15811" h="63377">
                      <a:moveTo>
                        <a:pt x="0" y="0"/>
                      </a:moveTo>
                      <a:lnTo>
                        <a:pt x="15812" y="0"/>
                      </a:lnTo>
                      <a:lnTo>
                        <a:pt x="15812" y="63378"/>
                      </a:lnTo>
                      <a:lnTo>
                        <a:pt x="0" y="6337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3" name="Picture Placeholder 95">
                  <a:extLst>
                    <a:ext uri="{FF2B5EF4-FFF2-40B4-BE49-F238E27FC236}">
                      <a16:creationId xmlns:a16="http://schemas.microsoft.com/office/drawing/2014/main" id="{08115888-F720-46C5-AAC4-8C2CC2C8259F}"/>
                    </a:ext>
                  </a:extLst>
                </p:cNvPr>
                <p:cNvSpPr/>
                <p:nvPr/>
              </p:nvSpPr>
              <p:spPr>
                <a:xfrm>
                  <a:off x="11619418" y="1013243"/>
                  <a:ext cx="62613" cy="15844"/>
                </a:xfrm>
                <a:custGeom>
                  <a:avLst/>
                  <a:gdLst>
                    <a:gd name="connsiteX0" fmla="*/ 0 w 62613"/>
                    <a:gd name="connsiteY0" fmla="*/ 0 h 15844"/>
                    <a:gd name="connsiteX1" fmla="*/ 62614 w 62613"/>
                    <a:gd name="connsiteY1" fmla="*/ 0 h 15844"/>
                    <a:gd name="connsiteX2" fmla="*/ 62614 w 62613"/>
                    <a:gd name="connsiteY2" fmla="*/ 15844 h 15844"/>
                    <a:gd name="connsiteX3" fmla="*/ 0 w 62613"/>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2613" h="15844">
                      <a:moveTo>
                        <a:pt x="0" y="0"/>
                      </a:moveTo>
                      <a:lnTo>
                        <a:pt x="62614" y="0"/>
                      </a:lnTo>
                      <a:lnTo>
                        <a:pt x="62614"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4" name="Picture Placeholder 95">
                  <a:extLst>
                    <a:ext uri="{FF2B5EF4-FFF2-40B4-BE49-F238E27FC236}">
                      <a16:creationId xmlns:a16="http://schemas.microsoft.com/office/drawing/2014/main" id="{F50F6095-1383-4C69-96AA-10AF35A6AF85}"/>
                    </a:ext>
                  </a:extLst>
                </p:cNvPr>
                <p:cNvSpPr/>
                <p:nvPr/>
              </p:nvSpPr>
              <p:spPr>
                <a:xfrm>
                  <a:off x="11405015" y="1043664"/>
                  <a:ext cx="229582" cy="229427"/>
                </a:xfrm>
                <a:custGeom>
                  <a:avLst/>
                  <a:gdLst>
                    <a:gd name="connsiteX0" fmla="*/ 213771 w 229582"/>
                    <a:gd name="connsiteY0" fmla="*/ 634 h 229427"/>
                    <a:gd name="connsiteX1" fmla="*/ 0 w 229582"/>
                    <a:gd name="connsiteY1" fmla="*/ 213583 h 229427"/>
                    <a:gd name="connsiteX2" fmla="*/ 0 w 229582"/>
                    <a:gd name="connsiteY2" fmla="*/ 229428 h 229427"/>
                    <a:gd name="connsiteX3" fmla="*/ 229583 w 229582"/>
                    <a:gd name="connsiteY3" fmla="*/ 0 h 229427"/>
                    <a:gd name="connsiteX4" fmla="*/ 213771 w 229582"/>
                    <a:gd name="connsiteY4" fmla="*/ 0 h 229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582" h="229427">
                      <a:moveTo>
                        <a:pt x="213771" y="634"/>
                      </a:moveTo>
                      <a:cubicBezTo>
                        <a:pt x="203020" y="113446"/>
                        <a:pt x="113210" y="203443"/>
                        <a:pt x="0" y="213583"/>
                      </a:cubicBezTo>
                      <a:lnTo>
                        <a:pt x="0" y="229428"/>
                      </a:lnTo>
                      <a:cubicBezTo>
                        <a:pt x="121432" y="218654"/>
                        <a:pt x="218199" y="121685"/>
                        <a:pt x="229583" y="0"/>
                      </a:cubicBezTo>
                      <a:lnTo>
                        <a:pt x="213771"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5" name="Picture Placeholder 95">
                  <a:extLst>
                    <a:ext uri="{FF2B5EF4-FFF2-40B4-BE49-F238E27FC236}">
                      <a16:creationId xmlns:a16="http://schemas.microsoft.com/office/drawing/2014/main" id="{047F626C-0EC2-4D61-ACE9-91F59A3DD6EE}"/>
                    </a:ext>
                  </a:extLst>
                </p:cNvPr>
                <p:cNvSpPr/>
                <p:nvPr/>
              </p:nvSpPr>
              <p:spPr>
                <a:xfrm>
                  <a:off x="11130527" y="769238"/>
                  <a:ext cx="225788" cy="228160"/>
                </a:xfrm>
                <a:custGeom>
                  <a:avLst/>
                  <a:gdLst>
                    <a:gd name="connsiteX0" fmla="*/ 0 w 225788"/>
                    <a:gd name="connsiteY0" fmla="*/ 228160 h 228160"/>
                    <a:gd name="connsiteX1" fmla="*/ 15812 w 225788"/>
                    <a:gd name="connsiteY1" fmla="*/ 228160 h 228160"/>
                    <a:gd name="connsiteX2" fmla="*/ 225788 w 225788"/>
                    <a:gd name="connsiteY2" fmla="*/ 15844 h 228160"/>
                    <a:gd name="connsiteX3" fmla="*/ 225788 w 225788"/>
                    <a:gd name="connsiteY3" fmla="*/ 0 h 228160"/>
                    <a:gd name="connsiteX4" fmla="*/ 0 w 225788"/>
                    <a:gd name="connsiteY4" fmla="*/ 228160 h 22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8" h="228160">
                      <a:moveTo>
                        <a:pt x="0" y="228160"/>
                      </a:moveTo>
                      <a:lnTo>
                        <a:pt x="15812" y="228160"/>
                      </a:lnTo>
                      <a:cubicBezTo>
                        <a:pt x="26563" y="116615"/>
                        <a:pt x="115108" y="27886"/>
                        <a:pt x="225788" y="15844"/>
                      </a:cubicBezTo>
                      <a:lnTo>
                        <a:pt x="225788" y="0"/>
                      </a:lnTo>
                      <a:cubicBezTo>
                        <a:pt x="106886" y="12042"/>
                        <a:pt x="11384" y="108376"/>
                        <a:pt x="0" y="22816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6" name="Picture Placeholder 95">
                  <a:extLst>
                    <a:ext uri="{FF2B5EF4-FFF2-40B4-BE49-F238E27FC236}">
                      <a16:creationId xmlns:a16="http://schemas.microsoft.com/office/drawing/2014/main" id="{E015ED5D-A1D1-4AD0-A47A-AC7980D27A65}"/>
                    </a:ext>
                  </a:extLst>
                </p:cNvPr>
                <p:cNvSpPr/>
                <p:nvPr/>
              </p:nvSpPr>
              <p:spPr>
                <a:xfrm>
                  <a:off x="11130527" y="1044298"/>
                  <a:ext cx="227685" cy="228793"/>
                </a:xfrm>
                <a:custGeom>
                  <a:avLst/>
                  <a:gdLst>
                    <a:gd name="connsiteX0" fmla="*/ 15812 w 227685"/>
                    <a:gd name="connsiteY0" fmla="*/ 0 h 228793"/>
                    <a:gd name="connsiteX1" fmla="*/ 0 w 227685"/>
                    <a:gd name="connsiteY1" fmla="*/ 0 h 228793"/>
                    <a:gd name="connsiteX2" fmla="*/ 227686 w 227685"/>
                    <a:gd name="connsiteY2" fmla="*/ 228794 h 228793"/>
                    <a:gd name="connsiteX3" fmla="*/ 227686 w 227685"/>
                    <a:gd name="connsiteY3" fmla="*/ 212950 h 228793"/>
                    <a:gd name="connsiteX4" fmla="*/ 15812 w 227685"/>
                    <a:gd name="connsiteY4" fmla="*/ 0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15812" y="0"/>
                      </a:moveTo>
                      <a:lnTo>
                        <a:pt x="0" y="0"/>
                      </a:lnTo>
                      <a:cubicBezTo>
                        <a:pt x="11384" y="120418"/>
                        <a:pt x="106886" y="217386"/>
                        <a:pt x="227686" y="228794"/>
                      </a:cubicBezTo>
                      <a:lnTo>
                        <a:pt x="227686" y="212950"/>
                      </a:lnTo>
                      <a:cubicBezTo>
                        <a:pt x="115740" y="201541"/>
                        <a:pt x="27196" y="111545"/>
                        <a:pt x="15812"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30" name="Group 29">
            <a:extLst>
              <a:ext uri="{FF2B5EF4-FFF2-40B4-BE49-F238E27FC236}">
                <a16:creationId xmlns:a16="http://schemas.microsoft.com/office/drawing/2014/main" id="{757BEE99-1A78-48D7-A13F-01FCF9DBB7E6}"/>
              </a:ext>
            </a:extLst>
          </p:cNvPr>
          <p:cNvGrpSpPr/>
          <p:nvPr/>
        </p:nvGrpSpPr>
        <p:grpSpPr>
          <a:xfrm>
            <a:off x="7122410" y="3520028"/>
            <a:ext cx="758008" cy="1305480"/>
            <a:chOff x="6640471" y="3695593"/>
            <a:chExt cx="758008" cy="1305480"/>
          </a:xfrm>
        </p:grpSpPr>
        <p:cxnSp>
          <p:nvCxnSpPr>
            <p:cNvPr id="119" name="Straight Connector 118">
              <a:extLst>
                <a:ext uri="{FF2B5EF4-FFF2-40B4-BE49-F238E27FC236}">
                  <a16:creationId xmlns:a16="http://schemas.microsoft.com/office/drawing/2014/main" id="{FF399BF3-9474-B847-AB36-6BE4F843D26F}"/>
                </a:ext>
              </a:extLst>
            </p:cNvPr>
            <p:cNvCxnSpPr>
              <a:cxnSpLocks/>
            </p:cNvCxnSpPr>
            <p:nvPr/>
          </p:nvCxnSpPr>
          <p:spPr bwMode="gray">
            <a:xfrm rot="10800000" flipV="1">
              <a:off x="7020173" y="369559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0" name="Oval 119">
              <a:extLst>
                <a:ext uri="{FF2B5EF4-FFF2-40B4-BE49-F238E27FC236}">
                  <a16:creationId xmlns:a16="http://schemas.microsoft.com/office/drawing/2014/main" id="{50A6BF1B-1C4A-884E-8E7C-EC5DB6885206}"/>
                </a:ext>
              </a:extLst>
            </p:cNvPr>
            <p:cNvSpPr/>
            <p:nvPr/>
          </p:nvSpPr>
          <p:spPr>
            <a:xfrm rot="10800000">
              <a:off x="6780113" y="406125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32" name="Rounded Rectangle 31">
              <a:extLst>
                <a:ext uri="{FF2B5EF4-FFF2-40B4-BE49-F238E27FC236}">
                  <a16:creationId xmlns:a16="http://schemas.microsoft.com/office/drawing/2014/main" id="{58E35201-52F3-374C-8129-5B38B9BFE232}"/>
                </a:ext>
              </a:extLst>
            </p:cNvPr>
            <p:cNvSpPr/>
            <p:nvPr/>
          </p:nvSpPr>
          <p:spPr>
            <a:xfrm>
              <a:off x="6640471" y="4622069"/>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Behavioral</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Analysis</a:t>
              </a:r>
            </a:p>
          </p:txBody>
        </p:sp>
        <p:grpSp>
          <p:nvGrpSpPr>
            <p:cNvPr id="395" name="Picture Placeholder 81" descr="Defense Secure&#10;">
              <a:extLst>
                <a:ext uri="{FF2B5EF4-FFF2-40B4-BE49-F238E27FC236}">
                  <a16:creationId xmlns:a16="http://schemas.microsoft.com/office/drawing/2014/main" id="{A83897B1-A31E-4CE8-A13B-E6CE2D01079B}"/>
                </a:ext>
              </a:extLst>
            </p:cNvPr>
            <p:cNvGrpSpPr>
              <a:grpSpLocks noChangeAspect="1"/>
            </p:cNvGrpSpPr>
            <p:nvPr/>
          </p:nvGrpSpPr>
          <p:grpSpPr>
            <a:xfrm>
              <a:off x="6907343" y="4179228"/>
              <a:ext cx="232985" cy="274320"/>
              <a:chOff x="9808294" y="719639"/>
              <a:chExt cx="509762" cy="600204"/>
            </a:xfrm>
            <a:solidFill>
              <a:schemeClr val="tx1"/>
            </a:solidFill>
          </p:grpSpPr>
          <p:sp>
            <p:nvSpPr>
              <p:cNvPr id="396" name="Picture Placeholder 81">
                <a:extLst>
                  <a:ext uri="{FF2B5EF4-FFF2-40B4-BE49-F238E27FC236}">
                    <a16:creationId xmlns:a16="http://schemas.microsoft.com/office/drawing/2014/main" id="{18E4D0A4-634C-4ADA-BDBC-C48A46F8CEE0}"/>
                  </a:ext>
                </a:extLst>
              </p:cNvPr>
              <p:cNvSpPr/>
              <p:nvPr/>
            </p:nvSpPr>
            <p:spPr>
              <a:xfrm>
                <a:off x="9970836" y="882814"/>
                <a:ext cx="184678" cy="274487"/>
              </a:xfrm>
              <a:custGeom>
                <a:avLst/>
                <a:gdLst>
                  <a:gd name="connsiteX0" fmla="*/ 146731 w 184678"/>
                  <a:gd name="connsiteY0" fmla="*/ 107518 h 274487"/>
                  <a:gd name="connsiteX1" fmla="*/ 146731 w 184678"/>
                  <a:gd name="connsiteY1" fmla="*/ 55024 h 274487"/>
                  <a:gd name="connsiteX2" fmla="*/ 96766 w 184678"/>
                  <a:gd name="connsiteY2" fmla="*/ 0 h 274487"/>
                  <a:gd name="connsiteX3" fmla="*/ 88544 w 184678"/>
                  <a:gd name="connsiteY3" fmla="*/ 0 h 274487"/>
                  <a:gd name="connsiteX4" fmla="*/ 38580 w 184678"/>
                  <a:gd name="connsiteY4" fmla="*/ 55024 h 274487"/>
                  <a:gd name="connsiteX5" fmla="*/ 38580 w 184678"/>
                  <a:gd name="connsiteY5" fmla="*/ 107518 h 274487"/>
                  <a:gd name="connsiteX6" fmla="*/ 0 w 184678"/>
                  <a:gd name="connsiteY6" fmla="*/ 182148 h 274487"/>
                  <a:gd name="connsiteX7" fmla="*/ 92339 w 184678"/>
                  <a:gd name="connsiteY7" fmla="*/ 274488 h 274487"/>
                  <a:gd name="connsiteX8" fmla="*/ 184678 w 184678"/>
                  <a:gd name="connsiteY8" fmla="*/ 182148 h 274487"/>
                  <a:gd name="connsiteX9" fmla="*/ 146731 w 184678"/>
                  <a:gd name="connsiteY9" fmla="*/ 107518 h 274487"/>
                  <a:gd name="connsiteX10" fmla="*/ 53759 w 184678"/>
                  <a:gd name="connsiteY10" fmla="*/ 55024 h 274487"/>
                  <a:gd name="connsiteX11" fmla="*/ 87912 w 184678"/>
                  <a:gd name="connsiteY11" fmla="*/ 15812 h 274487"/>
                  <a:gd name="connsiteX12" fmla="*/ 96134 w 184678"/>
                  <a:gd name="connsiteY12" fmla="*/ 15812 h 274487"/>
                  <a:gd name="connsiteX13" fmla="*/ 130287 w 184678"/>
                  <a:gd name="connsiteY13" fmla="*/ 55024 h 274487"/>
                  <a:gd name="connsiteX14" fmla="*/ 130287 w 184678"/>
                  <a:gd name="connsiteY14" fmla="*/ 98031 h 274487"/>
                  <a:gd name="connsiteX15" fmla="*/ 91707 w 184678"/>
                  <a:gd name="connsiteY15" fmla="*/ 89809 h 274487"/>
                  <a:gd name="connsiteX16" fmla="*/ 53127 w 184678"/>
                  <a:gd name="connsiteY16" fmla="*/ 98031 h 274487"/>
                  <a:gd name="connsiteX17" fmla="*/ 53127 w 184678"/>
                  <a:gd name="connsiteY17" fmla="*/ 55024 h 274487"/>
                  <a:gd name="connsiteX18" fmla="*/ 92339 w 184678"/>
                  <a:gd name="connsiteY18" fmla="*/ 258676 h 274487"/>
                  <a:gd name="connsiteX19" fmla="*/ 15812 w 184678"/>
                  <a:gd name="connsiteY19" fmla="*/ 182148 h 274487"/>
                  <a:gd name="connsiteX20" fmla="*/ 92339 w 184678"/>
                  <a:gd name="connsiteY20" fmla="*/ 105621 h 274487"/>
                  <a:gd name="connsiteX21" fmla="*/ 168867 w 184678"/>
                  <a:gd name="connsiteY21" fmla="*/ 182148 h 274487"/>
                  <a:gd name="connsiteX22" fmla="*/ 92339 w 184678"/>
                  <a:gd name="connsiteY22" fmla="*/ 258676 h 27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4678" h="274487">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4678" y="151158"/>
                      <a:pt x="169499" y="123962"/>
                      <a:pt x="146731" y="107518"/>
                    </a:cubicBezTo>
                    <a:close/>
                    <a:moveTo>
                      <a:pt x="53759" y="55024"/>
                    </a:moveTo>
                    <a:cubicBezTo>
                      <a:pt x="53759" y="33520"/>
                      <a:pt x="68938" y="15812"/>
                      <a:pt x="87912" y="15812"/>
                    </a:cubicBezTo>
                    <a:lnTo>
                      <a:pt x="96134" y="15812"/>
                    </a:lnTo>
                    <a:cubicBezTo>
                      <a:pt x="115108" y="15812"/>
                      <a:pt x="130287" y="33520"/>
                      <a:pt x="130287" y="55024"/>
                    </a:cubicBezTo>
                    <a:lnTo>
                      <a:pt x="130287" y="98031"/>
                    </a:lnTo>
                    <a:cubicBezTo>
                      <a:pt x="118902" y="92972"/>
                      <a:pt x="105621" y="89809"/>
                      <a:pt x="91707" y="89809"/>
                    </a:cubicBezTo>
                    <a:cubicBezTo>
                      <a:pt x="77793" y="89809"/>
                      <a:pt x="65143" y="92972"/>
                      <a:pt x="53127" y="98031"/>
                    </a:cubicBezTo>
                    <a:lnTo>
                      <a:pt x="53127" y="55024"/>
                    </a:lnTo>
                    <a:close/>
                    <a:moveTo>
                      <a:pt x="92339" y="258676"/>
                    </a:moveTo>
                    <a:cubicBezTo>
                      <a:pt x="49964" y="258676"/>
                      <a:pt x="15812" y="224523"/>
                      <a:pt x="15812" y="182148"/>
                    </a:cubicBezTo>
                    <a:cubicBezTo>
                      <a:pt x="15812" y="139774"/>
                      <a:pt x="49964" y="105621"/>
                      <a:pt x="92339" y="105621"/>
                    </a:cubicBezTo>
                    <a:cubicBezTo>
                      <a:pt x="134714" y="105621"/>
                      <a:pt x="168867" y="139774"/>
                      <a:pt x="168867" y="182148"/>
                    </a:cubicBezTo>
                    <a:cubicBezTo>
                      <a:pt x="168867" y="224523"/>
                      <a:pt x="134714" y="258676"/>
                      <a:pt x="92339" y="25867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7" name="Picture Placeholder 81">
                <a:extLst>
                  <a:ext uri="{FF2B5EF4-FFF2-40B4-BE49-F238E27FC236}">
                    <a16:creationId xmlns:a16="http://schemas.microsoft.com/office/drawing/2014/main" id="{C590845A-AA66-4E81-8DA5-326590A79632}"/>
                  </a:ext>
                </a:extLst>
              </p:cNvPr>
              <p:cNvSpPr/>
              <p:nvPr/>
            </p:nvSpPr>
            <p:spPr>
              <a:xfrm>
                <a:off x="10047996" y="1040929"/>
                <a:ext cx="29765" cy="48066"/>
              </a:xfrm>
              <a:custGeom>
                <a:avLst/>
                <a:gdLst>
                  <a:gd name="connsiteX0" fmla="*/ 15179 w 29765"/>
                  <a:gd name="connsiteY0" fmla="*/ 0 h 48066"/>
                  <a:gd name="connsiteX1" fmla="*/ 0 w 29765"/>
                  <a:gd name="connsiteY1" fmla="*/ 15179 h 48066"/>
                  <a:gd name="connsiteX2" fmla="*/ 7590 w 29765"/>
                  <a:gd name="connsiteY2" fmla="*/ 28461 h 48066"/>
                  <a:gd name="connsiteX3" fmla="*/ 7590 w 29765"/>
                  <a:gd name="connsiteY3" fmla="*/ 44272 h 48066"/>
                  <a:gd name="connsiteX4" fmla="*/ 11384 w 29765"/>
                  <a:gd name="connsiteY4" fmla="*/ 48067 h 48066"/>
                  <a:gd name="connsiteX5" fmla="*/ 18341 w 29765"/>
                  <a:gd name="connsiteY5" fmla="*/ 48067 h 48066"/>
                  <a:gd name="connsiteX6" fmla="*/ 22136 w 29765"/>
                  <a:gd name="connsiteY6" fmla="*/ 44272 h 48066"/>
                  <a:gd name="connsiteX7" fmla="*/ 22136 w 29765"/>
                  <a:gd name="connsiteY7" fmla="*/ 28461 h 48066"/>
                  <a:gd name="connsiteX8" fmla="*/ 29726 w 29765"/>
                  <a:gd name="connsiteY8" fmla="*/ 15179 h 48066"/>
                  <a:gd name="connsiteX9" fmla="*/ 15179 w 29765"/>
                  <a:gd name="connsiteY9" fmla="*/ 0 h 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65" h="48066">
                    <a:moveTo>
                      <a:pt x="15179" y="0"/>
                    </a:moveTo>
                    <a:cubicBezTo>
                      <a:pt x="6957" y="0"/>
                      <a:pt x="0" y="6957"/>
                      <a:pt x="0" y="15179"/>
                    </a:cubicBezTo>
                    <a:cubicBezTo>
                      <a:pt x="0" y="20871"/>
                      <a:pt x="3162" y="25931"/>
                      <a:pt x="7590" y="28461"/>
                    </a:cubicBezTo>
                    <a:lnTo>
                      <a:pt x="7590" y="44272"/>
                    </a:lnTo>
                    <a:cubicBezTo>
                      <a:pt x="7590" y="46802"/>
                      <a:pt x="9487" y="48067"/>
                      <a:pt x="11384" y="48067"/>
                    </a:cubicBezTo>
                    <a:lnTo>
                      <a:pt x="18341" y="48067"/>
                    </a:lnTo>
                    <a:cubicBezTo>
                      <a:pt x="20871" y="48067"/>
                      <a:pt x="22136" y="46170"/>
                      <a:pt x="22136" y="44272"/>
                    </a:cubicBezTo>
                    <a:lnTo>
                      <a:pt x="22136" y="28461"/>
                    </a:lnTo>
                    <a:cubicBezTo>
                      <a:pt x="26563" y="25931"/>
                      <a:pt x="29726" y="20871"/>
                      <a:pt x="29726" y="15179"/>
                    </a:cubicBezTo>
                    <a:cubicBezTo>
                      <a:pt x="30358" y="6957"/>
                      <a:pt x="23401" y="0"/>
                      <a:pt x="15179"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8" name="Picture Placeholder 81">
                <a:extLst>
                  <a:ext uri="{FF2B5EF4-FFF2-40B4-BE49-F238E27FC236}">
                    <a16:creationId xmlns:a16="http://schemas.microsoft.com/office/drawing/2014/main" id="{01C906C8-55AC-4447-B030-17038DD9382D}"/>
                  </a:ext>
                </a:extLst>
              </p:cNvPr>
              <p:cNvSpPr/>
              <p:nvPr/>
            </p:nvSpPr>
            <p:spPr>
              <a:xfrm>
                <a:off x="9808294" y="719639"/>
                <a:ext cx="509762" cy="600204"/>
              </a:xfrm>
              <a:custGeom>
                <a:avLst/>
                <a:gdLst>
                  <a:gd name="connsiteX0" fmla="*/ 254881 w 509762"/>
                  <a:gd name="connsiteY0" fmla="*/ 600205 h 600204"/>
                  <a:gd name="connsiteX1" fmla="*/ 246027 w 509762"/>
                  <a:gd name="connsiteY1" fmla="*/ 597042 h 600204"/>
                  <a:gd name="connsiteX2" fmla="*/ 0 w 509762"/>
                  <a:gd name="connsiteY2" fmla="*/ 264368 h 600204"/>
                  <a:gd name="connsiteX3" fmla="*/ 0 w 509762"/>
                  <a:gd name="connsiteY3" fmla="*/ 111313 h 600204"/>
                  <a:gd name="connsiteX4" fmla="*/ 18974 w 509762"/>
                  <a:gd name="connsiteY4" fmla="*/ 106253 h 600204"/>
                  <a:gd name="connsiteX5" fmla="*/ 134714 w 509762"/>
                  <a:gd name="connsiteY5" fmla="*/ 65143 h 600204"/>
                  <a:gd name="connsiteX6" fmla="*/ 240967 w 509762"/>
                  <a:gd name="connsiteY6" fmla="*/ 8854 h 600204"/>
                  <a:gd name="connsiteX7" fmla="*/ 254881 w 509762"/>
                  <a:gd name="connsiteY7" fmla="*/ 0 h 600204"/>
                  <a:gd name="connsiteX8" fmla="*/ 268796 w 509762"/>
                  <a:gd name="connsiteY8" fmla="*/ 8854 h 600204"/>
                  <a:gd name="connsiteX9" fmla="*/ 375049 w 509762"/>
                  <a:gd name="connsiteY9" fmla="*/ 65143 h 600204"/>
                  <a:gd name="connsiteX10" fmla="*/ 490789 w 509762"/>
                  <a:gd name="connsiteY10" fmla="*/ 106253 h 600204"/>
                  <a:gd name="connsiteX11" fmla="*/ 509763 w 509762"/>
                  <a:gd name="connsiteY11" fmla="*/ 111313 h 600204"/>
                  <a:gd name="connsiteX12" fmla="*/ 509763 w 509762"/>
                  <a:gd name="connsiteY12" fmla="*/ 264368 h 600204"/>
                  <a:gd name="connsiteX13" fmla="*/ 263103 w 509762"/>
                  <a:gd name="connsiteY13" fmla="*/ 597042 h 600204"/>
                  <a:gd name="connsiteX14" fmla="*/ 263103 w 509762"/>
                  <a:gd name="connsiteY14" fmla="*/ 597675 h 600204"/>
                  <a:gd name="connsiteX15" fmla="*/ 254881 w 509762"/>
                  <a:gd name="connsiteY15" fmla="*/ 600205 h 600204"/>
                  <a:gd name="connsiteX16" fmla="*/ 15812 w 509762"/>
                  <a:gd name="connsiteY16" fmla="*/ 123330 h 600204"/>
                  <a:gd name="connsiteX17" fmla="*/ 15812 w 509762"/>
                  <a:gd name="connsiteY17" fmla="*/ 264368 h 600204"/>
                  <a:gd name="connsiteX18" fmla="*/ 251719 w 509762"/>
                  <a:gd name="connsiteY18" fmla="*/ 582496 h 600204"/>
                  <a:gd name="connsiteX19" fmla="*/ 254881 w 509762"/>
                  <a:gd name="connsiteY19" fmla="*/ 583761 h 600204"/>
                  <a:gd name="connsiteX20" fmla="*/ 259941 w 509762"/>
                  <a:gd name="connsiteY20" fmla="*/ 581863 h 600204"/>
                  <a:gd name="connsiteX21" fmla="*/ 493951 w 509762"/>
                  <a:gd name="connsiteY21" fmla="*/ 264368 h 600204"/>
                  <a:gd name="connsiteX22" fmla="*/ 493951 w 509762"/>
                  <a:gd name="connsiteY22" fmla="*/ 123330 h 600204"/>
                  <a:gd name="connsiteX23" fmla="*/ 486362 w 509762"/>
                  <a:gd name="connsiteY23" fmla="*/ 121432 h 600204"/>
                  <a:gd name="connsiteX24" fmla="*/ 368724 w 509762"/>
                  <a:gd name="connsiteY24" fmla="*/ 79690 h 600204"/>
                  <a:gd name="connsiteX25" fmla="*/ 260574 w 509762"/>
                  <a:gd name="connsiteY25" fmla="*/ 22769 h 600204"/>
                  <a:gd name="connsiteX26" fmla="*/ 254881 w 509762"/>
                  <a:gd name="connsiteY26" fmla="*/ 18974 h 600204"/>
                  <a:gd name="connsiteX27" fmla="*/ 249822 w 509762"/>
                  <a:gd name="connsiteY27" fmla="*/ 22136 h 600204"/>
                  <a:gd name="connsiteX28" fmla="*/ 141671 w 509762"/>
                  <a:gd name="connsiteY28" fmla="*/ 79690 h 600204"/>
                  <a:gd name="connsiteX29" fmla="*/ 23401 w 509762"/>
                  <a:gd name="connsiteY29" fmla="*/ 121432 h 600204"/>
                  <a:gd name="connsiteX30" fmla="*/ 15812 w 509762"/>
                  <a:gd name="connsiteY30" fmla="*/ 123330 h 60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09762" h="600204">
                    <a:moveTo>
                      <a:pt x="254881" y="600205"/>
                    </a:moveTo>
                    <a:lnTo>
                      <a:pt x="246027" y="597042"/>
                    </a:lnTo>
                    <a:cubicBezTo>
                      <a:pt x="235908" y="593248"/>
                      <a:pt x="0" y="500908"/>
                      <a:pt x="0" y="264368"/>
                    </a:cubicBezTo>
                    <a:lnTo>
                      <a:pt x="0" y="111313"/>
                    </a:lnTo>
                    <a:lnTo>
                      <a:pt x="18974" y="106253"/>
                    </a:lnTo>
                    <a:cubicBezTo>
                      <a:pt x="58186" y="95501"/>
                      <a:pt x="97399" y="82220"/>
                      <a:pt x="134714" y="65143"/>
                    </a:cubicBezTo>
                    <a:cubicBezTo>
                      <a:pt x="171397" y="49332"/>
                      <a:pt x="207447" y="30358"/>
                      <a:pt x="240967" y="8854"/>
                    </a:cubicBezTo>
                    <a:lnTo>
                      <a:pt x="254881" y="0"/>
                    </a:lnTo>
                    <a:lnTo>
                      <a:pt x="268796" y="8854"/>
                    </a:lnTo>
                    <a:cubicBezTo>
                      <a:pt x="302948" y="30358"/>
                      <a:pt x="338366" y="49332"/>
                      <a:pt x="375049" y="65143"/>
                    </a:cubicBezTo>
                    <a:cubicBezTo>
                      <a:pt x="412364" y="81587"/>
                      <a:pt x="450944" y="95501"/>
                      <a:pt x="490789" y="106253"/>
                    </a:cubicBezTo>
                    <a:lnTo>
                      <a:pt x="509763" y="111313"/>
                    </a:lnTo>
                    <a:lnTo>
                      <a:pt x="509763" y="264368"/>
                    </a:lnTo>
                    <a:cubicBezTo>
                      <a:pt x="509763" y="496481"/>
                      <a:pt x="289667" y="587555"/>
                      <a:pt x="263103" y="597042"/>
                    </a:cubicBezTo>
                    <a:lnTo>
                      <a:pt x="263103" y="597675"/>
                    </a:lnTo>
                    <a:lnTo>
                      <a:pt x="254881" y="600205"/>
                    </a:lnTo>
                    <a:close/>
                    <a:moveTo>
                      <a:pt x="15812" y="123330"/>
                    </a:moveTo>
                    <a:lnTo>
                      <a:pt x="15812" y="264368"/>
                    </a:lnTo>
                    <a:cubicBezTo>
                      <a:pt x="15812" y="490789"/>
                      <a:pt x="242232" y="578701"/>
                      <a:pt x="251719" y="582496"/>
                    </a:cubicBezTo>
                    <a:lnTo>
                      <a:pt x="254881" y="583761"/>
                    </a:lnTo>
                    <a:lnTo>
                      <a:pt x="259941" y="581863"/>
                    </a:lnTo>
                    <a:cubicBezTo>
                      <a:pt x="273855" y="576804"/>
                      <a:pt x="493951" y="488259"/>
                      <a:pt x="493951" y="264368"/>
                    </a:cubicBezTo>
                    <a:lnTo>
                      <a:pt x="493951" y="123330"/>
                    </a:lnTo>
                    <a:lnTo>
                      <a:pt x="486362" y="121432"/>
                    </a:lnTo>
                    <a:cubicBezTo>
                      <a:pt x="446517" y="110681"/>
                      <a:pt x="406672" y="96766"/>
                      <a:pt x="368724" y="79690"/>
                    </a:cubicBezTo>
                    <a:cubicBezTo>
                      <a:pt x="331409" y="63246"/>
                      <a:pt x="294726" y="44272"/>
                      <a:pt x="260574" y="22769"/>
                    </a:cubicBezTo>
                    <a:lnTo>
                      <a:pt x="254881" y="18974"/>
                    </a:lnTo>
                    <a:lnTo>
                      <a:pt x="249822" y="22136"/>
                    </a:lnTo>
                    <a:cubicBezTo>
                      <a:pt x="215036" y="43640"/>
                      <a:pt x="178986" y="63246"/>
                      <a:pt x="141671" y="79690"/>
                    </a:cubicBezTo>
                    <a:cubicBezTo>
                      <a:pt x="103723" y="96766"/>
                      <a:pt x="63878" y="110681"/>
                      <a:pt x="23401" y="121432"/>
                    </a:cubicBezTo>
                    <a:lnTo>
                      <a:pt x="15812" y="12333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21" name="Group 20">
            <a:extLst>
              <a:ext uri="{FF2B5EF4-FFF2-40B4-BE49-F238E27FC236}">
                <a16:creationId xmlns:a16="http://schemas.microsoft.com/office/drawing/2014/main" id="{5E909D67-9C74-4BB4-80E1-44E051E8AFF7}"/>
              </a:ext>
            </a:extLst>
          </p:cNvPr>
          <p:cNvGrpSpPr/>
          <p:nvPr/>
        </p:nvGrpSpPr>
        <p:grpSpPr>
          <a:xfrm>
            <a:off x="579438" y="3521596"/>
            <a:ext cx="758008" cy="1305480"/>
            <a:chOff x="579438" y="3697161"/>
            <a:chExt cx="758008" cy="1305480"/>
          </a:xfrm>
        </p:grpSpPr>
        <p:cxnSp>
          <p:nvCxnSpPr>
            <p:cNvPr id="147" name="Straight Connector 146">
              <a:extLst>
                <a:ext uri="{FF2B5EF4-FFF2-40B4-BE49-F238E27FC236}">
                  <a16:creationId xmlns:a16="http://schemas.microsoft.com/office/drawing/2014/main" id="{2EF78CCA-E921-4E98-BFF5-F0823D9B8A90}"/>
                </a:ext>
              </a:extLst>
            </p:cNvPr>
            <p:cNvCxnSpPr>
              <a:cxnSpLocks/>
            </p:cNvCxnSpPr>
            <p:nvPr/>
          </p:nvCxnSpPr>
          <p:spPr bwMode="gray">
            <a:xfrm rot="10800000" flipV="1">
              <a:off x="959140" y="3697161"/>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621AF12C-7757-417F-962A-CF5986084FB3}"/>
                </a:ext>
              </a:extLst>
            </p:cNvPr>
            <p:cNvSpPr/>
            <p:nvPr/>
          </p:nvSpPr>
          <p:spPr>
            <a:xfrm rot="10800000">
              <a:off x="719080" y="4062825"/>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51" name="Rounded Rectangle 31">
              <a:extLst>
                <a:ext uri="{FF2B5EF4-FFF2-40B4-BE49-F238E27FC236}">
                  <a16:creationId xmlns:a16="http://schemas.microsoft.com/office/drawing/2014/main" id="{D6F68619-4FDA-4A83-B881-66499A7B1598}"/>
                </a:ext>
              </a:extLst>
            </p:cNvPr>
            <p:cNvSpPr/>
            <p:nvPr/>
          </p:nvSpPr>
          <p:spPr>
            <a:xfrm>
              <a:off x="579438" y="4623637"/>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Trusted</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Computing</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Base</a:t>
              </a:r>
            </a:p>
          </p:txBody>
        </p:sp>
        <p:grpSp>
          <p:nvGrpSpPr>
            <p:cNvPr id="399" name="Picture Placeholder 103" descr="Reliability&#10;">
              <a:extLst>
                <a:ext uri="{FF2B5EF4-FFF2-40B4-BE49-F238E27FC236}">
                  <a16:creationId xmlns:a16="http://schemas.microsoft.com/office/drawing/2014/main" id="{5EA58FE7-1AEC-4267-B1A0-5F4FB1FE441B}"/>
                </a:ext>
              </a:extLst>
            </p:cNvPr>
            <p:cNvGrpSpPr>
              <a:grpSpLocks noChangeAspect="1"/>
            </p:cNvGrpSpPr>
            <p:nvPr/>
          </p:nvGrpSpPr>
          <p:grpSpPr>
            <a:xfrm>
              <a:off x="846355" y="4118271"/>
              <a:ext cx="227829" cy="365761"/>
              <a:chOff x="3280734" y="4422087"/>
              <a:chExt cx="373862" cy="600205"/>
            </a:xfrm>
            <a:solidFill>
              <a:schemeClr val="tx1"/>
            </a:solidFill>
          </p:grpSpPr>
          <p:grpSp>
            <p:nvGrpSpPr>
              <p:cNvPr id="400" name="Picture Placeholder 103">
                <a:extLst>
                  <a:ext uri="{FF2B5EF4-FFF2-40B4-BE49-F238E27FC236}">
                    <a16:creationId xmlns:a16="http://schemas.microsoft.com/office/drawing/2014/main" id="{75879E17-9761-4D00-948B-0CE8344331B1}"/>
                  </a:ext>
                </a:extLst>
              </p:cNvPr>
              <p:cNvGrpSpPr/>
              <p:nvPr/>
            </p:nvGrpSpPr>
            <p:grpSpPr>
              <a:xfrm>
                <a:off x="3280734" y="4771838"/>
                <a:ext cx="373862" cy="250454"/>
                <a:chOff x="3280734" y="4771838"/>
                <a:chExt cx="373862" cy="250454"/>
              </a:xfrm>
              <a:grpFill/>
            </p:grpSpPr>
            <p:sp>
              <p:nvSpPr>
                <p:cNvPr id="403" name="Picture Placeholder 103">
                  <a:extLst>
                    <a:ext uri="{FF2B5EF4-FFF2-40B4-BE49-F238E27FC236}">
                      <a16:creationId xmlns:a16="http://schemas.microsoft.com/office/drawing/2014/main" id="{9F7438B3-BA9F-46BC-86B3-06E094B7F793}"/>
                    </a:ext>
                  </a:extLst>
                </p:cNvPr>
                <p:cNvSpPr/>
                <p:nvPr/>
              </p:nvSpPr>
              <p:spPr>
                <a:xfrm>
                  <a:off x="3280734" y="4774368"/>
                  <a:ext cx="178234" cy="247924"/>
                </a:xfrm>
                <a:custGeom>
                  <a:avLst/>
                  <a:gdLst>
                    <a:gd name="connsiteX0" fmla="*/ 122578 w 178234"/>
                    <a:gd name="connsiteY0" fmla="*/ 220729 h 247924"/>
                    <a:gd name="connsiteX1" fmla="*/ 101707 w 178234"/>
                    <a:gd name="connsiteY1" fmla="*/ 168867 h 247924"/>
                    <a:gd name="connsiteX2" fmla="*/ 97280 w 178234"/>
                    <a:gd name="connsiteY2" fmla="*/ 164440 h 247924"/>
                    <a:gd name="connsiteX3" fmla="*/ 94750 w 178234"/>
                    <a:gd name="connsiteY3" fmla="*/ 163807 h 247924"/>
                    <a:gd name="connsiteX4" fmla="*/ 90955 w 178234"/>
                    <a:gd name="connsiteY4" fmla="*/ 164440 h 247924"/>
                    <a:gd name="connsiteX5" fmla="*/ 28341 w 178234"/>
                    <a:gd name="connsiteY5" fmla="*/ 196695 h 247924"/>
                    <a:gd name="connsiteX6" fmla="*/ 101707 w 178234"/>
                    <a:gd name="connsiteY6" fmla="*/ 0 h 247924"/>
                    <a:gd name="connsiteX7" fmla="*/ 93485 w 178234"/>
                    <a:gd name="connsiteY7" fmla="*/ 1265 h 247924"/>
                    <a:gd name="connsiteX8" fmla="*/ 85263 w 178234"/>
                    <a:gd name="connsiteY8" fmla="*/ 2530 h 247924"/>
                    <a:gd name="connsiteX9" fmla="*/ 1146 w 178234"/>
                    <a:gd name="connsiteY9" fmla="*/ 212507 h 247924"/>
                    <a:gd name="connsiteX10" fmla="*/ 1778 w 178234"/>
                    <a:gd name="connsiteY10" fmla="*/ 221993 h 247924"/>
                    <a:gd name="connsiteX11" fmla="*/ 11265 w 178234"/>
                    <a:gd name="connsiteY11" fmla="*/ 223891 h 247924"/>
                    <a:gd name="connsiteX12" fmla="*/ 90323 w 178234"/>
                    <a:gd name="connsiteY12" fmla="*/ 183413 h 247924"/>
                    <a:gd name="connsiteX13" fmla="*/ 113091 w 178234"/>
                    <a:gd name="connsiteY13" fmla="*/ 242865 h 247924"/>
                    <a:gd name="connsiteX14" fmla="*/ 120048 w 178234"/>
                    <a:gd name="connsiteY14" fmla="*/ 247924 h 247924"/>
                    <a:gd name="connsiteX15" fmla="*/ 120681 w 178234"/>
                    <a:gd name="connsiteY15" fmla="*/ 247924 h 247924"/>
                    <a:gd name="connsiteX16" fmla="*/ 127638 w 178234"/>
                    <a:gd name="connsiteY16" fmla="*/ 244130 h 247924"/>
                    <a:gd name="connsiteX17" fmla="*/ 178234 w 178234"/>
                    <a:gd name="connsiteY17" fmla="*/ 133449 h 247924"/>
                    <a:gd name="connsiteX18" fmla="*/ 170012 w 178234"/>
                    <a:gd name="connsiteY18" fmla="*/ 107518 h 247924"/>
                    <a:gd name="connsiteX19" fmla="*/ 122578 w 178234"/>
                    <a:gd name="connsiteY19" fmla="*/ 220729 h 24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8234" h="247924">
                      <a:moveTo>
                        <a:pt x="122578" y="220729"/>
                      </a:moveTo>
                      <a:cubicBezTo>
                        <a:pt x="116253" y="203652"/>
                        <a:pt x="109296" y="185943"/>
                        <a:pt x="101707" y="168867"/>
                      </a:cubicBezTo>
                      <a:cubicBezTo>
                        <a:pt x="101074" y="166969"/>
                        <a:pt x="99177" y="165072"/>
                        <a:pt x="97280" y="164440"/>
                      </a:cubicBezTo>
                      <a:cubicBezTo>
                        <a:pt x="96647" y="164440"/>
                        <a:pt x="95382" y="163807"/>
                        <a:pt x="94750" y="163807"/>
                      </a:cubicBezTo>
                      <a:cubicBezTo>
                        <a:pt x="93485" y="163807"/>
                        <a:pt x="92220" y="163807"/>
                        <a:pt x="90955" y="164440"/>
                      </a:cubicBezTo>
                      <a:cubicBezTo>
                        <a:pt x="70084" y="175191"/>
                        <a:pt x="49213" y="185943"/>
                        <a:pt x="28341" y="196695"/>
                      </a:cubicBezTo>
                      <a:cubicBezTo>
                        <a:pt x="63759" y="134082"/>
                        <a:pt x="88425" y="67041"/>
                        <a:pt x="101707" y="0"/>
                      </a:cubicBezTo>
                      <a:cubicBezTo>
                        <a:pt x="99177" y="0"/>
                        <a:pt x="96015" y="632"/>
                        <a:pt x="93485" y="1265"/>
                      </a:cubicBezTo>
                      <a:cubicBezTo>
                        <a:pt x="90955" y="1897"/>
                        <a:pt x="87793" y="2530"/>
                        <a:pt x="85263" y="2530"/>
                      </a:cubicBezTo>
                      <a:cubicBezTo>
                        <a:pt x="70084" y="73998"/>
                        <a:pt x="41623" y="145466"/>
                        <a:pt x="1146" y="212507"/>
                      </a:cubicBezTo>
                      <a:cubicBezTo>
                        <a:pt x="-752" y="215669"/>
                        <a:pt x="-119" y="219464"/>
                        <a:pt x="1778" y="221993"/>
                      </a:cubicBezTo>
                      <a:cubicBezTo>
                        <a:pt x="4308" y="224523"/>
                        <a:pt x="8103" y="225156"/>
                        <a:pt x="11265" y="223891"/>
                      </a:cubicBezTo>
                      <a:cubicBezTo>
                        <a:pt x="37828" y="210609"/>
                        <a:pt x="64392" y="197328"/>
                        <a:pt x="90323" y="183413"/>
                      </a:cubicBezTo>
                      <a:cubicBezTo>
                        <a:pt x="99177" y="203020"/>
                        <a:pt x="106766" y="223258"/>
                        <a:pt x="113091" y="242865"/>
                      </a:cubicBezTo>
                      <a:cubicBezTo>
                        <a:pt x="114356" y="246027"/>
                        <a:pt x="116886" y="247924"/>
                        <a:pt x="120048" y="247924"/>
                      </a:cubicBezTo>
                      <a:cubicBezTo>
                        <a:pt x="120048" y="247924"/>
                        <a:pt x="120681" y="247924"/>
                        <a:pt x="120681" y="247924"/>
                      </a:cubicBezTo>
                      <a:cubicBezTo>
                        <a:pt x="123210" y="247924"/>
                        <a:pt x="126373" y="246659"/>
                        <a:pt x="127638" y="244130"/>
                      </a:cubicBezTo>
                      <a:cubicBezTo>
                        <a:pt x="147876" y="208712"/>
                        <a:pt x="164953" y="171397"/>
                        <a:pt x="178234" y="133449"/>
                      </a:cubicBezTo>
                      <a:cubicBezTo>
                        <a:pt x="175705" y="125227"/>
                        <a:pt x="172542" y="116373"/>
                        <a:pt x="170012" y="107518"/>
                      </a:cubicBezTo>
                      <a:cubicBezTo>
                        <a:pt x="157996" y="146098"/>
                        <a:pt x="142184" y="184046"/>
                        <a:pt x="122578" y="22072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4" name="Picture Placeholder 103">
                  <a:extLst>
                    <a:ext uri="{FF2B5EF4-FFF2-40B4-BE49-F238E27FC236}">
                      <a16:creationId xmlns:a16="http://schemas.microsoft.com/office/drawing/2014/main" id="{00B3CF7F-8EFC-43E6-82C7-44FD95323B06}"/>
                    </a:ext>
                  </a:extLst>
                </p:cNvPr>
                <p:cNvSpPr/>
                <p:nvPr/>
              </p:nvSpPr>
              <p:spPr>
                <a:xfrm>
                  <a:off x="3454542" y="4771838"/>
                  <a:ext cx="200055" cy="242864"/>
                </a:xfrm>
                <a:custGeom>
                  <a:avLst/>
                  <a:gdLst>
                    <a:gd name="connsiteX0" fmla="*/ 115740 w 200055"/>
                    <a:gd name="connsiteY0" fmla="*/ 632 h 242864"/>
                    <a:gd name="connsiteX1" fmla="*/ 99296 w 200055"/>
                    <a:gd name="connsiteY1" fmla="*/ 0 h 242864"/>
                    <a:gd name="connsiteX2" fmla="*/ 171397 w 200055"/>
                    <a:gd name="connsiteY2" fmla="*/ 194798 h 242864"/>
                    <a:gd name="connsiteX3" fmla="*/ 111313 w 200055"/>
                    <a:gd name="connsiteY3" fmla="*/ 164440 h 242864"/>
                    <a:gd name="connsiteX4" fmla="*/ 104988 w 200055"/>
                    <a:gd name="connsiteY4" fmla="*/ 163807 h 242864"/>
                    <a:gd name="connsiteX5" fmla="*/ 100561 w 200055"/>
                    <a:gd name="connsiteY5" fmla="*/ 168234 h 242864"/>
                    <a:gd name="connsiteX6" fmla="*/ 82852 w 200055"/>
                    <a:gd name="connsiteY6" fmla="*/ 215036 h 242864"/>
                    <a:gd name="connsiteX7" fmla="*/ 15812 w 200055"/>
                    <a:gd name="connsiteY7" fmla="*/ 17709 h 242864"/>
                    <a:gd name="connsiteX8" fmla="*/ 8854 w 200055"/>
                    <a:gd name="connsiteY8" fmla="*/ 15179 h 242864"/>
                    <a:gd name="connsiteX9" fmla="*/ 0 w 200055"/>
                    <a:gd name="connsiteY9" fmla="*/ 18974 h 242864"/>
                    <a:gd name="connsiteX10" fmla="*/ 78425 w 200055"/>
                    <a:gd name="connsiteY10" fmla="*/ 239070 h 242864"/>
                    <a:gd name="connsiteX11" fmla="*/ 85382 w 200055"/>
                    <a:gd name="connsiteY11" fmla="*/ 242865 h 242864"/>
                    <a:gd name="connsiteX12" fmla="*/ 86015 w 200055"/>
                    <a:gd name="connsiteY12" fmla="*/ 242865 h 242864"/>
                    <a:gd name="connsiteX13" fmla="*/ 92972 w 200055"/>
                    <a:gd name="connsiteY13" fmla="*/ 237173 h 242864"/>
                    <a:gd name="connsiteX14" fmla="*/ 112578 w 200055"/>
                    <a:gd name="connsiteY14" fmla="*/ 182149 h 242864"/>
                    <a:gd name="connsiteX15" fmla="*/ 188473 w 200055"/>
                    <a:gd name="connsiteY15" fmla="*/ 220096 h 242864"/>
                    <a:gd name="connsiteX16" fmla="*/ 197960 w 200055"/>
                    <a:gd name="connsiteY16" fmla="*/ 218199 h 242864"/>
                    <a:gd name="connsiteX17" fmla="*/ 199225 w 200055"/>
                    <a:gd name="connsiteY17" fmla="*/ 208712 h 242864"/>
                    <a:gd name="connsiteX18" fmla="*/ 115740 w 200055"/>
                    <a:gd name="connsiteY18" fmla="*/ 632 h 24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055" h="242864">
                      <a:moveTo>
                        <a:pt x="115740" y="632"/>
                      </a:moveTo>
                      <a:cubicBezTo>
                        <a:pt x="110681" y="1265"/>
                        <a:pt x="104988" y="632"/>
                        <a:pt x="99296" y="0"/>
                      </a:cubicBezTo>
                      <a:cubicBezTo>
                        <a:pt x="112578" y="66408"/>
                        <a:pt x="137244" y="132184"/>
                        <a:pt x="171397" y="194798"/>
                      </a:cubicBezTo>
                      <a:cubicBezTo>
                        <a:pt x="151158" y="184678"/>
                        <a:pt x="130919" y="174559"/>
                        <a:pt x="111313" y="164440"/>
                      </a:cubicBezTo>
                      <a:cubicBezTo>
                        <a:pt x="109416" y="163175"/>
                        <a:pt x="106886" y="163175"/>
                        <a:pt x="104988" y="163807"/>
                      </a:cubicBezTo>
                      <a:cubicBezTo>
                        <a:pt x="103091" y="164440"/>
                        <a:pt x="101194" y="166337"/>
                        <a:pt x="100561" y="168234"/>
                      </a:cubicBezTo>
                      <a:cubicBezTo>
                        <a:pt x="94237" y="184046"/>
                        <a:pt x="88544" y="199857"/>
                        <a:pt x="82852" y="215036"/>
                      </a:cubicBezTo>
                      <a:cubicBezTo>
                        <a:pt x="49332" y="151790"/>
                        <a:pt x="26563" y="84750"/>
                        <a:pt x="15812" y="17709"/>
                      </a:cubicBezTo>
                      <a:cubicBezTo>
                        <a:pt x="13282" y="16444"/>
                        <a:pt x="10752" y="15179"/>
                        <a:pt x="8854" y="15179"/>
                      </a:cubicBezTo>
                      <a:cubicBezTo>
                        <a:pt x="6957" y="15179"/>
                        <a:pt x="3795" y="17076"/>
                        <a:pt x="0" y="18974"/>
                      </a:cubicBezTo>
                      <a:cubicBezTo>
                        <a:pt x="12017" y="94237"/>
                        <a:pt x="38580" y="168867"/>
                        <a:pt x="78425" y="239070"/>
                      </a:cubicBezTo>
                      <a:cubicBezTo>
                        <a:pt x="79690" y="241600"/>
                        <a:pt x="82220" y="242865"/>
                        <a:pt x="85382" y="242865"/>
                      </a:cubicBezTo>
                      <a:cubicBezTo>
                        <a:pt x="85382" y="242865"/>
                        <a:pt x="86015" y="242865"/>
                        <a:pt x="86015" y="242865"/>
                      </a:cubicBezTo>
                      <a:cubicBezTo>
                        <a:pt x="89177" y="242232"/>
                        <a:pt x="91707" y="240335"/>
                        <a:pt x="92972" y="237173"/>
                      </a:cubicBezTo>
                      <a:cubicBezTo>
                        <a:pt x="98664" y="218831"/>
                        <a:pt x="104988" y="200490"/>
                        <a:pt x="112578" y="182149"/>
                      </a:cubicBezTo>
                      <a:cubicBezTo>
                        <a:pt x="137876" y="194798"/>
                        <a:pt x="163175" y="208079"/>
                        <a:pt x="188473" y="220096"/>
                      </a:cubicBezTo>
                      <a:cubicBezTo>
                        <a:pt x="191635" y="221361"/>
                        <a:pt x="195430" y="220729"/>
                        <a:pt x="197960" y="218199"/>
                      </a:cubicBezTo>
                      <a:cubicBezTo>
                        <a:pt x="200490" y="215669"/>
                        <a:pt x="200490" y="211874"/>
                        <a:pt x="199225" y="208712"/>
                      </a:cubicBezTo>
                      <a:cubicBezTo>
                        <a:pt x="158747" y="142936"/>
                        <a:pt x="130919" y="71468"/>
                        <a:pt x="115740" y="63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401" name="Picture Placeholder 103">
                <a:extLst>
                  <a:ext uri="{FF2B5EF4-FFF2-40B4-BE49-F238E27FC236}">
                    <a16:creationId xmlns:a16="http://schemas.microsoft.com/office/drawing/2014/main" id="{135F7370-BE34-47B4-B0CF-2801E6F0A69C}"/>
                  </a:ext>
                </a:extLst>
              </p:cNvPr>
              <p:cNvSpPr/>
              <p:nvPr/>
            </p:nvSpPr>
            <p:spPr>
              <a:xfrm>
                <a:off x="3286307" y="4422087"/>
                <a:ext cx="346587" cy="349116"/>
              </a:xfrm>
              <a:custGeom>
                <a:avLst/>
                <a:gdLst>
                  <a:gd name="connsiteX0" fmla="*/ 137876 w 346588"/>
                  <a:gd name="connsiteY0" fmla="*/ 15812 h 349117"/>
                  <a:gd name="connsiteX1" fmla="*/ 148628 w 346588"/>
                  <a:gd name="connsiteY1" fmla="*/ 20239 h 349117"/>
                  <a:gd name="connsiteX2" fmla="*/ 173927 w 346588"/>
                  <a:gd name="connsiteY2" fmla="*/ 27828 h 349117"/>
                  <a:gd name="connsiteX3" fmla="*/ 199225 w 346588"/>
                  <a:gd name="connsiteY3" fmla="*/ 20239 h 349117"/>
                  <a:gd name="connsiteX4" fmla="*/ 209977 w 346588"/>
                  <a:gd name="connsiteY4" fmla="*/ 15812 h 349117"/>
                  <a:gd name="connsiteX5" fmla="*/ 218199 w 346588"/>
                  <a:gd name="connsiteY5" fmla="*/ 24666 h 349117"/>
                  <a:gd name="connsiteX6" fmla="*/ 236540 w 346588"/>
                  <a:gd name="connsiteY6" fmla="*/ 42375 h 349117"/>
                  <a:gd name="connsiteX7" fmla="*/ 261838 w 346588"/>
                  <a:gd name="connsiteY7" fmla="*/ 46802 h 349117"/>
                  <a:gd name="connsiteX8" fmla="*/ 273223 w 346588"/>
                  <a:gd name="connsiteY8" fmla="*/ 48067 h 349117"/>
                  <a:gd name="connsiteX9" fmla="*/ 276385 w 346588"/>
                  <a:gd name="connsiteY9" fmla="*/ 59451 h 349117"/>
                  <a:gd name="connsiteX10" fmla="*/ 285872 w 346588"/>
                  <a:gd name="connsiteY10" fmla="*/ 83485 h 349117"/>
                  <a:gd name="connsiteX11" fmla="*/ 306743 w 346588"/>
                  <a:gd name="connsiteY11" fmla="*/ 98664 h 349117"/>
                  <a:gd name="connsiteX12" fmla="*/ 316862 w 346588"/>
                  <a:gd name="connsiteY12" fmla="*/ 104988 h 349117"/>
                  <a:gd name="connsiteX13" fmla="*/ 314965 w 346588"/>
                  <a:gd name="connsiteY13" fmla="*/ 116373 h 349117"/>
                  <a:gd name="connsiteX14" fmla="*/ 313068 w 346588"/>
                  <a:gd name="connsiteY14" fmla="*/ 142304 h 349117"/>
                  <a:gd name="connsiteX15" fmla="*/ 325717 w 346588"/>
                  <a:gd name="connsiteY15" fmla="*/ 164440 h 349117"/>
                  <a:gd name="connsiteX16" fmla="*/ 332674 w 346588"/>
                  <a:gd name="connsiteY16" fmla="*/ 174559 h 349117"/>
                  <a:gd name="connsiteX17" fmla="*/ 325717 w 346588"/>
                  <a:gd name="connsiteY17" fmla="*/ 184678 h 349117"/>
                  <a:gd name="connsiteX18" fmla="*/ 313068 w 346588"/>
                  <a:gd name="connsiteY18" fmla="*/ 206814 h 349117"/>
                  <a:gd name="connsiteX19" fmla="*/ 314965 w 346588"/>
                  <a:gd name="connsiteY19" fmla="*/ 232745 h 349117"/>
                  <a:gd name="connsiteX20" fmla="*/ 316862 w 346588"/>
                  <a:gd name="connsiteY20" fmla="*/ 244130 h 349117"/>
                  <a:gd name="connsiteX21" fmla="*/ 306743 w 346588"/>
                  <a:gd name="connsiteY21" fmla="*/ 250454 h 349117"/>
                  <a:gd name="connsiteX22" fmla="*/ 285872 w 346588"/>
                  <a:gd name="connsiteY22" fmla="*/ 265633 h 349117"/>
                  <a:gd name="connsiteX23" fmla="*/ 276385 w 346588"/>
                  <a:gd name="connsiteY23" fmla="*/ 289667 h 349117"/>
                  <a:gd name="connsiteX24" fmla="*/ 273223 w 346588"/>
                  <a:gd name="connsiteY24" fmla="*/ 301051 h 349117"/>
                  <a:gd name="connsiteX25" fmla="*/ 261838 w 346588"/>
                  <a:gd name="connsiteY25" fmla="*/ 302316 h 349117"/>
                  <a:gd name="connsiteX26" fmla="*/ 236540 w 346588"/>
                  <a:gd name="connsiteY26" fmla="*/ 306743 h 349117"/>
                  <a:gd name="connsiteX27" fmla="*/ 218199 w 346588"/>
                  <a:gd name="connsiteY27" fmla="*/ 324452 h 349117"/>
                  <a:gd name="connsiteX28" fmla="*/ 209977 w 346588"/>
                  <a:gd name="connsiteY28" fmla="*/ 333306 h 349117"/>
                  <a:gd name="connsiteX29" fmla="*/ 199225 w 346588"/>
                  <a:gd name="connsiteY29" fmla="*/ 328879 h 349117"/>
                  <a:gd name="connsiteX30" fmla="*/ 173927 w 346588"/>
                  <a:gd name="connsiteY30" fmla="*/ 321290 h 349117"/>
                  <a:gd name="connsiteX31" fmla="*/ 148628 w 346588"/>
                  <a:gd name="connsiteY31" fmla="*/ 328879 h 349117"/>
                  <a:gd name="connsiteX32" fmla="*/ 137876 w 346588"/>
                  <a:gd name="connsiteY32" fmla="*/ 333306 h 349117"/>
                  <a:gd name="connsiteX33" fmla="*/ 129654 w 346588"/>
                  <a:gd name="connsiteY33" fmla="*/ 324452 h 349117"/>
                  <a:gd name="connsiteX34" fmla="*/ 111313 w 346588"/>
                  <a:gd name="connsiteY34" fmla="*/ 306743 h 349117"/>
                  <a:gd name="connsiteX35" fmla="*/ 86015 w 346588"/>
                  <a:gd name="connsiteY35" fmla="*/ 302316 h 349117"/>
                  <a:gd name="connsiteX36" fmla="*/ 74630 w 346588"/>
                  <a:gd name="connsiteY36" fmla="*/ 301051 h 349117"/>
                  <a:gd name="connsiteX37" fmla="*/ 71468 w 346588"/>
                  <a:gd name="connsiteY37" fmla="*/ 289667 h 349117"/>
                  <a:gd name="connsiteX38" fmla="*/ 61981 w 346588"/>
                  <a:gd name="connsiteY38" fmla="*/ 265633 h 349117"/>
                  <a:gd name="connsiteX39" fmla="*/ 41110 w 346588"/>
                  <a:gd name="connsiteY39" fmla="*/ 250454 h 349117"/>
                  <a:gd name="connsiteX40" fmla="*/ 30991 w 346588"/>
                  <a:gd name="connsiteY40" fmla="*/ 244130 h 349117"/>
                  <a:gd name="connsiteX41" fmla="*/ 32888 w 346588"/>
                  <a:gd name="connsiteY41" fmla="*/ 232745 h 349117"/>
                  <a:gd name="connsiteX42" fmla="*/ 34785 w 346588"/>
                  <a:gd name="connsiteY42" fmla="*/ 206814 h 349117"/>
                  <a:gd name="connsiteX43" fmla="*/ 22136 w 346588"/>
                  <a:gd name="connsiteY43" fmla="*/ 184678 h 349117"/>
                  <a:gd name="connsiteX44" fmla="*/ 15179 w 346588"/>
                  <a:gd name="connsiteY44" fmla="*/ 174559 h 349117"/>
                  <a:gd name="connsiteX45" fmla="*/ 22136 w 346588"/>
                  <a:gd name="connsiteY45" fmla="*/ 164440 h 349117"/>
                  <a:gd name="connsiteX46" fmla="*/ 34785 w 346588"/>
                  <a:gd name="connsiteY46" fmla="*/ 142304 h 349117"/>
                  <a:gd name="connsiteX47" fmla="*/ 32888 w 346588"/>
                  <a:gd name="connsiteY47" fmla="*/ 116373 h 349117"/>
                  <a:gd name="connsiteX48" fmla="*/ 30991 w 346588"/>
                  <a:gd name="connsiteY48" fmla="*/ 104988 h 349117"/>
                  <a:gd name="connsiteX49" fmla="*/ 41110 w 346588"/>
                  <a:gd name="connsiteY49" fmla="*/ 98664 h 349117"/>
                  <a:gd name="connsiteX50" fmla="*/ 61981 w 346588"/>
                  <a:gd name="connsiteY50" fmla="*/ 83485 h 349117"/>
                  <a:gd name="connsiteX51" fmla="*/ 71468 w 346588"/>
                  <a:gd name="connsiteY51" fmla="*/ 59451 h 349117"/>
                  <a:gd name="connsiteX52" fmla="*/ 74630 w 346588"/>
                  <a:gd name="connsiteY52" fmla="*/ 48067 h 349117"/>
                  <a:gd name="connsiteX53" fmla="*/ 86015 w 346588"/>
                  <a:gd name="connsiteY53" fmla="*/ 46802 h 349117"/>
                  <a:gd name="connsiteX54" fmla="*/ 111313 w 346588"/>
                  <a:gd name="connsiteY54" fmla="*/ 42375 h 349117"/>
                  <a:gd name="connsiteX55" fmla="*/ 129654 w 346588"/>
                  <a:gd name="connsiteY55" fmla="*/ 24666 h 349117"/>
                  <a:gd name="connsiteX56" fmla="*/ 137876 w 346588"/>
                  <a:gd name="connsiteY56" fmla="*/ 15812 h 349117"/>
                  <a:gd name="connsiteX57" fmla="*/ 209344 w 346588"/>
                  <a:gd name="connsiteY57" fmla="*/ 0 h 349117"/>
                  <a:gd name="connsiteX58" fmla="*/ 173294 w 346588"/>
                  <a:gd name="connsiteY58" fmla="*/ 11384 h 349117"/>
                  <a:gd name="connsiteX59" fmla="*/ 137244 w 346588"/>
                  <a:gd name="connsiteY59" fmla="*/ 0 h 349117"/>
                  <a:gd name="connsiteX60" fmla="*/ 134082 w 346588"/>
                  <a:gd name="connsiteY60" fmla="*/ 632 h 349117"/>
                  <a:gd name="connsiteX61" fmla="*/ 103723 w 346588"/>
                  <a:gd name="connsiteY61" fmla="*/ 28461 h 349117"/>
                  <a:gd name="connsiteX62" fmla="*/ 63878 w 346588"/>
                  <a:gd name="connsiteY62" fmla="*/ 36050 h 349117"/>
                  <a:gd name="connsiteX63" fmla="*/ 49332 w 346588"/>
                  <a:gd name="connsiteY63" fmla="*/ 73998 h 349117"/>
                  <a:gd name="connsiteX64" fmla="*/ 16444 w 346588"/>
                  <a:gd name="connsiteY64" fmla="*/ 98031 h 349117"/>
                  <a:gd name="connsiteX65" fmla="*/ 19606 w 346588"/>
                  <a:gd name="connsiteY65" fmla="*/ 138509 h 349117"/>
                  <a:gd name="connsiteX66" fmla="*/ 0 w 346588"/>
                  <a:gd name="connsiteY66" fmla="*/ 174559 h 349117"/>
                  <a:gd name="connsiteX67" fmla="*/ 19606 w 346588"/>
                  <a:gd name="connsiteY67" fmla="*/ 210609 h 349117"/>
                  <a:gd name="connsiteX68" fmla="*/ 16444 w 346588"/>
                  <a:gd name="connsiteY68" fmla="*/ 251087 h 349117"/>
                  <a:gd name="connsiteX69" fmla="*/ 49332 w 346588"/>
                  <a:gd name="connsiteY69" fmla="*/ 275120 h 349117"/>
                  <a:gd name="connsiteX70" fmla="*/ 63878 w 346588"/>
                  <a:gd name="connsiteY70" fmla="*/ 313068 h 349117"/>
                  <a:gd name="connsiteX71" fmla="*/ 103723 w 346588"/>
                  <a:gd name="connsiteY71" fmla="*/ 320657 h 349117"/>
                  <a:gd name="connsiteX72" fmla="*/ 134082 w 346588"/>
                  <a:gd name="connsiteY72" fmla="*/ 348485 h 349117"/>
                  <a:gd name="connsiteX73" fmla="*/ 137244 w 346588"/>
                  <a:gd name="connsiteY73" fmla="*/ 349118 h 349117"/>
                  <a:gd name="connsiteX74" fmla="*/ 173294 w 346588"/>
                  <a:gd name="connsiteY74" fmla="*/ 337734 h 349117"/>
                  <a:gd name="connsiteX75" fmla="*/ 209344 w 346588"/>
                  <a:gd name="connsiteY75" fmla="*/ 349118 h 349117"/>
                  <a:gd name="connsiteX76" fmla="*/ 212507 w 346588"/>
                  <a:gd name="connsiteY76" fmla="*/ 348485 h 349117"/>
                  <a:gd name="connsiteX77" fmla="*/ 242865 w 346588"/>
                  <a:gd name="connsiteY77" fmla="*/ 320657 h 349117"/>
                  <a:gd name="connsiteX78" fmla="*/ 282710 w 346588"/>
                  <a:gd name="connsiteY78" fmla="*/ 313068 h 349117"/>
                  <a:gd name="connsiteX79" fmla="*/ 297256 w 346588"/>
                  <a:gd name="connsiteY79" fmla="*/ 275120 h 349117"/>
                  <a:gd name="connsiteX80" fmla="*/ 330144 w 346588"/>
                  <a:gd name="connsiteY80" fmla="*/ 251087 h 349117"/>
                  <a:gd name="connsiteX81" fmla="*/ 326982 w 346588"/>
                  <a:gd name="connsiteY81" fmla="*/ 210609 h 349117"/>
                  <a:gd name="connsiteX82" fmla="*/ 346588 w 346588"/>
                  <a:gd name="connsiteY82" fmla="*/ 174559 h 349117"/>
                  <a:gd name="connsiteX83" fmla="*/ 326982 w 346588"/>
                  <a:gd name="connsiteY83" fmla="*/ 138509 h 349117"/>
                  <a:gd name="connsiteX84" fmla="*/ 330144 w 346588"/>
                  <a:gd name="connsiteY84" fmla="*/ 98031 h 349117"/>
                  <a:gd name="connsiteX85" fmla="*/ 297256 w 346588"/>
                  <a:gd name="connsiteY85" fmla="*/ 73998 h 349117"/>
                  <a:gd name="connsiteX86" fmla="*/ 282710 w 346588"/>
                  <a:gd name="connsiteY86" fmla="*/ 36050 h 349117"/>
                  <a:gd name="connsiteX87" fmla="*/ 242865 w 346588"/>
                  <a:gd name="connsiteY87" fmla="*/ 28461 h 349117"/>
                  <a:gd name="connsiteX88" fmla="*/ 212507 w 346588"/>
                  <a:gd name="connsiteY88" fmla="*/ 632 h 349117"/>
                  <a:gd name="connsiteX89" fmla="*/ 209344 w 346588"/>
                  <a:gd name="connsiteY89" fmla="*/ 0 h 349117"/>
                  <a:gd name="connsiteX90" fmla="*/ 209344 w 346588"/>
                  <a:gd name="connsiteY90" fmla="*/ 0 h 34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6588" h="349117">
                    <a:moveTo>
                      <a:pt x="137876" y="15812"/>
                    </a:moveTo>
                    <a:cubicBezTo>
                      <a:pt x="139774" y="15812"/>
                      <a:pt x="144833" y="18341"/>
                      <a:pt x="148628" y="20239"/>
                    </a:cubicBezTo>
                    <a:cubicBezTo>
                      <a:pt x="156218" y="23401"/>
                      <a:pt x="164440" y="27828"/>
                      <a:pt x="173927" y="27828"/>
                    </a:cubicBezTo>
                    <a:cubicBezTo>
                      <a:pt x="183413" y="27828"/>
                      <a:pt x="191635" y="24033"/>
                      <a:pt x="199225" y="20239"/>
                    </a:cubicBezTo>
                    <a:cubicBezTo>
                      <a:pt x="202387" y="18341"/>
                      <a:pt x="207447" y="16444"/>
                      <a:pt x="209977" y="15812"/>
                    </a:cubicBezTo>
                    <a:cubicBezTo>
                      <a:pt x="211874" y="17076"/>
                      <a:pt x="215669" y="21504"/>
                      <a:pt x="218199" y="24666"/>
                    </a:cubicBezTo>
                    <a:cubicBezTo>
                      <a:pt x="223258" y="30991"/>
                      <a:pt x="228318" y="37948"/>
                      <a:pt x="236540" y="42375"/>
                    </a:cubicBezTo>
                    <a:cubicBezTo>
                      <a:pt x="244762" y="46802"/>
                      <a:pt x="254249" y="46802"/>
                      <a:pt x="261838" y="46802"/>
                    </a:cubicBezTo>
                    <a:cubicBezTo>
                      <a:pt x="265633" y="46802"/>
                      <a:pt x="271325" y="46802"/>
                      <a:pt x="273223" y="48067"/>
                    </a:cubicBezTo>
                    <a:cubicBezTo>
                      <a:pt x="274488" y="49964"/>
                      <a:pt x="275753" y="55656"/>
                      <a:pt x="276385" y="59451"/>
                    </a:cubicBezTo>
                    <a:cubicBezTo>
                      <a:pt x="278282" y="67041"/>
                      <a:pt x="279547" y="76528"/>
                      <a:pt x="285872" y="83485"/>
                    </a:cubicBezTo>
                    <a:cubicBezTo>
                      <a:pt x="291564" y="91074"/>
                      <a:pt x="299786" y="94869"/>
                      <a:pt x="306743" y="98664"/>
                    </a:cubicBezTo>
                    <a:cubicBezTo>
                      <a:pt x="309905" y="100561"/>
                      <a:pt x="315598" y="103091"/>
                      <a:pt x="316862" y="104988"/>
                    </a:cubicBezTo>
                    <a:cubicBezTo>
                      <a:pt x="317495" y="106886"/>
                      <a:pt x="315598" y="112578"/>
                      <a:pt x="314965" y="116373"/>
                    </a:cubicBezTo>
                    <a:cubicBezTo>
                      <a:pt x="313068" y="123962"/>
                      <a:pt x="311170" y="133449"/>
                      <a:pt x="313068" y="142304"/>
                    </a:cubicBezTo>
                    <a:cubicBezTo>
                      <a:pt x="314965" y="151158"/>
                      <a:pt x="320657" y="158115"/>
                      <a:pt x="325717" y="164440"/>
                    </a:cubicBezTo>
                    <a:cubicBezTo>
                      <a:pt x="328247" y="167602"/>
                      <a:pt x="332042" y="172662"/>
                      <a:pt x="332674" y="174559"/>
                    </a:cubicBezTo>
                    <a:cubicBezTo>
                      <a:pt x="332674" y="176456"/>
                      <a:pt x="328247" y="181516"/>
                      <a:pt x="325717" y="184678"/>
                    </a:cubicBezTo>
                    <a:cubicBezTo>
                      <a:pt x="320657" y="191003"/>
                      <a:pt x="314965" y="197960"/>
                      <a:pt x="313068" y="206814"/>
                    </a:cubicBezTo>
                    <a:cubicBezTo>
                      <a:pt x="311170" y="216301"/>
                      <a:pt x="313068" y="225156"/>
                      <a:pt x="314965" y="232745"/>
                    </a:cubicBezTo>
                    <a:cubicBezTo>
                      <a:pt x="315598" y="236540"/>
                      <a:pt x="317495" y="242232"/>
                      <a:pt x="316862" y="244130"/>
                    </a:cubicBezTo>
                    <a:cubicBezTo>
                      <a:pt x="315598" y="246027"/>
                      <a:pt x="309905" y="248557"/>
                      <a:pt x="306743" y="250454"/>
                    </a:cubicBezTo>
                    <a:cubicBezTo>
                      <a:pt x="299786" y="254249"/>
                      <a:pt x="291564" y="258044"/>
                      <a:pt x="285872" y="265633"/>
                    </a:cubicBezTo>
                    <a:cubicBezTo>
                      <a:pt x="280180" y="273223"/>
                      <a:pt x="278282" y="282077"/>
                      <a:pt x="276385" y="289667"/>
                    </a:cubicBezTo>
                    <a:cubicBezTo>
                      <a:pt x="275753" y="293461"/>
                      <a:pt x="274488" y="299154"/>
                      <a:pt x="273223" y="301051"/>
                    </a:cubicBezTo>
                    <a:cubicBezTo>
                      <a:pt x="271325" y="301683"/>
                      <a:pt x="265001" y="302316"/>
                      <a:pt x="261838" y="302316"/>
                    </a:cubicBezTo>
                    <a:cubicBezTo>
                      <a:pt x="253616" y="302316"/>
                      <a:pt x="244762" y="302948"/>
                      <a:pt x="236540" y="306743"/>
                    </a:cubicBezTo>
                    <a:cubicBezTo>
                      <a:pt x="228318" y="311170"/>
                      <a:pt x="222626" y="318127"/>
                      <a:pt x="218199" y="324452"/>
                    </a:cubicBezTo>
                    <a:cubicBezTo>
                      <a:pt x="215669" y="327614"/>
                      <a:pt x="211874" y="332042"/>
                      <a:pt x="209977" y="333306"/>
                    </a:cubicBezTo>
                    <a:cubicBezTo>
                      <a:pt x="208079" y="333306"/>
                      <a:pt x="203020" y="330777"/>
                      <a:pt x="199225" y="328879"/>
                    </a:cubicBezTo>
                    <a:cubicBezTo>
                      <a:pt x="191635" y="325717"/>
                      <a:pt x="183413" y="321290"/>
                      <a:pt x="173927" y="321290"/>
                    </a:cubicBezTo>
                    <a:cubicBezTo>
                      <a:pt x="164440" y="321290"/>
                      <a:pt x="156218" y="325084"/>
                      <a:pt x="148628" y="328879"/>
                    </a:cubicBezTo>
                    <a:cubicBezTo>
                      <a:pt x="145466" y="330777"/>
                      <a:pt x="140406" y="332674"/>
                      <a:pt x="137876" y="333306"/>
                    </a:cubicBezTo>
                    <a:cubicBezTo>
                      <a:pt x="135979" y="332042"/>
                      <a:pt x="132184" y="327614"/>
                      <a:pt x="129654" y="324452"/>
                    </a:cubicBezTo>
                    <a:cubicBezTo>
                      <a:pt x="124595" y="318127"/>
                      <a:pt x="119535" y="311170"/>
                      <a:pt x="111313" y="306743"/>
                    </a:cubicBezTo>
                    <a:cubicBezTo>
                      <a:pt x="103091" y="302316"/>
                      <a:pt x="93604" y="302316"/>
                      <a:pt x="86015" y="302316"/>
                    </a:cubicBezTo>
                    <a:cubicBezTo>
                      <a:pt x="82220" y="302316"/>
                      <a:pt x="76528" y="302316"/>
                      <a:pt x="74630" y="301051"/>
                    </a:cubicBezTo>
                    <a:cubicBezTo>
                      <a:pt x="73365" y="299154"/>
                      <a:pt x="72100" y="293461"/>
                      <a:pt x="71468" y="289667"/>
                    </a:cubicBezTo>
                    <a:cubicBezTo>
                      <a:pt x="69571" y="282077"/>
                      <a:pt x="68306" y="272590"/>
                      <a:pt x="61981" y="265633"/>
                    </a:cubicBezTo>
                    <a:cubicBezTo>
                      <a:pt x="56289" y="258044"/>
                      <a:pt x="48067" y="254249"/>
                      <a:pt x="41110" y="250454"/>
                    </a:cubicBezTo>
                    <a:cubicBezTo>
                      <a:pt x="37948" y="248557"/>
                      <a:pt x="32255" y="246027"/>
                      <a:pt x="30991" y="244130"/>
                    </a:cubicBezTo>
                    <a:cubicBezTo>
                      <a:pt x="30358" y="242232"/>
                      <a:pt x="32255" y="236540"/>
                      <a:pt x="32888" y="232745"/>
                    </a:cubicBezTo>
                    <a:cubicBezTo>
                      <a:pt x="34785" y="225156"/>
                      <a:pt x="36683" y="215669"/>
                      <a:pt x="34785" y="206814"/>
                    </a:cubicBezTo>
                    <a:cubicBezTo>
                      <a:pt x="32888" y="197960"/>
                      <a:pt x="27196" y="191003"/>
                      <a:pt x="22136" y="184678"/>
                    </a:cubicBezTo>
                    <a:cubicBezTo>
                      <a:pt x="19606" y="181516"/>
                      <a:pt x="15812" y="176456"/>
                      <a:pt x="15179" y="174559"/>
                    </a:cubicBezTo>
                    <a:cubicBezTo>
                      <a:pt x="15179" y="172662"/>
                      <a:pt x="19606" y="167602"/>
                      <a:pt x="22136" y="164440"/>
                    </a:cubicBezTo>
                    <a:cubicBezTo>
                      <a:pt x="27196" y="158115"/>
                      <a:pt x="32888" y="151158"/>
                      <a:pt x="34785" y="142304"/>
                    </a:cubicBezTo>
                    <a:cubicBezTo>
                      <a:pt x="36683" y="132817"/>
                      <a:pt x="34785" y="123962"/>
                      <a:pt x="32888" y="116373"/>
                    </a:cubicBezTo>
                    <a:cubicBezTo>
                      <a:pt x="32255" y="112578"/>
                      <a:pt x="30358" y="106886"/>
                      <a:pt x="30991" y="104988"/>
                    </a:cubicBezTo>
                    <a:cubicBezTo>
                      <a:pt x="32255" y="103091"/>
                      <a:pt x="37948" y="100561"/>
                      <a:pt x="41110" y="98664"/>
                    </a:cubicBezTo>
                    <a:cubicBezTo>
                      <a:pt x="48067" y="94869"/>
                      <a:pt x="56289" y="91074"/>
                      <a:pt x="61981" y="83485"/>
                    </a:cubicBezTo>
                    <a:cubicBezTo>
                      <a:pt x="67673" y="75895"/>
                      <a:pt x="69571" y="67041"/>
                      <a:pt x="71468" y="59451"/>
                    </a:cubicBezTo>
                    <a:cubicBezTo>
                      <a:pt x="72100" y="55656"/>
                      <a:pt x="73365" y="49964"/>
                      <a:pt x="74630" y="48067"/>
                    </a:cubicBezTo>
                    <a:cubicBezTo>
                      <a:pt x="76528" y="47434"/>
                      <a:pt x="82852" y="46802"/>
                      <a:pt x="86015" y="46802"/>
                    </a:cubicBezTo>
                    <a:cubicBezTo>
                      <a:pt x="94237" y="46802"/>
                      <a:pt x="103091" y="46170"/>
                      <a:pt x="111313" y="42375"/>
                    </a:cubicBezTo>
                    <a:cubicBezTo>
                      <a:pt x="119535" y="37948"/>
                      <a:pt x="125227" y="30991"/>
                      <a:pt x="129654" y="24666"/>
                    </a:cubicBezTo>
                    <a:cubicBezTo>
                      <a:pt x="132184" y="22136"/>
                      <a:pt x="135979" y="17076"/>
                      <a:pt x="137876" y="15812"/>
                    </a:cubicBezTo>
                    <a:moveTo>
                      <a:pt x="209344" y="0"/>
                    </a:moveTo>
                    <a:cubicBezTo>
                      <a:pt x="197960" y="0"/>
                      <a:pt x="185311" y="11384"/>
                      <a:pt x="173294" y="11384"/>
                    </a:cubicBezTo>
                    <a:cubicBezTo>
                      <a:pt x="161910" y="11384"/>
                      <a:pt x="148628" y="0"/>
                      <a:pt x="137244" y="0"/>
                    </a:cubicBezTo>
                    <a:cubicBezTo>
                      <a:pt x="135979" y="0"/>
                      <a:pt x="134714" y="0"/>
                      <a:pt x="134082" y="632"/>
                    </a:cubicBezTo>
                    <a:cubicBezTo>
                      <a:pt x="121432" y="3795"/>
                      <a:pt x="115108" y="22769"/>
                      <a:pt x="103723" y="28461"/>
                    </a:cubicBezTo>
                    <a:cubicBezTo>
                      <a:pt x="92339" y="34153"/>
                      <a:pt x="73365" y="27828"/>
                      <a:pt x="63878" y="36050"/>
                    </a:cubicBezTo>
                    <a:cubicBezTo>
                      <a:pt x="54392" y="44272"/>
                      <a:pt x="56921" y="63878"/>
                      <a:pt x="49332" y="73998"/>
                    </a:cubicBezTo>
                    <a:cubicBezTo>
                      <a:pt x="41742" y="84117"/>
                      <a:pt x="21504" y="86647"/>
                      <a:pt x="16444" y="98031"/>
                    </a:cubicBezTo>
                    <a:cubicBezTo>
                      <a:pt x="11384" y="109416"/>
                      <a:pt x="22136" y="126492"/>
                      <a:pt x="19606" y="138509"/>
                    </a:cubicBezTo>
                    <a:cubicBezTo>
                      <a:pt x="17076" y="150525"/>
                      <a:pt x="0" y="161277"/>
                      <a:pt x="0" y="174559"/>
                    </a:cubicBezTo>
                    <a:cubicBezTo>
                      <a:pt x="0" y="187208"/>
                      <a:pt x="17076" y="198592"/>
                      <a:pt x="19606" y="210609"/>
                    </a:cubicBezTo>
                    <a:cubicBezTo>
                      <a:pt x="22136" y="223258"/>
                      <a:pt x="11384" y="240335"/>
                      <a:pt x="16444" y="251087"/>
                    </a:cubicBezTo>
                    <a:cubicBezTo>
                      <a:pt x="21504" y="262471"/>
                      <a:pt x="41742" y="265001"/>
                      <a:pt x="49332" y="275120"/>
                    </a:cubicBezTo>
                    <a:cubicBezTo>
                      <a:pt x="56921" y="285239"/>
                      <a:pt x="54392" y="305478"/>
                      <a:pt x="63878" y="313068"/>
                    </a:cubicBezTo>
                    <a:cubicBezTo>
                      <a:pt x="73365" y="321290"/>
                      <a:pt x="92972" y="314965"/>
                      <a:pt x="103723" y="320657"/>
                    </a:cubicBezTo>
                    <a:cubicBezTo>
                      <a:pt x="115108" y="326349"/>
                      <a:pt x="121432" y="345323"/>
                      <a:pt x="134082" y="348485"/>
                    </a:cubicBezTo>
                    <a:cubicBezTo>
                      <a:pt x="135346" y="348485"/>
                      <a:pt x="136611" y="349118"/>
                      <a:pt x="137244" y="349118"/>
                    </a:cubicBezTo>
                    <a:cubicBezTo>
                      <a:pt x="148628" y="349118"/>
                      <a:pt x="161277" y="337734"/>
                      <a:pt x="173294" y="337734"/>
                    </a:cubicBezTo>
                    <a:cubicBezTo>
                      <a:pt x="184678" y="337734"/>
                      <a:pt x="197960" y="349118"/>
                      <a:pt x="209344" y="349118"/>
                    </a:cubicBezTo>
                    <a:cubicBezTo>
                      <a:pt x="210609" y="349118"/>
                      <a:pt x="211874" y="349118"/>
                      <a:pt x="212507" y="348485"/>
                    </a:cubicBezTo>
                    <a:cubicBezTo>
                      <a:pt x="225156" y="345323"/>
                      <a:pt x="231480" y="326349"/>
                      <a:pt x="242865" y="320657"/>
                    </a:cubicBezTo>
                    <a:cubicBezTo>
                      <a:pt x="254249" y="314965"/>
                      <a:pt x="273223" y="321290"/>
                      <a:pt x="282710" y="313068"/>
                    </a:cubicBezTo>
                    <a:cubicBezTo>
                      <a:pt x="292197" y="304846"/>
                      <a:pt x="289667" y="285239"/>
                      <a:pt x="297256" y="275120"/>
                    </a:cubicBezTo>
                    <a:cubicBezTo>
                      <a:pt x="304846" y="265001"/>
                      <a:pt x="325084" y="262471"/>
                      <a:pt x="330144" y="251087"/>
                    </a:cubicBezTo>
                    <a:cubicBezTo>
                      <a:pt x="335204" y="239702"/>
                      <a:pt x="324452" y="222626"/>
                      <a:pt x="326982" y="210609"/>
                    </a:cubicBezTo>
                    <a:cubicBezTo>
                      <a:pt x="329512" y="198592"/>
                      <a:pt x="346588" y="187841"/>
                      <a:pt x="346588" y="174559"/>
                    </a:cubicBezTo>
                    <a:cubicBezTo>
                      <a:pt x="346588" y="161910"/>
                      <a:pt x="329512" y="150525"/>
                      <a:pt x="326982" y="138509"/>
                    </a:cubicBezTo>
                    <a:cubicBezTo>
                      <a:pt x="324452" y="125860"/>
                      <a:pt x="335204" y="108783"/>
                      <a:pt x="330144" y="98031"/>
                    </a:cubicBezTo>
                    <a:cubicBezTo>
                      <a:pt x="325084" y="86647"/>
                      <a:pt x="304846" y="84117"/>
                      <a:pt x="297256" y="73998"/>
                    </a:cubicBezTo>
                    <a:cubicBezTo>
                      <a:pt x="289667" y="63878"/>
                      <a:pt x="292197" y="43640"/>
                      <a:pt x="282710" y="36050"/>
                    </a:cubicBezTo>
                    <a:cubicBezTo>
                      <a:pt x="273223" y="27828"/>
                      <a:pt x="253616" y="34153"/>
                      <a:pt x="242865" y="28461"/>
                    </a:cubicBezTo>
                    <a:cubicBezTo>
                      <a:pt x="231480" y="22769"/>
                      <a:pt x="225156" y="3795"/>
                      <a:pt x="212507" y="632"/>
                    </a:cubicBezTo>
                    <a:cubicBezTo>
                      <a:pt x="211874" y="632"/>
                      <a:pt x="210609" y="0"/>
                      <a:pt x="209344" y="0"/>
                    </a:cubicBezTo>
                    <a:lnTo>
                      <a:pt x="209344"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2" name="Picture Placeholder 103">
                <a:extLst>
                  <a:ext uri="{FF2B5EF4-FFF2-40B4-BE49-F238E27FC236}">
                    <a16:creationId xmlns:a16="http://schemas.microsoft.com/office/drawing/2014/main" id="{C67C57FA-4905-4275-AD16-B9E3EC97B240}"/>
                  </a:ext>
                </a:extLst>
              </p:cNvPr>
              <p:cNvSpPr/>
              <p:nvPr/>
            </p:nvSpPr>
            <p:spPr>
              <a:xfrm>
                <a:off x="3347656" y="4488496"/>
                <a:ext cx="221361" cy="220728"/>
              </a:xfrm>
              <a:custGeom>
                <a:avLst/>
                <a:gdLst>
                  <a:gd name="connsiteX0" fmla="*/ 110048 w 221361"/>
                  <a:gd name="connsiteY0" fmla="*/ 220729 h 220728"/>
                  <a:gd name="connsiteX1" fmla="*/ 102459 w 221361"/>
                  <a:gd name="connsiteY1" fmla="*/ 213139 h 220728"/>
                  <a:gd name="connsiteX2" fmla="*/ 110048 w 221361"/>
                  <a:gd name="connsiteY2" fmla="*/ 205550 h 220728"/>
                  <a:gd name="connsiteX3" fmla="*/ 204917 w 221361"/>
                  <a:gd name="connsiteY3" fmla="*/ 110681 h 220728"/>
                  <a:gd name="connsiteX4" fmla="*/ 110048 w 221361"/>
                  <a:gd name="connsiteY4" fmla="*/ 15812 h 220728"/>
                  <a:gd name="connsiteX5" fmla="*/ 15179 w 221361"/>
                  <a:gd name="connsiteY5" fmla="*/ 110681 h 220728"/>
                  <a:gd name="connsiteX6" fmla="*/ 7590 w 221361"/>
                  <a:gd name="connsiteY6" fmla="*/ 118270 h 220728"/>
                  <a:gd name="connsiteX7" fmla="*/ 0 w 221361"/>
                  <a:gd name="connsiteY7" fmla="*/ 110681 h 220728"/>
                  <a:gd name="connsiteX8" fmla="*/ 110681 w 221361"/>
                  <a:gd name="connsiteY8" fmla="*/ 0 h 220728"/>
                  <a:gd name="connsiteX9" fmla="*/ 221361 w 221361"/>
                  <a:gd name="connsiteY9" fmla="*/ 110681 h 220728"/>
                  <a:gd name="connsiteX10" fmla="*/ 110048 w 221361"/>
                  <a:gd name="connsiteY10" fmla="*/ 220729 h 22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361" h="220728">
                    <a:moveTo>
                      <a:pt x="110048" y="220729"/>
                    </a:moveTo>
                    <a:cubicBezTo>
                      <a:pt x="105621" y="220729"/>
                      <a:pt x="102459" y="216934"/>
                      <a:pt x="102459" y="213139"/>
                    </a:cubicBezTo>
                    <a:cubicBezTo>
                      <a:pt x="102459" y="209344"/>
                      <a:pt x="106253" y="205550"/>
                      <a:pt x="110048" y="205550"/>
                    </a:cubicBezTo>
                    <a:cubicBezTo>
                      <a:pt x="162542" y="205550"/>
                      <a:pt x="204917" y="163175"/>
                      <a:pt x="204917" y="110681"/>
                    </a:cubicBezTo>
                    <a:cubicBezTo>
                      <a:pt x="204917" y="58186"/>
                      <a:pt x="162542" y="15812"/>
                      <a:pt x="110048" y="15812"/>
                    </a:cubicBezTo>
                    <a:cubicBezTo>
                      <a:pt x="57554" y="15812"/>
                      <a:pt x="15179" y="58186"/>
                      <a:pt x="15179" y="110681"/>
                    </a:cubicBezTo>
                    <a:cubicBezTo>
                      <a:pt x="15179" y="115108"/>
                      <a:pt x="11384" y="118270"/>
                      <a:pt x="7590" y="118270"/>
                    </a:cubicBezTo>
                    <a:cubicBezTo>
                      <a:pt x="3795" y="118270"/>
                      <a:pt x="0" y="114475"/>
                      <a:pt x="0" y="110681"/>
                    </a:cubicBezTo>
                    <a:cubicBezTo>
                      <a:pt x="0" y="49964"/>
                      <a:pt x="49964" y="0"/>
                      <a:pt x="110681" y="0"/>
                    </a:cubicBezTo>
                    <a:cubicBezTo>
                      <a:pt x="171397" y="0"/>
                      <a:pt x="221361" y="49964"/>
                      <a:pt x="221361" y="110681"/>
                    </a:cubicBezTo>
                    <a:cubicBezTo>
                      <a:pt x="221361" y="171397"/>
                      <a:pt x="171397" y="220729"/>
                      <a:pt x="110048" y="22072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36" name="Group 35">
            <a:extLst>
              <a:ext uri="{FF2B5EF4-FFF2-40B4-BE49-F238E27FC236}">
                <a16:creationId xmlns:a16="http://schemas.microsoft.com/office/drawing/2014/main" id="{71B35372-16D3-473F-A124-CE921398AB9A}"/>
              </a:ext>
            </a:extLst>
          </p:cNvPr>
          <p:cNvGrpSpPr/>
          <p:nvPr/>
        </p:nvGrpSpPr>
        <p:grpSpPr>
          <a:xfrm>
            <a:off x="8854379" y="3534551"/>
            <a:ext cx="758008" cy="2475217"/>
            <a:chOff x="8549193" y="3703187"/>
            <a:chExt cx="758008" cy="2475217"/>
          </a:xfrm>
        </p:grpSpPr>
        <p:sp>
          <p:nvSpPr>
            <p:cNvPr id="255" name="Rounded Rectangle 37">
              <a:extLst>
                <a:ext uri="{FF2B5EF4-FFF2-40B4-BE49-F238E27FC236}">
                  <a16:creationId xmlns:a16="http://schemas.microsoft.com/office/drawing/2014/main" id="{BF0156AA-7F56-45C5-A2A5-68E778B2FD19}"/>
                </a:ext>
              </a:extLst>
            </p:cNvPr>
            <p:cNvSpPr/>
            <p:nvPr/>
          </p:nvSpPr>
          <p:spPr>
            <a:xfrm>
              <a:off x="8549193"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Stretched</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Cluster</a:t>
              </a:r>
            </a:p>
          </p:txBody>
        </p:sp>
        <p:cxnSp>
          <p:nvCxnSpPr>
            <p:cNvPr id="256" name="Straight Connector 255">
              <a:extLst>
                <a:ext uri="{FF2B5EF4-FFF2-40B4-BE49-F238E27FC236}">
                  <a16:creationId xmlns:a16="http://schemas.microsoft.com/office/drawing/2014/main" id="{55C27944-3AE3-455C-BAAB-BC536154A3F2}"/>
                </a:ext>
              </a:extLst>
            </p:cNvPr>
            <p:cNvCxnSpPr>
              <a:cxnSpLocks/>
            </p:cNvCxnSpPr>
            <p:nvPr/>
          </p:nvCxnSpPr>
          <p:spPr bwMode="gray">
            <a:xfrm>
              <a:off x="892819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57" name="Oval 256">
              <a:extLst>
                <a:ext uri="{FF2B5EF4-FFF2-40B4-BE49-F238E27FC236}">
                  <a16:creationId xmlns:a16="http://schemas.microsoft.com/office/drawing/2014/main" id="{44BA4A56-91F1-4A56-8576-365BD3B3F8B5}"/>
                </a:ext>
              </a:extLst>
            </p:cNvPr>
            <p:cNvSpPr/>
            <p:nvPr/>
          </p:nvSpPr>
          <p:spPr>
            <a:xfrm rot="10800000">
              <a:off x="8688136"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pic>
          <p:nvPicPr>
            <p:cNvPr id="405" name="Picture Placeholder 104" descr="Agile Storage Ops&#10;">
              <a:extLst>
                <a:ext uri="{FF2B5EF4-FFF2-40B4-BE49-F238E27FC236}">
                  <a16:creationId xmlns:a16="http://schemas.microsoft.com/office/drawing/2014/main" id="{8D78A9DB-9D01-4E20-82E4-9112F9CEECC4}"/>
                </a:ext>
              </a:extLst>
            </p:cNvPr>
            <p:cNvPicPr>
              <a:picLocks noChangeAspect="1"/>
            </p:cNvPicPr>
            <p:nvPr/>
          </p:nvPicPr>
          <p:blipFill rotWithShape="1">
            <a:blip r:embed="rId21">
              <a:extLst>
                <a:ext uri="{96DAC541-7B7A-43D3-8B79-37D633B846F1}">
                  <asvg:svgBlip xmlns:asvg="http://schemas.microsoft.com/office/drawing/2016/SVG/main" r:embed="rId22"/>
                </a:ext>
              </a:extLst>
            </a:blip>
            <a:srcRect/>
            <a:stretch/>
          </p:blipFill>
          <p:spPr>
            <a:xfrm>
              <a:off x="8752936" y="5296935"/>
              <a:ext cx="365760" cy="365760"/>
            </a:xfrm>
            <a:prstGeom prst="rect">
              <a:avLst/>
            </a:prstGeom>
          </p:spPr>
        </p:pic>
      </p:grpSp>
      <p:grpSp>
        <p:nvGrpSpPr>
          <p:cNvPr id="17" name="Group 16">
            <a:extLst>
              <a:ext uri="{FF2B5EF4-FFF2-40B4-BE49-F238E27FC236}">
                <a16:creationId xmlns:a16="http://schemas.microsoft.com/office/drawing/2014/main" id="{D69B5998-AB5B-47EE-B6B9-3C61259178C8}"/>
              </a:ext>
            </a:extLst>
          </p:cNvPr>
          <p:cNvGrpSpPr/>
          <p:nvPr/>
        </p:nvGrpSpPr>
        <p:grpSpPr>
          <a:xfrm>
            <a:off x="7092013" y="1261010"/>
            <a:ext cx="758008" cy="1317802"/>
            <a:chOff x="7319291" y="1436575"/>
            <a:chExt cx="758008" cy="1317802"/>
          </a:xfrm>
        </p:grpSpPr>
        <p:cxnSp>
          <p:nvCxnSpPr>
            <p:cNvPr id="135" name="Straight Connector 134">
              <a:extLst>
                <a:ext uri="{FF2B5EF4-FFF2-40B4-BE49-F238E27FC236}">
                  <a16:creationId xmlns:a16="http://schemas.microsoft.com/office/drawing/2014/main" id="{CFF84FC6-FB70-4FAB-BE81-A6F5FF9A7353}"/>
                </a:ext>
              </a:extLst>
            </p:cNvPr>
            <p:cNvCxnSpPr>
              <a:cxnSpLocks/>
            </p:cNvCxnSpPr>
            <p:nvPr/>
          </p:nvCxnSpPr>
          <p:spPr bwMode="gray">
            <a:xfrm flipV="1">
              <a:off x="7698292" y="2388712"/>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36" name="Oval 135">
              <a:extLst>
                <a:ext uri="{FF2B5EF4-FFF2-40B4-BE49-F238E27FC236}">
                  <a16:creationId xmlns:a16="http://schemas.microsoft.com/office/drawing/2014/main" id="{A550CAE0-7E36-494C-9E65-297FCB693FD1}"/>
                </a:ext>
              </a:extLst>
            </p:cNvPr>
            <p:cNvSpPr/>
            <p:nvPr/>
          </p:nvSpPr>
          <p:spPr>
            <a:xfrm>
              <a:off x="7458232"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37" name="Rounded Rectangle 37">
              <a:extLst>
                <a:ext uri="{FF2B5EF4-FFF2-40B4-BE49-F238E27FC236}">
                  <a16:creationId xmlns:a16="http://schemas.microsoft.com/office/drawing/2014/main" id="{6333FD56-40A0-41E0-A6A5-446A721B51A5}"/>
                </a:ext>
              </a:extLst>
            </p:cNvPr>
            <p:cNvSpPr/>
            <p:nvPr/>
          </p:nvSpPr>
          <p:spPr>
            <a:xfrm>
              <a:off x="7319291"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HCX</a:t>
              </a:r>
            </a:p>
          </p:txBody>
        </p:sp>
        <p:grpSp>
          <p:nvGrpSpPr>
            <p:cNvPr id="413" name="Group 412" descr="Multiple apps&#10;">
              <a:extLst>
                <a:ext uri="{FF2B5EF4-FFF2-40B4-BE49-F238E27FC236}">
                  <a16:creationId xmlns:a16="http://schemas.microsoft.com/office/drawing/2014/main" id="{186C8234-8A3C-4160-B5C6-CFDCD9649E0B}"/>
                </a:ext>
              </a:extLst>
            </p:cNvPr>
            <p:cNvGrpSpPr>
              <a:grpSpLocks noChangeAspect="1"/>
            </p:cNvGrpSpPr>
            <p:nvPr/>
          </p:nvGrpSpPr>
          <p:grpSpPr>
            <a:xfrm>
              <a:off x="7561230" y="2002791"/>
              <a:ext cx="274320" cy="271874"/>
              <a:chOff x="5805988" y="720881"/>
              <a:chExt cx="597276" cy="591949"/>
            </a:xfrm>
            <a:solidFill>
              <a:schemeClr val="tx1"/>
            </a:solidFill>
          </p:grpSpPr>
          <p:sp>
            <p:nvSpPr>
              <p:cNvPr id="414" name="Picture Placeholder 78">
                <a:extLst>
                  <a:ext uri="{FF2B5EF4-FFF2-40B4-BE49-F238E27FC236}">
                    <a16:creationId xmlns:a16="http://schemas.microsoft.com/office/drawing/2014/main" id="{DE97760C-C048-4FC2-B3A9-7CDBA9196765}"/>
                  </a:ext>
                </a:extLst>
              </p:cNvPr>
              <p:cNvSpPr/>
              <p:nvPr/>
            </p:nvSpPr>
            <p:spPr>
              <a:xfrm>
                <a:off x="5906360" y="1003800"/>
                <a:ext cx="96133" cy="95827"/>
              </a:xfrm>
              <a:custGeom>
                <a:avLst/>
                <a:gdLst>
                  <a:gd name="connsiteX0" fmla="*/ 75010 w 96133"/>
                  <a:gd name="connsiteY0" fmla="*/ 74089 h 95827"/>
                  <a:gd name="connsiteX1" fmla="*/ 21440 w 96133"/>
                  <a:gd name="connsiteY1" fmla="*/ 74089 h 95827"/>
                  <a:gd name="connsiteX2" fmla="*/ 11764 w 96133"/>
                  <a:gd name="connsiteY2" fmla="*/ 95827 h 95827"/>
                  <a:gd name="connsiteX3" fmla="*/ 0 w 96133"/>
                  <a:gd name="connsiteY3" fmla="*/ 95827 h 95827"/>
                  <a:gd name="connsiteX4" fmla="*/ 42122 w 96133"/>
                  <a:gd name="connsiteY4" fmla="*/ 0 h 95827"/>
                  <a:gd name="connsiteX5" fmla="*/ 54012 w 96133"/>
                  <a:gd name="connsiteY5" fmla="*/ 0 h 95827"/>
                  <a:gd name="connsiteX6" fmla="*/ 96134 w 96133"/>
                  <a:gd name="connsiteY6" fmla="*/ 95827 h 95827"/>
                  <a:gd name="connsiteX7" fmla="*/ 84307 w 96133"/>
                  <a:gd name="connsiteY7" fmla="*/ 95827 h 95827"/>
                  <a:gd name="connsiteX8" fmla="*/ 70583 w 96133"/>
                  <a:gd name="connsiteY8" fmla="*/ 63758 h 95827"/>
                  <a:gd name="connsiteX9" fmla="*/ 48446 w 96133"/>
                  <a:gd name="connsiteY9" fmla="*/ 13056 h 95827"/>
                  <a:gd name="connsiteX10" fmla="*/ 26184 w 96133"/>
                  <a:gd name="connsiteY10" fmla="*/ 63758 h 9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133" h="95827">
                    <a:moveTo>
                      <a:pt x="75010" y="74089"/>
                    </a:moveTo>
                    <a:lnTo>
                      <a:pt x="21440" y="74089"/>
                    </a:lnTo>
                    <a:lnTo>
                      <a:pt x="11764" y="95827"/>
                    </a:lnTo>
                    <a:lnTo>
                      <a:pt x="0" y="95827"/>
                    </a:lnTo>
                    <a:lnTo>
                      <a:pt x="42122" y="0"/>
                    </a:lnTo>
                    <a:lnTo>
                      <a:pt x="54012" y="0"/>
                    </a:lnTo>
                    <a:lnTo>
                      <a:pt x="96134" y="95827"/>
                    </a:lnTo>
                    <a:lnTo>
                      <a:pt x="84307" y="95827"/>
                    </a:lnTo>
                    <a:close/>
                    <a:moveTo>
                      <a:pt x="70583" y="63758"/>
                    </a:moveTo>
                    <a:lnTo>
                      <a:pt x="48446" y="13056"/>
                    </a:lnTo>
                    <a:lnTo>
                      <a:pt x="26184" y="6375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5" name="Picture Placeholder 78">
                <a:extLst>
                  <a:ext uri="{FF2B5EF4-FFF2-40B4-BE49-F238E27FC236}">
                    <a16:creationId xmlns:a16="http://schemas.microsoft.com/office/drawing/2014/main" id="{D72466C5-4A26-46F1-9744-91BB5A88BFEC}"/>
                  </a:ext>
                </a:extLst>
              </p:cNvPr>
              <p:cNvSpPr/>
              <p:nvPr/>
            </p:nvSpPr>
            <p:spPr>
              <a:xfrm>
                <a:off x="6022100" y="1003800"/>
                <a:ext cx="74061" cy="95890"/>
              </a:xfrm>
              <a:custGeom>
                <a:avLst/>
                <a:gdLst>
                  <a:gd name="connsiteX0" fmla="*/ 0 w 74061"/>
                  <a:gd name="connsiteY0" fmla="*/ 0 h 95890"/>
                  <a:gd name="connsiteX1" fmla="*/ 38833 w 74061"/>
                  <a:gd name="connsiteY1" fmla="*/ 0 h 95890"/>
                  <a:gd name="connsiteX2" fmla="*/ 74061 w 74061"/>
                  <a:gd name="connsiteY2" fmla="*/ 30675 h 95890"/>
                  <a:gd name="connsiteX3" fmla="*/ 38833 w 74061"/>
                  <a:gd name="connsiteY3" fmla="*/ 61413 h 95890"/>
                  <a:gd name="connsiteX4" fmla="*/ 10878 w 74061"/>
                  <a:gd name="connsiteY4" fmla="*/ 61413 h 95890"/>
                  <a:gd name="connsiteX5" fmla="*/ 10878 w 74061"/>
                  <a:gd name="connsiteY5" fmla="*/ 95891 h 95890"/>
                  <a:gd name="connsiteX6" fmla="*/ 0 w 74061"/>
                  <a:gd name="connsiteY6" fmla="*/ 95891 h 95890"/>
                  <a:gd name="connsiteX7" fmla="*/ 36872 w 74061"/>
                  <a:gd name="connsiteY7" fmla="*/ 50702 h 95890"/>
                  <a:gd name="connsiteX8" fmla="*/ 63056 w 74061"/>
                  <a:gd name="connsiteY8" fmla="*/ 30358 h 95890"/>
                  <a:gd name="connsiteX9" fmla="*/ 36872 w 74061"/>
                  <a:gd name="connsiteY9" fmla="*/ 10014 h 95890"/>
                  <a:gd name="connsiteX10" fmla="*/ 10878 w 74061"/>
                  <a:gd name="connsiteY10" fmla="*/ 10014 h 95890"/>
                  <a:gd name="connsiteX11" fmla="*/ 10878 w 74061"/>
                  <a:gd name="connsiteY11" fmla="*/ 50702 h 95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061" h="95890">
                    <a:moveTo>
                      <a:pt x="0" y="0"/>
                    </a:moveTo>
                    <a:lnTo>
                      <a:pt x="38833" y="0"/>
                    </a:lnTo>
                    <a:cubicBezTo>
                      <a:pt x="58629" y="0"/>
                      <a:pt x="74061" y="12676"/>
                      <a:pt x="74061" y="30675"/>
                    </a:cubicBezTo>
                    <a:cubicBezTo>
                      <a:pt x="74061" y="48674"/>
                      <a:pt x="58629" y="61413"/>
                      <a:pt x="38833" y="61413"/>
                    </a:cubicBezTo>
                    <a:lnTo>
                      <a:pt x="10878" y="61413"/>
                    </a:lnTo>
                    <a:lnTo>
                      <a:pt x="10878" y="95891"/>
                    </a:lnTo>
                    <a:lnTo>
                      <a:pt x="0" y="95891"/>
                    </a:lnTo>
                    <a:close/>
                    <a:moveTo>
                      <a:pt x="36872" y="50702"/>
                    </a:moveTo>
                    <a:cubicBezTo>
                      <a:pt x="52494" y="50702"/>
                      <a:pt x="63056" y="43224"/>
                      <a:pt x="63056" y="30358"/>
                    </a:cubicBezTo>
                    <a:cubicBezTo>
                      <a:pt x="63056" y="17492"/>
                      <a:pt x="52494" y="10014"/>
                      <a:pt x="36872" y="10014"/>
                    </a:cubicBezTo>
                    <a:lnTo>
                      <a:pt x="10878" y="10014"/>
                    </a:lnTo>
                    <a:lnTo>
                      <a:pt x="10878" y="5070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6" name="Picture Placeholder 78">
                <a:extLst>
                  <a:ext uri="{FF2B5EF4-FFF2-40B4-BE49-F238E27FC236}">
                    <a16:creationId xmlns:a16="http://schemas.microsoft.com/office/drawing/2014/main" id="{29361A32-35C9-4DD7-A959-D4A8564284A9}"/>
                  </a:ext>
                </a:extLst>
              </p:cNvPr>
              <p:cNvSpPr/>
              <p:nvPr/>
            </p:nvSpPr>
            <p:spPr>
              <a:xfrm>
                <a:off x="6115894" y="1003800"/>
                <a:ext cx="74061" cy="95890"/>
              </a:xfrm>
              <a:custGeom>
                <a:avLst/>
                <a:gdLst>
                  <a:gd name="connsiteX0" fmla="*/ 0 w 74061"/>
                  <a:gd name="connsiteY0" fmla="*/ 0 h 95890"/>
                  <a:gd name="connsiteX1" fmla="*/ 38833 w 74061"/>
                  <a:gd name="connsiteY1" fmla="*/ 0 h 95890"/>
                  <a:gd name="connsiteX2" fmla="*/ 74061 w 74061"/>
                  <a:gd name="connsiteY2" fmla="*/ 30675 h 95890"/>
                  <a:gd name="connsiteX3" fmla="*/ 38833 w 74061"/>
                  <a:gd name="connsiteY3" fmla="*/ 61413 h 95890"/>
                  <a:gd name="connsiteX4" fmla="*/ 10942 w 74061"/>
                  <a:gd name="connsiteY4" fmla="*/ 61413 h 95890"/>
                  <a:gd name="connsiteX5" fmla="*/ 10942 w 74061"/>
                  <a:gd name="connsiteY5" fmla="*/ 95891 h 95890"/>
                  <a:gd name="connsiteX6" fmla="*/ 0 w 74061"/>
                  <a:gd name="connsiteY6" fmla="*/ 95891 h 95890"/>
                  <a:gd name="connsiteX7" fmla="*/ 36872 w 74061"/>
                  <a:gd name="connsiteY7" fmla="*/ 50702 h 95890"/>
                  <a:gd name="connsiteX8" fmla="*/ 63056 w 74061"/>
                  <a:gd name="connsiteY8" fmla="*/ 30358 h 95890"/>
                  <a:gd name="connsiteX9" fmla="*/ 36872 w 74061"/>
                  <a:gd name="connsiteY9" fmla="*/ 10014 h 95890"/>
                  <a:gd name="connsiteX10" fmla="*/ 10942 w 74061"/>
                  <a:gd name="connsiteY10" fmla="*/ 10014 h 95890"/>
                  <a:gd name="connsiteX11" fmla="*/ 10942 w 74061"/>
                  <a:gd name="connsiteY11" fmla="*/ 50702 h 95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061" h="95890">
                    <a:moveTo>
                      <a:pt x="0" y="0"/>
                    </a:moveTo>
                    <a:lnTo>
                      <a:pt x="38833" y="0"/>
                    </a:lnTo>
                    <a:cubicBezTo>
                      <a:pt x="58566" y="0"/>
                      <a:pt x="74061" y="12676"/>
                      <a:pt x="74061" y="30675"/>
                    </a:cubicBezTo>
                    <a:cubicBezTo>
                      <a:pt x="74061" y="48674"/>
                      <a:pt x="58566" y="61413"/>
                      <a:pt x="38833" y="61413"/>
                    </a:cubicBezTo>
                    <a:lnTo>
                      <a:pt x="10942" y="61413"/>
                    </a:lnTo>
                    <a:lnTo>
                      <a:pt x="10942" y="95891"/>
                    </a:lnTo>
                    <a:lnTo>
                      <a:pt x="0" y="95891"/>
                    </a:lnTo>
                    <a:close/>
                    <a:moveTo>
                      <a:pt x="36872" y="50702"/>
                    </a:moveTo>
                    <a:cubicBezTo>
                      <a:pt x="52431" y="50702"/>
                      <a:pt x="63056" y="43224"/>
                      <a:pt x="63056" y="30358"/>
                    </a:cubicBezTo>
                    <a:cubicBezTo>
                      <a:pt x="63056" y="17492"/>
                      <a:pt x="52431" y="10014"/>
                      <a:pt x="36872" y="10014"/>
                    </a:cubicBezTo>
                    <a:lnTo>
                      <a:pt x="10942" y="10014"/>
                    </a:lnTo>
                    <a:lnTo>
                      <a:pt x="10942" y="5070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7" name="Picture Placeholder 78">
                <a:extLst>
                  <a:ext uri="{FF2B5EF4-FFF2-40B4-BE49-F238E27FC236}">
                    <a16:creationId xmlns:a16="http://schemas.microsoft.com/office/drawing/2014/main" id="{94291142-52CE-4933-AE49-3EFD8D6228FA}"/>
                  </a:ext>
                </a:extLst>
              </p:cNvPr>
              <p:cNvSpPr/>
              <p:nvPr/>
            </p:nvSpPr>
            <p:spPr>
              <a:xfrm>
                <a:off x="5805988" y="821652"/>
                <a:ext cx="490156" cy="491178"/>
              </a:xfrm>
              <a:custGeom>
                <a:avLst/>
                <a:gdLst>
                  <a:gd name="connsiteX0" fmla="*/ 452715 w 490156"/>
                  <a:gd name="connsiteY0" fmla="*/ 15844 h 491178"/>
                  <a:gd name="connsiteX1" fmla="*/ 474345 w 490156"/>
                  <a:gd name="connsiteY1" fmla="*/ 37520 h 491178"/>
                  <a:gd name="connsiteX2" fmla="*/ 474345 w 490156"/>
                  <a:gd name="connsiteY2" fmla="*/ 453659 h 491178"/>
                  <a:gd name="connsiteX3" fmla="*/ 452715 w 490156"/>
                  <a:gd name="connsiteY3" fmla="*/ 475334 h 491178"/>
                  <a:gd name="connsiteX4" fmla="*/ 37442 w 490156"/>
                  <a:gd name="connsiteY4" fmla="*/ 475334 h 491178"/>
                  <a:gd name="connsiteX5" fmla="*/ 15812 w 490156"/>
                  <a:gd name="connsiteY5" fmla="*/ 453659 h 491178"/>
                  <a:gd name="connsiteX6" fmla="*/ 15812 w 490156"/>
                  <a:gd name="connsiteY6" fmla="*/ 37520 h 491178"/>
                  <a:gd name="connsiteX7" fmla="*/ 37442 w 490156"/>
                  <a:gd name="connsiteY7" fmla="*/ 15844 h 491178"/>
                  <a:gd name="connsiteX8" fmla="*/ 452715 w 490156"/>
                  <a:gd name="connsiteY8" fmla="*/ 15844 h 491178"/>
                  <a:gd name="connsiteX9" fmla="*/ 452715 w 490156"/>
                  <a:gd name="connsiteY9" fmla="*/ 0 h 491178"/>
                  <a:gd name="connsiteX10" fmla="*/ 37442 w 490156"/>
                  <a:gd name="connsiteY10" fmla="*/ 0 h 491178"/>
                  <a:gd name="connsiteX11" fmla="*/ 0 w 490156"/>
                  <a:gd name="connsiteY11" fmla="*/ 37520 h 491178"/>
                  <a:gd name="connsiteX12" fmla="*/ 0 w 490156"/>
                  <a:gd name="connsiteY12" fmla="*/ 453659 h 491178"/>
                  <a:gd name="connsiteX13" fmla="*/ 37442 w 490156"/>
                  <a:gd name="connsiteY13" fmla="*/ 491178 h 491178"/>
                  <a:gd name="connsiteX14" fmla="*/ 452715 w 490156"/>
                  <a:gd name="connsiteY14" fmla="*/ 491178 h 491178"/>
                  <a:gd name="connsiteX15" fmla="*/ 490156 w 490156"/>
                  <a:gd name="connsiteY15" fmla="*/ 453659 h 491178"/>
                  <a:gd name="connsiteX16" fmla="*/ 490156 w 490156"/>
                  <a:gd name="connsiteY16" fmla="*/ 37520 h 491178"/>
                  <a:gd name="connsiteX17" fmla="*/ 452715 w 490156"/>
                  <a:gd name="connsiteY17" fmla="*/ 0 h 49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90156" h="491178">
                    <a:moveTo>
                      <a:pt x="452715" y="15844"/>
                    </a:moveTo>
                    <a:cubicBezTo>
                      <a:pt x="464661" y="15844"/>
                      <a:pt x="474345" y="25549"/>
                      <a:pt x="474345" y="37520"/>
                    </a:cubicBezTo>
                    <a:lnTo>
                      <a:pt x="474345" y="453659"/>
                    </a:lnTo>
                    <a:cubicBezTo>
                      <a:pt x="474345" y="465631"/>
                      <a:pt x="464661" y="475334"/>
                      <a:pt x="452715" y="475334"/>
                    </a:cubicBezTo>
                    <a:lnTo>
                      <a:pt x="37442" y="475334"/>
                    </a:lnTo>
                    <a:cubicBezTo>
                      <a:pt x="25496" y="475334"/>
                      <a:pt x="15812" y="465631"/>
                      <a:pt x="15812" y="453659"/>
                    </a:cubicBezTo>
                    <a:lnTo>
                      <a:pt x="15812" y="37520"/>
                    </a:lnTo>
                    <a:cubicBezTo>
                      <a:pt x="15812" y="25549"/>
                      <a:pt x="25496" y="15844"/>
                      <a:pt x="37442" y="15844"/>
                    </a:cubicBezTo>
                    <a:lnTo>
                      <a:pt x="452715" y="15844"/>
                    </a:lnTo>
                    <a:moveTo>
                      <a:pt x="452715" y="0"/>
                    </a:moveTo>
                    <a:lnTo>
                      <a:pt x="37442" y="0"/>
                    </a:lnTo>
                    <a:cubicBezTo>
                      <a:pt x="16763" y="0"/>
                      <a:pt x="0" y="16798"/>
                      <a:pt x="0" y="37520"/>
                    </a:cubicBezTo>
                    <a:lnTo>
                      <a:pt x="0" y="453659"/>
                    </a:lnTo>
                    <a:cubicBezTo>
                      <a:pt x="0" y="474383"/>
                      <a:pt x="16763" y="491178"/>
                      <a:pt x="37442" y="491178"/>
                    </a:cubicBezTo>
                    <a:lnTo>
                      <a:pt x="452715" y="491178"/>
                    </a:lnTo>
                    <a:cubicBezTo>
                      <a:pt x="473393" y="491178"/>
                      <a:pt x="490156" y="474383"/>
                      <a:pt x="490156" y="453659"/>
                    </a:cubicBezTo>
                    <a:lnTo>
                      <a:pt x="490156" y="37520"/>
                    </a:lnTo>
                    <a:cubicBezTo>
                      <a:pt x="490156" y="16798"/>
                      <a:pt x="473393" y="0"/>
                      <a:pt x="452715"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8" name="Picture Placeholder 78">
                <a:extLst>
                  <a:ext uri="{FF2B5EF4-FFF2-40B4-BE49-F238E27FC236}">
                    <a16:creationId xmlns:a16="http://schemas.microsoft.com/office/drawing/2014/main" id="{3D49ED3C-577D-453C-BCDA-9532F0695AC8}"/>
                  </a:ext>
                </a:extLst>
              </p:cNvPr>
              <p:cNvSpPr/>
              <p:nvPr/>
            </p:nvSpPr>
            <p:spPr>
              <a:xfrm>
                <a:off x="5862214" y="771267"/>
                <a:ext cx="486595" cy="491241"/>
              </a:xfrm>
              <a:custGeom>
                <a:avLst/>
                <a:gdLst>
                  <a:gd name="connsiteX0" fmla="*/ 461696 w 486595"/>
                  <a:gd name="connsiteY0" fmla="*/ 491242 h 491241"/>
                  <a:gd name="connsiteX1" fmla="*/ 454739 w 486595"/>
                  <a:gd name="connsiteY1" fmla="*/ 477045 h 491241"/>
                  <a:gd name="connsiteX2" fmla="*/ 470740 w 486595"/>
                  <a:gd name="connsiteY2" fmla="*/ 451187 h 491241"/>
                  <a:gd name="connsiteX3" fmla="*/ 470740 w 486595"/>
                  <a:gd name="connsiteY3" fmla="*/ 44555 h 491241"/>
                  <a:gd name="connsiteX4" fmla="*/ 441900 w 486595"/>
                  <a:gd name="connsiteY4" fmla="*/ 15844 h 491241"/>
                  <a:gd name="connsiteX5" fmla="*/ 39023 w 486595"/>
                  <a:gd name="connsiteY5" fmla="*/ 15844 h 491241"/>
                  <a:gd name="connsiteX6" fmla="*/ 15242 w 486595"/>
                  <a:gd name="connsiteY6" fmla="*/ 30548 h 491241"/>
                  <a:gd name="connsiteX7" fmla="*/ 0 w 486595"/>
                  <a:gd name="connsiteY7" fmla="*/ 26429 h 491241"/>
                  <a:gd name="connsiteX8" fmla="*/ 39023 w 486595"/>
                  <a:gd name="connsiteY8" fmla="*/ 0 h 491241"/>
                  <a:gd name="connsiteX9" fmla="*/ 442279 w 486595"/>
                  <a:gd name="connsiteY9" fmla="*/ 0 h 491241"/>
                  <a:gd name="connsiteX10" fmla="*/ 486551 w 486595"/>
                  <a:gd name="connsiteY10" fmla="*/ 44808 h 491241"/>
                  <a:gd name="connsiteX11" fmla="*/ 486551 w 486595"/>
                  <a:gd name="connsiteY11" fmla="*/ 451187 h 491241"/>
                  <a:gd name="connsiteX12" fmla="*/ 461696 w 486595"/>
                  <a:gd name="connsiteY12" fmla="*/ 491242 h 491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6595" h="491241">
                    <a:moveTo>
                      <a:pt x="461696" y="491242"/>
                    </a:moveTo>
                    <a:lnTo>
                      <a:pt x="454739" y="477045"/>
                    </a:lnTo>
                    <a:cubicBezTo>
                      <a:pt x="464577" y="472211"/>
                      <a:pt x="470792" y="462167"/>
                      <a:pt x="470740" y="451187"/>
                    </a:cubicBezTo>
                    <a:lnTo>
                      <a:pt x="470740" y="44555"/>
                    </a:lnTo>
                    <a:cubicBezTo>
                      <a:pt x="471309" y="24020"/>
                      <a:pt x="467261" y="17049"/>
                      <a:pt x="441900" y="15844"/>
                    </a:cubicBezTo>
                    <a:lnTo>
                      <a:pt x="39023" y="15844"/>
                    </a:lnTo>
                    <a:cubicBezTo>
                      <a:pt x="22516" y="15844"/>
                      <a:pt x="17772" y="21232"/>
                      <a:pt x="15242" y="30548"/>
                    </a:cubicBezTo>
                    <a:lnTo>
                      <a:pt x="0" y="26429"/>
                    </a:lnTo>
                    <a:cubicBezTo>
                      <a:pt x="6325" y="2725"/>
                      <a:pt x="25298" y="0"/>
                      <a:pt x="39023" y="0"/>
                    </a:cubicBezTo>
                    <a:lnTo>
                      <a:pt x="442279" y="0"/>
                    </a:lnTo>
                    <a:cubicBezTo>
                      <a:pt x="475167" y="1521"/>
                      <a:pt x="487437" y="14133"/>
                      <a:pt x="486551" y="44808"/>
                    </a:cubicBezTo>
                    <a:lnTo>
                      <a:pt x="486551" y="451187"/>
                    </a:lnTo>
                    <a:cubicBezTo>
                      <a:pt x="486622" y="468211"/>
                      <a:pt x="476964" y="483775"/>
                      <a:pt x="461696" y="49124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9" name="Picture Placeholder 78">
                <a:extLst>
                  <a:ext uri="{FF2B5EF4-FFF2-40B4-BE49-F238E27FC236}">
                    <a16:creationId xmlns:a16="http://schemas.microsoft.com/office/drawing/2014/main" id="{C5C27582-8F41-4DD2-B100-1D86749C9730}"/>
                  </a:ext>
                </a:extLst>
              </p:cNvPr>
              <p:cNvSpPr/>
              <p:nvPr/>
            </p:nvSpPr>
            <p:spPr>
              <a:xfrm>
                <a:off x="5916669" y="720881"/>
                <a:ext cx="486595" cy="491304"/>
              </a:xfrm>
              <a:custGeom>
                <a:avLst/>
                <a:gdLst>
                  <a:gd name="connsiteX0" fmla="*/ 461696 w 486595"/>
                  <a:gd name="connsiteY0" fmla="*/ 491305 h 491304"/>
                  <a:gd name="connsiteX1" fmla="*/ 454739 w 486595"/>
                  <a:gd name="connsiteY1" fmla="*/ 477425 h 491304"/>
                  <a:gd name="connsiteX2" fmla="*/ 470677 w 486595"/>
                  <a:gd name="connsiteY2" fmla="*/ 451567 h 491304"/>
                  <a:gd name="connsiteX3" fmla="*/ 470677 w 486595"/>
                  <a:gd name="connsiteY3" fmla="*/ 44618 h 491304"/>
                  <a:gd name="connsiteX4" fmla="*/ 441900 w 486595"/>
                  <a:gd name="connsiteY4" fmla="*/ 15844 h 491304"/>
                  <a:gd name="connsiteX5" fmla="*/ 39023 w 486595"/>
                  <a:gd name="connsiteY5" fmla="*/ 15844 h 491304"/>
                  <a:gd name="connsiteX6" fmla="*/ 15242 w 486595"/>
                  <a:gd name="connsiteY6" fmla="*/ 30548 h 491304"/>
                  <a:gd name="connsiteX7" fmla="*/ 0 w 486595"/>
                  <a:gd name="connsiteY7" fmla="*/ 26365 h 491304"/>
                  <a:gd name="connsiteX8" fmla="*/ 39023 w 486595"/>
                  <a:gd name="connsiteY8" fmla="*/ 0 h 491304"/>
                  <a:gd name="connsiteX9" fmla="*/ 442279 w 486595"/>
                  <a:gd name="connsiteY9" fmla="*/ 0 h 491304"/>
                  <a:gd name="connsiteX10" fmla="*/ 486551 w 486595"/>
                  <a:gd name="connsiteY10" fmla="*/ 44808 h 491304"/>
                  <a:gd name="connsiteX11" fmla="*/ 486551 w 486595"/>
                  <a:gd name="connsiteY11" fmla="*/ 451250 h 491304"/>
                  <a:gd name="connsiteX12" fmla="*/ 461696 w 486595"/>
                  <a:gd name="connsiteY12" fmla="*/ 491305 h 49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6595" h="491304">
                    <a:moveTo>
                      <a:pt x="461696" y="491305"/>
                    </a:moveTo>
                    <a:lnTo>
                      <a:pt x="454739" y="477425"/>
                    </a:lnTo>
                    <a:cubicBezTo>
                      <a:pt x="464561" y="472585"/>
                      <a:pt x="470759" y="462537"/>
                      <a:pt x="470677" y="451567"/>
                    </a:cubicBezTo>
                    <a:lnTo>
                      <a:pt x="470677" y="44618"/>
                    </a:lnTo>
                    <a:cubicBezTo>
                      <a:pt x="471309" y="24020"/>
                      <a:pt x="467261" y="17112"/>
                      <a:pt x="441900" y="15844"/>
                    </a:cubicBezTo>
                    <a:lnTo>
                      <a:pt x="39023" y="15844"/>
                    </a:lnTo>
                    <a:cubicBezTo>
                      <a:pt x="22516" y="15844"/>
                      <a:pt x="17772" y="21232"/>
                      <a:pt x="15242" y="30548"/>
                    </a:cubicBezTo>
                    <a:lnTo>
                      <a:pt x="0" y="26365"/>
                    </a:lnTo>
                    <a:cubicBezTo>
                      <a:pt x="6325" y="2725"/>
                      <a:pt x="25298" y="0"/>
                      <a:pt x="39023" y="0"/>
                    </a:cubicBezTo>
                    <a:lnTo>
                      <a:pt x="442279" y="0"/>
                    </a:lnTo>
                    <a:cubicBezTo>
                      <a:pt x="475167" y="1521"/>
                      <a:pt x="487437" y="14070"/>
                      <a:pt x="486551" y="44808"/>
                    </a:cubicBezTo>
                    <a:lnTo>
                      <a:pt x="486551" y="451250"/>
                    </a:lnTo>
                    <a:cubicBezTo>
                      <a:pt x="486621" y="468275"/>
                      <a:pt x="476963" y="483838"/>
                      <a:pt x="461696" y="491305"/>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2" name="Group 1">
            <a:extLst>
              <a:ext uri="{FF2B5EF4-FFF2-40B4-BE49-F238E27FC236}">
                <a16:creationId xmlns:a16="http://schemas.microsoft.com/office/drawing/2014/main" id="{D4C469C8-BD7B-6F20-DB05-532D959C5D33}"/>
              </a:ext>
            </a:extLst>
          </p:cNvPr>
          <p:cNvGrpSpPr/>
          <p:nvPr/>
        </p:nvGrpSpPr>
        <p:grpSpPr>
          <a:xfrm>
            <a:off x="4438837" y="3527622"/>
            <a:ext cx="758008" cy="2475217"/>
            <a:chOff x="4922073" y="3703187"/>
            <a:chExt cx="758008" cy="2475217"/>
          </a:xfrm>
        </p:grpSpPr>
        <p:sp>
          <p:nvSpPr>
            <p:cNvPr id="4" name="Rounded Rectangle 37">
              <a:extLst>
                <a:ext uri="{FF2B5EF4-FFF2-40B4-BE49-F238E27FC236}">
                  <a16:creationId xmlns:a16="http://schemas.microsoft.com/office/drawing/2014/main" id="{07E7C173-C0F2-7F57-A3B2-0AAB1B4416A4}"/>
                </a:ext>
              </a:extLst>
            </p:cNvPr>
            <p:cNvSpPr/>
            <p:nvPr/>
          </p:nvSpPr>
          <p:spPr>
            <a:xfrm>
              <a:off x="4922073"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Network</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Monitoring</a:t>
              </a:r>
            </a:p>
          </p:txBody>
        </p:sp>
        <p:cxnSp>
          <p:nvCxnSpPr>
            <p:cNvPr id="5" name="Straight Connector 4">
              <a:extLst>
                <a:ext uri="{FF2B5EF4-FFF2-40B4-BE49-F238E27FC236}">
                  <a16:creationId xmlns:a16="http://schemas.microsoft.com/office/drawing/2014/main" id="{12002B94-A21B-AAB2-EB73-1783F50ED3D5}"/>
                </a:ext>
              </a:extLst>
            </p:cNvPr>
            <p:cNvCxnSpPr>
              <a:cxnSpLocks/>
            </p:cNvCxnSpPr>
            <p:nvPr/>
          </p:nvCxnSpPr>
          <p:spPr bwMode="gray">
            <a:xfrm>
              <a:off x="530107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F1865FF7-02DE-E82E-CAD8-A30CF1FAC193}"/>
                </a:ext>
              </a:extLst>
            </p:cNvPr>
            <p:cNvSpPr/>
            <p:nvPr/>
          </p:nvSpPr>
          <p:spPr>
            <a:xfrm rot="10800000">
              <a:off x="5061016"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grpSp>
          <p:nvGrpSpPr>
            <p:cNvPr id="7" name="Picture Placeholder 89" descr="Filtered Data&#10;">
              <a:extLst>
                <a:ext uri="{FF2B5EF4-FFF2-40B4-BE49-F238E27FC236}">
                  <a16:creationId xmlns:a16="http://schemas.microsoft.com/office/drawing/2014/main" id="{FC3771C5-9622-5EDD-BAB2-4C3CD3C05ECC}"/>
                </a:ext>
              </a:extLst>
            </p:cNvPr>
            <p:cNvGrpSpPr>
              <a:grpSpLocks noChangeAspect="1"/>
            </p:cNvGrpSpPr>
            <p:nvPr/>
          </p:nvGrpSpPr>
          <p:grpSpPr>
            <a:xfrm>
              <a:off x="5163916" y="5354825"/>
              <a:ext cx="274320" cy="273180"/>
              <a:chOff x="7128581" y="1952373"/>
              <a:chExt cx="598263" cy="595777"/>
            </a:xfrm>
            <a:solidFill>
              <a:schemeClr val="tx1"/>
            </a:solidFill>
          </p:grpSpPr>
          <p:sp>
            <p:nvSpPr>
              <p:cNvPr id="8" name="Picture Placeholder 89">
                <a:extLst>
                  <a:ext uri="{FF2B5EF4-FFF2-40B4-BE49-F238E27FC236}">
                    <a16:creationId xmlns:a16="http://schemas.microsoft.com/office/drawing/2014/main" id="{A76F6A8B-75BD-8B76-BAD6-307FC8DEB7C2}"/>
                  </a:ext>
                </a:extLst>
              </p:cNvPr>
              <p:cNvSpPr/>
              <p:nvPr/>
            </p:nvSpPr>
            <p:spPr>
              <a:xfrm>
                <a:off x="7314912" y="1952373"/>
                <a:ext cx="229427" cy="595777"/>
              </a:xfrm>
              <a:custGeom>
                <a:avLst/>
                <a:gdLst>
                  <a:gd name="connsiteX0" fmla="*/ 58941 w 229427"/>
                  <a:gd name="connsiteY0" fmla="*/ 595777 h 595777"/>
                  <a:gd name="connsiteX1" fmla="*/ 0 w 229427"/>
                  <a:gd name="connsiteY1" fmla="*/ 595777 h 595777"/>
                  <a:gd name="connsiteX2" fmla="*/ 0 w 229427"/>
                  <a:gd name="connsiteY2" fmla="*/ 576804 h 595777"/>
                  <a:gd name="connsiteX3" fmla="*/ 48167 w 229427"/>
                  <a:gd name="connsiteY3" fmla="*/ 576804 h 595777"/>
                  <a:gd name="connsiteX4" fmla="*/ 207879 w 229427"/>
                  <a:gd name="connsiteY4" fmla="*/ 297889 h 595777"/>
                  <a:gd name="connsiteX5" fmla="*/ 48167 w 229427"/>
                  <a:gd name="connsiteY5" fmla="*/ 18974 h 595777"/>
                  <a:gd name="connsiteX6" fmla="*/ 0 w 229427"/>
                  <a:gd name="connsiteY6" fmla="*/ 18974 h 595777"/>
                  <a:gd name="connsiteX7" fmla="*/ 0 w 229427"/>
                  <a:gd name="connsiteY7" fmla="*/ 0 h 595777"/>
                  <a:gd name="connsiteX8" fmla="*/ 58941 w 229427"/>
                  <a:gd name="connsiteY8" fmla="*/ 0 h 595777"/>
                  <a:gd name="connsiteX9" fmla="*/ 229428 w 229427"/>
                  <a:gd name="connsiteY9" fmla="*/ 297889 h 59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427" h="595777">
                    <a:moveTo>
                      <a:pt x="58941" y="595777"/>
                    </a:moveTo>
                    <a:lnTo>
                      <a:pt x="0" y="595777"/>
                    </a:lnTo>
                    <a:lnTo>
                      <a:pt x="0" y="576804"/>
                    </a:lnTo>
                    <a:lnTo>
                      <a:pt x="48167" y="576804"/>
                    </a:lnTo>
                    <a:lnTo>
                      <a:pt x="207879" y="297889"/>
                    </a:lnTo>
                    <a:lnTo>
                      <a:pt x="48167" y="18974"/>
                    </a:lnTo>
                    <a:lnTo>
                      <a:pt x="0" y="18974"/>
                    </a:lnTo>
                    <a:lnTo>
                      <a:pt x="0" y="0"/>
                    </a:lnTo>
                    <a:lnTo>
                      <a:pt x="58941" y="0"/>
                    </a:lnTo>
                    <a:lnTo>
                      <a:pt x="229428" y="297889"/>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9" name="Picture Placeholder 89">
                <a:extLst>
                  <a:ext uri="{FF2B5EF4-FFF2-40B4-BE49-F238E27FC236}">
                    <a16:creationId xmlns:a16="http://schemas.microsoft.com/office/drawing/2014/main" id="{B0716079-BE0E-E257-43CC-2E5A8A82A893}"/>
                  </a:ext>
                </a:extLst>
              </p:cNvPr>
              <p:cNvGrpSpPr/>
              <p:nvPr/>
            </p:nvGrpSpPr>
            <p:grpSpPr>
              <a:xfrm>
                <a:off x="7253435" y="2016251"/>
                <a:ext cx="348033" cy="35417"/>
                <a:chOff x="7253435" y="2016251"/>
                <a:chExt cx="348033" cy="35417"/>
              </a:xfrm>
              <a:grpFill/>
            </p:grpSpPr>
            <p:sp>
              <p:nvSpPr>
                <p:cNvPr id="123" name="Picture Placeholder 89">
                  <a:extLst>
                    <a:ext uri="{FF2B5EF4-FFF2-40B4-BE49-F238E27FC236}">
                      <a16:creationId xmlns:a16="http://schemas.microsoft.com/office/drawing/2014/main" id="{D9DEC41E-E723-1FF9-433C-3CBEFEECBBD5}"/>
                    </a:ext>
                  </a:extLst>
                </p:cNvPr>
                <p:cNvSpPr/>
                <p:nvPr/>
              </p:nvSpPr>
              <p:spPr>
                <a:xfrm>
                  <a:off x="7253435"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2" name="Picture Placeholder 89">
                  <a:extLst>
                    <a:ext uri="{FF2B5EF4-FFF2-40B4-BE49-F238E27FC236}">
                      <a16:creationId xmlns:a16="http://schemas.microsoft.com/office/drawing/2014/main" id="{DFA59C45-619F-EF5A-C6CA-7B56471747D3}"/>
                    </a:ext>
                  </a:extLst>
                </p:cNvPr>
                <p:cNvSpPr/>
                <p:nvPr/>
              </p:nvSpPr>
              <p:spPr>
                <a:xfrm>
                  <a:off x="7315545"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5" name="Picture Placeholder 89">
                  <a:extLst>
                    <a:ext uri="{FF2B5EF4-FFF2-40B4-BE49-F238E27FC236}">
                      <a16:creationId xmlns:a16="http://schemas.microsoft.com/office/drawing/2014/main" id="{59FEA1BA-408A-3659-95DA-52662B08100A}"/>
                    </a:ext>
                  </a:extLst>
                </p:cNvPr>
                <p:cNvSpPr/>
                <p:nvPr/>
              </p:nvSpPr>
              <p:spPr>
                <a:xfrm>
                  <a:off x="7378290"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6" name="Picture Placeholder 89">
                  <a:extLst>
                    <a:ext uri="{FF2B5EF4-FFF2-40B4-BE49-F238E27FC236}">
                      <a16:creationId xmlns:a16="http://schemas.microsoft.com/office/drawing/2014/main" id="{26B22EBE-E2F0-1350-B8FB-ED9D9E0C330C}"/>
                    </a:ext>
                  </a:extLst>
                </p:cNvPr>
                <p:cNvSpPr/>
                <p:nvPr/>
              </p:nvSpPr>
              <p:spPr>
                <a:xfrm>
                  <a:off x="7503144"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50" name="Picture Placeholder 89">
                  <a:extLst>
                    <a:ext uri="{FF2B5EF4-FFF2-40B4-BE49-F238E27FC236}">
                      <a16:creationId xmlns:a16="http://schemas.microsoft.com/office/drawing/2014/main" id="{E35BFB9C-CEB8-FD44-FEBD-A80A9F3C07A6}"/>
                    </a:ext>
                  </a:extLst>
                </p:cNvPr>
                <p:cNvSpPr/>
                <p:nvPr/>
              </p:nvSpPr>
              <p:spPr>
                <a:xfrm>
                  <a:off x="7565254"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0" name="Picture Placeholder 89">
                <a:extLst>
                  <a:ext uri="{FF2B5EF4-FFF2-40B4-BE49-F238E27FC236}">
                    <a16:creationId xmlns:a16="http://schemas.microsoft.com/office/drawing/2014/main" id="{EDB673E4-86E1-B770-9700-B100F60718A6}"/>
                  </a:ext>
                </a:extLst>
              </p:cNvPr>
              <p:cNvGrpSpPr/>
              <p:nvPr/>
            </p:nvGrpSpPr>
            <p:grpSpPr>
              <a:xfrm>
                <a:off x="7315545" y="2102898"/>
                <a:ext cx="348033" cy="35417"/>
                <a:chOff x="7315545" y="2102898"/>
                <a:chExt cx="348033" cy="35417"/>
              </a:xfrm>
              <a:grpFill/>
            </p:grpSpPr>
            <p:sp>
              <p:nvSpPr>
                <p:cNvPr id="115" name="Picture Placeholder 89">
                  <a:extLst>
                    <a:ext uri="{FF2B5EF4-FFF2-40B4-BE49-F238E27FC236}">
                      <a16:creationId xmlns:a16="http://schemas.microsoft.com/office/drawing/2014/main" id="{D1009DCA-E213-D3BE-35F6-2FCFE09F0214}"/>
                    </a:ext>
                  </a:extLst>
                </p:cNvPr>
                <p:cNvSpPr/>
                <p:nvPr/>
              </p:nvSpPr>
              <p:spPr>
                <a:xfrm>
                  <a:off x="7315545"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6" name="Picture Placeholder 89">
                  <a:extLst>
                    <a:ext uri="{FF2B5EF4-FFF2-40B4-BE49-F238E27FC236}">
                      <a16:creationId xmlns:a16="http://schemas.microsoft.com/office/drawing/2014/main" id="{D35A2DD1-9162-DE56-6DBA-D6AD4ECC4CA8}"/>
                    </a:ext>
                  </a:extLst>
                </p:cNvPr>
                <p:cNvSpPr/>
                <p:nvPr/>
              </p:nvSpPr>
              <p:spPr>
                <a:xfrm>
                  <a:off x="7378290"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7" name="Picture Placeholder 89">
                  <a:extLst>
                    <a:ext uri="{FF2B5EF4-FFF2-40B4-BE49-F238E27FC236}">
                      <a16:creationId xmlns:a16="http://schemas.microsoft.com/office/drawing/2014/main" id="{6F29DE0D-9873-E7FA-7EAA-20C6608936D3}"/>
                    </a:ext>
                  </a:extLst>
                </p:cNvPr>
                <p:cNvSpPr/>
                <p:nvPr/>
              </p:nvSpPr>
              <p:spPr>
                <a:xfrm>
                  <a:off x="7627364"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41" name="Picture Placeholder 89">
                <a:extLst>
                  <a:ext uri="{FF2B5EF4-FFF2-40B4-BE49-F238E27FC236}">
                    <a16:creationId xmlns:a16="http://schemas.microsoft.com/office/drawing/2014/main" id="{5B59C08E-5808-552E-87FB-F791BBA2DC56}"/>
                  </a:ext>
                </a:extLst>
              </p:cNvPr>
              <p:cNvGrpSpPr/>
              <p:nvPr/>
            </p:nvGrpSpPr>
            <p:grpSpPr>
              <a:xfrm>
                <a:off x="7191959" y="2189545"/>
                <a:ext cx="534753" cy="35417"/>
                <a:chOff x="7191959" y="2189545"/>
                <a:chExt cx="534753" cy="35417"/>
              </a:xfrm>
              <a:grpFill/>
            </p:grpSpPr>
            <p:sp>
              <p:nvSpPr>
                <p:cNvPr id="107" name="Picture Placeholder 89">
                  <a:extLst>
                    <a:ext uri="{FF2B5EF4-FFF2-40B4-BE49-F238E27FC236}">
                      <a16:creationId xmlns:a16="http://schemas.microsoft.com/office/drawing/2014/main" id="{CAED774B-AD4D-4291-C410-D4444A696273}"/>
                    </a:ext>
                  </a:extLst>
                </p:cNvPr>
                <p:cNvSpPr/>
                <p:nvPr/>
              </p:nvSpPr>
              <p:spPr>
                <a:xfrm>
                  <a:off x="7253435"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09" name="Picture Placeholder 89">
                  <a:extLst>
                    <a:ext uri="{FF2B5EF4-FFF2-40B4-BE49-F238E27FC236}">
                      <a16:creationId xmlns:a16="http://schemas.microsoft.com/office/drawing/2014/main" id="{DACD70DA-12A7-CB69-DB4A-39FE248A2E11}"/>
                    </a:ext>
                  </a:extLst>
                </p:cNvPr>
                <p:cNvSpPr/>
                <p:nvPr/>
              </p:nvSpPr>
              <p:spPr>
                <a:xfrm>
                  <a:off x="7191959"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0" name="Picture Placeholder 89">
                  <a:extLst>
                    <a:ext uri="{FF2B5EF4-FFF2-40B4-BE49-F238E27FC236}">
                      <a16:creationId xmlns:a16="http://schemas.microsoft.com/office/drawing/2014/main" id="{852BCF33-7537-2D08-3635-B6B390A81118}"/>
                    </a:ext>
                  </a:extLst>
                </p:cNvPr>
                <p:cNvSpPr/>
                <p:nvPr/>
              </p:nvSpPr>
              <p:spPr>
                <a:xfrm>
                  <a:off x="7315545"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1" name="Picture Placeholder 89">
                  <a:extLst>
                    <a:ext uri="{FF2B5EF4-FFF2-40B4-BE49-F238E27FC236}">
                      <a16:creationId xmlns:a16="http://schemas.microsoft.com/office/drawing/2014/main" id="{885E376C-8500-CA28-C5DC-DD72FA1A229C}"/>
                    </a:ext>
                  </a:extLst>
                </p:cNvPr>
                <p:cNvSpPr/>
                <p:nvPr/>
              </p:nvSpPr>
              <p:spPr>
                <a:xfrm>
                  <a:off x="7378290"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2" name="Picture Placeholder 89">
                  <a:extLst>
                    <a:ext uri="{FF2B5EF4-FFF2-40B4-BE49-F238E27FC236}">
                      <a16:creationId xmlns:a16="http://schemas.microsoft.com/office/drawing/2014/main" id="{47707490-8B73-2B1B-F9BE-1E8A29563615}"/>
                    </a:ext>
                  </a:extLst>
                </p:cNvPr>
                <p:cNvSpPr/>
                <p:nvPr/>
              </p:nvSpPr>
              <p:spPr>
                <a:xfrm>
                  <a:off x="7440400"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3" name="Picture Placeholder 89">
                  <a:extLst>
                    <a:ext uri="{FF2B5EF4-FFF2-40B4-BE49-F238E27FC236}">
                      <a16:creationId xmlns:a16="http://schemas.microsoft.com/office/drawing/2014/main" id="{F0B3A87E-B9BB-EB35-B9B3-42B2163348E7}"/>
                    </a:ext>
                  </a:extLst>
                </p:cNvPr>
                <p:cNvSpPr/>
                <p:nvPr/>
              </p:nvSpPr>
              <p:spPr>
                <a:xfrm>
                  <a:off x="7627364"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4" name="Picture Placeholder 89">
                  <a:extLst>
                    <a:ext uri="{FF2B5EF4-FFF2-40B4-BE49-F238E27FC236}">
                      <a16:creationId xmlns:a16="http://schemas.microsoft.com/office/drawing/2014/main" id="{72C49B63-59CB-29B8-F48E-F6013C776E4E}"/>
                    </a:ext>
                  </a:extLst>
                </p:cNvPr>
                <p:cNvSpPr/>
                <p:nvPr/>
              </p:nvSpPr>
              <p:spPr>
                <a:xfrm>
                  <a:off x="7690108"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42" name="Picture Placeholder 89">
                <a:extLst>
                  <a:ext uri="{FF2B5EF4-FFF2-40B4-BE49-F238E27FC236}">
                    <a16:creationId xmlns:a16="http://schemas.microsoft.com/office/drawing/2014/main" id="{7C6D3DC2-D19D-4BC7-28CB-285A3EE0678A}"/>
                  </a:ext>
                </a:extLst>
              </p:cNvPr>
              <p:cNvGrpSpPr/>
              <p:nvPr/>
            </p:nvGrpSpPr>
            <p:grpSpPr>
              <a:xfrm>
                <a:off x="7128581" y="2275560"/>
                <a:ext cx="473148" cy="35417"/>
                <a:chOff x="7128581" y="2275560"/>
                <a:chExt cx="473148" cy="35417"/>
              </a:xfrm>
              <a:grpFill/>
            </p:grpSpPr>
            <p:sp>
              <p:nvSpPr>
                <p:cNvPr id="83" name="Picture Placeholder 89">
                  <a:extLst>
                    <a:ext uri="{FF2B5EF4-FFF2-40B4-BE49-F238E27FC236}">
                      <a16:creationId xmlns:a16="http://schemas.microsoft.com/office/drawing/2014/main" id="{AFC4EC05-DDFC-350C-0431-552679F73C23}"/>
                    </a:ext>
                  </a:extLst>
                </p:cNvPr>
                <p:cNvSpPr/>
                <p:nvPr/>
              </p:nvSpPr>
              <p:spPr>
                <a:xfrm>
                  <a:off x="725343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6" name="Picture Placeholder 89">
                  <a:extLst>
                    <a:ext uri="{FF2B5EF4-FFF2-40B4-BE49-F238E27FC236}">
                      <a16:creationId xmlns:a16="http://schemas.microsoft.com/office/drawing/2014/main" id="{C0FD0B37-06A7-E9F3-6FE0-8B3F5463F150}"/>
                    </a:ext>
                  </a:extLst>
                </p:cNvPr>
                <p:cNvSpPr/>
                <p:nvPr/>
              </p:nvSpPr>
              <p:spPr>
                <a:xfrm>
                  <a:off x="719132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7" name="Picture Placeholder 89">
                  <a:extLst>
                    <a:ext uri="{FF2B5EF4-FFF2-40B4-BE49-F238E27FC236}">
                      <a16:creationId xmlns:a16="http://schemas.microsoft.com/office/drawing/2014/main" id="{CC6B8443-0BCE-EE01-943E-6D9B32731F1A}"/>
                    </a:ext>
                  </a:extLst>
                </p:cNvPr>
                <p:cNvSpPr/>
                <p:nvPr/>
              </p:nvSpPr>
              <p:spPr>
                <a:xfrm>
                  <a:off x="7128581"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8" name="Picture Placeholder 89">
                  <a:extLst>
                    <a:ext uri="{FF2B5EF4-FFF2-40B4-BE49-F238E27FC236}">
                      <a16:creationId xmlns:a16="http://schemas.microsoft.com/office/drawing/2014/main" id="{2471D0DB-31CC-9748-99BA-AEA0ABB6782D}"/>
                    </a:ext>
                  </a:extLst>
                </p:cNvPr>
                <p:cNvSpPr/>
                <p:nvPr/>
              </p:nvSpPr>
              <p:spPr>
                <a:xfrm>
                  <a:off x="731554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9" name="Picture Placeholder 89">
                  <a:extLst>
                    <a:ext uri="{FF2B5EF4-FFF2-40B4-BE49-F238E27FC236}">
                      <a16:creationId xmlns:a16="http://schemas.microsoft.com/office/drawing/2014/main" id="{95644BA5-2EBB-54B2-5579-C8099C7710EB}"/>
                    </a:ext>
                  </a:extLst>
                </p:cNvPr>
                <p:cNvSpPr/>
                <p:nvPr/>
              </p:nvSpPr>
              <p:spPr>
                <a:xfrm>
                  <a:off x="7378290"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92" name="Picture Placeholder 89">
                  <a:extLst>
                    <a:ext uri="{FF2B5EF4-FFF2-40B4-BE49-F238E27FC236}">
                      <a16:creationId xmlns:a16="http://schemas.microsoft.com/office/drawing/2014/main" id="{8B14871F-0B91-5A04-A512-338AEF7E395E}"/>
                    </a:ext>
                  </a:extLst>
                </p:cNvPr>
                <p:cNvSpPr/>
                <p:nvPr/>
              </p:nvSpPr>
              <p:spPr>
                <a:xfrm>
                  <a:off x="7440400"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93" name="Picture Placeholder 89">
                  <a:extLst>
                    <a:ext uri="{FF2B5EF4-FFF2-40B4-BE49-F238E27FC236}">
                      <a16:creationId xmlns:a16="http://schemas.microsoft.com/office/drawing/2014/main" id="{32D82D9C-C427-90A3-B2C2-24AD2C9A36BA}"/>
                    </a:ext>
                  </a:extLst>
                </p:cNvPr>
                <p:cNvSpPr/>
                <p:nvPr/>
              </p:nvSpPr>
              <p:spPr>
                <a:xfrm>
                  <a:off x="7503144"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00" name="Picture Placeholder 89">
                  <a:extLst>
                    <a:ext uri="{FF2B5EF4-FFF2-40B4-BE49-F238E27FC236}">
                      <a16:creationId xmlns:a16="http://schemas.microsoft.com/office/drawing/2014/main" id="{A8D826CF-B674-4D6E-2248-D24A0908486F}"/>
                    </a:ext>
                  </a:extLst>
                </p:cNvPr>
                <p:cNvSpPr/>
                <p:nvPr/>
              </p:nvSpPr>
              <p:spPr>
                <a:xfrm>
                  <a:off x="7565254"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44" name="Picture Placeholder 89">
                <a:extLst>
                  <a:ext uri="{FF2B5EF4-FFF2-40B4-BE49-F238E27FC236}">
                    <a16:creationId xmlns:a16="http://schemas.microsoft.com/office/drawing/2014/main" id="{B3DB5FD8-57DF-FD2B-226F-89AA3B57A34E}"/>
                  </a:ext>
                </a:extLst>
              </p:cNvPr>
              <p:cNvGrpSpPr/>
              <p:nvPr/>
            </p:nvGrpSpPr>
            <p:grpSpPr>
              <a:xfrm>
                <a:off x="7191325" y="2362207"/>
                <a:ext cx="535388" cy="35417"/>
                <a:chOff x="7191325" y="2362207"/>
                <a:chExt cx="535388" cy="35417"/>
              </a:xfrm>
              <a:grpFill/>
            </p:grpSpPr>
            <p:sp>
              <p:nvSpPr>
                <p:cNvPr id="74" name="Picture Placeholder 89">
                  <a:extLst>
                    <a:ext uri="{FF2B5EF4-FFF2-40B4-BE49-F238E27FC236}">
                      <a16:creationId xmlns:a16="http://schemas.microsoft.com/office/drawing/2014/main" id="{D557A106-1B50-D17A-3002-DB9AD98462F9}"/>
                    </a:ext>
                  </a:extLst>
                </p:cNvPr>
                <p:cNvSpPr/>
                <p:nvPr/>
              </p:nvSpPr>
              <p:spPr>
                <a:xfrm>
                  <a:off x="725343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5" name="Picture Placeholder 89">
                  <a:extLst>
                    <a:ext uri="{FF2B5EF4-FFF2-40B4-BE49-F238E27FC236}">
                      <a16:creationId xmlns:a16="http://schemas.microsoft.com/office/drawing/2014/main" id="{BDBFE9F0-E5A3-212A-3715-098C03487208}"/>
                    </a:ext>
                  </a:extLst>
                </p:cNvPr>
                <p:cNvSpPr/>
                <p:nvPr/>
              </p:nvSpPr>
              <p:spPr>
                <a:xfrm>
                  <a:off x="719132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6" name="Picture Placeholder 89">
                  <a:extLst>
                    <a:ext uri="{FF2B5EF4-FFF2-40B4-BE49-F238E27FC236}">
                      <a16:creationId xmlns:a16="http://schemas.microsoft.com/office/drawing/2014/main" id="{8813612F-82F4-8D5F-DE31-68FF9C585C09}"/>
                    </a:ext>
                  </a:extLst>
                </p:cNvPr>
                <p:cNvSpPr/>
                <p:nvPr/>
              </p:nvSpPr>
              <p:spPr>
                <a:xfrm>
                  <a:off x="731554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7" name="Picture Placeholder 89">
                  <a:extLst>
                    <a:ext uri="{FF2B5EF4-FFF2-40B4-BE49-F238E27FC236}">
                      <a16:creationId xmlns:a16="http://schemas.microsoft.com/office/drawing/2014/main" id="{C73E60C3-2BEC-675B-3550-46AA7D645CDE}"/>
                    </a:ext>
                  </a:extLst>
                </p:cNvPr>
                <p:cNvSpPr/>
                <p:nvPr/>
              </p:nvSpPr>
              <p:spPr>
                <a:xfrm>
                  <a:off x="7378290"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8" name="Picture Placeholder 89">
                  <a:extLst>
                    <a:ext uri="{FF2B5EF4-FFF2-40B4-BE49-F238E27FC236}">
                      <a16:creationId xmlns:a16="http://schemas.microsoft.com/office/drawing/2014/main" id="{A8CC79D6-FF67-E485-1010-857F46C2E8AE}"/>
                    </a:ext>
                  </a:extLst>
                </p:cNvPr>
                <p:cNvSpPr/>
                <p:nvPr/>
              </p:nvSpPr>
              <p:spPr>
                <a:xfrm>
                  <a:off x="7503144"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9" name="Picture Placeholder 89">
                  <a:extLst>
                    <a:ext uri="{FF2B5EF4-FFF2-40B4-BE49-F238E27FC236}">
                      <a16:creationId xmlns:a16="http://schemas.microsoft.com/office/drawing/2014/main" id="{0A92FB16-A983-4278-8F97-243DBD291E19}"/>
                    </a:ext>
                  </a:extLst>
                </p:cNvPr>
                <p:cNvSpPr/>
                <p:nvPr/>
              </p:nvSpPr>
              <p:spPr>
                <a:xfrm>
                  <a:off x="7565254"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0" name="Picture Placeholder 89">
                  <a:extLst>
                    <a:ext uri="{FF2B5EF4-FFF2-40B4-BE49-F238E27FC236}">
                      <a16:creationId xmlns:a16="http://schemas.microsoft.com/office/drawing/2014/main" id="{68E4157F-878E-F2DD-7FFD-5DCA803A207A}"/>
                    </a:ext>
                  </a:extLst>
                </p:cNvPr>
                <p:cNvSpPr/>
                <p:nvPr/>
              </p:nvSpPr>
              <p:spPr>
                <a:xfrm>
                  <a:off x="7690108"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46" name="Picture Placeholder 89">
                <a:extLst>
                  <a:ext uri="{FF2B5EF4-FFF2-40B4-BE49-F238E27FC236}">
                    <a16:creationId xmlns:a16="http://schemas.microsoft.com/office/drawing/2014/main" id="{3281E1BD-704F-1F12-58F4-166E26EEB8A6}"/>
                  </a:ext>
                </a:extLst>
              </p:cNvPr>
              <p:cNvGrpSpPr/>
              <p:nvPr/>
            </p:nvGrpSpPr>
            <p:grpSpPr>
              <a:xfrm>
                <a:off x="7253435" y="2448854"/>
                <a:ext cx="410273" cy="35417"/>
                <a:chOff x="7253435" y="2448854"/>
                <a:chExt cx="410273" cy="35417"/>
              </a:xfrm>
              <a:grpFill/>
            </p:grpSpPr>
            <p:sp>
              <p:nvSpPr>
                <p:cNvPr id="47" name="Picture Placeholder 89">
                  <a:extLst>
                    <a:ext uri="{FF2B5EF4-FFF2-40B4-BE49-F238E27FC236}">
                      <a16:creationId xmlns:a16="http://schemas.microsoft.com/office/drawing/2014/main" id="{E49AB167-9202-0CF2-7F4D-65FFBA13B2E8}"/>
                    </a:ext>
                  </a:extLst>
                </p:cNvPr>
                <p:cNvSpPr/>
                <p:nvPr/>
              </p:nvSpPr>
              <p:spPr>
                <a:xfrm>
                  <a:off x="7253435"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8" name="Picture Placeholder 89">
                  <a:extLst>
                    <a:ext uri="{FF2B5EF4-FFF2-40B4-BE49-F238E27FC236}">
                      <a16:creationId xmlns:a16="http://schemas.microsoft.com/office/drawing/2014/main" id="{B271E19B-FAFE-FB59-22F9-A1B2ADE79C42}"/>
                    </a:ext>
                  </a:extLst>
                </p:cNvPr>
                <p:cNvSpPr/>
                <p:nvPr/>
              </p:nvSpPr>
              <p:spPr>
                <a:xfrm>
                  <a:off x="7315545"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9" name="Picture Placeholder 89">
                  <a:extLst>
                    <a:ext uri="{FF2B5EF4-FFF2-40B4-BE49-F238E27FC236}">
                      <a16:creationId xmlns:a16="http://schemas.microsoft.com/office/drawing/2014/main" id="{6B8F25A1-65E2-49DE-7EFD-93D0295D4E5D}"/>
                    </a:ext>
                  </a:extLst>
                </p:cNvPr>
                <p:cNvSpPr/>
                <p:nvPr/>
              </p:nvSpPr>
              <p:spPr>
                <a:xfrm>
                  <a:off x="7378290"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0" name="Picture Placeholder 89">
                  <a:extLst>
                    <a:ext uri="{FF2B5EF4-FFF2-40B4-BE49-F238E27FC236}">
                      <a16:creationId xmlns:a16="http://schemas.microsoft.com/office/drawing/2014/main" id="{2842C6A6-B1B0-1353-75E3-265747D25E31}"/>
                    </a:ext>
                  </a:extLst>
                </p:cNvPr>
                <p:cNvSpPr/>
                <p:nvPr/>
              </p:nvSpPr>
              <p:spPr>
                <a:xfrm>
                  <a:off x="750314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1" name="Picture Placeholder 89">
                  <a:extLst>
                    <a:ext uri="{FF2B5EF4-FFF2-40B4-BE49-F238E27FC236}">
                      <a16:creationId xmlns:a16="http://schemas.microsoft.com/office/drawing/2014/main" id="{9FB8034F-0973-F46C-478C-9D050DC32C2A}"/>
                    </a:ext>
                  </a:extLst>
                </p:cNvPr>
                <p:cNvSpPr/>
                <p:nvPr/>
              </p:nvSpPr>
              <p:spPr>
                <a:xfrm>
                  <a:off x="756525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3" name="Picture Placeholder 89">
                  <a:extLst>
                    <a:ext uri="{FF2B5EF4-FFF2-40B4-BE49-F238E27FC236}">
                      <a16:creationId xmlns:a16="http://schemas.microsoft.com/office/drawing/2014/main" id="{3B1B73DA-7ABB-CA79-6662-7B9432843DEA}"/>
                    </a:ext>
                  </a:extLst>
                </p:cNvPr>
                <p:cNvSpPr/>
                <p:nvPr/>
              </p:nvSpPr>
              <p:spPr>
                <a:xfrm>
                  <a:off x="762736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426" name="Group 425">
            <a:extLst>
              <a:ext uri="{FF2B5EF4-FFF2-40B4-BE49-F238E27FC236}">
                <a16:creationId xmlns:a16="http://schemas.microsoft.com/office/drawing/2014/main" id="{2252F21E-2B41-9E7F-991F-3F4B857DB158}"/>
              </a:ext>
            </a:extLst>
          </p:cNvPr>
          <p:cNvGrpSpPr/>
          <p:nvPr/>
        </p:nvGrpSpPr>
        <p:grpSpPr>
          <a:xfrm>
            <a:off x="9973774" y="3527622"/>
            <a:ext cx="758008" cy="2475217"/>
            <a:chOff x="9973774" y="3527622"/>
            <a:chExt cx="758008" cy="2475217"/>
          </a:xfrm>
        </p:grpSpPr>
        <p:cxnSp>
          <p:nvCxnSpPr>
            <p:cNvPr id="236" name="Straight Connector 235">
              <a:extLst>
                <a:ext uri="{FF2B5EF4-FFF2-40B4-BE49-F238E27FC236}">
                  <a16:creationId xmlns:a16="http://schemas.microsoft.com/office/drawing/2014/main" id="{CE3C15A7-1F82-31AF-DB28-FADB58B4E112}"/>
                </a:ext>
              </a:extLst>
            </p:cNvPr>
            <p:cNvCxnSpPr>
              <a:cxnSpLocks/>
            </p:cNvCxnSpPr>
            <p:nvPr/>
          </p:nvCxnSpPr>
          <p:spPr bwMode="gray">
            <a:xfrm>
              <a:off x="10354009" y="3527622"/>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37" name="Oval 236">
              <a:extLst>
                <a:ext uri="{FF2B5EF4-FFF2-40B4-BE49-F238E27FC236}">
                  <a16:creationId xmlns:a16="http://schemas.microsoft.com/office/drawing/2014/main" id="{7786D45F-DDE5-E56E-6310-39CE876ACE23}"/>
                </a:ext>
              </a:extLst>
            </p:cNvPr>
            <p:cNvSpPr/>
            <p:nvPr/>
          </p:nvSpPr>
          <p:spPr>
            <a:xfrm rot="10800000">
              <a:off x="10113948" y="5074102"/>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241" name="Rounded Rectangle 38">
              <a:extLst>
                <a:ext uri="{FF2B5EF4-FFF2-40B4-BE49-F238E27FC236}">
                  <a16:creationId xmlns:a16="http://schemas.microsoft.com/office/drawing/2014/main" id="{6BF3CDBF-274F-9CFC-1DF7-C05303EDA524}"/>
                </a:ext>
              </a:extLst>
            </p:cNvPr>
            <p:cNvSpPr/>
            <p:nvPr/>
          </p:nvSpPr>
          <p:spPr>
            <a:xfrm>
              <a:off x="9973774" y="562383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lang="en-US" sz="1100" kern="0" dirty="0">
                  <a:solidFill>
                    <a:srgbClr val="000001"/>
                  </a:solidFill>
                  <a:latin typeface="Arial" panose="020B0604020202020204" pitchFamily="34" charset="0"/>
                  <a:sym typeface="Arial"/>
                </a:rPr>
                <a:t>Isolated</a:t>
              </a:r>
              <a:br>
                <a:rPr lang="en-US" sz="1100" kern="0" dirty="0">
                  <a:solidFill>
                    <a:srgbClr val="000001"/>
                  </a:solidFill>
                  <a:latin typeface="Arial" panose="020B0604020202020204" pitchFamily="34" charset="0"/>
                  <a:sym typeface="Arial"/>
                </a:rPr>
              </a:br>
              <a:r>
                <a:rPr lang="en-US" sz="1100" kern="0" dirty="0">
                  <a:solidFill>
                    <a:srgbClr val="000001"/>
                  </a:solidFill>
                  <a:latin typeface="Arial" panose="020B0604020202020204" pitchFamily="34" charset="0"/>
                  <a:sym typeface="Arial"/>
                </a:rPr>
                <a:t>Recovery</a:t>
              </a:r>
              <a:endPar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grpSp>
          <p:nvGrpSpPr>
            <p:cNvPr id="243" name="Picture Placeholder 95" descr="Detections 3&#10;">
              <a:extLst>
                <a:ext uri="{FF2B5EF4-FFF2-40B4-BE49-F238E27FC236}">
                  <a16:creationId xmlns:a16="http://schemas.microsoft.com/office/drawing/2014/main" id="{57E582D9-1505-8F12-66E8-DAE9717A2812}"/>
                </a:ext>
              </a:extLst>
            </p:cNvPr>
            <p:cNvGrpSpPr>
              <a:grpSpLocks noChangeAspect="1"/>
            </p:cNvGrpSpPr>
            <p:nvPr/>
          </p:nvGrpSpPr>
          <p:grpSpPr>
            <a:xfrm>
              <a:off x="10173073" y="5134714"/>
              <a:ext cx="365760" cy="366898"/>
              <a:chOff x="11081827" y="720438"/>
              <a:chExt cx="600204" cy="602073"/>
            </a:xfrm>
            <a:solidFill>
              <a:schemeClr val="tx1"/>
            </a:solidFill>
          </p:grpSpPr>
          <p:sp>
            <p:nvSpPr>
              <p:cNvPr id="251" name="Picture Placeholder 95">
                <a:extLst>
                  <a:ext uri="{FF2B5EF4-FFF2-40B4-BE49-F238E27FC236}">
                    <a16:creationId xmlns:a16="http://schemas.microsoft.com/office/drawing/2014/main" id="{F2090ECB-EA23-0963-4177-1A9B4B91D06C}"/>
                  </a:ext>
                </a:extLst>
              </p:cNvPr>
              <p:cNvSpPr/>
              <p:nvPr/>
            </p:nvSpPr>
            <p:spPr>
              <a:xfrm>
                <a:off x="11373392" y="1258515"/>
                <a:ext cx="15811" cy="62744"/>
              </a:xfrm>
              <a:custGeom>
                <a:avLst/>
                <a:gdLst>
                  <a:gd name="connsiteX0" fmla="*/ 0 w 15811"/>
                  <a:gd name="connsiteY0" fmla="*/ 0 h 62744"/>
                  <a:gd name="connsiteX1" fmla="*/ 15812 w 15811"/>
                  <a:gd name="connsiteY1" fmla="*/ 0 h 62744"/>
                  <a:gd name="connsiteX2" fmla="*/ 15812 w 15811"/>
                  <a:gd name="connsiteY2" fmla="*/ 62744 h 62744"/>
                  <a:gd name="connsiteX3" fmla="*/ 0 w 15811"/>
                  <a:gd name="connsiteY3" fmla="*/ 62744 h 62744"/>
                </a:gdLst>
                <a:ahLst/>
                <a:cxnLst>
                  <a:cxn ang="0">
                    <a:pos x="connsiteX0" y="connsiteY0"/>
                  </a:cxn>
                  <a:cxn ang="0">
                    <a:pos x="connsiteX1" y="connsiteY1"/>
                  </a:cxn>
                  <a:cxn ang="0">
                    <a:pos x="connsiteX2" y="connsiteY2"/>
                  </a:cxn>
                  <a:cxn ang="0">
                    <a:pos x="connsiteX3" y="connsiteY3"/>
                  </a:cxn>
                </a:cxnLst>
                <a:rect l="l" t="t" r="r" b="b"/>
                <a:pathLst>
                  <a:path w="15811" h="62744">
                    <a:moveTo>
                      <a:pt x="0" y="0"/>
                    </a:moveTo>
                    <a:lnTo>
                      <a:pt x="15812" y="0"/>
                    </a:lnTo>
                    <a:lnTo>
                      <a:pt x="15812" y="62744"/>
                    </a:lnTo>
                    <a:lnTo>
                      <a:pt x="0" y="627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252" name="Picture Placeholder 95">
                <a:extLst>
                  <a:ext uri="{FF2B5EF4-FFF2-40B4-BE49-F238E27FC236}">
                    <a16:creationId xmlns:a16="http://schemas.microsoft.com/office/drawing/2014/main" id="{2E8541D2-DF9C-1C7F-6E78-3BB957E09F15}"/>
                  </a:ext>
                </a:extLst>
              </p:cNvPr>
              <p:cNvGrpSpPr/>
              <p:nvPr/>
            </p:nvGrpSpPr>
            <p:grpSpPr>
              <a:xfrm>
                <a:off x="11081827" y="720438"/>
                <a:ext cx="600204" cy="553805"/>
                <a:chOff x="11081827" y="720438"/>
                <a:chExt cx="600204" cy="553805"/>
              </a:xfrm>
              <a:grpFill/>
            </p:grpSpPr>
            <p:grpSp>
              <p:nvGrpSpPr>
                <p:cNvPr id="253" name="Picture Placeholder 95">
                  <a:extLst>
                    <a:ext uri="{FF2B5EF4-FFF2-40B4-BE49-F238E27FC236}">
                      <a16:creationId xmlns:a16="http://schemas.microsoft.com/office/drawing/2014/main" id="{5F78E296-68F8-184B-FFD1-09CA260D109A}"/>
                    </a:ext>
                  </a:extLst>
                </p:cNvPr>
                <p:cNvGrpSpPr/>
                <p:nvPr/>
              </p:nvGrpSpPr>
              <p:grpSpPr>
                <a:xfrm>
                  <a:off x="11252592" y="851999"/>
                  <a:ext cx="263103" cy="338137"/>
                  <a:chOff x="11252592" y="851999"/>
                  <a:chExt cx="263103" cy="338137"/>
                </a:xfrm>
                <a:grpFill/>
              </p:grpSpPr>
              <p:sp>
                <p:nvSpPr>
                  <p:cNvPr id="410" name="Picture Placeholder 95">
                    <a:extLst>
                      <a:ext uri="{FF2B5EF4-FFF2-40B4-BE49-F238E27FC236}">
                        <a16:creationId xmlns:a16="http://schemas.microsoft.com/office/drawing/2014/main" id="{FEF62AC3-E314-B9D8-0FD7-77629252ED3B}"/>
                      </a:ext>
                    </a:extLst>
                  </p:cNvPr>
                  <p:cNvSpPr/>
                  <p:nvPr/>
                </p:nvSpPr>
                <p:spPr>
                  <a:xfrm>
                    <a:off x="11326589" y="1114014"/>
                    <a:ext cx="125859" cy="61476"/>
                  </a:xfrm>
                  <a:custGeom>
                    <a:avLst/>
                    <a:gdLst>
                      <a:gd name="connsiteX0" fmla="*/ 4427 w 125859"/>
                      <a:gd name="connsiteY0" fmla="*/ 61477 h 61476"/>
                      <a:gd name="connsiteX1" fmla="*/ 0 w 125859"/>
                      <a:gd name="connsiteY1" fmla="*/ 46266 h 61476"/>
                      <a:gd name="connsiteX2" fmla="*/ 67673 w 125859"/>
                      <a:gd name="connsiteY2" fmla="*/ 0 h 61476"/>
                      <a:gd name="connsiteX3" fmla="*/ 80955 w 125859"/>
                      <a:gd name="connsiteY3" fmla="*/ 0 h 61476"/>
                      <a:gd name="connsiteX4" fmla="*/ 125860 w 125859"/>
                      <a:gd name="connsiteY4" fmla="*/ 34858 h 61476"/>
                      <a:gd name="connsiteX5" fmla="*/ 120800 w 125859"/>
                      <a:gd name="connsiteY5" fmla="*/ 50068 h 61476"/>
                      <a:gd name="connsiteX6" fmla="*/ 73998 w 125859"/>
                      <a:gd name="connsiteY6" fmla="*/ 17746 h 61476"/>
                      <a:gd name="connsiteX7" fmla="*/ 4427 w 125859"/>
                      <a:gd name="connsiteY7" fmla="*/ 61477 h 6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859" h="61476">
                        <a:moveTo>
                          <a:pt x="4427" y="61477"/>
                        </a:moveTo>
                        <a:lnTo>
                          <a:pt x="0" y="46266"/>
                        </a:lnTo>
                        <a:cubicBezTo>
                          <a:pt x="632" y="46266"/>
                          <a:pt x="45537" y="32957"/>
                          <a:pt x="67673" y="0"/>
                        </a:cubicBezTo>
                        <a:lnTo>
                          <a:pt x="80955" y="0"/>
                        </a:lnTo>
                        <a:cubicBezTo>
                          <a:pt x="80955" y="0"/>
                          <a:pt x="97399" y="25351"/>
                          <a:pt x="125860" y="34858"/>
                        </a:cubicBezTo>
                        <a:lnTo>
                          <a:pt x="120800" y="50068"/>
                        </a:lnTo>
                        <a:cubicBezTo>
                          <a:pt x="98031" y="42463"/>
                          <a:pt x="82220" y="27252"/>
                          <a:pt x="73998" y="17746"/>
                        </a:cubicBezTo>
                        <a:cubicBezTo>
                          <a:pt x="47435" y="48801"/>
                          <a:pt x="6325" y="60843"/>
                          <a:pt x="4427" y="6147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1" name="Picture Placeholder 95">
                    <a:extLst>
                      <a:ext uri="{FF2B5EF4-FFF2-40B4-BE49-F238E27FC236}">
                        <a16:creationId xmlns:a16="http://schemas.microsoft.com/office/drawing/2014/main" id="{BBB7E9A6-7E5A-1E31-F2CF-6F7EEE3D9332}"/>
                      </a:ext>
                    </a:extLst>
                  </p:cNvPr>
                  <p:cNvSpPr/>
                  <p:nvPr/>
                </p:nvSpPr>
                <p:spPr>
                  <a:xfrm>
                    <a:off x="11367067" y="1148872"/>
                    <a:ext cx="46169" cy="40561"/>
                  </a:xfrm>
                  <a:custGeom>
                    <a:avLst/>
                    <a:gdLst>
                      <a:gd name="connsiteX0" fmla="*/ 3795 w 46169"/>
                      <a:gd name="connsiteY0" fmla="*/ 40562 h 40561"/>
                      <a:gd name="connsiteX1" fmla="*/ 0 w 46169"/>
                      <a:gd name="connsiteY1" fmla="*/ 25351 h 40561"/>
                      <a:gd name="connsiteX2" fmla="*/ 32255 w 46169"/>
                      <a:gd name="connsiteY2" fmla="*/ 0 h 40561"/>
                      <a:gd name="connsiteX3" fmla="*/ 46170 w 46169"/>
                      <a:gd name="connsiteY3" fmla="*/ 7605 h 40561"/>
                      <a:gd name="connsiteX4" fmla="*/ 3795 w 46169"/>
                      <a:gd name="connsiteY4" fmla="*/ 40562 h 40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69" h="40561">
                        <a:moveTo>
                          <a:pt x="3795" y="40562"/>
                        </a:moveTo>
                        <a:lnTo>
                          <a:pt x="0" y="25351"/>
                        </a:lnTo>
                        <a:cubicBezTo>
                          <a:pt x="0" y="25351"/>
                          <a:pt x="20871" y="20281"/>
                          <a:pt x="32255" y="0"/>
                        </a:cubicBezTo>
                        <a:lnTo>
                          <a:pt x="46170" y="7605"/>
                        </a:lnTo>
                        <a:cubicBezTo>
                          <a:pt x="31623" y="34224"/>
                          <a:pt x="5060" y="40562"/>
                          <a:pt x="3795" y="4056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2" name="Picture Placeholder 95">
                    <a:extLst>
                      <a:ext uri="{FF2B5EF4-FFF2-40B4-BE49-F238E27FC236}">
                        <a16:creationId xmlns:a16="http://schemas.microsoft.com/office/drawing/2014/main" id="{7201EF8F-37BC-5037-4BE3-E2AFACA8DF64}"/>
                      </a:ext>
                    </a:extLst>
                  </p:cNvPr>
                  <p:cNvSpPr/>
                  <p:nvPr/>
                </p:nvSpPr>
                <p:spPr>
                  <a:xfrm>
                    <a:off x="11413237" y="1082959"/>
                    <a:ext cx="67040" cy="51969"/>
                  </a:xfrm>
                  <a:custGeom>
                    <a:avLst/>
                    <a:gdLst>
                      <a:gd name="connsiteX0" fmla="*/ 63878 w 67040"/>
                      <a:gd name="connsiteY0" fmla="*/ 51970 h 51969"/>
                      <a:gd name="connsiteX1" fmla="*/ 0 w 67040"/>
                      <a:gd name="connsiteY1" fmla="*/ 5070 h 51969"/>
                      <a:gd name="connsiteX2" fmla="*/ 15179 w 67040"/>
                      <a:gd name="connsiteY2" fmla="*/ 0 h 51969"/>
                      <a:gd name="connsiteX3" fmla="*/ 67041 w 67040"/>
                      <a:gd name="connsiteY3" fmla="*/ 36759 h 51969"/>
                      <a:gd name="connsiteX4" fmla="*/ 63878 w 67040"/>
                      <a:gd name="connsiteY4" fmla="*/ 51970 h 51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40" h="51969">
                        <a:moveTo>
                          <a:pt x="63878" y="51970"/>
                        </a:moveTo>
                        <a:cubicBezTo>
                          <a:pt x="61981" y="51336"/>
                          <a:pt x="13282" y="43097"/>
                          <a:pt x="0" y="5070"/>
                        </a:cubicBezTo>
                        <a:lnTo>
                          <a:pt x="15179" y="0"/>
                        </a:lnTo>
                        <a:cubicBezTo>
                          <a:pt x="25931" y="29788"/>
                          <a:pt x="66408" y="36759"/>
                          <a:pt x="67041" y="36759"/>
                        </a:cubicBezTo>
                        <a:lnTo>
                          <a:pt x="63878" y="5197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20" name="Picture Placeholder 95">
                    <a:extLst>
                      <a:ext uri="{FF2B5EF4-FFF2-40B4-BE49-F238E27FC236}">
                        <a16:creationId xmlns:a16="http://schemas.microsoft.com/office/drawing/2014/main" id="{DD7568EC-2E25-C08C-FFE1-8CA971B5A3AD}"/>
                      </a:ext>
                    </a:extLst>
                  </p:cNvPr>
                  <p:cNvSpPr/>
                  <p:nvPr/>
                </p:nvSpPr>
                <p:spPr>
                  <a:xfrm>
                    <a:off x="11258916" y="920426"/>
                    <a:ext cx="234010" cy="187883"/>
                  </a:xfrm>
                  <a:custGeom>
                    <a:avLst/>
                    <a:gdLst>
                      <a:gd name="connsiteX0" fmla="*/ 230848 w 234010"/>
                      <a:gd name="connsiteY0" fmla="*/ 187884 h 187883"/>
                      <a:gd name="connsiteX1" fmla="*/ 184678 w 234010"/>
                      <a:gd name="connsiteY1" fmla="*/ 139716 h 187883"/>
                      <a:gd name="connsiteX2" fmla="*/ 194165 w 234010"/>
                      <a:gd name="connsiteY2" fmla="*/ 112464 h 187883"/>
                      <a:gd name="connsiteX3" fmla="*/ 199857 w 234010"/>
                      <a:gd name="connsiteY3" fmla="*/ 51621 h 187883"/>
                      <a:gd name="connsiteX4" fmla="*/ 161910 w 234010"/>
                      <a:gd name="connsiteY4" fmla="*/ 19932 h 187883"/>
                      <a:gd name="connsiteX5" fmla="*/ 108151 w 234010"/>
                      <a:gd name="connsiteY5" fmla="*/ 22467 h 187883"/>
                      <a:gd name="connsiteX6" fmla="*/ 78425 w 234010"/>
                      <a:gd name="connsiteY6" fmla="*/ 68733 h 187883"/>
                      <a:gd name="connsiteX7" fmla="*/ 5060 w 234010"/>
                      <a:gd name="connsiteY7" fmla="*/ 147322 h 187883"/>
                      <a:gd name="connsiteX8" fmla="*/ 0 w 234010"/>
                      <a:gd name="connsiteY8" fmla="*/ 132111 h 187883"/>
                      <a:gd name="connsiteX9" fmla="*/ 63246 w 234010"/>
                      <a:gd name="connsiteY9" fmla="*/ 64297 h 187883"/>
                      <a:gd name="connsiteX10" fmla="*/ 100561 w 234010"/>
                      <a:gd name="connsiteY10" fmla="*/ 9158 h 187883"/>
                      <a:gd name="connsiteX11" fmla="*/ 166969 w 234010"/>
                      <a:gd name="connsiteY11" fmla="*/ 5355 h 187883"/>
                      <a:gd name="connsiteX12" fmla="*/ 214404 w 234010"/>
                      <a:gd name="connsiteY12" fmla="*/ 45917 h 187883"/>
                      <a:gd name="connsiteX13" fmla="*/ 208712 w 234010"/>
                      <a:gd name="connsiteY13" fmla="*/ 119436 h 187883"/>
                      <a:gd name="connsiteX14" fmla="*/ 200490 w 234010"/>
                      <a:gd name="connsiteY14" fmla="*/ 143519 h 187883"/>
                      <a:gd name="connsiteX15" fmla="*/ 234010 w 234010"/>
                      <a:gd name="connsiteY15" fmla="*/ 173307 h 187883"/>
                      <a:gd name="connsiteX16" fmla="*/ 230848 w 234010"/>
                      <a:gd name="connsiteY16" fmla="*/ 187884 h 18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010" h="187883">
                        <a:moveTo>
                          <a:pt x="230848" y="187884"/>
                        </a:moveTo>
                        <a:cubicBezTo>
                          <a:pt x="212507" y="184081"/>
                          <a:pt x="178986" y="170138"/>
                          <a:pt x="184678" y="139716"/>
                        </a:cubicBezTo>
                        <a:cubicBezTo>
                          <a:pt x="186576" y="130210"/>
                          <a:pt x="190370" y="121337"/>
                          <a:pt x="194165" y="112464"/>
                        </a:cubicBezTo>
                        <a:cubicBezTo>
                          <a:pt x="202387" y="93451"/>
                          <a:pt x="209977" y="75071"/>
                          <a:pt x="199857" y="51621"/>
                        </a:cubicBezTo>
                        <a:cubicBezTo>
                          <a:pt x="194165" y="38312"/>
                          <a:pt x="179619" y="26270"/>
                          <a:pt x="161910" y="19932"/>
                        </a:cubicBezTo>
                        <a:cubicBezTo>
                          <a:pt x="142936" y="13595"/>
                          <a:pt x="123962" y="14228"/>
                          <a:pt x="108151" y="22467"/>
                        </a:cubicBezTo>
                        <a:cubicBezTo>
                          <a:pt x="87912" y="33242"/>
                          <a:pt x="83485" y="49720"/>
                          <a:pt x="78425" y="68733"/>
                        </a:cubicBezTo>
                        <a:cubicBezTo>
                          <a:pt x="70836" y="96620"/>
                          <a:pt x="61981" y="127675"/>
                          <a:pt x="5060" y="147322"/>
                        </a:cubicBezTo>
                        <a:lnTo>
                          <a:pt x="0" y="132111"/>
                        </a:lnTo>
                        <a:cubicBezTo>
                          <a:pt x="48699" y="115633"/>
                          <a:pt x="55657" y="90915"/>
                          <a:pt x="63246" y="64297"/>
                        </a:cubicBezTo>
                        <a:cubicBezTo>
                          <a:pt x="68938" y="44016"/>
                          <a:pt x="75263" y="23101"/>
                          <a:pt x="100561" y="9158"/>
                        </a:cubicBezTo>
                        <a:cubicBezTo>
                          <a:pt x="120167" y="-1616"/>
                          <a:pt x="143568" y="-2884"/>
                          <a:pt x="166969" y="5355"/>
                        </a:cubicBezTo>
                        <a:cubicBezTo>
                          <a:pt x="189106" y="12961"/>
                          <a:pt x="206814" y="28171"/>
                          <a:pt x="214404" y="45917"/>
                        </a:cubicBezTo>
                        <a:cubicBezTo>
                          <a:pt x="227053" y="75705"/>
                          <a:pt x="217566" y="98521"/>
                          <a:pt x="208712" y="119436"/>
                        </a:cubicBezTo>
                        <a:cubicBezTo>
                          <a:pt x="204917" y="127675"/>
                          <a:pt x="201755" y="135914"/>
                          <a:pt x="200490" y="143519"/>
                        </a:cubicBezTo>
                        <a:cubicBezTo>
                          <a:pt x="196695" y="165701"/>
                          <a:pt x="234010" y="173307"/>
                          <a:pt x="234010" y="173307"/>
                        </a:cubicBezTo>
                        <a:lnTo>
                          <a:pt x="230848" y="18788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21" name="Picture Placeholder 95">
                    <a:extLst>
                      <a:ext uri="{FF2B5EF4-FFF2-40B4-BE49-F238E27FC236}">
                        <a16:creationId xmlns:a16="http://schemas.microsoft.com/office/drawing/2014/main" id="{31207D80-1A28-D96E-6FBD-6158C3680EDB}"/>
                      </a:ext>
                    </a:extLst>
                  </p:cNvPr>
                  <p:cNvSpPr/>
                  <p:nvPr/>
                </p:nvSpPr>
                <p:spPr>
                  <a:xfrm>
                    <a:off x="11266506" y="955461"/>
                    <a:ext cx="173239" cy="201015"/>
                  </a:xfrm>
                  <a:custGeom>
                    <a:avLst/>
                    <a:gdLst>
                      <a:gd name="connsiteX0" fmla="*/ 38580 w 173239"/>
                      <a:gd name="connsiteY0" fmla="*/ 201016 h 201015"/>
                      <a:gd name="connsiteX1" fmla="*/ 32255 w 173239"/>
                      <a:gd name="connsiteY1" fmla="*/ 186439 h 201015"/>
                      <a:gd name="connsiteX2" fmla="*/ 139774 w 173239"/>
                      <a:gd name="connsiteY2" fmla="*/ 97710 h 201015"/>
                      <a:gd name="connsiteX3" fmla="*/ 152423 w 173239"/>
                      <a:gd name="connsiteY3" fmla="*/ 27994 h 201015"/>
                      <a:gd name="connsiteX4" fmla="*/ 135346 w 173239"/>
                      <a:gd name="connsiteY4" fmla="*/ 16586 h 201015"/>
                      <a:gd name="connsiteX5" fmla="*/ 101194 w 173239"/>
                      <a:gd name="connsiteY5" fmla="*/ 52712 h 201015"/>
                      <a:gd name="connsiteX6" fmla="*/ 86647 w 173239"/>
                      <a:gd name="connsiteY6" fmla="*/ 85668 h 201015"/>
                      <a:gd name="connsiteX7" fmla="*/ 5060 w 173239"/>
                      <a:gd name="connsiteY7" fmla="*/ 146511 h 201015"/>
                      <a:gd name="connsiteX8" fmla="*/ 0 w 173239"/>
                      <a:gd name="connsiteY8" fmla="*/ 131300 h 201015"/>
                      <a:gd name="connsiteX9" fmla="*/ 73365 w 173239"/>
                      <a:gd name="connsiteY9" fmla="*/ 77429 h 201015"/>
                      <a:gd name="connsiteX10" fmla="*/ 87279 w 173239"/>
                      <a:gd name="connsiteY10" fmla="*/ 46374 h 201015"/>
                      <a:gd name="connsiteX11" fmla="*/ 137244 w 173239"/>
                      <a:gd name="connsiteY11" fmla="*/ 108 h 201015"/>
                      <a:gd name="connsiteX12" fmla="*/ 168234 w 173239"/>
                      <a:gd name="connsiteY12" fmla="*/ 20389 h 201015"/>
                      <a:gd name="connsiteX13" fmla="*/ 154320 w 173239"/>
                      <a:gd name="connsiteY13" fmla="*/ 105949 h 201015"/>
                      <a:gd name="connsiteX14" fmla="*/ 38580 w 173239"/>
                      <a:gd name="connsiteY14" fmla="*/ 201016 h 20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239" h="201015">
                        <a:moveTo>
                          <a:pt x="38580" y="201016"/>
                        </a:moveTo>
                        <a:lnTo>
                          <a:pt x="32255" y="186439"/>
                        </a:lnTo>
                        <a:cubicBezTo>
                          <a:pt x="84117" y="163623"/>
                          <a:pt x="118902" y="125596"/>
                          <a:pt x="139774" y="97710"/>
                        </a:cubicBezTo>
                        <a:cubicBezTo>
                          <a:pt x="153055" y="79964"/>
                          <a:pt x="160645" y="46374"/>
                          <a:pt x="152423" y="27994"/>
                        </a:cubicBezTo>
                        <a:cubicBezTo>
                          <a:pt x="149261" y="21023"/>
                          <a:pt x="143568" y="17220"/>
                          <a:pt x="135346" y="16586"/>
                        </a:cubicBezTo>
                        <a:cubicBezTo>
                          <a:pt x="116373" y="15319"/>
                          <a:pt x="111313" y="26727"/>
                          <a:pt x="101194" y="52712"/>
                        </a:cubicBezTo>
                        <a:cubicBezTo>
                          <a:pt x="97399" y="62852"/>
                          <a:pt x="92972" y="74260"/>
                          <a:pt x="86647" y="85668"/>
                        </a:cubicBezTo>
                        <a:cubicBezTo>
                          <a:pt x="63878" y="126230"/>
                          <a:pt x="6957" y="145877"/>
                          <a:pt x="5060" y="146511"/>
                        </a:cubicBezTo>
                        <a:lnTo>
                          <a:pt x="0" y="131300"/>
                        </a:lnTo>
                        <a:cubicBezTo>
                          <a:pt x="632" y="131300"/>
                          <a:pt x="53127" y="112921"/>
                          <a:pt x="73365" y="77429"/>
                        </a:cubicBezTo>
                        <a:cubicBezTo>
                          <a:pt x="79058" y="67289"/>
                          <a:pt x="83485" y="56515"/>
                          <a:pt x="87279" y="46374"/>
                        </a:cubicBezTo>
                        <a:cubicBezTo>
                          <a:pt x="96766" y="21657"/>
                          <a:pt x="106253" y="-1793"/>
                          <a:pt x="137244" y="108"/>
                        </a:cubicBezTo>
                        <a:cubicBezTo>
                          <a:pt x="151158" y="742"/>
                          <a:pt x="161910" y="8347"/>
                          <a:pt x="168234" y="20389"/>
                        </a:cubicBezTo>
                        <a:cubicBezTo>
                          <a:pt x="179619" y="44473"/>
                          <a:pt x="170132" y="84401"/>
                          <a:pt x="154320" y="105949"/>
                        </a:cubicBezTo>
                        <a:cubicBezTo>
                          <a:pt x="130919" y="136371"/>
                          <a:pt x="93604" y="176932"/>
                          <a:pt x="38580" y="20101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22" name="Picture Placeholder 95">
                    <a:extLst>
                      <a:ext uri="{FF2B5EF4-FFF2-40B4-BE49-F238E27FC236}">
                        <a16:creationId xmlns:a16="http://schemas.microsoft.com/office/drawing/2014/main" id="{CE1BC0AE-20E8-3CF2-4981-BC3F0E1EC3F9}"/>
                      </a:ext>
                    </a:extLst>
                  </p:cNvPr>
                  <p:cNvSpPr/>
                  <p:nvPr/>
                </p:nvSpPr>
                <p:spPr>
                  <a:xfrm>
                    <a:off x="11279155" y="998032"/>
                    <a:ext cx="125227" cy="131192"/>
                  </a:xfrm>
                  <a:custGeom>
                    <a:avLst/>
                    <a:gdLst>
                      <a:gd name="connsiteX0" fmla="*/ 5060 w 125227"/>
                      <a:gd name="connsiteY0" fmla="*/ 131192 h 131192"/>
                      <a:gd name="connsiteX1" fmla="*/ 0 w 125227"/>
                      <a:gd name="connsiteY1" fmla="*/ 115981 h 131192"/>
                      <a:gd name="connsiteX2" fmla="*/ 109416 w 125227"/>
                      <a:gd name="connsiteY2" fmla="*/ 0 h 131192"/>
                      <a:gd name="connsiteX3" fmla="*/ 125227 w 125227"/>
                      <a:gd name="connsiteY3" fmla="*/ 634 h 131192"/>
                      <a:gd name="connsiteX4" fmla="*/ 5060 w 125227"/>
                      <a:gd name="connsiteY4" fmla="*/ 131192 h 131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27" h="131192">
                        <a:moveTo>
                          <a:pt x="5060" y="131192"/>
                        </a:moveTo>
                        <a:lnTo>
                          <a:pt x="0" y="115981"/>
                        </a:lnTo>
                        <a:cubicBezTo>
                          <a:pt x="1265" y="115348"/>
                          <a:pt x="104988" y="77955"/>
                          <a:pt x="109416" y="0"/>
                        </a:cubicBezTo>
                        <a:lnTo>
                          <a:pt x="125227" y="634"/>
                        </a:lnTo>
                        <a:cubicBezTo>
                          <a:pt x="120167" y="89363"/>
                          <a:pt x="10119" y="129291"/>
                          <a:pt x="5060" y="13119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23" name="Picture Placeholder 95">
                    <a:extLst>
                      <a:ext uri="{FF2B5EF4-FFF2-40B4-BE49-F238E27FC236}">
                        <a16:creationId xmlns:a16="http://schemas.microsoft.com/office/drawing/2014/main" id="{33764010-7472-AD83-CCAB-D1F28AEEFCF2}"/>
                      </a:ext>
                    </a:extLst>
                  </p:cNvPr>
                  <p:cNvSpPr/>
                  <p:nvPr/>
                </p:nvSpPr>
                <p:spPr>
                  <a:xfrm>
                    <a:off x="11254489" y="886878"/>
                    <a:ext cx="260481" cy="187842"/>
                  </a:xfrm>
                  <a:custGeom>
                    <a:avLst/>
                    <a:gdLst>
                      <a:gd name="connsiteX0" fmla="*/ 240335 w 260481"/>
                      <a:gd name="connsiteY0" fmla="*/ 187842 h 187842"/>
                      <a:gd name="connsiteX1" fmla="*/ 226421 w 260481"/>
                      <a:gd name="connsiteY1" fmla="*/ 180871 h 187842"/>
                      <a:gd name="connsiteX2" fmla="*/ 239070 w 260481"/>
                      <a:gd name="connsiteY2" fmla="*/ 81367 h 187842"/>
                      <a:gd name="connsiteX3" fmla="*/ 187841 w 260481"/>
                      <a:gd name="connsiteY3" fmla="*/ 28130 h 187842"/>
                      <a:gd name="connsiteX4" fmla="*/ 73365 w 260481"/>
                      <a:gd name="connsiteY4" fmla="*/ 40806 h 187842"/>
                      <a:gd name="connsiteX5" fmla="*/ 47435 w 260481"/>
                      <a:gd name="connsiteY5" fmla="*/ 90240 h 187842"/>
                      <a:gd name="connsiteX6" fmla="*/ 0 w 260481"/>
                      <a:gd name="connsiteY6" fmla="*/ 138407 h 187842"/>
                      <a:gd name="connsiteX7" fmla="*/ 0 w 260481"/>
                      <a:gd name="connsiteY7" fmla="*/ 122563 h 187842"/>
                      <a:gd name="connsiteX8" fmla="*/ 32255 w 260481"/>
                      <a:gd name="connsiteY8" fmla="*/ 85170 h 187842"/>
                      <a:gd name="connsiteX9" fmla="*/ 61981 w 260481"/>
                      <a:gd name="connsiteY9" fmla="*/ 29398 h 187842"/>
                      <a:gd name="connsiteX10" fmla="*/ 193533 w 260481"/>
                      <a:gd name="connsiteY10" fmla="*/ 12919 h 187842"/>
                      <a:gd name="connsiteX11" fmla="*/ 253616 w 260481"/>
                      <a:gd name="connsiteY11" fmla="*/ 75663 h 187842"/>
                      <a:gd name="connsiteX12" fmla="*/ 240335 w 260481"/>
                      <a:gd name="connsiteY12" fmla="*/ 187842 h 18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481" h="187842">
                        <a:moveTo>
                          <a:pt x="240335" y="187842"/>
                        </a:moveTo>
                        <a:lnTo>
                          <a:pt x="226421" y="180871"/>
                        </a:lnTo>
                        <a:cubicBezTo>
                          <a:pt x="245394" y="143478"/>
                          <a:pt x="249822" y="110521"/>
                          <a:pt x="239070" y="81367"/>
                        </a:cubicBezTo>
                        <a:cubicBezTo>
                          <a:pt x="228951" y="53481"/>
                          <a:pt x="205550" y="35102"/>
                          <a:pt x="187841" y="28130"/>
                        </a:cubicBezTo>
                        <a:cubicBezTo>
                          <a:pt x="161277" y="16722"/>
                          <a:pt x="110048" y="4046"/>
                          <a:pt x="73365" y="40806"/>
                        </a:cubicBezTo>
                        <a:cubicBezTo>
                          <a:pt x="59451" y="54749"/>
                          <a:pt x="53127" y="73128"/>
                          <a:pt x="47435" y="90240"/>
                        </a:cubicBezTo>
                        <a:cubicBezTo>
                          <a:pt x="39845" y="113690"/>
                          <a:pt x="31623" y="138407"/>
                          <a:pt x="0" y="138407"/>
                        </a:cubicBezTo>
                        <a:lnTo>
                          <a:pt x="0" y="122563"/>
                        </a:lnTo>
                        <a:cubicBezTo>
                          <a:pt x="18974" y="122563"/>
                          <a:pt x="24033" y="110521"/>
                          <a:pt x="32255" y="85170"/>
                        </a:cubicBezTo>
                        <a:cubicBezTo>
                          <a:pt x="38580" y="66790"/>
                          <a:pt x="44905" y="46510"/>
                          <a:pt x="61981" y="29398"/>
                        </a:cubicBezTo>
                        <a:cubicBezTo>
                          <a:pt x="105621" y="-14333"/>
                          <a:pt x="163175" y="244"/>
                          <a:pt x="193533" y="12919"/>
                        </a:cubicBezTo>
                        <a:cubicBezTo>
                          <a:pt x="203652" y="17356"/>
                          <a:pt x="238437" y="34468"/>
                          <a:pt x="253616" y="75663"/>
                        </a:cubicBezTo>
                        <a:cubicBezTo>
                          <a:pt x="266266" y="109254"/>
                          <a:pt x="261206" y="146646"/>
                          <a:pt x="240335" y="18784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24" name="Picture Placeholder 95">
                    <a:extLst>
                      <a:ext uri="{FF2B5EF4-FFF2-40B4-BE49-F238E27FC236}">
                        <a16:creationId xmlns:a16="http://schemas.microsoft.com/office/drawing/2014/main" id="{41A2CF52-8481-F0EB-58DA-93F6C8936483}"/>
                      </a:ext>
                    </a:extLst>
                  </p:cNvPr>
                  <p:cNvSpPr/>
                  <p:nvPr/>
                </p:nvSpPr>
                <p:spPr>
                  <a:xfrm>
                    <a:off x="11252592" y="851999"/>
                    <a:ext cx="263103" cy="132723"/>
                  </a:xfrm>
                  <a:custGeom>
                    <a:avLst/>
                    <a:gdLst>
                      <a:gd name="connsiteX0" fmla="*/ 15812 w 263103"/>
                      <a:gd name="connsiteY0" fmla="*/ 132724 h 132723"/>
                      <a:gd name="connsiteX1" fmla="*/ 0 w 263103"/>
                      <a:gd name="connsiteY1" fmla="*/ 132724 h 132723"/>
                      <a:gd name="connsiteX2" fmla="*/ 91074 w 263103"/>
                      <a:gd name="connsiteY2" fmla="*/ 5968 h 132723"/>
                      <a:gd name="connsiteX3" fmla="*/ 263103 w 263103"/>
                      <a:gd name="connsiteY3" fmla="*/ 58572 h 132723"/>
                      <a:gd name="connsiteX4" fmla="*/ 250454 w 263103"/>
                      <a:gd name="connsiteY4" fmla="*/ 68079 h 132723"/>
                      <a:gd name="connsiteX5" fmla="*/ 94869 w 263103"/>
                      <a:gd name="connsiteY5" fmla="*/ 21179 h 132723"/>
                      <a:gd name="connsiteX6" fmla="*/ 15812 w 263103"/>
                      <a:gd name="connsiteY6" fmla="*/ 132724 h 13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3103" h="132723">
                        <a:moveTo>
                          <a:pt x="15812" y="132724"/>
                        </a:moveTo>
                        <a:lnTo>
                          <a:pt x="0" y="132724"/>
                        </a:lnTo>
                        <a:cubicBezTo>
                          <a:pt x="0" y="131456"/>
                          <a:pt x="2530" y="24982"/>
                          <a:pt x="91074" y="5968"/>
                        </a:cubicBezTo>
                        <a:cubicBezTo>
                          <a:pt x="185943" y="-14946"/>
                          <a:pt x="237173" y="23080"/>
                          <a:pt x="263103" y="58572"/>
                        </a:cubicBezTo>
                        <a:lnTo>
                          <a:pt x="250454" y="68079"/>
                        </a:lnTo>
                        <a:cubicBezTo>
                          <a:pt x="227686" y="36390"/>
                          <a:pt x="181516" y="2799"/>
                          <a:pt x="94869" y="21179"/>
                        </a:cubicBezTo>
                        <a:cubicBezTo>
                          <a:pt x="18341" y="37657"/>
                          <a:pt x="15812" y="128921"/>
                          <a:pt x="15812" y="13272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254" name="Picture Placeholder 95">
                  <a:extLst>
                    <a:ext uri="{FF2B5EF4-FFF2-40B4-BE49-F238E27FC236}">
                      <a16:creationId xmlns:a16="http://schemas.microsoft.com/office/drawing/2014/main" id="{CC298B88-A8E4-2998-BE34-EF19F3E8933C}"/>
                    </a:ext>
                  </a:extLst>
                </p:cNvPr>
                <p:cNvSpPr/>
                <p:nvPr/>
              </p:nvSpPr>
              <p:spPr>
                <a:xfrm>
                  <a:off x="11406912" y="768605"/>
                  <a:ext cx="227685" cy="228793"/>
                </a:xfrm>
                <a:custGeom>
                  <a:avLst/>
                  <a:gdLst>
                    <a:gd name="connsiteX0" fmla="*/ 227686 w 227685"/>
                    <a:gd name="connsiteY0" fmla="*/ 228794 h 228793"/>
                    <a:gd name="connsiteX1" fmla="*/ 0 w 227685"/>
                    <a:gd name="connsiteY1" fmla="*/ 0 h 228793"/>
                    <a:gd name="connsiteX2" fmla="*/ 0 w 227685"/>
                    <a:gd name="connsiteY2" fmla="*/ 15844 h 228793"/>
                    <a:gd name="connsiteX3" fmla="*/ 211874 w 227685"/>
                    <a:gd name="connsiteY3" fmla="*/ 228794 h 228793"/>
                    <a:gd name="connsiteX4" fmla="*/ 227686 w 227685"/>
                    <a:gd name="connsiteY4" fmla="*/ 228794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227686" y="228794"/>
                      </a:moveTo>
                      <a:cubicBezTo>
                        <a:pt x="216301" y="107742"/>
                        <a:pt x="120167" y="11408"/>
                        <a:pt x="0" y="0"/>
                      </a:cubicBezTo>
                      <a:lnTo>
                        <a:pt x="0" y="15844"/>
                      </a:lnTo>
                      <a:cubicBezTo>
                        <a:pt x="111945" y="27252"/>
                        <a:pt x="201122" y="116615"/>
                        <a:pt x="211874" y="228794"/>
                      </a:cubicBezTo>
                      <a:lnTo>
                        <a:pt x="227686" y="22879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0" name="Picture Placeholder 95">
                  <a:extLst>
                    <a:ext uri="{FF2B5EF4-FFF2-40B4-BE49-F238E27FC236}">
                      <a16:creationId xmlns:a16="http://schemas.microsoft.com/office/drawing/2014/main" id="{8D7B606D-B698-8EFD-3F68-63AA0AACE966}"/>
                    </a:ext>
                  </a:extLst>
                </p:cNvPr>
                <p:cNvSpPr/>
                <p:nvPr/>
              </p:nvSpPr>
              <p:spPr>
                <a:xfrm>
                  <a:off x="11081827" y="1013243"/>
                  <a:ext cx="63878" cy="15844"/>
                </a:xfrm>
                <a:custGeom>
                  <a:avLst/>
                  <a:gdLst>
                    <a:gd name="connsiteX0" fmla="*/ 0 w 63878"/>
                    <a:gd name="connsiteY0" fmla="*/ 0 h 15844"/>
                    <a:gd name="connsiteX1" fmla="*/ 63878 w 63878"/>
                    <a:gd name="connsiteY1" fmla="*/ 0 h 15844"/>
                    <a:gd name="connsiteX2" fmla="*/ 63878 w 63878"/>
                    <a:gd name="connsiteY2" fmla="*/ 15844 h 15844"/>
                    <a:gd name="connsiteX3" fmla="*/ 0 w 6387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3878" h="15844">
                      <a:moveTo>
                        <a:pt x="0" y="0"/>
                      </a:moveTo>
                      <a:lnTo>
                        <a:pt x="63878" y="0"/>
                      </a:lnTo>
                      <a:lnTo>
                        <a:pt x="63878"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74" name="Picture Placeholder 95">
                  <a:extLst>
                    <a:ext uri="{FF2B5EF4-FFF2-40B4-BE49-F238E27FC236}">
                      <a16:creationId xmlns:a16="http://schemas.microsoft.com/office/drawing/2014/main" id="{8B3D0311-3067-13AE-54E9-9E62010BE822}"/>
                    </a:ext>
                  </a:extLst>
                </p:cNvPr>
                <p:cNvSpPr/>
                <p:nvPr/>
              </p:nvSpPr>
              <p:spPr>
                <a:xfrm>
                  <a:off x="11373392" y="720438"/>
                  <a:ext cx="15811" cy="63377"/>
                </a:xfrm>
                <a:custGeom>
                  <a:avLst/>
                  <a:gdLst>
                    <a:gd name="connsiteX0" fmla="*/ 0 w 15811"/>
                    <a:gd name="connsiteY0" fmla="*/ 0 h 63377"/>
                    <a:gd name="connsiteX1" fmla="*/ 15812 w 15811"/>
                    <a:gd name="connsiteY1" fmla="*/ 0 h 63377"/>
                    <a:gd name="connsiteX2" fmla="*/ 15812 w 15811"/>
                    <a:gd name="connsiteY2" fmla="*/ 63378 h 63377"/>
                    <a:gd name="connsiteX3" fmla="*/ 0 w 15811"/>
                    <a:gd name="connsiteY3" fmla="*/ 63378 h 63377"/>
                  </a:gdLst>
                  <a:ahLst/>
                  <a:cxnLst>
                    <a:cxn ang="0">
                      <a:pos x="connsiteX0" y="connsiteY0"/>
                    </a:cxn>
                    <a:cxn ang="0">
                      <a:pos x="connsiteX1" y="connsiteY1"/>
                    </a:cxn>
                    <a:cxn ang="0">
                      <a:pos x="connsiteX2" y="connsiteY2"/>
                    </a:cxn>
                    <a:cxn ang="0">
                      <a:pos x="connsiteX3" y="connsiteY3"/>
                    </a:cxn>
                  </a:cxnLst>
                  <a:rect l="l" t="t" r="r" b="b"/>
                  <a:pathLst>
                    <a:path w="15811" h="63377">
                      <a:moveTo>
                        <a:pt x="0" y="0"/>
                      </a:moveTo>
                      <a:lnTo>
                        <a:pt x="15812" y="0"/>
                      </a:lnTo>
                      <a:lnTo>
                        <a:pt x="15812" y="63378"/>
                      </a:lnTo>
                      <a:lnTo>
                        <a:pt x="0" y="6337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6" name="Picture Placeholder 95">
                  <a:extLst>
                    <a:ext uri="{FF2B5EF4-FFF2-40B4-BE49-F238E27FC236}">
                      <a16:creationId xmlns:a16="http://schemas.microsoft.com/office/drawing/2014/main" id="{69B5BF8D-4A3C-BA68-9B21-AA120CB2CBDA}"/>
                    </a:ext>
                  </a:extLst>
                </p:cNvPr>
                <p:cNvSpPr/>
                <p:nvPr/>
              </p:nvSpPr>
              <p:spPr>
                <a:xfrm>
                  <a:off x="11619418" y="1013243"/>
                  <a:ext cx="62613" cy="15844"/>
                </a:xfrm>
                <a:custGeom>
                  <a:avLst/>
                  <a:gdLst>
                    <a:gd name="connsiteX0" fmla="*/ 0 w 62613"/>
                    <a:gd name="connsiteY0" fmla="*/ 0 h 15844"/>
                    <a:gd name="connsiteX1" fmla="*/ 62614 w 62613"/>
                    <a:gd name="connsiteY1" fmla="*/ 0 h 15844"/>
                    <a:gd name="connsiteX2" fmla="*/ 62614 w 62613"/>
                    <a:gd name="connsiteY2" fmla="*/ 15844 h 15844"/>
                    <a:gd name="connsiteX3" fmla="*/ 0 w 62613"/>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2613" h="15844">
                      <a:moveTo>
                        <a:pt x="0" y="0"/>
                      </a:moveTo>
                      <a:lnTo>
                        <a:pt x="62614" y="0"/>
                      </a:lnTo>
                      <a:lnTo>
                        <a:pt x="62614"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7" name="Picture Placeholder 95">
                  <a:extLst>
                    <a:ext uri="{FF2B5EF4-FFF2-40B4-BE49-F238E27FC236}">
                      <a16:creationId xmlns:a16="http://schemas.microsoft.com/office/drawing/2014/main" id="{365ECA44-F14E-DBDD-2CA3-DC4C5B1F0E0A}"/>
                    </a:ext>
                  </a:extLst>
                </p:cNvPr>
                <p:cNvSpPr/>
                <p:nvPr/>
              </p:nvSpPr>
              <p:spPr>
                <a:xfrm>
                  <a:off x="11405015" y="1043664"/>
                  <a:ext cx="229582" cy="229427"/>
                </a:xfrm>
                <a:custGeom>
                  <a:avLst/>
                  <a:gdLst>
                    <a:gd name="connsiteX0" fmla="*/ 213771 w 229582"/>
                    <a:gd name="connsiteY0" fmla="*/ 634 h 229427"/>
                    <a:gd name="connsiteX1" fmla="*/ 0 w 229582"/>
                    <a:gd name="connsiteY1" fmla="*/ 213583 h 229427"/>
                    <a:gd name="connsiteX2" fmla="*/ 0 w 229582"/>
                    <a:gd name="connsiteY2" fmla="*/ 229428 h 229427"/>
                    <a:gd name="connsiteX3" fmla="*/ 229583 w 229582"/>
                    <a:gd name="connsiteY3" fmla="*/ 0 h 229427"/>
                    <a:gd name="connsiteX4" fmla="*/ 213771 w 229582"/>
                    <a:gd name="connsiteY4" fmla="*/ 0 h 229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582" h="229427">
                      <a:moveTo>
                        <a:pt x="213771" y="634"/>
                      </a:moveTo>
                      <a:cubicBezTo>
                        <a:pt x="203020" y="113446"/>
                        <a:pt x="113210" y="203443"/>
                        <a:pt x="0" y="213583"/>
                      </a:cubicBezTo>
                      <a:lnTo>
                        <a:pt x="0" y="229428"/>
                      </a:lnTo>
                      <a:cubicBezTo>
                        <a:pt x="121432" y="218654"/>
                        <a:pt x="218199" y="121685"/>
                        <a:pt x="229583" y="0"/>
                      </a:cubicBezTo>
                      <a:lnTo>
                        <a:pt x="213771"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8" name="Picture Placeholder 95">
                  <a:extLst>
                    <a:ext uri="{FF2B5EF4-FFF2-40B4-BE49-F238E27FC236}">
                      <a16:creationId xmlns:a16="http://schemas.microsoft.com/office/drawing/2014/main" id="{824AEAB9-8A53-0170-132E-E78561B0FC78}"/>
                    </a:ext>
                  </a:extLst>
                </p:cNvPr>
                <p:cNvSpPr/>
                <p:nvPr/>
              </p:nvSpPr>
              <p:spPr>
                <a:xfrm>
                  <a:off x="11130527" y="769238"/>
                  <a:ext cx="225788" cy="228160"/>
                </a:xfrm>
                <a:custGeom>
                  <a:avLst/>
                  <a:gdLst>
                    <a:gd name="connsiteX0" fmla="*/ 0 w 225788"/>
                    <a:gd name="connsiteY0" fmla="*/ 228160 h 228160"/>
                    <a:gd name="connsiteX1" fmla="*/ 15812 w 225788"/>
                    <a:gd name="connsiteY1" fmla="*/ 228160 h 228160"/>
                    <a:gd name="connsiteX2" fmla="*/ 225788 w 225788"/>
                    <a:gd name="connsiteY2" fmla="*/ 15844 h 228160"/>
                    <a:gd name="connsiteX3" fmla="*/ 225788 w 225788"/>
                    <a:gd name="connsiteY3" fmla="*/ 0 h 228160"/>
                    <a:gd name="connsiteX4" fmla="*/ 0 w 225788"/>
                    <a:gd name="connsiteY4" fmla="*/ 228160 h 22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8" h="228160">
                      <a:moveTo>
                        <a:pt x="0" y="228160"/>
                      </a:moveTo>
                      <a:lnTo>
                        <a:pt x="15812" y="228160"/>
                      </a:lnTo>
                      <a:cubicBezTo>
                        <a:pt x="26563" y="116615"/>
                        <a:pt x="115108" y="27886"/>
                        <a:pt x="225788" y="15844"/>
                      </a:cubicBezTo>
                      <a:lnTo>
                        <a:pt x="225788" y="0"/>
                      </a:lnTo>
                      <a:cubicBezTo>
                        <a:pt x="106886" y="12042"/>
                        <a:pt x="11384" y="108376"/>
                        <a:pt x="0" y="22816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9" name="Picture Placeholder 95">
                  <a:extLst>
                    <a:ext uri="{FF2B5EF4-FFF2-40B4-BE49-F238E27FC236}">
                      <a16:creationId xmlns:a16="http://schemas.microsoft.com/office/drawing/2014/main" id="{7D300D95-9D64-330D-0E20-A125E9D017B7}"/>
                    </a:ext>
                  </a:extLst>
                </p:cNvPr>
                <p:cNvSpPr/>
                <p:nvPr/>
              </p:nvSpPr>
              <p:spPr>
                <a:xfrm>
                  <a:off x="11130527" y="1044298"/>
                  <a:ext cx="227685" cy="228793"/>
                </a:xfrm>
                <a:custGeom>
                  <a:avLst/>
                  <a:gdLst>
                    <a:gd name="connsiteX0" fmla="*/ 15812 w 227685"/>
                    <a:gd name="connsiteY0" fmla="*/ 0 h 228793"/>
                    <a:gd name="connsiteX1" fmla="*/ 0 w 227685"/>
                    <a:gd name="connsiteY1" fmla="*/ 0 h 228793"/>
                    <a:gd name="connsiteX2" fmla="*/ 227686 w 227685"/>
                    <a:gd name="connsiteY2" fmla="*/ 228794 h 228793"/>
                    <a:gd name="connsiteX3" fmla="*/ 227686 w 227685"/>
                    <a:gd name="connsiteY3" fmla="*/ 212950 h 228793"/>
                    <a:gd name="connsiteX4" fmla="*/ 15812 w 227685"/>
                    <a:gd name="connsiteY4" fmla="*/ 0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15812" y="0"/>
                      </a:moveTo>
                      <a:lnTo>
                        <a:pt x="0" y="0"/>
                      </a:lnTo>
                      <a:cubicBezTo>
                        <a:pt x="11384" y="120418"/>
                        <a:pt x="106886" y="217386"/>
                        <a:pt x="227686" y="228794"/>
                      </a:cubicBezTo>
                      <a:lnTo>
                        <a:pt x="227686" y="212950"/>
                      </a:lnTo>
                      <a:cubicBezTo>
                        <a:pt x="115740" y="201541"/>
                        <a:pt x="27196" y="111545"/>
                        <a:pt x="15812"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427" name="Group 426">
            <a:extLst>
              <a:ext uri="{FF2B5EF4-FFF2-40B4-BE49-F238E27FC236}">
                <a16:creationId xmlns:a16="http://schemas.microsoft.com/office/drawing/2014/main" id="{722951C2-6884-1DA0-B84D-C01E606999E3}"/>
              </a:ext>
            </a:extLst>
          </p:cNvPr>
          <p:cNvGrpSpPr/>
          <p:nvPr/>
        </p:nvGrpSpPr>
        <p:grpSpPr>
          <a:xfrm>
            <a:off x="1075047" y="3527648"/>
            <a:ext cx="758008" cy="2475217"/>
            <a:chOff x="9973774" y="3527622"/>
            <a:chExt cx="758008" cy="2475217"/>
          </a:xfrm>
        </p:grpSpPr>
        <p:cxnSp>
          <p:nvCxnSpPr>
            <p:cNvPr id="428" name="Straight Connector 427">
              <a:extLst>
                <a:ext uri="{FF2B5EF4-FFF2-40B4-BE49-F238E27FC236}">
                  <a16:creationId xmlns:a16="http://schemas.microsoft.com/office/drawing/2014/main" id="{AD894713-B1CD-F8CC-8DB6-CC2FE704EA61}"/>
                </a:ext>
              </a:extLst>
            </p:cNvPr>
            <p:cNvCxnSpPr>
              <a:cxnSpLocks/>
            </p:cNvCxnSpPr>
            <p:nvPr/>
          </p:nvCxnSpPr>
          <p:spPr bwMode="gray">
            <a:xfrm>
              <a:off x="10354009" y="3527622"/>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29" name="Oval 428">
              <a:extLst>
                <a:ext uri="{FF2B5EF4-FFF2-40B4-BE49-F238E27FC236}">
                  <a16:creationId xmlns:a16="http://schemas.microsoft.com/office/drawing/2014/main" id="{1BC6DDBC-FFFF-6043-A7DB-6264CF1934C7}"/>
                </a:ext>
              </a:extLst>
            </p:cNvPr>
            <p:cNvSpPr/>
            <p:nvPr/>
          </p:nvSpPr>
          <p:spPr>
            <a:xfrm rot="10800000">
              <a:off x="10113948" y="5074102"/>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430" name="Rounded Rectangle 38">
              <a:extLst>
                <a:ext uri="{FF2B5EF4-FFF2-40B4-BE49-F238E27FC236}">
                  <a16:creationId xmlns:a16="http://schemas.microsoft.com/office/drawing/2014/main" id="{3807C1A5-8B35-12D8-8D73-FDC0AE85D49C}"/>
                </a:ext>
              </a:extLst>
            </p:cNvPr>
            <p:cNvSpPr/>
            <p:nvPr/>
          </p:nvSpPr>
          <p:spPr>
            <a:xfrm>
              <a:off x="9973774" y="562383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lang="en-US" sz="1100" kern="0" dirty="0">
                  <a:solidFill>
                    <a:srgbClr val="000001"/>
                  </a:solidFill>
                  <a:latin typeface="Arial" panose="020B0604020202020204" pitchFamily="34" charset="0"/>
                  <a:sym typeface="Arial"/>
                </a:rPr>
                <a:t>Host</a:t>
              </a:r>
              <a:br>
                <a:rPr lang="en-US" sz="1100" kern="0" dirty="0">
                  <a:solidFill>
                    <a:srgbClr val="000001"/>
                  </a:solidFill>
                  <a:latin typeface="Arial" panose="020B0604020202020204" pitchFamily="34" charset="0"/>
                  <a:sym typeface="Arial"/>
                </a:rPr>
              </a:br>
              <a:r>
                <a:rPr lang="en-US" sz="1100" kern="0" dirty="0">
                  <a:solidFill>
                    <a:srgbClr val="000001"/>
                  </a:solidFill>
                  <a:latin typeface="Arial" panose="020B0604020202020204" pitchFamily="34" charset="0"/>
                  <a:sym typeface="Arial"/>
                </a:rPr>
                <a:t>Attestation</a:t>
              </a:r>
              <a:endPar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grpSp>
          <p:nvGrpSpPr>
            <p:cNvPr id="431" name="Picture Placeholder 95" descr="Detections 3&#10;">
              <a:extLst>
                <a:ext uri="{FF2B5EF4-FFF2-40B4-BE49-F238E27FC236}">
                  <a16:creationId xmlns:a16="http://schemas.microsoft.com/office/drawing/2014/main" id="{E1C9178D-0DC8-3ED9-7AED-2C3AA7B336C3}"/>
                </a:ext>
              </a:extLst>
            </p:cNvPr>
            <p:cNvGrpSpPr>
              <a:grpSpLocks noChangeAspect="1"/>
            </p:cNvGrpSpPr>
            <p:nvPr/>
          </p:nvGrpSpPr>
          <p:grpSpPr>
            <a:xfrm>
              <a:off x="10173073" y="5134714"/>
              <a:ext cx="365760" cy="366898"/>
              <a:chOff x="11081827" y="720438"/>
              <a:chExt cx="600204" cy="602073"/>
            </a:xfrm>
            <a:solidFill>
              <a:schemeClr val="tx1"/>
            </a:solidFill>
          </p:grpSpPr>
          <p:sp>
            <p:nvSpPr>
              <p:cNvPr id="432" name="Picture Placeholder 95">
                <a:extLst>
                  <a:ext uri="{FF2B5EF4-FFF2-40B4-BE49-F238E27FC236}">
                    <a16:creationId xmlns:a16="http://schemas.microsoft.com/office/drawing/2014/main" id="{657F1B18-8B02-9100-8A0F-77E6A95ECEC4}"/>
                  </a:ext>
                </a:extLst>
              </p:cNvPr>
              <p:cNvSpPr/>
              <p:nvPr/>
            </p:nvSpPr>
            <p:spPr>
              <a:xfrm>
                <a:off x="11373392" y="1258515"/>
                <a:ext cx="15811" cy="62744"/>
              </a:xfrm>
              <a:custGeom>
                <a:avLst/>
                <a:gdLst>
                  <a:gd name="connsiteX0" fmla="*/ 0 w 15811"/>
                  <a:gd name="connsiteY0" fmla="*/ 0 h 62744"/>
                  <a:gd name="connsiteX1" fmla="*/ 15812 w 15811"/>
                  <a:gd name="connsiteY1" fmla="*/ 0 h 62744"/>
                  <a:gd name="connsiteX2" fmla="*/ 15812 w 15811"/>
                  <a:gd name="connsiteY2" fmla="*/ 62744 h 62744"/>
                  <a:gd name="connsiteX3" fmla="*/ 0 w 15811"/>
                  <a:gd name="connsiteY3" fmla="*/ 62744 h 62744"/>
                </a:gdLst>
                <a:ahLst/>
                <a:cxnLst>
                  <a:cxn ang="0">
                    <a:pos x="connsiteX0" y="connsiteY0"/>
                  </a:cxn>
                  <a:cxn ang="0">
                    <a:pos x="connsiteX1" y="connsiteY1"/>
                  </a:cxn>
                  <a:cxn ang="0">
                    <a:pos x="connsiteX2" y="connsiteY2"/>
                  </a:cxn>
                  <a:cxn ang="0">
                    <a:pos x="connsiteX3" y="connsiteY3"/>
                  </a:cxn>
                </a:cxnLst>
                <a:rect l="l" t="t" r="r" b="b"/>
                <a:pathLst>
                  <a:path w="15811" h="62744">
                    <a:moveTo>
                      <a:pt x="0" y="0"/>
                    </a:moveTo>
                    <a:lnTo>
                      <a:pt x="15812" y="0"/>
                    </a:lnTo>
                    <a:lnTo>
                      <a:pt x="15812" y="62744"/>
                    </a:lnTo>
                    <a:lnTo>
                      <a:pt x="0" y="627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433" name="Picture Placeholder 95">
                <a:extLst>
                  <a:ext uri="{FF2B5EF4-FFF2-40B4-BE49-F238E27FC236}">
                    <a16:creationId xmlns:a16="http://schemas.microsoft.com/office/drawing/2014/main" id="{7007EB63-2E5D-0FE3-2353-4E8C13FEF6C8}"/>
                  </a:ext>
                </a:extLst>
              </p:cNvPr>
              <p:cNvGrpSpPr/>
              <p:nvPr/>
            </p:nvGrpSpPr>
            <p:grpSpPr>
              <a:xfrm>
                <a:off x="11081827" y="720438"/>
                <a:ext cx="600204" cy="553805"/>
                <a:chOff x="11081827" y="720438"/>
                <a:chExt cx="600204" cy="553805"/>
              </a:xfrm>
              <a:grpFill/>
            </p:grpSpPr>
            <p:grpSp>
              <p:nvGrpSpPr>
                <p:cNvPr id="434" name="Picture Placeholder 95">
                  <a:extLst>
                    <a:ext uri="{FF2B5EF4-FFF2-40B4-BE49-F238E27FC236}">
                      <a16:creationId xmlns:a16="http://schemas.microsoft.com/office/drawing/2014/main" id="{B19DAACB-8B48-BF70-9E89-4F50F153B33C}"/>
                    </a:ext>
                  </a:extLst>
                </p:cNvPr>
                <p:cNvGrpSpPr/>
                <p:nvPr/>
              </p:nvGrpSpPr>
              <p:grpSpPr>
                <a:xfrm>
                  <a:off x="11252592" y="851999"/>
                  <a:ext cx="263103" cy="338137"/>
                  <a:chOff x="11252592" y="851999"/>
                  <a:chExt cx="263103" cy="338137"/>
                </a:xfrm>
                <a:grpFill/>
              </p:grpSpPr>
              <p:sp>
                <p:nvSpPr>
                  <p:cNvPr id="442" name="Picture Placeholder 95">
                    <a:extLst>
                      <a:ext uri="{FF2B5EF4-FFF2-40B4-BE49-F238E27FC236}">
                        <a16:creationId xmlns:a16="http://schemas.microsoft.com/office/drawing/2014/main" id="{EEA480FA-DCA8-DC9A-9205-B0959AB4C2C6}"/>
                      </a:ext>
                    </a:extLst>
                  </p:cNvPr>
                  <p:cNvSpPr/>
                  <p:nvPr/>
                </p:nvSpPr>
                <p:spPr>
                  <a:xfrm>
                    <a:off x="11326589" y="1114014"/>
                    <a:ext cx="125859" cy="61476"/>
                  </a:xfrm>
                  <a:custGeom>
                    <a:avLst/>
                    <a:gdLst>
                      <a:gd name="connsiteX0" fmla="*/ 4427 w 125859"/>
                      <a:gd name="connsiteY0" fmla="*/ 61477 h 61476"/>
                      <a:gd name="connsiteX1" fmla="*/ 0 w 125859"/>
                      <a:gd name="connsiteY1" fmla="*/ 46266 h 61476"/>
                      <a:gd name="connsiteX2" fmla="*/ 67673 w 125859"/>
                      <a:gd name="connsiteY2" fmla="*/ 0 h 61476"/>
                      <a:gd name="connsiteX3" fmla="*/ 80955 w 125859"/>
                      <a:gd name="connsiteY3" fmla="*/ 0 h 61476"/>
                      <a:gd name="connsiteX4" fmla="*/ 125860 w 125859"/>
                      <a:gd name="connsiteY4" fmla="*/ 34858 h 61476"/>
                      <a:gd name="connsiteX5" fmla="*/ 120800 w 125859"/>
                      <a:gd name="connsiteY5" fmla="*/ 50068 h 61476"/>
                      <a:gd name="connsiteX6" fmla="*/ 73998 w 125859"/>
                      <a:gd name="connsiteY6" fmla="*/ 17746 h 61476"/>
                      <a:gd name="connsiteX7" fmla="*/ 4427 w 125859"/>
                      <a:gd name="connsiteY7" fmla="*/ 61477 h 6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859" h="61476">
                        <a:moveTo>
                          <a:pt x="4427" y="61477"/>
                        </a:moveTo>
                        <a:lnTo>
                          <a:pt x="0" y="46266"/>
                        </a:lnTo>
                        <a:cubicBezTo>
                          <a:pt x="632" y="46266"/>
                          <a:pt x="45537" y="32957"/>
                          <a:pt x="67673" y="0"/>
                        </a:cubicBezTo>
                        <a:lnTo>
                          <a:pt x="80955" y="0"/>
                        </a:lnTo>
                        <a:cubicBezTo>
                          <a:pt x="80955" y="0"/>
                          <a:pt x="97399" y="25351"/>
                          <a:pt x="125860" y="34858"/>
                        </a:cubicBezTo>
                        <a:lnTo>
                          <a:pt x="120800" y="50068"/>
                        </a:lnTo>
                        <a:cubicBezTo>
                          <a:pt x="98031" y="42463"/>
                          <a:pt x="82220" y="27252"/>
                          <a:pt x="73998" y="17746"/>
                        </a:cubicBezTo>
                        <a:cubicBezTo>
                          <a:pt x="47435" y="48801"/>
                          <a:pt x="6325" y="60843"/>
                          <a:pt x="4427" y="6147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3" name="Picture Placeholder 95">
                    <a:extLst>
                      <a:ext uri="{FF2B5EF4-FFF2-40B4-BE49-F238E27FC236}">
                        <a16:creationId xmlns:a16="http://schemas.microsoft.com/office/drawing/2014/main" id="{D3107DB1-B2B1-8D0D-F3EE-032A94C5C899}"/>
                      </a:ext>
                    </a:extLst>
                  </p:cNvPr>
                  <p:cNvSpPr/>
                  <p:nvPr/>
                </p:nvSpPr>
                <p:spPr>
                  <a:xfrm>
                    <a:off x="11367067" y="1148872"/>
                    <a:ext cx="46169" cy="40561"/>
                  </a:xfrm>
                  <a:custGeom>
                    <a:avLst/>
                    <a:gdLst>
                      <a:gd name="connsiteX0" fmla="*/ 3795 w 46169"/>
                      <a:gd name="connsiteY0" fmla="*/ 40562 h 40561"/>
                      <a:gd name="connsiteX1" fmla="*/ 0 w 46169"/>
                      <a:gd name="connsiteY1" fmla="*/ 25351 h 40561"/>
                      <a:gd name="connsiteX2" fmla="*/ 32255 w 46169"/>
                      <a:gd name="connsiteY2" fmla="*/ 0 h 40561"/>
                      <a:gd name="connsiteX3" fmla="*/ 46170 w 46169"/>
                      <a:gd name="connsiteY3" fmla="*/ 7605 h 40561"/>
                      <a:gd name="connsiteX4" fmla="*/ 3795 w 46169"/>
                      <a:gd name="connsiteY4" fmla="*/ 40562 h 40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69" h="40561">
                        <a:moveTo>
                          <a:pt x="3795" y="40562"/>
                        </a:moveTo>
                        <a:lnTo>
                          <a:pt x="0" y="25351"/>
                        </a:lnTo>
                        <a:cubicBezTo>
                          <a:pt x="0" y="25351"/>
                          <a:pt x="20871" y="20281"/>
                          <a:pt x="32255" y="0"/>
                        </a:cubicBezTo>
                        <a:lnTo>
                          <a:pt x="46170" y="7605"/>
                        </a:lnTo>
                        <a:cubicBezTo>
                          <a:pt x="31623" y="34224"/>
                          <a:pt x="5060" y="40562"/>
                          <a:pt x="3795" y="4056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4" name="Picture Placeholder 95">
                    <a:extLst>
                      <a:ext uri="{FF2B5EF4-FFF2-40B4-BE49-F238E27FC236}">
                        <a16:creationId xmlns:a16="http://schemas.microsoft.com/office/drawing/2014/main" id="{1A74D2D6-BFF4-CABE-F70A-279C001C5522}"/>
                      </a:ext>
                    </a:extLst>
                  </p:cNvPr>
                  <p:cNvSpPr/>
                  <p:nvPr/>
                </p:nvSpPr>
                <p:spPr>
                  <a:xfrm>
                    <a:off x="11413237" y="1082959"/>
                    <a:ext cx="67040" cy="51969"/>
                  </a:xfrm>
                  <a:custGeom>
                    <a:avLst/>
                    <a:gdLst>
                      <a:gd name="connsiteX0" fmla="*/ 63878 w 67040"/>
                      <a:gd name="connsiteY0" fmla="*/ 51970 h 51969"/>
                      <a:gd name="connsiteX1" fmla="*/ 0 w 67040"/>
                      <a:gd name="connsiteY1" fmla="*/ 5070 h 51969"/>
                      <a:gd name="connsiteX2" fmla="*/ 15179 w 67040"/>
                      <a:gd name="connsiteY2" fmla="*/ 0 h 51969"/>
                      <a:gd name="connsiteX3" fmla="*/ 67041 w 67040"/>
                      <a:gd name="connsiteY3" fmla="*/ 36759 h 51969"/>
                      <a:gd name="connsiteX4" fmla="*/ 63878 w 67040"/>
                      <a:gd name="connsiteY4" fmla="*/ 51970 h 51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40" h="51969">
                        <a:moveTo>
                          <a:pt x="63878" y="51970"/>
                        </a:moveTo>
                        <a:cubicBezTo>
                          <a:pt x="61981" y="51336"/>
                          <a:pt x="13282" y="43097"/>
                          <a:pt x="0" y="5070"/>
                        </a:cubicBezTo>
                        <a:lnTo>
                          <a:pt x="15179" y="0"/>
                        </a:lnTo>
                        <a:cubicBezTo>
                          <a:pt x="25931" y="29788"/>
                          <a:pt x="66408" y="36759"/>
                          <a:pt x="67041" y="36759"/>
                        </a:cubicBezTo>
                        <a:lnTo>
                          <a:pt x="63878" y="5197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5" name="Picture Placeholder 95">
                    <a:extLst>
                      <a:ext uri="{FF2B5EF4-FFF2-40B4-BE49-F238E27FC236}">
                        <a16:creationId xmlns:a16="http://schemas.microsoft.com/office/drawing/2014/main" id="{511DA5F9-5E8C-2603-3CFE-C357D2D0D1A8}"/>
                      </a:ext>
                    </a:extLst>
                  </p:cNvPr>
                  <p:cNvSpPr/>
                  <p:nvPr/>
                </p:nvSpPr>
                <p:spPr>
                  <a:xfrm>
                    <a:off x="11258916" y="920426"/>
                    <a:ext cx="234010" cy="187883"/>
                  </a:xfrm>
                  <a:custGeom>
                    <a:avLst/>
                    <a:gdLst>
                      <a:gd name="connsiteX0" fmla="*/ 230848 w 234010"/>
                      <a:gd name="connsiteY0" fmla="*/ 187884 h 187883"/>
                      <a:gd name="connsiteX1" fmla="*/ 184678 w 234010"/>
                      <a:gd name="connsiteY1" fmla="*/ 139716 h 187883"/>
                      <a:gd name="connsiteX2" fmla="*/ 194165 w 234010"/>
                      <a:gd name="connsiteY2" fmla="*/ 112464 h 187883"/>
                      <a:gd name="connsiteX3" fmla="*/ 199857 w 234010"/>
                      <a:gd name="connsiteY3" fmla="*/ 51621 h 187883"/>
                      <a:gd name="connsiteX4" fmla="*/ 161910 w 234010"/>
                      <a:gd name="connsiteY4" fmla="*/ 19932 h 187883"/>
                      <a:gd name="connsiteX5" fmla="*/ 108151 w 234010"/>
                      <a:gd name="connsiteY5" fmla="*/ 22467 h 187883"/>
                      <a:gd name="connsiteX6" fmla="*/ 78425 w 234010"/>
                      <a:gd name="connsiteY6" fmla="*/ 68733 h 187883"/>
                      <a:gd name="connsiteX7" fmla="*/ 5060 w 234010"/>
                      <a:gd name="connsiteY7" fmla="*/ 147322 h 187883"/>
                      <a:gd name="connsiteX8" fmla="*/ 0 w 234010"/>
                      <a:gd name="connsiteY8" fmla="*/ 132111 h 187883"/>
                      <a:gd name="connsiteX9" fmla="*/ 63246 w 234010"/>
                      <a:gd name="connsiteY9" fmla="*/ 64297 h 187883"/>
                      <a:gd name="connsiteX10" fmla="*/ 100561 w 234010"/>
                      <a:gd name="connsiteY10" fmla="*/ 9158 h 187883"/>
                      <a:gd name="connsiteX11" fmla="*/ 166969 w 234010"/>
                      <a:gd name="connsiteY11" fmla="*/ 5355 h 187883"/>
                      <a:gd name="connsiteX12" fmla="*/ 214404 w 234010"/>
                      <a:gd name="connsiteY12" fmla="*/ 45917 h 187883"/>
                      <a:gd name="connsiteX13" fmla="*/ 208712 w 234010"/>
                      <a:gd name="connsiteY13" fmla="*/ 119436 h 187883"/>
                      <a:gd name="connsiteX14" fmla="*/ 200490 w 234010"/>
                      <a:gd name="connsiteY14" fmla="*/ 143519 h 187883"/>
                      <a:gd name="connsiteX15" fmla="*/ 234010 w 234010"/>
                      <a:gd name="connsiteY15" fmla="*/ 173307 h 187883"/>
                      <a:gd name="connsiteX16" fmla="*/ 230848 w 234010"/>
                      <a:gd name="connsiteY16" fmla="*/ 187884 h 18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010" h="187883">
                        <a:moveTo>
                          <a:pt x="230848" y="187884"/>
                        </a:moveTo>
                        <a:cubicBezTo>
                          <a:pt x="212507" y="184081"/>
                          <a:pt x="178986" y="170138"/>
                          <a:pt x="184678" y="139716"/>
                        </a:cubicBezTo>
                        <a:cubicBezTo>
                          <a:pt x="186576" y="130210"/>
                          <a:pt x="190370" y="121337"/>
                          <a:pt x="194165" y="112464"/>
                        </a:cubicBezTo>
                        <a:cubicBezTo>
                          <a:pt x="202387" y="93451"/>
                          <a:pt x="209977" y="75071"/>
                          <a:pt x="199857" y="51621"/>
                        </a:cubicBezTo>
                        <a:cubicBezTo>
                          <a:pt x="194165" y="38312"/>
                          <a:pt x="179619" y="26270"/>
                          <a:pt x="161910" y="19932"/>
                        </a:cubicBezTo>
                        <a:cubicBezTo>
                          <a:pt x="142936" y="13595"/>
                          <a:pt x="123962" y="14228"/>
                          <a:pt x="108151" y="22467"/>
                        </a:cubicBezTo>
                        <a:cubicBezTo>
                          <a:pt x="87912" y="33242"/>
                          <a:pt x="83485" y="49720"/>
                          <a:pt x="78425" y="68733"/>
                        </a:cubicBezTo>
                        <a:cubicBezTo>
                          <a:pt x="70836" y="96620"/>
                          <a:pt x="61981" y="127675"/>
                          <a:pt x="5060" y="147322"/>
                        </a:cubicBezTo>
                        <a:lnTo>
                          <a:pt x="0" y="132111"/>
                        </a:lnTo>
                        <a:cubicBezTo>
                          <a:pt x="48699" y="115633"/>
                          <a:pt x="55657" y="90915"/>
                          <a:pt x="63246" y="64297"/>
                        </a:cubicBezTo>
                        <a:cubicBezTo>
                          <a:pt x="68938" y="44016"/>
                          <a:pt x="75263" y="23101"/>
                          <a:pt x="100561" y="9158"/>
                        </a:cubicBezTo>
                        <a:cubicBezTo>
                          <a:pt x="120167" y="-1616"/>
                          <a:pt x="143568" y="-2884"/>
                          <a:pt x="166969" y="5355"/>
                        </a:cubicBezTo>
                        <a:cubicBezTo>
                          <a:pt x="189106" y="12961"/>
                          <a:pt x="206814" y="28171"/>
                          <a:pt x="214404" y="45917"/>
                        </a:cubicBezTo>
                        <a:cubicBezTo>
                          <a:pt x="227053" y="75705"/>
                          <a:pt x="217566" y="98521"/>
                          <a:pt x="208712" y="119436"/>
                        </a:cubicBezTo>
                        <a:cubicBezTo>
                          <a:pt x="204917" y="127675"/>
                          <a:pt x="201755" y="135914"/>
                          <a:pt x="200490" y="143519"/>
                        </a:cubicBezTo>
                        <a:cubicBezTo>
                          <a:pt x="196695" y="165701"/>
                          <a:pt x="234010" y="173307"/>
                          <a:pt x="234010" y="173307"/>
                        </a:cubicBezTo>
                        <a:lnTo>
                          <a:pt x="230848" y="18788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6" name="Picture Placeholder 95">
                    <a:extLst>
                      <a:ext uri="{FF2B5EF4-FFF2-40B4-BE49-F238E27FC236}">
                        <a16:creationId xmlns:a16="http://schemas.microsoft.com/office/drawing/2014/main" id="{FE5069AA-357E-D1AE-F9CD-9A2F77F55AF3}"/>
                      </a:ext>
                    </a:extLst>
                  </p:cNvPr>
                  <p:cNvSpPr/>
                  <p:nvPr/>
                </p:nvSpPr>
                <p:spPr>
                  <a:xfrm>
                    <a:off x="11266506" y="955461"/>
                    <a:ext cx="173239" cy="201015"/>
                  </a:xfrm>
                  <a:custGeom>
                    <a:avLst/>
                    <a:gdLst>
                      <a:gd name="connsiteX0" fmla="*/ 38580 w 173239"/>
                      <a:gd name="connsiteY0" fmla="*/ 201016 h 201015"/>
                      <a:gd name="connsiteX1" fmla="*/ 32255 w 173239"/>
                      <a:gd name="connsiteY1" fmla="*/ 186439 h 201015"/>
                      <a:gd name="connsiteX2" fmla="*/ 139774 w 173239"/>
                      <a:gd name="connsiteY2" fmla="*/ 97710 h 201015"/>
                      <a:gd name="connsiteX3" fmla="*/ 152423 w 173239"/>
                      <a:gd name="connsiteY3" fmla="*/ 27994 h 201015"/>
                      <a:gd name="connsiteX4" fmla="*/ 135346 w 173239"/>
                      <a:gd name="connsiteY4" fmla="*/ 16586 h 201015"/>
                      <a:gd name="connsiteX5" fmla="*/ 101194 w 173239"/>
                      <a:gd name="connsiteY5" fmla="*/ 52712 h 201015"/>
                      <a:gd name="connsiteX6" fmla="*/ 86647 w 173239"/>
                      <a:gd name="connsiteY6" fmla="*/ 85668 h 201015"/>
                      <a:gd name="connsiteX7" fmla="*/ 5060 w 173239"/>
                      <a:gd name="connsiteY7" fmla="*/ 146511 h 201015"/>
                      <a:gd name="connsiteX8" fmla="*/ 0 w 173239"/>
                      <a:gd name="connsiteY8" fmla="*/ 131300 h 201015"/>
                      <a:gd name="connsiteX9" fmla="*/ 73365 w 173239"/>
                      <a:gd name="connsiteY9" fmla="*/ 77429 h 201015"/>
                      <a:gd name="connsiteX10" fmla="*/ 87279 w 173239"/>
                      <a:gd name="connsiteY10" fmla="*/ 46374 h 201015"/>
                      <a:gd name="connsiteX11" fmla="*/ 137244 w 173239"/>
                      <a:gd name="connsiteY11" fmla="*/ 108 h 201015"/>
                      <a:gd name="connsiteX12" fmla="*/ 168234 w 173239"/>
                      <a:gd name="connsiteY12" fmla="*/ 20389 h 201015"/>
                      <a:gd name="connsiteX13" fmla="*/ 154320 w 173239"/>
                      <a:gd name="connsiteY13" fmla="*/ 105949 h 201015"/>
                      <a:gd name="connsiteX14" fmla="*/ 38580 w 173239"/>
                      <a:gd name="connsiteY14" fmla="*/ 201016 h 20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239" h="201015">
                        <a:moveTo>
                          <a:pt x="38580" y="201016"/>
                        </a:moveTo>
                        <a:lnTo>
                          <a:pt x="32255" y="186439"/>
                        </a:lnTo>
                        <a:cubicBezTo>
                          <a:pt x="84117" y="163623"/>
                          <a:pt x="118902" y="125596"/>
                          <a:pt x="139774" y="97710"/>
                        </a:cubicBezTo>
                        <a:cubicBezTo>
                          <a:pt x="153055" y="79964"/>
                          <a:pt x="160645" y="46374"/>
                          <a:pt x="152423" y="27994"/>
                        </a:cubicBezTo>
                        <a:cubicBezTo>
                          <a:pt x="149261" y="21023"/>
                          <a:pt x="143568" y="17220"/>
                          <a:pt x="135346" y="16586"/>
                        </a:cubicBezTo>
                        <a:cubicBezTo>
                          <a:pt x="116373" y="15319"/>
                          <a:pt x="111313" y="26727"/>
                          <a:pt x="101194" y="52712"/>
                        </a:cubicBezTo>
                        <a:cubicBezTo>
                          <a:pt x="97399" y="62852"/>
                          <a:pt x="92972" y="74260"/>
                          <a:pt x="86647" y="85668"/>
                        </a:cubicBezTo>
                        <a:cubicBezTo>
                          <a:pt x="63878" y="126230"/>
                          <a:pt x="6957" y="145877"/>
                          <a:pt x="5060" y="146511"/>
                        </a:cubicBezTo>
                        <a:lnTo>
                          <a:pt x="0" y="131300"/>
                        </a:lnTo>
                        <a:cubicBezTo>
                          <a:pt x="632" y="131300"/>
                          <a:pt x="53127" y="112921"/>
                          <a:pt x="73365" y="77429"/>
                        </a:cubicBezTo>
                        <a:cubicBezTo>
                          <a:pt x="79058" y="67289"/>
                          <a:pt x="83485" y="56515"/>
                          <a:pt x="87279" y="46374"/>
                        </a:cubicBezTo>
                        <a:cubicBezTo>
                          <a:pt x="96766" y="21657"/>
                          <a:pt x="106253" y="-1793"/>
                          <a:pt x="137244" y="108"/>
                        </a:cubicBezTo>
                        <a:cubicBezTo>
                          <a:pt x="151158" y="742"/>
                          <a:pt x="161910" y="8347"/>
                          <a:pt x="168234" y="20389"/>
                        </a:cubicBezTo>
                        <a:cubicBezTo>
                          <a:pt x="179619" y="44473"/>
                          <a:pt x="170132" y="84401"/>
                          <a:pt x="154320" y="105949"/>
                        </a:cubicBezTo>
                        <a:cubicBezTo>
                          <a:pt x="130919" y="136371"/>
                          <a:pt x="93604" y="176932"/>
                          <a:pt x="38580" y="20101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7" name="Picture Placeholder 95">
                    <a:extLst>
                      <a:ext uri="{FF2B5EF4-FFF2-40B4-BE49-F238E27FC236}">
                        <a16:creationId xmlns:a16="http://schemas.microsoft.com/office/drawing/2014/main" id="{612E4463-9524-CF9F-B1DA-65C11960F1E1}"/>
                      </a:ext>
                    </a:extLst>
                  </p:cNvPr>
                  <p:cNvSpPr/>
                  <p:nvPr/>
                </p:nvSpPr>
                <p:spPr>
                  <a:xfrm>
                    <a:off x="11279155" y="998032"/>
                    <a:ext cx="125227" cy="131192"/>
                  </a:xfrm>
                  <a:custGeom>
                    <a:avLst/>
                    <a:gdLst>
                      <a:gd name="connsiteX0" fmla="*/ 5060 w 125227"/>
                      <a:gd name="connsiteY0" fmla="*/ 131192 h 131192"/>
                      <a:gd name="connsiteX1" fmla="*/ 0 w 125227"/>
                      <a:gd name="connsiteY1" fmla="*/ 115981 h 131192"/>
                      <a:gd name="connsiteX2" fmla="*/ 109416 w 125227"/>
                      <a:gd name="connsiteY2" fmla="*/ 0 h 131192"/>
                      <a:gd name="connsiteX3" fmla="*/ 125227 w 125227"/>
                      <a:gd name="connsiteY3" fmla="*/ 634 h 131192"/>
                      <a:gd name="connsiteX4" fmla="*/ 5060 w 125227"/>
                      <a:gd name="connsiteY4" fmla="*/ 131192 h 131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27" h="131192">
                        <a:moveTo>
                          <a:pt x="5060" y="131192"/>
                        </a:moveTo>
                        <a:lnTo>
                          <a:pt x="0" y="115981"/>
                        </a:lnTo>
                        <a:cubicBezTo>
                          <a:pt x="1265" y="115348"/>
                          <a:pt x="104988" y="77955"/>
                          <a:pt x="109416" y="0"/>
                        </a:cubicBezTo>
                        <a:lnTo>
                          <a:pt x="125227" y="634"/>
                        </a:lnTo>
                        <a:cubicBezTo>
                          <a:pt x="120167" y="89363"/>
                          <a:pt x="10119" y="129291"/>
                          <a:pt x="5060" y="13119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8" name="Picture Placeholder 95">
                    <a:extLst>
                      <a:ext uri="{FF2B5EF4-FFF2-40B4-BE49-F238E27FC236}">
                        <a16:creationId xmlns:a16="http://schemas.microsoft.com/office/drawing/2014/main" id="{DE8C4CFF-1216-BF1D-CE47-3B907DB410A8}"/>
                      </a:ext>
                    </a:extLst>
                  </p:cNvPr>
                  <p:cNvSpPr/>
                  <p:nvPr/>
                </p:nvSpPr>
                <p:spPr>
                  <a:xfrm>
                    <a:off x="11254489" y="886878"/>
                    <a:ext cx="260481" cy="187842"/>
                  </a:xfrm>
                  <a:custGeom>
                    <a:avLst/>
                    <a:gdLst>
                      <a:gd name="connsiteX0" fmla="*/ 240335 w 260481"/>
                      <a:gd name="connsiteY0" fmla="*/ 187842 h 187842"/>
                      <a:gd name="connsiteX1" fmla="*/ 226421 w 260481"/>
                      <a:gd name="connsiteY1" fmla="*/ 180871 h 187842"/>
                      <a:gd name="connsiteX2" fmla="*/ 239070 w 260481"/>
                      <a:gd name="connsiteY2" fmla="*/ 81367 h 187842"/>
                      <a:gd name="connsiteX3" fmla="*/ 187841 w 260481"/>
                      <a:gd name="connsiteY3" fmla="*/ 28130 h 187842"/>
                      <a:gd name="connsiteX4" fmla="*/ 73365 w 260481"/>
                      <a:gd name="connsiteY4" fmla="*/ 40806 h 187842"/>
                      <a:gd name="connsiteX5" fmla="*/ 47435 w 260481"/>
                      <a:gd name="connsiteY5" fmla="*/ 90240 h 187842"/>
                      <a:gd name="connsiteX6" fmla="*/ 0 w 260481"/>
                      <a:gd name="connsiteY6" fmla="*/ 138407 h 187842"/>
                      <a:gd name="connsiteX7" fmla="*/ 0 w 260481"/>
                      <a:gd name="connsiteY7" fmla="*/ 122563 h 187842"/>
                      <a:gd name="connsiteX8" fmla="*/ 32255 w 260481"/>
                      <a:gd name="connsiteY8" fmla="*/ 85170 h 187842"/>
                      <a:gd name="connsiteX9" fmla="*/ 61981 w 260481"/>
                      <a:gd name="connsiteY9" fmla="*/ 29398 h 187842"/>
                      <a:gd name="connsiteX10" fmla="*/ 193533 w 260481"/>
                      <a:gd name="connsiteY10" fmla="*/ 12919 h 187842"/>
                      <a:gd name="connsiteX11" fmla="*/ 253616 w 260481"/>
                      <a:gd name="connsiteY11" fmla="*/ 75663 h 187842"/>
                      <a:gd name="connsiteX12" fmla="*/ 240335 w 260481"/>
                      <a:gd name="connsiteY12" fmla="*/ 187842 h 18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481" h="187842">
                        <a:moveTo>
                          <a:pt x="240335" y="187842"/>
                        </a:moveTo>
                        <a:lnTo>
                          <a:pt x="226421" y="180871"/>
                        </a:lnTo>
                        <a:cubicBezTo>
                          <a:pt x="245394" y="143478"/>
                          <a:pt x="249822" y="110521"/>
                          <a:pt x="239070" y="81367"/>
                        </a:cubicBezTo>
                        <a:cubicBezTo>
                          <a:pt x="228951" y="53481"/>
                          <a:pt x="205550" y="35102"/>
                          <a:pt x="187841" y="28130"/>
                        </a:cubicBezTo>
                        <a:cubicBezTo>
                          <a:pt x="161277" y="16722"/>
                          <a:pt x="110048" y="4046"/>
                          <a:pt x="73365" y="40806"/>
                        </a:cubicBezTo>
                        <a:cubicBezTo>
                          <a:pt x="59451" y="54749"/>
                          <a:pt x="53127" y="73128"/>
                          <a:pt x="47435" y="90240"/>
                        </a:cubicBezTo>
                        <a:cubicBezTo>
                          <a:pt x="39845" y="113690"/>
                          <a:pt x="31623" y="138407"/>
                          <a:pt x="0" y="138407"/>
                        </a:cubicBezTo>
                        <a:lnTo>
                          <a:pt x="0" y="122563"/>
                        </a:lnTo>
                        <a:cubicBezTo>
                          <a:pt x="18974" y="122563"/>
                          <a:pt x="24033" y="110521"/>
                          <a:pt x="32255" y="85170"/>
                        </a:cubicBezTo>
                        <a:cubicBezTo>
                          <a:pt x="38580" y="66790"/>
                          <a:pt x="44905" y="46510"/>
                          <a:pt x="61981" y="29398"/>
                        </a:cubicBezTo>
                        <a:cubicBezTo>
                          <a:pt x="105621" y="-14333"/>
                          <a:pt x="163175" y="244"/>
                          <a:pt x="193533" y="12919"/>
                        </a:cubicBezTo>
                        <a:cubicBezTo>
                          <a:pt x="203652" y="17356"/>
                          <a:pt x="238437" y="34468"/>
                          <a:pt x="253616" y="75663"/>
                        </a:cubicBezTo>
                        <a:cubicBezTo>
                          <a:pt x="266266" y="109254"/>
                          <a:pt x="261206" y="146646"/>
                          <a:pt x="240335" y="18784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9" name="Picture Placeholder 95">
                    <a:extLst>
                      <a:ext uri="{FF2B5EF4-FFF2-40B4-BE49-F238E27FC236}">
                        <a16:creationId xmlns:a16="http://schemas.microsoft.com/office/drawing/2014/main" id="{73E0D1B3-B8FB-1ACF-EDCB-09D006264719}"/>
                      </a:ext>
                    </a:extLst>
                  </p:cNvPr>
                  <p:cNvSpPr/>
                  <p:nvPr/>
                </p:nvSpPr>
                <p:spPr>
                  <a:xfrm>
                    <a:off x="11252592" y="851999"/>
                    <a:ext cx="263103" cy="132723"/>
                  </a:xfrm>
                  <a:custGeom>
                    <a:avLst/>
                    <a:gdLst>
                      <a:gd name="connsiteX0" fmla="*/ 15812 w 263103"/>
                      <a:gd name="connsiteY0" fmla="*/ 132724 h 132723"/>
                      <a:gd name="connsiteX1" fmla="*/ 0 w 263103"/>
                      <a:gd name="connsiteY1" fmla="*/ 132724 h 132723"/>
                      <a:gd name="connsiteX2" fmla="*/ 91074 w 263103"/>
                      <a:gd name="connsiteY2" fmla="*/ 5968 h 132723"/>
                      <a:gd name="connsiteX3" fmla="*/ 263103 w 263103"/>
                      <a:gd name="connsiteY3" fmla="*/ 58572 h 132723"/>
                      <a:gd name="connsiteX4" fmla="*/ 250454 w 263103"/>
                      <a:gd name="connsiteY4" fmla="*/ 68079 h 132723"/>
                      <a:gd name="connsiteX5" fmla="*/ 94869 w 263103"/>
                      <a:gd name="connsiteY5" fmla="*/ 21179 h 132723"/>
                      <a:gd name="connsiteX6" fmla="*/ 15812 w 263103"/>
                      <a:gd name="connsiteY6" fmla="*/ 132724 h 13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3103" h="132723">
                        <a:moveTo>
                          <a:pt x="15812" y="132724"/>
                        </a:moveTo>
                        <a:lnTo>
                          <a:pt x="0" y="132724"/>
                        </a:lnTo>
                        <a:cubicBezTo>
                          <a:pt x="0" y="131456"/>
                          <a:pt x="2530" y="24982"/>
                          <a:pt x="91074" y="5968"/>
                        </a:cubicBezTo>
                        <a:cubicBezTo>
                          <a:pt x="185943" y="-14946"/>
                          <a:pt x="237173" y="23080"/>
                          <a:pt x="263103" y="58572"/>
                        </a:cubicBezTo>
                        <a:lnTo>
                          <a:pt x="250454" y="68079"/>
                        </a:lnTo>
                        <a:cubicBezTo>
                          <a:pt x="227686" y="36390"/>
                          <a:pt x="181516" y="2799"/>
                          <a:pt x="94869" y="21179"/>
                        </a:cubicBezTo>
                        <a:cubicBezTo>
                          <a:pt x="18341" y="37657"/>
                          <a:pt x="15812" y="128921"/>
                          <a:pt x="15812" y="13272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435" name="Picture Placeholder 95">
                  <a:extLst>
                    <a:ext uri="{FF2B5EF4-FFF2-40B4-BE49-F238E27FC236}">
                      <a16:creationId xmlns:a16="http://schemas.microsoft.com/office/drawing/2014/main" id="{B6DF4C51-B986-F78B-6343-5A5B5EA036D4}"/>
                    </a:ext>
                  </a:extLst>
                </p:cNvPr>
                <p:cNvSpPr/>
                <p:nvPr/>
              </p:nvSpPr>
              <p:spPr>
                <a:xfrm>
                  <a:off x="11406912" y="768605"/>
                  <a:ext cx="227685" cy="228793"/>
                </a:xfrm>
                <a:custGeom>
                  <a:avLst/>
                  <a:gdLst>
                    <a:gd name="connsiteX0" fmla="*/ 227686 w 227685"/>
                    <a:gd name="connsiteY0" fmla="*/ 228794 h 228793"/>
                    <a:gd name="connsiteX1" fmla="*/ 0 w 227685"/>
                    <a:gd name="connsiteY1" fmla="*/ 0 h 228793"/>
                    <a:gd name="connsiteX2" fmla="*/ 0 w 227685"/>
                    <a:gd name="connsiteY2" fmla="*/ 15844 h 228793"/>
                    <a:gd name="connsiteX3" fmla="*/ 211874 w 227685"/>
                    <a:gd name="connsiteY3" fmla="*/ 228794 h 228793"/>
                    <a:gd name="connsiteX4" fmla="*/ 227686 w 227685"/>
                    <a:gd name="connsiteY4" fmla="*/ 228794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227686" y="228794"/>
                      </a:moveTo>
                      <a:cubicBezTo>
                        <a:pt x="216301" y="107742"/>
                        <a:pt x="120167" y="11408"/>
                        <a:pt x="0" y="0"/>
                      </a:cubicBezTo>
                      <a:lnTo>
                        <a:pt x="0" y="15844"/>
                      </a:lnTo>
                      <a:cubicBezTo>
                        <a:pt x="111945" y="27252"/>
                        <a:pt x="201122" y="116615"/>
                        <a:pt x="211874" y="228794"/>
                      </a:cubicBezTo>
                      <a:lnTo>
                        <a:pt x="227686" y="22879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36" name="Picture Placeholder 95">
                  <a:extLst>
                    <a:ext uri="{FF2B5EF4-FFF2-40B4-BE49-F238E27FC236}">
                      <a16:creationId xmlns:a16="http://schemas.microsoft.com/office/drawing/2014/main" id="{0B0224D9-E8B0-B942-2C5D-7B585EB0E831}"/>
                    </a:ext>
                  </a:extLst>
                </p:cNvPr>
                <p:cNvSpPr/>
                <p:nvPr/>
              </p:nvSpPr>
              <p:spPr>
                <a:xfrm>
                  <a:off x="11081827" y="1013243"/>
                  <a:ext cx="63878" cy="15844"/>
                </a:xfrm>
                <a:custGeom>
                  <a:avLst/>
                  <a:gdLst>
                    <a:gd name="connsiteX0" fmla="*/ 0 w 63878"/>
                    <a:gd name="connsiteY0" fmla="*/ 0 h 15844"/>
                    <a:gd name="connsiteX1" fmla="*/ 63878 w 63878"/>
                    <a:gd name="connsiteY1" fmla="*/ 0 h 15844"/>
                    <a:gd name="connsiteX2" fmla="*/ 63878 w 63878"/>
                    <a:gd name="connsiteY2" fmla="*/ 15844 h 15844"/>
                    <a:gd name="connsiteX3" fmla="*/ 0 w 6387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3878" h="15844">
                      <a:moveTo>
                        <a:pt x="0" y="0"/>
                      </a:moveTo>
                      <a:lnTo>
                        <a:pt x="63878" y="0"/>
                      </a:lnTo>
                      <a:lnTo>
                        <a:pt x="63878"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37" name="Picture Placeholder 95">
                  <a:extLst>
                    <a:ext uri="{FF2B5EF4-FFF2-40B4-BE49-F238E27FC236}">
                      <a16:creationId xmlns:a16="http://schemas.microsoft.com/office/drawing/2014/main" id="{9A1BFDB5-3A6C-332E-B7DD-C30C149FE8C3}"/>
                    </a:ext>
                  </a:extLst>
                </p:cNvPr>
                <p:cNvSpPr/>
                <p:nvPr/>
              </p:nvSpPr>
              <p:spPr>
                <a:xfrm>
                  <a:off x="11373392" y="720438"/>
                  <a:ext cx="15811" cy="63377"/>
                </a:xfrm>
                <a:custGeom>
                  <a:avLst/>
                  <a:gdLst>
                    <a:gd name="connsiteX0" fmla="*/ 0 w 15811"/>
                    <a:gd name="connsiteY0" fmla="*/ 0 h 63377"/>
                    <a:gd name="connsiteX1" fmla="*/ 15812 w 15811"/>
                    <a:gd name="connsiteY1" fmla="*/ 0 h 63377"/>
                    <a:gd name="connsiteX2" fmla="*/ 15812 w 15811"/>
                    <a:gd name="connsiteY2" fmla="*/ 63378 h 63377"/>
                    <a:gd name="connsiteX3" fmla="*/ 0 w 15811"/>
                    <a:gd name="connsiteY3" fmla="*/ 63378 h 63377"/>
                  </a:gdLst>
                  <a:ahLst/>
                  <a:cxnLst>
                    <a:cxn ang="0">
                      <a:pos x="connsiteX0" y="connsiteY0"/>
                    </a:cxn>
                    <a:cxn ang="0">
                      <a:pos x="connsiteX1" y="connsiteY1"/>
                    </a:cxn>
                    <a:cxn ang="0">
                      <a:pos x="connsiteX2" y="connsiteY2"/>
                    </a:cxn>
                    <a:cxn ang="0">
                      <a:pos x="connsiteX3" y="connsiteY3"/>
                    </a:cxn>
                  </a:cxnLst>
                  <a:rect l="l" t="t" r="r" b="b"/>
                  <a:pathLst>
                    <a:path w="15811" h="63377">
                      <a:moveTo>
                        <a:pt x="0" y="0"/>
                      </a:moveTo>
                      <a:lnTo>
                        <a:pt x="15812" y="0"/>
                      </a:lnTo>
                      <a:lnTo>
                        <a:pt x="15812" y="63378"/>
                      </a:lnTo>
                      <a:lnTo>
                        <a:pt x="0" y="6337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38" name="Picture Placeholder 95">
                  <a:extLst>
                    <a:ext uri="{FF2B5EF4-FFF2-40B4-BE49-F238E27FC236}">
                      <a16:creationId xmlns:a16="http://schemas.microsoft.com/office/drawing/2014/main" id="{778F0C03-64AD-E2AA-8B3B-6327B6ABC659}"/>
                    </a:ext>
                  </a:extLst>
                </p:cNvPr>
                <p:cNvSpPr/>
                <p:nvPr/>
              </p:nvSpPr>
              <p:spPr>
                <a:xfrm>
                  <a:off x="11619418" y="1013243"/>
                  <a:ext cx="62613" cy="15844"/>
                </a:xfrm>
                <a:custGeom>
                  <a:avLst/>
                  <a:gdLst>
                    <a:gd name="connsiteX0" fmla="*/ 0 w 62613"/>
                    <a:gd name="connsiteY0" fmla="*/ 0 h 15844"/>
                    <a:gd name="connsiteX1" fmla="*/ 62614 w 62613"/>
                    <a:gd name="connsiteY1" fmla="*/ 0 h 15844"/>
                    <a:gd name="connsiteX2" fmla="*/ 62614 w 62613"/>
                    <a:gd name="connsiteY2" fmla="*/ 15844 h 15844"/>
                    <a:gd name="connsiteX3" fmla="*/ 0 w 62613"/>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2613" h="15844">
                      <a:moveTo>
                        <a:pt x="0" y="0"/>
                      </a:moveTo>
                      <a:lnTo>
                        <a:pt x="62614" y="0"/>
                      </a:lnTo>
                      <a:lnTo>
                        <a:pt x="62614"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39" name="Picture Placeholder 95">
                  <a:extLst>
                    <a:ext uri="{FF2B5EF4-FFF2-40B4-BE49-F238E27FC236}">
                      <a16:creationId xmlns:a16="http://schemas.microsoft.com/office/drawing/2014/main" id="{FC15C515-18AE-DB7E-FABE-EDD86894DFF7}"/>
                    </a:ext>
                  </a:extLst>
                </p:cNvPr>
                <p:cNvSpPr/>
                <p:nvPr/>
              </p:nvSpPr>
              <p:spPr>
                <a:xfrm>
                  <a:off x="11405015" y="1043664"/>
                  <a:ext cx="229582" cy="229427"/>
                </a:xfrm>
                <a:custGeom>
                  <a:avLst/>
                  <a:gdLst>
                    <a:gd name="connsiteX0" fmla="*/ 213771 w 229582"/>
                    <a:gd name="connsiteY0" fmla="*/ 634 h 229427"/>
                    <a:gd name="connsiteX1" fmla="*/ 0 w 229582"/>
                    <a:gd name="connsiteY1" fmla="*/ 213583 h 229427"/>
                    <a:gd name="connsiteX2" fmla="*/ 0 w 229582"/>
                    <a:gd name="connsiteY2" fmla="*/ 229428 h 229427"/>
                    <a:gd name="connsiteX3" fmla="*/ 229583 w 229582"/>
                    <a:gd name="connsiteY3" fmla="*/ 0 h 229427"/>
                    <a:gd name="connsiteX4" fmla="*/ 213771 w 229582"/>
                    <a:gd name="connsiteY4" fmla="*/ 0 h 229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582" h="229427">
                      <a:moveTo>
                        <a:pt x="213771" y="634"/>
                      </a:moveTo>
                      <a:cubicBezTo>
                        <a:pt x="203020" y="113446"/>
                        <a:pt x="113210" y="203443"/>
                        <a:pt x="0" y="213583"/>
                      </a:cubicBezTo>
                      <a:lnTo>
                        <a:pt x="0" y="229428"/>
                      </a:lnTo>
                      <a:cubicBezTo>
                        <a:pt x="121432" y="218654"/>
                        <a:pt x="218199" y="121685"/>
                        <a:pt x="229583" y="0"/>
                      </a:cubicBezTo>
                      <a:lnTo>
                        <a:pt x="213771"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0" name="Picture Placeholder 95">
                  <a:extLst>
                    <a:ext uri="{FF2B5EF4-FFF2-40B4-BE49-F238E27FC236}">
                      <a16:creationId xmlns:a16="http://schemas.microsoft.com/office/drawing/2014/main" id="{5B77C7AE-C7E7-FFA7-3D26-D678F04E9819}"/>
                    </a:ext>
                  </a:extLst>
                </p:cNvPr>
                <p:cNvSpPr/>
                <p:nvPr/>
              </p:nvSpPr>
              <p:spPr>
                <a:xfrm>
                  <a:off x="11130527" y="769238"/>
                  <a:ext cx="225788" cy="228160"/>
                </a:xfrm>
                <a:custGeom>
                  <a:avLst/>
                  <a:gdLst>
                    <a:gd name="connsiteX0" fmla="*/ 0 w 225788"/>
                    <a:gd name="connsiteY0" fmla="*/ 228160 h 228160"/>
                    <a:gd name="connsiteX1" fmla="*/ 15812 w 225788"/>
                    <a:gd name="connsiteY1" fmla="*/ 228160 h 228160"/>
                    <a:gd name="connsiteX2" fmla="*/ 225788 w 225788"/>
                    <a:gd name="connsiteY2" fmla="*/ 15844 h 228160"/>
                    <a:gd name="connsiteX3" fmla="*/ 225788 w 225788"/>
                    <a:gd name="connsiteY3" fmla="*/ 0 h 228160"/>
                    <a:gd name="connsiteX4" fmla="*/ 0 w 225788"/>
                    <a:gd name="connsiteY4" fmla="*/ 228160 h 22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8" h="228160">
                      <a:moveTo>
                        <a:pt x="0" y="228160"/>
                      </a:moveTo>
                      <a:lnTo>
                        <a:pt x="15812" y="228160"/>
                      </a:lnTo>
                      <a:cubicBezTo>
                        <a:pt x="26563" y="116615"/>
                        <a:pt x="115108" y="27886"/>
                        <a:pt x="225788" y="15844"/>
                      </a:cubicBezTo>
                      <a:lnTo>
                        <a:pt x="225788" y="0"/>
                      </a:lnTo>
                      <a:cubicBezTo>
                        <a:pt x="106886" y="12042"/>
                        <a:pt x="11384" y="108376"/>
                        <a:pt x="0" y="22816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1" name="Picture Placeholder 95">
                  <a:extLst>
                    <a:ext uri="{FF2B5EF4-FFF2-40B4-BE49-F238E27FC236}">
                      <a16:creationId xmlns:a16="http://schemas.microsoft.com/office/drawing/2014/main" id="{D621251F-F818-BDD1-FAB4-A994CD079E8B}"/>
                    </a:ext>
                  </a:extLst>
                </p:cNvPr>
                <p:cNvSpPr/>
                <p:nvPr/>
              </p:nvSpPr>
              <p:spPr>
                <a:xfrm>
                  <a:off x="11130527" y="1044298"/>
                  <a:ext cx="227685" cy="228793"/>
                </a:xfrm>
                <a:custGeom>
                  <a:avLst/>
                  <a:gdLst>
                    <a:gd name="connsiteX0" fmla="*/ 15812 w 227685"/>
                    <a:gd name="connsiteY0" fmla="*/ 0 h 228793"/>
                    <a:gd name="connsiteX1" fmla="*/ 0 w 227685"/>
                    <a:gd name="connsiteY1" fmla="*/ 0 h 228793"/>
                    <a:gd name="connsiteX2" fmla="*/ 227686 w 227685"/>
                    <a:gd name="connsiteY2" fmla="*/ 228794 h 228793"/>
                    <a:gd name="connsiteX3" fmla="*/ 227686 w 227685"/>
                    <a:gd name="connsiteY3" fmla="*/ 212950 h 228793"/>
                    <a:gd name="connsiteX4" fmla="*/ 15812 w 227685"/>
                    <a:gd name="connsiteY4" fmla="*/ 0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15812" y="0"/>
                      </a:moveTo>
                      <a:lnTo>
                        <a:pt x="0" y="0"/>
                      </a:lnTo>
                      <a:cubicBezTo>
                        <a:pt x="11384" y="120418"/>
                        <a:pt x="106886" y="217386"/>
                        <a:pt x="227686" y="228794"/>
                      </a:cubicBezTo>
                      <a:lnTo>
                        <a:pt x="227686" y="212950"/>
                      </a:lnTo>
                      <a:cubicBezTo>
                        <a:pt x="115740" y="201541"/>
                        <a:pt x="27196" y="111545"/>
                        <a:pt x="15812"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spTree>
    <p:extLst>
      <p:ext uri="{BB962C8B-B14F-4D97-AF65-F5344CB8AC3E}">
        <p14:creationId xmlns:p14="http://schemas.microsoft.com/office/powerpoint/2010/main" val="2864181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6000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200" fill="hold"/>
                                        <p:tgtEl>
                                          <p:spTgt spid="21"/>
                                        </p:tgtEl>
                                        <p:attrNameLst>
                                          <p:attrName>ppt_x</p:attrName>
                                        </p:attrNameLst>
                                      </p:cBhvr>
                                      <p:tavLst>
                                        <p:tav tm="0">
                                          <p:val>
                                            <p:strVal val="#ppt_x"/>
                                          </p:val>
                                        </p:tav>
                                        <p:tav tm="100000">
                                          <p:val>
                                            <p:strVal val="#ppt_x"/>
                                          </p:val>
                                        </p:tav>
                                      </p:tavLst>
                                    </p:anim>
                                    <p:anim calcmode="lin" valueType="num">
                                      <p:cBhvr additive="base">
                                        <p:cTn id="8" dur="200" fill="hold"/>
                                        <p:tgtEl>
                                          <p:spTgt spid="21"/>
                                        </p:tgtEl>
                                        <p:attrNameLst>
                                          <p:attrName>ppt_y</p:attrName>
                                        </p:attrNameLst>
                                      </p:cBhvr>
                                      <p:tavLst>
                                        <p:tav tm="0">
                                          <p:val>
                                            <p:strVal val="1+#ppt_h/2"/>
                                          </p:val>
                                        </p:tav>
                                        <p:tav tm="100000">
                                          <p:val>
                                            <p:strVal val="#ppt_y"/>
                                          </p:val>
                                        </p:tav>
                                      </p:tavLst>
                                    </p:anim>
                                  </p:childTnLst>
                                </p:cTn>
                              </p:par>
                            </p:childTnLst>
                          </p:cTn>
                        </p:par>
                        <p:par>
                          <p:cTn id="9" fill="hold">
                            <p:stCondLst>
                              <p:cond delay="200"/>
                            </p:stCondLst>
                            <p:childTnLst>
                              <p:par>
                                <p:cTn id="10" presetID="2" presetClass="entr" presetSubtype="1" decel="60000"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200" fill="hold"/>
                                        <p:tgtEl>
                                          <p:spTgt spid="11"/>
                                        </p:tgtEl>
                                        <p:attrNameLst>
                                          <p:attrName>ppt_x</p:attrName>
                                        </p:attrNameLst>
                                      </p:cBhvr>
                                      <p:tavLst>
                                        <p:tav tm="0">
                                          <p:val>
                                            <p:strVal val="#ppt_x"/>
                                          </p:val>
                                        </p:tav>
                                        <p:tav tm="100000">
                                          <p:val>
                                            <p:strVal val="#ppt_x"/>
                                          </p:val>
                                        </p:tav>
                                      </p:tavLst>
                                    </p:anim>
                                    <p:anim calcmode="lin" valueType="num">
                                      <p:cBhvr additive="base">
                                        <p:cTn id="13" dur="200" fill="hold"/>
                                        <p:tgtEl>
                                          <p:spTgt spid="11"/>
                                        </p:tgtEl>
                                        <p:attrNameLst>
                                          <p:attrName>ppt_y</p:attrName>
                                        </p:attrNameLst>
                                      </p:cBhvr>
                                      <p:tavLst>
                                        <p:tav tm="0">
                                          <p:val>
                                            <p:strVal val="0-#ppt_h/2"/>
                                          </p:val>
                                        </p:tav>
                                        <p:tav tm="100000">
                                          <p:val>
                                            <p:strVal val="#ppt_y"/>
                                          </p:val>
                                        </p:tav>
                                      </p:tavLst>
                                    </p:anim>
                                  </p:childTnLst>
                                </p:cTn>
                              </p:par>
                            </p:childTnLst>
                          </p:cTn>
                        </p:par>
                        <p:par>
                          <p:cTn id="14" fill="hold">
                            <p:stCondLst>
                              <p:cond delay="400"/>
                            </p:stCondLst>
                            <p:childTnLst>
                              <p:par>
                                <p:cTn id="15" presetID="2" presetClass="entr" presetSubtype="4" decel="25000" fill="hold" nodeType="afterEffect">
                                  <p:stCondLst>
                                    <p:cond delay="0"/>
                                  </p:stCondLst>
                                  <p:childTnLst>
                                    <p:set>
                                      <p:cBhvr>
                                        <p:cTn id="16" dur="1" fill="hold">
                                          <p:stCondLst>
                                            <p:cond delay="0"/>
                                          </p:stCondLst>
                                        </p:cTn>
                                        <p:tgtEl>
                                          <p:spTgt spid="427"/>
                                        </p:tgtEl>
                                        <p:attrNameLst>
                                          <p:attrName>style.visibility</p:attrName>
                                        </p:attrNameLst>
                                      </p:cBhvr>
                                      <p:to>
                                        <p:strVal val="visible"/>
                                      </p:to>
                                    </p:set>
                                    <p:anim calcmode="lin" valueType="num">
                                      <p:cBhvr additive="base">
                                        <p:cTn id="17" dur="200" fill="hold"/>
                                        <p:tgtEl>
                                          <p:spTgt spid="427"/>
                                        </p:tgtEl>
                                        <p:attrNameLst>
                                          <p:attrName>ppt_x</p:attrName>
                                        </p:attrNameLst>
                                      </p:cBhvr>
                                      <p:tavLst>
                                        <p:tav tm="0">
                                          <p:val>
                                            <p:strVal val="#ppt_x"/>
                                          </p:val>
                                        </p:tav>
                                        <p:tav tm="100000">
                                          <p:val>
                                            <p:strVal val="#ppt_x"/>
                                          </p:val>
                                        </p:tav>
                                      </p:tavLst>
                                    </p:anim>
                                    <p:anim calcmode="lin" valueType="num">
                                      <p:cBhvr additive="base">
                                        <p:cTn id="18" dur="200" fill="hold"/>
                                        <p:tgtEl>
                                          <p:spTgt spid="427"/>
                                        </p:tgtEl>
                                        <p:attrNameLst>
                                          <p:attrName>ppt_y</p:attrName>
                                        </p:attrNameLst>
                                      </p:cBhvr>
                                      <p:tavLst>
                                        <p:tav tm="0">
                                          <p:val>
                                            <p:strVal val="1+#ppt_h/2"/>
                                          </p:val>
                                        </p:tav>
                                        <p:tav tm="100000">
                                          <p:val>
                                            <p:strVal val="#ppt_y"/>
                                          </p:val>
                                        </p:tav>
                                      </p:tavLst>
                                    </p:anim>
                                  </p:childTnLst>
                                </p:cTn>
                              </p:par>
                            </p:childTnLst>
                          </p:cTn>
                        </p:par>
                        <p:par>
                          <p:cTn id="19" fill="hold">
                            <p:stCondLst>
                              <p:cond delay="600"/>
                            </p:stCondLst>
                            <p:childTnLst>
                              <p:par>
                                <p:cTn id="20" presetID="2" presetClass="entr" presetSubtype="4" decel="60000" fill="hold" nodeType="after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200" fill="hold"/>
                                        <p:tgtEl>
                                          <p:spTgt spid="22"/>
                                        </p:tgtEl>
                                        <p:attrNameLst>
                                          <p:attrName>ppt_x</p:attrName>
                                        </p:attrNameLst>
                                      </p:cBhvr>
                                      <p:tavLst>
                                        <p:tav tm="0">
                                          <p:val>
                                            <p:strVal val="#ppt_x"/>
                                          </p:val>
                                        </p:tav>
                                        <p:tav tm="100000">
                                          <p:val>
                                            <p:strVal val="#ppt_x"/>
                                          </p:val>
                                        </p:tav>
                                      </p:tavLst>
                                    </p:anim>
                                    <p:anim calcmode="lin" valueType="num">
                                      <p:cBhvr additive="base">
                                        <p:cTn id="23" dur="200" fill="hold"/>
                                        <p:tgtEl>
                                          <p:spTgt spid="22"/>
                                        </p:tgtEl>
                                        <p:attrNameLst>
                                          <p:attrName>ppt_y</p:attrName>
                                        </p:attrNameLst>
                                      </p:cBhvr>
                                      <p:tavLst>
                                        <p:tav tm="0">
                                          <p:val>
                                            <p:strVal val="1+#ppt_h/2"/>
                                          </p:val>
                                        </p:tav>
                                        <p:tav tm="100000">
                                          <p:val>
                                            <p:strVal val="#ppt_y"/>
                                          </p:val>
                                        </p:tav>
                                      </p:tavLst>
                                    </p:anim>
                                  </p:childTnLst>
                                </p:cTn>
                              </p:par>
                            </p:childTnLst>
                          </p:cTn>
                        </p:par>
                        <p:par>
                          <p:cTn id="24" fill="hold">
                            <p:stCondLst>
                              <p:cond delay="800"/>
                            </p:stCondLst>
                            <p:childTnLst>
                              <p:par>
                                <p:cTn id="25" presetID="2" presetClass="entr" presetSubtype="1" decel="6000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200" fill="hold"/>
                                        <p:tgtEl>
                                          <p:spTgt spid="12"/>
                                        </p:tgtEl>
                                        <p:attrNameLst>
                                          <p:attrName>ppt_x</p:attrName>
                                        </p:attrNameLst>
                                      </p:cBhvr>
                                      <p:tavLst>
                                        <p:tav tm="0">
                                          <p:val>
                                            <p:strVal val="#ppt_x"/>
                                          </p:val>
                                        </p:tav>
                                        <p:tav tm="100000">
                                          <p:val>
                                            <p:strVal val="#ppt_x"/>
                                          </p:val>
                                        </p:tav>
                                      </p:tavLst>
                                    </p:anim>
                                    <p:anim calcmode="lin" valueType="num">
                                      <p:cBhvr additive="base">
                                        <p:cTn id="28" dur="200" fill="hold"/>
                                        <p:tgtEl>
                                          <p:spTgt spid="12"/>
                                        </p:tgtEl>
                                        <p:attrNameLst>
                                          <p:attrName>ppt_y</p:attrName>
                                        </p:attrNameLst>
                                      </p:cBhvr>
                                      <p:tavLst>
                                        <p:tav tm="0">
                                          <p:val>
                                            <p:strVal val="0-#ppt_h/2"/>
                                          </p:val>
                                        </p:tav>
                                        <p:tav tm="100000">
                                          <p:val>
                                            <p:strVal val="#ppt_y"/>
                                          </p:val>
                                        </p:tav>
                                      </p:tavLst>
                                    </p:anim>
                                  </p:childTnLst>
                                </p:cTn>
                              </p:par>
                            </p:childTnLst>
                          </p:cTn>
                        </p:par>
                        <p:par>
                          <p:cTn id="29" fill="hold">
                            <p:stCondLst>
                              <p:cond delay="1000"/>
                            </p:stCondLst>
                            <p:childTnLst>
                              <p:par>
                                <p:cTn id="30" presetID="2" presetClass="entr" presetSubtype="4" decel="60000" fill="hold" nodeType="after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additive="base">
                                        <p:cTn id="32" dur="200" fill="hold"/>
                                        <p:tgtEl>
                                          <p:spTgt spid="24"/>
                                        </p:tgtEl>
                                        <p:attrNameLst>
                                          <p:attrName>ppt_x</p:attrName>
                                        </p:attrNameLst>
                                      </p:cBhvr>
                                      <p:tavLst>
                                        <p:tav tm="0">
                                          <p:val>
                                            <p:strVal val="#ppt_x"/>
                                          </p:val>
                                        </p:tav>
                                        <p:tav tm="100000">
                                          <p:val>
                                            <p:strVal val="#ppt_x"/>
                                          </p:val>
                                        </p:tav>
                                      </p:tavLst>
                                    </p:anim>
                                    <p:anim calcmode="lin" valueType="num">
                                      <p:cBhvr additive="base">
                                        <p:cTn id="33" dur="200" fill="hold"/>
                                        <p:tgtEl>
                                          <p:spTgt spid="24"/>
                                        </p:tgtEl>
                                        <p:attrNameLst>
                                          <p:attrName>ppt_y</p:attrName>
                                        </p:attrNameLst>
                                      </p:cBhvr>
                                      <p:tavLst>
                                        <p:tav tm="0">
                                          <p:val>
                                            <p:strVal val="1+#ppt_h/2"/>
                                          </p:val>
                                        </p:tav>
                                        <p:tav tm="100000">
                                          <p:val>
                                            <p:strVal val="#ppt_y"/>
                                          </p:val>
                                        </p:tav>
                                      </p:tavLst>
                                    </p:anim>
                                  </p:childTnLst>
                                </p:cTn>
                              </p:par>
                            </p:childTnLst>
                          </p:cTn>
                        </p:par>
                        <p:par>
                          <p:cTn id="34" fill="hold">
                            <p:stCondLst>
                              <p:cond delay="1200"/>
                            </p:stCondLst>
                            <p:childTnLst>
                              <p:par>
                                <p:cTn id="35" presetID="2" presetClass="entr" presetSubtype="4" decel="60000" fill="hold" nodeType="after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200" fill="hold"/>
                                        <p:tgtEl>
                                          <p:spTgt spid="23"/>
                                        </p:tgtEl>
                                        <p:attrNameLst>
                                          <p:attrName>ppt_x</p:attrName>
                                        </p:attrNameLst>
                                      </p:cBhvr>
                                      <p:tavLst>
                                        <p:tav tm="0">
                                          <p:val>
                                            <p:strVal val="#ppt_x"/>
                                          </p:val>
                                        </p:tav>
                                        <p:tav tm="100000">
                                          <p:val>
                                            <p:strVal val="#ppt_x"/>
                                          </p:val>
                                        </p:tav>
                                      </p:tavLst>
                                    </p:anim>
                                    <p:anim calcmode="lin" valueType="num">
                                      <p:cBhvr additive="base">
                                        <p:cTn id="38" dur="200" fill="hold"/>
                                        <p:tgtEl>
                                          <p:spTgt spid="23"/>
                                        </p:tgtEl>
                                        <p:attrNameLst>
                                          <p:attrName>ppt_y</p:attrName>
                                        </p:attrNameLst>
                                      </p:cBhvr>
                                      <p:tavLst>
                                        <p:tav tm="0">
                                          <p:val>
                                            <p:strVal val="1+#ppt_h/2"/>
                                          </p:val>
                                        </p:tav>
                                        <p:tav tm="100000">
                                          <p:val>
                                            <p:strVal val="#ppt_y"/>
                                          </p:val>
                                        </p:tav>
                                      </p:tavLst>
                                    </p:anim>
                                  </p:childTnLst>
                                </p:cTn>
                              </p:par>
                            </p:childTnLst>
                          </p:cTn>
                        </p:par>
                        <p:par>
                          <p:cTn id="39" fill="hold">
                            <p:stCondLst>
                              <p:cond delay="1400"/>
                            </p:stCondLst>
                            <p:childTnLst>
                              <p:par>
                                <p:cTn id="40" presetID="2" presetClass="entr" presetSubtype="1" decel="60000" fill="hold" nodeType="after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200" fill="hold"/>
                                        <p:tgtEl>
                                          <p:spTgt spid="13"/>
                                        </p:tgtEl>
                                        <p:attrNameLst>
                                          <p:attrName>ppt_x</p:attrName>
                                        </p:attrNameLst>
                                      </p:cBhvr>
                                      <p:tavLst>
                                        <p:tav tm="0">
                                          <p:val>
                                            <p:strVal val="#ppt_x"/>
                                          </p:val>
                                        </p:tav>
                                        <p:tav tm="100000">
                                          <p:val>
                                            <p:strVal val="#ppt_x"/>
                                          </p:val>
                                        </p:tav>
                                      </p:tavLst>
                                    </p:anim>
                                    <p:anim calcmode="lin" valueType="num">
                                      <p:cBhvr additive="base">
                                        <p:cTn id="43" dur="200" fill="hold"/>
                                        <p:tgtEl>
                                          <p:spTgt spid="13"/>
                                        </p:tgtEl>
                                        <p:attrNameLst>
                                          <p:attrName>ppt_y</p:attrName>
                                        </p:attrNameLst>
                                      </p:cBhvr>
                                      <p:tavLst>
                                        <p:tav tm="0">
                                          <p:val>
                                            <p:strVal val="0-#ppt_h/2"/>
                                          </p:val>
                                        </p:tav>
                                        <p:tav tm="100000">
                                          <p:val>
                                            <p:strVal val="#ppt_y"/>
                                          </p:val>
                                        </p:tav>
                                      </p:tavLst>
                                    </p:anim>
                                  </p:childTnLst>
                                </p:cTn>
                              </p:par>
                            </p:childTnLst>
                          </p:cTn>
                        </p:par>
                        <p:par>
                          <p:cTn id="44" fill="hold">
                            <p:stCondLst>
                              <p:cond delay="1600"/>
                            </p:stCondLst>
                            <p:childTnLst>
                              <p:par>
                                <p:cTn id="45" presetID="2" presetClass="entr" presetSubtype="4" decel="60000" fill="hold" nodeType="after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additive="base">
                                        <p:cTn id="47" dur="200" fill="hold"/>
                                        <p:tgtEl>
                                          <p:spTgt spid="25"/>
                                        </p:tgtEl>
                                        <p:attrNameLst>
                                          <p:attrName>ppt_x</p:attrName>
                                        </p:attrNameLst>
                                      </p:cBhvr>
                                      <p:tavLst>
                                        <p:tav tm="0">
                                          <p:val>
                                            <p:strVal val="#ppt_x"/>
                                          </p:val>
                                        </p:tav>
                                        <p:tav tm="100000">
                                          <p:val>
                                            <p:strVal val="#ppt_x"/>
                                          </p:val>
                                        </p:tav>
                                      </p:tavLst>
                                    </p:anim>
                                    <p:anim calcmode="lin" valueType="num">
                                      <p:cBhvr additive="base">
                                        <p:cTn id="48" dur="200" fill="hold"/>
                                        <p:tgtEl>
                                          <p:spTgt spid="25"/>
                                        </p:tgtEl>
                                        <p:attrNameLst>
                                          <p:attrName>ppt_y</p:attrName>
                                        </p:attrNameLst>
                                      </p:cBhvr>
                                      <p:tavLst>
                                        <p:tav tm="0">
                                          <p:val>
                                            <p:strVal val="1+#ppt_h/2"/>
                                          </p:val>
                                        </p:tav>
                                        <p:tav tm="100000">
                                          <p:val>
                                            <p:strVal val="#ppt_y"/>
                                          </p:val>
                                        </p:tav>
                                      </p:tavLst>
                                    </p:anim>
                                  </p:childTnLst>
                                </p:cTn>
                              </p:par>
                            </p:childTnLst>
                          </p:cTn>
                        </p:par>
                        <p:par>
                          <p:cTn id="49" fill="hold">
                            <p:stCondLst>
                              <p:cond delay="1800"/>
                            </p:stCondLst>
                            <p:childTnLst>
                              <p:par>
                                <p:cTn id="50" presetID="2" presetClass="entr" presetSubtype="4" decel="60000" fill="hold" nodeType="after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additive="base">
                                        <p:cTn id="52" dur="200" fill="hold"/>
                                        <p:tgtEl>
                                          <p:spTgt spid="27"/>
                                        </p:tgtEl>
                                        <p:attrNameLst>
                                          <p:attrName>ppt_x</p:attrName>
                                        </p:attrNameLst>
                                      </p:cBhvr>
                                      <p:tavLst>
                                        <p:tav tm="0">
                                          <p:val>
                                            <p:strVal val="#ppt_x"/>
                                          </p:val>
                                        </p:tav>
                                        <p:tav tm="100000">
                                          <p:val>
                                            <p:strVal val="#ppt_x"/>
                                          </p:val>
                                        </p:tav>
                                      </p:tavLst>
                                    </p:anim>
                                    <p:anim calcmode="lin" valueType="num">
                                      <p:cBhvr additive="base">
                                        <p:cTn id="53" dur="200" fill="hold"/>
                                        <p:tgtEl>
                                          <p:spTgt spid="27"/>
                                        </p:tgtEl>
                                        <p:attrNameLst>
                                          <p:attrName>ppt_y</p:attrName>
                                        </p:attrNameLst>
                                      </p:cBhvr>
                                      <p:tavLst>
                                        <p:tav tm="0">
                                          <p:val>
                                            <p:strVal val="1+#ppt_h/2"/>
                                          </p:val>
                                        </p:tav>
                                        <p:tav tm="100000">
                                          <p:val>
                                            <p:strVal val="#ppt_y"/>
                                          </p:val>
                                        </p:tav>
                                      </p:tavLst>
                                    </p:anim>
                                  </p:childTnLst>
                                </p:cTn>
                              </p:par>
                            </p:childTnLst>
                          </p:cTn>
                        </p:par>
                        <p:par>
                          <p:cTn id="54" fill="hold">
                            <p:stCondLst>
                              <p:cond delay="2000"/>
                            </p:stCondLst>
                            <p:childTnLst>
                              <p:par>
                                <p:cTn id="55" presetID="2" presetClass="entr" presetSubtype="1" decel="60000" fill="hold" nodeType="after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200" fill="hold"/>
                                        <p:tgtEl>
                                          <p:spTgt spid="14"/>
                                        </p:tgtEl>
                                        <p:attrNameLst>
                                          <p:attrName>ppt_x</p:attrName>
                                        </p:attrNameLst>
                                      </p:cBhvr>
                                      <p:tavLst>
                                        <p:tav tm="0">
                                          <p:val>
                                            <p:strVal val="#ppt_x"/>
                                          </p:val>
                                        </p:tav>
                                        <p:tav tm="100000">
                                          <p:val>
                                            <p:strVal val="#ppt_x"/>
                                          </p:val>
                                        </p:tav>
                                      </p:tavLst>
                                    </p:anim>
                                    <p:anim calcmode="lin" valueType="num">
                                      <p:cBhvr additive="base">
                                        <p:cTn id="58" dur="200" fill="hold"/>
                                        <p:tgtEl>
                                          <p:spTgt spid="14"/>
                                        </p:tgtEl>
                                        <p:attrNameLst>
                                          <p:attrName>ppt_y</p:attrName>
                                        </p:attrNameLst>
                                      </p:cBhvr>
                                      <p:tavLst>
                                        <p:tav tm="0">
                                          <p:val>
                                            <p:strVal val="0-#ppt_h/2"/>
                                          </p:val>
                                        </p:tav>
                                        <p:tav tm="100000">
                                          <p:val>
                                            <p:strVal val="#ppt_y"/>
                                          </p:val>
                                        </p:tav>
                                      </p:tavLst>
                                    </p:anim>
                                  </p:childTnLst>
                                </p:cTn>
                              </p:par>
                            </p:childTnLst>
                          </p:cTn>
                        </p:par>
                        <p:par>
                          <p:cTn id="59" fill="hold">
                            <p:stCondLst>
                              <p:cond delay="2200"/>
                            </p:stCondLst>
                            <p:childTnLst>
                              <p:par>
                                <p:cTn id="60" presetID="2" presetClass="entr" presetSubtype="4" decel="60000" fill="hold" nodeType="afterEffect">
                                  <p:stCondLst>
                                    <p:cond delay="0"/>
                                  </p:stCondLst>
                                  <p:childTnLst>
                                    <p:set>
                                      <p:cBhvr>
                                        <p:cTn id="61" dur="1" fill="hold">
                                          <p:stCondLst>
                                            <p:cond delay="0"/>
                                          </p:stCondLst>
                                        </p:cTn>
                                        <p:tgtEl>
                                          <p:spTgt spid="2"/>
                                        </p:tgtEl>
                                        <p:attrNameLst>
                                          <p:attrName>style.visibility</p:attrName>
                                        </p:attrNameLst>
                                      </p:cBhvr>
                                      <p:to>
                                        <p:strVal val="visible"/>
                                      </p:to>
                                    </p:set>
                                    <p:anim calcmode="lin" valueType="num">
                                      <p:cBhvr additive="base">
                                        <p:cTn id="62" dur="200" fill="hold"/>
                                        <p:tgtEl>
                                          <p:spTgt spid="2"/>
                                        </p:tgtEl>
                                        <p:attrNameLst>
                                          <p:attrName>ppt_x</p:attrName>
                                        </p:attrNameLst>
                                      </p:cBhvr>
                                      <p:tavLst>
                                        <p:tav tm="0">
                                          <p:val>
                                            <p:strVal val="#ppt_x"/>
                                          </p:val>
                                        </p:tav>
                                        <p:tav tm="100000">
                                          <p:val>
                                            <p:strVal val="#ppt_x"/>
                                          </p:val>
                                        </p:tav>
                                      </p:tavLst>
                                    </p:anim>
                                    <p:anim calcmode="lin" valueType="num">
                                      <p:cBhvr additive="base">
                                        <p:cTn id="63" dur="200" fill="hold"/>
                                        <p:tgtEl>
                                          <p:spTgt spid="2"/>
                                        </p:tgtEl>
                                        <p:attrNameLst>
                                          <p:attrName>ppt_y</p:attrName>
                                        </p:attrNameLst>
                                      </p:cBhvr>
                                      <p:tavLst>
                                        <p:tav tm="0">
                                          <p:val>
                                            <p:strVal val="1+#ppt_h/2"/>
                                          </p:val>
                                        </p:tav>
                                        <p:tav tm="100000">
                                          <p:val>
                                            <p:strVal val="#ppt_y"/>
                                          </p:val>
                                        </p:tav>
                                      </p:tavLst>
                                    </p:anim>
                                  </p:childTnLst>
                                </p:cTn>
                              </p:par>
                            </p:childTnLst>
                          </p:cTn>
                        </p:par>
                        <p:par>
                          <p:cTn id="64" fill="hold">
                            <p:stCondLst>
                              <p:cond delay="2400"/>
                            </p:stCondLst>
                            <p:childTnLst>
                              <p:par>
                                <p:cTn id="65" presetID="2" presetClass="entr" presetSubtype="1" decel="60000" fill="hold" nodeType="after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200" fill="hold"/>
                                        <p:tgtEl>
                                          <p:spTgt spid="15"/>
                                        </p:tgtEl>
                                        <p:attrNameLst>
                                          <p:attrName>ppt_x</p:attrName>
                                        </p:attrNameLst>
                                      </p:cBhvr>
                                      <p:tavLst>
                                        <p:tav tm="0">
                                          <p:val>
                                            <p:strVal val="#ppt_x"/>
                                          </p:val>
                                        </p:tav>
                                        <p:tav tm="100000">
                                          <p:val>
                                            <p:strVal val="#ppt_x"/>
                                          </p:val>
                                        </p:tav>
                                      </p:tavLst>
                                    </p:anim>
                                    <p:anim calcmode="lin" valueType="num">
                                      <p:cBhvr additive="base">
                                        <p:cTn id="68" dur="200" fill="hold"/>
                                        <p:tgtEl>
                                          <p:spTgt spid="15"/>
                                        </p:tgtEl>
                                        <p:attrNameLst>
                                          <p:attrName>ppt_y</p:attrName>
                                        </p:attrNameLst>
                                      </p:cBhvr>
                                      <p:tavLst>
                                        <p:tav tm="0">
                                          <p:val>
                                            <p:strVal val="0-#ppt_h/2"/>
                                          </p:val>
                                        </p:tav>
                                        <p:tav tm="100000">
                                          <p:val>
                                            <p:strVal val="#ppt_y"/>
                                          </p:val>
                                        </p:tav>
                                      </p:tavLst>
                                    </p:anim>
                                  </p:childTnLst>
                                </p:cTn>
                              </p:par>
                            </p:childTnLst>
                          </p:cTn>
                        </p:par>
                        <p:par>
                          <p:cTn id="69" fill="hold">
                            <p:stCondLst>
                              <p:cond delay="2600"/>
                            </p:stCondLst>
                            <p:childTnLst>
                              <p:par>
                                <p:cTn id="70" presetID="2" presetClass="entr" presetSubtype="4" decel="60000" fill="hold" nodeType="afterEffect">
                                  <p:stCondLst>
                                    <p:cond delay="0"/>
                                  </p:stCondLst>
                                  <p:childTnLst>
                                    <p:set>
                                      <p:cBhvr>
                                        <p:cTn id="71" dur="1" fill="hold">
                                          <p:stCondLst>
                                            <p:cond delay="0"/>
                                          </p:stCondLst>
                                        </p:cTn>
                                        <p:tgtEl>
                                          <p:spTgt spid="28"/>
                                        </p:tgtEl>
                                        <p:attrNameLst>
                                          <p:attrName>style.visibility</p:attrName>
                                        </p:attrNameLst>
                                      </p:cBhvr>
                                      <p:to>
                                        <p:strVal val="visible"/>
                                      </p:to>
                                    </p:set>
                                    <p:anim calcmode="lin" valueType="num">
                                      <p:cBhvr additive="base">
                                        <p:cTn id="72" dur="200" fill="hold"/>
                                        <p:tgtEl>
                                          <p:spTgt spid="28"/>
                                        </p:tgtEl>
                                        <p:attrNameLst>
                                          <p:attrName>ppt_x</p:attrName>
                                        </p:attrNameLst>
                                      </p:cBhvr>
                                      <p:tavLst>
                                        <p:tav tm="0">
                                          <p:val>
                                            <p:strVal val="#ppt_x"/>
                                          </p:val>
                                        </p:tav>
                                        <p:tav tm="100000">
                                          <p:val>
                                            <p:strVal val="#ppt_x"/>
                                          </p:val>
                                        </p:tav>
                                      </p:tavLst>
                                    </p:anim>
                                    <p:anim calcmode="lin" valueType="num">
                                      <p:cBhvr additive="base">
                                        <p:cTn id="73" dur="200" fill="hold"/>
                                        <p:tgtEl>
                                          <p:spTgt spid="28"/>
                                        </p:tgtEl>
                                        <p:attrNameLst>
                                          <p:attrName>ppt_y</p:attrName>
                                        </p:attrNameLst>
                                      </p:cBhvr>
                                      <p:tavLst>
                                        <p:tav tm="0">
                                          <p:val>
                                            <p:strVal val="1+#ppt_h/2"/>
                                          </p:val>
                                        </p:tav>
                                        <p:tav tm="100000">
                                          <p:val>
                                            <p:strVal val="#ppt_y"/>
                                          </p:val>
                                        </p:tav>
                                      </p:tavLst>
                                    </p:anim>
                                  </p:childTnLst>
                                </p:cTn>
                              </p:par>
                            </p:childTnLst>
                          </p:cTn>
                        </p:par>
                        <p:par>
                          <p:cTn id="74" fill="hold">
                            <p:stCondLst>
                              <p:cond delay="2800"/>
                            </p:stCondLst>
                            <p:childTnLst>
                              <p:par>
                                <p:cTn id="75" presetID="2" presetClass="entr" presetSubtype="4" decel="60000" fill="hold" nodeType="afterEffect">
                                  <p:stCondLst>
                                    <p:cond delay="0"/>
                                  </p:stCondLst>
                                  <p:childTnLst>
                                    <p:set>
                                      <p:cBhvr>
                                        <p:cTn id="76" dur="1" fill="hold">
                                          <p:stCondLst>
                                            <p:cond delay="0"/>
                                          </p:stCondLst>
                                        </p:cTn>
                                        <p:tgtEl>
                                          <p:spTgt spid="39"/>
                                        </p:tgtEl>
                                        <p:attrNameLst>
                                          <p:attrName>style.visibility</p:attrName>
                                        </p:attrNameLst>
                                      </p:cBhvr>
                                      <p:to>
                                        <p:strVal val="visible"/>
                                      </p:to>
                                    </p:set>
                                    <p:anim calcmode="lin" valueType="num">
                                      <p:cBhvr additive="base">
                                        <p:cTn id="77" dur="200" fill="hold"/>
                                        <p:tgtEl>
                                          <p:spTgt spid="39"/>
                                        </p:tgtEl>
                                        <p:attrNameLst>
                                          <p:attrName>ppt_x</p:attrName>
                                        </p:attrNameLst>
                                      </p:cBhvr>
                                      <p:tavLst>
                                        <p:tav tm="0">
                                          <p:val>
                                            <p:strVal val="#ppt_x"/>
                                          </p:val>
                                        </p:tav>
                                        <p:tav tm="100000">
                                          <p:val>
                                            <p:strVal val="#ppt_x"/>
                                          </p:val>
                                        </p:tav>
                                      </p:tavLst>
                                    </p:anim>
                                    <p:anim calcmode="lin" valueType="num">
                                      <p:cBhvr additive="base">
                                        <p:cTn id="78" dur="200" fill="hold"/>
                                        <p:tgtEl>
                                          <p:spTgt spid="39"/>
                                        </p:tgtEl>
                                        <p:attrNameLst>
                                          <p:attrName>ppt_y</p:attrName>
                                        </p:attrNameLst>
                                      </p:cBhvr>
                                      <p:tavLst>
                                        <p:tav tm="0">
                                          <p:val>
                                            <p:strVal val="1+#ppt_h/2"/>
                                          </p:val>
                                        </p:tav>
                                        <p:tav tm="100000">
                                          <p:val>
                                            <p:strVal val="#ppt_y"/>
                                          </p:val>
                                        </p:tav>
                                      </p:tavLst>
                                    </p:anim>
                                  </p:childTnLst>
                                </p:cTn>
                              </p:par>
                            </p:childTnLst>
                          </p:cTn>
                        </p:par>
                        <p:par>
                          <p:cTn id="79" fill="hold">
                            <p:stCondLst>
                              <p:cond delay="3000"/>
                            </p:stCondLst>
                            <p:childTnLst>
                              <p:par>
                                <p:cTn id="80" presetID="2" presetClass="entr" presetSubtype="1" decel="60000" fill="hold" nodeType="afterEffect">
                                  <p:stCondLst>
                                    <p:cond delay="0"/>
                                  </p:stCondLst>
                                  <p:childTnLst>
                                    <p:set>
                                      <p:cBhvr>
                                        <p:cTn id="81" dur="1" fill="hold">
                                          <p:stCondLst>
                                            <p:cond delay="0"/>
                                          </p:stCondLst>
                                        </p:cTn>
                                        <p:tgtEl>
                                          <p:spTgt spid="16"/>
                                        </p:tgtEl>
                                        <p:attrNameLst>
                                          <p:attrName>style.visibility</p:attrName>
                                        </p:attrNameLst>
                                      </p:cBhvr>
                                      <p:to>
                                        <p:strVal val="visible"/>
                                      </p:to>
                                    </p:set>
                                    <p:anim calcmode="lin" valueType="num">
                                      <p:cBhvr additive="base">
                                        <p:cTn id="82" dur="200" fill="hold"/>
                                        <p:tgtEl>
                                          <p:spTgt spid="16"/>
                                        </p:tgtEl>
                                        <p:attrNameLst>
                                          <p:attrName>ppt_x</p:attrName>
                                        </p:attrNameLst>
                                      </p:cBhvr>
                                      <p:tavLst>
                                        <p:tav tm="0">
                                          <p:val>
                                            <p:strVal val="#ppt_x"/>
                                          </p:val>
                                        </p:tav>
                                        <p:tav tm="100000">
                                          <p:val>
                                            <p:strVal val="#ppt_x"/>
                                          </p:val>
                                        </p:tav>
                                      </p:tavLst>
                                    </p:anim>
                                    <p:anim calcmode="lin" valueType="num">
                                      <p:cBhvr additive="base">
                                        <p:cTn id="83" dur="200" fill="hold"/>
                                        <p:tgtEl>
                                          <p:spTgt spid="16"/>
                                        </p:tgtEl>
                                        <p:attrNameLst>
                                          <p:attrName>ppt_y</p:attrName>
                                        </p:attrNameLst>
                                      </p:cBhvr>
                                      <p:tavLst>
                                        <p:tav tm="0">
                                          <p:val>
                                            <p:strVal val="0-#ppt_h/2"/>
                                          </p:val>
                                        </p:tav>
                                        <p:tav tm="100000">
                                          <p:val>
                                            <p:strVal val="#ppt_y"/>
                                          </p:val>
                                        </p:tav>
                                      </p:tavLst>
                                    </p:anim>
                                  </p:childTnLst>
                                </p:cTn>
                              </p:par>
                            </p:childTnLst>
                          </p:cTn>
                        </p:par>
                        <p:par>
                          <p:cTn id="84" fill="hold">
                            <p:stCondLst>
                              <p:cond delay="3200"/>
                            </p:stCondLst>
                            <p:childTnLst>
                              <p:par>
                                <p:cTn id="85" presetID="2" presetClass="entr" presetSubtype="4" decel="25000" fill="hold" nodeType="afterEffect">
                                  <p:stCondLst>
                                    <p:cond delay="0"/>
                                  </p:stCondLst>
                                  <p:childTnLst>
                                    <p:set>
                                      <p:cBhvr>
                                        <p:cTn id="86" dur="1" fill="hold">
                                          <p:stCondLst>
                                            <p:cond delay="0"/>
                                          </p:stCondLst>
                                        </p:cTn>
                                        <p:tgtEl>
                                          <p:spTgt spid="425"/>
                                        </p:tgtEl>
                                        <p:attrNameLst>
                                          <p:attrName>style.visibility</p:attrName>
                                        </p:attrNameLst>
                                      </p:cBhvr>
                                      <p:to>
                                        <p:strVal val="visible"/>
                                      </p:to>
                                    </p:set>
                                    <p:anim calcmode="lin" valueType="num">
                                      <p:cBhvr additive="base">
                                        <p:cTn id="87" dur="200" fill="hold"/>
                                        <p:tgtEl>
                                          <p:spTgt spid="425"/>
                                        </p:tgtEl>
                                        <p:attrNameLst>
                                          <p:attrName>ppt_x</p:attrName>
                                        </p:attrNameLst>
                                      </p:cBhvr>
                                      <p:tavLst>
                                        <p:tav tm="0">
                                          <p:val>
                                            <p:strVal val="#ppt_x"/>
                                          </p:val>
                                        </p:tav>
                                        <p:tav tm="100000">
                                          <p:val>
                                            <p:strVal val="#ppt_x"/>
                                          </p:val>
                                        </p:tav>
                                      </p:tavLst>
                                    </p:anim>
                                    <p:anim calcmode="lin" valueType="num">
                                      <p:cBhvr additive="base">
                                        <p:cTn id="88" dur="200" fill="hold"/>
                                        <p:tgtEl>
                                          <p:spTgt spid="425"/>
                                        </p:tgtEl>
                                        <p:attrNameLst>
                                          <p:attrName>ppt_y</p:attrName>
                                        </p:attrNameLst>
                                      </p:cBhvr>
                                      <p:tavLst>
                                        <p:tav tm="0">
                                          <p:val>
                                            <p:strVal val="1+#ppt_h/2"/>
                                          </p:val>
                                        </p:tav>
                                        <p:tav tm="100000">
                                          <p:val>
                                            <p:strVal val="#ppt_y"/>
                                          </p:val>
                                        </p:tav>
                                      </p:tavLst>
                                    </p:anim>
                                  </p:childTnLst>
                                </p:cTn>
                              </p:par>
                            </p:childTnLst>
                          </p:cTn>
                        </p:par>
                        <p:par>
                          <p:cTn id="89" fill="hold">
                            <p:stCondLst>
                              <p:cond delay="3400"/>
                            </p:stCondLst>
                            <p:childTnLst>
                              <p:par>
                                <p:cTn id="90" presetID="2" presetClass="entr" presetSubtype="4" decel="60000" fill="hold" nodeType="afterEffect">
                                  <p:stCondLst>
                                    <p:cond delay="0"/>
                                  </p:stCondLst>
                                  <p:childTnLst>
                                    <p:set>
                                      <p:cBhvr>
                                        <p:cTn id="91" dur="1" fill="hold">
                                          <p:stCondLst>
                                            <p:cond delay="0"/>
                                          </p:stCondLst>
                                        </p:cTn>
                                        <p:tgtEl>
                                          <p:spTgt spid="38"/>
                                        </p:tgtEl>
                                        <p:attrNameLst>
                                          <p:attrName>style.visibility</p:attrName>
                                        </p:attrNameLst>
                                      </p:cBhvr>
                                      <p:to>
                                        <p:strVal val="visible"/>
                                      </p:to>
                                    </p:set>
                                    <p:anim calcmode="lin" valueType="num">
                                      <p:cBhvr additive="base">
                                        <p:cTn id="92" dur="200" fill="hold"/>
                                        <p:tgtEl>
                                          <p:spTgt spid="38"/>
                                        </p:tgtEl>
                                        <p:attrNameLst>
                                          <p:attrName>ppt_x</p:attrName>
                                        </p:attrNameLst>
                                      </p:cBhvr>
                                      <p:tavLst>
                                        <p:tav tm="0">
                                          <p:val>
                                            <p:strVal val="#ppt_x"/>
                                          </p:val>
                                        </p:tav>
                                        <p:tav tm="100000">
                                          <p:val>
                                            <p:strVal val="#ppt_x"/>
                                          </p:val>
                                        </p:tav>
                                      </p:tavLst>
                                    </p:anim>
                                    <p:anim calcmode="lin" valueType="num">
                                      <p:cBhvr additive="base">
                                        <p:cTn id="93" dur="200" fill="hold"/>
                                        <p:tgtEl>
                                          <p:spTgt spid="38"/>
                                        </p:tgtEl>
                                        <p:attrNameLst>
                                          <p:attrName>ppt_y</p:attrName>
                                        </p:attrNameLst>
                                      </p:cBhvr>
                                      <p:tavLst>
                                        <p:tav tm="0">
                                          <p:val>
                                            <p:strVal val="1+#ppt_h/2"/>
                                          </p:val>
                                        </p:tav>
                                        <p:tav tm="100000">
                                          <p:val>
                                            <p:strVal val="#ppt_y"/>
                                          </p:val>
                                        </p:tav>
                                      </p:tavLst>
                                    </p:anim>
                                  </p:childTnLst>
                                </p:cTn>
                              </p:par>
                            </p:childTnLst>
                          </p:cTn>
                        </p:par>
                        <p:par>
                          <p:cTn id="94" fill="hold">
                            <p:stCondLst>
                              <p:cond delay="3600"/>
                            </p:stCondLst>
                            <p:childTnLst>
                              <p:par>
                                <p:cTn id="95" presetID="2" presetClass="entr" presetSubtype="1" decel="60000" fill="hold" nodeType="afterEffect">
                                  <p:stCondLst>
                                    <p:cond delay="0"/>
                                  </p:stCondLst>
                                  <p:childTnLst>
                                    <p:set>
                                      <p:cBhvr>
                                        <p:cTn id="96" dur="1" fill="hold">
                                          <p:stCondLst>
                                            <p:cond delay="0"/>
                                          </p:stCondLst>
                                        </p:cTn>
                                        <p:tgtEl>
                                          <p:spTgt spid="17"/>
                                        </p:tgtEl>
                                        <p:attrNameLst>
                                          <p:attrName>style.visibility</p:attrName>
                                        </p:attrNameLst>
                                      </p:cBhvr>
                                      <p:to>
                                        <p:strVal val="visible"/>
                                      </p:to>
                                    </p:set>
                                    <p:anim calcmode="lin" valueType="num">
                                      <p:cBhvr additive="base">
                                        <p:cTn id="97" dur="200" fill="hold"/>
                                        <p:tgtEl>
                                          <p:spTgt spid="17"/>
                                        </p:tgtEl>
                                        <p:attrNameLst>
                                          <p:attrName>ppt_x</p:attrName>
                                        </p:attrNameLst>
                                      </p:cBhvr>
                                      <p:tavLst>
                                        <p:tav tm="0">
                                          <p:val>
                                            <p:strVal val="#ppt_x"/>
                                          </p:val>
                                        </p:tav>
                                        <p:tav tm="100000">
                                          <p:val>
                                            <p:strVal val="#ppt_x"/>
                                          </p:val>
                                        </p:tav>
                                      </p:tavLst>
                                    </p:anim>
                                    <p:anim calcmode="lin" valueType="num">
                                      <p:cBhvr additive="base">
                                        <p:cTn id="98" dur="200" fill="hold"/>
                                        <p:tgtEl>
                                          <p:spTgt spid="17"/>
                                        </p:tgtEl>
                                        <p:attrNameLst>
                                          <p:attrName>ppt_y</p:attrName>
                                        </p:attrNameLst>
                                      </p:cBhvr>
                                      <p:tavLst>
                                        <p:tav tm="0">
                                          <p:val>
                                            <p:strVal val="0-#ppt_h/2"/>
                                          </p:val>
                                        </p:tav>
                                        <p:tav tm="100000">
                                          <p:val>
                                            <p:strVal val="#ppt_y"/>
                                          </p:val>
                                        </p:tav>
                                      </p:tavLst>
                                    </p:anim>
                                  </p:childTnLst>
                                </p:cTn>
                              </p:par>
                            </p:childTnLst>
                          </p:cTn>
                        </p:par>
                        <p:par>
                          <p:cTn id="99" fill="hold">
                            <p:stCondLst>
                              <p:cond delay="3800"/>
                            </p:stCondLst>
                            <p:childTnLst>
                              <p:par>
                                <p:cTn id="100" presetID="2" presetClass="entr" presetSubtype="4" decel="60000" fill="hold" nodeType="afterEffect">
                                  <p:stCondLst>
                                    <p:cond delay="0"/>
                                  </p:stCondLst>
                                  <p:childTnLst>
                                    <p:set>
                                      <p:cBhvr>
                                        <p:cTn id="101" dur="1" fill="hold">
                                          <p:stCondLst>
                                            <p:cond delay="0"/>
                                          </p:stCondLst>
                                        </p:cTn>
                                        <p:tgtEl>
                                          <p:spTgt spid="30"/>
                                        </p:tgtEl>
                                        <p:attrNameLst>
                                          <p:attrName>style.visibility</p:attrName>
                                        </p:attrNameLst>
                                      </p:cBhvr>
                                      <p:to>
                                        <p:strVal val="visible"/>
                                      </p:to>
                                    </p:set>
                                    <p:anim calcmode="lin" valueType="num">
                                      <p:cBhvr additive="base">
                                        <p:cTn id="102" dur="200" fill="hold"/>
                                        <p:tgtEl>
                                          <p:spTgt spid="30"/>
                                        </p:tgtEl>
                                        <p:attrNameLst>
                                          <p:attrName>ppt_x</p:attrName>
                                        </p:attrNameLst>
                                      </p:cBhvr>
                                      <p:tavLst>
                                        <p:tav tm="0">
                                          <p:val>
                                            <p:strVal val="#ppt_x"/>
                                          </p:val>
                                        </p:tav>
                                        <p:tav tm="100000">
                                          <p:val>
                                            <p:strVal val="#ppt_x"/>
                                          </p:val>
                                        </p:tav>
                                      </p:tavLst>
                                    </p:anim>
                                    <p:anim calcmode="lin" valueType="num">
                                      <p:cBhvr additive="base">
                                        <p:cTn id="103" dur="200" fill="hold"/>
                                        <p:tgtEl>
                                          <p:spTgt spid="30"/>
                                        </p:tgtEl>
                                        <p:attrNameLst>
                                          <p:attrName>ppt_y</p:attrName>
                                        </p:attrNameLst>
                                      </p:cBhvr>
                                      <p:tavLst>
                                        <p:tav tm="0">
                                          <p:val>
                                            <p:strVal val="1+#ppt_h/2"/>
                                          </p:val>
                                        </p:tav>
                                        <p:tav tm="100000">
                                          <p:val>
                                            <p:strVal val="#ppt_y"/>
                                          </p:val>
                                        </p:tav>
                                      </p:tavLst>
                                    </p:anim>
                                  </p:childTnLst>
                                </p:cTn>
                              </p:par>
                            </p:childTnLst>
                          </p:cTn>
                        </p:par>
                        <p:par>
                          <p:cTn id="104" fill="hold">
                            <p:stCondLst>
                              <p:cond delay="4000"/>
                            </p:stCondLst>
                            <p:childTnLst>
                              <p:par>
                                <p:cTn id="105" presetID="2" presetClass="entr" presetSubtype="4" decel="60000" fill="hold" nodeType="afterEffect">
                                  <p:stCondLst>
                                    <p:cond delay="0"/>
                                  </p:stCondLst>
                                  <p:childTnLst>
                                    <p:set>
                                      <p:cBhvr>
                                        <p:cTn id="106" dur="1" fill="hold">
                                          <p:stCondLst>
                                            <p:cond delay="0"/>
                                          </p:stCondLst>
                                        </p:cTn>
                                        <p:tgtEl>
                                          <p:spTgt spid="37"/>
                                        </p:tgtEl>
                                        <p:attrNameLst>
                                          <p:attrName>style.visibility</p:attrName>
                                        </p:attrNameLst>
                                      </p:cBhvr>
                                      <p:to>
                                        <p:strVal val="visible"/>
                                      </p:to>
                                    </p:set>
                                    <p:anim calcmode="lin" valueType="num">
                                      <p:cBhvr additive="base">
                                        <p:cTn id="107" dur="200" fill="hold"/>
                                        <p:tgtEl>
                                          <p:spTgt spid="37"/>
                                        </p:tgtEl>
                                        <p:attrNameLst>
                                          <p:attrName>ppt_x</p:attrName>
                                        </p:attrNameLst>
                                      </p:cBhvr>
                                      <p:tavLst>
                                        <p:tav tm="0">
                                          <p:val>
                                            <p:strVal val="#ppt_x"/>
                                          </p:val>
                                        </p:tav>
                                        <p:tav tm="100000">
                                          <p:val>
                                            <p:strVal val="#ppt_x"/>
                                          </p:val>
                                        </p:tav>
                                      </p:tavLst>
                                    </p:anim>
                                    <p:anim calcmode="lin" valueType="num">
                                      <p:cBhvr additive="base">
                                        <p:cTn id="108" dur="200" fill="hold"/>
                                        <p:tgtEl>
                                          <p:spTgt spid="37"/>
                                        </p:tgtEl>
                                        <p:attrNameLst>
                                          <p:attrName>ppt_y</p:attrName>
                                        </p:attrNameLst>
                                      </p:cBhvr>
                                      <p:tavLst>
                                        <p:tav tm="0">
                                          <p:val>
                                            <p:strVal val="1+#ppt_h/2"/>
                                          </p:val>
                                        </p:tav>
                                        <p:tav tm="100000">
                                          <p:val>
                                            <p:strVal val="#ppt_y"/>
                                          </p:val>
                                        </p:tav>
                                      </p:tavLst>
                                    </p:anim>
                                  </p:childTnLst>
                                </p:cTn>
                              </p:par>
                            </p:childTnLst>
                          </p:cTn>
                        </p:par>
                        <p:par>
                          <p:cTn id="109" fill="hold">
                            <p:stCondLst>
                              <p:cond delay="4200"/>
                            </p:stCondLst>
                            <p:childTnLst>
                              <p:par>
                                <p:cTn id="110" presetID="2" presetClass="entr" presetSubtype="1" decel="60000" fill="hold" nodeType="afterEffect">
                                  <p:stCondLst>
                                    <p:cond delay="0"/>
                                  </p:stCondLst>
                                  <p:childTnLst>
                                    <p:set>
                                      <p:cBhvr>
                                        <p:cTn id="111" dur="1" fill="hold">
                                          <p:stCondLst>
                                            <p:cond delay="0"/>
                                          </p:stCondLst>
                                        </p:cTn>
                                        <p:tgtEl>
                                          <p:spTgt spid="18"/>
                                        </p:tgtEl>
                                        <p:attrNameLst>
                                          <p:attrName>style.visibility</p:attrName>
                                        </p:attrNameLst>
                                      </p:cBhvr>
                                      <p:to>
                                        <p:strVal val="visible"/>
                                      </p:to>
                                    </p:set>
                                    <p:anim calcmode="lin" valueType="num">
                                      <p:cBhvr additive="base">
                                        <p:cTn id="112" dur="200" fill="hold"/>
                                        <p:tgtEl>
                                          <p:spTgt spid="18"/>
                                        </p:tgtEl>
                                        <p:attrNameLst>
                                          <p:attrName>ppt_x</p:attrName>
                                        </p:attrNameLst>
                                      </p:cBhvr>
                                      <p:tavLst>
                                        <p:tav tm="0">
                                          <p:val>
                                            <p:strVal val="#ppt_x"/>
                                          </p:val>
                                        </p:tav>
                                        <p:tav tm="100000">
                                          <p:val>
                                            <p:strVal val="#ppt_x"/>
                                          </p:val>
                                        </p:tav>
                                      </p:tavLst>
                                    </p:anim>
                                    <p:anim calcmode="lin" valueType="num">
                                      <p:cBhvr additive="base">
                                        <p:cTn id="113" dur="200" fill="hold"/>
                                        <p:tgtEl>
                                          <p:spTgt spid="18"/>
                                        </p:tgtEl>
                                        <p:attrNameLst>
                                          <p:attrName>ppt_y</p:attrName>
                                        </p:attrNameLst>
                                      </p:cBhvr>
                                      <p:tavLst>
                                        <p:tav tm="0">
                                          <p:val>
                                            <p:strVal val="0-#ppt_h/2"/>
                                          </p:val>
                                        </p:tav>
                                        <p:tav tm="100000">
                                          <p:val>
                                            <p:strVal val="#ppt_y"/>
                                          </p:val>
                                        </p:tav>
                                      </p:tavLst>
                                    </p:anim>
                                  </p:childTnLst>
                                </p:cTn>
                              </p:par>
                            </p:childTnLst>
                          </p:cTn>
                        </p:par>
                        <p:par>
                          <p:cTn id="114" fill="hold">
                            <p:stCondLst>
                              <p:cond delay="4400"/>
                            </p:stCondLst>
                            <p:childTnLst>
                              <p:par>
                                <p:cTn id="115" presetID="2" presetClass="entr" presetSubtype="4" decel="60000" fill="hold" nodeType="afterEffect">
                                  <p:stCondLst>
                                    <p:cond delay="0"/>
                                  </p:stCondLst>
                                  <p:childTnLst>
                                    <p:set>
                                      <p:cBhvr>
                                        <p:cTn id="116" dur="1" fill="hold">
                                          <p:stCondLst>
                                            <p:cond delay="0"/>
                                          </p:stCondLst>
                                        </p:cTn>
                                        <p:tgtEl>
                                          <p:spTgt spid="32"/>
                                        </p:tgtEl>
                                        <p:attrNameLst>
                                          <p:attrName>style.visibility</p:attrName>
                                        </p:attrNameLst>
                                      </p:cBhvr>
                                      <p:to>
                                        <p:strVal val="visible"/>
                                      </p:to>
                                    </p:set>
                                    <p:anim calcmode="lin" valueType="num">
                                      <p:cBhvr additive="base">
                                        <p:cTn id="117" dur="200" fill="hold"/>
                                        <p:tgtEl>
                                          <p:spTgt spid="32"/>
                                        </p:tgtEl>
                                        <p:attrNameLst>
                                          <p:attrName>ppt_x</p:attrName>
                                        </p:attrNameLst>
                                      </p:cBhvr>
                                      <p:tavLst>
                                        <p:tav tm="0">
                                          <p:val>
                                            <p:strVal val="#ppt_x"/>
                                          </p:val>
                                        </p:tav>
                                        <p:tav tm="100000">
                                          <p:val>
                                            <p:strVal val="#ppt_x"/>
                                          </p:val>
                                        </p:tav>
                                      </p:tavLst>
                                    </p:anim>
                                    <p:anim calcmode="lin" valueType="num">
                                      <p:cBhvr additive="base">
                                        <p:cTn id="118" dur="200" fill="hold"/>
                                        <p:tgtEl>
                                          <p:spTgt spid="32"/>
                                        </p:tgtEl>
                                        <p:attrNameLst>
                                          <p:attrName>ppt_y</p:attrName>
                                        </p:attrNameLst>
                                      </p:cBhvr>
                                      <p:tavLst>
                                        <p:tav tm="0">
                                          <p:val>
                                            <p:strVal val="1+#ppt_h/2"/>
                                          </p:val>
                                        </p:tav>
                                        <p:tav tm="100000">
                                          <p:val>
                                            <p:strVal val="#ppt_y"/>
                                          </p:val>
                                        </p:tav>
                                      </p:tavLst>
                                    </p:anim>
                                  </p:childTnLst>
                                </p:cTn>
                              </p:par>
                            </p:childTnLst>
                          </p:cTn>
                        </p:par>
                        <p:par>
                          <p:cTn id="119" fill="hold">
                            <p:stCondLst>
                              <p:cond delay="4600"/>
                            </p:stCondLst>
                            <p:childTnLst>
                              <p:par>
                                <p:cTn id="120" presetID="2" presetClass="entr" presetSubtype="4" decel="60000" fill="hold" nodeType="afterEffect">
                                  <p:stCondLst>
                                    <p:cond delay="0"/>
                                  </p:stCondLst>
                                  <p:childTnLst>
                                    <p:set>
                                      <p:cBhvr>
                                        <p:cTn id="121" dur="1" fill="hold">
                                          <p:stCondLst>
                                            <p:cond delay="0"/>
                                          </p:stCondLst>
                                        </p:cTn>
                                        <p:tgtEl>
                                          <p:spTgt spid="36"/>
                                        </p:tgtEl>
                                        <p:attrNameLst>
                                          <p:attrName>style.visibility</p:attrName>
                                        </p:attrNameLst>
                                      </p:cBhvr>
                                      <p:to>
                                        <p:strVal val="visible"/>
                                      </p:to>
                                    </p:set>
                                    <p:anim calcmode="lin" valueType="num">
                                      <p:cBhvr additive="base">
                                        <p:cTn id="122" dur="200" fill="hold"/>
                                        <p:tgtEl>
                                          <p:spTgt spid="36"/>
                                        </p:tgtEl>
                                        <p:attrNameLst>
                                          <p:attrName>ppt_x</p:attrName>
                                        </p:attrNameLst>
                                      </p:cBhvr>
                                      <p:tavLst>
                                        <p:tav tm="0">
                                          <p:val>
                                            <p:strVal val="#ppt_x"/>
                                          </p:val>
                                        </p:tav>
                                        <p:tav tm="100000">
                                          <p:val>
                                            <p:strVal val="#ppt_x"/>
                                          </p:val>
                                        </p:tav>
                                      </p:tavLst>
                                    </p:anim>
                                    <p:anim calcmode="lin" valueType="num">
                                      <p:cBhvr additive="base">
                                        <p:cTn id="123" dur="200" fill="hold"/>
                                        <p:tgtEl>
                                          <p:spTgt spid="36"/>
                                        </p:tgtEl>
                                        <p:attrNameLst>
                                          <p:attrName>ppt_y</p:attrName>
                                        </p:attrNameLst>
                                      </p:cBhvr>
                                      <p:tavLst>
                                        <p:tav tm="0">
                                          <p:val>
                                            <p:strVal val="1+#ppt_h/2"/>
                                          </p:val>
                                        </p:tav>
                                        <p:tav tm="100000">
                                          <p:val>
                                            <p:strVal val="#ppt_y"/>
                                          </p:val>
                                        </p:tav>
                                      </p:tavLst>
                                    </p:anim>
                                  </p:childTnLst>
                                </p:cTn>
                              </p:par>
                            </p:childTnLst>
                          </p:cTn>
                        </p:par>
                        <p:par>
                          <p:cTn id="124" fill="hold">
                            <p:stCondLst>
                              <p:cond delay="4800"/>
                            </p:stCondLst>
                            <p:childTnLst>
                              <p:par>
                                <p:cTn id="125" presetID="2" presetClass="entr" presetSubtype="1" decel="60000" fill="hold" nodeType="afterEffect">
                                  <p:stCondLst>
                                    <p:cond delay="0"/>
                                  </p:stCondLst>
                                  <p:childTnLst>
                                    <p:set>
                                      <p:cBhvr>
                                        <p:cTn id="126" dur="1" fill="hold">
                                          <p:stCondLst>
                                            <p:cond delay="0"/>
                                          </p:stCondLst>
                                        </p:cTn>
                                        <p:tgtEl>
                                          <p:spTgt spid="19"/>
                                        </p:tgtEl>
                                        <p:attrNameLst>
                                          <p:attrName>style.visibility</p:attrName>
                                        </p:attrNameLst>
                                      </p:cBhvr>
                                      <p:to>
                                        <p:strVal val="visible"/>
                                      </p:to>
                                    </p:set>
                                    <p:anim calcmode="lin" valueType="num">
                                      <p:cBhvr additive="base">
                                        <p:cTn id="127" dur="200" fill="hold"/>
                                        <p:tgtEl>
                                          <p:spTgt spid="19"/>
                                        </p:tgtEl>
                                        <p:attrNameLst>
                                          <p:attrName>ppt_x</p:attrName>
                                        </p:attrNameLst>
                                      </p:cBhvr>
                                      <p:tavLst>
                                        <p:tav tm="0">
                                          <p:val>
                                            <p:strVal val="#ppt_x"/>
                                          </p:val>
                                        </p:tav>
                                        <p:tav tm="100000">
                                          <p:val>
                                            <p:strVal val="#ppt_x"/>
                                          </p:val>
                                        </p:tav>
                                      </p:tavLst>
                                    </p:anim>
                                    <p:anim calcmode="lin" valueType="num">
                                      <p:cBhvr additive="base">
                                        <p:cTn id="128" dur="200" fill="hold"/>
                                        <p:tgtEl>
                                          <p:spTgt spid="19"/>
                                        </p:tgtEl>
                                        <p:attrNameLst>
                                          <p:attrName>ppt_y</p:attrName>
                                        </p:attrNameLst>
                                      </p:cBhvr>
                                      <p:tavLst>
                                        <p:tav tm="0">
                                          <p:val>
                                            <p:strVal val="0-#ppt_h/2"/>
                                          </p:val>
                                        </p:tav>
                                        <p:tav tm="100000">
                                          <p:val>
                                            <p:strVal val="#ppt_y"/>
                                          </p:val>
                                        </p:tav>
                                      </p:tavLst>
                                    </p:anim>
                                  </p:childTnLst>
                                </p:cTn>
                              </p:par>
                            </p:childTnLst>
                          </p:cTn>
                        </p:par>
                        <p:par>
                          <p:cTn id="129" fill="hold">
                            <p:stCondLst>
                              <p:cond delay="5000"/>
                            </p:stCondLst>
                            <p:childTnLst>
                              <p:par>
                                <p:cTn id="130" presetID="2" presetClass="entr" presetSubtype="4" decel="60000" fill="hold" nodeType="afterEffect">
                                  <p:stCondLst>
                                    <p:cond delay="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200" fill="hold"/>
                                        <p:tgtEl>
                                          <p:spTgt spid="33"/>
                                        </p:tgtEl>
                                        <p:attrNameLst>
                                          <p:attrName>ppt_x</p:attrName>
                                        </p:attrNameLst>
                                      </p:cBhvr>
                                      <p:tavLst>
                                        <p:tav tm="0">
                                          <p:val>
                                            <p:strVal val="#ppt_x"/>
                                          </p:val>
                                        </p:tav>
                                        <p:tav tm="100000">
                                          <p:val>
                                            <p:strVal val="#ppt_x"/>
                                          </p:val>
                                        </p:tav>
                                      </p:tavLst>
                                    </p:anim>
                                    <p:anim calcmode="lin" valueType="num">
                                      <p:cBhvr additive="base">
                                        <p:cTn id="133" dur="200" fill="hold"/>
                                        <p:tgtEl>
                                          <p:spTgt spid="33"/>
                                        </p:tgtEl>
                                        <p:attrNameLst>
                                          <p:attrName>ppt_y</p:attrName>
                                        </p:attrNameLst>
                                      </p:cBhvr>
                                      <p:tavLst>
                                        <p:tav tm="0">
                                          <p:val>
                                            <p:strVal val="1+#ppt_h/2"/>
                                          </p:val>
                                        </p:tav>
                                        <p:tav tm="100000">
                                          <p:val>
                                            <p:strVal val="#ppt_y"/>
                                          </p:val>
                                        </p:tav>
                                      </p:tavLst>
                                    </p:anim>
                                  </p:childTnLst>
                                </p:cTn>
                              </p:par>
                            </p:childTnLst>
                          </p:cTn>
                        </p:par>
                        <p:par>
                          <p:cTn id="134" fill="hold">
                            <p:stCondLst>
                              <p:cond delay="5200"/>
                            </p:stCondLst>
                            <p:childTnLst>
                              <p:par>
                                <p:cTn id="135" presetID="2" presetClass="entr" presetSubtype="4" decel="25000" fill="hold" nodeType="afterEffect">
                                  <p:stCondLst>
                                    <p:cond delay="0"/>
                                  </p:stCondLst>
                                  <p:childTnLst>
                                    <p:set>
                                      <p:cBhvr>
                                        <p:cTn id="136" dur="1" fill="hold">
                                          <p:stCondLst>
                                            <p:cond delay="0"/>
                                          </p:stCondLst>
                                        </p:cTn>
                                        <p:tgtEl>
                                          <p:spTgt spid="426"/>
                                        </p:tgtEl>
                                        <p:attrNameLst>
                                          <p:attrName>style.visibility</p:attrName>
                                        </p:attrNameLst>
                                      </p:cBhvr>
                                      <p:to>
                                        <p:strVal val="visible"/>
                                      </p:to>
                                    </p:set>
                                    <p:anim calcmode="lin" valueType="num">
                                      <p:cBhvr additive="base">
                                        <p:cTn id="137" dur="200" fill="hold"/>
                                        <p:tgtEl>
                                          <p:spTgt spid="426"/>
                                        </p:tgtEl>
                                        <p:attrNameLst>
                                          <p:attrName>ppt_x</p:attrName>
                                        </p:attrNameLst>
                                      </p:cBhvr>
                                      <p:tavLst>
                                        <p:tav tm="0">
                                          <p:val>
                                            <p:strVal val="#ppt_x"/>
                                          </p:val>
                                        </p:tav>
                                        <p:tav tm="100000">
                                          <p:val>
                                            <p:strVal val="#ppt_x"/>
                                          </p:val>
                                        </p:tav>
                                      </p:tavLst>
                                    </p:anim>
                                    <p:anim calcmode="lin" valueType="num">
                                      <p:cBhvr additive="base">
                                        <p:cTn id="138" dur="200" fill="hold"/>
                                        <p:tgtEl>
                                          <p:spTgt spid="426"/>
                                        </p:tgtEl>
                                        <p:attrNameLst>
                                          <p:attrName>ppt_y</p:attrName>
                                        </p:attrNameLst>
                                      </p:cBhvr>
                                      <p:tavLst>
                                        <p:tav tm="0">
                                          <p:val>
                                            <p:strVal val="1+#ppt_h/2"/>
                                          </p:val>
                                        </p:tav>
                                        <p:tav tm="100000">
                                          <p:val>
                                            <p:strVal val="#ppt_y"/>
                                          </p:val>
                                        </p:tav>
                                      </p:tavLst>
                                    </p:anim>
                                  </p:childTnLst>
                                </p:cTn>
                              </p:par>
                            </p:childTnLst>
                          </p:cTn>
                        </p:par>
                        <p:par>
                          <p:cTn id="139" fill="hold">
                            <p:stCondLst>
                              <p:cond delay="5400"/>
                            </p:stCondLst>
                            <p:childTnLst>
                              <p:par>
                                <p:cTn id="140" presetID="2" presetClass="entr" presetSubtype="1" decel="60000" fill="hold" nodeType="afterEffect">
                                  <p:stCondLst>
                                    <p:cond delay="0"/>
                                  </p:stCondLst>
                                  <p:childTnLst>
                                    <p:set>
                                      <p:cBhvr>
                                        <p:cTn id="141" dur="1" fill="hold">
                                          <p:stCondLst>
                                            <p:cond delay="0"/>
                                          </p:stCondLst>
                                        </p:cTn>
                                        <p:tgtEl>
                                          <p:spTgt spid="20"/>
                                        </p:tgtEl>
                                        <p:attrNameLst>
                                          <p:attrName>style.visibility</p:attrName>
                                        </p:attrNameLst>
                                      </p:cBhvr>
                                      <p:to>
                                        <p:strVal val="visible"/>
                                      </p:to>
                                    </p:set>
                                    <p:anim calcmode="lin" valueType="num">
                                      <p:cBhvr additive="base">
                                        <p:cTn id="142" dur="200" fill="hold"/>
                                        <p:tgtEl>
                                          <p:spTgt spid="20"/>
                                        </p:tgtEl>
                                        <p:attrNameLst>
                                          <p:attrName>ppt_x</p:attrName>
                                        </p:attrNameLst>
                                      </p:cBhvr>
                                      <p:tavLst>
                                        <p:tav tm="0">
                                          <p:val>
                                            <p:strVal val="#ppt_x"/>
                                          </p:val>
                                        </p:tav>
                                        <p:tav tm="100000">
                                          <p:val>
                                            <p:strVal val="#ppt_x"/>
                                          </p:val>
                                        </p:tav>
                                      </p:tavLst>
                                    </p:anim>
                                    <p:anim calcmode="lin" valueType="num">
                                      <p:cBhvr additive="base">
                                        <p:cTn id="143" dur="200" fill="hold"/>
                                        <p:tgtEl>
                                          <p:spTgt spid="20"/>
                                        </p:tgtEl>
                                        <p:attrNameLst>
                                          <p:attrName>ppt_y</p:attrName>
                                        </p:attrNameLst>
                                      </p:cBhvr>
                                      <p:tavLst>
                                        <p:tav tm="0">
                                          <p:val>
                                            <p:strVal val="0-#ppt_h/2"/>
                                          </p:val>
                                        </p:tav>
                                        <p:tav tm="100000">
                                          <p:val>
                                            <p:strVal val="#ppt_y"/>
                                          </p:val>
                                        </p:tav>
                                      </p:tavLst>
                                    </p:anim>
                                  </p:childTnLst>
                                </p:cTn>
                              </p:par>
                            </p:childTnLst>
                          </p:cTn>
                        </p:par>
                        <p:par>
                          <p:cTn id="144" fill="hold">
                            <p:stCondLst>
                              <p:cond delay="5600"/>
                            </p:stCondLst>
                            <p:childTnLst>
                              <p:par>
                                <p:cTn id="145" presetID="2" presetClass="entr" presetSubtype="4" decel="60000" fill="hold" nodeType="afterEffect">
                                  <p:stCondLst>
                                    <p:cond delay="0"/>
                                  </p:stCondLst>
                                  <p:childTnLst>
                                    <p:set>
                                      <p:cBhvr>
                                        <p:cTn id="146" dur="1" fill="hold">
                                          <p:stCondLst>
                                            <p:cond delay="0"/>
                                          </p:stCondLst>
                                        </p:cTn>
                                        <p:tgtEl>
                                          <p:spTgt spid="34"/>
                                        </p:tgtEl>
                                        <p:attrNameLst>
                                          <p:attrName>style.visibility</p:attrName>
                                        </p:attrNameLst>
                                      </p:cBhvr>
                                      <p:to>
                                        <p:strVal val="visible"/>
                                      </p:to>
                                    </p:set>
                                    <p:anim calcmode="lin" valueType="num">
                                      <p:cBhvr additive="base">
                                        <p:cTn id="147" dur="200" fill="hold"/>
                                        <p:tgtEl>
                                          <p:spTgt spid="34"/>
                                        </p:tgtEl>
                                        <p:attrNameLst>
                                          <p:attrName>ppt_x</p:attrName>
                                        </p:attrNameLst>
                                      </p:cBhvr>
                                      <p:tavLst>
                                        <p:tav tm="0">
                                          <p:val>
                                            <p:strVal val="#ppt_x"/>
                                          </p:val>
                                        </p:tav>
                                        <p:tav tm="100000">
                                          <p:val>
                                            <p:strVal val="#ppt_x"/>
                                          </p:val>
                                        </p:tav>
                                      </p:tavLst>
                                    </p:anim>
                                    <p:anim calcmode="lin" valueType="num">
                                      <p:cBhvr additive="base">
                                        <p:cTn id="148" dur="2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726"/>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VMware_white_16x9">
  <a:themeElements>
    <a:clrScheme name="Custom 1">
      <a:dk1>
        <a:srgbClr val="000001"/>
      </a:dk1>
      <a:lt1>
        <a:srgbClr val="FFFFFF"/>
      </a:lt1>
      <a:dk2>
        <a:srgbClr val="1B1E35"/>
      </a:dk2>
      <a:lt2>
        <a:srgbClr val="F2F2F2"/>
      </a:lt2>
      <a:accent1>
        <a:srgbClr val="007B8C"/>
      </a:accent1>
      <a:accent2>
        <a:srgbClr val="005C8A"/>
      </a:accent2>
      <a:accent3>
        <a:srgbClr val="0098C7"/>
      </a:accent3>
      <a:accent4>
        <a:srgbClr val="61A60E"/>
      </a:accent4>
      <a:accent5>
        <a:srgbClr val="6C4B93"/>
      </a:accent5>
      <a:accent6>
        <a:srgbClr val="EDB516"/>
      </a:accent6>
      <a:hlink>
        <a:srgbClr val="005B83"/>
      </a:hlink>
      <a:folHlink>
        <a:srgbClr val="005B83"/>
      </a:folHlink>
    </a:clrScheme>
    <a:fontScheme name="Custom 19">
      <a:majorFont>
        <a:latin typeface="Metropolis Light"/>
        <a:ea typeface=""/>
        <a:cs typeface=""/>
      </a:majorFont>
      <a:minorFont>
        <a:latin typeface="Metropoli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Aft>
            <a:spcPts val="600"/>
          </a:spcAft>
          <a:defRPr sz="120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254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30000"/>
          </a:lnSpc>
          <a:defRPr sz="1800" dirty="0" err="1" smtClean="0">
            <a:solidFill>
              <a:schemeClr val="tx2"/>
            </a:solidFill>
          </a:defRPr>
        </a:defPPr>
      </a:lstStyle>
    </a:txDef>
  </a:objectDefaults>
  <a:extraClrSchemeLst/>
  <a:custClrLst>
    <a:custClr name="Orange">
      <a:srgbClr val="E18728"/>
    </a:custClr>
    <a:custClr name="Red">
      <a:srgbClr val="B72835"/>
    </a:custClr>
    <a:custClr name="Light Grey">
      <a:srgbClr val="E8E8EA"/>
    </a:custClr>
    <a:custClr name="Dark Grey">
      <a:srgbClr val="53565A"/>
    </a:custClr>
  </a:custClrLst>
  <a:extLst>
    <a:ext uri="{05A4C25C-085E-4340-85A3-A5531E510DB2}">
      <thm15:themeFamily xmlns:thm15="http://schemas.microsoft.com/office/thememl/2012/main" name="bc-vmw-template-powerpoint-light-2024" id="{B4007CC3-2490-7B41-8276-68CCAA69E2F6}" vid="{8C309516-A0FC-1E4A-A7AC-745657761B24}"/>
    </a:ext>
  </a:extLst>
</a:theme>
</file>

<file path=ppt/theme/theme2.xml><?xml version="1.0" encoding="utf-8"?>
<a:theme xmlns:a="http://schemas.openxmlformats.org/drawingml/2006/main" name="Office Theme">
  <a:themeElements>
    <a:clrScheme name="VMware">
      <a:dk1>
        <a:srgbClr val="717074"/>
      </a:dk1>
      <a:lt1>
        <a:srgbClr val="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TaxCatchAll xmlns="78c16552-cbf3-4f1f-97ed-388b5d2a083d" xsi:nil="true"/>
    <MigrationWizIdDocumentLibraryPermissions xmlns="ff83b573-1131-4ec9-87e0-8de43cb2141f" xsi:nil="true"/>
    <_ip_UnifiedCompliancePolicyProperties xmlns="http://schemas.microsoft.com/sharepoint/v3" xsi:nil="true"/>
    <lcf76f155ced4ddcb4097134ff3c332f xmlns="ff83b573-1131-4ec9-87e0-8de43cb2141f">
      <Terms xmlns="http://schemas.microsoft.com/office/infopath/2007/PartnerControls"/>
    </lcf76f155ced4ddcb4097134ff3c332f>
    <MigrationWizIdPermissionLevels xmlns="ff83b573-1131-4ec9-87e0-8de43cb2141f" xsi:nil="true"/>
  </documentManagement>
</p:properties>
</file>

<file path=customXml/itemProps1.xml><?xml version="1.0" encoding="utf-8"?>
<ds:datastoreItem xmlns:ds="http://schemas.openxmlformats.org/officeDocument/2006/customXml" ds:itemID="{157C0630-C82F-474D-97A0-65223B9A6F4D}"/>
</file>

<file path=customXml/itemProps2.xml><?xml version="1.0" encoding="utf-8"?>
<ds:datastoreItem xmlns:ds="http://schemas.openxmlformats.org/officeDocument/2006/customXml" ds:itemID="{56EAB477-BD64-42C5-AA42-44EEB3153205}"/>
</file>

<file path=customXml/itemProps3.xml><?xml version="1.0" encoding="utf-8"?>
<ds:datastoreItem xmlns:ds="http://schemas.openxmlformats.org/officeDocument/2006/customXml" ds:itemID="{54A1E754-A4CC-4DF2-9BF5-27CA7280800E}"/>
</file>

<file path=docProps/app.xml><?xml version="1.0" encoding="utf-8"?>
<Properties xmlns="http://schemas.openxmlformats.org/officeDocument/2006/extended-properties" xmlns:vt="http://schemas.openxmlformats.org/officeDocument/2006/docPropsVTypes">
  <TotalTime>178</TotalTime>
  <Words>7477</Words>
  <Application>Microsoft Macintosh PowerPoint</Application>
  <PresentationFormat>Custom</PresentationFormat>
  <Paragraphs>1034</Paragraphs>
  <Slides>71</Slides>
  <Notes>66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71</vt:i4>
      </vt:variant>
    </vt:vector>
  </HeadingPairs>
  <TitlesOfParts>
    <vt:vector size="81" baseType="lpstr">
      <vt:lpstr>Arial</vt:lpstr>
      <vt:lpstr>Camphor Std</vt:lpstr>
      <vt:lpstr>Google Sans</vt:lpstr>
      <vt:lpstr>Helvetica Neue</vt:lpstr>
      <vt:lpstr>Metropolis</vt:lpstr>
      <vt:lpstr>Metropolis Light</vt:lpstr>
      <vt:lpstr>Metropolis-Regular</vt:lpstr>
      <vt:lpstr>Open Sans</vt:lpstr>
      <vt:lpstr>System Font Regular</vt:lpstr>
      <vt:lpstr>VMware_white_16x9</vt:lpstr>
      <vt:lpstr>VMware Pro Cloud Services for Private Cloud</vt:lpstr>
      <vt:lpstr>PowerPoint Presentation</vt:lpstr>
      <vt:lpstr>VMware Pro Cloud Services</vt:lpstr>
      <vt:lpstr>VMware Pro Cloud Services</vt:lpstr>
      <vt:lpstr>A Standardized, Repeatable and Prescriptive Approach</vt:lpstr>
      <vt:lpstr>Delivered By a Team of Experts Spanning Diverse Functions</vt:lpstr>
      <vt:lpstr>General Terms and Definitions</vt:lpstr>
      <vt:lpstr>VMware Pro Cloud Services</vt:lpstr>
      <vt:lpstr>What is IaaS?</vt:lpstr>
      <vt:lpstr>Running IaaS on VMware</vt:lpstr>
      <vt:lpstr>What is a Conceptual Design?</vt:lpstr>
      <vt:lpstr>VMware Pro Cloud Services for Private Cloud</vt:lpstr>
      <vt:lpstr>IaaS Conceptual Design</vt:lpstr>
      <vt:lpstr>VMware Pro Cloud Services for Private Cloud</vt:lpstr>
      <vt:lpstr>What is a Logical Design?</vt:lpstr>
      <vt:lpstr>Private Cloud Logical Role Design</vt:lpstr>
      <vt:lpstr>Private Cloud Logical Role Design</vt:lpstr>
      <vt:lpstr>Private Cloud Logical Role Design for SDN</vt:lpstr>
      <vt:lpstr>Private Cloud Assembly Logical Role Design</vt:lpstr>
      <vt:lpstr>VMware Pro Cloud Services for Private Cloud</vt:lpstr>
      <vt:lpstr>Scale-Aligned Implementation(s)</vt:lpstr>
      <vt:lpstr>PowerPoint Presentation</vt:lpstr>
      <vt:lpstr>Workload Domain and Cluster Topologies</vt:lpstr>
      <vt:lpstr>Remote Site Topologies</vt:lpstr>
      <vt:lpstr>VCF Design</vt:lpstr>
      <vt:lpstr>VCF Design</vt:lpstr>
      <vt:lpstr>VCF Design</vt:lpstr>
      <vt:lpstr>VCF Design</vt:lpstr>
      <vt:lpstr>VCF Design</vt:lpstr>
      <vt:lpstr>VMware Pro Cloud Services for Private Cloud</vt:lpstr>
      <vt:lpstr>Distributed Switch Models</vt:lpstr>
      <vt:lpstr>Distributed Switch Models</vt:lpstr>
      <vt:lpstr>NSX Edge Cluster Models </vt:lpstr>
      <vt:lpstr>NSX Edge Cluster Architecture</vt:lpstr>
      <vt:lpstr>NSX Edge Cluster Architecture</vt:lpstr>
      <vt:lpstr>NSX Edge Cluster Architecture</vt:lpstr>
      <vt:lpstr>NSX Edge Cluster Architecture</vt:lpstr>
      <vt:lpstr>NSX Edge Cluster Models </vt:lpstr>
      <vt:lpstr>NSX Edge Cluster Architecture</vt:lpstr>
      <vt:lpstr>NSX Edge Cluster Architecture</vt:lpstr>
      <vt:lpstr>NSX Edge Cluster Architecture</vt:lpstr>
      <vt:lpstr>VMware Pro Cloud Services for Private Cloud Infrastructure</vt:lpstr>
      <vt:lpstr>Private Cloud – VCF Automation</vt:lpstr>
      <vt:lpstr>Private Cloud – VCF Automation (2)</vt:lpstr>
      <vt:lpstr>Private Cloud – VCF Automation</vt:lpstr>
      <vt:lpstr>Private Cloud – VCF Automation</vt:lpstr>
      <vt:lpstr>Private Cloud – VCF Automation</vt:lpstr>
      <vt:lpstr>Private Cloud – VCF Automation</vt:lpstr>
      <vt:lpstr>Private Cloud – VCF Automation</vt:lpstr>
      <vt:lpstr>VMware Pro Cloud Services for Private Cloud</vt:lpstr>
      <vt:lpstr>Private Cloud – VCF Operations</vt:lpstr>
      <vt:lpstr>VMware Pro Cloud Services for Private Cloud</vt:lpstr>
      <vt:lpstr>Private Cloud – VCF Operations for Logs</vt:lpstr>
      <vt:lpstr>VMware Pro Cloud Services for Private Cloud</vt:lpstr>
      <vt:lpstr>Private Cloud Infrastructure – VCF Operations for Networks</vt:lpstr>
      <vt:lpstr>VMware Pro Cloud Services for Private Cloud</vt:lpstr>
      <vt:lpstr>Private Cloud – vSphere Kubernetes Service</vt:lpstr>
      <vt:lpstr>Private Cloud – vSphere Kubernetes Service</vt:lpstr>
      <vt:lpstr>Private Cloud – vSphere Kubernetes Service</vt:lpstr>
      <vt:lpstr>Private Cloud – vSphere Kubernetes Service</vt:lpstr>
      <vt:lpstr>Private Cloud – vSphere Kubernetes Service</vt:lpstr>
      <vt:lpstr>Private Cloud – vSphere Kubernetes Service</vt:lpstr>
      <vt:lpstr>VMware Pro Cloud Services for Private Cloud</vt:lpstr>
      <vt:lpstr>Philosophy &amp; Approach</vt:lpstr>
      <vt:lpstr>Security in Cloud Foundation</vt:lpstr>
      <vt:lpstr>CIA Triad: Core Tenets of Information Security</vt:lpstr>
      <vt:lpstr>PowerPoint Presentation</vt:lpstr>
      <vt:lpstr>PowerPoint Presentation</vt:lpstr>
      <vt:lpstr>Security at Every Layer of Cloud Foundation</vt:lpstr>
      <vt:lpstr>Resilience Woven Throughout VMware Cloud Foundation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VMware Pro Cloud Services for Private Cloud Infrastructure</dc:title>
  <dc:creator>Jonathan McDonald</dc:creator>
  <cp:lastModifiedBy>Jonathan McDonald</cp:lastModifiedBy>
  <cp:revision>11</cp:revision>
  <dcterms:created xsi:type="dcterms:W3CDTF">2023-07-24T11:34:11Z</dcterms:created>
  <dcterms:modified xsi:type="dcterms:W3CDTF">2025-06-12T19:00:43Z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ies>
</file>