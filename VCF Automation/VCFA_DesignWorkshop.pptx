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94" r:id="rId4"/>
  </p:sldMasterIdLst>
  <p:notesMasterIdLst>
    <p:notesMasterId r:id="rId43"/>
  </p:notesMasterIdLst>
  <p:handoutMasterIdLst>
    <p:handoutMasterId r:id="rId44"/>
  </p:handoutMasterIdLst>
  <p:sldIdLst>
    <p:sldId id="256" r:id="rId5"/>
    <p:sldId id="257" r:id="rId6"/>
    <p:sldId id="258" r:id="rId7"/>
    <p:sldId id="259" r:id="rId8"/>
    <p:sldId id="260" r:id="rId9"/>
    <p:sldId id="261" r:id="rId10"/>
    <p:sldId id="262" r:id="rId11"/>
    <p:sldId id="2102178955" r:id="rId12"/>
    <p:sldId id="2102178956" r:id="rId13"/>
    <p:sldId id="2102178957" r:id="rId14"/>
    <p:sldId id="2102178958" r:id="rId15"/>
    <p:sldId id="318" r:id="rId16"/>
    <p:sldId id="2102178959" r:id="rId17"/>
    <p:sldId id="2102178960" r:id="rId18"/>
    <p:sldId id="2102178961" r:id="rId19"/>
    <p:sldId id="271" r:id="rId20"/>
    <p:sldId id="272" r:id="rId21"/>
    <p:sldId id="273" r:id="rId22"/>
    <p:sldId id="2102178962" r:id="rId23"/>
    <p:sldId id="275" r:id="rId24"/>
    <p:sldId id="276" r:id="rId25"/>
    <p:sldId id="317" r:id="rId26"/>
    <p:sldId id="418" r:id="rId27"/>
    <p:sldId id="2147483148" r:id="rId28"/>
    <p:sldId id="2147483174" r:id="rId29"/>
    <p:sldId id="2147483175" r:id="rId30"/>
    <p:sldId id="2147483176" r:id="rId31"/>
    <p:sldId id="295" r:id="rId32"/>
    <p:sldId id="296" r:id="rId33"/>
    <p:sldId id="2147483149" r:id="rId34"/>
    <p:sldId id="297" r:id="rId35"/>
    <p:sldId id="298" r:id="rId36"/>
    <p:sldId id="2147483150" r:id="rId37"/>
    <p:sldId id="2147483151" r:id="rId38"/>
    <p:sldId id="2147483152" r:id="rId39"/>
    <p:sldId id="2147483153" r:id="rId40"/>
    <p:sldId id="2147483154" r:id="rId41"/>
    <p:sldId id="311" r:id="rId42"/>
  </p:sldIdLst>
  <p:sldSz cx="12188825" cy="6858000"/>
  <p:notesSz cx="6858000" cy="9144000"/>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34FE5E-20A7-604D-8AA1-281255D61C6D}">
          <p14:sldIdLst>
            <p14:sldId id="256"/>
            <p14:sldId id="257"/>
            <p14:sldId id="258"/>
            <p14:sldId id="259"/>
            <p14:sldId id="260"/>
            <p14:sldId id="261"/>
            <p14:sldId id="262"/>
            <p14:sldId id="2102178955"/>
            <p14:sldId id="2102178956"/>
            <p14:sldId id="2102178957"/>
            <p14:sldId id="2102178958"/>
            <p14:sldId id="318"/>
            <p14:sldId id="2102178959"/>
            <p14:sldId id="2102178960"/>
            <p14:sldId id="2102178961"/>
            <p14:sldId id="271"/>
            <p14:sldId id="272"/>
            <p14:sldId id="273"/>
            <p14:sldId id="2102178962"/>
            <p14:sldId id="275"/>
            <p14:sldId id="276"/>
            <p14:sldId id="317"/>
            <p14:sldId id="418"/>
            <p14:sldId id="2147483148"/>
            <p14:sldId id="2147483174"/>
            <p14:sldId id="2147483175"/>
            <p14:sldId id="2147483176"/>
            <p14:sldId id="295"/>
            <p14:sldId id="296"/>
            <p14:sldId id="2147483149"/>
            <p14:sldId id="297"/>
            <p14:sldId id="298"/>
            <p14:sldId id="2147483150"/>
            <p14:sldId id="2147483151"/>
            <p14:sldId id="2147483152"/>
            <p14:sldId id="2147483153"/>
            <p14:sldId id="2147483154"/>
            <p14:sldId id="31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7C2C"/>
    <a:srgbClr val="AADB1E"/>
    <a:srgbClr val="6DB33F"/>
    <a:srgbClr val="006990"/>
    <a:srgbClr val="E6E6E6"/>
    <a:srgbClr val="7F35AB"/>
    <a:srgbClr val="7636AE"/>
    <a:srgbClr val="264088"/>
    <a:srgbClr val="B3B3B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81" autoAdjust="0"/>
    <p:restoredTop sz="94783" autoAdjust="0"/>
  </p:normalViewPr>
  <p:slideViewPr>
    <p:cSldViewPr snapToGrid="0">
      <p:cViewPr varScale="1">
        <p:scale>
          <a:sx n="124" d="100"/>
          <a:sy n="124" d="100"/>
        </p:scale>
        <p:origin x="648" y="168"/>
      </p:cViewPr>
      <p:guideLst/>
    </p:cSldViewPr>
  </p:slideViewPr>
  <p:outlineViewPr>
    <p:cViewPr>
      <p:scale>
        <a:sx n="33" d="100"/>
        <a:sy n="33" d="100"/>
      </p:scale>
      <p:origin x="0" y="-51182"/>
    </p:cViewPr>
  </p:outlineViewPr>
  <p:notesTextViewPr>
    <p:cViewPr>
      <p:scale>
        <a:sx n="1" d="1"/>
        <a:sy n="1" d="1"/>
      </p:scale>
      <p:origin x="0" y="0"/>
    </p:cViewPr>
  </p:notesTextViewPr>
  <p:sorterViewPr>
    <p:cViewPr>
      <p:scale>
        <a:sx n="60" d="100"/>
        <a:sy n="60" d="100"/>
      </p:scale>
      <p:origin x="0" y="-6396"/>
    </p:cViewPr>
  </p:sorterViewPr>
  <p:notesViewPr>
    <p:cSldViewPr snapToGrid="0" showGuides="1">
      <p:cViewPr varScale="1">
        <p:scale>
          <a:sx n="59" d="100"/>
          <a:sy n="59" d="100"/>
        </p:scale>
        <p:origin x="2371" y="1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Metropolis" panose="00000500000000000000" pitchFamily="50"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latin typeface="Metropolis" panose="00000500000000000000" pitchFamily="50" charset="0"/>
              </a:rPr>
              <a:t>10/7/25</a:t>
            </a:fld>
            <a:endParaRPr lang="en-US" dirty="0">
              <a:latin typeface="Metropolis" panose="00000500000000000000" pitchFamily="50"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Metropolis" panose="00000500000000000000" pitchFamily="50"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latin typeface="Metropolis" panose="00000500000000000000" pitchFamily="50" charset="0"/>
              </a:rPr>
              <a:t>‹#›</a:t>
            </a:fld>
            <a:endParaRPr lang="en-US" dirty="0">
              <a:latin typeface="Metropolis" panose="00000500000000000000" pitchFamily="50" charset="0"/>
            </a:endParaRPr>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etropolis" panose="00000500000000000000" pitchFamily="50"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etropolis" panose="00000500000000000000" pitchFamily="50" charset="0"/>
              </a:defRPr>
            </a:lvl1pPr>
          </a:lstStyle>
          <a:p>
            <a:fld id="{3CB6F0DB-E055-41D0-9102-627A646E4242}" type="datetimeFigureOut">
              <a:rPr lang="en-US" smtClean="0"/>
              <a:pPr/>
              <a:t>10/7/25</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etropolis" panose="00000500000000000000" pitchFamily="50"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etropolis" panose="00000500000000000000" pitchFamily="50" charset="0"/>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tropolis" panose="00000500000000000000" pitchFamily="50" charset="0"/>
        <a:ea typeface="+mn-ea"/>
        <a:cs typeface="+mn-cs"/>
      </a:defRPr>
    </a:lvl1pPr>
    <a:lvl2pPr marL="457200" algn="l" defTabSz="914400" rtl="0" eaLnBrk="1" latinLnBrk="0" hangingPunct="1">
      <a:defRPr sz="1200" kern="1200">
        <a:solidFill>
          <a:schemeClr val="tx1"/>
        </a:solidFill>
        <a:latin typeface="Metropolis" panose="00000500000000000000" pitchFamily="50" charset="0"/>
        <a:ea typeface="+mn-ea"/>
        <a:cs typeface="+mn-cs"/>
      </a:defRPr>
    </a:lvl2pPr>
    <a:lvl3pPr marL="914400" algn="l" defTabSz="914400" rtl="0" eaLnBrk="1" latinLnBrk="0" hangingPunct="1">
      <a:defRPr sz="1200" kern="1200">
        <a:solidFill>
          <a:schemeClr val="tx1"/>
        </a:solidFill>
        <a:latin typeface="Metropolis" panose="00000500000000000000" pitchFamily="50" charset="0"/>
        <a:ea typeface="+mn-ea"/>
        <a:cs typeface="+mn-cs"/>
      </a:defRPr>
    </a:lvl3pPr>
    <a:lvl4pPr marL="1371600" algn="l" defTabSz="914400" rtl="0" eaLnBrk="1" latinLnBrk="0" hangingPunct="1">
      <a:defRPr sz="1200" kern="1200">
        <a:solidFill>
          <a:schemeClr val="tx1"/>
        </a:solidFill>
        <a:latin typeface="Metropolis" panose="00000500000000000000" pitchFamily="50" charset="0"/>
        <a:ea typeface="+mn-ea"/>
        <a:cs typeface="+mn-cs"/>
      </a:defRPr>
    </a:lvl4pPr>
    <a:lvl5pPr marL="1828800" algn="l" defTabSz="914400" rtl="0" eaLnBrk="1" latinLnBrk="0" hangingPunct="1">
      <a:defRPr sz="1200" kern="1200">
        <a:solidFill>
          <a:schemeClr val="tx1"/>
        </a:solidFill>
        <a:latin typeface="Metropolis" panose="000005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ws.amazon.com/vpc/"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aws.amazon.com/ec2/"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vmware.com/docs/vcf-edge-considerations-white-paper"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docs.vmware.com/en/VMware-Cloud-Foundation/index.html"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11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78" name="Google Shape;978;p11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11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85" name="Google Shape;985;p11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p11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91" name="Google Shape;991;p11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11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p11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a:t>VMware Pro Cloud Services can help you achieve the benefits of your future state architecture faster, while freeing your IT resources to focus other priorities.  Our family of services leverage prescriptive reference architectures which we developed based on our breadth of customer deployments and best practices for a consistent, predictable and reliable solution.  A cross functional team of VMware experts brings together the rights skills at the right time for a coordinated effort focused on helping you achieve your objectives.  Our flexible delivery model is based on a standard approach for consistency and repeatability while allowing some customization options.</a:t>
            </a:r>
            <a:endParaRPr/>
          </a:p>
          <a:p>
            <a:pPr marL="457200" marR="0" lvl="0" indent="-228600" algn="l" rtl="0">
              <a:lnSpc>
                <a:spcPct val="100000"/>
              </a:lnSpc>
              <a:spcBef>
                <a:spcPts val="0"/>
              </a:spcBef>
              <a:spcAft>
                <a:spcPts val="0"/>
              </a:spcAft>
              <a:buSzPts val="1400"/>
              <a:buNone/>
            </a:pPr>
            <a:endParaRPr/>
          </a:p>
        </p:txBody>
      </p:sp>
      <p:sp>
        <p:nvSpPr>
          <p:cNvPr id="997" name="Google Shape;997;p1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4</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11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p11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457200" marR="0" lvl="0" indent="-228600" algn="l" rtl="0">
              <a:lnSpc>
                <a:spcPct val="100000"/>
              </a:lnSpc>
              <a:spcBef>
                <a:spcPts val="0"/>
              </a:spcBef>
              <a:spcAft>
                <a:spcPts val="0"/>
              </a:spcAft>
              <a:buSzPts val="1400"/>
              <a:buNone/>
            </a:pPr>
            <a:r>
              <a:rPr lang="en-US"/>
              <a:t>Our standardized, repeatable and prescriptive approach helps to reduce risk and complexity.  Our services combine the key components of delivery excellence such as proven VMware design patterns, implementation best practices, defined metrics for success, custom tools and delivery automation to deliver faster and more reliably.  We offer flexible sizing that will support your scalability and growth for your needs today and tomorrow.  Customizations include integrations with your existing and third-party solutions.</a:t>
            </a:r>
            <a:endParaRPr/>
          </a:p>
          <a:p>
            <a:pPr marL="457200" marR="0" lvl="0" indent="-228600" algn="l" rtl="0">
              <a:lnSpc>
                <a:spcPct val="100000"/>
              </a:lnSpc>
              <a:spcBef>
                <a:spcPts val="0"/>
              </a:spcBef>
              <a:spcAft>
                <a:spcPts val="0"/>
              </a:spcAft>
              <a:buSzPts val="1400"/>
              <a:buNone/>
            </a:pPr>
            <a:endParaRPr/>
          </a:p>
        </p:txBody>
      </p:sp>
      <p:sp>
        <p:nvSpPr>
          <p:cNvPr id="1012" name="Google Shape;1012;p1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5</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11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p11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a:t>VMware Pro Cloud Services are delivered by</a:t>
            </a:r>
            <a:r>
              <a:rPr lang="en-US" sz="1200"/>
              <a:t> a team of VMware experts with specialized knowledge and skills across different technology, people, and process areas. This “pod” approach ensures you get</a:t>
            </a:r>
            <a:r>
              <a:rPr lang="en-US" sz="1200">
                <a:solidFill>
                  <a:schemeClr val="lt2"/>
                </a:solidFill>
              </a:rPr>
              <a:t> the right skills at the right time and a coordinated effort for improved communication and collaboration, and ultimately faster time to value.  </a:t>
            </a:r>
            <a:endParaRPr/>
          </a:p>
        </p:txBody>
      </p:sp>
      <p:sp>
        <p:nvSpPr>
          <p:cNvPr id="1082" name="Google Shape;1082;p1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6</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p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p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11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134" name="Google Shape;1134;p11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9" name="Google Shape;1139;p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1200"/>
              <a:buFont typeface="Arial"/>
              <a:buNone/>
            </a:pPr>
            <a:endParaRPr/>
          </a:p>
        </p:txBody>
      </p:sp>
      <p:sp>
        <p:nvSpPr>
          <p:cNvPr id="1140" name="Google Shape;1140;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p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8" name="Google Shape;1158;p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1240"/>
              <a:buFont typeface="Arial"/>
              <a:buNone/>
            </a:pPr>
            <a:endParaRPr sz="1240" b="1">
              <a:solidFill>
                <a:schemeClr val="accent2"/>
              </a:solidFill>
              <a:latin typeface="Arial"/>
              <a:ea typeface="Arial"/>
              <a:cs typeface="Arial"/>
              <a:sym typeface="Arial"/>
            </a:endParaRPr>
          </a:p>
          <a:p>
            <a:pPr marL="0" lvl="0" indent="0" algn="l" rtl="0">
              <a:lnSpc>
                <a:spcPct val="80000"/>
              </a:lnSpc>
              <a:spcBef>
                <a:spcPts val="600"/>
              </a:spcBef>
              <a:spcAft>
                <a:spcPts val="0"/>
              </a:spcAft>
              <a:buClr>
                <a:schemeClr val="accent1"/>
              </a:buClr>
              <a:buSzPts val="1550"/>
              <a:buFont typeface="Arial"/>
              <a:buNone/>
            </a:pPr>
            <a:r>
              <a:rPr lang="en-US" sz="1550" b="1">
                <a:solidFill>
                  <a:schemeClr val="accent1"/>
                </a:solidFill>
                <a:latin typeface="Arial"/>
                <a:ea typeface="Arial"/>
                <a:cs typeface="Arial"/>
                <a:sym typeface="Arial"/>
              </a:rPr>
              <a:t>IaaS on VMware provides a prescriptive approach to:</a:t>
            </a:r>
            <a:endParaRPr/>
          </a:p>
          <a:p>
            <a:pPr marL="285750" lvl="0" indent="-285750" algn="l" rtl="0">
              <a:lnSpc>
                <a:spcPct val="80000"/>
              </a:lnSpc>
              <a:spcBef>
                <a:spcPts val="0"/>
              </a:spcBef>
              <a:spcAft>
                <a:spcPts val="0"/>
              </a:spcAft>
              <a:buClr>
                <a:schemeClr val="accent1"/>
              </a:buClr>
              <a:buSzPts val="1240"/>
              <a:buFont typeface="Arial"/>
              <a:buAutoNum type="arabicPeriod"/>
            </a:pPr>
            <a:r>
              <a:rPr lang="en-US" sz="1240">
                <a:solidFill>
                  <a:schemeClr val="accent1"/>
                </a:solidFill>
              </a:rPr>
              <a:t>D</a:t>
            </a:r>
            <a:r>
              <a:rPr lang="en-US" sz="1240">
                <a:solidFill>
                  <a:schemeClr val="accent1"/>
                </a:solidFill>
                <a:latin typeface="Arial"/>
                <a:ea typeface="Arial"/>
                <a:cs typeface="Arial"/>
                <a:sym typeface="Arial"/>
              </a:rPr>
              <a:t>evelop and operate the VMware Cloud with improved agility and cost efficiency.</a:t>
            </a:r>
            <a:endParaRPr/>
          </a:p>
          <a:p>
            <a:pPr marL="285750" lvl="0" indent="-285750" algn="l" rtl="0">
              <a:lnSpc>
                <a:spcPct val="80000"/>
              </a:lnSpc>
              <a:spcBef>
                <a:spcPts val="0"/>
              </a:spcBef>
              <a:spcAft>
                <a:spcPts val="0"/>
              </a:spcAft>
              <a:buClr>
                <a:schemeClr val="accent1"/>
              </a:buClr>
              <a:buSzPts val="1240"/>
              <a:buFont typeface="Arial"/>
              <a:buAutoNum type="arabicPeriod"/>
            </a:pPr>
            <a:r>
              <a:rPr lang="en-US" sz="1240">
                <a:solidFill>
                  <a:schemeClr val="accent1"/>
                </a:solidFill>
                <a:latin typeface="Arial"/>
                <a:ea typeface="Arial"/>
                <a:cs typeface="Arial"/>
                <a:sym typeface="Arial"/>
              </a:rPr>
              <a:t>Continuously improve a simplified marketplace experience for the consumer.</a:t>
            </a:r>
            <a:endParaRPr/>
          </a:p>
          <a:p>
            <a:pPr marL="0" lvl="0" indent="0" algn="l" rtl="0">
              <a:lnSpc>
                <a:spcPct val="80000"/>
              </a:lnSpc>
              <a:spcBef>
                <a:spcPts val="300"/>
              </a:spcBef>
              <a:spcAft>
                <a:spcPts val="0"/>
              </a:spcAft>
              <a:buClr>
                <a:schemeClr val="dk1"/>
              </a:buClr>
              <a:buSzPts val="1240"/>
              <a:buFont typeface="Arial"/>
              <a:buNone/>
            </a:pPr>
            <a:endParaRPr sz="1240" b="1">
              <a:solidFill>
                <a:schemeClr val="accent2"/>
              </a:solidFill>
              <a:latin typeface="Arial"/>
              <a:ea typeface="Arial"/>
              <a:cs typeface="Arial"/>
              <a:sym typeface="Arial"/>
            </a:endParaRPr>
          </a:p>
          <a:p>
            <a:pPr marL="0" lvl="0" indent="0" algn="l" rtl="0">
              <a:lnSpc>
                <a:spcPct val="80000"/>
              </a:lnSpc>
              <a:spcBef>
                <a:spcPts val="300"/>
              </a:spcBef>
              <a:spcAft>
                <a:spcPts val="0"/>
              </a:spcAft>
              <a:buClr>
                <a:schemeClr val="dk1"/>
              </a:buClr>
              <a:buSzPts val="1240"/>
              <a:buFont typeface="Arial"/>
              <a:buNone/>
            </a:pPr>
            <a:endParaRPr sz="1240" b="1">
              <a:solidFill>
                <a:schemeClr val="accent2"/>
              </a:solidFill>
              <a:latin typeface="Arial"/>
              <a:ea typeface="Arial"/>
              <a:cs typeface="Arial"/>
              <a:sym typeface="Arial"/>
            </a:endParaRPr>
          </a:p>
          <a:p>
            <a:pPr marL="0" lvl="0" indent="0" algn="l" rtl="0">
              <a:lnSpc>
                <a:spcPct val="80000"/>
              </a:lnSpc>
              <a:spcBef>
                <a:spcPts val="300"/>
              </a:spcBef>
              <a:spcAft>
                <a:spcPts val="0"/>
              </a:spcAft>
              <a:buClr>
                <a:schemeClr val="accent2"/>
              </a:buClr>
              <a:buSzPts val="1240"/>
              <a:buFont typeface="Arial"/>
              <a:buNone/>
            </a:pPr>
            <a:r>
              <a:rPr lang="en-US" sz="1240" b="1">
                <a:solidFill>
                  <a:schemeClr val="accent2"/>
                </a:solidFill>
                <a:latin typeface="Arial"/>
                <a:ea typeface="Arial"/>
                <a:cs typeface="Arial"/>
                <a:sym typeface="Arial"/>
              </a:rPr>
              <a:t>IaaS on VMware provides the tools and processes to build, operate, scale, and secure IaaS for the following roles:</a:t>
            </a:r>
            <a:endParaRPr/>
          </a:p>
          <a:p>
            <a:pPr marL="285750" lvl="0" indent="-285750" algn="l" rtl="0">
              <a:lnSpc>
                <a:spcPct val="80000"/>
              </a:lnSpc>
              <a:spcBef>
                <a:spcPts val="300"/>
              </a:spcBef>
              <a:spcAft>
                <a:spcPts val="0"/>
              </a:spcAft>
              <a:buClr>
                <a:schemeClr val="accent2"/>
              </a:buClr>
              <a:buSzPts val="930"/>
              <a:buFont typeface="Arial"/>
              <a:buAutoNum type="arabicPeriod"/>
            </a:pPr>
            <a:r>
              <a:rPr lang="en-US" sz="930" b="1">
                <a:solidFill>
                  <a:schemeClr val="accent2"/>
                </a:solidFill>
                <a:latin typeface="Arial"/>
                <a:ea typeface="Arial"/>
                <a:cs typeface="Arial"/>
                <a:sym typeface="Arial"/>
              </a:rPr>
              <a:t>IaaS Developer </a:t>
            </a:r>
            <a:r>
              <a:rPr lang="en-US" sz="930">
                <a:solidFill>
                  <a:schemeClr val="accent2"/>
                </a:solidFill>
                <a:latin typeface="Arial"/>
                <a:ea typeface="Arial"/>
                <a:cs typeface="Arial"/>
                <a:sym typeface="Arial"/>
              </a:rPr>
              <a:t>– needs the ability to develop and release new IaaS service offerings to the marketplace.</a:t>
            </a:r>
            <a:endParaRPr/>
          </a:p>
          <a:p>
            <a:pPr marL="285750" lvl="0" indent="-285750" algn="l" rtl="0">
              <a:lnSpc>
                <a:spcPct val="80000"/>
              </a:lnSpc>
              <a:spcBef>
                <a:spcPts val="300"/>
              </a:spcBef>
              <a:spcAft>
                <a:spcPts val="0"/>
              </a:spcAft>
              <a:buClr>
                <a:schemeClr val="accent2"/>
              </a:buClr>
              <a:buSzPts val="930"/>
              <a:buFont typeface="Arial"/>
              <a:buAutoNum type="arabicPeriod"/>
            </a:pPr>
            <a:r>
              <a:rPr lang="en-US" sz="930" b="1">
                <a:solidFill>
                  <a:schemeClr val="accent2"/>
                </a:solidFill>
                <a:latin typeface="Arial"/>
                <a:ea typeface="Arial"/>
                <a:cs typeface="Arial"/>
                <a:sym typeface="Arial"/>
              </a:rPr>
              <a:t>IaaS Administrator </a:t>
            </a:r>
            <a:r>
              <a:rPr lang="en-US" sz="930">
                <a:solidFill>
                  <a:schemeClr val="accent2"/>
                </a:solidFill>
                <a:latin typeface="Arial"/>
                <a:ea typeface="Arial"/>
                <a:cs typeface="Arial"/>
                <a:sym typeface="Arial"/>
              </a:rPr>
              <a:t>- needs the ability to guarantee the reliability of the marketplace.</a:t>
            </a:r>
            <a:endParaRPr/>
          </a:p>
          <a:p>
            <a:pPr marL="285750" lvl="0" indent="-285750" algn="l" rtl="0">
              <a:lnSpc>
                <a:spcPct val="80000"/>
              </a:lnSpc>
              <a:spcBef>
                <a:spcPts val="300"/>
              </a:spcBef>
              <a:spcAft>
                <a:spcPts val="0"/>
              </a:spcAft>
              <a:buClr>
                <a:schemeClr val="accent2"/>
              </a:buClr>
              <a:buSzPts val="930"/>
              <a:buFont typeface="Arial"/>
              <a:buAutoNum type="arabicPeriod"/>
            </a:pPr>
            <a:r>
              <a:rPr lang="en-US" sz="930" b="1">
                <a:solidFill>
                  <a:schemeClr val="accent2"/>
                </a:solidFill>
                <a:latin typeface="Arial"/>
                <a:ea typeface="Arial"/>
                <a:cs typeface="Arial"/>
                <a:sym typeface="Arial"/>
              </a:rPr>
              <a:t>IaaS Approver </a:t>
            </a:r>
            <a:r>
              <a:rPr lang="en-US" sz="930">
                <a:solidFill>
                  <a:schemeClr val="accent2"/>
                </a:solidFill>
                <a:latin typeface="Arial"/>
                <a:ea typeface="Arial"/>
                <a:cs typeface="Arial"/>
                <a:sym typeface="Arial"/>
              </a:rPr>
              <a:t>– needs the ability to govern the security, compliance, cost, and architecture of the marketplace.</a:t>
            </a:r>
            <a:endParaRPr/>
          </a:p>
          <a:p>
            <a:pPr marL="285750" lvl="0" indent="-285750" algn="l" rtl="0">
              <a:lnSpc>
                <a:spcPct val="80000"/>
              </a:lnSpc>
              <a:spcBef>
                <a:spcPts val="300"/>
              </a:spcBef>
              <a:spcAft>
                <a:spcPts val="0"/>
              </a:spcAft>
              <a:buClr>
                <a:schemeClr val="accent2"/>
              </a:buClr>
              <a:buSzPts val="930"/>
              <a:buFont typeface="Arial"/>
              <a:buAutoNum type="arabicPeriod"/>
            </a:pPr>
            <a:r>
              <a:rPr lang="en-US" sz="930" b="1">
                <a:solidFill>
                  <a:schemeClr val="accent2"/>
                </a:solidFill>
                <a:latin typeface="Arial"/>
                <a:ea typeface="Arial"/>
                <a:cs typeface="Arial"/>
                <a:sym typeface="Arial"/>
              </a:rPr>
              <a:t>IaaS Consumer </a:t>
            </a:r>
            <a:r>
              <a:rPr lang="en-US" sz="930">
                <a:solidFill>
                  <a:schemeClr val="accent2"/>
                </a:solidFill>
                <a:latin typeface="Arial"/>
                <a:ea typeface="Arial"/>
                <a:cs typeface="Arial"/>
                <a:sym typeface="Arial"/>
              </a:rPr>
              <a:t>– needs the ability to request a resource pool (compute, network, or storage) or operating system from the marketplace</a:t>
            </a:r>
            <a:endParaRPr/>
          </a:p>
          <a:p>
            <a:pPr marL="285750" lvl="0" indent="-226695" algn="l" rtl="0">
              <a:lnSpc>
                <a:spcPct val="80000"/>
              </a:lnSpc>
              <a:spcBef>
                <a:spcPts val="300"/>
              </a:spcBef>
              <a:spcAft>
                <a:spcPts val="0"/>
              </a:spcAft>
              <a:buClr>
                <a:schemeClr val="dk1"/>
              </a:buClr>
              <a:buSzPts val="930"/>
              <a:buFont typeface="Arial"/>
              <a:buNone/>
            </a:pPr>
            <a:endParaRPr sz="930">
              <a:solidFill>
                <a:schemeClr val="accent2"/>
              </a:solidFill>
              <a:latin typeface="Arial"/>
              <a:ea typeface="Arial"/>
              <a:cs typeface="Arial"/>
              <a:sym typeface="Arial"/>
            </a:endParaRPr>
          </a:p>
          <a:p>
            <a:pPr marL="0" lvl="0" indent="0" algn="l" rtl="0">
              <a:lnSpc>
                <a:spcPct val="80000"/>
              </a:lnSpc>
              <a:spcBef>
                <a:spcPts val="300"/>
              </a:spcBef>
              <a:spcAft>
                <a:spcPts val="0"/>
              </a:spcAft>
              <a:buClr>
                <a:schemeClr val="dk1"/>
              </a:buClr>
              <a:buSzPts val="930"/>
              <a:buFont typeface="Arial"/>
              <a:buNone/>
            </a:pPr>
            <a:endParaRPr sz="930">
              <a:solidFill>
                <a:schemeClr val="accent2"/>
              </a:solidFill>
              <a:latin typeface="Arial"/>
              <a:ea typeface="Arial"/>
              <a:cs typeface="Arial"/>
              <a:sym typeface="Arial"/>
            </a:endParaRPr>
          </a:p>
          <a:p>
            <a:pPr marL="0" lvl="0" indent="0" algn="l" rtl="0">
              <a:lnSpc>
                <a:spcPct val="80000"/>
              </a:lnSpc>
              <a:spcBef>
                <a:spcPts val="300"/>
              </a:spcBef>
              <a:spcAft>
                <a:spcPts val="0"/>
              </a:spcAft>
              <a:buClr>
                <a:schemeClr val="accent5"/>
              </a:buClr>
              <a:buSzPts val="930"/>
              <a:buFont typeface="Arial"/>
              <a:buNone/>
            </a:pPr>
            <a:r>
              <a:rPr lang="en-US" sz="930" b="1">
                <a:solidFill>
                  <a:schemeClr val="accent5"/>
                </a:solidFill>
              </a:rPr>
              <a:t>IaaS on VMware provides the following set of capabilities:</a:t>
            </a:r>
            <a:endParaRPr sz="930" b="1">
              <a:solidFill>
                <a:schemeClr val="accent5"/>
              </a:solidFill>
              <a:latin typeface="Arial"/>
              <a:ea typeface="Arial"/>
              <a:cs typeface="Arial"/>
              <a:sym typeface="Arial"/>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Two infrastructure service offerings:</a:t>
            </a:r>
            <a:endParaRPr/>
          </a:p>
          <a:p>
            <a:pPr marL="742950" lvl="1" indent="-285750" algn="l" rtl="0">
              <a:lnSpc>
                <a:spcPct val="80000"/>
              </a:lnSpc>
              <a:spcBef>
                <a:spcPts val="300"/>
              </a:spcBef>
              <a:spcAft>
                <a:spcPts val="0"/>
              </a:spcAft>
              <a:buClr>
                <a:schemeClr val="accent5"/>
              </a:buClr>
              <a:buSzPts val="813"/>
              <a:buFont typeface="Arial"/>
              <a:buAutoNum type="arabicPeriod"/>
            </a:pPr>
            <a:r>
              <a:rPr lang="en-US" sz="813">
                <a:solidFill>
                  <a:schemeClr val="accent5"/>
                </a:solidFill>
                <a:latin typeface="Arial"/>
                <a:ea typeface="Arial"/>
                <a:cs typeface="Arial"/>
                <a:sym typeface="Arial"/>
              </a:rPr>
              <a:t>Physical IaaS: a workload domain as a service (AWS equivalent: </a:t>
            </a:r>
            <a:r>
              <a:rPr lang="en-US" sz="813" u="sng">
                <a:solidFill>
                  <a:schemeClr val="accent5"/>
                </a:solidFill>
                <a:latin typeface="Arial"/>
                <a:ea typeface="Arial"/>
                <a:cs typeface="Arial"/>
                <a:sym typeface="Arial"/>
                <a:hlinkClick r:id="rId3">
                  <a:extLst>
                    <a:ext uri="{A12FA001-AC4F-418D-AE19-62706E023703}">
                      <ahyp:hlinkClr xmlns:ahyp="http://schemas.microsoft.com/office/drawing/2018/hyperlinkcolor" val="tx"/>
                    </a:ext>
                  </a:extLst>
                </a:hlinkClick>
              </a:rPr>
              <a:t>VPC</a:t>
            </a:r>
            <a:r>
              <a:rPr lang="en-US" sz="813">
                <a:solidFill>
                  <a:schemeClr val="accent5"/>
                </a:solidFill>
                <a:latin typeface="Arial"/>
                <a:ea typeface="Arial"/>
                <a:cs typeface="Arial"/>
                <a:sym typeface="Arial"/>
              </a:rPr>
              <a:t>)</a:t>
            </a:r>
            <a:endParaRPr/>
          </a:p>
          <a:p>
            <a:pPr marL="742950" lvl="1" indent="-285750" algn="l" rtl="0">
              <a:lnSpc>
                <a:spcPct val="80000"/>
              </a:lnSpc>
              <a:spcBef>
                <a:spcPts val="300"/>
              </a:spcBef>
              <a:spcAft>
                <a:spcPts val="0"/>
              </a:spcAft>
              <a:buClr>
                <a:schemeClr val="accent5"/>
              </a:buClr>
              <a:buSzPts val="813"/>
              <a:buFont typeface="Arial"/>
              <a:buAutoNum type="arabicPeriod"/>
            </a:pPr>
            <a:r>
              <a:rPr lang="en-US" sz="813">
                <a:solidFill>
                  <a:schemeClr val="accent5"/>
                </a:solidFill>
                <a:latin typeface="Arial"/>
                <a:ea typeface="Arial"/>
                <a:cs typeface="Arial"/>
                <a:sym typeface="Arial"/>
              </a:rPr>
              <a:t>Virtual IaaS: an operating system as a service (AWS equivalent: </a:t>
            </a:r>
            <a:r>
              <a:rPr lang="en-US" sz="813" u="sng">
                <a:solidFill>
                  <a:schemeClr val="accent5"/>
                </a:solidFill>
                <a:latin typeface="Arial"/>
                <a:ea typeface="Arial"/>
                <a:cs typeface="Arial"/>
                <a:sym typeface="Arial"/>
                <a:hlinkClick r:id="rId4">
                  <a:extLst>
                    <a:ext uri="{A12FA001-AC4F-418D-AE19-62706E023703}">
                      <ahyp:hlinkClr xmlns:ahyp="http://schemas.microsoft.com/office/drawing/2018/hyperlinkcolor" val="tx"/>
                    </a:ext>
                  </a:extLst>
                </a:hlinkClick>
              </a:rPr>
              <a:t>EC2</a:t>
            </a:r>
            <a:r>
              <a:rPr lang="en-US" sz="813">
                <a:solidFill>
                  <a:schemeClr val="accent5"/>
                </a:solidFill>
                <a:latin typeface="Arial"/>
                <a:ea typeface="Arial"/>
                <a:cs typeface="Arial"/>
                <a:sym typeface="Arial"/>
              </a:rPr>
              <a:t>)</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for </a:t>
            </a:r>
            <a:r>
              <a:rPr lang="en-US" sz="813">
                <a:solidFill>
                  <a:schemeClr val="accent5"/>
                </a:solidFill>
              </a:rPr>
              <a:t>IaaS Consumers and IaaS Developers </a:t>
            </a:r>
            <a:r>
              <a:rPr lang="en-US" sz="813">
                <a:solidFill>
                  <a:schemeClr val="accent5"/>
                </a:solidFill>
                <a:latin typeface="Arial"/>
                <a:ea typeface="Arial"/>
                <a:cs typeface="Arial"/>
                <a:sym typeface="Arial"/>
              </a:rPr>
              <a:t>to build, destroy, and re-build the infrastructure through a self-service marketplace, where the marketplace is accessible through an IAM controlled interface. </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to monitor and log each marketplace request, automatically alerting IaaS Administrators when there are problems.</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for IaaS Administrators to manage capacity, availability, and performance of the underlying resources to ensure the IaaS service offering does not encounter single points of failure or degradation of the user experience.</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to capture and present the operational cost to IaaS Approvers.</a:t>
            </a:r>
            <a:endParaRPr/>
          </a:p>
          <a:p>
            <a:pPr marL="285750" lvl="0" indent="-285750" algn="l" rtl="0">
              <a:lnSpc>
                <a:spcPct val="80000"/>
              </a:lnSpc>
              <a:spcBef>
                <a:spcPts val="300"/>
              </a:spcBef>
              <a:spcAft>
                <a:spcPts val="0"/>
              </a:spcAft>
              <a:buClr>
                <a:schemeClr val="accent5"/>
              </a:buClr>
              <a:buSzPts val="813"/>
              <a:buFont typeface="Arial"/>
              <a:buChar char="•"/>
            </a:pPr>
            <a:r>
              <a:rPr lang="en-US" sz="813">
                <a:solidFill>
                  <a:schemeClr val="accent5"/>
                </a:solidFill>
                <a:latin typeface="Arial"/>
                <a:ea typeface="Arial"/>
                <a:cs typeface="Arial"/>
                <a:sym typeface="Arial"/>
              </a:rPr>
              <a:t>Ability for IaaS Administrators to push compliance policies defined by the IaaS Approvers to assets under management. </a:t>
            </a:r>
            <a:endParaRPr/>
          </a:p>
          <a:p>
            <a:pPr marL="0" lvl="0" indent="0" algn="l" rtl="0">
              <a:lnSpc>
                <a:spcPct val="80000"/>
              </a:lnSpc>
              <a:spcBef>
                <a:spcPts val="0"/>
              </a:spcBef>
              <a:spcAft>
                <a:spcPts val="0"/>
              </a:spcAft>
              <a:buSzPts val="1400"/>
              <a:buNone/>
            </a:pPr>
            <a:endParaRPr sz="930"/>
          </a:p>
        </p:txBody>
      </p:sp>
      <p:sp>
        <p:nvSpPr>
          <p:cNvPr id="1159" name="Google Shape;1159;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p1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174" name="Google Shape;1174;p1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g3604b1193ee_0_320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8" name="Google Shape;1578;g3604b1193ee_0_320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 b="1">
                <a:latin typeface="Arial"/>
                <a:ea typeface="Arial"/>
                <a:cs typeface="Arial"/>
                <a:sym typeface="Arial"/>
              </a:rPr>
              <a:t>Talk Track:</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This slide outlines the key elements that constitute a modern private cloud. The core pillars—Security Governance and Compliance, Management, Automated Operations, Data Protection and Recovery, and Virtualized Infrastructure—form the backbone of the private cloud. While the specific sub-components can be tailored to meet different needs, the general construct remains the same. This flexibility allows organizations to build a private cloud that is secure, efficient, and resilient, tailored to their specific requirements.</a:t>
            </a:r>
            <a:br>
              <a:rPr lang="en">
                <a:solidFill>
                  <a:srgbClr val="0E0E0E"/>
                </a:solidFill>
                <a:latin typeface="Arial"/>
                <a:ea typeface="Arial"/>
                <a:cs typeface="Arial"/>
                <a:sym typeface="Arial"/>
              </a:rPr>
            </a:br>
            <a:br>
              <a:rPr lang="en">
                <a:solidFill>
                  <a:srgbClr val="0E0E0E"/>
                </a:solidFill>
                <a:latin typeface="Arial"/>
                <a:ea typeface="Arial"/>
                <a:cs typeface="Arial"/>
                <a:sym typeface="Arial"/>
              </a:rPr>
            </a:br>
            <a:r>
              <a:rPr lang="en" b="1">
                <a:solidFill>
                  <a:srgbClr val="0E0E0E"/>
                </a:solidFill>
                <a:latin typeface="Arial"/>
                <a:ea typeface="Arial"/>
                <a:cs typeface="Arial"/>
                <a:sym typeface="Arial"/>
              </a:rPr>
              <a:t>Security Governance and Compliance</a:t>
            </a: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Identity and RBAC (Role-Based Access Control)</a:t>
            </a:r>
            <a:r>
              <a:rPr lang="en">
                <a:solidFill>
                  <a:srgbClr val="0E0E0E"/>
                </a:solidFill>
                <a:latin typeface="Arial"/>
                <a:ea typeface="Arial"/>
                <a:cs typeface="Arial"/>
                <a:sym typeface="Arial"/>
              </a:rPr>
              <a:t>: Ensures secure access management.</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Auditing and SIEM (Security Information and Event Management)</a:t>
            </a:r>
            <a:r>
              <a:rPr lang="en">
                <a:solidFill>
                  <a:srgbClr val="0E0E0E"/>
                </a:solidFill>
                <a:latin typeface="Arial"/>
                <a:ea typeface="Arial"/>
                <a:cs typeface="Arial"/>
                <a:sym typeface="Arial"/>
              </a:rPr>
              <a:t>: Provides monitoring and auditing capabilities.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Constraint-Based Management</a:t>
            </a:r>
            <a:r>
              <a:rPr lang="en">
                <a:solidFill>
                  <a:srgbClr val="0E0E0E"/>
                </a:solidFill>
                <a:latin typeface="Arial"/>
                <a:ea typeface="Arial"/>
                <a:cs typeface="Arial"/>
                <a:sym typeface="Arial"/>
              </a:rPr>
              <a:t>: Enforces policies and constraints for compliance.</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Governance</a:t>
            </a:r>
            <a:r>
              <a:rPr lang="en">
                <a:solidFill>
                  <a:srgbClr val="0E0E0E"/>
                </a:solidFill>
                <a:latin typeface="Arial"/>
                <a:ea typeface="Arial"/>
                <a:cs typeface="Arial"/>
                <a:sym typeface="Arial"/>
              </a:rPr>
              <a:t>: Manages data integrity and privacy.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Compliance Enforcement</a:t>
            </a:r>
            <a:r>
              <a:rPr lang="en">
                <a:solidFill>
                  <a:srgbClr val="0E0E0E"/>
                </a:solidFill>
                <a:latin typeface="Arial"/>
                <a:ea typeface="Arial"/>
                <a:cs typeface="Arial"/>
                <a:sym typeface="Arial"/>
              </a:rPr>
              <a:t>: Ensures adherence to regulatory standards.</a:t>
            </a:r>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br>
              <a:rPr lang="en">
                <a:solidFill>
                  <a:srgbClr val="0E0E0E"/>
                </a:solidFill>
                <a:latin typeface="Arial"/>
                <a:ea typeface="Arial"/>
                <a:cs typeface="Arial"/>
                <a:sym typeface="Arial"/>
              </a:rPr>
            </a:br>
            <a:r>
              <a:rPr lang="en" b="1">
                <a:solidFill>
                  <a:srgbClr val="0E0E0E"/>
                </a:solidFill>
                <a:latin typeface="Arial"/>
                <a:ea typeface="Arial"/>
                <a:cs typeface="Arial"/>
                <a:sym typeface="Arial"/>
              </a:rPr>
              <a:t>Management</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Self-Service Portal</a:t>
            </a:r>
            <a:r>
              <a:rPr lang="en">
                <a:solidFill>
                  <a:srgbClr val="0E0E0E"/>
                </a:solidFill>
                <a:latin typeface="Arial"/>
                <a:ea typeface="Arial"/>
                <a:cs typeface="Arial"/>
                <a:sym typeface="Arial"/>
              </a:rPr>
              <a:t>: Allows users to access and manage resources independently.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API | CLI | CI/CD</a:t>
            </a:r>
            <a:r>
              <a:rPr lang="en">
                <a:solidFill>
                  <a:srgbClr val="0E0E0E"/>
                </a:solidFill>
                <a:latin typeface="Arial"/>
                <a:ea typeface="Arial"/>
                <a:cs typeface="Arial"/>
                <a:sym typeface="Arial"/>
              </a:rPr>
              <a:t>: Facilitates automation and integration through various interfaces.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Infra-as-Code</a:t>
            </a:r>
            <a:r>
              <a:rPr lang="en">
                <a:solidFill>
                  <a:srgbClr val="0E0E0E"/>
                </a:solidFill>
                <a:latin typeface="Arial"/>
                <a:ea typeface="Arial"/>
                <a:cs typeface="Arial"/>
                <a:sym typeface="Arial"/>
              </a:rPr>
              <a:t>: Enables infrastructure management through code for consistency and repeatability.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Services</a:t>
            </a:r>
            <a:r>
              <a:rPr lang="en">
                <a:solidFill>
                  <a:srgbClr val="0E0E0E"/>
                </a:solidFill>
                <a:latin typeface="Arial"/>
                <a:ea typeface="Arial"/>
                <a:cs typeface="Arial"/>
                <a:sym typeface="Arial"/>
              </a:rPr>
              <a:t>: Manages data storage and retrieval.</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App Runtime Services</a:t>
            </a:r>
            <a:r>
              <a:rPr lang="en">
                <a:solidFill>
                  <a:srgbClr val="0E0E0E"/>
                </a:solidFill>
                <a:latin typeface="Arial"/>
                <a:ea typeface="Arial"/>
                <a:cs typeface="Arial"/>
                <a:sym typeface="Arial"/>
              </a:rPr>
              <a:t>: Provides environments for running applications.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AI/ML Services</a:t>
            </a:r>
            <a:r>
              <a:rPr lang="en">
                <a:solidFill>
                  <a:srgbClr val="0E0E0E"/>
                </a:solidFill>
                <a:latin typeface="Arial"/>
                <a:ea typeface="Arial"/>
                <a:cs typeface="Arial"/>
                <a:sym typeface="Arial"/>
              </a:rPr>
              <a:t>: Supports artificial intelligence and machine learning workloads.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LBaaS Services</a:t>
            </a:r>
            <a:r>
              <a:rPr lang="en">
                <a:solidFill>
                  <a:srgbClr val="0E0E0E"/>
                </a:solidFill>
                <a:latin typeface="Arial"/>
                <a:ea typeface="Arial"/>
                <a:cs typeface="Arial"/>
                <a:sym typeface="Arial"/>
              </a:rPr>
              <a:t>: Offers Load Balancer as a Service for optimal traffic distribution.</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Automated Operations</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Performance Optimization</a:t>
            </a:r>
            <a:r>
              <a:rPr lang="en">
                <a:solidFill>
                  <a:srgbClr val="0E0E0E"/>
                </a:solidFill>
                <a:latin typeface="Arial"/>
                <a:ea typeface="Arial"/>
                <a:cs typeface="Arial"/>
                <a:sym typeface="Arial"/>
              </a:rPr>
              <a:t>: Enhances system performance.</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Visibility and Observability</a:t>
            </a:r>
            <a:r>
              <a:rPr lang="en">
                <a:solidFill>
                  <a:srgbClr val="0E0E0E"/>
                </a:solidFill>
                <a:latin typeface="Arial"/>
                <a:ea typeface="Arial"/>
                <a:cs typeface="Arial"/>
                <a:sym typeface="Arial"/>
              </a:rPr>
              <a:t>: Provides insights into system health and operations.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Analytics and Reporting</a:t>
            </a:r>
            <a:r>
              <a:rPr lang="en">
                <a:solidFill>
                  <a:srgbClr val="0E0E0E"/>
                </a:solidFill>
                <a:latin typeface="Arial"/>
                <a:ea typeface="Arial"/>
                <a:cs typeface="Arial"/>
                <a:sym typeface="Arial"/>
              </a:rPr>
              <a:t>: Delivers actionable data insights.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Cost Efficiency Management</a:t>
            </a:r>
            <a:r>
              <a:rPr lang="en">
                <a:solidFill>
                  <a:srgbClr val="0E0E0E"/>
                </a:solidFill>
                <a:latin typeface="Arial"/>
                <a:ea typeface="Arial"/>
                <a:cs typeface="Arial"/>
                <a:sym typeface="Arial"/>
              </a:rPr>
              <a:t>: Controls and reduces operational costs.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Capacity Management</a:t>
            </a:r>
            <a:r>
              <a:rPr lang="en">
                <a:solidFill>
                  <a:srgbClr val="0E0E0E"/>
                </a:solidFill>
                <a:latin typeface="Arial"/>
                <a:ea typeface="Arial"/>
                <a:cs typeface="Arial"/>
                <a:sym typeface="Arial"/>
              </a:rPr>
              <a:t>: Ensures adequate resource provisioning.</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Configuration Management</a:t>
            </a:r>
            <a:r>
              <a:rPr lang="en">
                <a:solidFill>
                  <a:srgbClr val="0E0E0E"/>
                </a:solidFill>
                <a:latin typeface="Arial"/>
                <a:ea typeface="Arial"/>
                <a:cs typeface="Arial"/>
                <a:sym typeface="Arial"/>
              </a:rPr>
              <a:t>: Maintains and manages system configurations.</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Data Protection and Recovery</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Protection</a:t>
            </a:r>
            <a:r>
              <a:rPr lang="en">
                <a:solidFill>
                  <a:srgbClr val="0E0E0E"/>
                </a:solidFill>
                <a:latin typeface="Arial"/>
                <a:ea typeface="Arial"/>
                <a:cs typeface="Arial"/>
                <a:sym typeface="Arial"/>
              </a:rPr>
              <a:t>: Safeguards data against loss and breaches.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Disaster Recovery</a:t>
            </a:r>
            <a:r>
              <a:rPr lang="en">
                <a:solidFill>
                  <a:srgbClr val="0E0E0E"/>
                </a:solidFill>
                <a:latin typeface="Arial"/>
                <a:ea typeface="Arial"/>
                <a:cs typeface="Arial"/>
                <a:sym typeface="Arial"/>
              </a:rPr>
              <a:t>: Plans for quick recovery from disruptions.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Disaster Avoidance</a:t>
            </a:r>
            <a:r>
              <a:rPr lang="en">
                <a:solidFill>
                  <a:srgbClr val="0E0E0E"/>
                </a:solidFill>
                <a:latin typeface="Arial"/>
                <a:ea typeface="Arial"/>
                <a:cs typeface="Arial"/>
                <a:sym typeface="Arial"/>
              </a:rPr>
              <a:t>: Proactively prevents potential disasters.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Ransomware Recovery</a:t>
            </a:r>
            <a:r>
              <a:rPr lang="en">
                <a:solidFill>
                  <a:srgbClr val="0E0E0E"/>
                </a:solidFill>
                <a:latin typeface="Arial"/>
                <a:ea typeface="Arial"/>
                <a:cs typeface="Arial"/>
                <a:sym typeface="Arial"/>
              </a:rPr>
              <a:t>: Specialized recovery procedures for ransomware attacks.</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Virtualized Infrastructure</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Compute (vSphere)</a:t>
            </a:r>
            <a:r>
              <a:rPr lang="en">
                <a:solidFill>
                  <a:srgbClr val="0E0E0E"/>
                </a:solidFill>
                <a:latin typeface="Arial"/>
                <a:ea typeface="Arial"/>
                <a:cs typeface="Arial"/>
                <a:sym typeface="Arial"/>
              </a:rPr>
              <a:t>: Provides virtualized computing resources.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Storage (vSAN)</a:t>
            </a:r>
            <a:r>
              <a:rPr lang="en">
                <a:solidFill>
                  <a:srgbClr val="0E0E0E"/>
                </a:solidFill>
                <a:latin typeface="Arial"/>
                <a:ea typeface="Arial"/>
                <a:cs typeface="Arial"/>
                <a:sym typeface="Arial"/>
              </a:rPr>
              <a:t>: Offers scalable storage solutions.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Network (NSX)</a:t>
            </a:r>
            <a:r>
              <a:rPr lang="en">
                <a:solidFill>
                  <a:srgbClr val="0E0E0E"/>
                </a:solidFill>
                <a:latin typeface="Arial"/>
                <a:ea typeface="Arial"/>
                <a:cs typeface="Arial"/>
                <a:sym typeface="Arial"/>
              </a:rPr>
              <a:t>: Delivers comprehensive network virtualization and security.</a:t>
            </a:r>
            <a:endParaRPr/>
          </a:p>
          <a:p>
            <a:pPr marL="0" lvl="0" indent="0" algn="l" rtl="0">
              <a:spcBef>
                <a:spcPts val="0"/>
              </a:spcBef>
              <a:spcAft>
                <a:spcPts val="0"/>
              </a:spcAft>
              <a:buNone/>
            </a:pPr>
            <a:endParaRPr>
              <a:solidFill>
                <a:srgbClr val="0E0E0E"/>
              </a:solidFill>
              <a:latin typeface="Arial"/>
              <a:ea typeface="Arial"/>
              <a:cs typeface="Arial"/>
              <a:sym typeface="Arial"/>
            </a:endParaRPr>
          </a:p>
        </p:txBody>
      </p:sp>
      <p:sp>
        <p:nvSpPr>
          <p:cNvPr id="1579" name="Google Shape;1579;g3604b1193ee_0_320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8"/>
        <p:cNvGrpSpPr/>
        <p:nvPr/>
      </p:nvGrpSpPr>
      <p:grpSpPr>
        <a:xfrm>
          <a:off x="0" y="0"/>
          <a:ext cx="0" cy="0"/>
          <a:chOff x="0" y="0"/>
          <a:chExt cx="0" cy="0"/>
        </a:xfrm>
      </p:grpSpPr>
      <p:sp>
        <p:nvSpPr>
          <p:cNvPr id="1219" name="Google Shape;1219;p1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20" name="Google Shape;1220;p1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p12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27" name="Google Shape;1227;p12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p1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32" name="Google Shape;1232;p1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p1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9" name="Google Shape;1239;p1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1400"/>
              <a:buNone/>
            </a:pPr>
            <a:endParaRPr/>
          </a:p>
        </p:txBody>
      </p:sp>
      <p:sp>
        <p:nvSpPr>
          <p:cNvPr id="1240" name="Google Shape;1240;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p12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7" name="Google Shape;1247;p12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1400"/>
              <a:buNone/>
            </a:pPr>
            <a:endParaRPr/>
          </a:p>
        </p:txBody>
      </p:sp>
      <p:sp>
        <p:nvSpPr>
          <p:cNvPr id="1248" name="Google Shape;1248;p1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1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5" name="Google Shape;1265;p1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1400"/>
              <a:buNone/>
            </a:pPr>
            <a:r>
              <a:rPr lang="en-US"/>
              <a:t># NSX Private-Cloud Model - Rack Layout - Three (3) Compute racks - Edge-Cluster Model - Two (2) rack/fault-domain topology, with a minimum of two (2) hosts for edge compute resources </a:t>
            </a:r>
            <a:br>
              <a:rPr lang="en-US"/>
            </a:br>
            <a:endParaRPr/>
          </a:p>
        </p:txBody>
      </p:sp>
      <p:sp>
        <p:nvSpPr>
          <p:cNvPr id="1266" name="Google Shape;1266;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p1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8" name="Google Shape;1278;p1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1400"/>
              <a:buNone/>
            </a:pPr>
            <a:endParaRPr/>
          </a:p>
        </p:txBody>
      </p:sp>
      <p:sp>
        <p:nvSpPr>
          <p:cNvPr id="1279" name="Google Shape;1279;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p12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94" name="Google Shape;1294;p12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p1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299" name="Google Shape;1299;p1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31F3C-4898-9D39-EC06-38D105165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3304A-84DE-BBC9-48D1-624AD1A64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8C938-09AC-039A-3800-FEE0536C930D}"/>
              </a:ext>
            </a:extLst>
          </p:cNvPr>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Presenter Note – this slide contains animation.</a:t>
            </a:r>
          </a:p>
          <a:p>
            <a:pPr marL="0" indent="0">
              <a:buNone/>
            </a:pPr>
            <a:endParaRPr lang="en-US" sz="1200" b="1" dirty="0">
              <a:solidFill>
                <a:schemeClr val="tx1"/>
              </a:solidFill>
              <a:latin typeface="Arial" panose="020B0604020202020204" pitchFamily="34" charset="0"/>
            </a:endParaRPr>
          </a:p>
          <a:p>
            <a:r>
              <a:rPr lang="en-US" b="1" dirty="0"/>
              <a:t>Key Message:</a:t>
            </a:r>
            <a:br>
              <a:rPr lang="en-US" dirty="0"/>
            </a:br>
            <a:r>
              <a:rPr lang="en-US" dirty="0"/>
              <a:t>VCF Architecture can be defined following three (3) private cloud constructs.</a:t>
            </a:r>
            <a:br>
              <a:rPr lang="en-US" dirty="0"/>
            </a:br>
            <a:br>
              <a:rPr lang="en-US" dirty="0"/>
            </a:br>
            <a:r>
              <a:rPr lang="en-US" b="1" dirty="0"/>
              <a:t>Talk Track:</a:t>
            </a:r>
            <a:br>
              <a:rPr lang="en-US" dirty="0"/>
            </a:br>
            <a:r>
              <a:rPr lang="en-US" dirty="0"/>
              <a:t>In order to understand the constructs of a VCF Private Cloud, you need to be familiar with VCF Instances and VCF Fleets.</a:t>
            </a:r>
            <a:br>
              <a:rPr lang="en-US" dirty="0"/>
            </a:br>
            <a:br>
              <a:rPr lang="en-US" dirty="0"/>
            </a:br>
            <a:r>
              <a:rPr lang="en-US" dirty="0"/>
              <a:t>The first vSphere cluster of a VCF instance is configured as part of a management domain and is used to host the management components. The SDDC Manager appliance is deployed to the management domain.</a:t>
            </a:r>
          </a:p>
          <a:p>
            <a:endParaRPr lang="en-US" dirty="0"/>
          </a:p>
          <a:p>
            <a:r>
              <a:rPr lang="en-US" dirty="0"/>
              <a:t>&lt;click 1&gt;</a:t>
            </a:r>
          </a:p>
          <a:p>
            <a:r>
              <a:rPr lang="en-US" dirty="0"/>
              <a:t>Additional workload domains can be created to scale a deployment which are each configured with their own vCenter server and a single or shared NSX instance.  </a:t>
            </a:r>
          </a:p>
          <a:p>
            <a:endParaRPr lang="en-US" dirty="0"/>
          </a:p>
          <a:p>
            <a:r>
              <a:rPr lang="en-US" dirty="0"/>
              <a:t>&lt;click 2&gt;</a:t>
            </a:r>
          </a:p>
          <a:p>
            <a:r>
              <a:rPr lang="en-US" dirty="0"/>
              <a:t>A VCF Fleet can be comprised of one of more VCF instances and is managed by a single set of fleet-level management components. Fleet management components comprise of a single instance of VCF Operations and a single instance of VCF Automation.  The VCF Operations and VCF Automation instances can be used across all domains within a VCF instance and across one or more VCF instances.  A VCF Fleet can be deployed across a single region or a dual region deployment.</a:t>
            </a:r>
          </a:p>
          <a:p>
            <a:endParaRPr lang="en-US" dirty="0"/>
          </a:p>
          <a:p>
            <a:r>
              <a:rPr lang="en-US" dirty="0"/>
              <a:t>&lt;click 3&gt;</a:t>
            </a:r>
          </a:p>
          <a:p>
            <a:r>
              <a:rPr lang="en-US" dirty="0"/>
              <a:t>A VCF Private Cloud is the highest level of management and consumption for the underlying software defined data center resources.  A VCF Private Cloud can contain one of more VCF Fleets.</a:t>
            </a:r>
            <a:br>
              <a:rPr lang="en-US" dirty="0"/>
            </a:br>
            <a:br>
              <a:rPr lang="en-US" dirty="0"/>
            </a:br>
            <a:r>
              <a:rPr lang="en-US" b="1" dirty="0"/>
              <a:t>Notes:</a:t>
            </a:r>
          </a:p>
          <a:p>
            <a:endParaRPr lang="en-US" dirty="0"/>
          </a:p>
          <a:p>
            <a:r>
              <a:rPr lang="en-US" b="1" dirty="0"/>
              <a:t>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Arial" panose="020B0604020202020204" pitchFamily="34" charset="0"/>
                <a:ea typeface="+mn-ea"/>
                <a:cs typeface="+mn-cs"/>
              </a:rPr>
              <a:t>Refer to the VMware Cloud Foundation Design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US" b="1" dirty="0"/>
          </a:p>
        </p:txBody>
      </p:sp>
      <p:sp>
        <p:nvSpPr>
          <p:cNvPr id="4" name="Slide Number Placeholder 3">
            <a:extLst>
              <a:ext uri="{FF2B5EF4-FFF2-40B4-BE49-F238E27FC236}">
                <a16:creationId xmlns:a16="http://schemas.microsoft.com/office/drawing/2014/main" id="{FE9301D1-A843-E81E-8475-B4357528A6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069550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80AA4-5310-6381-1380-7BC06AA54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DB2D7-57BD-8255-4763-283B298E5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5682C-263F-CC60-C55C-258394F73496}"/>
              </a:ext>
            </a:extLst>
          </p:cNvPr>
          <p:cNvSpPr>
            <a:spLocks noGrp="1"/>
          </p:cNvSpPr>
          <p:nvPr>
            <p:ph type="body" idx="1"/>
          </p:nvPr>
        </p:nvSpPr>
        <p:spPr/>
        <p:txBody>
          <a:bodyPr>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strike="noStrike" kern="1200" baseline="0" dirty="0">
                <a:solidFill>
                  <a:schemeClr val="tx1"/>
                </a:solidFill>
                <a:effectLst/>
                <a:latin typeface="Arial" panose="020B0604020202020204" pitchFamily="34" charset="0"/>
                <a:ea typeface="+mn-ea"/>
                <a:cs typeface="+mn-cs"/>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strike="noStrike" kern="1200" baseline="0" dirty="0">
                <a:solidFill>
                  <a:schemeClr val="tx1"/>
                </a:solidFill>
                <a:effectLst/>
                <a:latin typeface="Arial" panose="020B0604020202020204" pitchFamily="34" charset="0"/>
                <a:ea typeface="+mn-ea"/>
                <a:cs typeface="+mn-cs"/>
              </a:rPr>
              <a:t>Cloud F</a:t>
            </a:r>
            <a:r>
              <a:rPr lang="en-US" sz="1200" u="none" kern="1200" dirty="0" err="1">
                <a:solidFill>
                  <a:schemeClr val="tx1"/>
                </a:solidFill>
                <a:effectLst/>
                <a:latin typeface="Arial" panose="020B0604020202020204" pitchFamily="34" charset="0"/>
                <a:ea typeface="+mn-ea"/>
                <a:cs typeface="+mn-cs"/>
              </a:rPr>
              <a:t>oundation</a:t>
            </a:r>
            <a:r>
              <a:rPr lang="en-US" sz="1200" u="none" kern="1200" dirty="0">
                <a:solidFill>
                  <a:schemeClr val="tx1"/>
                </a:solidFill>
                <a:effectLst/>
                <a:latin typeface="Arial" panose="020B0604020202020204" pitchFamily="34" charset="0"/>
                <a:ea typeface="+mn-ea"/>
                <a:cs typeface="+mn-cs"/>
              </a:rPr>
              <a:t> workload domains and clusters can be deployed and configured in different ways.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tx1"/>
                </a:solidFill>
                <a:effectLst/>
                <a:latin typeface="Arial" panose="020B0604020202020204" pitchFamily="34" charset="0"/>
                <a:ea typeface="+mn-ea"/>
                <a:cs typeface="+mn-cs"/>
              </a:rPr>
              <a:t>Talk Track:</a:t>
            </a: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Arial" panose="020B0604020202020204" pitchFamily="34" charset="0"/>
                <a:ea typeface="+mn-ea"/>
                <a:cs typeface="+mn-cs"/>
              </a:rPr>
              <a:t>Cloud </a:t>
            </a:r>
            <a:r>
              <a:rPr lang="en-US" sz="1200" kern="1200" dirty="0">
                <a:solidFill>
                  <a:schemeClr val="tx1"/>
                </a:solidFill>
                <a:effectLst/>
                <a:latin typeface="Arial" panose="020B0604020202020204" pitchFamily="34" charset="0"/>
                <a:ea typeface="+mn-ea"/>
                <a:cs typeface="+mn-cs"/>
              </a:rPr>
              <a:t>Foundation caters to a mix of different deployment options to support a large variety of customer scenarios.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Arial" panose="020B0604020202020204" pitchFamily="34" charset="0"/>
                <a:ea typeface="+mn-ea"/>
                <a:cs typeface="+mn-cs"/>
              </a:rPr>
              <a:t>A</a:t>
            </a:r>
            <a:r>
              <a:rPr lang="en-US" sz="1200" kern="1200" dirty="0">
                <a:solidFill>
                  <a:schemeClr val="tx1"/>
                </a:solidFill>
                <a:effectLst/>
                <a:latin typeface="Arial" panose="020B0604020202020204" pitchFamily="34" charset="0"/>
                <a:ea typeface="+mn-ea"/>
                <a:cs typeface="+mn-cs"/>
              </a:rPr>
              <a:t> standardized architecture caters to customers who wish to separate their workloads from management components.  Workload domains are deployed to separate hardware running their own separate vCenter server and NSX Manager instances.  Workload domains are each configured with their own SSO instance.  Once a domain is created vCenter Linking can later be configured from VCF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1&gt;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Arial" panose="020B0604020202020204" pitchFamily="34" charset="0"/>
                <a:ea typeface="+mn-ea"/>
                <a:cs typeface="+mn-cs"/>
              </a:rPr>
              <a:t>For smaller deployments, VCF c</a:t>
            </a:r>
            <a:r>
              <a:rPr lang="en-US" sz="1200" kern="1200" dirty="0">
                <a:solidFill>
                  <a:schemeClr val="tx1"/>
                </a:solidFill>
                <a:effectLst/>
                <a:latin typeface="Arial" panose="020B0604020202020204" pitchFamily="34" charset="0"/>
                <a:ea typeface="+mn-ea"/>
                <a:cs typeface="+mn-cs"/>
              </a:rPr>
              <a:t>an be deployed with just a single management domain.  A consolidated deployment contains the management components and is also used to run customer workloads which can be configured on separate clusters.  Resource pools are configured to separate host resources for management and customer workloads.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2&gt;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Workload domains can be deployed across one or more racks within an availability zone.  Clusters can be configured as standard clusters within a single rack…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3&gt;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 or across multiple racks when layer 3 networking is in-place between the racks.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&lt;click 4&gt;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vSAN </a:t>
            </a:r>
            <a:r>
              <a:rPr lang="en-AU" sz="1200" kern="1200" dirty="0">
                <a:solidFill>
                  <a:schemeClr val="tx1"/>
                </a:solidFill>
                <a:effectLst/>
                <a:latin typeface="Arial" panose="020B0604020202020204" pitchFamily="34" charset="0"/>
                <a:ea typeface="+mn-ea"/>
                <a:cs typeface="+mn-cs"/>
              </a:rPr>
              <a:t>stretched clusters can be configured across </a:t>
            </a:r>
            <a:r>
              <a:rPr lang="en-AU" dirty="0">
                <a:effectLst/>
                <a:latin typeface="Arial" panose="020B0604020202020204" pitchFamily="34" charset="0"/>
              </a:rPr>
              <a:t>two (2) sites for active-active availability.   </a:t>
            </a:r>
            <a:r>
              <a:rPr lang="en-US" sz="1200" dirty="0">
                <a:solidFill>
                  <a:schemeClr val="dk2"/>
                </a:solidFill>
                <a:latin typeface="Arial" panose="020B0604020202020204" pitchFamily="34" charset="0"/>
              </a:rPr>
              <a:t>Availability Zones are configured as fault domains that protects VMs in a vSphere cluster leveraging vSAN replication.  vSAN Stretched cluster protects VMs against partial host failures within the clusters, within a single data center and can be used to extend to multiple nearby facilities or buildings.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effectLst/>
                <a:latin typeface="Arial" panose="020B0604020202020204" pitchFamily="34" charset="0"/>
              </a:rPr>
              <a:t>vSAN</a:t>
            </a:r>
            <a:r>
              <a:rPr lang="en-AU" dirty="0">
                <a:effectLst/>
                <a:latin typeface="Arial" panose="020B0604020202020204" pitchFamily="34" charset="0"/>
              </a:rPr>
              <a:t> stretched clusters can be useful for: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effectLst/>
                <a:latin typeface="Arial" panose="020B0604020202020204" pitchFamily="34" charset="0"/>
              </a:rPr>
              <a:t>Performing planned maintenance on an availability zone without any downtime.  Each availability zone is configured as a fault domain.  Applications can be migrated back after the maintenance is completed.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effectLst/>
                <a:latin typeface="Arial" panose="020B0604020202020204" pitchFamily="34" charset="0"/>
              </a:rPr>
              <a:t>Stretching a cluster automatically initiates VM restart and recovery in the case of unplanned failures in either site.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dirty="0">
                <a:effectLst/>
                <a:latin typeface="Arial" panose="020B0604020202020204" pitchFamily="34" charset="0"/>
              </a:rPr>
              <a:t>Disaster avoidance by preventing service outages before an impending disaster.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AU"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effectLst/>
                <a:latin typeface="Arial" panose="020B0604020202020204" pitchFamily="34" charset="0"/>
              </a:rPr>
              <a:t>&lt;click 5&gt;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effectLst/>
                <a:latin typeface="Arial" panose="020B0604020202020204" pitchFamily="34" charset="0"/>
              </a:rPr>
              <a:t>vSAN</a:t>
            </a:r>
            <a:r>
              <a:rPr lang="en-AU" dirty="0">
                <a:effectLst/>
                <a:latin typeface="Arial" panose="020B0604020202020204" pitchFamily="34" charset="0"/>
              </a:rPr>
              <a:t> Storage clusters (formerly </a:t>
            </a:r>
            <a:r>
              <a:rPr lang="en-AU" dirty="0" err="1">
                <a:effectLst/>
                <a:latin typeface="Arial" panose="020B0604020202020204" pitchFamily="34" charset="0"/>
              </a:rPr>
              <a:t>vSAN</a:t>
            </a:r>
            <a:r>
              <a:rPr lang="en-AU" dirty="0">
                <a:effectLst/>
                <a:latin typeface="Arial" panose="020B0604020202020204" pitchFamily="34" charset="0"/>
              </a:rPr>
              <a:t> Max) can also be used to </a:t>
            </a:r>
            <a:r>
              <a:rPr lang="en-AU" b="0" i="0" dirty="0">
                <a:solidFill>
                  <a:srgbClr val="545D7E"/>
                </a:solidFill>
                <a:effectLst/>
                <a:latin typeface="Google Sans"/>
              </a:rPr>
              <a:t>provide highly scalable and flexible disaggregated storage for vSphere clusters, either as primary storage or to augment traditional </a:t>
            </a:r>
            <a:r>
              <a:rPr lang="en-AU" b="0" i="0" dirty="0" err="1">
                <a:solidFill>
                  <a:srgbClr val="545D7E"/>
                </a:solidFill>
                <a:effectLst/>
                <a:latin typeface="Google Sans"/>
              </a:rPr>
              <a:t>vSAN</a:t>
            </a:r>
            <a:r>
              <a:rPr lang="en-AU" b="0" i="0" dirty="0">
                <a:solidFill>
                  <a:srgbClr val="545D7E"/>
                </a:solidFill>
                <a:effectLst/>
                <a:latin typeface="Google Sans"/>
              </a:rPr>
              <a:t> HCI clusters.  </a:t>
            </a:r>
            <a:r>
              <a:rPr lang="en-AU" b="0" i="0" dirty="0" err="1">
                <a:solidFill>
                  <a:srgbClr val="545D7E"/>
                </a:solidFill>
                <a:effectLst/>
                <a:latin typeface="Google Sans"/>
              </a:rPr>
              <a:t>vSAN</a:t>
            </a:r>
            <a:r>
              <a:rPr lang="en-AU" b="0" i="0" dirty="0">
                <a:solidFill>
                  <a:srgbClr val="545D7E"/>
                </a:solidFill>
                <a:effectLst/>
                <a:latin typeface="Google Sans"/>
              </a:rPr>
              <a:t> Compute clusters </a:t>
            </a:r>
            <a:r>
              <a:rPr lang="en-AU" b="0" i="0" dirty="0" err="1">
                <a:solidFill>
                  <a:srgbClr val="545D7E"/>
                </a:solidFill>
                <a:effectLst/>
                <a:latin typeface="Google Sans"/>
              </a:rPr>
              <a:t>caan</a:t>
            </a:r>
            <a:r>
              <a:rPr lang="en-AU" b="0" i="0" dirty="0">
                <a:solidFill>
                  <a:srgbClr val="545D7E"/>
                </a:solidFill>
                <a:effectLst/>
                <a:latin typeface="Google Sans"/>
              </a:rPr>
              <a:t> also be configured to enable vSphere clusters (including non-</a:t>
            </a:r>
            <a:r>
              <a:rPr lang="en-AU" b="0" i="0" dirty="0" err="1">
                <a:solidFill>
                  <a:srgbClr val="545D7E"/>
                </a:solidFill>
                <a:effectLst/>
                <a:latin typeface="Google Sans"/>
              </a:rPr>
              <a:t>vSAN</a:t>
            </a:r>
            <a:r>
              <a:rPr lang="en-AU" b="0" i="0" dirty="0">
                <a:solidFill>
                  <a:srgbClr val="545D7E"/>
                </a:solidFill>
                <a:effectLst/>
                <a:latin typeface="Google Sans"/>
              </a:rPr>
              <a:t> clusters) to consume storage resources from a remote </a:t>
            </a:r>
            <a:r>
              <a:rPr lang="en-AU" b="0" i="0" dirty="0" err="1">
                <a:solidFill>
                  <a:srgbClr val="545D7E"/>
                </a:solidFill>
                <a:effectLst/>
                <a:latin typeface="Google Sans"/>
              </a:rPr>
              <a:t>vSAN</a:t>
            </a:r>
            <a:r>
              <a:rPr lang="en-AU" b="0" i="0" dirty="0">
                <a:solidFill>
                  <a:srgbClr val="545D7E"/>
                </a:solidFill>
                <a:effectLst/>
                <a:latin typeface="Google Sans"/>
              </a:rPr>
              <a:t> cluster.</a:t>
            </a: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Arial" panose="020B0604020202020204" pitchFamily="34" charset="0"/>
                <a:ea typeface="+mn-ea"/>
                <a:cs typeface="+mn-cs"/>
              </a:rPr>
              <a:t>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u="sng" dirty="0">
                <a:effectLst/>
                <a:latin typeface="Arial" panose="020B0604020202020204" pitchFamily="34" charset="0"/>
              </a:rPr>
              <a:t>Additional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dk2"/>
                </a:solidFill>
                <a:latin typeface="Arial" panose="020B0604020202020204" pitchFamily="34" charset="0"/>
              </a:rPr>
              <a:t>A Multi-Availability Zone Deployment Architecture adds additional layer of protections as hosts can stretch among multiple Availability Zone and which provides workload protection if a single Availability Zone is compromised. At the heart of the Multi Availability Zone Deployment is NSX’s ability to create distributed logical networks that seamlessly extend across AZs. By abstracting network functions from underlying hardware, NSX enables organizations to establish consistent network policies and configurations regardless of the physical infrastructure’s location. This allows for the creation of virtual network segments that span multiple AZs.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dirty="0">
                <a:solidFill>
                  <a:schemeClr val="tx1"/>
                </a:solidFill>
                <a:effectLst/>
                <a:latin typeface="Arial" panose="020B0604020202020204" pitchFamily="34" charset="0"/>
                <a:ea typeface="+mn-ea"/>
                <a:cs typeface="+mn-cs"/>
              </a:rPr>
              <a:t>For further information on vCenter Linking please refer to Identity and Access Management section of this presentation.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mn-cs"/>
              </a:rPr>
              <a:t>vSAN</a:t>
            </a:r>
            <a:r>
              <a:rPr lang="en-US" sz="1200" u="none" kern="1200" dirty="0">
                <a:solidFill>
                  <a:schemeClr val="tx1"/>
                </a:solidFill>
                <a:effectLst/>
                <a:latin typeface="Arial" panose="020B0604020202020204" pitchFamily="34" charset="0"/>
                <a:ea typeface="+mn-ea"/>
                <a:cs typeface="+mn-cs"/>
              </a:rPr>
              <a:t> Stretched Cluster will be discussed in more detail in the Stretched Cluster section of this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tx1"/>
                </a:solidFill>
                <a:effectLst/>
                <a:latin typeface="Arial" panose="020B0604020202020204" pitchFamily="34" charset="0"/>
                <a:ea typeface="+mn-ea"/>
                <a:cs typeface="+mn-cs"/>
              </a:rPr>
              <a:t>Resources:</a:t>
            </a:r>
            <a:endParaRPr lang="en-AU" sz="1200" b="1" strike="noStrike" kern="1200" baseline="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strike="noStrike" kern="1200" baseline="0" dirty="0">
                <a:solidFill>
                  <a:schemeClr val="tx1"/>
                </a:solidFill>
                <a:effectLst/>
                <a:latin typeface="Arial" panose="020B0604020202020204" pitchFamily="34" charset="0"/>
                <a:ea typeface="+mn-ea"/>
                <a:cs typeface="+mn-cs"/>
              </a:rPr>
              <a:t>Further detail on Cloud Foundation deployment options is covered in the </a:t>
            </a:r>
            <a:r>
              <a:rPr lang="en-US" sz="1200" baseline="0" dirty="0">
                <a:latin typeface="Arial" panose="020B0604020202020204" pitchFamily="34" charset="0"/>
              </a:rPr>
              <a:t>VMware Cloud Foundation Product Documentation – VMware Cloud Foundation Administration Guide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3"/>
              </a:rPr>
              <a:t>https://docs.vmware.com/en/VMware-Cloud-Foundation/index.html</a:t>
            </a:r>
            <a:r>
              <a:rPr lang="en-US" sz="1800" kern="100" dirty="0">
                <a:effectLst/>
                <a:latin typeface="Arial" panose="020B0604020202020204" pitchFamily="34" charset="0"/>
                <a:ea typeface="Calibri" panose="020F0502020204030204" pitchFamily="34"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spcBef>
                <a:spcPts val="0"/>
              </a:spcBef>
              <a:spcAft>
                <a:spcPts val="0"/>
              </a:spcAft>
            </a:pPr>
            <a:r>
              <a:rPr lang="en-AU" sz="1800" u="none" strike="noStrike" dirty="0">
                <a:solidFill>
                  <a:srgbClr val="000000"/>
                </a:solidFill>
                <a:effectLst/>
                <a:latin typeface="Arial" panose="020B0604020202020204" pitchFamily="34" charset="0"/>
              </a:rPr>
              <a:t>For further information on Cloud Foundation Deployment Options please refer to the VCF Design Guide</a:t>
            </a:r>
          </a:p>
          <a:p>
            <a:pPr marL="0" marR="0" algn="l">
              <a:spcBef>
                <a:spcPts val="0"/>
              </a:spcBef>
              <a:spcAft>
                <a:spcPts val="0"/>
              </a:spcAft>
            </a:pPr>
            <a:r>
              <a:rPr lang="en-AU" sz="1800" u="none" strike="noStrike" dirty="0">
                <a:solidFill>
                  <a:srgbClr val="000000"/>
                </a:solidFill>
                <a:effectLst/>
                <a:latin typeface="Arial" panose="020B0604020202020204" pitchFamily="34" charset="0"/>
                <a:ea typeface="Times New Roman" panose="02020603050405020304" pitchFamily="18" charset="0"/>
                <a:hlinkClick r:id="rId3"/>
              </a:rPr>
              <a:t>https://docs.vmware.com/en/VMware-Cloud-Foundation/index.html</a:t>
            </a:r>
            <a:r>
              <a:rPr lang="en-AU" sz="1800" dirty="0">
                <a:solidFill>
                  <a:srgbClr val="000000"/>
                </a:solidFill>
                <a:effectLst/>
                <a:latin typeface="Arial" panose="020B0604020202020204" pitchFamily="34" charset="0"/>
                <a:ea typeface="Times New Roman" panose="02020603050405020304" pitchFamily="18" charset="0"/>
              </a:rPr>
              <a:t> </a:t>
            </a:r>
            <a:endParaRPr lang="en-AU" sz="1800" u="none" strike="noStrike"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00" dirty="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endParaRPr lang="en-US" sz="1000" kern="1200" dirty="0">
              <a:solidFill>
                <a:schemeClr val="tx1"/>
              </a:solidFill>
              <a:effectLst/>
              <a:latin typeface="Arial" panose="020B0604020202020204" pitchFamily="34" charset="0"/>
              <a:ea typeface="+mn-ea"/>
              <a:cs typeface="+mn-cs"/>
            </a:endParaRPr>
          </a:p>
          <a:p>
            <a:r>
              <a:rPr lang="en-US" sz="1000" kern="1200" dirty="0">
                <a:solidFill>
                  <a:schemeClr val="tx1"/>
                </a:solidFill>
                <a:effectLst/>
                <a:latin typeface="Arial" panose="020B0604020202020204" pitchFamily="34" charset="0"/>
                <a:ea typeface="+mn-ea"/>
                <a:cs typeface="+mn-cs"/>
              </a:rPr>
              <a:t> </a:t>
            </a:r>
            <a:endParaRPr lang="en-US" sz="1000" u="none" kern="1200" dirty="0">
              <a:solidFill>
                <a:schemeClr val="tx1"/>
              </a:solidFill>
              <a:effectLst/>
              <a:latin typeface="Arial" panose="020B0604020202020204" pitchFamily="34" charset="0"/>
              <a:ea typeface="+mn-ea"/>
              <a:cs typeface="+mn-cs"/>
            </a:endParaRPr>
          </a:p>
          <a:p>
            <a:endParaRPr lang="en-US" dirty="0">
              <a:latin typeface="Arial" panose="020B0604020202020204" pitchFamily="34" charset="0"/>
            </a:endParaRPr>
          </a:p>
          <a:p>
            <a:endParaRPr lang="en-US" dirty="0">
              <a:latin typeface="Arial" panose="020B0604020202020204" pitchFamily="34" charset="0"/>
            </a:endParaRPr>
          </a:p>
          <a:p>
            <a:endParaRPr lang="en-US" dirty="0">
              <a:latin typeface="Arial" panose="020B0604020202020204" pitchFamily="34" charset="0"/>
            </a:endParaRPr>
          </a:p>
          <a:p>
            <a:endParaRPr lang="en-US" dirty="0">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578397B0-332C-DE57-9A1E-48310DDC2A95}"/>
              </a:ext>
            </a:extLst>
          </p:cNvPr>
          <p:cNvSpPr>
            <a:spLocks noGrp="1"/>
          </p:cNvSpPr>
          <p:nvPr>
            <p:ph type="sldNum" sz="quarter" idx="5"/>
          </p:nvPr>
        </p:nvSpPr>
        <p:spPr/>
        <p:txBody>
          <a:bodyPr/>
          <a:lstStyle/>
          <a:p>
            <a:fld id="{9F4FBC3A-A12C-40F9-BB8D-BC30C7901396}" type="slidenum">
              <a:rPr lang="en-US" smtClean="0"/>
              <a:pPr/>
              <a:t>23</a:t>
            </a:fld>
            <a:endParaRPr lang="en-US" dirty="0"/>
          </a:p>
        </p:txBody>
      </p:sp>
    </p:spTree>
    <p:extLst>
      <p:ext uri="{BB962C8B-B14F-4D97-AF65-F5344CB8AC3E}">
        <p14:creationId xmlns:p14="http://schemas.microsoft.com/office/powerpoint/2010/main" val="20145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68E13-0275-4E41-35F8-F22FE16B4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6E588-7504-0EB9-10F6-BB06693B5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425B1-4272-616D-FE8F-858925136A3B}"/>
              </a:ext>
            </a:extLst>
          </p:cNvPr>
          <p:cNvSpPr>
            <a:spLocks noGrp="1"/>
          </p:cNvSpPr>
          <p:nvPr>
            <p:ph type="body" idx="1"/>
          </p:nvPr>
        </p:nvSpPr>
        <p:spPr/>
        <p:txBody>
          <a:bodyP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b="1" kern="100" dirty="0">
                <a:effectLst/>
                <a:latin typeface="Arial" panose="020B0604020202020204" pitchFamily="34" charset="0"/>
                <a:ea typeface="Calibri" panose="020F0502020204030204" pitchFamily="34" charset="0"/>
                <a:cs typeface="Arial" panose="020B0604020202020204" pitchFamily="34" charset="0"/>
              </a:rPr>
              <a:t>Key Message: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000" kern="100" dirty="0">
                <a:effectLst/>
                <a:latin typeface="Arial" panose="020B0604020202020204" pitchFamily="34" charset="0"/>
                <a:ea typeface="Calibri" panose="020F0502020204030204" pitchFamily="34" charset="0"/>
                <a:cs typeface="Arial" panose="020B0604020202020204" pitchFamily="34" charset="0"/>
              </a:rPr>
              <a:t>Remote site topologies for VMware Cloud Foundation.</a:t>
            </a:r>
            <a:endParaRPr lang="en-US" sz="1000" u="none" kern="1200" dirty="0">
              <a:solidFill>
                <a:schemeClr val="tx1"/>
              </a:solidFill>
              <a:effectLst/>
              <a:latin typeface="Arial" panose="020B0604020202020204" pitchFamily="34" charset="0"/>
              <a:ea typeface="+mn-ea"/>
              <a:cs typeface="+mn-cs"/>
            </a:endParaRPr>
          </a:p>
          <a:p>
            <a:endParaRPr lang="en-US" sz="1000" b="0" i="0" u="none" strike="noStrike" kern="1200" dirty="0">
              <a:solidFill>
                <a:schemeClr val="tx1"/>
              </a:solidFill>
              <a:effectLst/>
              <a:latin typeface="Metropolis" panose="00000500000000000000" pitchFamily="50" charset="0"/>
              <a:ea typeface="+mn-ea"/>
              <a:cs typeface="+mn-cs"/>
            </a:endParaRPr>
          </a:p>
          <a:p>
            <a:r>
              <a:rPr lang="en-US" sz="1000" b="1" i="0" u="none" strike="noStrike" kern="1200" dirty="0">
                <a:solidFill>
                  <a:schemeClr val="tx1"/>
                </a:solidFill>
                <a:effectLst/>
                <a:latin typeface="Metropolis" panose="00000500000000000000" pitchFamily="50" charset="0"/>
                <a:ea typeface="+mn-ea"/>
                <a:cs typeface="+mn-cs"/>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Cloud Foundation supports the deployment of small workload domains or clusters to remote sites.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This allows customers to </a:t>
            </a:r>
            <a:r>
              <a:rPr kumimoji="0" lang="en-AU" sz="1000" b="0" i="0" u="none" strike="noStrike" kern="1200" cap="none" spc="0" normalizeH="0" baseline="0" noProof="0" dirty="0">
                <a:ln>
                  <a:noFill/>
                </a:ln>
                <a:solidFill>
                  <a:srgbClr val="717074"/>
                </a:solidFill>
                <a:effectLst/>
                <a:uLnTx/>
                <a:uFillTx/>
                <a:latin typeface="Metropolis"/>
                <a:ea typeface="+mn-ea"/>
                <a:cs typeface="+mn-cs"/>
              </a:rPr>
              <a:t>extend their compute processing from their centralized data </a:t>
            </a:r>
            <a:r>
              <a:rPr kumimoji="0" lang="en-AU" sz="1000" b="0" i="0" u="none" strike="noStrike" kern="1200" cap="none" spc="0" normalizeH="0" baseline="0" noProof="0" dirty="0" err="1">
                <a:ln>
                  <a:noFill/>
                </a:ln>
                <a:solidFill>
                  <a:srgbClr val="717074"/>
                </a:solidFill>
                <a:effectLst/>
                <a:uLnTx/>
                <a:uFillTx/>
                <a:latin typeface="Metropolis"/>
                <a:ea typeface="+mn-ea"/>
                <a:cs typeface="+mn-cs"/>
              </a:rPr>
              <a:t>center</a:t>
            </a:r>
            <a:r>
              <a:rPr kumimoji="0" lang="en-AU" sz="1000" b="0" i="0" u="none" strike="noStrike" kern="1200" cap="none" spc="0" normalizeH="0" baseline="0" noProof="0" dirty="0">
                <a:ln>
                  <a:noFill/>
                </a:ln>
                <a:solidFill>
                  <a:srgbClr val="717074"/>
                </a:solidFill>
                <a:effectLst/>
                <a:uLnTx/>
                <a:uFillTx/>
                <a:latin typeface="Metropolis"/>
                <a:ea typeface="+mn-ea"/>
                <a:cs typeface="+mn-cs"/>
              </a:rPr>
              <a:t> to support remote locations/offices.  </a:t>
            </a:r>
            <a:r>
              <a:rPr lang="en-US" sz="1000" dirty="0"/>
              <a:t>The management infrastructure to run these edge sites is shared and runs in the central data center.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Remote sites </a:t>
            </a:r>
            <a:r>
              <a:rPr kumimoji="0" lang="en-AU" sz="1000" b="0" i="0" u="none" strike="noStrike" kern="1200" cap="none" spc="0" normalizeH="0" baseline="0" noProof="0" dirty="0">
                <a:ln>
                  <a:noFill/>
                </a:ln>
                <a:solidFill>
                  <a:srgbClr val="717074"/>
                </a:solidFill>
                <a:effectLst/>
                <a:uLnTx/>
                <a:uFillTx/>
                <a:latin typeface="Metropolis"/>
                <a:ea typeface="+mn-ea"/>
                <a:cs typeface="+mn-cs"/>
              </a:rPr>
              <a:t>provide IT presence through centralized management without extra staffing. </a:t>
            </a:r>
            <a:r>
              <a:rPr kumimoji="0" lang="en-US" sz="1000" b="0" i="0" u="none" strike="noStrike" kern="1200" cap="none" spc="0" normalizeH="0" baseline="0" noProof="0" dirty="0">
                <a:ln>
                  <a:noFill/>
                </a:ln>
                <a:solidFill>
                  <a:srgbClr val="717074"/>
                </a:solidFill>
                <a:effectLst/>
                <a:uLnTx/>
                <a:uFillTx/>
                <a:latin typeface="Metropolis"/>
                <a:ea typeface="+mn-ea"/>
                <a:cs typeface="+mn-cs"/>
              </a:rPr>
              <a:t>Customers can position infrastructure close to remote applications to minimize latency and overheads.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dirty="0">
              <a:solidFill>
                <a:srgbClr val="717074"/>
              </a:solidFill>
              <a:effectLst/>
              <a:latin typeface="Metropoli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With each approach, VCF Operations is used at the central site to perform fleet management operations which includes password &amp; certificate management and lifecycle management/upgrade and patching operations for each remote site.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u="sng" noProof="0" dirty="0">
                <a:solidFill>
                  <a:srgbClr val="1B1E35"/>
                </a:solidFill>
                <a:latin typeface="Arial" panose="020B0604020202020204" pitchFamily="34" charset="0"/>
              </a:rPr>
              <a:t>C</a:t>
            </a:r>
            <a:r>
              <a:rPr lang="en-US" sz="1000" b="0" u="sng" dirty="0" err="1">
                <a:solidFill>
                  <a:srgbClr val="1B1E35"/>
                </a:solidFill>
                <a:latin typeface="Arial" panose="020B0604020202020204" pitchFamily="34" charset="0"/>
              </a:rPr>
              <a:t>onfigure</a:t>
            </a:r>
            <a:r>
              <a:rPr lang="en-US" sz="1000" b="0" u="sng" dirty="0">
                <a:solidFill>
                  <a:srgbClr val="1B1E35"/>
                </a:solidFill>
                <a:latin typeface="Arial" panose="020B0604020202020204" pitchFamily="34" charset="0"/>
              </a:rPr>
              <a:t> a Remote Workload Domain:</a:t>
            </a:r>
            <a:endParaRPr lang="en-US" sz="1000" b="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Initially the remote domain is composed with the vCenter Server located at the remote site.  When configuring vCenter Linking the vCenter Server can be managed from the central data center.  This can be handy for organizations which don’t have remote IT 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Each remote site is configured with a domain and a single vSphere cluster.</a:t>
            </a:r>
            <a:br>
              <a:rPr lang="en-US" sz="1000" b="0" dirty="0">
                <a:latin typeface="Arial" panose="020B0604020202020204" pitchFamily="34" charset="0"/>
              </a:rPr>
            </a:br>
            <a:r>
              <a:rPr lang="en-US" sz="1000" b="0" dirty="0">
                <a:latin typeface="Arial" panose="020B0604020202020204" pitchFamily="34" charset="0"/>
              </a:rPr>
              <a:t>A separate NSX instance is deployed per domain providing a full SDN solution with overlay networking.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dirty="0">
              <a:solidFill>
                <a:srgbClr val="717074"/>
              </a:solidFill>
              <a:effectLst/>
              <a:latin typeface="Metropoli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sng" kern="1200" cap="none" spc="0" normalizeH="0" baseline="0" noProof="0" dirty="0">
                <a:ln>
                  <a:noFill/>
                </a:ln>
                <a:solidFill>
                  <a:srgbClr val="1B1E35"/>
                </a:solidFill>
                <a:effectLst/>
                <a:uLnTx/>
                <a:uFillTx/>
                <a:latin typeface="Arial" panose="020B0604020202020204" pitchFamily="34" charset="0"/>
              </a:rPr>
              <a:t>Configure at remote Cluster.</a:t>
            </a:r>
            <a:br>
              <a:rPr lang="en-US" sz="1000" b="0" dirty="0">
                <a:latin typeface="Arial" panose="020B0604020202020204" pitchFamily="34" charset="0"/>
              </a:rPr>
            </a:br>
            <a:r>
              <a:rPr lang="en-US" sz="1000" b="0" dirty="0">
                <a:latin typeface="Arial" panose="020B0604020202020204" pitchFamily="34" charset="0"/>
              </a:rPr>
              <a:t>With this approach the vCenter Server is co-located with the cluster at the remote site where it can be managed remotely.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Each domain can be composed with multiple clusters per site and each domain can consist of clusters configured across multiple sites.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latin typeface="Arial" panose="020B0604020202020204" pitchFamily="34" charset="0"/>
              </a:rPr>
              <a:t>When configuring a remote cluster in this way vSphere Networking is used.</a:t>
            </a:r>
            <a:br>
              <a:rPr lang="en-US" sz="1000" b="0" dirty="0">
                <a:latin typeface="Arial" panose="020B0604020202020204" pitchFamily="34" charset="0"/>
              </a:rPr>
            </a:br>
            <a:endParaRPr lang="en-US" sz="1000" b="1" i="0" u="none" strike="noStrike" kern="1200" dirty="0">
              <a:solidFill>
                <a:schemeClr val="tx1"/>
              </a:solidFill>
              <a:effectLst/>
              <a:latin typeface="Metropolis" panose="00000500000000000000" pitchFamily="50" charset="0"/>
              <a:ea typeface="+mn-ea"/>
              <a:cs typeface="+mn-cs"/>
            </a:endParaRPr>
          </a:p>
          <a:p>
            <a:r>
              <a:rPr lang="en-US" sz="1000" b="1" i="0" u="none" strike="noStrike" kern="1200" dirty="0">
                <a:solidFill>
                  <a:schemeClr val="tx1"/>
                </a:solidFill>
                <a:effectLst/>
                <a:latin typeface="Metropolis" panose="00000500000000000000" pitchFamily="50" charset="0"/>
                <a:ea typeface="+mn-ea"/>
                <a:cs typeface="+mn-cs"/>
              </a:rPr>
              <a:t>Additional Information:</a:t>
            </a:r>
          </a:p>
          <a:p>
            <a:r>
              <a:rPr lang="en-US" sz="1000" b="0" i="0" u="none" strike="noStrike" kern="1200" dirty="0">
                <a:solidFill>
                  <a:schemeClr val="tx1"/>
                </a:solidFill>
                <a:effectLst/>
                <a:latin typeface="Metropolis" panose="00000500000000000000" pitchFamily="50" charset="0"/>
                <a:ea typeface="+mn-ea"/>
                <a:cs typeface="+mn-cs"/>
              </a:rPr>
              <a:t>Example use cases:</a:t>
            </a:r>
          </a:p>
          <a:p>
            <a:r>
              <a:rPr lang="en-US" sz="1000" dirty="0"/>
              <a:t>o   Video Surveillance</a:t>
            </a:r>
          </a:p>
          <a:p>
            <a:r>
              <a:rPr lang="en-US" sz="1000" dirty="0"/>
              <a:t>o   Point of Sales Retail</a:t>
            </a:r>
          </a:p>
          <a:p>
            <a:r>
              <a:rPr lang="en-US" sz="1000" dirty="0"/>
              <a:t>o   Federal: mobile battlefield</a:t>
            </a:r>
          </a:p>
          <a:p>
            <a:r>
              <a:rPr lang="en-US" sz="1000" dirty="0"/>
              <a:t>o   SLED: distributed citizen engagement </a:t>
            </a:r>
          </a:p>
          <a:p>
            <a:pPr>
              <a:buNone/>
            </a:pPr>
            <a:r>
              <a:rPr lang="en-US" sz="1000" dirty="0"/>
              <a:t>o   Distributed Healthcare </a:t>
            </a:r>
          </a:p>
          <a:p>
            <a:r>
              <a:rPr lang="en-US" sz="1000" dirty="0"/>
              <a:t>o   Oil and Gas Exploration</a:t>
            </a:r>
          </a:p>
          <a:p>
            <a:r>
              <a:rPr lang="en-US" sz="1000" dirty="0"/>
              <a:t>o   Academic: Distributed Education and Research Computing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u="non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u="none" kern="1200" dirty="0">
                <a:solidFill>
                  <a:schemeClr val="tx1"/>
                </a:solidFill>
                <a:effectLst/>
                <a:latin typeface="Arial" panose="020B0604020202020204" pitchFamily="34" charset="0"/>
                <a:ea typeface="+mn-ea"/>
                <a:cs typeface="+mn-cs"/>
              </a:rPr>
              <a:t>Notes: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AU" sz="1000" b="0" dirty="0"/>
              <a:t>Remote sites are not initially configured using VCF Operations / SDDC Manager.  Follow the VCF documentation to deploy a remote cluster or workload domain.</a:t>
            </a:r>
            <a:endParaRPr lang="en-US" sz="800" b="0" kern="1200" dirty="0">
              <a:solidFill>
                <a:schemeClr val="tx1"/>
              </a:solidFill>
              <a:effectLst/>
              <a:latin typeface="Arial" panose="020B0604020202020204" pitchFamily="34" charset="0"/>
              <a:ea typeface="+mn-ea"/>
              <a:cs typeface="+mn-cs"/>
            </a:endParaRPr>
          </a:p>
          <a:p>
            <a:pPr marL="171450" indent="-171450">
              <a:buFontTx/>
              <a:buChar char="-"/>
            </a:pPr>
            <a:r>
              <a:rPr lang="en-US" sz="1000" dirty="0">
                <a:latin typeface="Arial" panose="020B0604020202020204" pitchFamily="34" charset="0"/>
              </a:rPr>
              <a:t>VCF remote site topology connectivity requirements:</a:t>
            </a:r>
            <a:br>
              <a:rPr lang="en-US" sz="1000" dirty="0">
                <a:latin typeface="Arial" panose="020B0604020202020204" pitchFamily="34" charset="0"/>
              </a:rPr>
            </a:br>
            <a:r>
              <a:rPr lang="en-US" sz="1000" dirty="0">
                <a:latin typeface="Arial" panose="020B0604020202020204" pitchFamily="34" charset="0"/>
              </a:rPr>
              <a:t>- 10MBps min connectivity between sites</a:t>
            </a:r>
            <a:br>
              <a:rPr lang="en-US" sz="1000" dirty="0">
                <a:latin typeface="Arial" panose="020B0604020202020204" pitchFamily="34" charset="0"/>
              </a:rPr>
            </a:br>
            <a:r>
              <a:rPr lang="en-US" sz="1000" dirty="0">
                <a:latin typeface="Arial" panose="020B0604020202020204" pitchFamily="34" charset="0"/>
              </a:rPr>
              <a:t>- Less than 100ms latency between sites. </a:t>
            </a:r>
            <a:br>
              <a:rPr lang="en-US" sz="1000" dirty="0">
                <a:latin typeface="Arial" panose="020B0604020202020204" pitchFamily="34" charset="0"/>
              </a:rPr>
            </a:br>
            <a:r>
              <a:rPr lang="en-US" sz="1000" dirty="0">
                <a:latin typeface="Arial" panose="020B0604020202020204" pitchFamily="34" charset="0"/>
              </a:rPr>
              <a:t>- Two (2) connections between each site is also recommended.</a:t>
            </a:r>
            <a:endParaRPr lang="en-US" sz="1000" u="none" kern="1200" dirty="0">
              <a:solidFill>
                <a:schemeClr val="tx1"/>
              </a:solidFill>
              <a:effectLst/>
              <a:latin typeface="Arial" panose="020B0604020202020204" pitchFamily="34" charset="0"/>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000" u="none" strike="noStrike" kern="1200" dirty="0">
                <a:solidFill>
                  <a:schemeClr val="tx1"/>
                </a:solidFill>
                <a:effectLst/>
                <a:latin typeface="Arial" panose="020B0604020202020204" pitchFamily="34" charset="0"/>
                <a:ea typeface="+mn-ea"/>
                <a:cs typeface="+mn-cs"/>
              </a:rPr>
              <a:t>- A remote cluster configured with vSAN can be configured using 3 - 16 nodes.</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000" u="none" strike="noStrike" kern="1200" dirty="0">
                <a:solidFill>
                  <a:schemeClr val="tx1"/>
                </a:solidFill>
                <a:effectLst/>
                <a:latin typeface="Arial" panose="020B0604020202020204" pitchFamily="34" charset="0"/>
                <a:ea typeface="+mn-ea"/>
                <a:cs typeface="+mn-cs"/>
              </a:rPr>
              <a:t>- A remote cluster can be configured with NFS or VMFS on FC as Principal storage with 2 - 16 nodes.</a:t>
            </a:r>
            <a:endParaRPr lang="en-US" sz="800" u="none" strike="noStrike" kern="1200" dirty="0">
              <a:solidFill>
                <a:schemeClr val="tx1"/>
              </a:solidFill>
              <a:effectLst/>
              <a:latin typeface="Arial" panose="020B0604020202020204" pitchFamily="34" charset="0"/>
              <a:ea typeface="+mn-ea"/>
              <a:cs typeface="+mn-cs"/>
            </a:endParaRPr>
          </a:p>
          <a:p>
            <a:pPr marL="171450" marR="0" lvl="0" indent="-171450" algn="l" defTabSz="914400" rtl="0" eaLnBrk="1" fontAlgn="base" latinLnBrk="0" hangingPunct="1">
              <a:lnSpc>
                <a:spcPct val="100000"/>
              </a:lnSpc>
              <a:spcBef>
                <a:spcPts val="0"/>
              </a:spcBef>
              <a:spcAft>
                <a:spcPts val="0"/>
              </a:spcAft>
              <a:buClrTx/>
              <a:buSzTx/>
              <a:buFontTx/>
              <a:buChar char="-"/>
              <a:tabLst/>
              <a:defRPr/>
            </a:pPr>
            <a:r>
              <a:rPr lang="en-AU" sz="1000" dirty="0">
                <a:solidFill>
                  <a:srgbClr val="565656"/>
                </a:solidFill>
                <a:effectLst/>
                <a:latin typeface="Arial" panose="020B0604020202020204" pitchFamily="34" charset="0"/>
              </a:rPr>
              <a:t>VMware Kubernetes Service (VKS) can be configured on a cluster deployed at a remote site. </a:t>
            </a:r>
            <a:r>
              <a:rPr lang="en-US" sz="800" u="none" kern="1200" dirty="0">
                <a:solidFill>
                  <a:schemeClr val="tx1"/>
                </a:solidFill>
                <a:effectLst/>
                <a:latin typeface="Arial" panose="020B0604020202020204" pitchFamily="34" charset="0"/>
                <a:ea typeface="+mn-ea"/>
                <a:cs typeface="+mn-cs"/>
              </a:rPr>
              <a:t> </a:t>
            </a:r>
            <a:br>
              <a:rPr lang="en-US" sz="800" u="none" kern="1200" dirty="0">
                <a:solidFill>
                  <a:schemeClr val="tx1"/>
                </a:solidFill>
                <a:effectLst/>
                <a:latin typeface="Arial" panose="020B0604020202020204" pitchFamily="34" charset="0"/>
                <a:ea typeface="+mn-ea"/>
                <a:cs typeface="+mn-cs"/>
              </a:rPr>
            </a:br>
            <a:r>
              <a:rPr lang="en-US" sz="800" u="none" kern="1200" dirty="0">
                <a:solidFill>
                  <a:schemeClr val="tx1"/>
                </a:solidFill>
                <a:effectLst/>
                <a:latin typeface="Arial" panose="020B0604020202020204" pitchFamily="34" charset="0"/>
                <a:ea typeface="+mn-ea"/>
                <a:cs typeface="+mn-cs"/>
              </a:rPr>
              <a:t>- </a:t>
            </a:r>
            <a:r>
              <a:rPr lang="en-US" sz="800" dirty="0">
                <a:latin typeface="Arial" panose="020B0604020202020204" pitchFamily="34" charset="0"/>
              </a:rPr>
              <a:t>vCenter Server is used to perform scaling operations for remote workload domains and remote clusters.</a:t>
            </a:r>
          </a:p>
          <a:p>
            <a:pPr marL="171450" marR="0" lvl="0" indent="-171450" algn="l" defTabSz="914400" rtl="0" eaLnBrk="1" fontAlgn="base" latinLnBrk="0" hangingPunct="1">
              <a:lnSpc>
                <a:spcPct val="100000"/>
              </a:lnSpc>
              <a:spcBef>
                <a:spcPts val="0"/>
              </a:spcBef>
              <a:spcAft>
                <a:spcPts val="0"/>
              </a:spcAft>
              <a:buClrTx/>
              <a:buSzTx/>
              <a:buFontTx/>
              <a:buChar char="-"/>
              <a:tabLst/>
              <a:defRPr/>
            </a:pPr>
            <a:r>
              <a:rPr lang="en-US" sz="800" dirty="0">
                <a:latin typeface="Arial" panose="020B0604020202020204" pitchFamily="34" charset="0"/>
              </a:rPr>
              <a:t>Customers can choose to use </a:t>
            </a:r>
            <a:r>
              <a:rPr lang="en-US" sz="1000" dirty="0"/>
              <a:t>VCF Edge licensing with 10 or more sites.</a:t>
            </a:r>
          </a:p>
          <a:p>
            <a:pPr marL="171450" marR="0" lvl="0" indent="-171450" algn="l" defTabSz="914400" rtl="0" eaLnBrk="1" fontAlgn="base" latinLnBrk="0" hangingPunct="1">
              <a:lnSpc>
                <a:spcPct val="100000"/>
              </a:lnSpc>
              <a:spcBef>
                <a:spcPts val="0"/>
              </a:spcBef>
              <a:spcAft>
                <a:spcPts val="0"/>
              </a:spcAft>
              <a:buClrTx/>
              <a:buSzTx/>
              <a:buFontTx/>
              <a:buChar char="-"/>
              <a:tabLst/>
              <a:defRPr/>
            </a:pPr>
            <a:r>
              <a:rPr lang="en-US" sz="1000" dirty="0"/>
              <a:t>A remote cluster or workload domain is not to be confused with VCF Edge (see appendix)</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000" u="none" kern="1200" dirty="0">
              <a:solidFill>
                <a:schemeClr val="tx1"/>
              </a:solidFill>
              <a:effectLst/>
              <a:latin typeface="Arial" panose="020B0604020202020204" pitchFamily="34" charset="0"/>
              <a:ea typeface="+mn-ea"/>
              <a:cs typeface="+mn-cs"/>
            </a:endParaRPr>
          </a:p>
          <a:p>
            <a:r>
              <a:rPr lang="en-US" sz="1000" b="1" u="none" strike="noStrike" kern="1200" dirty="0">
                <a:solidFill>
                  <a:schemeClr val="tx1"/>
                </a:solidFill>
                <a:effectLst/>
                <a:latin typeface="Arial" panose="020B0604020202020204" pitchFamily="34" charset="0"/>
                <a:ea typeface="+mn-ea"/>
                <a:cs typeface="+mn-cs"/>
              </a:rPr>
              <a:t>Resources:</a:t>
            </a:r>
            <a:endParaRPr lang="en-US" sz="10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000" strike="noStrike" kern="1200" baseline="0" dirty="0">
                <a:solidFill>
                  <a:schemeClr val="tx1"/>
                </a:solidFill>
                <a:effectLst/>
                <a:latin typeface="Arial" panose="020B0604020202020204" pitchFamily="34" charset="0"/>
                <a:ea typeface="+mn-ea"/>
                <a:cs typeface="+mn-cs"/>
              </a:rPr>
              <a:t>Further detail on VCF deployment topologies and additional deployment scenarios are discussed in this whitepaper:</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DCA10D"/>
                </a:solidFill>
                <a:effectLst/>
                <a:latin typeface="Arial" panose="020B0604020202020204" pitchFamily="34" charset="0"/>
                <a:hlinkClick r:id="rId3"/>
              </a:rPr>
              <a:t>ttps://www.vmware.com/docs/vcf-edge-considerations-white-paper</a:t>
            </a:r>
            <a:r>
              <a:rPr lang="en-AU" sz="1200" dirty="0">
                <a:solidFill>
                  <a:srgbClr val="000000"/>
                </a:solidFill>
                <a:effectLst/>
                <a:latin typeface="Arial" panose="020B0604020202020204" pitchFamily="34" charset="0"/>
              </a:rPr>
              <a:t> </a:t>
            </a:r>
            <a:endParaRPr lang="en-AU" sz="1200" dirty="0">
              <a:solidFill>
                <a:srgbClr val="DCA10D"/>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spcBef>
                <a:spcPts val="0"/>
              </a:spcBef>
              <a:spcAft>
                <a:spcPts val="0"/>
              </a:spcAft>
            </a:pPr>
            <a:r>
              <a:rPr lang="en-AU" sz="1000" u="none" strike="noStrike" dirty="0">
                <a:solidFill>
                  <a:srgbClr val="000000"/>
                </a:solidFill>
                <a:effectLst/>
                <a:latin typeface="Arial" panose="020B0604020202020204" pitchFamily="34" charset="0"/>
              </a:rPr>
              <a:t>For further information on Cloud Foundation Deployment Options please refer to the VCF Design Guide</a:t>
            </a:r>
          </a:p>
          <a:p>
            <a:pPr marL="0" marR="0" algn="l">
              <a:spcBef>
                <a:spcPts val="0"/>
              </a:spcBef>
              <a:spcAft>
                <a:spcPts val="0"/>
              </a:spcAft>
            </a:pPr>
            <a:r>
              <a:rPr lang="en-AU" sz="1000" u="none" strike="noStrike" dirty="0">
                <a:solidFill>
                  <a:srgbClr val="000000"/>
                </a:solidFill>
                <a:effectLst/>
                <a:latin typeface="Arial" panose="020B0604020202020204" pitchFamily="34" charset="0"/>
                <a:ea typeface="Times New Roman" panose="02020603050405020304" pitchFamily="18" charset="0"/>
                <a:hlinkClick r:id="rId4"/>
              </a:rPr>
              <a:t>https://docs.vmware.com/en/VMware-Cloud-Foundation/index.html</a:t>
            </a:r>
            <a:r>
              <a:rPr lang="en-AU" sz="1000" dirty="0">
                <a:solidFill>
                  <a:srgbClr val="000000"/>
                </a:solidFill>
                <a:effectLst/>
                <a:latin typeface="Arial" panose="020B0604020202020204" pitchFamily="34" charset="0"/>
                <a:ea typeface="Times New Roman" panose="02020603050405020304" pitchFamily="18" charset="0"/>
              </a:rPr>
              <a:t> </a:t>
            </a:r>
          </a:p>
          <a:p>
            <a:pPr marL="0" marR="0" algn="l">
              <a:spcBef>
                <a:spcPts val="0"/>
              </a:spcBef>
              <a:spcAft>
                <a:spcPts val="0"/>
              </a:spcAft>
            </a:pPr>
            <a:endParaRPr lang="en-AU" sz="1000" u="none" strike="noStrike"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800" strike="noStrike" kern="1200" baseline="0" dirty="0">
                <a:solidFill>
                  <a:schemeClr val="tx1"/>
                </a:solidFill>
                <a:effectLst/>
                <a:latin typeface="Arial" panose="020B0604020202020204" pitchFamily="34" charset="0"/>
                <a:ea typeface="+mn-ea"/>
                <a:cs typeface="+mn-cs"/>
              </a:rPr>
              <a:t>Further detail on Cloud Foundation deployment options is covered in the </a:t>
            </a:r>
            <a:r>
              <a:rPr lang="en-US" sz="1000" baseline="0" dirty="0">
                <a:latin typeface="Arial" panose="020B0604020202020204" pitchFamily="34" charset="0"/>
              </a:rPr>
              <a:t>VMware Cloud Foundation Product Documentation – VMware Cloud Foundation Administration Guide.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4"/>
              </a:rPr>
              <a:t>https://docs.vmware.com/en/VMware-Cloud-Foundation/index.html</a:t>
            </a:r>
            <a:r>
              <a:rPr lang="en-US" sz="1000" kern="100" dirty="0">
                <a:effectLst/>
                <a:latin typeface="Arial" panose="020B0604020202020204" pitchFamily="34" charset="0"/>
                <a:ea typeface="Calibri" panose="020F0502020204030204" pitchFamily="34"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spcBef>
                <a:spcPts val="0"/>
              </a:spcBef>
              <a:spcAft>
                <a:spcPts val="0"/>
              </a:spcAft>
            </a:pPr>
            <a:endParaRPr lang="en-AU" sz="100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424F8DF9-0A13-8092-A7A0-86729BC5B7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770776E-22B7-5A48-A822-6E197F7DC09D}" type="slidenum">
              <a:rPr kumimoji="0" lang="en-US" sz="1200" u="none" strike="noStrike" kern="1200" cap="none" spc="0" normalizeH="0" baseline="0" noProof="0" smtClean="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648340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p13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40" name="Google Shape;1440;p13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p3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45" name="Google Shape;1445;p3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p46:notes"/>
          <p:cNvSpPr txBox="1">
            <a:spLocks noGrp="1"/>
          </p:cNvSpPr>
          <p:nvPr>
            <p:ph type="body" idx="1"/>
          </p:nvPr>
        </p:nvSpPr>
        <p:spPr>
          <a:xfrm>
            <a:off x="457200" y="3810000"/>
            <a:ext cx="5943600" cy="4876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89" name="Google Shape;1589;p4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
        <p:cNvGrpSpPr/>
        <p:nvPr/>
      </p:nvGrpSpPr>
      <p:grpSpPr>
        <a:xfrm>
          <a:off x="0" y="0"/>
          <a:ext cx="0" cy="0"/>
          <a:chOff x="0" y="0"/>
          <a:chExt cx="0" cy="0"/>
        </a:xfrm>
      </p:grpSpPr>
      <p:sp>
        <p:nvSpPr>
          <p:cNvPr id="1451" name="Google Shape;1451;p4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2" name="Google Shape;1452;p4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p:cNvGrpSpPr/>
        <p:nvPr/>
      </p:nvGrpSpPr>
      <p:grpSpPr>
        <a:xfrm>
          <a:off x="0" y="0"/>
          <a:ext cx="0" cy="0"/>
          <a:chOff x="0" y="0"/>
          <a:chExt cx="0" cy="0"/>
        </a:xfrm>
      </p:grpSpPr>
      <p:sp>
        <p:nvSpPr>
          <p:cNvPr id="1458" name="Google Shape;1458;p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9" name="Google Shape;1459;p4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a:extLst>
            <a:ext uri="{FF2B5EF4-FFF2-40B4-BE49-F238E27FC236}">
              <a16:creationId xmlns:a16="http://schemas.microsoft.com/office/drawing/2014/main" id="{17395AE9-2584-18F0-8A14-75BCDFEC03A3}"/>
            </a:ext>
          </a:extLst>
        </p:cNvPr>
        <p:cNvGrpSpPr/>
        <p:nvPr/>
      </p:nvGrpSpPr>
      <p:grpSpPr>
        <a:xfrm>
          <a:off x="0" y="0"/>
          <a:ext cx="0" cy="0"/>
          <a:chOff x="0" y="0"/>
          <a:chExt cx="0" cy="0"/>
        </a:xfrm>
      </p:grpSpPr>
      <p:sp>
        <p:nvSpPr>
          <p:cNvPr id="1458" name="Google Shape;1458;p41:notes">
            <a:extLst>
              <a:ext uri="{FF2B5EF4-FFF2-40B4-BE49-F238E27FC236}">
                <a16:creationId xmlns:a16="http://schemas.microsoft.com/office/drawing/2014/main" id="{DF007D98-D7A4-3EE8-4553-197A70FF7EC9}"/>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9" name="Google Shape;1459;p41:notes">
            <a:extLst>
              <a:ext uri="{FF2B5EF4-FFF2-40B4-BE49-F238E27FC236}">
                <a16:creationId xmlns:a16="http://schemas.microsoft.com/office/drawing/2014/main" id="{51C0C134-90F2-D763-F2D5-7E1D8C05DA9C}"/>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79772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a:extLst>
            <a:ext uri="{FF2B5EF4-FFF2-40B4-BE49-F238E27FC236}">
              <a16:creationId xmlns:a16="http://schemas.microsoft.com/office/drawing/2014/main" id="{D4EB6486-AB6F-7ABB-2E52-D0148F11922C}"/>
            </a:ext>
          </a:extLst>
        </p:cNvPr>
        <p:cNvGrpSpPr/>
        <p:nvPr/>
      </p:nvGrpSpPr>
      <p:grpSpPr>
        <a:xfrm>
          <a:off x="0" y="0"/>
          <a:ext cx="0" cy="0"/>
          <a:chOff x="0" y="0"/>
          <a:chExt cx="0" cy="0"/>
        </a:xfrm>
      </p:grpSpPr>
      <p:sp>
        <p:nvSpPr>
          <p:cNvPr id="1458" name="Google Shape;1458;p41:notes">
            <a:extLst>
              <a:ext uri="{FF2B5EF4-FFF2-40B4-BE49-F238E27FC236}">
                <a16:creationId xmlns:a16="http://schemas.microsoft.com/office/drawing/2014/main" id="{29C3340C-89DB-4E15-57FD-AFCD452C0886}"/>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9" name="Google Shape;1459;p41:notes">
            <a:extLst>
              <a:ext uri="{FF2B5EF4-FFF2-40B4-BE49-F238E27FC236}">
                <a16:creationId xmlns:a16="http://schemas.microsoft.com/office/drawing/2014/main" id="{54EFD09B-E2E0-3409-3006-7BFD71CB49BF}"/>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959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a:extLst>
            <a:ext uri="{FF2B5EF4-FFF2-40B4-BE49-F238E27FC236}">
              <a16:creationId xmlns:a16="http://schemas.microsoft.com/office/drawing/2014/main" id="{26A82D56-11D4-2988-5B7F-EE9965CDB7E5}"/>
            </a:ext>
          </a:extLst>
        </p:cNvPr>
        <p:cNvGrpSpPr/>
        <p:nvPr/>
      </p:nvGrpSpPr>
      <p:grpSpPr>
        <a:xfrm>
          <a:off x="0" y="0"/>
          <a:ext cx="0" cy="0"/>
          <a:chOff x="0" y="0"/>
          <a:chExt cx="0" cy="0"/>
        </a:xfrm>
      </p:grpSpPr>
      <p:sp>
        <p:nvSpPr>
          <p:cNvPr id="1458" name="Google Shape;1458;p41:notes">
            <a:extLst>
              <a:ext uri="{FF2B5EF4-FFF2-40B4-BE49-F238E27FC236}">
                <a16:creationId xmlns:a16="http://schemas.microsoft.com/office/drawing/2014/main" id="{EE6C62AE-4E3F-DEE8-A650-EE670E32CDDB}"/>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59" name="Google Shape;1459;p41:notes">
            <a:extLst>
              <a:ext uri="{FF2B5EF4-FFF2-40B4-BE49-F238E27FC236}">
                <a16:creationId xmlns:a16="http://schemas.microsoft.com/office/drawing/2014/main" id="{E054D973-965F-6B2B-0153-93549BB91D0D}"/>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18987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3">
          <a:extLst>
            <a:ext uri="{FF2B5EF4-FFF2-40B4-BE49-F238E27FC236}">
              <a16:creationId xmlns:a16="http://schemas.microsoft.com/office/drawing/2014/main" id="{3E161EE4-6932-436C-3ECD-D57D5649BC0B}"/>
            </a:ext>
          </a:extLst>
        </p:cNvPr>
        <p:cNvGrpSpPr/>
        <p:nvPr/>
      </p:nvGrpSpPr>
      <p:grpSpPr>
        <a:xfrm>
          <a:off x="0" y="0"/>
          <a:ext cx="0" cy="0"/>
          <a:chOff x="0" y="0"/>
          <a:chExt cx="0" cy="0"/>
        </a:xfrm>
      </p:grpSpPr>
      <p:sp>
        <p:nvSpPr>
          <p:cNvPr id="1484" name="Google Shape;1484;p133:notes">
            <a:extLst>
              <a:ext uri="{FF2B5EF4-FFF2-40B4-BE49-F238E27FC236}">
                <a16:creationId xmlns:a16="http://schemas.microsoft.com/office/drawing/2014/main" id="{2671B3D6-6AFA-1269-2DD3-98A06322B7B9}"/>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85" name="Google Shape;1485;p133:notes">
            <a:extLst>
              <a:ext uri="{FF2B5EF4-FFF2-40B4-BE49-F238E27FC236}">
                <a16:creationId xmlns:a16="http://schemas.microsoft.com/office/drawing/2014/main" id="{C92319CD-E0D1-CE1F-7712-FCD799447F27}"/>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91527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a:extLst>
            <a:ext uri="{FF2B5EF4-FFF2-40B4-BE49-F238E27FC236}">
              <a16:creationId xmlns:a16="http://schemas.microsoft.com/office/drawing/2014/main" id="{6BB25958-4D1E-11F5-E933-F6C8F129C460}"/>
            </a:ext>
          </a:extLst>
        </p:cNvPr>
        <p:cNvGrpSpPr/>
        <p:nvPr/>
      </p:nvGrpSpPr>
      <p:grpSpPr>
        <a:xfrm>
          <a:off x="0" y="0"/>
          <a:ext cx="0" cy="0"/>
          <a:chOff x="0" y="0"/>
          <a:chExt cx="0" cy="0"/>
        </a:xfrm>
      </p:grpSpPr>
      <p:sp>
        <p:nvSpPr>
          <p:cNvPr id="1489" name="Google Shape;1489;p46:notes">
            <a:extLst>
              <a:ext uri="{FF2B5EF4-FFF2-40B4-BE49-F238E27FC236}">
                <a16:creationId xmlns:a16="http://schemas.microsoft.com/office/drawing/2014/main" id="{4558119E-F1D3-EE32-072C-9ED72C6AB4A6}"/>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90" name="Google Shape;1490;p46:notes">
            <a:extLst>
              <a:ext uri="{FF2B5EF4-FFF2-40B4-BE49-F238E27FC236}">
                <a16:creationId xmlns:a16="http://schemas.microsoft.com/office/drawing/2014/main" id="{DE7F2506-7003-1A9D-EA9C-E46758B027FD}"/>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10110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3"/>
        <p:cNvGrpSpPr/>
        <p:nvPr/>
      </p:nvGrpSpPr>
      <p:grpSpPr>
        <a:xfrm>
          <a:off x="0" y="0"/>
          <a:ext cx="0" cy="0"/>
          <a:chOff x="0" y="0"/>
          <a:chExt cx="0" cy="0"/>
        </a:xfrm>
      </p:grpSpPr>
      <p:sp>
        <p:nvSpPr>
          <p:cNvPr id="1724" name="Google Shape;1724;p5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725" name="Google Shape;1725;p5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Leaf">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3566C-1D56-8289-7F75-41D4029A8414}"/>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8" name="Graphic 7">
            <a:extLst>
              <a:ext uri="{FF2B5EF4-FFF2-40B4-BE49-F238E27FC236}">
                <a16:creationId xmlns:a16="http://schemas.microsoft.com/office/drawing/2014/main" id="{29B0E6FF-3F6A-94D2-D9F9-BBD4E35C0DCE}"/>
              </a:ext>
            </a:extLst>
          </p:cNvPr>
          <p:cNvPicPr>
            <a:picLocks noChangeAspect="1"/>
          </p:cNvPicPr>
          <p:nvPr userDrawn="1"/>
        </p:nvPicPr>
        <p:blipFill>
          <a:blip r:embed="rId2"/>
          <a:srcRect t="14" b="14"/>
          <a:stretch/>
        </p:blipFill>
        <p:spPr>
          <a:xfrm>
            <a:off x="0" y="0"/>
            <a:ext cx="12187345" cy="6856212"/>
          </a:xfrm>
          <a:prstGeom prst="rect">
            <a:avLst/>
          </a:prstGeom>
          <a:noFill/>
        </p:spPr>
      </p:pic>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1"/>
                </a:solidFill>
              </a:defRPr>
            </a:lvl1pPr>
          </a:lstStyle>
          <a:p>
            <a:r>
              <a:rPr lang="en-US" dirty="0"/>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bg2">
                    <a:lumMod val="25000"/>
                  </a:schemeClr>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bg2">
                    <a:lumMod val="25000"/>
                  </a:schemeClr>
                </a:solidFill>
              </a:defRPr>
            </a:lvl1pPr>
          </a:lstStyle>
          <a:p>
            <a:pPr lvl="0"/>
            <a:r>
              <a:rPr lang="en-US" dirty="0"/>
              <a:t>Role / Division at VMware</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bg2">
                    <a:lumMod val="25000"/>
                  </a:schemeClr>
                </a:solidFill>
              </a:defRPr>
            </a:lvl1pPr>
          </a:lstStyle>
          <a:p>
            <a:pPr lvl="0"/>
            <a:r>
              <a:rPr lang="en-US" dirty="0"/>
              <a:t>Date</a:t>
            </a:r>
          </a:p>
        </p:txBody>
      </p:sp>
      <p:sp>
        <p:nvSpPr>
          <p:cNvPr id="53" name="TextBox 52">
            <a:extLst>
              <a:ext uri="{FF2B5EF4-FFF2-40B4-BE49-F238E27FC236}">
                <a16:creationId xmlns:a16="http://schemas.microsoft.com/office/drawing/2014/main" id="{E7C16DC6-55CF-F240-9C11-02E1D9563D27}"/>
              </a:ext>
            </a:extLst>
          </p:cNvPr>
          <p:cNvSpPr txBox="1"/>
          <p:nvPr userDrawn="1"/>
        </p:nvSpPr>
        <p:spPr>
          <a:xfrm>
            <a:off x="1645084" y="6461498"/>
            <a:ext cx="3084178" cy="128368"/>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54" name="TextBox 53">
            <a:extLst>
              <a:ext uri="{FF2B5EF4-FFF2-40B4-BE49-F238E27FC236}">
                <a16:creationId xmlns:a16="http://schemas.microsoft.com/office/drawing/2014/main" id="{D9A55828-AA74-CBA4-45C7-70A0A1FC747D}"/>
              </a:ext>
            </a:extLst>
          </p:cNvPr>
          <p:cNvSpPr txBox="1"/>
          <p:nvPr userDrawn="1"/>
        </p:nvSpPr>
        <p:spPr>
          <a:xfrm>
            <a:off x="1645084" y="6569434"/>
            <a:ext cx="3880871"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55"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241386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accent1"/>
                </a:solidFill>
              </a:rPr>
              <a:t>Agenda</a:t>
            </a:r>
          </a:p>
        </p:txBody>
      </p:sp>
    </p:spTree>
    <p:extLst>
      <p:ext uri="{BB962C8B-B14F-4D97-AF65-F5344CB8AC3E}">
        <p14:creationId xmlns:p14="http://schemas.microsoft.com/office/powerpoint/2010/main" val="2547248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 Leaf">
    <p:spTree>
      <p:nvGrpSpPr>
        <p:cNvPr id="1" name=""/>
        <p:cNvGrpSpPr/>
        <p:nvPr/>
      </p:nvGrpSpPr>
      <p:grpSpPr>
        <a:xfrm>
          <a:off x="0" y="0"/>
          <a:ext cx="0" cy="0"/>
          <a:chOff x="0" y="0"/>
          <a:chExt cx="0" cy="0"/>
        </a:xfrm>
      </p:grpSpPr>
      <p:pic>
        <p:nvPicPr>
          <p:cNvPr id="5" name="Picture 4" descr="A green and blue arrow&#10;&#10;Description automatically generated">
            <a:extLst>
              <a:ext uri="{FF2B5EF4-FFF2-40B4-BE49-F238E27FC236}">
                <a16:creationId xmlns:a16="http://schemas.microsoft.com/office/drawing/2014/main" id="{F2CCAA17-F653-EBAB-FA83-415B02C3DF22}"/>
              </a:ext>
            </a:extLst>
          </p:cNvPr>
          <p:cNvPicPr>
            <a:picLocks noChangeAspect="1"/>
          </p:cNvPicPr>
          <p:nvPr userDrawn="1"/>
        </p:nvPicPr>
        <p:blipFill rotWithShape="1">
          <a:blip r:embed="rId2"/>
          <a:srcRect b="11162"/>
          <a:stretch/>
        </p:blipFill>
        <p:spPr>
          <a:xfrm>
            <a:off x="0" y="-495"/>
            <a:ext cx="12187946" cy="6092951"/>
          </a:xfrm>
          <a:prstGeom prst="rect">
            <a:avLst/>
          </a:prstGeom>
        </p:spPr>
      </p:pic>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Section Title Option 1</a:t>
            </a:r>
            <a:br>
              <a:rPr lang="en-US" dirty="0"/>
            </a:br>
            <a:r>
              <a:rPr lang="en-US" dirty="0"/>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4"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73480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1"/>
                </a:solidFill>
              </a:defRPr>
            </a:lvl1pPr>
          </a:lstStyle>
          <a:p>
            <a:r>
              <a:rPr lang="en-US" dirty="0"/>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1200"/>
              </a:spcBef>
              <a:defRPr>
                <a:solidFill>
                  <a:schemeClr val="bg2">
                    <a:lumMod val="25000"/>
                  </a:schemeClr>
                </a:solidFill>
              </a:defRPr>
            </a:lvl1pPr>
            <a:lvl2pPr>
              <a:spcBef>
                <a:spcPts val="1200"/>
              </a:spcBef>
              <a:defRPr>
                <a:solidFill>
                  <a:schemeClr val="bg2">
                    <a:lumMod val="25000"/>
                  </a:schemeClr>
                </a:solidFill>
              </a:defRPr>
            </a:lvl2pPr>
            <a:lvl3pPr>
              <a:spcBef>
                <a:spcPts val="1200"/>
              </a:spcBef>
              <a:defRPr>
                <a:solidFill>
                  <a:schemeClr val="bg2">
                    <a:lumMod val="25000"/>
                  </a:schemeClr>
                </a:solidFill>
              </a:defRPr>
            </a:lvl3pPr>
            <a:lvl4pPr>
              <a:spcBef>
                <a:spcPts val="1200"/>
              </a:spcBef>
              <a:defRPr>
                <a:solidFill>
                  <a:schemeClr val="bg2">
                    <a:lumMod val="25000"/>
                  </a:schemeClr>
                </a:solidFill>
              </a:defRPr>
            </a:lvl4pPr>
            <a:lvl5pPr>
              <a:spcBef>
                <a:spcPts val="1200"/>
              </a:spcBef>
              <a:defRPr>
                <a:solidFill>
                  <a:schemeClr val="bg2">
                    <a:lumMod val="25000"/>
                  </a:schemeClr>
                </a:solidFill>
              </a:defRPr>
            </a:lvl5pPr>
            <a:lvl6pPr>
              <a:defRPr/>
            </a:lvl6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42814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1"/>
                </a:solidFill>
              </a:defRPr>
            </a:lvl1pPr>
          </a:lstStyle>
          <a:p>
            <a:r>
              <a:rPr lang="en-US" dirty="0"/>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1337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Leaf">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A0D1F-E4FC-BE38-C39E-D706D91B04B5}"/>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0" name="TextBox 9">
            <a:extLst>
              <a:ext uri="{FF2B5EF4-FFF2-40B4-BE49-F238E27FC236}">
                <a16:creationId xmlns:a16="http://schemas.microsoft.com/office/drawing/2014/main" id="{01F07DE2-A4BE-3B43-A385-D616B948566C}"/>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5" name="TextBox 4">
            <a:extLst>
              <a:ext uri="{FF2B5EF4-FFF2-40B4-BE49-F238E27FC236}">
                <a16:creationId xmlns:a16="http://schemas.microsoft.com/office/drawing/2014/main" id="{62760942-310B-BF00-89B7-7109DBFD3B1E}"/>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6" name="TextBox 5">
            <a:extLst>
              <a:ext uri="{FF2B5EF4-FFF2-40B4-BE49-F238E27FC236}">
                <a16:creationId xmlns:a16="http://schemas.microsoft.com/office/drawing/2014/main" id="{93D2826E-D97E-250A-75F6-336A1D7547BD}"/>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11" name="Graphic 8">
            <a:extLst>
              <a:ext uri="{FF2B5EF4-FFF2-40B4-BE49-F238E27FC236}">
                <a16:creationId xmlns:a16="http://schemas.microsoft.com/office/drawing/2014/main" id="{6CCAFF07-C864-65F7-E8B7-2C5633311999}"/>
              </a:ext>
            </a:extLst>
          </p:cNvPr>
          <p:cNvGrpSpPr/>
          <p:nvPr userDrawn="1"/>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185977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9987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Content Balanced">
  <p:cSld name="Two-Content Balanced">
    <p:spTree>
      <p:nvGrpSpPr>
        <p:cNvPr id="1" name="Shape 2139"/>
        <p:cNvGrpSpPr/>
        <p:nvPr/>
      </p:nvGrpSpPr>
      <p:grpSpPr>
        <a:xfrm>
          <a:off x="0" y="0"/>
          <a:ext cx="0" cy="0"/>
          <a:chOff x="0" y="0"/>
          <a:chExt cx="0" cy="0"/>
        </a:xfrm>
      </p:grpSpPr>
      <p:sp>
        <p:nvSpPr>
          <p:cNvPr id="2140" name="Google Shape;2140;p111"/>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41" name="Google Shape;2141;p111"/>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6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2142" name="Google Shape;2142;p111"/>
          <p:cNvSpPr txBox="1">
            <a:spLocks noGrp="1"/>
          </p:cNvSpPr>
          <p:nvPr>
            <p:ph type="body" idx="2"/>
          </p:nvPr>
        </p:nvSpPr>
        <p:spPr>
          <a:xfrm>
            <a:off x="608013" y="1600200"/>
            <a:ext cx="5313900"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6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2143" name="Google Shape;2143;p111"/>
          <p:cNvSpPr txBox="1">
            <a:spLocks noGrp="1"/>
          </p:cNvSpPr>
          <p:nvPr>
            <p:ph type="body" idx="3"/>
          </p:nvPr>
        </p:nvSpPr>
        <p:spPr>
          <a:xfrm>
            <a:off x="6321287" y="1600200"/>
            <a:ext cx="5313900"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6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2144" name="Google Shape;2144;p111"/>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3859970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1"/>
                </a:solidFill>
              </a:defRPr>
            </a:lvl1pPr>
          </a:lstStyle>
          <a:p>
            <a:r>
              <a:rPr lang="en-US" dirty="0"/>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 name="Content Placeholder 17">
            <a:extLst>
              <a:ext uri="{FF2B5EF4-FFF2-40B4-BE49-F238E27FC236}">
                <a16:creationId xmlns:a16="http://schemas.microsoft.com/office/drawing/2014/main" id="{73A8AFF7-683B-9045-8B6E-5867DABAE588}"/>
              </a:ext>
            </a:extLst>
          </p:cNvPr>
          <p:cNvSpPr>
            <a:spLocks noGrp="1"/>
          </p:cNvSpPr>
          <p:nvPr>
            <p:ph sz="quarter" idx="14"/>
          </p:nvPr>
        </p:nvSpPr>
        <p:spPr bwMode="ltGray">
          <a:xfrm>
            <a:off x="595424" y="1600201"/>
            <a:ext cx="7410892" cy="4572000"/>
          </a:xfrm>
          <a:noFill/>
        </p:spPr>
        <p:txBody>
          <a:bodyPr vert="horz" lIns="594360" tIns="457200" rIns="457200" bIns="457200" rtlCol="0">
            <a:noAutofit/>
          </a:bodyPr>
          <a:lstStyle>
            <a:lvl1pPr>
              <a:spcBef>
                <a:spcPts val="1200"/>
              </a:spcBef>
              <a:defRPr lang="en-US" sz="1800" dirty="0">
                <a:solidFill>
                  <a:srgbClr val="F4F8FA"/>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edit Master text styles</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1"/>
                </a:solidFill>
              </a:defRPr>
            </a:lvl1pPr>
            <a:lvl2pPr>
              <a:defRPr sz="1400">
                <a:solidFill>
                  <a:schemeClr val="accent1"/>
                </a:solidFill>
              </a:defRPr>
            </a:lvl2pPr>
            <a:lvl3pPr>
              <a:defRPr sz="1200">
                <a:solidFill>
                  <a:schemeClr val="accent1"/>
                </a:solidFill>
              </a:defRPr>
            </a:lvl3pPr>
            <a:lvl4pPr>
              <a:defRPr sz="1100">
                <a:solidFill>
                  <a:schemeClr val="accent1"/>
                </a:solidFill>
              </a:defRPr>
            </a:lvl4pPr>
            <a:lvl5pPr>
              <a:defRPr sz="1100">
                <a:solidFill>
                  <a:schemeClr val="accent1"/>
                </a:solidFill>
              </a:defRPr>
            </a:lvl5pPr>
            <a:lvl6pPr>
              <a:defRPr sz="1100">
                <a:solidFill>
                  <a:schemeClr val="accent1"/>
                </a:solidFill>
              </a:defRPr>
            </a:lvl6pPr>
            <a:lvl7pPr>
              <a:defRPr sz="1100">
                <a:solidFill>
                  <a:schemeClr val="accent1"/>
                </a:solidFill>
              </a:defRPr>
            </a:lvl7pPr>
            <a:lvl8pPr>
              <a:defRPr sz="1100">
                <a:solidFill>
                  <a:schemeClr val="accent1"/>
                </a:solidFill>
              </a:defRPr>
            </a:lvl8pPr>
            <a:lvl9pPr>
              <a:defRPr sz="1100">
                <a:solidFill>
                  <a:schemeClr val="accent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44253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 level</a:t>
            </a:r>
          </a:p>
          <a:p>
            <a:pPr lvl="6"/>
            <a:r>
              <a:rPr lang="en-US" dirty="0"/>
              <a:t>Seventh level</a:t>
            </a:r>
          </a:p>
          <a:p>
            <a:pPr lvl="7"/>
            <a:r>
              <a:rPr lang="en-US" dirty="0"/>
              <a:t>Eighth level</a:t>
            </a:r>
          </a:p>
          <a:p>
            <a:pPr lvl="8"/>
            <a:r>
              <a:rPr lang="en-US" dirty="0"/>
              <a:t>Nineth level</a:t>
            </a:r>
          </a:p>
        </p:txBody>
      </p:sp>
      <p:sp>
        <p:nvSpPr>
          <p:cNvPr id="4" name="Footer Placeholder 3">
            <a:extLst>
              <a:ext uri="{FF2B5EF4-FFF2-40B4-BE49-F238E27FC236}">
                <a16:creationId xmlns:a16="http://schemas.microsoft.com/office/drawing/2014/main" id="{AA6C16E6-5A1F-46F7-8642-A7F025A5BDCF}"/>
              </a:ext>
            </a:extLst>
          </p:cNvPr>
          <p:cNvSpPr>
            <a:spLocks noGrp="1"/>
          </p:cNvSpPr>
          <p:nvPr>
            <p:ph type="ftr" sz="quarter" idx="3"/>
          </p:nvPr>
        </p:nvSpPr>
        <p:spPr>
          <a:xfrm>
            <a:off x="4037013" y="735203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4">
            <a:extLst>
              <a:ext uri="{FF2B5EF4-FFF2-40B4-BE49-F238E27FC236}">
                <a16:creationId xmlns:a16="http://schemas.microsoft.com/office/drawing/2014/main" id="{3E586C86-F823-4766-9B10-773EDC51CC66}"/>
              </a:ext>
            </a:extLst>
          </p:cNvPr>
          <p:cNvSpPr>
            <a:spLocks noGrp="1"/>
          </p:cNvSpPr>
          <p:nvPr>
            <p:ph type="sldNum" sz="quarter" idx="4"/>
          </p:nvPr>
        </p:nvSpPr>
        <p:spPr>
          <a:xfrm>
            <a:off x="8609013" y="735203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295A3-96FB-4E80-91AF-4225D266C57B}" type="slidenum">
              <a:rPr lang="en-US" smtClean="0"/>
              <a:t>‹#›</a:t>
            </a:fld>
            <a:endParaRPr lang="en-US" dirty="0"/>
          </a:p>
        </p:txBody>
      </p:sp>
      <p:sp>
        <p:nvSpPr>
          <p:cNvPr id="46" name="TextBox 45">
            <a:extLst>
              <a:ext uri="{FF2B5EF4-FFF2-40B4-BE49-F238E27FC236}">
                <a16:creationId xmlns:a16="http://schemas.microsoft.com/office/drawing/2014/main" id="{CD85138C-BA05-506A-37F6-E09D7B567181}"/>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47" name="TextBox 46">
            <a:extLst>
              <a:ext uri="{FF2B5EF4-FFF2-40B4-BE49-F238E27FC236}">
                <a16:creationId xmlns:a16="http://schemas.microsoft.com/office/drawing/2014/main" id="{102AAF9C-F1AC-4843-6875-135CA87C5B2B}"/>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pic>
        <p:nvPicPr>
          <p:cNvPr id="74" name="Picture 73" descr="A green and blue arrow&#10;&#10;Description automatically generated">
            <a:extLst>
              <a:ext uri="{FF2B5EF4-FFF2-40B4-BE49-F238E27FC236}">
                <a16:creationId xmlns:a16="http://schemas.microsoft.com/office/drawing/2014/main" id="{C967C0A9-A69C-82AD-D33C-3AF05EB07560}"/>
              </a:ext>
            </a:extLst>
          </p:cNvPr>
          <p:cNvPicPr>
            <a:picLocks noChangeAspect="1"/>
          </p:cNvPicPr>
          <p:nvPr userDrawn="1"/>
        </p:nvPicPr>
        <p:blipFill rotWithShape="1">
          <a:blip r:embed="rId11"/>
          <a:srcRect b="97344"/>
          <a:stretch/>
        </p:blipFill>
        <p:spPr>
          <a:xfrm>
            <a:off x="0" y="-494"/>
            <a:ext cx="12187946" cy="182146"/>
          </a:xfrm>
          <a:prstGeom prst="rect">
            <a:avLst/>
          </a:prstGeom>
        </p:spPr>
      </p:pic>
    </p:spTree>
    <p:extLst>
      <p:ext uri="{BB962C8B-B14F-4D97-AF65-F5344CB8AC3E}">
        <p14:creationId xmlns:p14="http://schemas.microsoft.com/office/powerpoint/2010/main" val="707883660"/>
      </p:ext>
    </p:extLst>
  </p:cSld>
  <p:clrMap bg1="lt1" tx1="dk1" bg2="lt2" tx2="dk2" accent1="accent1" accent2="accent2" accent3="accent3" accent4="accent4" accent5="accent5" accent6="accent6" hlink="hlink" folHlink="folHlink"/>
  <p:sldLayoutIdLst>
    <p:sldLayoutId id="2147483995" r:id="rId1"/>
    <p:sldLayoutId id="2147483998" r:id="rId2"/>
    <p:sldLayoutId id="2147483999" r:id="rId3"/>
    <p:sldLayoutId id="2147484023" r:id="rId4"/>
    <p:sldLayoutId id="2147484024" r:id="rId5"/>
    <p:sldLayoutId id="2147484050" r:id="rId6"/>
    <p:sldLayoutId id="2147484051" r:id="rId7"/>
    <p:sldLayoutId id="2147484052" r:id="rId8"/>
    <p:sldLayoutId id="2147484053" r:id="rId9"/>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s://www.dynatrace.com/news/blog/what-is-shift-left-and-what-is-shift-right/"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29.sv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31.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6" name="Title 5">
            <a:extLst>
              <a:ext uri="{FF2B5EF4-FFF2-40B4-BE49-F238E27FC236}">
                <a16:creationId xmlns:a16="http://schemas.microsoft.com/office/drawing/2014/main" id="{63B6048B-2D26-DAA7-86DA-18449B1B66ED}"/>
              </a:ext>
            </a:extLst>
          </p:cNvPr>
          <p:cNvSpPr>
            <a:spLocks noGrp="1"/>
          </p:cNvSpPr>
          <p:nvPr>
            <p:ph type="title"/>
          </p:nvPr>
        </p:nvSpPr>
        <p:spPr/>
        <p:txBody>
          <a:bodyPr/>
          <a:lstStyle/>
          <a:p>
            <a:r>
              <a:rPr lang="en-US" dirty="0"/>
              <a:t>VMware Pro Cloud Services for Private Cloud</a:t>
            </a:r>
          </a:p>
        </p:txBody>
      </p:sp>
      <p:sp>
        <p:nvSpPr>
          <p:cNvPr id="7" name="Subtitle 6">
            <a:extLst>
              <a:ext uri="{FF2B5EF4-FFF2-40B4-BE49-F238E27FC236}">
                <a16:creationId xmlns:a16="http://schemas.microsoft.com/office/drawing/2014/main" id="{2E5B10C8-FEA7-1F59-E9C0-272561D9D8F5}"/>
              </a:ext>
            </a:extLst>
          </p:cNvPr>
          <p:cNvSpPr>
            <a:spLocks noGrp="1"/>
          </p:cNvSpPr>
          <p:nvPr>
            <p:ph type="subTitle" idx="10"/>
          </p:nvPr>
        </p:nvSpPr>
        <p:spPr/>
        <p:txBody>
          <a:bodyPr/>
          <a:lstStyle/>
          <a:p>
            <a:pPr marL="0" lvl="0" indent="0" algn="l" rtl="0">
              <a:lnSpc>
                <a:spcPct val="95000"/>
              </a:lnSpc>
              <a:spcBef>
                <a:spcPts val="0"/>
              </a:spcBef>
              <a:spcAft>
                <a:spcPts val="0"/>
              </a:spcAft>
              <a:buSzPct val="93906"/>
              <a:buNone/>
            </a:pPr>
            <a:r>
              <a:rPr lang="en-CA" dirty="0">
                <a:solidFill>
                  <a:schemeClr val="dk2"/>
                </a:solidFill>
              </a:rPr>
              <a:t>Design Workshop</a:t>
            </a:r>
            <a:endParaRPr lang="en-CA" dirty="0"/>
          </a:p>
        </p:txBody>
      </p:sp>
      <p:sp>
        <p:nvSpPr>
          <p:cNvPr id="980" name="Google Shape;980;p113"/>
          <p:cNvSpPr txBox="1">
            <a:spLocks noGrp="1"/>
          </p:cNvSpPr>
          <p:nvPr>
            <p:ph type="body" sz="quarter" idx="11"/>
          </p:nvPr>
        </p:nvSpPr>
        <p:spPr>
          <a:prstGeom prst="rect">
            <a:avLst/>
          </a:prstGeom>
          <a:noFill/>
          <a:ln>
            <a:noFill/>
          </a:ln>
        </p:spPr>
        <p:txBody>
          <a:bodyPr spcFirstLastPara="1" wrap="square" lIns="0" tIns="0" rIns="0" bIns="0" anchor="b" anchorCtr="0">
            <a:normAutofit/>
          </a:bodyPr>
          <a:lstStyle/>
          <a:p>
            <a:pPr marL="0" lvl="0" indent="0" algn="l" rtl="0">
              <a:lnSpc>
                <a:spcPct val="95000"/>
              </a:lnSpc>
              <a:spcBef>
                <a:spcPts val="0"/>
              </a:spcBef>
              <a:spcAft>
                <a:spcPts val="0"/>
              </a:spcAft>
              <a:buSzPct val="93906"/>
              <a:buNone/>
            </a:pPr>
            <a:endParaRPr dirty="0"/>
          </a:p>
        </p:txBody>
      </p:sp>
      <p:sp>
        <p:nvSpPr>
          <p:cNvPr id="8" name="Text Placeholder 7">
            <a:extLst>
              <a:ext uri="{FF2B5EF4-FFF2-40B4-BE49-F238E27FC236}">
                <a16:creationId xmlns:a16="http://schemas.microsoft.com/office/drawing/2014/main" id="{B71E8D89-2372-0EE6-EEAF-781B0AFDF950}"/>
              </a:ext>
            </a:extLst>
          </p:cNvPr>
          <p:cNvSpPr>
            <a:spLocks noGrp="1"/>
          </p:cNvSpPr>
          <p:nvPr>
            <p:ph type="body" sz="quarter" idx="12"/>
          </p:nvPr>
        </p:nvSpPr>
        <p:spPr/>
        <p:txBody>
          <a:bodyPr/>
          <a:lstStyle/>
          <a:p>
            <a:endParaRPr lang="en-US"/>
          </a:p>
        </p:txBody>
      </p:sp>
      <p:sp>
        <p:nvSpPr>
          <p:cNvPr id="9" name="Text Placeholder 8">
            <a:extLst>
              <a:ext uri="{FF2B5EF4-FFF2-40B4-BE49-F238E27FC236}">
                <a16:creationId xmlns:a16="http://schemas.microsoft.com/office/drawing/2014/main" id="{D4B58385-D0CE-F5B3-1294-44795175CCE0}"/>
              </a:ext>
            </a:extLst>
          </p:cNvPr>
          <p:cNvSpPr>
            <a:spLocks noGrp="1"/>
          </p:cNvSpPr>
          <p:nvPr>
            <p:ph type="body" sz="quarter" idx="14"/>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114"/>
          <p:cNvSpPr txBox="1">
            <a:spLocks noGrp="1"/>
          </p:cNvSpPr>
          <p:nvPr>
            <p:ph type="body" sz="quarter" idx="23"/>
          </p:nvPr>
        </p:nvSpPr>
        <p:spPr>
          <a:xfrm>
            <a:off x="2894013" y="1359907"/>
            <a:ext cx="7315200" cy="2908489"/>
          </a:xfrm>
          <a:noFill/>
          <a:ln>
            <a:noFill/>
          </a:ln>
        </p:spPr>
        <p:txBody>
          <a:bodyPr spcFirstLastPara="1" wrap="square" lIns="0" tIns="0" rIns="0" bIns="0" anchor="t" anchorCtr="0">
            <a:spAutoFit/>
          </a:bodyPr>
          <a:lstStyle/>
          <a:p>
            <a:pPr lvl="0"/>
            <a:r>
              <a:rPr lang="en-US" dirty="0"/>
              <a:t>VMware Pro Cloud Services Overview and Definitions</a:t>
            </a:r>
          </a:p>
          <a:p>
            <a:pPr lvl="0"/>
            <a:r>
              <a:rPr lang="en-US" dirty="0"/>
              <a:t>Private Cloud Conceptual and Logical Design</a:t>
            </a:r>
          </a:p>
          <a:p>
            <a:pPr marL="628650" lvl="2" indent="-285750">
              <a:buFont typeface="Arial" panose="020B0604020202020204" pitchFamily="34" charset="0"/>
              <a:buChar char="•"/>
            </a:pPr>
            <a:r>
              <a:rPr lang="en-US" dirty="0"/>
              <a:t>VMware Cloud Foundation Design Details</a:t>
            </a:r>
          </a:p>
          <a:p>
            <a:pPr marL="628650" lvl="2" indent="-285750">
              <a:buFont typeface="Arial" panose="020B0604020202020204" pitchFamily="34" charset="0"/>
              <a:buChar char="•"/>
            </a:pPr>
            <a:r>
              <a:rPr lang="en-US" dirty="0"/>
              <a:t>VCF Operations Design Details</a:t>
            </a:r>
          </a:p>
          <a:p>
            <a:pPr marL="628650" lvl="2" indent="-285750">
              <a:buFont typeface="Arial" panose="020B0604020202020204" pitchFamily="34" charset="0"/>
              <a:buChar char="•"/>
            </a:pPr>
            <a:r>
              <a:rPr lang="en-US" dirty="0"/>
              <a:t>VCF Automation Design Details</a:t>
            </a:r>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2" name="Title 1">
            <a:extLst>
              <a:ext uri="{FF2B5EF4-FFF2-40B4-BE49-F238E27FC236}">
                <a16:creationId xmlns:a16="http://schemas.microsoft.com/office/drawing/2014/main" id="{B3E2B0D6-1910-85E8-C929-13CC581AD8C3}"/>
              </a:ext>
            </a:extLst>
          </p:cNvPr>
          <p:cNvSpPr>
            <a:spLocks noGrp="1"/>
          </p:cNvSpPr>
          <p:nvPr>
            <p:ph type="title"/>
          </p:nvPr>
        </p:nvSpPr>
        <p:spPr>
          <a:xfrm>
            <a:off x="589108" y="938794"/>
            <a:ext cx="6427626" cy="1229360"/>
          </a:xfrm>
        </p:spPr>
        <p:txBody>
          <a:bodyPr/>
          <a:lstStyle/>
          <a:p>
            <a:r>
              <a:rPr lang="en-US" dirty="0"/>
              <a:t>VMware Pro Cloud Services</a:t>
            </a:r>
          </a:p>
        </p:txBody>
      </p:sp>
      <p:sp>
        <p:nvSpPr>
          <p:cNvPr id="993" name="Google Shape;993;p115"/>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Overview and Definitions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pic>
        <p:nvPicPr>
          <p:cNvPr id="999" name="Google Shape;999;p116"/>
          <p:cNvPicPr preferRelativeResize="0"/>
          <p:nvPr/>
        </p:nvPicPr>
        <p:blipFill rotWithShape="1">
          <a:blip r:embed="rId3">
            <a:alphaModFix/>
          </a:blip>
          <a:srcRect/>
          <a:stretch/>
        </p:blipFill>
        <p:spPr>
          <a:xfrm>
            <a:off x="358444" y="2534500"/>
            <a:ext cx="3227933" cy="2593772"/>
          </a:xfrm>
          <a:prstGeom prst="rect">
            <a:avLst/>
          </a:prstGeom>
          <a:noFill/>
          <a:ln>
            <a:noFill/>
          </a:ln>
        </p:spPr>
      </p:pic>
      <p:pic>
        <p:nvPicPr>
          <p:cNvPr id="1000" name="Google Shape;1000;p116"/>
          <p:cNvPicPr preferRelativeResize="0"/>
          <p:nvPr/>
        </p:nvPicPr>
        <p:blipFill rotWithShape="1">
          <a:blip r:embed="rId4">
            <a:alphaModFix/>
          </a:blip>
          <a:srcRect/>
          <a:stretch/>
        </p:blipFill>
        <p:spPr>
          <a:xfrm>
            <a:off x="8551333" y="2668398"/>
            <a:ext cx="3125942" cy="2150063"/>
          </a:xfrm>
          <a:prstGeom prst="rect">
            <a:avLst/>
          </a:prstGeom>
          <a:noFill/>
          <a:ln>
            <a:noFill/>
          </a:ln>
        </p:spPr>
      </p:pic>
      <p:pic>
        <p:nvPicPr>
          <p:cNvPr id="1001" name="Google Shape;1001;p116"/>
          <p:cNvPicPr preferRelativeResize="0"/>
          <p:nvPr/>
        </p:nvPicPr>
        <p:blipFill rotWithShape="1">
          <a:blip r:embed="rId5">
            <a:alphaModFix/>
          </a:blip>
          <a:srcRect/>
          <a:stretch/>
        </p:blipFill>
        <p:spPr>
          <a:xfrm>
            <a:off x="4240500" y="2573395"/>
            <a:ext cx="4437303" cy="2243032"/>
          </a:xfrm>
          <a:prstGeom prst="rect">
            <a:avLst/>
          </a:prstGeom>
          <a:noFill/>
          <a:ln>
            <a:noFill/>
          </a:ln>
        </p:spPr>
      </p:pic>
      <p:sp>
        <p:nvSpPr>
          <p:cNvPr id="1002" name="Google Shape;1002;p116"/>
          <p:cNvSpPr/>
          <p:nvPr/>
        </p:nvSpPr>
        <p:spPr>
          <a:xfrm>
            <a:off x="1588" y="1545801"/>
            <a:ext cx="12185651" cy="678298"/>
          </a:xfrm>
          <a:prstGeom prst="rect">
            <a:avLst/>
          </a:prstGeom>
          <a:solidFill>
            <a:schemeClr val="accent1"/>
          </a:solidFill>
          <a:ln>
            <a:noFill/>
          </a:ln>
        </p:spPr>
        <p:txBody>
          <a:bodyPr spcFirstLastPara="1" wrap="square" lIns="457075" tIns="45700" rIns="457075" bIns="45700" anchor="ctr" anchorCtr="0">
            <a:noAutofit/>
          </a:bodyPr>
          <a:lstStyle/>
          <a:p>
            <a:pPr marL="0" marR="0" lvl="0" indent="0" algn="ctr" rtl="0">
              <a:lnSpc>
                <a:spcPct val="100000"/>
              </a:lnSpc>
              <a:spcBef>
                <a:spcPts val="0"/>
              </a:spcBef>
              <a:spcAft>
                <a:spcPts val="0"/>
              </a:spcAft>
              <a:buClr>
                <a:srgbClr val="000000"/>
              </a:buClr>
              <a:buSzPts val="1999"/>
              <a:buFont typeface="Arial"/>
              <a:buNone/>
            </a:pPr>
            <a:r>
              <a:rPr lang="en-US" sz="1999" b="1" i="0" u="none" strike="noStrike" cap="none">
                <a:solidFill>
                  <a:srgbClr val="FFFFFF"/>
                </a:solidFill>
                <a:latin typeface="Arial"/>
                <a:ea typeface="Arial"/>
                <a:cs typeface="Arial"/>
                <a:sym typeface="Arial"/>
              </a:rPr>
              <a:t>Providing a well-architected solution encompassing technology, people and processes</a:t>
            </a:r>
            <a:endParaRPr sz="1999" b="1" i="0" u="none" strike="noStrike" cap="none">
              <a:solidFill>
                <a:srgbClr val="FFFFFF"/>
              </a:solidFill>
              <a:latin typeface="Arial"/>
              <a:ea typeface="Arial"/>
              <a:cs typeface="Arial"/>
              <a:sym typeface="Arial"/>
            </a:endParaRPr>
          </a:p>
        </p:txBody>
      </p:sp>
      <p:sp>
        <p:nvSpPr>
          <p:cNvPr id="1003" name="Google Shape;1003;p116"/>
          <p:cNvSpPr/>
          <p:nvPr/>
        </p:nvSpPr>
        <p:spPr>
          <a:xfrm>
            <a:off x="0" y="4818461"/>
            <a:ext cx="12185651" cy="1441991"/>
          </a:xfrm>
          <a:prstGeom prst="rect">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04" name="Google Shape;1004;p116"/>
          <p:cNvSpPr txBox="1">
            <a:spLocks noGrp="1"/>
          </p:cNvSpPr>
          <p:nvPr>
            <p:ph type="title"/>
          </p:nvPr>
        </p:nvSpPr>
        <p:spPr>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700"/>
              <a:buFont typeface="Arial"/>
              <a:buNone/>
            </a:pPr>
            <a:r>
              <a:rPr lang="en-US"/>
              <a:t>VMware Pro Cloud Services</a:t>
            </a:r>
            <a:endParaRPr/>
          </a:p>
        </p:txBody>
      </p:sp>
      <p:sp>
        <p:nvSpPr>
          <p:cNvPr id="1005" name="Google Shape;1005;p116"/>
          <p:cNvSpPr txBox="1">
            <a:spLocks noGrp="1"/>
          </p:cNvSpPr>
          <p:nvPr>
            <p:ph type="subTitle" idx="10"/>
          </p:nvPr>
        </p:nvSpPr>
        <p:spPr>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SzPts val="2300"/>
              <a:buNone/>
            </a:pPr>
            <a:r>
              <a:rPr lang="en-US"/>
              <a:t>Achieve the benefits of your future state architecture faster</a:t>
            </a:r>
            <a:endParaRPr/>
          </a:p>
          <a:p>
            <a:pPr marL="0" marR="0" lvl="0" indent="0" algn="l" rtl="0">
              <a:lnSpc>
                <a:spcPct val="90000"/>
              </a:lnSpc>
              <a:spcBef>
                <a:spcPts val="0"/>
              </a:spcBef>
              <a:spcAft>
                <a:spcPts val="0"/>
              </a:spcAft>
              <a:buSzPts val="2399"/>
              <a:buNone/>
            </a:pPr>
            <a:endParaRPr/>
          </a:p>
        </p:txBody>
      </p:sp>
      <p:sp>
        <p:nvSpPr>
          <p:cNvPr id="1006" name="Google Shape;1006;p116"/>
          <p:cNvSpPr/>
          <p:nvPr/>
        </p:nvSpPr>
        <p:spPr>
          <a:xfrm>
            <a:off x="460555" y="4776302"/>
            <a:ext cx="3227933" cy="1736908"/>
          </a:xfrm>
          <a:prstGeom prst="rect">
            <a:avLst/>
          </a:prstGeom>
          <a:noFill/>
          <a:ln>
            <a:noFill/>
          </a:ln>
        </p:spPr>
        <p:txBody>
          <a:bodyPr spcFirstLastPara="1" wrap="square" lIns="274225" tIns="274225" rIns="274225" bIns="1828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98C7"/>
                </a:solidFill>
                <a:latin typeface="Arial"/>
                <a:ea typeface="Arial"/>
                <a:cs typeface="Arial"/>
                <a:sym typeface="Arial"/>
              </a:rPr>
              <a:t>Prescriptive Reference Architectures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Built from our breadth of customer deployments and best practices</a:t>
            </a:r>
            <a:endParaRPr sz="1400" b="0" i="0" u="none" strike="noStrike" cap="none">
              <a:solidFill>
                <a:srgbClr val="000000"/>
              </a:solidFill>
              <a:latin typeface="Arial"/>
              <a:ea typeface="Arial"/>
              <a:cs typeface="Arial"/>
              <a:sym typeface="Arial"/>
            </a:endParaRPr>
          </a:p>
        </p:txBody>
      </p:sp>
      <p:sp>
        <p:nvSpPr>
          <p:cNvPr id="1007" name="Google Shape;1007;p116"/>
          <p:cNvSpPr/>
          <p:nvPr/>
        </p:nvSpPr>
        <p:spPr>
          <a:xfrm>
            <a:off x="4480446" y="4773729"/>
            <a:ext cx="3227933" cy="1736908"/>
          </a:xfrm>
          <a:prstGeom prst="rect">
            <a:avLst/>
          </a:prstGeom>
          <a:noFill/>
          <a:ln>
            <a:noFill/>
          </a:ln>
        </p:spPr>
        <p:txBody>
          <a:bodyPr spcFirstLastPara="1" wrap="square" lIns="274225" tIns="274225" rIns="274225" bIns="1828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98C7"/>
                </a:solidFill>
                <a:latin typeface="Arial"/>
                <a:ea typeface="Arial"/>
                <a:cs typeface="Arial"/>
                <a:sym typeface="Arial"/>
              </a:rPr>
              <a:t>Cross-Functional Team of VMware Experts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Brings the right skills at the right time for a coordinated effort</a:t>
            </a:r>
            <a:endParaRPr sz="1400" b="0" i="0" u="none" strike="noStrike" cap="none">
              <a:solidFill>
                <a:srgbClr val="000000"/>
              </a:solidFill>
              <a:latin typeface="Arial"/>
              <a:ea typeface="Arial"/>
              <a:cs typeface="Arial"/>
              <a:sym typeface="Arial"/>
            </a:endParaRPr>
          </a:p>
        </p:txBody>
      </p:sp>
      <p:sp>
        <p:nvSpPr>
          <p:cNvPr id="1008" name="Google Shape;1008;p116"/>
          <p:cNvSpPr/>
          <p:nvPr/>
        </p:nvSpPr>
        <p:spPr>
          <a:xfrm>
            <a:off x="8500337" y="4754768"/>
            <a:ext cx="3227933" cy="1736908"/>
          </a:xfrm>
          <a:prstGeom prst="rect">
            <a:avLst/>
          </a:prstGeom>
          <a:noFill/>
          <a:ln>
            <a:noFill/>
          </a:ln>
        </p:spPr>
        <p:txBody>
          <a:bodyPr spcFirstLastPara="1" wrap="square" lIns="274225" tIns="274225" rIns="274225" bIns="1828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98C7"/>
                </a:solidFill>
                <a:latin typeface="Arial"/>
                <a:ea typeface="Arial"/>
                <a:cs typeface="Arial"/>
                <a:sym typeface="Arial"/>
              </a:rPr>
              <a:t>Flexible Delivery                             Model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Combines a standardized approach with customization options</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117"/>
          <p:cNvSpPr/>
          <p:nvPr/>
        </p:nvSpPr>
        <p:spPr>
          <a:xfrm rot="-5400000">
            <a:off x="7392246" y="1382823"/>
            <a:ext cx="4604454" cy="4985535"/>
          </a:xfrm>
          <a:prstGeom prst="snip2SameRect">
            <a:avLst>
              <a:gd name="adj1" fmla="val 35183"/>
              <a:gd name="adj2" fmla="val 0"/>
            </a:avLst>
          </a:prstGeom>
          <a:solidFill>
            <a:srgbClr val="F2F2F2">
              <a:alpha val="69411"/>
            </a:srgb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15" name="Google Shape;1015;p117"/>
          <p:cNvSpPr/>
          <p:nvPr/>
        </p:nvSpPr>
        <p:spPr>
          <a:xfrm rot="5400000">
            <a:off x="246589" y="1328367"/>
            <a:ext cx="4604454" cy="5094454"/>
          </a:xfrm>
          <a:prstGeom prst="snip2SameRect">
            <a:avLst>
              <a:gd name="adj1" fmla="val 31295"/>
              <a:gd name="adj2" fmla="val 0"/>
            </a:avLst>
          </a:prstGeom>
          <a:solidFill>
            <a:srgbClr val="F2F2F2">
              <a:alpha val="69411"/>
            </a:srgb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16" name="Google Shape;1016;p117"/>
          <p:cNvSpPr txBox="1">
            <a:spLocks noGrp="1"/>
          </p:cNvSpPr>
          <p:nvPr>
            <p:ph type="title"/>
          </p:nvPr>
        </p:nvSpPr>
        <p:spPr>
          <a:xfrm>
            <a:off x="579809" y="412751"/>
            <a:ext cx="11001004" cy="381000"/>
          </a:xfrm>
          <a:noFill/>
          <a:ln>
            <a:noFill/>
          </a:ln>
        </p:spPr>
        <p:txBody>
          <a:bodyPr spcFirstLastPara="1" wrap="square" lIns="0" tIns="0" rIns="0" bIns="0" anchor="ctr" anchorCtr="0">
            <a:spAutoFit/>
          </a:bodyPr>
          <a:lstStyle/>
          <a:p>
            <a:pPr lvl="0"/>
            <a:r>
              <a:rPr lang="en-US"/>
              <a:t>A Standardized, Repeatable and Prescriptive Approach</a:t>
            </a:r>
          </a:p>
        </p:txBody>
      </p:sp>
      <p:sp>
        <p:nvSpPr>
          <p:cNvPr id="1017" name="Google Shape;1017;p117"/>
          <p:cNvSpPr txBox="1">
            <a:spLocks noGrp="1"/>
          </p:cNvSpPr>
          <p:nvPr>
            <p:ph type="subTitle" idx="10"/>
          </p:nvPr>
        </p:nvSpPr>
        <p:spPr>
          <a:xfrm>
            <a:off x="592866" y="811830"/>
            <a:ext cx="10962687" cy="247743"/>
          </a:xfrm>
          <a:noFill/>
          <a:ln>
            <a:noFill/>
          </a:ln>
        </p:spPr>
        <p:txBody>
          <a:bodyPr spcFirstLastPara="1" wrap="square" lIns="0" tIns="0" rIns="0" bIns="0" anchor="t" anchorCtr="0">
            <a:spAutoFit/>
          </a:bodyPr>
          <a:lstStyle/>
          <a:p>
            <a:pPr lvl="0"/>
            <a:r>
              <a:rPr lang="en-US"/>
              <a:t>Reduces risk and complexity</a:t>
            </a:r>
          </a:p>
        </p:txBody>
      </p:sp>
      <p:sp>
        <p:nvSpPr>
          <p:cNvPr id="1018" name="Google Shape;1018;p117"/>
          <p:cNvSpPr txBox="1"/>
          <p:nvPr/>
        </p:nvSpPr>
        <p:spPr>
          <a:xfrm>
            <a:off x="1052352" y="2406592"/>
            <a:ext cx="2103887" cy="610457"/>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Proven VMware design patterns</a:t>
            </a:r>
            <a:endParaRPr sz="1400" b="0" i="0" u="none" strike="noStrike" cap="none">
              <a:solidFill>
                <a:srgbClr val="000000"/>
              </a:solidFill>
              <a:latin typeface="Arial"/>
              <a:ea typeface="Arial"/>
              <a:cs typeface="Arial"/>
              <a:sym typeface="Arial"/>
            </a:endParaRPr>
          </a:p>
        </p:txBody>
      </p:sp>
      <p:sp>
        <p:nvSpPr>
          <p:cNvPr id="1019" name="Google Shape;1019;p117"/>
          <p:cNvSpPr/>
          <p:nvPr/>
        </p:nvSpPr>
        <p:spPr>
          <a:xfrm>
            <a:off x="3314146" y="2393627"/>
            <a:ext cx="636388" cy="636388"/>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20" name="Google Shape;1020;p117"/>
          <p:cNvSpPr txBox="1"/>
          <p:nvPr/>
        </p:nvSpPr>
        <p:spPr>
          <a:xfrm>
            <a:off x="608848" y="3497434"/>
            <a:ext cx="2547391" cy="610457"/>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Implementation best practices</a:t>
            </a:r>
            <a:endParaRPr sz="1400" b="0" i="0" u="none" strike="noStrike" cap="none">
              <a:solidFill>
                <a:srgbClr val="000000"/>
              </a:solidFill>
              <a:latin typeface="Arial"/>
              <a:ea typeface="Arial"/>
              <a:cs typeface="Arial"/>
              <a:sym typeface="Arial"/>
            </a:endParaRPr>
          </a:p>
        </p:txBody>
      </p:sp>
      <p:sp>
        <p:nvSpPr>
          <p:cNvPr id="1021" name="Google Shape;1021;p117"/>
          <p:cNvSpPr/>
          <p:nvPr/>
        </p:nvSpPr>
        <p:spPr>
          <a:xfrm>
            <a:off x="3314146" y="3484469"/>
            <a:ext cx="636388" cy="636388"/>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22" name="Google Shape;1022;p117"/>
          <p:cNvSpPr txBox="1"/>
          <p:nvPr/>
        </p:nvSpPr>
        <p:spPr>
          <a:xfrm>
            <a:off x="206977" y="4588275"/>
            <a:ext cx="2949260" cy="610457"/>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Flexible sizing to support scalability and growth</a:t>
            </a:r>
            <a:endParaRPr sz="1400" b="0" i="0" u="none" strike="noStrike" cap="none">
              <a:solidFill>
                <a:srgbClr val="000000"/>
              </a:solidFill>
              <a:latin typeface="Arial"/>
              <a:ea typeface="Arial"/>
              <a:cs typeface="Arial"/>
              <a:sym typeface="Arial"/>
            </a:endParaRPr>
          </a:p>
        </p:txBody>
      </p:sp>
      <p:sp>
        <p:nvSpPr>
          <p:cNvPr id="1023" name="Google Shape;1023;p117"/>
          <p:cNvSpPr txBox="1"/>
          <p:nvPr/>
        </p:nvSpPr>
        <p:spPr>
          <a:xfrm>
            <a:off x="9473556" y="2406592"/>
            <a:ext cx="1782286" cy="610457"/>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Defined metrics for success</a:t>
            </a:r>
            <a:endParaRPr sz="1400" b="0" i="0" u="none" strike="noStrike" cap="none">
              <a:solidFill>
                <a:srgbClr val="000000"/>
              </a:solidFill>
              <a:latin typeface="Arial"/>
              <a:ea typeface="Arial"/>
              <a:cs typeface="Arial"/>
              <a:sym typeface="Arial"/>
            </a:endParaRPr>
          </a:p>
        </p:txBody>
      </p:sp>
      <p:sp>
        <p:nvSpPr>
          <p:cNvPr id="1024" name="Google Shape;1024;p117"/>
          <p:cNvSpPr txBox="1"/>
          <p:nvPr/>
        </p:nvSpPr>
        <p:spPr>
          <a:xfrm>
            <a:off x="9473556" y="3497434"/>
            <a:ext cx="2381517" cy="610457"/>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Custom tools and delivery automation</a:t>
            </a:r>
            <a:endParaRPr sz="1400" b="0" i="0" u="none" strike="noStrike" cap="none">
              <a:solidFill>
                <a:srgbClr val="000000"/>
              </a:solidFill>
              <a:latin typeface="Arial"/>
              <a:ea typeface="Arial"/>
              <a:cs typeface="Arial"/>
              <a:sym typeface="Arial"/>
            </a:endParaRPr>
          </a:p>
        </p:txBody>
      </p:sp>
      <p:sp>
        <p:nvSpPr>
          <p:cNvPr id="1025" name="Google Shape;1025;p117"/>
          <p:cNvSpPr txBox="1"/>
          <p:nvPr/>
        </p:nvSpPr>
        <p:spPr>
          <a:xfrm>
            <a:off x="9473556" y="4588275"/>
            <a:ext cx="2381517" cy="610457"/>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Integration with existing and 3</a:t>
            </a:r>
            <a:r>
              <a:rPr lang="en-US" sz="1600" b="0" i="0" u="none" strike="noStrike" cap="none" baseline="30000">
                <a:solidFill>
                  <a:srgbClr val="000000"/>
                </a:solidFill>
                <a:latin typeface="Arial"/>
                <a:ea typeface="Arial"/>
                <a:cs typeface="Arial"/>
                <a:sym typeface="Arial"/>
              </a:rPr>
              <a:t>rd</a:t>
            </a:r>
            <a:r>
              <a:rPr lang="en-US" sz="1600" b="0" i="0" u="none" strike="noStrike" cap="none">
                <a:solidFill>
                  <a:srgbClr val="000000"/>
                </a:solidFill>
                <a:latin typeface="Arial"/>
                <a:ea typeface="Arial"/>
                <a:cs typeface="Arial"/>
                <a:sym typeface="Arial"/>
              </a:rPr>
              <a:t> party solutions </a:t>
            </a:r>
            <a:endParaRPr sz="1400" b="0" i="0" u="none" strike="noStrike" cap="none">
              <a:solidFill>
                <a:srgbClr val="000000"/>
              </a:solidFill>
              <a:latin typeface="Arial"/>
              <a:ea typeface="Arial"/>
              <a:cs typeface="Arial"/>
              <a:sym typeface="Arial"/>
            </a:endParaRPr>
          </a:p>
        </p:txBody>
      </p:sp>
      <p:sp>
        <p:nvSpPr>
          <p:cNvPr id="1026" name="Google Shape;1026;p117"/>
          <p:cNvSpPr/>
          <p:nvPr/>
        </p:nvSpPr>
        <p:spPr>
          <a:xfrm>
            <a:off x="4307126" y="1906821"/>
            <a:ext cx="4022312" cy="4022312"/>
          </a:xfrm>
          <a:prstGeom prst="ellipse">
            <a:avLst/>
          </a:prstGeom>
          <a:solidFill>
            <a:schemeClr val="lt1"/>
          </a:solidFill>
          <a:ln w="19050" cap="flat" cmpd="sng">
            <a:solidFill>
              <a:schemeClr val="lt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cxnSp>
        <p:nvCxnSpPr>
          <p:cNvPr id="1027" name="Google Shape;1027;p117"/>
          <p:cNvCxnSpPr>
            <a:stCxn id="1019" idx="6"/>
          </p:cNvCxnSpPr>
          <p:nvPr/>
        </p:nvCxnSpPr>
        <p:spPr>
          <a:xfrm>
            <a:off x="3950534" y="2711821"/>
            <a:ext cx="761700" cy="338100"/>
          </a:xfrm>
          <a:prstGeom prst="bentConnector3">
            <a:avLst>
              <a:gd name="adj1" fmla="val 50000"/>
            </a:avLst>
          </a:prstGeom>
          <a:noFill/>
          <a:ln w="19050" cap="flat" cmpd="sng">
            <a:solidFill>
              <a:schemeClr val="accent1"/>
            </a:solidFill>
            <a:prstDash val="solid"/>
            <a:miter lim="800000"/>
            <a:headEnd type="none" w="sm" len="sm"/>
            <a:tailEnd type="none" w="sm" len="sm"/>
          </a:ln>
        </p:spPr>
      </p:cxnSp>
      <p:grpSp>
        <p:nvGrpSpPr>
          <p:cNvPr id="1028" name="Google Shape;1028;p117" descr="Apps Design&#10;"/>
          <p:cNvGrpSpPr/>
          <p:nvPr/>
        </p:nvGrpSpPr>
        <p:grpSpPr>
          <a:xfrm>
            <a:off x="3402120" y="2481600"/>
            <a:ext cx="460445" cy="460445"/>
            <a:chOff x="528631" y="3174355"/>
            <a:chExt cx="600836" cy="600836"/>
          </a:xfrm>
        </p:grpSpPr>
        <p:grpSp>
          <p:nvGrpSpPr>
            <p:cNvPr id="1029" name="Google Shape;1029;p117"/>
            <p:cNvGrpSpPr/>
            <p:nvPr/>
          </p:nvGrpSpPr>
          <p:grpSpPr>
            <a:xfrm>
              <a:off x="612749" y="3270489"/>
              <a:ext cx="442721" cy="379475"/>
              <a:chOff x="612749" y="3270489"/>
              <a:chExt cx="442721" cy="379475"/>
            </a:xfrm>
          </p:grpSpPr>
          <p:sp>
            <p:nvSpPr>
              <p:cNvPr id="1030" name="Google Shape;1030;p117"/>
              <p:cNvSpPr/>
              <p:nvPr/>
            </p:nvSpPr>
            <p:spPr>
              <a:xfrm>
                <a:off x="703190" y="3373580"/>
                <a:ext cx="103723" cy="159379"/>
              </a:xfrm>
              <a:custGeom>
                <a:avLst/>
                <a:gdLst/>
                <a:ahLst/>
                <a:cxnLst/>
                <a:rect l="l" t="t" r="r" b="b"/>
                <a:pathLst>
                  <a:path w="103723" h="159379" extrusionOk="0">
                    <a:moveTo>
                      <a:pt x="17076" y="159380"/>
                    </a:moveTo>
                    <a:lnTo>
                      <a:pt x="103723" y="16444"/>
                    </a:lnTo>
                    <a:lnTo>
                      <a:pt x="95501" y="0"/>
                    </a:lnTo>
                    <a:lnTo>
                      <a:pt x="0" y="15685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1" name="Google Shape;1031;p117"/>
              <p:cNvSpPr/>
              <p:nvPr/>
            </p:nvSpPr>
            <p:spPr>
              <a:xfrm>
                <a:off x="837904" y="3270489"/>
                <a:ext cx="77476" cy="98663"/>
              </a:xfrm>
              <a:custGeom>
                <a:avLst/>
                <a:gdLst/>
                <a:ahLst/>
                <a:cxnLst/>
                <a:rect l="l" t="t" r="r" b="b"/>
                <a:pathLst>
                  <a:path w="77476" h="98663" extrusionOk="0">
                    <a:moveTo>
                      <a:pt x="29093" y="80322"/>
                    </a:moveTo>
                    <a:lnTo>
                      <a:pt x="32255" y="82220"/>
                    </a:lnTo>
                    <a:lnTo>
                      <a:pt x="30991" y="84117"/>
                    </a:lnTo>
                    <a:lnTo>
                      <a:pt x="40477" y="98664"/>
                    </a:lnTo>
                    <a:lnTo>
                      <a:pt x="49332" y="83485"/>
                    </a:lnTo>
                    <a:cubicBezTo>
                      <a:pt x="49332" y="83485"/>
                      <a:pt x="49332" y="83485"/>
                      <a:pt x="49332" y="83485"/>
                    </a:cubicBezTo>
                    <a:lnTo>
                      <a:pt x="76528" y="38580"/>
                    </a:lnTo>
                    <a:cubicBezTo>
                      <a:pt x="77793" y="36050"/>
                      <a:pt x="77793" y="32888"/>
                      <a:pt x="76528" y="30358"/>
                    </a:cubicBezTo>
                    <a:cubicBezTo>
                      <a:pt x="75895" y="29093"/>
                      <a:pt x="60084" y="2530"/>
                      <a:pt x="27196" y="0"/>
                    </a:cubicBezTo>
                    <a:cubicBezTo>
                      <a:pt x="24034" y="0"/>
                      <a:pt x="21504" y="1265"/>
                      <a:pt x="19606" y="3795"/>
                    </a:cubicBezTo>
                    <a:lnTo>
                      <a:pt x="0" y="36050"/>
                    </a:lnTo>
                    <a:lnTo>
                      <a:pt x="29093" y="80322"/>
                    </a:lnTo>
                    <a:close/>
                    <a:moveTo>
                      <a:pt x="30991" y="17076"/>
                    </a:moveTo>
                    <a:cubicBezTo>
                      <a:pt x="46170" y="19606"/>
                      <a:pt x="56289" y="29726"/>
                      <a:pt x="60716" y="35418"/>
                    </a:cubicBezTo>
                    <a:lnTo>
                      <a:pt x="40477" y="68938"/>
                    </a:lnTo>
                    <a:lnTo>
                      <a:pt x="10752" y="50597"/>
                    </a:lnTo>
                    <a:lnTo>
                      <a:pt x="30991" y="1707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2" name="Google Shape;1032;p117"/>
              <p:cNvSpPr/>
              <p:nvPr/>
            </p:nvSpPr>
            <p:spPr>
              <a:xfrm>
                <a:off x="977045" y="3499439"/>
                <a:ext cx="15811" cy="25930"/>
              </a:xfrm>
              <a:custGeom>
                <a:avLst/>
                <a:gdLst/>
                <a:ahLst/>
                <a:cxnLst/>
                <a:rect l="l" t="t" r="r" b="b"/>
                <a:pathLst>
                  <a:path w="15811" h="25930" extrusionOk="0">
                    <a:moveTo>
                      <a:pt x="0" y="14547"/>
                    </a:moveTo>
                    <a:cubicBezTo>
                      <a:pt x="5692" y="17709"/>
                      <a:pt x="11384" y="22136"/>
                      <a:pt x="15812" y="25931"/>
                    </a:cubicBezTo>
                    <a:lnTo>
                      <a:pt x="15812" y="0"/>
                    </a:lnTo>
                    <a:lnTo>
                      <a:pt x="0" y="0"/>
                    </a:lnTo>
                    <a:lnTo>
                      <a:pt x="0" y="1454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3" name="Google Shape;1033;p117"/>
              <p:cNvSpPr/>
              <p:nvPr/>
            </p:nvSpPr>
            <p:spPr>
              <a:xfrm>
                <a:off x="797427" y="3499439"/>
                <a:ext cx="90441" cy="43639"/>
              </a:xfrm>
              <a:custGeom>
                <a:avLst/>
                <a:gdLst/>
                <a:ahLst/>
                <a:cxnLst/>
                <a:rect l="l" t="t" r="r" b="b"/>
                <a:pathLst>
                  <a:path w="90441" h="43639" extrusionOk="0">
                    <a:moveTo>
                      <a:pt x="82220" y="27828"/>
                    </a:moveTo>
                    <a:lnTo>
                      <a:pt x="44272" y="27828"/>
                    </a:lnTo>
                    <a:lnTo>
                      <a:pt x="44272" y="0"/>
                    </a:lnTo>
                    <a:lnTo>
                      <a:pt x="28461" y="0"/>
                    </a:lnTo>
                    <a:lnTo>
                      <a:pt x="28461" y="27828"/>
                    </a:lnTo>
                    <a:lnTo>
                      <a:pt x="9487" y="27828"/>
                    </a:lnTo>
                    <a:lnTo>
                      <a:pt x="0" y="43640"/>
                    </a:lnTo>
                    <a:lnTo>
                      <a:pt x="90442" y="4364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4" name="Google Shape;1034;p117"/>
              <p:cNvSpPr/>
              <p:nvPr/>
            </p:nvSpPr>
            <p:spPr>
              <a:xfrm>
                <a:off x="929611" y="3448210"/>
                <a:ext cx="125859" cy="94869"/>
              </a:xfrm>
              <a:custGeom>
                <a:avLst/>
                <a:gdLst/>
                <a:ahLst/>
                <a:cxnLst/>
                <a:rect l="l" t="t" r="r" b="b"/>
                <a:pathLst>
                  <a:path w="125859" h="94869" extrusionOk="0">
                    <a:moveTo>
                      <a:pt x="0" y="0"/>
                    </a:moveTo>
                    <a:lnTo>
                      <a:pt x="10119" y="15812"/>
                    </a:lnTo>
                    <a:lnTo>
                      <a:pt x="110048" y="15812"/>
                    </a:lnTo>
                    <a:lnTo>
                      <a:pt x="110048" y="79058"/>
                    </a:lnTo>
                    <a:lnTo>
                      <a:pt x="65143" y="79058"/>
                    </a:lnTo>
                    <a:cubicBezTo>
                      <a:pt x="70203" y="84117"/>
                      <a:pt x="74630" y="89177"/>
                      <a:pt x="77793" y="94869"/>
                    </a:cubicBezTo>
                    <a:lnTo>
                      <a:pt x="125860" y="94869"/>
                    </a:lnTo>
                    <a:lnTo>
                      <a:pt x="125860" y="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5" name="Google Shape;1035;p117"/>
              <p:cNvSpPr/>
              <p:nvPr/>
            </p:nvSpPr>
            <p:spPr>
              <a:xfrm>
                <a:off x="612749" y="3448210"/>
                <a:ext cx="116372" cy="94869"/>
              </a:xfrm>
              <a:custGeom>
                <a:avLst/>
                <a:gdLst/>
                <a:ahLst/>
                <a:cxnLst/>
                <a:rect l="l" t="t" r="r" b="b"/>
                <a:pathLst>
                  <a:path w="116372" h="94869" extrusionOk="0">
                    <a:moveTo>
                      <a:pt x="77793" y="63878"/>
                    </a:moveTo>
                    <a:lnTo>
                      <a:pt x="77793" y="51229"/>
                    </a:lnTo>
                    <a:lnTo>
                      <a:pt x="61981" y="51229"/>
                    </a:lnTo>
                    <a:lnTo>
                      <a:pt x="61981" y="79058"/>
                    </a:lnTo>
                    <a:lnTo>
                      <a:pt x="15812" y="79058"/>
                    </a:lnTo>
                    <a:lnTo>
                      <a:pt x="15812" y="15812"/>
                    </a:lnTo>
                    <a:lnTo>
                      <a:pt x="106886" y="15812"/>
                    </a:lnTo>
                    <a:lnTo>
                      <a:pt x="116373" y="0"/>
                    </a:lnTo>
                    <a:lnTo>
                      <a:pt x="0" y="0"/>
                    </a:lnTo>
                    <a:lnTo>
                      <a:pt x="0" y="94869"/>
                    </a:lnTo>
                    <a:lnTo>
                      <a:pt x="58819" y="9486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6" name="Google Shape;1036;p117"/>
              <p:cNvSpPr/>
              <p:nvPr/>
            </p:nvSpPr>
            <p:spPr>
              <a:xfrm>
                <a:off x="666349" y="3425441"/>
                <a:ext cx="168392" cy="224523"/>
              </a:xfrm>
              <a:custGeom>
                <a:avLst/>
                <a:gdLst/>
                <a:ahLst/>
                <a:cxnLst/>
                <a:rect l="l" t="t" r="r" b="b"/>
                <a:pathLst>
                  <a:path w="168392" h="224523" extrusionOk="0">
                    <a:moveTo>
                      <a:pt x="159538" y="0"/>
                    </a:moveTo>
                    <a:lnTo>
                      <a:pt x="72259" y="144201"/>
                    </a:lnTo>
                    <a:cubicBezTo>
                      <a:pt x="64037" y="135346"/>
                      <a:pt x="49490" y="122697"/>
                      <a:pt x="29251" y="123962"/>
                    </a:cubicBezTo>
                    <a:cubicBezTo>
                      <a:pt x="26089" y="123962"/>
                      <a:pt x="22927" y="126492"/>
                      <a:pt x="22294" y="129654"/>
                    </a:cubicBezTo>
                    <a:lnTo>
                      <a:pt x="158" y="214404"/>
                    </a:lnTo>
                    <a:cubicBezTo>
                      <a:pt x="-474" y="217566"/>
                      <a:pt x="791" y="221361"/>
                      <a:pt x="3953" y="223258"/>
                    </a:cubicBezTo>
                    <a:cubicBezTo>
                      <a:pt x="5218" y="223891"/>
                      <a:pt x="6483" y="224523"/>
                      <a:pt x="7748" y="224523"/>
                    </a:cubicBezTo>
                    <a:cubicBezTo>
                      <a:pt x="9645" y="224523"/>
                      <a:pt x="11542" y="223891"/>
                      <a:pt x="12807" y="222626"/>
                    </a:cubicBezTo>
                    <a:lnTo>
                      <a:pt x="77951" y="163807"/>
                    </a:lnTo>
                    <a:cubicBezTo>
                      <a:pt x="78583" y="163175"/>
                      <a:pt x="79216" y="162542"/>
                      <a:pt x="79848" y="161277"/>
                    </a:cubicBezTo>
                    <a:lnTo>
                      <a:pt x="79848" y="161277"/>
                    </a:lnTo>
                    <a:lnTo>
                      <a:pt x="168392" y="15812"/>
                    </a:lnTo>
                    <a:lnTo>
                      <a:pt x="159538" y="0"/>
                    </a:lnTo>
                    <a:close/>
                    <a:moveTo>
                      <a:pt x="21662" y="193533"/>
                    </a:moveTo>
                    <a:lnTo>
                      <a:pt x="35576" y="140406"/>
                    </a:lnTo>
                    <a:cubicBezTo>
                      <a:pt x="47593" y="142304"/>
                      <a:pt x="57080" y="151158"/>
                      <a:pt x="62139" y="157483"/>
                    </a:cubicBezTo>
                    <a:lnTo>
                      <a:pt x="21662" y="19353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sp>
          <p:nvSpPr>
            <p:cNvPr id="1037" name="Google Shape;1037;p117"/>
            <p:cNvSpPr/>
            <p:nvPr/>
          </p:nvSpPr>
          <p:spPr>
            <a:xfrm>
              <a:off x="763428" y="3256090"/>
              <a:ext cx="190216" cy="284458"/>
            </a:xfrm>
            <a:custGeom>
              <a:avLst/>
              <a:gdLst/>
              <a:ahLst/>
              <a:cxnLst/>
              <a:rect l="l" t="t" r="r" b="b"/>
              <a:pathLst>
                <a:path w="190216" h="284458" extrusionOk="0">
                  <a:moveTo>
                    <a:pt x="152269" y="275604"/>
                  </a:moveTo>
                  <a:lnTo>
                    <a:pt x="15658" y="16296"/>
                  </a:lnTo>
                  <a:cubicBezTo>
                    <a:pt x="15658" y="16296"/>
                    <a:pt x="16290" y="15663"/>
                    <a:pt x="16290" y="15663"/>
                  </a:cubicBezTo>
                  <a:cubicBezTo>
                    <a:pt x="16290" y="15663"/>
                    <a:pt x="16290" y="15663"/>
                    <a:pt x="16290" y="15663"/>
                  </a:cubicBezTo>
                  <a:lnTo>
                    <a:pt x="175670" y="261690"/>
                  </a:lnTo>
                  <a:lnTo>
                    <a:pt x="183892" y="257263"/>
                  </a:lnTo>
                  <a:cubicBezTo>
                    <a:pt x="185789" y="255998"/>
                    <a:pt x="187687" y="255366"/>
                    <a:pt x="190217" y="254733"/>
                  </a:cubicBezTo>
                  <a:lnTo>
                    <a:pt x="29572" y="6809"/>
                  </a:lnTo>
                  <a:cubicBezTo>
                    <a:pt x="24512" y="-148"/>
                    <a:pt x="15658" y="-2046"/>
                    <a:pt x="8068" y="2382"/>
                  </a:cubicBezTo>
                  <a:cubicBezTo>
                    <a:pt x="479" y="6809"/>
                    <a:pt x="-2051" y="15663"/>
                    <a:pt x="1743" y="23885"/>
                  </a:cubicBezTo>
                  <a:lnTo>
                    <a:pt x="138987" y="284459"/>
                  </a:lnTo>
                  <a:cubicBezTo>
                    <a:pt x="140885" y="283194"/>
                    <a:pt x="142150" y="281296"/>
                    <a:pt x="144047" y="280664"/>
                  </a:cubicBezTo>
                  <a:lnTo>
                    <a:pt x="152269" y="27560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8" name="Google Shape;1038;p117"/>
            <p:cNvSpPr/>
            <p:nvPr/>
          </p:nvSpPr>
          <p:spPr>
            <a:xfrm>
              <a:off x="913799" y="3530746"/>
              <a:ext cx="91822" cy="132500"/>
            </a:xfrm>
            <a:custGeom>
              <a:avLst/>
              <a:gdLst/>
              <a:ahLst/>
              <a:cxnLst/>
              <a:rect l="l" t="t" r="r" b="b"/>
              <a:pathLst>
                <a:path w="91822" h="132500" extrusionOk="0">
                  <a:moveTo>
                    <a:pt x="80955" y="132500"/>
                  </a:moveTo>
                  <a:cubicBezTo>
                    <a:pt x="77793" y="132500"/>
                    <a:pt x="74630" y="130603"/>
                    <a:pt x="73365" y="127441"/>
                  </a:cubicBezTo>
                  <a:cubicBezTo>
                    <a:pt x="66408" y="107202"/>
                    <a:pt x="51862" y="100245"/>
                    <a:pt x="37948" y="93288"/>
                  </a:cubicBezTo>
                  <a:cubicBezTo>
                    <a:pt x="29726" y="89493"/>
                    <a:pt x="22136" y="85698"/>
                    <a:pt x="17076" y="80006"/>
                  </a:cubicBezTo>
                  <a:cubicBezTo>
                    <a:pt x="3162" y="64195"/>
                    <a:pt x="632" y="34469"/>
                    <a:pt x="0" y="31307"/>
                  </a:cubicBezTo>
                  <a:cubicBezTo>
                    <a:pt x="0" y="28144"/>
                    <a:pt x="1265" y="25615"/>
                    <a:pt x="3795" y="23717"/>
                  </a:cubicBezTo>
                  <a:lnTo>
                    <a:pt x="43007" y="949"/>
                  </a:lnTo>
                  <a:cubicBezTo>
                    <a:pt x="45537" y="-316"/>
                    <a:pt x="48067" y="-316"/>
                    <a:pt x="50597" y="949"/>
                  </a:cubicBezTo>
                  <a:cubicBezTo>
                    <a:pt x="108783" y="33204"/>
                    <a:pt x="88544" y="123013"/>
                    <a:pt x="87912" y="126808"/>
                  </a:cubicBezTo>
                  <a:cubicBezTo>
                    <a:pt x="87912" y="129338"/>
                    <a:pt x="84750" y="131868"/>
                    <a:pt x="80955" y="132500"/>
                  </a:cubicBezTo>
                  <a:cubicBezTo>
                    <a:pt x="80955" y="131868"/>
                    <a:pt x="80955" y="132500"/>
                    <a:pt x="80955" y="132500"/>
                  </a:cubicBezTo>
                  <a:close/>
                  <a:moveTo>
                    <a:pt x="16444" y="34469"/>
                  </a:moveTo>
                  <a:cubicBezTo>
                    <a:pt x="17709" y="43956"/>
                    <a:pt x="21504" y="61032"/>
                    <a:pt x="28461" y="69254"/>
                  </a:cubicBezTo>
                  <a:cubicBezTo>
                    <a:pt x="31623" y="73049"/>
                    <a:pt x="37315" y="75579"/>
                    <a:pt x="44272" y="78741"/>
                  </a:cubicBezTo>
                  <a:cubicBezTo>
                    <a:pt x="53759" y="83168"/>
                    <a:pt x="65776" y="88861"/>
                    <a:pt x="75895" y="100245"/>
                  </a:cubicBezTo>
                  <a:cubicBezTo>
                    <a:pt x="77793" y="74947"/>
                    <a:pt x="75263" y="35102"/>
                    <a:pt x="47435" y="16760"/>
                  </a:cubicBezTo>
                  <a:lnTo>
                    <a:pt x="16444" y="3446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39" name="Google Shape;1039;p117"/>
            <p:cNvSpPr/>
            <p:nvPr/>
          </p:nvSpPr>
          <p:spPr>
            <a:xfrm>
              <a:off x="528631" y="3174355"/>
              <a:ext cx="600836" cy="600836"/>
            </a:xfrm>
            <a:custGeom>
              <a:avLst/>
              <a:gdLst/>
              <a:ahLst/>
              <a:cxnLst/>
              <a:rect l="l" t="t" r="r" b="b"/>
              <a:pathLst>
                <a:path w="600836" h="600836" extrusionOk="0">
                  <a:moveTo>
                    <a:pt x="300419" y="600837"/>
                  </a:moveTo>
                  <a:cubicBezTo>
                    <a:pt x="134714" y="600837"/>
                    <a:pt x="0" y="466123"/>
                    <a:pt x="0" y="300419"/>
                  </a:cubicBezTo>
                  <a:cubicBezTo>
                    <a:pt x="0" y="134714"/>
                    <a:pt x="134714" y="0"/>
                    <a:pt x="300419" y="0"/>
                  </a:cubicBezTo>
                  <a:cubicBezTo>
                    <a:pt x="466123" y="0"/>
                    <a:pt x="600837" y="134714"/>
                    <a:pt x="600837" y="300419"/>
                  </a:cubicBezTo>
                  <a:cubicBezTo>
                    <a:pt x="600837" y="466123"/>
                    <a:pt x="466123" y="600837"/>
                    <a:pt x="300419" y="600837"/>
                  </a:cubicBezTo>
                  <a:close/>
                  <a:moveTo>
                    <a:pt x="300419" y="15812"/>
                  </a:moveTo>
                  <a:cubicBezTo>
                    <a:pt x="143568" y="15812"/>
                    <a:pt x="15812" y="143568"/>
                    <a:pt x="15812" y="300419"/>
                  </a:cubicBezTo>
                  <a:cubicBezTo>
                    <a:pt x="15812" y="457269"/>
                    <a:pt x="143568" y="585026"/>
                    <a:pt x="300419" y="585026"/>
                  </a:cubicBezTo>
                  <a:cubicBezTo>
                    <a:pt x="457269" y="585026"/>
                    <a:pt x="585026" y="457269"/>
                    <a:pt x="585026" y="300419"/>
                  </a:cubicBezTo>
                  <a:cubicBezTo>
                    <a:pt x="585026" y="143568"/>
                    <a:pt x="457269" y="15812"/>
                    <a:pt x="300419" y="1581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nvGrpSpPr>
          <p:cNvPr id="1040" name="Google Shape;1040;p117"/>
          <p:cNvGrpSpPr/>
          <p:nvPr/>
        </p:nvGrpSpPr>
        <p:grpSpPr>
          <a:xfrm>
            <a:off x="3314146" y="4575310"/>
            <a:ext cx="636388" cy="636388"/>
            <a:chOff x="3313421" y="4413558"/>
            <a:chExt cx="636554" cy="636554"/>
          </a:xfrm>
        </p:grpSpPr>
        <p:sp>
          <p:nvSpPr>
            <p:cNvPr id="1041" name="Google Shape;1041;p117"/>
            <p:cNvSpPr/>
            <p:nvPr/>
          </p:nvSpPr>
          <p:spPr>
            <a:xfrm rot="10800000" flipH="1">
              <a:off x="3313421" y="4413558"/>
              <a:ext cx="636554" cy="63655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042" name="Google Shape;1042;p117" descr="Scalability&#10;"/>
            <p:cNvGrpSpPr/>
            <p:nvPr/>
          </p:nvGrpSpPr>
          <p:grpSpPr>
            <a:xfrm>
              <a:off x="3373338" y="4473612"/>
              <a:ext cx="516720" cy="516447"/>
              <a:chOff x="1861806" y="3177517"/>
              <a:chExt cx="600837" cy="600521"/>
            </a:xfrm>
          </p:grpSpPr>
          <p:sp>
            <p:nvSpPr>
              <p:cNvPr id="1043" name="Google Shape;1043;p117"/>
              <p:cNvSpPr/>
              <p:nvPr/>
            </p:nvSpPr>
            <p:spPr>
              <a:xfrm>
                <a:off x="2134522" y="3738889"/>
                <a:ext cx="55909" cy="39149"/>
              </a:xfrm>
              <a:custGeom>
                <a:avLst/>
                <a:gdLst/>
                <a:ahLst/>
                <a:cxnLst/>
                <a:rect l="l" t="t" r="r" b="b"/>
                <a:pathLst>
                  <a:path w="55909" h="39149" extrusionOk="0">
                    <a:moveTo>
                      <a:pt x="27955" y="39149"/>
                    </a:moveTo>
                    <a:lnTo>
                      <a:pt x="0" y="11195"/>
                    </a:lnTo>
                    <a:lnTo>
                      <a:pt x="11195" y="0"/>
                    </a:lnTo>
                    <a:lnTo>
                      <a:pt x="27955" y="16760"/>
                    </a:lnTo>
                    <a:lnTo>
                      <a:pt x="44778" y="0"/>
                    </a:lnTo>
                    <a:lnTo>
                      <a:pt x="55909" y="11195"/>
                    </a:lnTo>
                    <a:lnTo>
                      <a:pt x="27955" y="3914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4" name="Google Shape;1044;p117"/>
              <p:cNvSpPr/>
              <p:nvPr/>
            </p:nvSpPr>
            <p:spPr>
              <a:xfrm>
                <a:off x="1914237" y="3518729"/>
                <a:ext cx="207004" cy="206877"/>
              </a:xfrm>
              <a:custGeom>
                <a:avLst/>
                <a:gdLst/>
                <a:ahLst/>
                <a:cxnLst/>
                <a:rect l="l" t="t" r="r" b="b"/>
                <a:pathLst>
                  <a:path w="207004" h="206877" extrusionOk="0">
                    <a:moveTo>
                      <a:pt x="195810" y="206878"/>
                    </a:moveTo>
                    <a:lnTo>
                      <a:pt x="146857" y="157799"/>
                    </a:lnTo>
                    <a:lnTo>
                      <a:pt x="158052" y="146604"/>
                    </a:lnTo>
                    <a:lnTo>
                      <a:pt x="207004" y="195746"/>
                    </a:lnTo>
                    <a:close/>
                    <a:moveTo>
                      <a:pt x="122381" y="133512"/>
                    </a:moveTo>
                    <a:lnTo>
                      <a:pt x="73429" y="84560"/>
                    </a:lnTo>
                    <a:lnTo>
                      <a:pt x="84623" y="73365"/>
                    </a:lnTo>
                    <a:lnTo>
                      <a:pt x="133576" y="122318"/>
                    </a:lnTo>
                    <a:close/>
                    <a:moveTo>
                      <a:pt x="49016" y="60084"/>
                    </a:moveTo>
                    <a:lnTo>
                      <a:pt x="0" y="11195"/>
                    </a:lnTo>
                    <a:lnTo>
                      <a:pt x="11195" y="0"/>
                    </a:lnTo>
                    <a:lnTo>
                      <a:pt x="60147" y="4895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5" name="Google Shape;1045;p117"/>
              <p:cNvSpPr/>
              <p:nvPr/>
            </p:nvSpPr>
            <p:spPr>
              <a:xfrm>
                <a:off x="1861806" y="3449538"/>
                <a:ext cx="39149" cy="55909"/>
              </a:xfrm>
              <a:custGeom>
                <a:avLst/>
                <a:gdLst/>
                <a:ahLst/>
                <a:cxnLst/>
                <a:rect l="l" t="t" r="r" b="b"/>
                <a:pathLst>
                  <a:path w="39149" h="55909" extrusionOk="0">
                    <a:moveTo>
                      <a:pt x="27955" y="55909"/>
                    </a:moveTo>
                    <a:lnTo>
                      <a:pt x="0" y="27955"/>
                    </a:lnTo>
                    <a:lnTo>
                      <a:pt x="27955" y="0"/>
                    </a:lnTo>
                    <a:lnTo>
                      <a:pt x="39149" y="11195"/>
                    </a:lnTo>
                    <a:lnTo>
                      <a:pt x="22389" y="27955"/>
                    </a:lnTo>
                    <a:lnTo>
                      <a:pt x="39149" y="44715"/>
                    </a:lnTo>
                    <a:lnTo>
                      <a:pt x="27955" y="5590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6" name="Google Shape;1046;p117"/>
              <p:cNvSpPr/>
              <p:nvPr/>
            </p:nvSpPr>
            <p:spPr>
              <a:xfrm>
                <a:off x="1914237" y="3229822"/>
                <a:ext cx="206687" cy="206371"/>
              </a:xfrm>
              <a:custGeom>
                <a:avLst/>
                <a:gdLst/>
                <a:ahLst/>
                <a:cxnLst/>
                <a:rect l="l" t="t" r="r" b="b"/>
                <a:pathLst>
                  <a:path w="206687" h="206371" extrusionOk="0">
                    <a:moveTo>
                      <a:pt x="11131" y="206372"/>
                    </a:moveTo>
                    <a:lnTo>
                      <a:pt x="0" y="195177"/>
                    </a:lnTo>
                    <a:lnTo>
                      <a:pt x="48573" y="146478"/>
                    </a:lnTo>
                    <a:lnTo>
                      <a:pt x="59767" y="157672"/>
                    </a:lnTo>
                    <a:close/>
                    <a:moveTo>
                      <a:pt x="84433" y="133259"/>
                    </a:moveTo>
                    <a:lnTo>
                      <a:pt x="73239" y="122065"/>
                    </a:lnTo>
                    <a:lnTo>
                      <a:pt x="122128" y="73555"/>
                    </a:lnTo>
                    <a:lnTo>
                      <a:pt x="133259" y="84750"/>
                    </a:lnTo>
                    <a:close/>
                    <a:moveTo>
                      <a:pt x="157736" y="60020"/>
                    </a:moveTo>
                    <a:lnTo>
                      <a:pt x="146541" y="48826"/>
                    </a:lnTo>
                    <a:lnTo>
                      <a:pt x="195367" y="0"/>
                    </a:lnTo>
                    <a:lnTo>
                      <a:pt x="206688" y="1119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7" name="Google Shape;1047;p117"/>
              <p:cNvSpPr/>
              <p:nvPr/>
            </p:nvSpPr>
            <p:spPr>
              <a:xfrm>
                <a:off x="2134080" y="3177517"/>
                <a:ext cx="55909" cy="39086"/>
              </a:xfrm>
              <a:custGeom>
                <a:avLst/>
                <a:gdLst/>
                <a:ahLst/>
                <a:cxnLst/>
                <a:rect l="l" t="t" r="r" b="b"/>
                <a:pathLst>
                  <a:path w="55909" h="39086" extrusionOk="0">
                    <a:moveTo>
                      <a:pt x="44715" y="39086"/>
                    </a:moveTo>
                    <a:lnTo>
                      <a:pt x="27891" y="22326"/>
                    </a:lnTo>
                    <a:lnTo>
                      <a:pt x="11131" y="39086"/>
                    </a:lnTo>
                    <a:lnTo>
                      <a:pt x="0" y="27891"/>
                    </a:lnTo>
                    <a:lnTo>
                      <a:pt x="27891" y="0"/>
                    </a:lnTo>
                    <a:lnTo>
                      <a:pt x="55909" y="27891"/>
                    </a:lnTo>
                    <a:lnTo>
                      <a:pt x="44715" y="3908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8" name="Google Shape;1048;p117"/>
              <p:cNvSpPr/>
              <p:nvPr/>
            </p:nvSpPr>
            <p:spPr>
              <a:xfrm>
                <a:off x="2203144" y="3229885"/>
                <a:ext cx="207067" cy="206877"/>
              </a:xfrm>
              <a:custGeom>
                <a:avLst/>
                <a:gdLst/>
                <a:ahLst/>
                <a:cxnLst/>
                <a:rect l="l" t="t" r="r" b="b"/>
                <a:pathLst>
                  <a:path w="207067" h="206877" extrusionOk="0">
                    <a:moveTo>
                      <a:pt x="196063" y="206878"/>
                    </a:moveTo>
                    <a:lnTo>
                      <a:pt x="147110" y="157989"/>
                    </a:lnTo>
                    <a:lnTo>
                      <a:pt x="158115" y="146794"/>
                    </a:lnTo>
                    <a:lnTo>
                      <a:pt x="207067" y="195683"/>
                    </a:lnTo>
                    <a:close/>
                    <a:moveTo>
                      <a:pt x="122508" y="133512"/>
                    </a:moveTo>
                    <a:lnTo>
                      <a:pt x="73555" y="84560"/>
                    </a:lnTo>
                    <a:lnTo>
                      <a:pt x="84686" y="73492"/>
                    </a:lnTo>
                    <a:lnTo>
                      <a:pt x="133639" y="122381"/>
                    </a:lnTo>
                    <a:close/>
                    <a:moveTo>
                      <a:pt x="49079" y="60147"/>
                    </a:moveTo>
                    <a:lnTo>
                      <a:pt x="0" y="11195"/>
                    </a:lnTo>
                    <a:lnTo>
                      <a:pt x="11131" y="0"/>
                    </a:lnTo>
                    <a:lnTo>
                      <a:pt x="60147" y="4895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49" name="Google Shape;1049;p117"/>
              <p:cNvSpPr/>
              <p:nvPr/>
            </p:nvSpPr>
            <p:spPr>
              <a:xfrm>
                <a:off x="2423557" y="3450044"/>
                <a:ext cx="39086" cy="55909"/>
              </a:xfrm>
              <a:custGeom>
                <a:avLst/>
                <a:gdLst/>
                <a:ahLst/>
                <a:cxnLst/>
                <a:rect l="l" t="t" r="r" b="b"/>
                <a:pathLst>
                  <a:path w="39086" h="55909" extrusionOk="0">
                    <a:moveTo>
                      <a:pt x="11131" y="55909"/>
                    </a:moveTo>
                    <a:lnTo>
                      <a:pt x="0" y="44715"/>
                    </a:lnTo>
                    <a:lnTo>
                      <a:pt x="16760" y="27955"/>
                    </a:lnTo>
                    <a:lnTo>
                      <a:pt x="0" y="11195"/>
                    </a:lnTo>
                    <a:lnTo>
                      <a:pt x="11131" y="0"/>
                    </a:lnTo>
                    <a:lnTo>
                      <a:pt x="39086" y="27955"/>
                    </a:lnTo>
                    <a:lnTo>
                      <a:pt x="11131" y="5590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50" name="Google Shape;1050;p117"/>
              <p:cNvSpPr/>
              <p:nvPr/>
            </p:nvSpPr>
            <p:spPr>
              <a:xfrm>
                <a:off x="2203713" y="3519172"/>
                <a:ext cx="206687" cy="206498"/>
              </a:xfrm>
              <a:custGeom>
                <a:avLst/>
                <a:gdLst/>
                <a:ahLst/>
                <a:cxnLst/>
                <a:rect l="l" t="t" r="r" b="b"/>
                <a:pathLst>
                  <a:path w="206687" h="206498" extrusionOk="0">
                    <a:moveTo>
                      <a:pt x="11195" y="206498"/>
                    </a:moveTo>
                    <a:lnTo>
                      <a:pt x="0" y="195304"/>
                    </a:lnTo>
                    <a:lnTo>
                      <a:pt x="48826" y="146478"/>
                    </a:lnTo>
                    <a:lnTo>
                      <a:pt x="60020" y="157672"/>
                    </a:lnTo>
                    <a:close/>
                    <a:moveTo>
                      <a:pt x="84433" y="133259"/>
                    </a:moveTo>
                    <a:lnTo>
                      <a:pt x="73239" y="122065"/>
                    </a:lnTo>
                    <a:lnTo>
                      <a:pt x="122128" y="73239"/>
                    </a:lnTo>
                    <a:lnTo>
                      <a:pt x="133323" y="84433"/>
                    </a:lnTo>
                    <a:close/>
                    <a:moveTo>
                      <a:pt x="157546" y="60020"/>
                    </a:moveTo>
                    <a:lnTo>
                      <a:pt x="146351" y="48826"/>
                    </a:lnTo>
                    <a:lnTo>
                      <a:pt x="195493" y="0"/>
                    </a:lnTo>
                    <a:lnTo>
                      <a:pt x="206688" y="1119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51" name="Google Shape;1051;p117"/>
              <p:cNvSpPr/>
              <p:nvPr/>
            </p:nvSpPr>
            <p:spPr>
              <a:xfrm>
                <a:off x="2006103" y="3250313"/>
                <a:ext cx="317492" cy="462085"/>
              </a:xfrm>
              <a:custGeom>
                <a:avLst/>
                <a:gdLst/>
                <a:ahLst/>
                <a:cxnLst/>
                <a:rect l="l" t="t" r="r" b="b"/>
                <a:pathLst>
                  <a:path w="317492" h="462085" extrusionOk="0">
                    <a:moveTo>
                      <a:pt x="311327" y="288465"/>
                    </a:moveTo>
                    <a:lnTo>
                      <a:pt x="173641" y="150715"/>
                    </a:lnTo>
                    <a:cubicBezTo>
                      <a:pt x="171698" y="148822"/>
                      <a:pt x="169426" y="147301"/>
                      <a:pt x="166937" y="146225"/>
                    </a:cubicBezTo>
                    <a:lnTo>
                      <a:pt x="166937" y="51862"/>
                    </a:lnTo>
                    <a:lnTo>
                      <a:pt x="189010" y="51862"/>
                    </a:lnTo>
                    <a:lnTo>
                      <a:pt x="159094" y="0"/>
                    </a:lnTo>
                    <a:lnTo>
                      <a:pt x="129116" y="51862"/>
                    </a:lnTo>
                    <a:lnTo>
                      <a:pt x="151188" y="51862"/>
                    </a:lnTo>
                    <a:lnTo>
                      <a:pt x="151188" y="146035"/>
                    </a:lnTo>
                    <a:cubicBezTo>
                      <a:pt x="148471" y="147083"/>
                      <a:pt x="145995" y="148676"/>
                      <a:pt x="143915" y="150715"/>
                    </a:cubicBezTo>
                    <a:lnTo>
                      <a:pt x="6165" y="288465"/>
                    </a:lnTo>
                    <a:cubicBezTo>
                      <a:pt x="-2043" y="296657"/>
                      <a:pt x="-2057" y="309952"/>
                      <a:pt x="6135" y="318160"/>
                    </a:cubicBezTo>
                    <a:cubicBezTo>
                      <a:pt x="6145" y="318170"/>
                      <a:pt x="6155" y="318181"/>
                      <a:pt x="6165" y="318191"/>
                    </a:cubicBezTo>
                    <a:lnTo>
                      <a:pt x="143852" y="455940"/>
                    </a:lnTo>
                    <a:cubicBezTo>
                      <a:pt x="152092" y="464133"/>
                      <a:pt x="165401" y="464133"/>
                      <a:pt x="173641" y="455940"/>
                    </a:cubicBezTo>
                    <a:lnTo>
                      <a:pt x="311327" y="318191"/>
                    </a:lnTo>
                    <a:cubicBezTo>
                      <a:pt x="319536" y="309999"/>
                      <a:pt x="319549" y="296704"/>
                      <a:pt x="311358" y="288495"/>
                    </a:cubicBezTo>
                    <a:cubicBezTo>
                      <a:pt x="311347" y="288485"/>
                      <a:pt x="311337" y="288475"/>
                      <a:pt x="311327" y="288465"/>
                    </a:cubicBezTo>
                    <a:close/>
                    <a:moveTo>
                      <a:pt x="300133" y="307059"/>
                    </a:moveTo>
                    <a:lnTo>
                      <a:pt x="162446" y="444746"/>
                    </a:lnTo>
                    <a:cubicBezTo>
                      <a:pt x="160399" y="446780"/>
                      <a:pt x="157094" y="446780"/>
                      <a:pt x="155046" y="444746"/>
                    </a:cubicBezTo>
                    <a:lnTo>
                      <a:pt x="17360" y="307059"/>
                    </a:lnTo>
                    <a:cubicBezTo>
                      <a:pt x="15299" y="305020"/>
                      <a:pt x="15282" y="301697"/>
                      <a:pt x="17321" y="299636"/>
                    </a:cubicBezTo>
                    <a:cubicBezTo>
                      <a:pt x="17333" y="299622"/>
                      <a:pt x="17347" y="299610"/>
                      <a:pt x="17360" y="299596"/>
                    </a:cubicBezTo>
                    <a:lnTo>
                      <a:pt x="155046" y="161910"/>
                    </a:lnTo>
                    <a:cubicBezTo>
                      <a:pt x="157094" y="159876"/>
                      <a:pt x="160399" y="159876"/>
                      <a:pt x="162446" y="161910"/>
                    </a:cubicBezTo>
                    <a:lnTo>
                      <a:pt x="300133" y="299723"/>
                    </a:lnTo>
                    <a:cubicBezTo>
                      <a:pt x="302125" y="301763"/>
                      <a:pt x="302125" y="305020"/>
                      <a:pt x="300133" y="30705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grpSp>
        <p:nvGrpSpPr>
          <p:cNvPr id="1052" name="Google Shape;1052;p117"/>
          <p:cNvGrpSpPr/>
          <p:nvPr/>
        </p:nvGrpSpPr>
        <p:grpSpPr>
          <a:xfrm>
            <a:off x="8679257" y="2393627"/>
            <a:ext cx="636388" cy="636388"/>
            <a:chOff x="8807525" y="2231307"/>
            <a:chExt cx="636554" cy="636554"/>
          </a:xfrm>
        </p:grpSpPr>
        <p:sp>
          <p:nvSpPr>
            <p:cNvPr id="1053" name="Google Shape;1053;p117"/>
            <p:cNvSpPr/>
            <p:nvPr/>
          </p:nvSpPr>
          <p:spPr>
            <a:xfrm>
              <a:off x="8807525" y="2231307"/>
              <a:ext cx="636554" cy="63655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054" name="Google Shape;1054;p117" descr="Check Circle&#10;"/>
            <p:cNvPicPr preferRelativeResize="0"/>
            <p:nvPr/>
          </p:nvPicPr>
          <p:blipFill rotWithShape="1">
            <a:blip r:embed="rId3">
              <a:alphaModFix/>
            </a:blip>
            <a:srcRect t="104" b="103"/>
            <a:stretch/>
          </p:blipFill>
          <p:spPr>
            <a:xfrm>
              <a:off x="8834337" y="2258725"/>
              <a:ext cx="582930" cy="581718"/>
            </a:xfrm>
            <a:prstGeom prst="rect">
              <a:avLst/>
            </a:prstGeom>
            <a:noFill/>
            <a:ln>
              <a:noFill/>
            </a:ln>
          </p:spPr>
        </p:pic>
      </p:grpSp>
      <p:grpSp>
        <p:nvGrpSpPr>
          <p:cNvPr id="1055" name="Google Shape;1055;p117" descr="Trust&#10;"/>
          <p:cNvGrpSpPr/>
          <p:nvPr/>
        </p:nvGrpSpPr>
        <p:grpSpPr>
          <a:xfrm>
            <a:off x="3465532" y="3559377"/>
            <a:ext cx="333620" cy="486571"/>
            <a:chOff x="9853831" y="3174987"/>
            <a:chExt cx="411099" cy="599572"/>
          </a:xfrm>
        </p:grpSpPr>
        <p:sp>
          <p:nvSpPr>
            <p:cNvPr id="1056" name="Google Shape;1056;p117"/>
            <p:cNvSpPr/>
            <p:nvPr/>
          </p:nvSpPr>
          <p:spPr>
            <a:xfrm>
              <a:off x="9965144" y="3581659"/>
              <a:ext cx="189738" cy="192900"/>
            </a:xfrm>
            <a:custGeom>
              <a:avLst/>
              <a:gdLst/>
              <a:ahLst/>
              <a:cxnLst/>
              <a:rect l="l" t="t" r="r" b="b"/>
              <a:pathLst>
                <a:path w="189738" h="192900" extrusionOk="0">
                  <a:moveTo>
                    <a:pt x="0" y="192900"/>
                  </a:moveTo>
                  <a:lnTo>
                    <a:pt x="0" y="0"/>
                  </a:lnTo>
                  <a:lnTo>
                    <a:pt x="15812" y="0"/>
                  </a:lnTo>
                  <a:lnTo>
                    <a:pt x="15812" y="164440"/>
                  </a:lnTo>
                  <a:lnTo>
                    <a:pt x="94869" y="117005"/>
                  </a:lnTo>
                  <a:lnTo>
                    <a:pt x="173927" y="164440"/>
                  </a:lnTo>
                  <a:lnTo>
                    <a:pt x="173927" y="0"/>
                  </a:lnTo>
                  <a:lnTo>
                    <a:pt x="189738" y="0"/>
                  </a:lnTo>
                  <a:lnTo>
                    <a:pt x="189738" y="192900"/>
                  </a:lnTo>
                  <a:lnTo>
                    <a:pt x="94869" y="13534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57" name="Google Shape;1057;p117"/>
            <p:cNvSpPr/>
            <p:nvPr/>
          </p:nvSpPr>
          <p:spPr>
            <a:xfrm>
              <a:off x="9948068" y="3303377"/>
              <a:ext cx="223258" cy="153687"/>
            </a:xfrm>
            <a:custGeom>
              <a:avLst/>
              <a:gdLst/>
              <a:ahLst/>
              <a:cxnLst/>
              <a:rect l="l" t="t" r="r" b="b"/>
              <a:pathLst>
                <a:path w="223258" h="153687" extrusionOk="0">
                  <a:moveTo>
                    <a:pt x="80955" y="153688"/>
                  </a:moveTo>
                  <a:lnTo>
                    <a:pt x="0" y="72733"/>
                  </a:lnTo>
                  <a:lnTo>
                    <a:pt x="10752" y="61349"/>
                  </a:lnTo>
                  <a:lnTo>
                    <a:pt x="80955" y="131552"/>
                  </a:lnTo>
                  <a:lnTo>
                    <a:pt x="212507" y="0"/>
                  </a:lnTo>
                  <a:lnTo>
                    <a:pt x="223258" y="1138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58" name="Google Shape;1058;p117"/>
            <p:cNvSpPr/>
            <p:nvPr/>
          </p:nvSpPr>
          <p:spPr>
            <a:xfrm>
              <a:off x="9853831" y="3174987"/>
              <a:ext cx="411099" cy="412363"/>
            </a:xfrm>
            <a:custGeom>
              <a:avLst/>
              <a:gdLst/>
              <a:ahLst/>
              <a:cxnLst/>
              <a:rect l="l" t="t" r="r" b="b"/>
              <a:pathLst>
                <a:path w="411099" h="412363" extrusionOk="0">
                  <a:moveTo>
                    <a:pt x="247292" y="15812"/>
                  </a:moveTo>
                  <a:cubicBezTo>
                    <a:pt x="247924" y="15812"/>
                    <a:pt x="247924" y="15812"/>
                    <a:pt x="248557" y="15812"/>
                  </a:cubicBezTo>
                  <a:cubicBezTo>
                    <a:pt x="251719" y="16444"/>
                    <a:pt x="256779" y="22136"/>
                    <a:pt x="261206" y="27196"/>
                  </a:cubicBezTo>
                  <a:cubicBezTo>
                    <a:pt x="266898" y="33520"/>
                    <a:pt x="273223" y="40477"/>
                    <a:pt x="281445" y="44905"/>
                  </a:cubicBezTo>
                  <a:cubicBezTo>
                    <a:pt x="290299" y="49332"/>
                    <a:pt x="299786" y="49964"/>
                    <a:pt x="308008" y="50597"/>
                  </a:cubicBezTo>
                  <a:cubicBezTo>
                    <a:pt x="314333" y="51229"/>
                    <a:pt x="321922" y="51862"/>
                    <a:pt x="324452" y="53759"/>
                  </a:cubicBezTo>
                  <a:cubicBezTo>
                    <a:pt x="326982" y="55656"/>
                    <a:pt x="328879" y="63246"/>
                    <a:pt x="330777" y="68938"/>
                  </a:cubicBezTo>
                  <a:cubicBezTo>
                    <a:pt x="333306" y="77160"/>
                    <a:pt x="335836" y="86647"/>
                    <a:pt x="341528" y="94237"/>
                  </a:cubicBezTo>
                  <a:cubicBezTo>
                    <a:pt x="347221" y="101826"/>
                    <a:pt x="355443" y="106886"/>
                    <a:pt x="363032" y="111313"/>
                  </a:cubicBezTo>
                  <a:cubicBezTo>
                    <a:pt x="368724" y="114475"/>
                    <a:pt x="375049" y="118270"/>
                    <a:pt x="376314" y="121432"/>
                  </a:cubicBezTo>
                  <a:cubicBezTo>
                    <a:pt x="377579" y="124595"/>
                    <a:pt x="376314" y="132184"/>
                    <a:pt x="375681" y="137876"/>
                  </a:cubicBezTo>
                  <a:cubicBezTo>
                    <a:pt x="374416" y="146098"/>
                    <a:pt x="372519" y="156218"/>
                    <a:pt x="375049" y="165705"/>
                  </a:cubicBezTo>
                  <a:cubicBezTo>
                    <a:pt x="376946" y="175191"/>
                    <a:pt x="382638" y="182781"/>
                    <a:pt x="387066" y="189738"/>
                  </a:cubicBezTo>
                  <a:cubicBezTo>
                    <a:pt x="390860" y="195430"/>
                    <a:pt x="395288" y="201122"/>
                    <a:pt x="395288" y="204917"/>
                  </a:cubicBezTo>
                  <a:cubicBezTo>
                    <a:pt x="395288" y="208712"/>
                    <a:pt x="390860" y="215036"/>
                    <a:pt x="387066" y="220096"/>
                  </a:cubicBezTo>
                  <a:cubicBezTo>
                    <a:pt x="382638" y="227053"/>
                    <a:pt x="376946" y="234643"/>
                    <a:pt x="375049" y="244130"/>
                  </a:cubicBezTo>
                  <a:cubicBezTo>
                    <a:pt x="373151" y="253616"/>
                    <a:pt x="374416" y="263103"/>
                    <a:pt x="375681" y="271958"/>
                  </a:cubicBezTo>
                  <a:cubicBezTo>
                    <a:pt x="376946" y="278282"/>
                    <a:pt x="377579" y="285239"/>
                    <a:pt x="376314" y="288402"/>
                  </a:cubicBezTo>
                  <a:cubicBezTo>
                    <a:pt x="375049" y="291564"/>
                    <a:pt x="368724" y="295359"/>
                    <a:pt x="363032" y="298521"/>
                  </a:cubicBezTo>
                  <a:cubicBezTo>
                    <a:pt x="355443" y="302948"/>
                    <a:pt x="347221" y="308008"/>
                    <a:pt x="341528" y="315598"/>
                  </a:cubicBezTo>
                  <a:cubicBezTo>
                    <a:pt x="335836" y="323187"/>
                    <a:pt x="332674" y="332674"/>
                    <a:pt x="330777" y="340896"/>
                  </a:cubicBezTo>
                  <a:cubicBezTo>
                    <a:pt x="328879" y="347221"/>
                    <a:pt x="326982" y="354178"/>
                    <a:pt x="324452" y="356075"/>
                  </a:cubicBezTo>
                  <a:cubicBezTo>
                    <a:pt x="321922" y="357972"/>
                    <a:pt x="314333" y="358605"/>
                    <a:pt x="308008" y="359237"/>
                  </a:cubicBezTo>
                  <a:cubicBezTo>
                    <a:pt x="299786" y="359870"/>
                    <a:pt x="289667" y="361135"/>
                    <a:pt x="281445" y="364929"/>
                  </a:cubicBezTo>
                  <a:cubicBezTo>
                    <a:pt x="272590" y="369357"/>
                    <a:pt x="266266" y="376314"/>
                    <a:pt x="261206" y="382638"/>
                  </a:cubicBezTo>
                  <a:cubicBezTo>
                    <a:pt x="256779" y="387698"/>
                    <a:pt x="251719" y="392758"/>
                    <a:pt x="248557" y="394023"/>
                  </a:cubicBezTo>
                  <a:cubicBezTo>
                    <a:pt x="248557" y="394023"/>
                    <a:pt x="247924" y="394023"/>
                    <a:pt x="247292" y="394023"/>
                  </a:cubicBezTo>
                  <a:cubicBezTo>
                    <a:pt x="243497" y="394023"/>
                    <a:pt x="237805" y="392125"/>
                    <a:pt x="232745" y="389595"/>
                  </a:cubicBezTo>
                  <a:cubicBezTo>
                    <a:pt x="224523" y="386433"/>
                    <a:pt x="215669" y="383271"/>
                    <a:pt x="205550" y="383271"/>
                  </a:cubicBezTo>
                  <a:cubicBezTo>
                    <a:pt x="195430" y="383271"/>
                    <a:pt x="186576" y="387066"/>
                    <a:pt x="178354" y="389595"/>
                  </a:cubicBezTo>
                  <a:cubicBezTo>
                    <a:pt x="172662" y="391493"/>
                    <a:pt x="166969" y="394023"/>
                    <a:pt x="163807" y="394023"/>
                  </a:cubicBezTo>
                  <a:cubicBezTo>
                    <a:pt x="163175" y="394023"/>
                    <a:pt x="163175" y="394023"/>
                    <a:pt x="162542" y="394023"/>
                  </a:cubicBezTo>
                  <a:cubicBezTo>
                    <a:pt x="159380" y="393390"/>
                    <a:pt x="154320" y="387698"/>
                    <a:pt x="149893" y="382638"/>
                  </a:cubicBezTo>
                  <a:cubicBezTo>
                    <a:pt x="144201" y="376314"/>
                    <a:pt x="137876" y="369357"/>
                    <a:pt x="129654" y="364929"/>
                  </a:cubicBezTo>
                  <a:cubicBezTo>
                    <a:pt x="120800" y="360502"/>
                    <a:pt x="111313" y="359870"/>
                    <a:pt x="103091" y="359237"/>
                  </a:cubicBezTo>
                  <a:cubicBezTo>
                    <a:pt x="96766" y="358605"/>
                    <a:pt x="89177" y="357972"/>
                    <a:pt x="86647" y="356075"/>
                  </a:cubicBezTo>
                  <a:cubicBezTo>
                    <a:pt x="84117" y="354178"/>
                    <a:pt x="82220" y="346588"/>
                    <a:pt x="80322" y="340896"/>
                  </a:cubicBezTo>
                  <a:cubicBezTo>
                    <a:pt x="77793" y="332674"/>
                    <a:pt x="75263" y="323187"/>
                    <a:pt x="69571" y="315598"/>
                  </a:cubicBezTo>
                  <a:cubicBezTo>
                    <a:pt x="63878" y="308008"/>
                    <a:pt x="55656" y="302948"/>
                    <a:pt x="48067" y="298521"/>
                  </a:cubicBezTo>
                  <a:cubicBezTo>
                    <a:pt x="42375" y="295359"/>
                    <a:pt x="36050" y="291564"/>
                    <a:pt x="34785" y="288402"/>
                  </a:cubicBezTo>
                  <a:cubicBezTo>
                    <a:pt x="33520" y="285239"/>
                    <a:pt x="34785" y="277650"/>
                    <a:pt x="35418" y="271958"/>
                  </a:cubicBezTo>
                  <a:cubicBezTo>
                    <a:pt x="36683" y="263736"/>
                    <a:pt x="38580" y="253616"/>
                    <a:pt x="36050" y="244130"/>
                  </a:cubicBezTo>
                  <a:cubicBezTo>
                    <a:pt x="34153" y="234643"/>
                    <a:pt x="28461" y="227053"/>
                    <a:pt x="24033" y="220096"/>
                  </a:cubicBezTo>
                  <a:cubicBezTo>
                    <a:pt x="20239" y="214404"/>
                    <a:pt x="15812" y="208712"/>
                    <a:pt x="15812" y="204917"/>
                  </a:cubicBezTo>
                  <a:cubicBezTo>
                    <a:pt x="15812" y="201122"/>
                    <a:pt x="20239" y="194798"/>
                    <a:pt x="24033" y="189738"/>
                  </a:cubicBezTo>
                  <a:cubicBezTo>
                    <a:pt x="28461" y="182781"/>
                    <a:pt x="34153" y="175191"/>
                    <a:pt x="36050" y="165705"/>
                  </a:cubicBezTo>
                  <a:cubicBezTo>
                    <a:pt x="37948" y="156218"/>
                    <a:pt x="36683" y="146731"/>
                    <a:pt x="35418" y="137876"/>
                  </a:cubicBezTo>
                  <a:cubicBezTo>
                    <a:pt x="34153" y="131552"/>
                    <a:pt x="33520" y="124595"/>
                    <a:pt x="34785" y="121432"/>
                  </a:cubicBezTo>
                  <a:cubicBezTo>
                    <a:pt x="36050" y="118270"/>
                    <a:pt x="42375" y="114475"/>
                    <a:pt x="48067" y="111313"/>
                  </a:cubicBezTo>
                  <a:cubicBezTo>
                    <a:pt x="55656" y="106886"/>
                    <a:pt x="63878" y="101826"/>
                    <a:pt x="69571" y="94237"/>
                  </a:cubicBezTo>
                  <a:cubicBezTo>
                    <a:pt x="75263" y="86647"/>
                    <a:pt x="78425" y="77160"/>
                    <a:pt x="80322" y="68938"/>
                  </a:cubicBezTo>
                  <a:cubicBezTo>
                    <a:pt x="82220" y="62614"/>
                    <a:pt x="84117" y="55656"/>
                    <a:pt x="86647" y="53759"/>
                  </a:cubicBezTo>
                  <a:cubicBezTo>
                    <a:pt x="89177" y="51862"/>
                    <a:pt x="96766" y="51229"/>
                    <a:pt x="103091" y="50597"/>
                  </a:cubicBezTo>
                  <a:cubicBezTo>
                    <a:pt x="111313" y="49964"/>
                    <a:pt x="121432" y="48699"/>
                    <a:pt x="129654" y="44905"/>
                  </a:cubicBezTo>
                  <a:cubicBezTo>
                    <a:pt x="138509" y="40477"/>
                    <a:pt x="144833" y="33520"/>
                    <a:pt x="149893" y="27196"/>
                  </a:cubicBezTo>
                  <a:cubicBezTo>
                    <a:pt x="154320" y="22136"/>
                    <a:pt x="159380" y="17076"/>
                    <a:pt x="162542" y="15812"/>
                  </a:cubicBezTo>
                  <a:cubicBezTo>
                    <a:pt x="162542" y="15812"/>
                    <a:pt x="163175" y="15812"/>
                    <a:pt x="163807" y="15812"/>
                  </a:cubicBezTo>
                  <a:cubicBezTo>
                    <a:pt x="167602" y="15812"/>
                    <a:pt x="173294" y="17709"/>
                    <a:pt x="178354" y="20239"/>
                  </a:cubicBezTo>
                  <a:cubicBezTo>
                    <a:pt x="186576" y="23401"/>
                    <a:pt x="195430" y="26563"/>
                    <a:pt x="205550" y="26563"/>
                  </a:cubicBezTo>
                  <a:cubicBezTo>
                    <a:pt x="215669" y="26563"/>
                    <a:pt x="224523" y="22769"/>
                    <a:pt x="232745" y="20239"/>
                  </a:cubicBezTo>
                  <a:cubicBezTo>
                    <a:pt x="238437" y="17709"/>
                    <a:pt x="244130" y="15812"/>
                    <a:pt x="247292" y="15812"/>
                  </a:cubicBezTo>
                  <a:moveTo>
                    <a:pt x="247292" y="0"/>
                  </a:moveTo>
                  <a:cubicBezTo>
                    <a:pt x="234010" y="0"/>
                    <a:pt x="219464" y="10752"/>
                    <a:pt x="205550" y="10752"/>
                  </a:cubicBezTo>
                  <a:cubicBezTo>
                    <a:pt x="191635" y="10752"/>
                    <a:pt x="177089" y="0"/>
                    <a:pt x="163807" y="0"/>
                  </a:cubicBezTo>
                  <a:cubicBezTo>
                    <a:pt x="161910" y="0"/>
                    <a:pt x="160645" y="0"/>
                    <a:pt x="158747" y="632"/>
                  </a:cubicBezTo>
                  <a:cubicBezTo>
                    <a:pt x="144201" y="3795"/>
                    <a:pt x="135346" y="24033"/>
                    <a:pt x="122065" y="30991"/>
                  </a:cubicBezTo>
                  <a:cubicBezTo>
                    <a:pt x="108783" y="37948"/>
                    <a:pt x="87279" y="32888"/>
                    <a:pt x="75895" y="42375"/>
                  </a:cubicBezTo>
                  <a:cubicBezTo>
                    <a:pt x="64511" y="51862"/>
                    <a:pt x="65143" y="73365"/>
                    <a:pt x="56289" y="85382"/>
                  </a:cubicBezTo>
                  <a:cubicBezTo>
                    <a:pt x="47435" y="97399"/>
                    <a:pt x="25931" y="101826"/>
                    <a:pt x="19606" y="115740"/>
                  </a:cubicBezTo>
                  <a:cubicBezTo>
                    <a:pt x="13282" y="129022"/>
                    <a:pt x="23401" y="148628"/>
                    <a:pt x="20239" y="163175"/>
                  </a:cubicBezTo>
                  <a:cubicBezTo>
                    <a:pt x="17076" y="177721"/>
                    <a:pt x="0" y="191003"/>
                    <a:pt x="0" y="206182"/>
                  </a:cubicBezTo>
                  <a:cubicBezTo>
                    <a:pt x="0" y="221361"/>
                    <a:pt x="17076" y="234643"/>
                    <a:pt x="20239" y="249189"/>
                  </a:cubicBezTo>
                  <a:cubicBezTo>
                    <a:pt x="23401" y="263736"/>
                    <a:pt x="13282" y="283342"/>
                    <a:pt x="19606" y="296624"/>
                  </a:cubicBezTo>
                  <a:cubicBezTo>
                    <a:pt x="25931" y="310538"/>
                    <a:pt x="47435" y="314965"/>
                    <a:pt x="56289" y="326982"/>
                  </a:cubicBezTo>
                  <a:cubicBezTo>
                    <a:pt x="65143" y="338999"/>
                    <a:pt x="64511" y="360502"/>
                    <a:pt x="75895" y="369989"/>
                  </a:cubicBezTo>
                  <a:cubicBezTo>
                    <a:pt x="87279" y="379476"/>
                    <a:pt x="108783" y="374416"/>
                    <a:pt x="122065" y="381373"/>
                  </a:cubicBezTo>
                  <a:cubicBezTo>
                    <a:pt x="135346" y="388330"/>
                    <a:pt x="144201" y="407937"/>
                    <a:pt x="158747" y="411731"/>
                  </a:cubicBezTo>
                  <a:cubicBezTo>
                    <a:pt x="160012" y="412364"/>
                    <a:pt x="161910" y="412364"/>
                    <a:pt x="163807" y="412364"/>
                  </a:cubicBezTo>
                  <a:cubicBezTo>
                    <a:pt x="177089" y="412364"/>
                    <a:pt x="191635" y="401612"/>
                    <a:pt x="205550" y="401612"/>
                  </a:cubicBezTo>
                  <a:cubicBezTo>
                    <a:pt x="219464" y="401612"/>
                    <a:pt x="234010" y="412364"/>
                    <a:pt x="247292" y="412364"/>
                  </a:cubicBezTo>
                  <a:cubicBezTo>
                    <a:pt x="249189" y="412364"/>
                    <a:pt x="250454" y="412364"/>
                    <a:pt x="252352" y="411731"/>
                  </a:cubicBezTo>
                  <a:cubicBezTo>
                    <a:pt x="266898" y="408569"/>
                    <a:pt x="275753" y="388330"/>
                    <a:pt x="289034" y="381373"/>
                  </a:cubicBezTo>
                  <a:cubicBezTo>
                    <a:pt x="302316" y="374416"/>
                    <a:pt x="323820" y="379476"/>
                    <a:pt x="335204" y="369989"/>
                  </a:cubicBezTo>
                  <a:cubicBezTo>
                    <a:pt x="346588" y="360502"/>
                    <a:pt x="345956" y="338999"/>
                    <a:pt x="354810" y="326982"/>
                  </a:cubicBezTo>
                  <a:cubicBezTo>
                    <a:pt x="363665" y="314965"/>
                    <a:pt x="385168" y="310538"/>
                    <a:pt x="391493" y="296624"/>
                  </a:cubicBezTo>
                  <a:cubicBezTo>
                    <a:pt x="397817" y="283342"/>
                    <a:pt x="387698" y="263736"/>
                    <a:pt x="390860" y="249189"/>
                  </a:cubicBezTo>
                  <a:cubicBezTo>
                    <a:pt x="394023" y="234643"/>
                    <a:pt x="411099" y="221361"/>
                    <a:pt x="411099" y="206182"/>
                  </a:cubicBezTo>
                  <a:cubicBezTo>
                    <a:pt x="411099" y="191003"/>
                    <a:pt x="394023" y="177721"/>
                    <a:pt x="390860" y="163175"/>
                  </a:cubicBezTo>
                  <a:cubicBezTo>
                    <a:pt x="387698" y="148628"/>
                    <a:pt x="397817" y="129022"/>
                    <a:pt x="391493" y="115740"/>
                  </a:cubicBezTo>
                  <a:cubicBezTo>
                    <a:pt x="385168" y="101826"/>
                    <a:pt x="363665" y="97399"/>
                    <a:pt x="354810" y="85382"/>
                  </a:cubicBezTo>
                  <a:cubicBezTo>
                    <a:pt x="345956" y="73365"/>
                    <a:pt x="346588" y="51862"/>
                    <a:pt x="335204" y="42375"/>
                  </a:cubicBezTo>
                  <a:cubicBezTo>
                    <a:pt x="323820" y="32888"/>
                    <a:pt x="302316" y="37948"/>
                    <a:pt x="289034" y="30991"/>
                  </a:cubicBezTo>
                  <a:cubicBezTo>
                    <a:pt x="275753" y="24033"/>
                    <a:pt x="266898" y="4427"/>
                    <a:pt x="252352" y="632"/>
                  </a:cubicBezTo>
                  <a:cubicBezTo>
                    <a:pt x="250454" y="0"/>
                    <a:pt x="249189" y="0"/>
                    <a:pt x="247292" y="0"/>
                  </a:cubicBezTo>
                  <a:lnTo>
                    <a:pt x="247292"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nvGrpSpPr>
          <p:cNvPr id="1059" name="Google Shape;1059;p117"/>
          <p:cNvGrpSpPr/>
          <p:nvPr/>
        </p:nvGrpSpPr>
        <p:grpSpPr>
          <a:xfrm>
            <a:off x="8690140" y="3484469"/>
            <a:ext cx="636388" cy="636388"/>
            <a:chOff x="8818411" y="3322433"/>
            <a:chExt cx="636554" cy="636554"/>
          </a:xfrm>
        </p:grpSpPr>
        <p:sp>
          <p:nvSpPr>
            <p:cNvPr id="1060" name="Google Shape;1060;p117"/>
            <p:cNvSpPr/>
            <p:nvPr/>
          </p:nvSpPr>
          <p:spPr>
            <a:xfrm>
              <a:off x="8818411" y="3322433"/>
              <a:ext cx="636554" cy="63655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61" name="Google Shape;1061;p117" descr="Integrate Automate&#10;"/>
            <p:cNvSpPr/>
            <p:nvPr/>
          </p:nvSpPr>
          <p:spPr>
            <a:xfrm>
              <a:off x="8881303" y="3385892"/>
              <a:ext cx="510771" cy="509636"/>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nvGrpSpPr>
          <p:cNvPr id="1062" name="Google Shape;1062;p117"/>
          <p:cNvGrpSpPr/>
          <p:nvPr/>
        </p:nvGrpSpPr>
        <p:grpSpPr>
          <a:xfrm>
            <a:off x="8679257" y="4575310"/>
            <a:ext cx="636388" cy="636388"/>
            <a:chOff x="8807525" y="4413558"/>
            <a:chExt cx="636554" cy="636554"/>
          </a:xfrm>
        </p:grpSpPr>
        <p:sp>
          <p:nvSpPr>
            <p:cNvPr id="1063" name="Google Shape;1063;p117"/>
            <p:cNvSpPr/>
            <p:nvPr/>
          </p:nvSpPr>
          <p:spPr>
            <a:xfrm rot="10800000" flipH="1">
              <a:off x="8807525" y="4413558"/>
              <a:ext cx="636554" cy="636554"/>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064" name="Google Shape;1064;p117" descr="Open Ecosystem&#10;"/>
            <p:cNvGrpSpPr/>
            <p:nvPr/>
          </p:nvGrpSpPr>
          <p:grpSpPr>
            <a:xfrm>
              <a:off x="8881198" y="4487797"/>
              <a:ext cx="489208" cy="488077"/>
              <a:chOff x="535440" y="1951551"/>
              <a:chExt cx="592582" cy="591223"/>
            </a:xfrm>
          </p:grpSpPr>
          <p:sp>
            <p:nvSpPr>
              <p:cNvPr id="1065" name="Google Shape;1065;p117"/>
              <p:cNvSpPr/>
              <p:nvPr/>
            </p:nvSpPr>
            <p:spPr>
              <a:xfrm>
                <a:off x="535440" y="1951551"/>
                <a:ext cx="592582" cy="591223"/>
              </a:xfrm>
              <a:custGeom>
                <a:avLst/>
                <a:gdLst/>
                <a:ahLst/>
                <a:cxnLst/>
                <a:rect l="l" t="t" r="r" b="b"/>
                <a:pathLst>
                  <a:path w="592582" h="591223" extrusionOk="0">
                    <a:moveTo>
                      <a:pt x="296418" y="591224"/>
                    </a:moveTo>
                    <a:lnTo>
                      <a:pt x="296418" y="591224"/>
                    </a:lnTo>
                    <a:cubicBezTo>
                      <a:pt x="283106" y="591224"/>
                      <a:pt x="269810" y="590338"/>
                      <a:pt x="256617" y="588567"/>
                    </a:cubicBezTo>
                    <a:lnTo>
                      <a:pt x="258772" y="572882"/>
                    </a:lnTo>
                    <a:cubicBezTo>
                      <a:pt x="271248" y="574584"/>
                      <a:pt x="283826" y="575431"/>
                      <a:pt x="296418" y="575412"/>
                    </a:cubicBezTo>
                    <a:lnTo>
                      <a:pt x="296418" y="575412"/>
                    </a:lnTo>
                    <a:cubicBezTo>
                      <a:pt x="304340" y="575412"/>
                      <a:pt x="312389" y="575412"/>
                      <a:pt x="320312" y="574400"/>
                    </a:cubicBezTo>
                    <a:lnTo>
                      <a:pt x="321642" y="590148"/>
                    </a:lnTo>
                    <a:cubicBezTo>
                      <a:pt x="313277" y="590844"/>
                      <a:pt x="304784" y="591224"/>
                      <a:pt x="296418" y="591224"/>
                    </a:cubicBezTo>
                    <a:close/>
                    <a:moveTo>
                      <a:pt x="353965" y="585658"/>
                    </a:moveTo>
                    <a:lnTo>
                      <a:pt x="350860" y="570099"/>
                    </a:lnTo>
                    <a:cubicBezTo>
                      <a:pt x="371082" y="566140"/>
                      <a:pt x="390806" y="559967"/>
                      <a:pt x="409674" y="551695"/>
                    </a:cubicBezTo>
                    <a:lnTo>
                      <a:pt x="416012" y="566115"/>
                    </a:lnTo>
                    <a:cubicBezTo>
                      <a:pt x="396108" y="574875"/>
                      <a:pt x="375301" y="581427"/>
                      <a:pt x="353965" y="585658"/>
                    </a:cubicBezTo>
                    <a:close/>
                    <a:moveTo>
                      <a:pt x="224484" y="582496"/>
                    </a:moveTo>
                    <a:cubicBezTo>
                      <a:pt x="203326" y="577215"/>
                      <a:pt x="182816" y="569619"/>
                      <a:pt x="163325" y="559854"/>
                    </a:cubicBezTo>
                    <a:lnTo>
                      <a:pt x="170486" y="545750"/>
                    </a:lnTo>
                    <a:cubicBezTo>
                      <a:pt x="188895" y="555003"/>
                      <a:pt x="208282" y="562175"/>
                      <a:pt x="228287" y="567127"/>
                    </a:cubicBezTo>
                    <a:close/>
                    <a:moveTo>
                      <a:pt x="445229" y="551252"/>
                    </a:moveTo>
                    <a:lnTo>
                      <a:pt x="437307" y="537591"/>
                    </a:lnTo>
                    <a:cubicBezTo>
                      <a:pt x="455067" y="527258"/>
                      <a:pt x="471643" y="515021"/>
                      <a:pt x="486742" y="501098"/>
                    </a:cubicBezTo>
                    <a:lnTo>
                      <a:pt x="497516" y="512735"/>
                    </a:lnTo>
                    <a:cubicBezTo>
                      <a:pt x="481535" y="527424"/>
                      <a:pt x="464004" y="540339"/>
                      <a:pt x="445229" y="551252"/>
                    </a:cubicBezTo>
                    <a:close/>
                    <a:moveTo>
                      <a:pt x="135185" y="543663"/>
                    </a:moveTo>
                    <a:cubicBezTo>
                      <a:pt x="116816" y="531819"/>
                      <a:pt x="99813" y="517990"/>
                      <a:pt x="84483" y="502426"/>
                    </a:cubicBezTo>
                    <a:lnTo>
                      <a:pt x="95827" y="491358"/>
                    </a:lnTo>
                    <a:cubicBezTo>
                      <a:pt x="110244" y="506083"/>
                      <a:pt x="126249" y="519171"/>
                      <a:pt x="143551" y="530381"/>
                    </a:cubicBezTo>
                    <a:close/>
                    <a:moveTo>
                      <a:pt x="520332" y="489208"/>
                    </a:moveTo>
                    <a:lnTo>
                      <a:pt x="508354" y="478835"/>
                    </a:lnTo>
                    <a:cubicBezTo>
                      <a:pt x="521859" y="463303"/>
                      <a:pt x="533612" y="446335"/>
                      <a:pt x="543401" y="428239"/>
                    </a:cubicBezTo>
                    <a:lnTo>
                      <a:pt x="557345" y="435702"/>
                    </a:lnTo>
                    <a:cubicBezTo>
                      <a:pt x="546994" y="454858"/>
                      <a:pt x="534538" y="472804"/>
                      <a:pt x="520205" y="489208"/>
                    </a:cubicBezTo>
                    <a:close/>
                    <a:moveTo>
                      <a:pt x="63124" y="478013"/>
                    </a:moveTo>
                    <a:cubicBezTo>
                      <a:pt x="49683" y="460897"/>
                      <a:pt x="38163" y="442360"/>
                      <a:pt x="28774" y="422736"/>
                    </a:cubicBezTo>
                    <a:lnTo>
                      <a:pt x="43034" y="415969"/>
                    </a:lnTo>
                    <a:cubicBezTo>
                      <a:pt x="51957" y="434499"/>
                      <a:pt x="62857" y="452014"/>
                      <a:pt x="75546" y="468210"/>
                    </a:cubicBezTo>
                    <a:close/>
                    <a:moveTo>
                      <a:pt x="571098" y="406229"/>
                    </a:moveTo>
                    <a:lnTo>
                      <a:pt x="556457" y="400284"/>
                    </a:lnTo>
                    <a:cubicBezTo>
                      <a:pt x="564145" y="381195"/>
                      <a:pt x="569716" y="361322"/>
                      <a:pt x="573062" y="341022"/>
                    </a:cubicBezTo>
                    <a:lnTo>
                      <a:pt x="588717" y="343616"/>
                    </a:lnTo>
                    <a:cubicBezTo>
                      <a:pt x="585180" y="365072"/>
                      <a:pt x="579273" y="386071"/>
                      <a:pt x="571098" y="406229"/>
                    </a:cubicBezTo>
                    <a:close/>
                    <a:moveTo>
                      <a:pt x="16351" y="392631"/>
                    </a:moveTo>
                    <a:cubicBezTo>
                      <a:pt x="9213" y="372145"/>
                      <a:pt x="4366" y="350934"/>
                      <a:pt x="1901" y="329385"/>
                    </a:cubicBezTo>
                    <a:lnTo>
                      <a:pt x="17619" y="327551"/>
                    </a:lnTo>
                    <a:cubicBezTo>
                      <a:pt x="19989" y="347891"/>
                      <a:pt x="24579" y="367911"/>
                      <a:pt x="31309" y="387255"/>
                    </a:cubicBezTo>
                    <a:close/>
                    <a:moveTo>
                      <a:pt x="592139" y="311360"/>
                    </a:moveTo>
                    <a:lnTo>
                      <a:pt x="576358" y="310538"/>
                    </a:lnTo>
                    <a:cubicBezTo>
                      <a:pt x="576358" y="305605"/>
                      <a:pt x="576738" y="300672"/>
                      <a:pt x="576738" y="295675"/>
                    </a:cubicBezTo>
                    <a:cubicBezTo>
                      <a:pt x="576726" y="280058"/>
                      <a:pt x="575433" y="264469"/>
                      <a:pt x="572872" y="249063"/>
                    </a:cubicBezTo>
                    <a:lnTo>
                      <a:pt x="588463" y="246470"/>
                    </a:lnTo>
                    <a:cubicBezTo>
                      <a:pt x="591201" y="262729"/>
                      <a:pt x="592576" y="279187"/>
                      <a:pt x="592583" y="295675"/>
                    </a:cubicBezTo>
                    <a:cubicBezTo>
                      <a:pt x="592583" y="300798"/>
                      <a:pt x="592456" y="306047"/>
                      <a:pt x="592139" y="311360"/>
                    </a:cubicBezTo>
                    <a:close/>
                    <a:moveTo>
                      <a:pt x="15844" y="296813"/>
                    </a:moveTo>
                    <a:lnTo>
                      <a:pt x="0" y="296813"/>
                    </a:lnTo>
                    <a:lnTo>
                      <a:pt x="0" y="295738"/>
                    </a:lnTo>
                    <a:cubicBezTo>
                      <a:pt x="1" y="273978"/>
                      <a:pt x="2380" y="252283"/>
                      <a:pt x="7098" y="231038"/>
                    </a:cubicBezTo>
                    <a:lnTo>
                      <a:pt x="22563" y="234516"/>
                    </a:lnTo>
                    <a:cubicBezTo>
                      <a:pt x="18100" y="254598"/>
                      <a:pt x="15848" y="275106"/>
                      <a:pt x="15844" y="295675"/>
                    </a:cubicBezTo>
                    <a:close/>
                    <a:moveTo>
                      <a:pt x="566091" y="219021"/>
                    </a:moveTo>
                    <a:cubicBezTo>
                      <a:pt x="560418" y="199257"/>
                      <a:pt x="552595" y="180170"/>
                      <a:pt x="542768" y="162100"/>
                    </a:cubicBezTo>
                    <a:lnTo>
                      <a:pt x="556711" y="154573"/>
                    </a:lnTo>
                    <a:cubicBezTo>
                      <a:pt x="567130" y="173665"/>
                      <a:pt x="575382" y="193861"/>
                      <a:pt x="581301" y="214783"/>
                    </a:cubicBezTo>
                    <a:close/>
                    <a:moveTo>
                      <a:pt x="30928" y="204727"/>
                    </a:moveTo>
                    <a:lnTo>
                      <a:pt x="15971" y="199541"/>
                    </a:lnTo>
                    <a:cubicBezTo>
                      <a:pt x="23025" y="178923"/>
                      <a:pt x="32356" y="159153"/>
                      <a:pt x="43794" y="140596"/>
                    </a:cubicBezTo>
                    <a:lnTo>
                      <a:pt x="57294" y="148881"/>
                    </a:lnTo>
                    <a:cubicBezTo>
                      <a:pt x="46469" y="166469"/>
                      <a:pt x="37626" y="185199"/>
                      <a:pt x="30928" y="204727"/>
                    </a:cubicBezTo>
                    <a:close/>
                    <a:moveTo>
                      <a:pt x="526543" y="135726"/>
                    </a:moveTo>
                    <a:cubicBezTo>
                      <a:pt x="514734" y="118842"/>
                      <a:pt x="501111" y="103297"/>
                      <a:pt x="485918" y="89367"/>
                    </a:cubicBezTo>
                    <a:lnTo>
                      <a:pt x="496692" y="77729"/>
                    </a:lnTo>
                    <a:cubicBezTo>
                      <a:pt x="512707" y="92451"/>
                      <a:pt x="527072" y="108865"/>
                      <a:pt x="539535" y="126682"/>
                    </a:cubicBezTo>
                    <a:close/>
                    <a:moveTo>
                      <a:pt x="74913" y="123709"/>
                    </a:moveTo>
                    <a:lnTo>
                      <a:pt x="62237" y="114033"/>
                    </a:lnTo>
                    <a:cubicBezTo>
                      <a:pt x="75580" y="96861"/>
                      <a:pt x="90800" y="81226"/>
                      <a:pt x="107616" y="67420"/>
                    </a:cubicBezTo>
                    <a:lnTo>
                      <a:pt x="117693" y="79563"/>
                    </a:lnTo>
                    <a:cubicBezTo>
                      <a:pt x="101870" y="92687"/>
                      <a:pt x="87526" y="107489"/>
                      <a:pt x="74913" y="123709"/>
                    </a:cubicBezTo>
                    <a:close/>
                    <a:moveTo>
                      <a:pt x="462088" y="69824"/>
                    </a:moveTo>
                    <a:cubicBezTo>
                      <a:pt x="445475" y="57616"/>
                      <a:pt x="427556" y="47286"/>
                      <a:pt x="408660" y="39023"/>
                    </a:cubicBezTo>
                    <a:lnTo>
                      <a:pt x="414998" y="24539"/>
                    </a:lnTo>
                    <a:cubicBezTo>
                      <a:pt x="434949" y="33295"/>
                      <a:pt x="453885" y="44196"/>
                      <a:pt x="471468" y="57048"/>
                    </a:cubicBezTo>
                    <a:close/>
                    <a:moveTo>
                      <a:pt x="142727" y="61285"/>
                    </a:moveTo>
                    <a:lnTo>
                      <a:pt x="134044" y="48067"/>
                    </a:lnTo>
                    <a:cubicBezTo>
                      <a:pt x="152275" y="36162"/>
                      <a:pt x="171765" y="26300"/>
                      <a:pt x="192162" y="18658"/>
                    </a:cubicBezTo>
                    <a:lnTo>
                      <a:pt x="198056" y="33457"/>
                    </a:lnTo>
                    <a:cubicBezTo>
                      <a:pt x="178651" y="40692"/>
                      <a:pt x="160097" y="50023"/>
                      <a:pt x="142727" y="61285"/>
                    </a:cubicBezTo>
                    <a:close/>
                    <a:moveTo>
                      <a:pt x="379697" y="28271"/>
                    </a:moveTo>
                    <a:cubicBezTo>
                      <a:pt x="360008" y="22185"/>
                      <a:pt x="339713" y="18261"/>
                      <a:pt x="319171" y="16570"/>
                    </a:cubicBezTo>
                    <a:lnTo>
                      <a:pt x="320438" y="822"/>
                    </a:lnTo>
                    <a:cubicBezTo>
                      <a:pt x="342161" y="2601"/>
                      <a:pt x="363625" y="6736"/>
                      <a:pt x="384450" y="13155"/>
                    </a:cubicBezTo>
                    <a:close/>
                    <a:moveTo>
                      <a:pt x="227210" y="24223"/>
                    </a:moveTo>
                    <a:lnTo>
                      <a:pt x="223407" y="8918"/>
                    </a:lnTo>
                    <a:cubicBezTo>
                      <a:pt x="244522" y="3601"/>
                      <a:pt x="266157" y="610"/>
                      <a:pt x="287925" y="0"/>
                    </a:cubicBezTo>
                    <a:lnTo>
                      <a:pt x="288369" y="15812"/>
                    </a:lnTo>
                    <a:cubicBezTo>
                      <a:pt x="267736" y="16379"/>
                      <a:pt x="247227" y="19200"/>
                      <a:pt x="227210" y="242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66" name="Google Shape;1066;p117"/>
              <p:cNvSpPr/>
              <p:nvPr/>
            </p:nvSpPr>
            <p:spPr>
              <a:xfrm>
                <a:off x="750988" y="2161717"/>
                <a:ext cx="158444" cy="158115"/>
              </a:xfrm>
              <a:custGeom>
                <a:avLst/>
                <a:gdLst/>
                <a:ahLst/>
                <a:cxnLst/>
                <a:rect l="l" t="t" r="r" b="b"/>
                <a:pathLst>
                  <a:path w="158444" h="158115" extrusionOk="0">
                    <a:moveTo>
                      <a:pt x="79222" y="158115"/>
                    </a:moveTo>
                    <a:cubicBezTo>
                      <a:pt x="35469" y="158115"/>
                      <a:pt x="0" y="122720"/>
                      <a:pt x="0" y="79058"/>
                    </a:cubicBezTo>
                    <a:cubicBezTo>
                      <a:pt x="0" y="35395"/>
                      <a:pt x="35469" y="0"/>
                      <a:pt x="79222" y="0"/>
                    </a:cubicBezTo>
                    <a:cubicBezTo>
                      <a:pt x="122976" y="0"/>
                      <a:pt x="158445" y="35395"/>
                      <a:pt x="158445" y="79058"/>
                    </a:cubicBezTo>
                    <a:cubicBezTo>
                      <a:pt x="158375" y="122691"/>
                      <a:pt x="122947" y="158045"/>
                      <a:pt x="79222" y="158115"/>
                    </a:cubicBezTo>
                    <a:close/>
                    <a:moveTo>
                      <a:pt x="79222" y="15812"/>
                    </a:moveTo>
                    <a:cubicBezTo>
                      <a:pt x="44220" y="15812"/>
                      <a:pt x="15844" y="44128"/>
                      <a:pt x="15844" y="79058"/>
                    </a:cubicBezTo>
                    <a:cubicBezTo>
                      <a:pt x="15844" y="113988"/>
                      <a:pt x="44220" y="142304"/>
                      <a:pt x="79222" y="142304"/>
                    </a:cubicBezTo>
                    <a:cubicBezTo>
                      <a:pt x="114225" y="142304"/>
                      <a:pt x="142600" y="113988"/>
                      <a:pt x="142600" y="79058"/>
                    </a:cubicBezTo>
                    <a:cubicBezTo>
                      <a:pt x="142705" y="44128"/>
                      <a:pt x="114415" y="15727"/>
                      <a:pt x="79412" y="15622"/>
                    </a:cubicBezTo>
                    <a:cubicBezTo>
                      <a:pt x="79349" y="15622"/>
                      <a:pt x="79286" y="15622"/>
                      <a:pt x="79222" y="1562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67" name="Google Shape;1067;p117"/>
              <p:cNvSpPr/>
              <p:nvPr/>
            </p:nvSpPr>
            <p:spPr>
              <a:xfrm>
                <a:off x="790599" y="1998215"/>
                <a:ext cx="79222" cy="143389"/>
              </a:xfrm>
              <a:custGeom>
                <a:avLst/>
                <a:gdLst/>
                <a:ahLst/>
                <a:cxnLst/>
                <a:rect l="l" t="t" r="r" b="b"/>
                <a:pathLst>
                  <a:path w="79222" h="143389" extrusionOk="0">
                    <a:moveTo>
                      <a:pt x="79222" y="39476"/>
                    </a:moveTo>
                    <a:cubicBezTo>
                      <a:pt x="79193" y="17645"/>
                      <a:pt x="61435" y="-29"/>
                      <a:pt x="39559" y="0"/>
                    </a:cubicBezTo>
                    <a:cubicBezTo>
                      <a:pt x="17682" y="29"/>
                      <a:pt x="-29" y="17751"/>
                      <a:pt x="0" y="39582"/>
                    </a:cubicBezTo>
                    <a:cubicBezTo>
                      <a:pt x="25" y="58321"/>
                      <a:pt x="13233" y="74468"/>
                      <a:pt x="31626" y="78246"/>
                    </a:cubicBezTo>
                    <a:lnTo>
                      <a:pt x="31626" y="143389"/>
                    </a:lnTo>
                    <a:lnTo>
                      <a:pt x="47470" y="143389"/>
                    </a:lnTo>
                    <a:lnTo>
                      <a:pt x="47470" y="78246"/>
                    </a:lnTo>
                    <a:cubicBezTo>
                      <a:pt x="65939" y="74491"/>
                      <a:pt x="79210" y="58286"/>
                      <a:pt x="79222" y="39476"/>
                    </a:cubicBezTo>
                    <a:close/>
                    <a:moveTo>
                      <a:pt x="39611" y="63194"/>
                    </a:moveTo>
                    <a:cubicBezTo>
                      <a:pt x="26485" y="63228"/>
                      <a:pt x="15816" y="52638"/>
                      <a:pt x="15781" y="39540"/>
                    </a:cubicBezTo>
                    <a:cubicBezTo>
                      <a:pt x="15746" y="26441"/>
                      <a:pt x="26358" y="15794"/>
                      <a:pt x="39484" y="15759"/>
                    </a:cubicBezTo>
                    <a:cubicBezTo>
                      <a:pt x="52611" y="15724"/>
                      <a:pt x="63280" y="26315"/>
                      <a:pt x="63314" y="39413"/>
                    </a:cubicBezTo>
                    <a:cubicBezTo>
                      <a:pt x="63314" y="39434"/>
                      <a:pt x="63314" y="39455"/>
                      <a:pt x="63314" y="39476"/>
                    </a:cubicBezTo>
                    <a:cubicBezTo>
                      <a:pt x="63314" y="52550"/>
                      <a:pt x="52713" y="63159"/>
                      <a:pt x="39611" y="6319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68" name="Google Shape;1068;p117"/>
              <p:cNvSpPr/>
              <p:nvPr/>
            </p:nvSpPr>
            <p:spPr>
              <a:xfrm>
                <a:off x="663052" y="2316417"/>
                <a:ext cx="107139" cy="128262"/>
              </a:xfrm>
              <a:custGeom>
                <a:avLst/>
                <a:gdLst/>
                <a:ahLst/>
                <a:cxnLst/>
                <a:rect l="l" t="t" r="r" b="b"/>
                <a:pathLst>
                  <a:path w="107139" h="128262" extrusionOk="0">
                    <a:moveTo>
                      <a:pt x="94274" y="0"/>
                    </a:moveTo>
                    <a:lnTo>
                      <a:pt x="55867" y="52747"/>
                    </a:lnTo>
                    <a:cubicBezTo>
                      <a:pt x="35916" y="43790"/>
                      <a:pt x="12467" y="52668"/>
                      <a:pt x="3491" y="72577"/>
                    </a:cubicBezTo>
                    <a:cubicBezTo>
                      <a:pt x="-4180" y="89592"/>
                      <a:pt x="1115" y="109641"/>
                      <a:pt x="16192" y="120673"/>
                    </a:cubicBezTo>
                    <a:cubicBezTo>
                      <a:pt x="22915" y="125608"/>
                      <a:pt x="31043" y="128268"/>
                      <a:pt x="39388" y="128263"/>
                    </a:cubicBezTo>
                    <a:cubicBezTo>
                      <a:pt x="41511" y="128255"/>
                      <a:pt x="43630" y="128086"/>
                      <a:pt x="45726" y="127757"/>
                    </a:cubicBezTo>
                    <a:cubicBezTo>
                      <a:pt x="67331" y="124326"/>
                      <a:pt x="82057" y="104066"/>
                      <a:pt x="78619" y="82506"/>
                    </a:cubicBezTo>
                    <a:cubicBezTo>
                      <a:pt x="77400" y="74867"/>
                      <a:pt x="73963" y="67753"/>
                      <a:pt x="68732" y="62044"/>
                    </a:cubicBezTo>
                    <a:lnTo>
                      <a:pt x="107139" y="9297"/>
                    </a:lnTo>
                    <a:close/>
                    <a:moveTo>
                      <a:pt x="58719" y="102648"/>
                    </a:moveTo>
                    <a:cubicBezTo>
                      <a:pt x="55010" y="107742"/>
                      <a:pt x="49424" y="111155"/>
                      <a:pt x="43191" y="112135"/>
                    </a:cubicBezTo>
                    <a:cubicBezTo>
                      <a:pt x="30227" y="114188"/>
                      <a:pt x="18050" y="105365"/>
                      <a:pt x="15993" y="92428"/>
                    </a:cubicBezTo>
                    <a:cubicBezTo>
                      <a:pt x="15004" y="86207"/>
                      <a:pt x="16535" y="79850"/>
                      <a:pt x="20248" y="74757"/>
                    </a:cubicBezTo>
                    <a:cubicBezTo>
                      <a:pt x="23957" y="69663"/>
                      <a:pt x="29543" y="66250"/>
                      <a:pt x="35776" y="65270"/>
                    </a:cubicBezTo>
                    <a:cubicBezTo>
                      <a:pt x="37021" y="65173"/>
                      <a:pt x="38270" y="65173"/>
                      <a:pt x="39515" y="65270"/>
                    </a:cubicBezTo>
                    <a:cubicBezTo>
                      <a:pt x="44522" y="65255"/>
                      <a:pt x="49405" y="66828"/>
                      <a:pt x="53458" y="69760"/>
                    </a:cubicBezTo>
                    <a:cubicBezTo>
                      <a:pt x="63864" y="77482"/>
                      <a:pt x="66199" y="92077"/>
                      <a:pt x="58719" y="10264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69" name="Google Shape;1069;p117"/>
              <p:cNvSpPr/>
              <p:nvPr/>
            </p:nvSpPr>
            <p:spPr>
              <a:xfrm>
                <a:off x="890800" y="2316480"/>
                <a:ext cx="106974" cy="128262"/>
              </a:xfrm>
              <a:custGeom>
                <a:avLst/>
                <a:gdLst/>
                <a:ahLst/>
                <a:cxnLst/>
                <a:rect l="l" t="t" r="r" b="b"/>
                <a:pathLst>
                  <a:path w="106974" h="128262" extrusionOk="0">
                    <a:moveTo>
                      <a:pt x="99186" y="65396"/>
                    </a:moveTo>
                    <a:cubicBezTo>
                      <a:pt x="88106" y="50196"/>
                      <a:pt x="67820" y="44903"/>
                      <a:pt x="50702" y="52747"/>
                    </a:cubicBezTo>
                    <a:lnTo>
                      <a:pt x="12676" y="0"/>
                    </a:lnTo>
                    <a:lnTo>
                      <a:pt x="0" y="9297"/>
                    </a:lnTo>
                    <a:lnTo>
                      <a:pt x="38407" y="62044"/>
                    </a:lnTo>
                    <a:cubicBezTo>
                      <a:pt x="23644" y="78155"/>
                      <a:pt x="24764" y="103159"/>
                      <a:pt x="40908" y="117891"/>
                    </a:cubicBezTo>
                    <a:cubicBezTo>
                      <a:pt x="46628" y="123111"/>
                      <a:pt x="53758" y="126541"/>
                      <a:pt x="61413" y="127757"/>
                    </a:cubicBezTo>
                    <a:cubicBezTo>
                      <a:pt x="63510" y="128083"/>
                      <a:pt x="65628" y="128252"/>
                      <a:pt x="67751" y="128263"/>
                    </a:cubicBezTo>
                    <a:cubicBezTo>
                      <a:pt x="89661" y="128014"/>
                      <a:pt x="107221" y="110089"/>
                      <a:pt x="106972" y="88224"/>
                    </a:cubicBezTo>
                    <a:cubicBezTo>
                      <a:pt x="106879" y="80042"/>
                      <a:pt x="104248" y="72088"/>
                      <a:pt x="99440" y="65460"/>
                    </a:cubicBezTo>
                    <a:close/>
                    <a:moveTo>
                      <a:pt x="90630" y="92339"/>
                    </a:moveTo>
                    <a:cubicBezTo>
                      <a:pt x="88635" y="105321"/>
                      <a:pt x="76472" y="114231"/>
                      <a:pt x="63463" y="112240"/>
                    </a:cubicBezTo>
                    <a:cubicBezTo>
                      <a:pt x="50454" y="110249"/>
                      <a:pt x="41526" y="98111"/>
                      <a:pt x="43521" y="85129"/>
                    </a:cubicBezTo>
                    <a:cubicBezTo>
                      <a:pt x="45303" y="73532"/>
                      <a:pt x="55296" y="64964"/>
                      <a:pt x="67054" y="64954"/>
                    </a:cubicBezTo>
                    <a:cubicBezTo>
                      <a:pt x="68319" y="64859"/>
                      <a:pt x="69591" y="64859"/>
                      <a:pt x="70856" y="64954"/>
                    </a:cubicBezTo>
                    <a:cubicBezTo>
                      <a:pt x="77089" y="65934"/>
                      <a:pt x="82675" y="69347"/>
                      <a:pt x="86384" y="74441"/>
                    </a:cubicBezTo>
                    <a:cubicBezTo>
                      <a:pt x="90128" y="79606"/>
                      <a:pt x="91656" y="86047"/>
                      <a:pt x="90630" y="9233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70" name="Google Shape;1070;p117"/>
              <p:cNvSpPr/>
              <p:nvPr/>
            </p:nvSpPr>
            <p:spPr>
              <a:xfrm>
                <a:off x="596608" y="2135858"/>
                <a:ext cx="141070" cy="79175"/>
              </a:xfrm>
              <a:custGeom>
                <a:avLst/>
                <a:gdLst/>
                <a:ahLst/>
                <a:cxnLst/>
                <a:rect l="l" t="t" r="r" b="b"/>
                <a:pathLst>
                  <a:path w="141070" h="79175" extrusionOk="0">
                    <a:moveTo>
                      <a:pt x="51898" y="1952"/>
                    </a:moveTo>
                    <a:cubicBezTo>
                      <a:pt x="31089" y="-4807"/>
                      <a:pt x="8730" y="6548"/>
                      <a:pt x="1956" y="27314"/>
                    </a:cubicBezTo>
                    <a:cubicBezTo>
                      <a:pt x="-4817" y="48079"/>
                      <a:pt x="6562" y="70393"/>
                      <a:pt x="27371" y="77152"/>
                    </a:cubicBezTo>
                    <a:cubicBezTo>
                      <a:pt x="31339" y="78453"/>
                      <a:pt x="35490" y="79115"/>
                      <a:pt x="39666" y="79112"/>
                    </a:cubicBezTo>
                    <a:cubicBezTo>
                      <a:pt x="53920" y="79107"/>
                      <a:pt x="67068" y="71447"/>
                      <a:pt x="74080" y="59063"/>
                    </a:cubicBezTo>
                    <a:lnTo>
                      <a:pt x="136191" y="79176"/>
                    </a:lnTo>
                    <a:lnTo>
                      <a:pt x="141071" y="64186"/>
                    </a:lnTo>
                    <a:lnTo>
                      <a:pt x="78960" y="44011"/>
                    </a:lnTo>
                    <a:cubicBezTo>
                      <a:pt x="81068" y="25363"/>
                      <a:pt x="69767" y="7800"/>
                      <a:pt x="51898" y="1952"/>
                    </a:cubicBezTo>
                    <a:close/>
                    <a:moveTo>
                      <a:pt x="62229" y="46920"/>
                    </a:moveTo>
                    <a:cubicBezTo>
                      <a:pt x="60283" y="52892"/>
                      <a:pt x="56044" y="57850"/>
                      <a:pt x="50440" y="60708"/>
                    </a:cubicBezTo>
                    <a:cubicBezTo>
                      <a:pt x="44831" y="63585"/>
                      <a:pt x="38298" y="64086"/>
                      <a:pt x="32314" y="62099"/>
                    </a:cubicBezTo>
                    <a:cubicBezTo>
                      <a:pt x="19828" y="58060"/>
                      <a:pt x="12987" y="44685"/>
                      <a:pt x="17034" y="32224"/>
                    </a:cubicBezTo>
                    <a:cubicBezTo>
                      <a:pt x="21081" y="19764"/>
                      <a:pt x="34484" y="12937"/>
                      <a:pt x="46971" y="16976"/>
                    </a:cubicBezTo>
                    <a:cubicBezTo>
                      <a:pt x="59458" y="21015"/>
                      <a:pt x="66299" y="34390"/>
                      <a:pt x="62251" y="46851"/>
                    </a:cubicBezTo>
                    <a:cubicBezTo>
                      <a:pt x="62244" y="46874"/>
                      <a:pt x="62236" y="46897"/>
                      <a:pt x="62229" y="4692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071" name="Google Shape;1071;p117"/>
              <p:cNvSpPr/>
              <p:nvPr/>
            </p:nvSpPr>
            <p:spPr>
              <a:xfrm>
                <a:off x="922742" y="2136055"/>
                <a:ext cx="140983" cy="78978"/>
              </a:xfrm>
              <a:custGeom>
                <a:avLst/>
                <a:gdLst/>
                <a:ahLst/>
                <a:cxnLst/>
                <a:rect l="l" t="t" r="r" b="b"/>
                <a:pathLst>
                  <a:path w="140983" h="78978" extrusionOk="0">
                    <a:moveTo>
                      <a:pt x="139114" y="27180"/>
                    </a:moveTo>
                    <a:cubicBezTo>
                      <a:pt x="132275" y="6444"/>
                      <a:pt x="109884" y="-4833"/>
                      <a:pt x="89104" y="1992"/>
                    </a:cubicBezTo>
                    <a:cubicBezTo>
                      <a:pt x="71342" y="7827"/>
                      <a:pt x="60088" y="25262"/>
                      <a:pt x="62110" y="43814"/>
                    </a:cubicBezTo>
                    <a:lnTo>
                      <a:pt x="0" y="63989"/>
                    </a:lnTo>
                    <a:lnTo>
                      <a:pt x="4880" y="78979"/>
                    </a:lnTo>
                    <a:lnTo>
                      <a:pt x="66990" y="58866"/>
                    </a:lnTo>
                    <a:cubicBezTo>
                      <a:pt x="77858" y="77813"/>
                      <a:pt x="102059" y="84381"/>
                      <a:pt x="121046" y="73536"/>
                    </a:cubicBezTo>
                    <a:cubicBezTo>
                      <a:pt x="137247" y="64281"/>
                      <a:pt x="144775" y="44995"/>
                      <a:pt x="139114" y="27243"/>
                    </a:cubicBezTo>
                    <a:close/>
                    <a:moveTo>
                      <a:pt x="108630" y="61902"/>
                    </a:moveTo>
                    <a:cubicBezTo>
                      <a:pt x="96112" y="65842"/>
                      <a:pt x="82763" y="58911"/>
                      <a:pt x="78814" y="46418"/>
                    </a:cubicBezTo>
                    <a:cubicBezTo>
                      <a:pt x="74866" y="33927"/>
                      <a:pt x="81812" y="20606"/>
                      <a:pt x="94330" y="16665"/>
                    </a:cubicBezTo>
                    <a:cubicBezTo>
                      <a:pt x="106785" y="12744"/>
                      <a:pt x="120076" y="19587"/>
                      <a:pt x="124094" y="31987"/>
                    </a:cubicBezTo>
                    <a:cubicBezTo>
                      <a:pt x="128155" y="44406"/>
                      <a:pt x="121358" y="57759"/>
                      <a:pt x="108913" y="61812"/>
                    </a:cubicBezTo>
                    <a:cubicBezTo>
                      <a:pt x="108819" y="61843"/>
                      <a:pt x="108724" y="61872"/>
                      <a:pt x="108630" y="619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grpSp>
      </p:grpSp>
      <p:cxnSp>
        <p:nvCxnSpPr>
          <p:cNvPr id="1072" name="Google Shape;1072;p117"/>
          <p:cNvCxnSpPr/>
          <p:nvPr/>
        </p:nvCxnSpPr>
        <p:spPr>
          <a:xfrm rot="10800000" flipH="1">
            <a:off x="3938425" y="4555515"/>
            <a:ext cx="679200" cy="373200"/>
          </a:xfrm>
          <a:prstGeom prst="bentConnector3">
            <a:avLst>
              <a:gd name="adj1" fmla="val 50000"/>
            </a:avLst>
          </a:prstGeom>
          <a:noFill/>
          <a:ln w="19050" cap="flat" cmpd="sng">
            <a:solidFill>
              <a:schemeClr val="accent1"/>
            </a:solidFill>
            <a:prstDash val="solid"/>
            <a:miter lim="800000"/>
            <a:headEnd type="none" w="sm" len="sm"/>
            <a:tailEnd type="none" w="sm" len="sm"/>
          </a:ln>
        </p:spPr>
      </p:cxnSp>
      <p:cxnSp>
        <p:nvCxnSpPr>
          <p:cNvPr id="1073" name="Google Shape;1073;p117"/>
          <p:cNvCxnSpPr>
            <a:stCxn id="1021" idx="6"/>
          </p:cNvCxnSpPr>
          <p:nvPr/>
        </p:nvCxnSpPr>
        <p:spPr>
          <a:xfrm>
            <a:off x="3950534" y="3802663"/>
            <a:ext cx="539700" cy="0"/>
          </a:xfrm>
          <a:prstGeom prst="straightConnector1">
            <a:avLst/>
          </a:prstGeom>
          <a:noFill/>
          <a:ln w="19050" cap="flat" cmpd="sng">
            <a:solidFill>
              <a:schemeClr val="accent1"/>
            </a:solidFill>
            <a:prstDash val="solid"/>
            <a:miter lim="800000"/>
            <a:headEnd type="none" w="sm" len="sm"/>
            <a:tailEnd type="none" w="sm" len="sm"/>
          </a:ln>
        </p:spPr>
      </p:cxnSp>
      <p:cxnSp>
        <p:nvCxnSpPr>
          <p:cNvPr id="1074" name="Google Shape;1074;p117"/>
          <p:cNvCxnSpPr>
            <a:endCxn id="1053" idx="2"/>
          </p:cNvCxnSpPr>
          <p:nvPr/>
        </p:nvCxnSpPr>
        <p:spPr>
          <a:xfrm rot="10800000" flipH="1">
            <a:off x="7920857" y="2711821"/>
            <a:ext cx="758400" cy="346500"/>
          </a:xfrm>
          <a:prstGeom prst="bentConnector3">
            <a:avLst>
              <a:gd name="adj1" fmla="val 50000"/>
            </a:avLst>
          </a:prstGeom>
          <a:noFill/>
          <a:ln w="19050" cap="flat" cmpd="sng">
            <a:solidFill>
              <a:schemeClr val="accent1"/>
            </a:solidFill>
            <a:prstDash val="solid"/>
            <a:miter lim="800000"/>
            <a:headEnd type="none" w="sm" len="sm"/>
            <a:tailEnd type="none" w="sm" len="sm"/>
          </a:ln>
        </p:spPr>
      </p:cxnSp>
      <p:cxnSp>
        <p:nvCxnSpPr>
          <p:cNvPr id="1075" name="Google Shape;1075;p117"/>
          <p:cNvCxnSpPr/>
          <p:nvPr/>
        </p:nvCxnSpPr>
        <p:spPr>
          <a:xfrm>
            <a:off x="8131589" y="3791833"/>
            <a:ext cx="539635" cy="0"/>
          </a:xfrm>
          <a:prstGeom prst="straightConnector1">
            <a:avLst/>
          </a:prstGeom>
          <a:noFill/>
          <a:ln w="19050" cap="flat" cmpd="sng">
            <a:solidFill>
              <a:schemeClr val="accent1"/>
            </a:solidFill>
            <a:prstDash val="solid"/>
            <a:miter lim="800000"/>
            <a:headEnd type="none" w="sm" len="sm"/>
            <a:tailEnd type="none" w="sm" len="sm"/>
          </a:ln>
        </p:spPr>
      </p:cxnSp>
      <p:cxnSp>
        <p:nvCxnSpPr>
          <p:cNvPr id="1076" name="Google Shape;1076;p117"/>
          <p:cNvCxnSpPr>
            <a:endCxn id="1063" idx="2"/>
          </p:cNvCxnSpPr>
          <p:nvPr/>
        </p:nvCxnSpPr>
        <p:spPr>
          <a:xfrm>
            <a:off x="8019557" y="4554804"/>
            <a:ext cx="659700" cy="338700"/>
          </a:xfrm>
          <a:prstGeom prst="bentConnector3">
            <a:avLst>
              <a:gd name="adj1" fmla="val 50000"/>
            </a:avLst>
          </a:prstGeom>
          <a:noFill/>
          <a:ln w="19050" cap="flat" cmpd="sng">
            <a:solidFill>
              <a:schemeClr val="accent1"/>
            </a:solidFill>
            <a:prstDash val="solid"/>
            <a:miter lim="800000"/>
            <a:headEnd type="none" w="sm" len="sm"/>
            <a:tailEnd type="none" w="sm" len="sm"/>
          </a:ln>
        </p:spPr>
      </p:cxnSp>
      <p:pic>
        <p:nvPicPr>
          <p:cNvPr id="1077" name="Google Shape;1077;p117"/>
          <p:cNvPicPr preferRelativeResize="0"/>
          <p:nvPr/>
        </p:nvPicPr>
        <p:blipFill rotWithShape="1">
          <a:blip r:embed="rId4">
            <a:alphaModFix/>
          </a:blip>
          <a:srcRect l="19697" t="-1211" r="23465" b="-2556"/>
          <a:stretch/>
        </p:blipFill>
        <p:spPr>
          <a:xfrm>
            <a:off x="4484296" y="2084774"/>
            <a:ext cx="3656648" cy="3656648"/>
          </a:xfrm>
          <a:prstGeom prst="ellipse">
            <a:avLst/>
          </a:prstGeom>
          <a:noFill/>
          <a:ln>
            <a:noFill/>
          </a:ln>
        </p:spPr>
      </p:pic>
      <p:sp>
        <p:nvSpPr>
          <p:cNvPr id="1078" name="Google Shape;1078;p117"/>
          <p:cNvSpPr/>
          <p:nvPr/>
        </p:nvSpPr>
        <p:spPr>
          <a:xfrm>
            <a:off x="4490170" y="2089865"/>
            <a:ext cx="3656224" cy="3656224"/>
          </a:xfrm>
          <a:prstGeom prst="ellipse">
            <a:avLst/>
          </a:prstGeom>
          <a:noFill/>
          <a:ln w="19050" cap="flat" cmpd="sng">
            <a:solidFill>
              <a:schemeClr val="accent1"/>
            </a:solidFill>
            <a:prstDash val="solid"/>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pic>
        <p:nvPicPr>
          <p:cNvPr id="1084" name="Google Shape;1084;p118"/>
          <p:cNvPicPr preferRelativeResize="0"/>
          <p:nvPr/>
        </p:nvPicPr>
        <p:blipFill rotWithShape="1">
          <a:blip r:embed="rId3">
            <a:alphaModFix/>
          </a:blip>
          <a:srcRect l="8390" t="8189" r="4275" b="4340"/>
          <a:stretch/>
        </p:blipFill>
        <p:spPr>
          <a:xfrm>
            <a:off x="3004116" y="944526"/>
            <a:ext cx="6180592" cy="3095055"/>
          </a:xfrm>
          <a:prstGeom prst="rect">
            <a:avLst/>
          </a:prstGeom>
          <a:noFill/>
          <a:ln>
            <a:noFill/>
          </a:ln>
        </p:spPr>
      </p:pic>
      <p:sp>
        <p:nvSpPr>
          <p:cNvPr id="1085" name="Google Shape;1085;p118"/>
          <p:cNvSpPr txBox="1">
            <a:spLocks noGrp="1"/>
          </p:cNvSpPr>
          <p:nvPr>
            <p:ph type="title"/>
          </p:nvPr>
        </p:nvSpPr>
        <p:spPr>
          <a:xfrm>
            <a:off x="579809" y="412751"/>
            <a:ext cx="11001004" cy="381000"/>
          </a:xfrm>
          <a:noFill/>
          <a:ln>
            <a:noFill/>
          </a:ln>
        </p:spPr>
        <p:txBody>
          <a:bodyPr spcFirstLastPara="1" wrap="square" lIns="0" tIns="0" rIns="0" bIns="0" anchor="ctr" anchorCtr="0">
            <a:spAutoFit/>
          </a:bodyPr>
          <a:lstStyle/>
          <a:p>
            <a:pPr lvl="0"/>
            <a:r>
              <a:rPr lang="en-US"/>
              <a:t>Delivered By a Team of Experts Spanning Diverse Functions</a:t>
            </a:r>
          </a:p>
        </p:txBody>
      </p:sp>
      <p:sp>
        <p:nvSpPr>
          <p:cNvPr id="1086" name="Google Shape;1086;p118"/>
          <p:cNvSpPr/>
          <p:nvPr/>
        </p:nvSpPr>
        <p:spPr>
          <a:xfrm>
            <a:off x="486545" y="4221072"/>
            <a:ext cx="3329590" cy="1508900"/>
          </a:xfrm>
          <a:prstGeom prst="rect">
            <a:avLst/>
          </a:prstGeom>
          <a:noFill/>
          <a:ln>
            <a:noFill/>
          </a:ln>
        </p:spPr>
        <p:txBody>
          <a:bodyPr spcFirstLastPara="1" wrap="square" lIns="91400" tIns="0" rIns="91400" bIns="0" anchor="t" anchorCtr="0">
            <a:noAutofit/>
          </a:bodyPr>
          <a:lstStyle/>
          <a:p>
            <a:pPr marL="0" marR="0" lvl="0" indent="0" algn="l" rtl="0">
              <a:lnSpc>
                <a:spcPct val="100000"/>
              </a:lnSpc>
              <a:spcBef>
                <a:spcPts val="0"/>
              </a:spcBef>
              <a:spcAft>
                <a:spcPts val="0"/>
              </a:spcAft>
              <a:buClr>
                <a:srgbClr val="000000"/>
              </a:buClr>
              <a:buSzPts val="1799"/>
              <a:buFont typeface="Arial"/>
              <a:buNone/>
            </a:pPr>
            <a:r>
              <a:rPr lang="en-US" sz="1799" b="1" i="0" u="none" strike="noStrike" cap="none">
                <a:solidFill>
                  <a:srgbClr val="0098C7"/>
                </a:solidFill>
                <a:latin typeface="Arial"/>
                <a:ea typeface="Arial"/>
                <a:cs typeface="Arial"/>
                <a:sym typeface="Arial"/>
              </a:rPr>
              <a:t>Solution Architecture</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Determine KPIs and metrics</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Design and architect elements, sizing, and integration points</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Deploy, integrate, configure the environment</a:t>
            </a:r>
            <a:endParaRPr sz="1400" b="0" i="0" u="none" strike="noStrike" cap="none">
              <a:solidFill>
                <a:srgbClr val="000000"/>
              </a:solidFill>
              <a:latin typeface="Arial"/>
              <a:ea typeface="Arial"/>
              <a:cs typeface="Arial"/>
              <a:sym typeface="Arial"/>
            </a:endParaRPr>
          </a:p>
        </p:txBody>
      </p:sp>
      <p:sp>
        <p:nvSpPr>
          <p:cNvPr id="1087" name="Google Shape;1087;p118"/>
          <p:cNvSpPr/>
          <p:nvPr/>
        </p:nvSpPr>
        <p:spPr>
          <a:xfrm>
            <a:off x="4136562" y="4221072"/>
            <a:ext cx="4102110" cy="1508900"/>
          </a:xfrm>
          <a:prstGeom prst="rect">
            <a:avLst/>
          </a:prstGeom>
          <a:noFill/>
          <a:ln>
            <a:noFill/>
          </a:ln>
        </p:spPr>
        <p:txBody>
          <a:bodyPr spcFirstLastPara="1" wrap="square" lIns="91400" tIns="0" rIns="91400" bIns="0" anchor="t" anchorCtr="0">
            <a:noAutofit/>
          </a:bodyPr>
          <a:lstStyle/>
          <a:p>
            <a:pPr marL="0" marR="0" lvl="0" indent="0" algn="l" rtl="0">
              <a:lnSpc>
                <a:spcPct val="100000"/>
              </a:lnSpc>
              <a:spcBef>
                <a:spcPts val="0"/>
              </a:spcBef>
              <a:spcAft>
                <a:spcPts val="0"/>
              </a:spcAft>
              <a:buClr>
                <a:srgbClr val="000000"/>
              </a:buClr>
              <a:buSzPts val="1799"/>
              <a:buFont typeface="Arial"/>
              <a:buNone/>
            </a:pPr>
            <a:r>
              <a:rPr lang="en-US" sz="1799" b="1" i="0" u="none" strike="noStrike" cap="none">
                <a:solidFill>
                  <a:srgbClr val="0098C7"/>
                </a:solidFill>
                <a:latin typeface="Arial"/>
                <a:ea typeface="Arial"/>
                <a:cs typeface="Arial"/>
                <a:sym typeface="Arial"/>
              </a:rPr>
              <a:t>Organization Change Management</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Review the organizational model</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Develop the organizational plan</a:t>
            </a:r>
            <a:endParaRPr sz="1400" b="0" i="0" u="none" strike="noStrike" cap="none">
              <a:solidFill>
                <a:srgbClr val="000000"/>
              </a:solidFill>
              <a:latin typeface="Arial"/>
              <a:ea typeface="Arial"/>
              <a:cs typeface="Arial"/>
              <a:sym typeface="Arial"/>
            </a:endParaRPr>
          </a:p>
          <a:p>
            <a:pPr marL="171399" marR="0" lvl="0" indent="-82499" algn="l" rtl="0">
              <a:lnSpc>
                <a:spcPct val="100000"/>
              </a:lnSpc>
              <a:spcBef>
                <a:spcPts val="600"/>
              </a:spcBef>
              <a:spcAft>
                <a:spcPts val="0"/>
              </a:spcAft>
              <a:buClr>
                <a:srgbClr val="000000"/>
              </a:buClr>
              <a:buSzPts val="1400"/>
              <a:buFont typeface="Arial"/>
              <a:buNone/>
            </a:pPr>
            <a:endParaRPr sz="1400" b="0" i="0" u="none" strike="noStrike" cap="none">
              <a:solidFill>
                <a:srgbClr val="CC092F"/>
              </a:solidFill>
              <a:latin typeface="Arial"/>
              <a:ea typeface="Arial"/>
              <a:cs typeface="Arial"/>
              <a:sym typeface="Arial"/>
            </a:endParaRPr>
          </a:p>
        </p:txBody>
      </p:sp>
      <p:sp>
        <p:nvSpPr>
          <p:cNvPr id="1088" name="Google Shape;1088;p118"/>
          <p:cNvSpPr/>
          <p:nvPr/>
        </p:nvSpPr>
        <p:spPr>
          <a:xfrm>
            <a:off x="8559097" y="4221072"/>
            <a:ext cx="3020287" cy="1508900"/>
          </a:xfrm>
          <a:prstGeom prst="rect">
            <a:avLst/>
          </a:prstGeom>
          <a:noFill/>
          <a:ln>
            <a:noFill/>
          </a:ln>
        </p:spPr>
        <p:txBody>
          <a:bodyPr spcFirstLastPara="1" wrap="square" lIns="91400" tIns="0" rIns="91400" bIns="0" anchor="t" anchorCtr="0">
            <a:noAutofit/>
          </a:bodyPr>
          <a:lstStyle/>
          <a:p>
            <a:pPr marL="0" marR="0" lvl="0" indent="0" algn="l" rtl="0">
              <a:lnSpc>
                <a:spcPct val="100000"/>
              </a:lnSpc>
              <a:spcBef>
                <a:spcPts val="0"/>
              </a:spcBef>
              <a:spcAft>
                <a:spcPts val="0"/>
              </a:spcAft>
              <a:buClr>
                <a:srgbClr val="000000"/>
              </a:buClr>
              <a:buSzPts val="1799"/>
              <a:buFont typeface="Arial"/>
              <a:buNone/>
            </a:pPr>
            <a:r>
              <a:rPr lang="en-US" sz="1799" b="1" i="0" u="none" strike="noStrike" cap="none">
                <a:solidFill>
                  <a:srgbClr val="0098C7"/>
                </a:solidFill>
                <a:latin typeface="Arial"/>
                <a:ea typeface="Arial"/>
                <a:cs typeface="Arial"/>
                <a:sym typeface="Arial"/>
              </a:rPr>
              <a:t>Project Governance</a:t>
            </a:r>
            <a:endParaRPr sz="1799" b="1" i="0" u="none" strike="noStrike" cap="none">
              <a:solidFill>
                <a:srgbClr val="CC092F"/>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Oversee the engagement</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Prioritize and align resources</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Maintain the project plan</a:t>
            </a:r>
            <a:endParaRPr sz="1400" b="0" i="0" u="none" strike="noStrike" cap="none">
              <a:solidFill>
                <a:srgbClr val="000000"/>
              </a:solidFill>
              <a:latin typeface="Arial"/>
              <a:ea typeface="Arial"/>
              <a:cs typeface="Arial"/>
              <a:sym typeface="Arial"/>
            </a:endParaRPr>
          </a:p>
          <a:p>
            <a:pPr marL="171399" marR="0" lvl="0" indent="-171399" algn="l" rtl="0">
              <a:lnSpc>
                <a:spcPct val="100000"/>
              </a:lnSpc>
              <a:spcBef>
                <a:spcPts val="60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Guide the implementation to fit the organization and business strategy</a:t>
            </a:r>
            <a:endParaRPr sz="1400" b="0" i="0" u="none" strike="noStrike" cap="none">
              <a:solidFill>
                <a:srgbClr val="000000"/>
              </a:solidFill>
              <a:latin typeface="Arial"/>
              <a:ea typeface="Arial"/>
              <a:cs typeface="Arial"/>
              <a:sym typeface="Arial"/>
            </a:endParaRPr>
          </a:p>
        </p:txBody>
      </p:sp>
      <p:sp>
        <p:nvSpPr>
          <p:cNvPr id="1089" name="Google Shape;1089;p118"/>
          <p:cNvSpPr/>
          <p:nvPr/>
        </p:nvSpPr>
        <p:spPr>
          <a:xfrm>
            <a:off x="1588" y="4007447"/>
            <a:ext cx="12185651" cy="58600"/>
          </a:xfrm>
          <a:prstGeom prst="rect">
            <a:avLst/>
          </a:prstGeom>
          <a:solidFill>
            <a:schemeClr val="accen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6"/>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General Terms and Definitions</a:t>
            </a:r>
          </a:p>
        </p:txBody>
      </p:sp>
      <p:sp>
        <p:nvSpPr>
          <p:cNvPr id="1095" name="Google Shape;1095;p6"/>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VMware Pro Cloud Services for Private Cloud</a:t>
            </a:r>
          </a:p>
        </p:txBody>
      </p:sp>
      <p:sp>
        <p:nvSpPr>
          <p:cNvPr id="1096" name="Google Shape;1096;p6"/>
          <p:cNvSpPr/>
          <p:nvPr/>
        </p:nvSpPr>
        <p:spPr>
          <a:xfrm>
            <a:off x="487016"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Environment</a:t>
            </a:r>
            <a:endParaRPr sz="1400" b="0" i="0" u="none" strike="noStrike" cap="none">
              <a:solidFill>
                <a:srgbClr val="000000"/>
              </a:solidFill>
              <a:latin typeface="Arial"/>
              <a:ea typeface="Arial"/>
              <a:cs typeface="Arial"/>
              <a:sym typeface="Arial"/>
            </a:endParaRPr>
          </a:p>
        </p:txBody>
      </p:sp>
      <p:sp>
        <p:nvSpPr>
          <p:cNvPr id="1097" name="Google Shape;1097;p6"/>
          <p:cNvSpPr/>
          <p:nvPr/>
        </p:nvSpPr>
        <p:spPr>
          <a:xfrm>
            <a:off x="487016"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chemeClr val="lt2"/>
                </a:solidFill>
                <a:latin typeface="Arial"/>
                <a:ea typeface="Arial"/>
                <a:cs typeface="Arial"/>
                <a:sym typeface="Arial"/>
              </a:rPr>
              <a:t>A tag used to describe the function of a system. Common environment tags  include Development, Test, UAT, and Production. </a:t>
            </a:r>
            <a:endParaRPr sz="1400" b="0" i="0" u="none" strike="noStrike" cap="none" dirty="0">
              <a:solidFill>
                <a:schemeClr val="lt2"/>
              </a:solidFill>
              <a:latin typeface="Arial"/>
              <a:ea typeface="Arial"/>
              <a:cs typeface="Arial"/>
              <a:sym typeface="Arial"/>
            </a:endParaRPr>
          </a:p>
        </p:txBody>
      </p:sp>
      <p:sp>
        <p:nvSpPr>
          <p:cNvPr id="1098" name="Google Shape;1098;p6"/>
          <p:cNvSpPr/>
          <p:nvPr/>
        </p:nvSpPr>
        <p:spPr>
          <a:xfrm>
            <a:off x="2363855"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Instance</a:t>
            </a:r>
            <a:endParaRPr sz="1400" b="0" i="0" u="none" strike="noStrike" cap="none">
              <a:solidFill>
                <a:srgbClr val="000000"/>
              </a:solidFill>
              <a:latin typeface="Arial"/>
              <a:ea typeface="Arial"/>
              <a:cs typeface="Arial"/>
              <a:sym typeface="Arial"/>
            </a:endParaRPr>
          </a:p>
        </p:txBody>
      </p:sp>
      <p:sp>
        <p:nvSpPr>
          <p:cNvPr id="1099" name="Google Shape;1099;p6"/>
          <p:cNvSpPr/>
          <p:nvPr/>
        </p:nvSpPr>
        <p:spPr>
          <a:xfrm>
            <a:off x="2363855"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tag used to describe a tangible deployment of a system. Example: the naming convention of the production instance of AA is AA-PROD.</a:t>
            </a:r>
            <a:endParaRPr sz="1400" b="0" i="0" u="none" strike="noStrike" cap="none">
              <a:solidFill>
                <a:schemeClr val="lt2"/>
              </a:solidFill>
              <a:latin typeface="Arial"/>
              <a:ea typeface="Arial"/>
              <a:cs typeface="Arial"/>
              <a:sym typeface="Arial"/>
            </a:endParaRPr>
          </a:p>
        </p:txBody>
      </p:sp>
      <p:sp>
        <p:nvSpPr>
          <p:cNvPr id="1100" name="Google Shape;1100;p6"/>
          <p:cNvSpPr/>
          <p:nvPr/>
        </p:nvSpPr>
        <p:spPr>
          <a:xfrm>
            <a:off x="4240694"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Datacenter</a:t>
            </a:r>
            <a:endParaRPr sz="1400" b="0" i="0" u="none" strike="noStrike" cap="none">
              <a:solidFill>
                <a:srgbClr val="000000"/>
              </a:solidFill>
              <a:latin typeface="Arial"/>
              <a:ea typeface="Arial"/>
              <a:cs typeface="Arial"/>
              <a:sym typeface="Arial"/>
            </a:endParaRPr>
          </a:p>
        </p:txBody>
      </p:sp>
      <p:sp>
        <p:nvSpPr>
          <p:cNvPr id="1101" name="Google Shape;1101;p6"/>
          <p:cNvSpPr/>
          <p:nvPr/>
        </p:nvSpPr>
        <p:spPr>
          <a:xfrm>
            <a:off x="4240694"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The physical location of the instance. Example: the appliances are deployed to a cluster in the Boston datacenter. </a:t>
            </a:r>
            <a:endParaRPr sz="1400" b="0" i="0" u="none" strike="noStrike" cap="none">
              <a:solidFill>
                <a:schemeClr val="lt2"/>
              </a:solidFill>
              <a:latin typeface="Arial"/>
              <a:ea typeface="Arial"/>
              <a:cs typeface="Arial"/>
              <a:sym typeface="Arial"/>
            </a:endParaRPr>
          </a:p>
        </p:txBody>
      </p:sp>
      <p:sp>
        <p:nvSpPr>
          <p:cNvPr id="1102" name="Google Shape;1102;p6"/>
          <p:cNvSpPr/>
          <p:nvPr/>
        </p:nvSpPr>
        <p:spPr>
          <a:xfrm>
            <a:off x="6117533"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Workload Domain</a:t>
            </a:r>
            <a:endParaRPr sz="1400" b="0" i="0" u="none" strike="noStrike" cap="none">
              <a:solidFill>
                <a:srgbClr val="000000"/>
              </a:solidFill>
              <a:latin typeface="Arial"/>
              <a:ea typeface="Arial"/>
              <a:cs typeface="Arial"/>
              <a:sym typeface="Arial"/>
            </a:endParaRPr>
          </a:p>
        </p:txBody>
      </p:sp>
      <p:sp>
        <p:nvSpPr>
          <p:cNvPr id="1103" name="Google Shape;1103;p6"/>
          <p:cNvSpPr/>
          <p:nvPr/>
        </p:nvSpPr>
        <p:spPr>
          <a:xfrm>
            <a:off x="6117533"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The logical units that carve the compute, network, and storage resources of a single vCenter and a single NSX Manager.</a:t>
            </a:r>
            <a:endParaRPr sz="1400" b="0" i="0" u="none" strike="noStrike" cap="none">
              <a:solidFill>
                <a:schemeClr val="lt2"/>
              </a:solidFill>
              <a:latin typeface="Arial"/>
              <a:ea typeface="Arial"/>
              <a:cs typeface="Arial"/>
              <a:sym typeface="Arial"/>
            </a:endParaRPr>
          </a:p>
        </p:txBody>
      </p:sp>
      <p:sp>
        <p:nvSpPr>
          <p:cNvPr id="1104" name="Google Shape;1104;p6"/>
          <p:cNvSpPr/>
          <p:nvPr/>
        </p:nvSpPr>
        <p:spPr>
          <a:xfrm>
            <a:off x="7994372"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Management Workload Domain</a:t>
            </a:r>
            <a:endParaRPr sz="1400" b="0" i="0" u="none" strike="noStrike" cap="none">
              <a:solidFill>
                <a:srgbClr val="000000"/>
              </a:solidFill>
              <a:latin typeface="Arial"/>
              <a:ea typeface="Arial"/>
              <a:cs typeface="Arial"/>
              <a:sym typeface="Arial"/>
            </a:endParaRPr>
          </a:p>
        </p:txBody>
      </p:sp>
      <p:sp>
        <p:nvSpPr>
          <p:cNvPr id="1105" name="Google Shape;1105;p6"/>
          <p:cNvSpPr/>
          <p:nvPr/>
        </p:nvSpPr>
        <p:spPr>
          <a:xfrm>
            <a:off x="7994372"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workload domain whose resources are dedicated to hosting VMware appliances.</a:t>
            </a:r>
            <a:endParaRPr sz="1400" b="0" i="0" u="none" strike="noStrike" cap="none">
              <a:solidFill>
                <a:schemeClr val="lt2"/>
              </a:solidFill>
              <a:latin typeface="Arial"/>
              <a:ea typeface="Arial"/>
              <a:cs typeface="Arial"/>
              <a:sym typeface="Arial"/>
            </a:endParaRPr>
          </a:p>
        </p:txBody>
      </p:sp>
      <p:sp>
        <p:nvSpPr>
          <p:cNvPr id="1106" name="Google Shape;1106;p6"/>
          <p:cNvSpPr/>
          <p:nvPr/>
        </p:nvSpPr>
        <p:spPr>
          <a:xfrm>
            <a:off x="9871211" y="182615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Virtual Infrastructure (VI) Workload Domain</a:t>
            </a:r>
            <a:endParaRPr sz="1400" b="0" i="0" u="none" strike="noStrike" cap="none">
              <a:solidFill>
                <a:srgbClr val="000000"/>
              </a:solidFill>
              <a:latin typeface="Arial"/>
              <a:ea typeface="Arial"/>
              <a:cs typeface="Arial"/>
              <a:sym typeface="Arial"/>
            </a:endParaRPr>
          </a:p>
        </p:txBody>
      </p:sp>
      <p:sp>
        <p:nvSpPr>
          <p:cNvPr id="1107" name="Google Shape;1107;p6"/>
          <p:cNvSpPr/>
          <p:nvPr/>
        </p:nvSpPr>
        <p:spPr>
          <a:xfrm>
            <a:off x="9871211" y="207389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workload domain whose resources are dedicated to hosting non-VMware workloads.</a:t>
            </a:r>
            <a:endParaRPr sz="1400" b="0" i="0" u="none" strike="noStrike" cap="none">
              <a:solidFill>
                <a:schemeClr val="lt2"/>
              </a:solidFill>
              <a:latin typeface="Arial"/>
              <a:ea typeface="Arial"/>
              <a:cs typeface="Arial"/>
              <a:sym typeface="Arial"/>
            </a:endParaRPr>
          </a:p>
        </p:txBody>
      </p:sp>
      <p:sp>
        <p:nvSpPr>
          <p:cNvPr id="1108" name="Google Shape;1108;p6"/>
          <p:cNvSpPr/>
          <p:nvPr/>
        </p:nvSpPr>
        <p:spPr>
          <a:xfrm>
            <a:off x="487016"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Telemetry</a:t>
            </a:r>
            <a:endParaRPr sz="1400" b="0" i="0" u="none" strike="noStrike" cap="none">
              <a:solidFill>
                <a:srgbClr val="000000"/>
              </a:solidFill>
              <a:latin typeface="Arial"/>
              <a:ea typeface="Arial"/>
              <a:cs typeface="Arial"/>
              <a:sym typeface="Arial"/>
            </a:endParaRPr>
          </a:p>
        </p:txBody>
      </p:sp>
      <p:sp>
        <p:nvSpPr>
          <p:cNvPr id="1109" name="Google Shape;1109;p6"/>
          <p:cNvSpPr/>
          <p:nvPr/>
        </p:nvSpPr>
        <p:spPr>
          <a:xfrm>
            <a:off x="487016"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The recording and transmission of data from one or more systems to a centralized location for monitoring and analysis. </a:t>
            </a:r>
            <a:endParaRPr sz="1400" b="0" i="0" u="none" strike="noStrike" cap="none">
              <a:solidFill>
                <a:schemeClr val="lt2"/>
              </a:solidFill>
              <a:latin typeface="Arial"/>
              <a:ea typeface="Arial"/>
              <a:cs typeface="Arial"/>
              <a:sym typeface="Arial"/>
            </a:endParaRPr>
          </a:p>
        </p:txBody>
      </p:sp>
      <p:sp>
        <p:nvSpPr>
          <p:cNvPr id="1110" name="Google Shape;1110;p6"/>
          <p:cNvSpPr/>
          <p:nvPr/>
        </p:nvSpPr>
        <p:spPr>
          <a:xfrm>
            <a:off x="2363855"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Automation</a:t>
            </a:r>
            <a:endParaRPr sz="1400" b="0" i="0" u="none" strike="noStrike" cap="none">
              <a:solidFill>
                <a:srgbClr val="000000"/>
              </a:solidFill>
              <a:latin typeface="Arial"/>
              <a:ea typeface="Arial"/>
              <a:cs typeface="Arial"/>
              <a:sym typeface="Arial"/>
            </a:endParaRPr>
          </a:p>
        </p:txBody>
      </p:sp>
      <p:sp>
        <p:nvSpPr>
          <p:cNvPr id="1111" name="Google Shape;1111;p6"/>
          <p:cNvSpPr/>
          <p:nvPr/>
        </p:nvSpPr>
        <p:spPr>
          <a:xfrm>
            <a:off x="2363855"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series of tasks performed within minimal human input. </a:t>
            </a:r>
            <a:endParaRPr sz="1400" b="0" i="0" u="none" strike="noStrike" cap="none">
              <a:solidFill>
                <a:schemeClr val="lt2"/>
              </a:solidFill>
              <a:latin typeface="Arial"/>
              <a:ea typeface="Arial"/>
              <a:cs typeface="Arial"/>
              <a:sym typeface="Arial"/>
            </a:endParaRPr>
          </a:p>
        </p:txBody>
      </p:sp>
      <p:sp>
        <p:nvSpPr>
          <p:cNvPr id="1112" name="Google Shape;1112;p6"/>
          <p:cNvSpPr/>
          <p:nvPr/>
        </p:nvSpPr>
        <p:spPr>
          <a:xfrm>
            <a:off x="4240694"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Cloud</a:t>
            </a:r>
            <a:endParaRPr sz="1400" b="0" i="0" u="none" strike="noStrike" cap="none">
              <a:solidFill>
                <a:srgbClr val="000000"/>
              </a:solidFill>
              <a:latin typeface="Arial"/>
              <a:ea typeface="Arial"/>
              <a:cs typeface="Arial"/>
              <a:sym typeface="Arial"/>
            </a:endParaRPr>
          </a:p>
        </p:txBody>
      </p:sp>
      <p:sp>
        <p:nvSpPr>
          <p:cNvPr id="1113" name="Google Shape;1113;p6"/>
          <p:cNvSpPr/>
          <p:nvPr/>
        </p:nvSpPr>
        <p:spPr>
          <a:xfrm>
            <a:off x="4240694"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style of computing in which scalable and elastic IT-enabled capabilities are delivered as a service using internet technologies.</a:t>
            </a:r>
            <a:endParaRPr sz="1400" b="0" i="0" u="none" strike="noStrike" cap="none">
              <a:solidFill>
                <a:schemeClr val="lt2"/>
              </a:solidFill>
              <a:latin typeface="Arial"/>
              <a:ea typeface="Arial"/>
              <a:cs typeface="Arial"/>
              <a:sym typeface="Arial"/>
            </a:endParaRPr>
          </a:p>
        </p:txBody>
      </p:sp>
      <p:sp>
        <p:nvSpPr>
          <p:cNvPr id="1114" name="Google Shape;1114;p6"/>
          <p:cNvSpPr/>
          <p:nvPr/>
        </p:nvSpPr>
        <p:spPr>
          <a:xfrm>
            <a:off x="487016"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Aria Suite</a:t>
            </a:r>
            <a:endParaRPr sz="1400" b="0" i="0" u="none" strike="noStrike" cap="none">
              <a:solidFill>
                <a:srgbClr val="000000"/>
              </a:solidFill>
              <a:latin typeface="Arial"/>
              <a:ea typeface="Arial"/>
              <a:cs typeface="Arial"/>
              <a:sym typeface="Arial"/>
            </a:endParaRPr>
          </a:p>
        </p:txBody>
      </p:sp>
      <p:sp>
        <p:nvSpPr>
          <p:cNvPr id="1115" name="Google Shape;1115;p6"/>
          <p:cNvSpPr/>
          <p:nvPr/>
        </p:nvSpPr>
        <p:spPr>
          <a:xfrm>
            <a:off x="487016"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suite of products developed by VMware to provide consistent automation and telemetry capabilities for a cloud.</a:t>
            </a:r>
            <a:endParaRPr sz="1400" b="0" i="0" u="none" strike="noStrike" cap="none">
              <a:solidFill>
                <a:schemeClr val="lt2"/>
              </a:solidFill>
              <a:latin typeface="Arial"/>
              <a:ea typeface="Arial"/>
              <a:cs typeface="Arial"/>
              <a:sym typeface="Arial"/>
            </a:endParaRPr>
          </a:p>
        </p:txBody>
      </p:sp>
      <p:sp>
        <p:nvSpPr>
          <p:cNvPr id="1116" name="Google Shape;1116;p6"/>
          <p:cNvSpPr/>
          <p:nvPr/>
        </p:nvSpPr>
        <p:spPr>
          <a:xfrm>
            <a:off x="6117533" y="3056664"/>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Private Cloud</a:t>
            </a:r>
            <a:endParaRPr sz="1400" b="0" i="0" u="none" strike="noStrike" cap="none">
              <a:solidFill>
                <a:srgbClr val="000000"/>
              </a:solidFill>
              <a:latin typeface="Arial"/>
              <a:ea typeface="Arial"/>
              <a:cs typeface="Arial"/>
              <a:sym typeface="Arial"/>
            </a:endParaRPr>
          </a:p>
        </p:txBody>
      </p:sp>
      <p:sp>
        <p:nvSpPr>
          <p:cNvPr id="1117" name="Google Shape;1117;p6"/>
          <p:cNvSpPr/>
          <p:nvPr/>
        </p:nvSpPr>
        <p:spPr>
          <a:xfrm>
            <a:off x="6117533" y="3304407"/>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cloud that is developed and operated by the same entity who owns the datacenter where the cloud resides.</a:t>
            </a:r>
            <a:endParaRPr sz="1400" b="0" i="0" u="none" strike="noStrike" cap="none">
              <a:solidFill>
                <a:schemeClr val="lt2"/>
              </a:solidFill>
              <a:latin typeface="Arial"/>
              <a:ea typeface="Arial"/>
              <a:cs typeface="Arial"/>
              <a:sym typeface="Arial"/>
            </a:endParaRPr>
          </a:p>
        </p:txBody>
      </p:sp>
      <p:sp>
        <p:nvSpPr>
          <p:cNvPr id="1118" name="Google Shape;1118;p6"/>
          <p:cNvSpPr/>
          <p:nvPr/>
        </p:nvSpPr>
        <p:spPr>
          <a:xfrm>
            <a:off x="7994372"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Public Cloud</a:t>
            </a:r>
            <a:endParaRPr sz="1400" b="0" i="0" u="none" strike="noStrike" cap="none">
              <a:solidFill>
                <a:srgbClr val="000000"/>
              </a:solidFill>
              <a:latin typeface="Arial"/>
              <a:ea typeface="Arial"/>
              <a:cs typeface="Arial"/>
              <a:sym typeface="Arial"/>
            </a:endParaRPr>
          </a:p>
        </p:txBody>
      </p:sp>
      <p:sp>
        <p:nvSpPr>
          <p:cNvPr id="1119" name="Google Shape;1119;p6"/>
          <p:cNvSpPr/>
          <p:nvPr/>
        </p:nvSpPr>
        <p:spPr>
          <a:xfrm>
            <a:off x="7994372"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cloud that is developed and operated by a different entity who owns the datacenter where the cloud resides.</a:t>
            </a:r>
            <a:endParaRPr sz="1400" b="0" i="0" u="none" strike="noStrike" cap="none">
              <a:solidFill>
                <a:schemeClr val="lt2"/>
              </a:solidFill>
              <a:latin typeface="Arial"/>
              <a:ea typeface="Arial"/>
              <a:cs typeface="Arial"/>
              <a:sym typeface="Arial"/>
            </a:endParaRPr>
          </a:p>
        </p:txBody>
      </p:sp>
      <p:sp>
        <p:nvSpPr>
          <p:cNvPr id="1120" name="Google Shape;1120;p6"/>
          <p:cNvSpPr/>
          <p:nvPr/>
        </p:nvSpPr>
        <p:spPr>
          <a:xfrm>
            <a:off x="9871211" y="3053271"/>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Multi Cloud</a:t>
            </a:r>
            <a:endParaRPr sz="1400" b="0" i="0" u="none" strike="noStrike" cap="none">
              <a:solidFill>
                <a:srgbClr val="000000"/>
              </a:solidFill>
              <a:latin typeface="Arial"/>
              <a:ea typeface="Arial"/>
              <a:cs typeface="Arial"/>
              <a:sym typeface="Arial"/>
            </a:endParaRPr>
          </a:p>
        </p:txBody>
      </p:sp>
      <p:sp>
        <p:nvSpPr>
          <p:cNvPr id="1121" name="Google Shape;1121;p6"/>
          <p:cNvSpPr/>
          <p:nvPr/>
        </p:nvSpPr>
        <p:spPr>
          <a:xfrm>
            <a:off x="9871211" y="3301014"/>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cloud comprised of public clouds and private clouds. </a:t>
            </a:r>
            <a:endParaRPr sz="1400" b="0" i="0" u="none" strike="noStrike" cap="none">
              <a:solidFill>
                <a:schemeClr val="lt2"/>
              </a:solidFill>
              <a:latin typeface="Arial"/>
              <a:ea typeface="Arial"/>
              <a:cs typeface="Arial"/>
              <a:sym typeface="Arial"/>
            </a:endParaRPr>
          </a:p>
        </p:txBody>
      </p:sp>
      <p:sp>
        <p:nvSpPr>
          <p:cNvPr id="1122" name="Google Shape;1122;p6"/>
          <p:cNvSpPr/>
          <p:nvPr/>
        </p:nvSpPr>
        <p:spPr>
          <a:xfrm>
            <a:off x="2363855"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Aria Suite Lifecycle</a:t>
            </a:r>
            <a:endParaRPr sz="1400" b="0" i="0" u="none" strike="noStrike" cap="none">
              <a:solidFill>
                <a:srgbClr val="000000"/>
              </a:solidFill>
              <a:latin typeface="Arial"/>
              <a:ea typeface="Arial"/>
              <a:cs typeface="Arial"/>
              <a:sym typeface="Arial"/>
            </a:endParaRPr>
          </a:p>
        </p:txBody>
      </p:sp>
      <p:sp>
        <p:nvSpPr>
          <p:cNvPr id="1123" name="Google Shape;1123;p6"/>
          <p:cNvSpPr/>
          <p:nvPr/>
        </p:nvSpPr>
        <p:spPr>
          <a:xfrm>
            <a:off x="2363855"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platform responsible for deploying, upgrading, configuring, and managing the Aria Suite.</a:t>
            </a:r>
            <a:endParaRPr sz="1400" b="0" i="0" u="none" strike="noStrike" cap="none">
              <a:solidFill>
                <a:schemeClr val="lt2"/>
              </a:solidFill>
              <a:latin typeface="Arial"/>
              <a:ea typeface="Arial"/>
              <a:cs typeface="Arial"/>
              <a:sym typeface="Arial"/>
            </a:endParaRPr>
          </a:p>
        </p:txBody>
      </p:sp>
      <p:sp>
        <p:nvSpPr>
          <p:cNvPr id="1124" name="Google Shape;1124;p6"/>
          <p:cNvSpPr/>
          <p:nvPr/>
        </p:nvSpPr>
        <p:spPr>
          <a:xfrm>
            <a:off x="4240694"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Aria Automation</a:t>
            </a:r>
            <a:endParaRPr sz="1400" b="0" i="0" u="none" strike="noStrike" cap="none">
              <a:solidFill>
                <a:srgbClr val="000000"/>
              </a:solidFill>
              <a:latin typeface="Arial"/>
              <a:ea typeface="Arial"/>
              <a:cs typeface="Arial"/>
              <a:sym typeface="Arial"/>
            </a:endParaRPr>
          </a:p>
        </p:txBody>
      </p:sp>
      <p:sp>
        <p:nvSpPr>
          <p:cNvPr id="1125" name="Google Shape;1125;p6"/>
          <p:cNvSpPr/>
          <p:nvPr/>
        </p:nvSpPr>
        <p:spPr>
          <a:xfrm>
            <a:off x="4240694"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An automation platform designed to develop, control, and secure self-service capabilities of a cloud.</a:t>
            </a:r>
            <a:endParaRPr sz="1400" b="0" i="0" u="none" strike="noStrike" cap="none">
              <a:solidFill>
                <a:schemeClr val="lt2"/>
              </a:solidFill>
              <a:latin typeface="Arial"/>
              <a:ea typeface="Arial"/>
              <a:cs typeface="Arial"/>
              <a:sym typeface="Arial"/>
            </a:endParaRPr>
          </a:p>
        </p:txBody>
      </p:sp>
      <p:sp>
        <p:nvSpPr>
          <p:cNvPr id="1126" name="Google Shape;1126;p6"/>
          <p:cNvSpPr/>
          <p:nvPr/>
        </p:nvSpPr>
        <p:spPr>
          <a:xfrm>
            <a:off x="6117533" y="4283779"/>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Aria Automation Orchestrator</a:t>
            </a:r>
            <a:endParaRPr sz="1400" b="0" i="0" u="none" strike="noStrike" cap="none">
              <a:solidFill>
                <a:srgbClr val="000000"/>
              </a:solidFill>
              <a:latin typeface="Arial"/>
              <a:ea typeface="Arial"/>
              <a:cs typeface="Arial"/>
              <a:sym typeface="Arial"/>
            </a:endParaRPr>
          </a:p>
        </p:txBody>
      </p:sp>
      <p:sp>
        <p:nvSpPr>
          <p:cNvPr id="1127" name="Google Shape;1127;p6"/>
          <p:cNvSpPr/>
          <p:nvPr/>
        </p:nvSpPr>
        <p:spPr>
          <a:xfrm>
            <a:off x="6117533" y="4531522"/>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platform that works in conjunction with Aria Automation to automate self-service processes. </a:t>
            </a:r>
            <a:endParaRPr sz="1400" b="0" i="0" u="none" strike="noStrike" cap="none">
              <a:solidFill>
                <a:schemeClr val="lt2"/>
              </a:solidFill>
              <a:latin typeface="Arial"/>
              <a:ea typeface="Arial"/>
              <a:cs typeface="Arial"/>
              <a:sym typeface="Arial"/>
            </a:endParaRPr>
          </a:p>
        </p:txBody>
      </p:sp>
      <p:sp>
        <p:nvSpPr>
          <p:cNvPr id="1128" name="Google Shape;1128;p6"/>
          <p:cNvSpPr/>
          <p:nvPr/>
        </p:nvSpPr>
        <p:spPr>
          <a:xfrm>
            <a:off x="7994372"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Aria Operations</a:t>
            </a:r>
            <a:endParaRPr sz="1400" b="0" i="0" u="none" strike="noStrike" cap="none">
              <a:solidFill>
                <a:srgbClr val="000000"/>
              </a:solidFill>
              <a:latin typeface="Arial"/>
              <a:ea typeface="Arial"/>
              <a:cs typeface="Arial"/>
              <a:sym typeface="Arial"/>
            </a:endParaRPr>
          </a:p>
        </p:txBody>
      </p:sp>
      <p:sp>
        <p:nvSpPr>
          <p:cNvPr id="1129" name="Google Shape;1129;p6"/>
          <p:cNvSpPr/>
          <p:nvPr/>
        </p:nvSpPr>
        <p:spPr>
          <a:xfrm>
            <a:off x="7994372"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platform that provides full-stack visibility of a cloud by providing optimization, capacity, costing, and planning metrics.</a:t>
            </a:r>
            <a:endParaRPr sz="1400" b="0" i="0" u="none" strike="noStrike" cap="none">
              <a:solidFill>
                <a:schemeClr val="lt2"/>
              </a:solidFill>
              <a:latin typeface="Arial"/>
              <a:ea typeface="Arial"/>
              <a:cs typeface="Arial"/>
              <a:sym typeface="Arial"/>
            </a:endParaRPr>
          </a:p>
        </p:txBody>
      </p:sp>
      <p:sp>
        <p:nvSpPr>
          <p:cNvPr id="1130" name="Google Shape;1130;p6"/>
          <p:cNvSpPr/>
          <p:nvPr/>
        </p:nvSpPr>
        <p:spPr>
          <a:xfrm>
            <a:off x="9871211" y="4280386"/>
            <a:ext cx="1749287" cy="24774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Aria Operations for Logs</a:t>
            </a:r>
            <a:endParaRPr sz="1400" b="0" i="0" u="none" strike="noStrike" cap="none">
              <a:solidFill>
                <a:srgbClr val="000000"/>
              </a:solidFill>
              <a:latin typeface="Arial"/>
              <a:ea typeface="Arial"/>
              <a:cs typeface="Arial"/>
              <a:sym typeface="Arial"/>
            </a:endParaRPr>
          </a:p>
        </p:txBody>
      </p:sp>
      <p:sp>
        <p:nvSpPr>
          <p:cNvPr id="1131" name="Google Shape;1131;p6"/>
          <p:cNvSpPr/>
          <p:nvPr/>
        </p:nvSpPr>
        <p:spPr>
          <a:xfrm>
            <a:off x="9871211" y="4528129"/>
            <a:ext cx="1749287" cy="85550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2"/>
                </a:solidFill>
                <a:latin typeface="Arial"/>
                <a:ea typeface="Arial"/>
                <a:cs typeface="Arial"/>
                <a:sym typeface="Arial"/>
              </a:rPr>
              <a:t>A platform that provides intelligent log management and analytics of a cloud. </a:t>
            </a:r>
            <a:endParaRPr sz="1400" b="0" i="0" u="none" strike="noStrike" cap="none">
              <a:solidFill>
                <a:schemeClr val="l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2" name="Title 1">
            <a:extLst>
              <a:ext uri="{FF2B5EF4-FFF2-40B4-BE49-F238E27FC236}">
                <a16:creationId xmlns:a16="http://schemas.microsoft.com/office/drawing/2014/main" id="{3E278EBE-A71F-FACE-65DB-A044FE8EBE7E}"/>
              </a:ext>
            </a:extLst>
          </p:cNvPr>
          <p:cNvSpPr>
            <a:spLocks noGrp="1"/>
          </p:cNvSpPr>
          <p:nvPr>
            <p:ph type="title"/>
          </p:nvPr>
        </p:nvSpPr>
        <p:spPr>
          <a:xfrm>
            <a:off x="589108" y="938794"/>
            <a:ext cx="6427626" cy="1229360"/>
          </a:xfrm>
        </p:spPr>
        <p:txBody>
          <a:bodyPr/>
          <a:lstStyle/>
          <a:p>
            <a:r>
              <a:rPr lang="en-US" dirty="0"/>
              <a:t>VMware Pro Cloud Services</a:t>
            </a:r>
          </a:p>
        </p:txBody>
      </p:sp>
      <p:sp>
        <p:nvSpPr>
          <p:cNvPr id="1136" name="Google Shape;1136;p119"/>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CA" dirty="0"/>
              <a:t>Private Cloud Conceptual Design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8"/>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What is IaaS?</a:t>
            </a:r>
          </a:p>
        </p:txBody>
      </p:sp>
      <p:sp>
        <p:nvSpPr>
          <p:cNvPr id="1143" name="Google Shape;1143;p8"/>
          <p:cNvSpPr txBox="1">
            <a:spLocks noGrp="1"/>
          </p:cNvSpPr>
          <p:nvPr>
            <p:ph type="subTitle" idx="10"/>
          </p:nvPr>
        </p:nvSpPr>
        <p:spPr>
          <a:xfrm>
            <a:off x="592866" y="811830"/>
            <a:ext cx="10962687" cy="247743"/>
          </a:xfrm>
          <a:noFill/>
          <a:ln>
            <a:noFill/>
          </a:ln>
        </p:spPr>
        <p:txBody>
          <a:bodyPr spcFirstLastPara="1" wrap="square" lIns="0" tIns="0" rIns="0" bIns="0" anchor="t" anchorCtr="0">
            <a:spAutoFit/>
          </a:bodyPr>
          <a:lstStyle/>
          <a:p>
            <a:pPr lvl="0"/>
            <a:r>
              <a:rPr lang="en-US"/>
              <a:t>Focus on the Customer’s Customer</a:t>
            </a:r>
          </a:p>
          <a:p>
            <a:pPr lvl="0"/>
            <a:endParaRPr lang="en-US"/>
          </a:p>
        </p:txBody>
      </p:sp>
      <p:sp>
        <p:nvSpPr>
          <p:cNvPr id="1144" name="Google Shape;1144;p8"/>
          <p:cNvSpPr txBox="1"/>
          <p:nvPr/>
        </p:nvSpPr>
        <p:spPr>
          <a:xfrm>
            <a:off x="4162584" y="1569411"/>
            <a:ext cx="7076660"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dirty="0">
                <a:solidFill>
                  <a:schemeClr val="accent1"/>
                </a:solidFill>
                <a:latin typeface="Arial"/>
                <a:ea typeface="Arial"/>
                <a:cs typeface="Arial"/>
                <a:sym typeface="Arial"/>
              </a:rPr>
              <a:t>Infrastructure as a Service (IaaS) </a:t>
            </a:r>
            <a:r>
              <a:rPr lang="en-US" sz="2000" b="0" i="0" u="none" strike="noStrike" cap="none" dirty="0">
                <a:solidFill>
                  <a:schemeClr val="tx2"/>
                </a:solidFill>
                <a:latin typeface="Arial"/>
                <a:ea typeface="Arial"/>
                <a:cs typeface="Arial"/>
                <a:sym typeface="Arial"/>
              </a:rPr>
              <a:t>is a type of cloud computing service that offers essential </a:t>
            </a:r>
            <a:r>
              <a:rPr lang="en-US" sz="2000" b="0" i="0" u="none" strike="noStrike" cap="none" dirty="0">
                <a:solidFill>
                  <a:schemeClr val="accent1"/>
                </a:solidFill>
                <a:latin typeface="Arial"/>
                <a:ea typeface="Arial"/>
                <a:cs typeface="Arial"/>
                <a:sym typeface="Arial"/>
              </a:rPr>
              <a:t>compute</a:t>
            </a:r>
            <a:r>
              <a:rPr lang="en-US" sz="2000" b="0" i="0" u="none" strike="noStrike" cap="none" dirty="0">
                <a:solidFill>
                  <a:schemeClr val="tx2"/>
                </a:solidFill>
                <a:latin typeface="Arial"/>
                <a:ea typeface="Arial"/>
                <a:cs typeface="Arial"/>
                <a:sym typeface="Arial"/>
              </a:rPr>
              <a:t>, </a:t>
            </a:r>
            <a:r>
              <a:rPr lang="en-US" sz="2000" b="0" i="0" u="none" strike="noStrike" cap="none" dirty="0">
                <a:solidFill>
                  <a:schemeClr val="accent1"/>
                </a:solidFill>
                <a:latin typeface="Arial"/>
                <a:ea typeface="Arial"/>
                <a:cs typeface="Arial"/>
                <a:sym typeface="Arial"/>
              </a:rPr>
              <a:t>storage</a:t>
            </a:r>
            <a:r>
              <a:rPr lang="en-US" sz="2000" b="0" i="0" u="none" strike="noStrike" cap="none" dirty="0">
                <a:solidFill>
                  <a:schemeClr val="tx2"/>
                </a:solidFill>
                <a:latin typeface="Arial"/>
                <a:ea typeface="Arial"/>
                <a:cs typeface="Arial"/>
                <a:sym typeface="Arial"/>
              </a:rPr>
              <a:t>, and </a:t>
            </a:r>
            <a:r>
              <a:rPr lang="en-US" sz="2000" b="0" i="0" u="none" strike="noStrike" cap="none" dirty="0">
                <a:solidFill>
                  <a:schemeClr val="accent1"/>
                </a:solidFill>
                <a:latin typeface="Arial"/>
                <a:ea typeface="Arial"/>
                <a:cs typeface="Arial"/>
                <a:sym typeface="Arial"/>
              </a:rPr>
              <a:t>networking</a:t>
            </a:r>
            <a:r>
              <a:rPr lang="en-US" sz="2000" b="0" i="0" u="none" strike="noStrike" cap="none" dirty="0">
                <a:solidFill>
                  <a:schemeClr val="tx2"/>
                </a:solidFill>
                <a:latin typeface="Arial"/>
                <a:ea typeface="Arial"/>
                <a:cs typeface="Arial"/>
                <a:sym typeface="Arial"/>
              </a:rPr>
              <a:t> resources on demand. </a:t>
            </a:r>
            <a:endParaRPr sz="2000" b="0" i="0" u="none" strike="noStrike" cap="none" dirty="0">
              <a:solidFill>
                <a:schemeClr val="tx2"/>
              </a:solidFill>
              <a:latin typeface="Arial"/>
              <a:ea typeface="Arial"/>
              <a:cs typeface="Arial"/>
              <a:sym typeface="Arial"/>
            </a:endParaRPr>
          </a:p>
        </p:txBody>
      </p:sp>
      <p:pic>
        <p:nvPicPr>
          <p:cNvPr id="1145" name="Google Shape;1145;p8" descr="FARK.com: (11163116) &quot;Chances are, your boss knows you're not actually sick on the Monday after ..."/>
          <p:cNvPicPr preferRelativeResize="0"/>
          <p:nvPr/>
        </p:nvPicPr>
        <p:blipFill rotWithShape="1">
          <a:blip r:embed="rId3">
            <a:alphaModFix/>
          </a:blip>
          <a:srcRect l="29233" r="27116"/>
          <a:stretch/>
        </p:blipFill>
        <p:spPr>
          <a:xfrm>
            <a:off x="387627" y="1569411"/>
            <a:ext cx="3409121" cy="4267200"/>
          </a:xfrm>
          <a:prstGeom prst="rect">
            <a:avLst/>
          </a:prstGeom>
          <a:noFill/>
          <a:ln>
            <a:noFill/>
          </a:ln>
        </p:spPr>
      </p:pic>
      <p:sp>
        <p:nvSpPr>
          <p:cNvPr id="1146" name="Google Shape;1146;p8"/>
          <p:cNvSpPr/>
          <p:nvPr/>
        </p:nvSpPr>
        <p:spPr>
          <a:xfrm>
            <a:off x="4162584" y="2584272"/>
            <a:ext cx="2622264" cy="914400"/>
          </a:xfrm>
          <a:prstGeom prst="rect">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chemeClr val="tx1"/>
                </a:solidFill>
                <a:latin typeface="Arial"/>
                <a:ea typeface="Arial"/>
                <a:cs typeface="Arial"/>
                <a:sym typeface="Arial"/>
              </a:rPr>
              <a:t>What is a Service?</a:t>
            </a:r>
            <a:endParaRPr sz="1400" b="0" i="0" u="none" strike="noStrike" cap="none" dirty="0">
              <a:solidFill>
                <a:schemeClr val="tx1"/>
              </a:solidFill>
              <a:latin typeface="Arial"/>
              <a:ea typeface="Arial"/>
              <a:cs typeface="Arial"/>
              <a:sym typeface="Arial"/>
            </a:endParaRPr>
          </a:p>
        </p:txBody>
      </p:sp>
      <p:cxnSp>
        <p:nvCxnSpPr>
          <p:cNvPr id="1147" name="Google Shape;1147;p8"/>
          <p:cNvCxnSpPr/>
          <p:nvPr/>
        </p:nvCxnSpPr>
        <p:spPr>
          <a:xfrm>
            <a:off x="4162584" y="3599256"/>
            <a:ext cx="7770336" cy="0"/>
          </a:xfrm>
          <a:prstGeom prst="straightConnector1">
            <a:avLst/>
          </a:prstGeom>
          <a:noFill/>
          <a:ln w="25400" cap="flat" cmpd="sng">
            <a:solidFill>
              <a:schemeClr val="accent1"/>
            </a:solidFill>
            <a:prstDash val="solid"/>
            <a:miter lim="800000"/>
            <a:headEnd type="none" w="sm" len="sm"/>
            <a:tailEnd type="none" w="sm" len="sm"/>
          </a:ln>
        </p:spPr>
      </p:cxnSp>
      <p:sp>
        <p:nvSpPr>
          <p:cNvPr id="1148" name="Google Shape;1148;p8"/>
          <p:cNvSpPr/>
          <p:nvPr/>
        </p:nvSpPr>
        <p:spPr>
          <a:xfrm>
            <a:off x="6812820" y="2584272"/>
            <a:ext cx="5120100" cy="914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chemeClr val="bg2">
                    <a:lumMod val="50000"/>
                  </a:schemeClr>
                </a:solidFill>
                <a:latin typeface="Arial"/>
                <a:ea typeface="Arial"/>
                <a:cs typeface="Arial"/>
                <a:sym typeface="Arial"/>
              </a:rPr>
              <a:t>A cloud computing service is a mechanism to facilitate the request and the delivery of technology using an interface.  </a:t>
            </a:r>
            <a:endParaRPr sz="1400" b="0" i="0" u="none" strike="noStrike" cap="none" dirty="0">
              <a:solidFill>
                <a:schemeClr val="bg2">
                  <a:lumMod val="50000"/>
                </a:schemeClr>
              </a:solidFill>
              <a:latin typeface="Arial"/>
              <a:ea typeface="Arial"/>
              <a:cs typeface="Arial"/>
              <a:sym typeface="Arial"/>
            </a:endParaRPr>
          </a:p>
        </p:txBody>
      </p:sp>
      <p:sp>
        <p:nvSpPr>
          <p:cNvPr id="1149" name="Google Shape;1149;p8"/>
          <p:cNvSpPr/>
          <p:nvPr/>
        </p:nvSpPr>
        <p:spPr>
          <a:xfrm>
            <a:off x="4190556" y="3699841"/>
            <a:ext cx="2622264" cy="914400"/>
          </a:xfrm>
          <a:prstGeom prst="rect">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chemeClr val="tx1"/>
                </a:solidFill>
                <a:latin typeface="Arial"/>
                <a:ea typeface="Arial"/>
                <a:cs typeface="Arial"/>
                <a:sym typeface="Arial"/>
              </a:rPr>
              <a:t>What are compute, storage, and networking resources?</a:t>
            </a:r>
            <a:endParaRPr sz="1400" b="0" i="0" u="none" strike="noStrike" cap="none" dirty="0">
              <a:solidFill>
                <a:schemeClr val="tx1"/>
              </a:solidFill>
              <a:latin typeface="Arial"/>
              <a:ea typeface="Arial"/>
              <a:cs typeface="Arial"/>
              <a:sym typeface="Arial"/>
            </a:endParaRPr>
          </a:p>
        </p:txBody>
      </p:sp>
      <p:cxnSp>
        <p:nvCxnSpPr>
          <p:cNvPr id="1150" name="Google Shape;1150;p8"/>
          <p:cNvCxnSpPr/>
          <p:nvPr/>
        </p:nvCxnSpPr>
        <p:spPr>
          <a:xfrm>
            <a:off x="4190556" y="4714825"/>
            <a:ext cx="7770336" cy="0"/>
          </a:xfrm>
          <a:prstGeom prst="straightConnector1">
            <a:avLst/>
          </a:prstGeom>
          <a:noFill/>
          <a:ln w="25400" cap="flat" cmpd="sng">
            <a:solidFill>
              <a:schemeClr val="accent5"/>
            </a:solidFill>
            <a:prstDash val="solid"/>
            <a:miter lim="800000"/>
            <a:headEnd type="none" w="sm" len="sm"/>
            <a:tailEnd type="none" w="sm" len="sm"/>
          </a:ln>
        </p:spPr>
      </p:cxnSp>
      <p:sp>
        <p:nvSpPr>
          <p:cNvPr id="1151" name="Google Shape;1151;p8"/>
          <p:cNvSpPr/>
          <p:nvPr/>
        </p:nvSpPr>
        <p:spPr>
          <a:xfrm>
            <a:off x="6840792" y="3699841"/>
            <a:ext cx="5120100" cy="914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chemeClr val="bg2">
                    <a:lumMod val="50000"/>
                  </a:schemeClr>
                </a:solidFill>
                <a:latin typeface="Arial"/>
                <a:ea typeface="Arial"/>
                <a:cs typeface="Arial"/>
                <a:sym typeface="Arial"/>
              </a:rPr>
              <a:t>Compute, storage, and networking resources are systems that handle data. “Compute” refers to a system that processes data, “Storage” refers to a system that stores data, and “Network” refers to a system that transports data.  </a:t>
            </a:r>
            <a:endParaRPr sz="1400" b="0" i="0" u="none" strike="noStrike" cap="none" dirty="0">
              <a:solidFill>
                <a:schemeClr val="bg2">
                  <a:lumMod val="50000"/>
                </a:schemeClr>
              </a:solidFill>
              <a:latin typeface="Arial"/>
              <a:ea typeface="Arial"/>
              <a:cs typeface="Arial"/>
              <a:sym typeface="Arial"/>
            </a:endParaRPr>
          </a:p>
        </p:txBody>
      </p:sp>
      <p:pic>
        <p:nvPicPr>
          <p:cNvPr id="1152" name="Google Shape;1152;p8" descr="Female Profile with solid fill"/>
          <p:cNvPicPr preferRelativeResize="0"/>
          <p:nvPr/>
        </p:nvPicPr>
        <p:blipFill rotWithShape="1">
          <a:blip r:embed="rId4">
            <a:alphaModFix/>
          </a:blip>
          <a:srcRect/>
          <a:stretch/>
        </p:blipFill>
        <p:spPr>
          <a:xfrm>
            <a:off x="8632562" y="5331465"/>
            <a:ext cx="914400" cy="914400"/>
          </a:xfrm>
          <a:prstGeom prst="rect">
            <a:avLst/>
          </a:prstGeom>
          <a:noFill/>
          <a:ln>
            <a:noFill/>
          </a:ln>
        </p:spPr>
      </p:pic>
      <p:pic>
        <p:nvPicPr>
          <p:cNvPr id="1153" name="Google Shape;1153;p8" descr="Male profile with solid fill"/>
          <p:cNvPicPr preferRelativeResize="0"/>
          <p:nvPr/>
        </p:nvPicPr>
        <p:blipFill rotWithShape="1">
          <a:blip r:embed="rId5">
            <a:alphaModFix/>
          </a:blip>
          <a:srcRect/>
          <a:stretch/>
        </p:blipFill>
        <p:spPr>
          <a:xfrm>
            <a:off x="5637212" y="5331465"/>
            <a:ext cx="914400" cy="914400"/>
          </a:xfrm>
          <a:prstGeom prst="rect">
            <a:avLst/>
          </a:prstGeom>
          <a:noFill/>
          <a:ln>
            <a:noFill/>
          </a:ln>
        </p:spPr>
      </p:pic>
      <p:sp>
        <p:nvSpPr>
          <p:cNvPr id="1154" name="Google Shape;1154;p8"/>
          <p:cNvSpPr/>
          <p:nvPr/>
        </p:nvSpPr>
        <p:spPr>
          <a:xfrm>
            <a:off x="5877698" y="4827516"/>
            <a:ext cx="1714619" cy="668977"/>
          </a:xfrm>
          <a:prstGeom prst="wedgeEllipseCallout">
            <a:avLst>
              <a:gd name="adj1" fmla="val -20833"/>
              <a:gd name="adj2" fmla="val 625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1"/>
                </a:solidFill>
                <a:latin typeface="Arial"/>
                <a:ea typeface="Arial"/>
                <a:cs typeface="Arial"/>
                <a:sym typeface="Arial"/>
              </a:rPr>
              <a:t>Thanks… but what does this have to do with VCF?</a:t>
            </a:r>
            <a:endParaRPr sz="1400" b="0" i="0" u="none" strike="noStrike" cap="none">
              <a:solidFill>
                <a:srgbClr val="000000"/>
              </a:solidFill>
              <a:latin typeface="Arial"/>
              <a:ea typeface="Arial"/>
              <a:cs typeface="Arial"/>
              <a:sym typeface="Arial"/>
            </a:endParaRPr>
          </a:p>
        </p:txBody>
      </p:sp>
      <p:sp>
        <p:nvSpPr>
          <p:cNvPr id="1155" name="Google Shape;1155;p8"/>
          <p:cNvSpPr/>
          <p:nvPr/>
        </p:nvSpPr>
        <p:spPr>
          <a:xfrm>
            <a:off x="8974867" y="4827516"/>
            <a:ext cx="1714619" cy="668977"/>
          </a:xfrm>
          <a:prstGeom prst="wedgeEllipseCallout">
            <a:avLst>
              <a:gd name="adj1" fmla="val -20833"/>
              <a:gd name="adj2" fmla="val 625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lt1"/>
                </a:solidFill>
                <a:latin typeface="Arial"/>
                <a:ea typeface="Arial"/>
                <a:cs typeface="Arial"/>
                <a:sym typeface="Arial"/>
              </a:rPr>
              <a:t>Because IaaS drives consumption of VCF</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9"/>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Running IaaS on VMware</a:t>
            </a:r>
          </a:p>
        </p:txBody>
      </p:sp>
      <p:sp>
        <p:nvSpPr>
          <p:cNvPr id="1162" name="Google Shape;1162;p9"/>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Goal: Deliver a Hyperscaler Experience with VMware</a:t>
            </a:r>
          </a:p>
          <a:p>
            <a:pPr lvl="0"/>
            <a:endParaRPr lang="en-US"/>
          </a:p>
        </p:txBody>
      </p:sp>
      <p:sp>
        <p:nvSpPr>
          <p:cNvPr id="1163" name="Google Shape;1163;p9"/>
          <p:cNvSpPr/>
          <p:nvPr/>
        </p:nvSpPr>
        <p:spPr>
          <a:xfrm>
            <a:off x="1546169" y="1516080"/>
            <a:ext cx="1762298" cy="1762298"/>
          </a:xfrm>
          <a:prstGeom prst="ellipse">
            <a:avLst/>
          </a:prstGeom>
          <a:noFill/>
          <a:ln w="381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53565A"/>
              </a:solidFill>
              <a:latin typeface="Arial"/>
              <a:ea typeface="Arial"/>
              <a:cs typeface="Arial"/>
              <a:sym typeface="Arial"/>
            </a:endParaRPr>
          </a:p>
        </p:txBody>
      </p:sp>
      <p:sp>
        <p:nvSpPr>
          <p:cNvPr id="1164" name="Google Shape;1164;p9"/>
          <p:cNvSpPr txBox="1"/>
          <p:nvPr/>
        </p:nvSpPr>
        <p:spPr>
          <a:xfrm>
            <a:off x="1728818" y="2023329"/>
            <a:ext cx="1397000" cy="747799"/>
          </a:xfrm>
          <a:prstGeom prst="rect">
            <a:avLst/>
          </a:prstGeom>
          <a:noFill/>
          <a:ln>
            <a:noFill/>
          </a:ln>
        </p:spPr>
        <p:txBody>
          <a:bodyPr spcFirstLastPara="1" wrap="square" lIns="91425" tIns="45700" rIns="91425" bIns="45700" anchor="t" anchorCtr="0">
            <a:noAutofit/>
          </a:bodyPr>
          <a:lstStyle/>
          <a:p>
            <a:pPr marL="0" marR="0" lvl="0" indent="-114300" algn="ctr" rtl="0">
              <a:lnSpc>
                <a:spcPct val="100000"/>
              </a:lnSpc>
              <a:spcBef>
                <a:spcPts val="0"/>
              </a:spcBef>
              <a:spcAft>
                <a:spcPts val="0"/>
              </a:spcAft>
              <a:buClr>
                <a:srgbClr val="A8A8AB"/>
              </a:buClr>
              <a:buSzPts val="1800"/>
              <a:buFont typeface="Arial"/>
              <a:buChar char="​"/>
            </a:pPr>
            <a:r>
              <a:rPr lang="en-US" sz="2000" b="0" i="0" u="none" strike="noStrike" cap="none">
                <a:solidFill>
                  <a:srgbClr val="53565A"/>
                </a:solidFill>
                <a:latin typeface="Arial"/>
                <a:ea typeface="Arial"/>
                <a:cs typeface="Arial"/>
                <a:sym typeface="Arial"/>
              </a:rPr>
              <a:t>Key Benefits</a:t>
            </a:r>
            <a:endParaRPr sz="1400" b="0" i="0" u="none" strike="noStrike" cap="none">
              <a:solidFill>
                <a:srgbClr val="53565A"/>
              </a:solidFill>
              <a:latin typeface="Arial"/>
              <a:ea typeface="Arial"/>
              <a:cs typeface="Arial"/>
              <a:sym typeface="Arial"/>
            </a:endParaRPr>
          </a:p>
        </p:txBody>
      </p:sp>
      <p:sp>
        <p:nvSpPr>
          <p:cNvPr id="1165" name="Google Shape;1165;p9"/>
          <p:cNvSpPr txBox="1"/>
          <p:nvPr/>
        </p:nvSpPr>
        <p:spPr>
          <a:xfrm>
            <a:off x="1050067" y="3413893"/>
            <a:ext cx="3147861" cy="2468840"/>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A8A8AB"/>
              </a:buClr>
              <a:buSzPts val="1440"/>
              <a:buFont typeface="Arial"/>
              <a:buChar char="•"/>
            </a:pPr>
            <a:r>
              <a:rPr lang="en-US" sz="1600" b="0" i="0" u="none" strike="noStrike" cap="none" dirty="0">
                <a:solidFill>
                  <a:srgbClr val="53565A"/>
                </a:solidFill>
                <a:latin typeface="Arial"/>
                <a:ea typeface="Arial"/>
                <a:cs typeface="Arial"/>
                <a:sym typeface="Arial"/>
              </a:rPr>
              <a:t>Prescriptive approach to development and and operations</a:t>
            </a:r>
            <a:endParaRPr sz="1400" b="0" i="0" u="none" strike="noStrike" cap="none" dirty="0">
              <a:solidFill>
                <a:srgbClr val="53565A"/>
              </a:solidFill>
              <a:latin typeface="Arial"/>
              <a:ea typeface="Arial"/>
              <a:cs typeface="Arial"/>
              <a:sym typeface="Arial"/>
            </a:endParaRPr>
          </a:p>
          <a:p>
            <a:pPr marL="285750" marR="0" lvl="1" indent="-285750" algn="l" rtl="0">
              <a:lnSpc>
                <a:spcPct val="100000"/>
              </a:lnSpc>
              <a:spcBef>
                <a:spcPts val="1200"/>
              </a:spcBef>
              <a:spcAft>
                <a:spcPts val="0"/>
              </a:spcAft>
              <a:buClr>
                <a:schemeClr val="dk1"/>
              </a:buClr>
              <a:buSzPts val="1440"/>
              <a:buFont typeface="Arial"/>
              <a:buChar char="•"/>
            </a:pPr>
            <a:r>
              <a:rPr lang="en-US" sz="1600" b="0" i="0" u="none" strike="noStrike" cap="none" dirty="0">
                <a:solidFill>
                  <a:srgbClr val="53565A"/>
                </a:solidFill>
                <a:latin typeface="Arial"/>
                <a:ea typeface="Arial"/>
                <a:cs typeface="Arial"/>
                <a:sym typeface="Arial"/>
              </a:rPr>
              <a:t>Improved agility and cost efficiency</a:t>
            </a:r>
            <a:endParaRPr sz="1400" b="0" i="0" u="none" strike="noStrike" cap="none" dirty="0">
              <a:solidFill>
                <a:srgbClr val="53565A"/>
              </a:solidFill>
              <a:latin typeface="Arial"/>
              <a:ea typeface="Arial"/>
              <a:cs typeface="Arial"/>
              <a:sym typeface="Arial"/>
            </a:endParaRPr>
          </a:p>
          <a:p>
            <a:pPr marL="285750" marR="0" lvl="1" indent="-285750" algn="l" rtl="0">
              <a:lnSpc>
                <a:spcPct val="100000"/>
              </a:lnSpc>
              <a:spcBef>
                <a:spcPts val="1200"/>
              </a:spcBef>
              <a:spcAft>
                <a:spcPts val="0"/>
              </a:spcAft>
              <a:buClr>
                <a:schemeClr val="dk1"/>
              </a:buClr>
              <a:buSzPts val="1440"/>
              <a:buFont typeface="Arial"/>
              <a:buChar char="•"/>
            </a:pPr>
            <a:r>
              <a:rPr lang="en-US" sz="1600" b="0" i="0" u="none" strike="noStrike" cap="none" dirty="0">
                <a:solidFill>
                  <a:srgbClr val="53565A"/>
                </a:solidFill>
                <a:latin typeface="Arial"/>
                <a:ea typeface="Arial"/>
                <a:cs typeface="Arial"/>
                <a:sym typeface="Arial"/>
              </a:rPr>
              <a:t>Continuous improvement</a:t>
            </a:r>
            <a:endParaRPr sz="1400" b="0" i="0" u="none" strike="noStrike" cap="none" dirty="0">
              <a:solidFill>
                <a:srgbClr val="53565A"/>
              </a:solidFill>
              <a:latin typeface="Arial"/>
              <a:ea typeface="Arial"/>
              <a:cs typeface="Arial"/>
              <a:sym typeface="Arial"/>
            </a:endParaRPr>
          </a:p>
          <a:p>
            <a:pPr marL="285750" marR="0" lvl="1" indent="-285750" algn="l" rtl="0">
              <a:lnSpc>
                <a:spcPct val="100000"/>
              </a:lnSpc>
              <a:spcBef>
                <a:spcPts val="1200"/>
              </a:spcBef>
              <a:spcAft>
                <a:spcPts val="0"/>
              </a:spcAft>
              <a:buClr>
                <a:schemeClr val="dk1"/>
              </a:buClr>
              <a:buSzPts val="1440"/>
              <a:buFont typeface="Arial"/>
              <a:buChar char="•"/>
            </a:pPr>
            <a:r>
              <a:rPr lang="en-US" sz="1600" b="0" i="0" u="none" strike="noStrike" cap="none" dirty="0">
                <a:solidFill>
                  <a:srgbClr val="53565A"/>
                </a:solidFill>
                <a:latin typeface="Arial"/>
                <a:ea typeface="Arial"/>
                <a:cs typeface="Arial"/>
                <a:sym typeface="Arial"/>
              </a:rPr>
              <a:t>Simplified marketplace for consumer</a:t>
            </a:r>
            <a:endParaRPr sz="1400" b="0" i="0" u="none" strike="noStrike" cap="none" dirty="0">
              <a:solidFill>
                <a:srgbClr val="53565A"/>
              </a:solidFill>
              <a:latin typeface="Arial"/>
              <a:ea typeface="Arial"/>
              <a:cs typeface="Arial"/>
              <a:sym typeface="Arial"/>
            </a:endParaRPr>
          </a:p>
        </p:txBody>
      </p:sp>
      <p:sp>
        <p:nvSpPr>
          <p:cNvPr id="1166" name="Google Shape;1166;p9"/>
          <p:cNvSpPr/>
          <p:nvPr/>
        </p:nvSpPr>
        <p:spPr>
          <a:xfrm>
            <a:off x="4915594" y="1435724"/>
            <a:ext cx="1762298" cy="1762298"/>
          </a:xfrm>
          <a:prstGeom prst="ellipse">
            <a:avLst/>
          </a:prstGeom>
          <a:noFill/>
          <a:ln w="381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1"/>
              </a:solidFill>
              <a:latin typeface="Arial"/>
              <a:ea typeface="Arial"/>
              <a:cs typeface="Arial"/>
              <a:sym typeface="Arial"/>
            </a:endParaRPr>
          </a:p>
        </p:txBody>
      </p:sp>
      <p:sp>
        <p:nvSpPr>
          <p:cNvPr id="1167" name="Google Shape;1167;p9"/>
          <p:cNvSpPr/>
          <p:nvPr/>
        </p:nvSpPr>
        <p:spPr>
          <a:xfrm>
            <a:off x="8285019" y="1367880"/>
            <a:ext cx="1762298" cy="1762298"/>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4"/>
              </a:solidFill>
              <a:latin typeface="Arial"/>
              <a:ea typeface="Arial"/>
              <a:cs typeface="Arial"/>
              <a:sym typeface="Arial"/>
            </a:endParaRPr>
          </a:p>
        </p:txBody>
      </p:sp>
      <p:sp>
        <p:nvSpPr>
          <p:cNvPr id="1168" name="Google Shape;1168;p9"/>
          <p:cNvSpPr txBox="1"/>
          <p:nvPr/>
        </p:nvSpPr>
        <p:spPr>
          <a:xfrm>
            <a:off x="4628010" y="3419568"/>
            <a:ext cx="2337464" cy="1762298"/>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8A8AB"/>
              </a:buClr>
              <a:buSzPts val="1440"/>
              <a:buFont typeface="Arial"/>
              <a:buChar char="•"/>
            </a:pPr>
            <a:r>
              <a:rPr lang="en-US" sz="1600" b="0" i="0" u="none" strike="noStrike" cap="none" dirty="0">
                <a:solidFill>
                  <a:schemeClr val="accent1"/>
                </a:solidFill>
                <a:latin typeface="Arial"/>
                <a:ea typeface="Arial"/>
                <a:cs typeface="Arial"/>
                <a:sym typeface="Arial"/>
              </a:rPr>
              <a:t>IaaS Developer</a:t>
            </a:r>
            <a:endParaRPr sz="1400" b="0" i="0" u="none" strike="noStrike" cap="none" dirty="0">
              <a:solidFill>
                <a:schemeClr val="accent1"/>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dirty="0">
                <a:solidFill>
                  <a:schemeClr val="accent1"/>
                </a:solidFill>
                <a:latin typeface="Arial"/>
                <a:ea typeface="Arial"/>
                <a:cs typeface="Arial"/>
                <a:sym typeface="Arial"/>
              </a:rPr>
              <a:t>IaaS Administrator</a:t>
            </a:r>
            <a:endParaRPr sz="1400" b="0" i="0" u="none" strike="noStrike" cap="none" dirty="0">
              <a:solidFill>
                <a:schemeClr val="accent1"/>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dirty="0">
                <a:solidFill>
                  <a:schemeClr val="accent1"/>
                </a:solidFill>
                <a:latin typeface="Arial"/>
                <a:ea typeface="Arial"/>
                <a:cs typeface="Arial"/>
                <a:sym typeface="Arial"/>
              </a:rPr>
              <a:t>IaaS Approver</a:t>
            </a:r>
            <a:endParaRPr sz="1400" b="0" i="0" u="none" strike="noStrike" cap="none" dirty="0">
              <a:solidFill>
                <a:schemeClr val="accent1"/>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dirty="0">
                <a:solidFill>
                  <a:schemeClr val="accent1"/>
                </a:solidFill>
                <a:latin typeface="Arial"/>
                <a:ea typeface="Arial"/>
                <a:cs typeface="Arial"/>
                <a:sym typeface="Arial"/>
              </a:rPr>
              <a:t>IaaS Consumer</a:t>
            </a:r>
          </a:p>
          <a:p>
            <a:pPr marL="342900" marR="0" lvl="0" indent="-342900" algn="l" rtl="0">
              <a:lnSpc>
                <a:spcPct val="100000"/>
              </a:lnSpc>
              <a:spcBef>
                <a:spcPts val="1200"/>
              </a:spcBef>
              <a:spcAft>
                <a:spcPts val="0"/>
              </a:spcAft>
              <a:buClr>
                <a:srgbClr val="A8A8AB"/>
              </a:buClr>
              <a:buSzPts val="1440"/>
              <a:buFont typeface="Arial"/>
              <a:buChar char="•"/>
            </a:pPr>
            <a:r>
              <a:rPr lang="en-US" sz="1600">
                <a:solidFill>
                  <a:schemeClr val="accent1"/>
                </a:solidFill>
              </a:rPr>
              <a:t>NEW ROLE</a:t>
            </a:r>
            <a:endParaRPr sz="1400" b="0" i="0" u="none" strike="noStrike" cap="none">
              <a:solidFill>
                <a:schemeClr val="accent1"/>
              </a:solidFill>
              <a:latin typeface="Arial"/>
              <a:ea typeface="Arial"/>
              <a:cs typeface="Arial"/>
              <a:sym typeface="Arial"/>
            </a:endParaRPr>
          </a:p>
        </p:txBody>
      </p:sp>
      <p:sp>
        <p:nvSpPr>
          <p:cNvPr id="1169" name="Google Shape;1169;p9"/>
          <p:cNvSpPr txBox="1"/>
          <p:nvPr/>
        </p:nvSpPr>
        <p:spPr>
          <a:xfrm>
            <a:off x="7743885" y="3278378"/>
            <a:ext cx="3632200" cy="276779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Physical / Virtual IaaS</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Marketplace to build, destroy and rebuild Infrastructure</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Monitor and log requests</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Management of capacity, Availability and performance</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Operational cost calculations</a:t>
            </a:r>
            <a:endParaRPr sz="1400" b="0" i="0" u="none" strike="noStrike" cap="none">
              <a:solidFill>
                <a:schemeClr val="accent4"/>
              </a:solidFill>
              <a:latin typeface="Arial"/>
              <a:ea typeface="Arial"/>
              <a:cs typeface="Arial"/>
              <a:sym typeface="Arial"/>
            </a:endParaRPr>
          </a:p>
          <a:p>
            <a:pPr marL="342900" marR="0" lvl="0" indent="-342900" algn="l" rtl="0">
              <a:lnSpc>
                <a:spcPct val="100000"/>
              </a:lnSpc>
              <a:spcBef>
                <a:spcPts val="1200"/>
              </a:spcBef>
              <a:spcAft>
                <a:spcPts val="0"/>
              </a:spcAft>
              <a:buClr>
                <a:srgbClr val="A8A8AB"/>
              </a:buClr>
              <a:buSzPts val="1440"/>
              <a:buFont typeface="Arial"/>
              <a:buChar char="•"/>
            </a:pPr>
            <a:r>
              <a:rPr lang="en-US" sz="1600" b="0" i="0" u="none" strike="noStrike" cap="none">
                <a:solidFill>
                  <a:schemeClr val="accent4"/>
                </a:solidFill>
                <a:latin typeface="Arial"/>
                <a:ea typeface="Arial"/>
                <a:cs typeface="Arial"/>
                <a:sym typeface="Arial"/>
              </a:rPr>
              <a:t>Compliance policies</a:t>
            </a:r>
            <a:endParaRPr sz="1400" b="0" i="0" u="none" strike="noStrike" cap="none">
              <a:solidFill>
                <a:schemeClr val="accent4"/>
              </a:solidFill>
              <a:latin typeface="Arial"/>
              <a:ea typeface="Arial"/>
              <a:cs typeface="Arial"/>
              <a:sym typeface="Arial"/>
            </a:endParaRPr>
          </a:p>
        </p:txBody>
      </p:sp>
      <p:sp>
        <p:nvSpPr>
          <p:cNvPr id="1170" name="Google Shape;1170;p9"/>
          <p:cNvSpPr txBox="1"/>
          <p:nvPr/>
        </p:nvSpPr>
        <p:spPr>
          <a:xfrm>
            <a:off x="5098242" y="1935817"/>
            <a:ext cx="1397000" cy="674630"/>
          </a:xfrm>
          <a:prstGeom prst="rect">
            <a:avLst/>
          </a:prstGeom>
          <a:noFill/>
          <a:ln>
            <a:noFill/>
          </a:ln>
        </p:spPr>
        <p:txBody>
          <a:bodyPr spcFirstLastPara="1" wrap="square" lIns="91425" tIns="45700" rIns="91425" bIns="45700" anchor="t" anchorCtr="0">
            <a:noAutofit/>
          </a:bodyPr>
          <a:lstStyle/>
          <a:p>
            <a:pPr marL="0" marR="0" lvl="0" indent="-114300" algn="ctr" rtl="0">
              <a:lnSpc>
                <a:spcPct val="100000"/>
              </a:lnSpc>
              <a:spcBef>
                <a:spcPts val="0"/>
              </a:spcBef>
              <a:spcAft>
                <a:spcPts val="0"/>
              </a:spcAft>
              <a:buClr>
                <a:srgbClr val="A8A8AB"/>
              </a:buClr>
              <a:buSzPts val="1800"/>
              <a:buFont typeface="Arial"/>
              <a:buChar char="​"/>
            </a:pPr>
            <a:r>
              <a:rPr lang="en-US" sz="2000" b="0" i="0" u="none" strike="noStrike" cap="none">
                <a:solidFill>
                  <a:schemeClr val="accent1"/>
                </a:solidFill>
                <a:latin typeface="Arial"/>
                <a:ea typeface="Arial"/>
                <a:cs typeface="Arial"/>
                <a:sym typeface="Arial"/>
              </a:rPr>
              <a:t>Primary Roles</a:t>
            </a:r>
            <a:endParaRPr sz="1400" b="0" i="0" u="none" strike="noStrike" cap="none">
              <a:solidFill>
                <a:schemeClr val="accent1"/>
              </a:solidFill>
              <a:latin typeface="Arial"/>
              <a:ea typeface="Arial"/>
              <a:cs typeface="Arial"/>
              <a:sym typeface="Arial"/>
            </a:endParaRPr>
          </a:p>
        </p:txBody>
      </p:sp>
      <p:sp>
        <p:nvSpPr>
          <p:cNvPr id="1171" name="Google Shape;1171;p9"/>
          <p:cNvSpPr txBox="1"/>
          <p:nvPr/>
        </p:nvSpPr>
        <p:spPr>
          <a:xfrm>
            <a:off x="8376343" y="1851414"/>
            <a:ext cx="1579649" cy="708811"/>
          </a:xfrm>
          <a:prstGeom prst="rect">
            <a:avLst/>
          </a:prstGeom>
          <a:noFill/>
          <a:ln>
            <a:noFill/>
          </a:ln>
        </p:spPr>
        <p:txBody>
          <a:bodyPr spcFirstLastPara="1" wrap="square" lIns="91425" tIns="45700" rIns="91425" bIns="45700" anchor="t" anchorCtr="0">
            <a:noAutofit/>
          </a:bodyPr>
          <a:lstStyle/>
          <a:p>
            <a:pPr marL="0" marR="0" lvl="0" indent="-114300" algn="ctr" rtl="0">
              <a:lnSpc>
                <a:spcPct val="100000"/>
              </a:lnSpc>
              <a:spcBef>
                <a:spcPts val="0"/>
              </a:spcBef>
              <a:spcAft>
                <a:spcPts val="0"/>
              </a:spcAft>
              <a:buClr>
                <a:srgbClr val="A8A8AB"/>
              </a:buClr>
              <a:buSzPts val="1800"/>
              <a:buFont typeface="Arial"/>
              <a:buChar char="​"/>
            </a:pPr>
            <a:r>
              <a:rPr lang="en-US" sz="2000" b="0" i="0" u="none" strike="noStrike" cap="none">
                <a:solidFill>
                  <a:schemeClr val="accent4"/>
                </a:solidFill>
                <a:latin typeface="Arial"/>
                <a:ea typeface="Arial"/>
                <a:cs typeface="Arial"/>
                <a:sym typeface="Arial"/>
              </a:rPr>
              <a:t>Core Capabilities</a:t>
            </a:r>
            <a:endParaRPr sz="1400" b="0" i="0" u="none" strike="noStrike" cap="none">
              <a:solidFill>
                <a:schemeClr val="accent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7" name="Google Shape;1177;p10"/>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What is a Conceptual Design?</a:t>
            </a:r>
          </a:p>
        </p:txBody>
      </p:sp>
      <p:sp>
        <p:nvSpPr>
          <p:cNvPr id="1176" name="Google Shape;1176;p10"/>
          <p:cNvSpPr txBox="1">
            <a:spLocks noGrp="1"/>
          </p:cNvSpPr>
          <p:nvPr>
            <p:ph type="subTitle" idx="10"/>
          </p:nvPr>
        </p:nvSpPr>
        <p:spPr>
          <a:xfrm>
            <a:off x="592866" y="811830"/>
            <a:ext cx="10987947" cy="247743"/>
          </a:xfrm>
          <a:noFill/>
          <a:ln>
            <a:noFill/>
          </a:ln>
        </p:spPr>
        <p:txBody>
          <a:bodyPr spcFirstLastPara="1" wrap="square" lIns="0" tIns="0" rIns="0" bIns="0" anchor="t" anchorCtr="0">
            <a:spAutoFit/>
          </a:bodyPr>
          <a:lstStyle/>
          <a:p>
            <a:r>
              <a:rPr lang="en-US"/>
              <a:t>Terms and Definitions</a:t>
            </a:r>
          </a:p>
          <a:p>
            <a:pPr lvl="0"/>
            <a:endParaRPr lang="en-US" dirty="0"/>
          </a:p>
        </p:txBody>
      </p:sp>
      <p:sp>
        <p:nvSpPr>
          <p:cNvPr id="1178" name="Google Shape;1178;p10"/>
          <p:cNvSpPr txBox="1">
            <a:spLocks noGrp="1"/>
          </p:cNvSpPr>
          <p:nvPr>
            <p:ph sz="quarter" idx="14"/>
          </p:nvPr>
        </p:nvSpPr>
        <p:spPr>
          <a:xfrm>
            <a:off x="616505" y="1600201"/>
            <a:ext cx="10972800" cy="2000548"/>
          </a:xfrm>
          <a:noFill/>
          <a:ln>
            <a:noFill/>
          </a:ln>
        </p:spPr>
        <p:txBody>
          <a:bodyPr spcFirstLastPara="1" wrap="square" lIns="0" tIns="0" rIns="0" bIns="0" anchor="t" anchorCtr="0">
            <a:spAutoFit/>
          </a:bodyPr>
          <a:lstStyle/>
          <a:p>
            <a:pPr lvl="0"/>
            <a:r>
              <a:rPr lang="en-US" dirty="0"/>
              <a:t>A </a:t>
            </a:r>
            <a:r>
              <a:rPr lang="en-US" dirty="0">
                <a:solidFill>
                  <a:schemeClr val="accent1"/>
                </a:solidFill>
              </a:rPr>
              <a:t>Conceptual Design </a:t>
            </a:r>
            <a:r>
              <a:rPr lang="en-US" dirty="0"/>
              <a:t>is an element of the High-Level Design that outlines the goals and structure of an enterprise system. </a:t>
            </a:r>
          </a:p>
          <a:p>
            <a:pPr lvl="0"/>
            <a:r>
              <a:rPr lang="en-US" dirty="0"/>
              <a:t>The scope of the enterprise system may range from a specific domain such as </a:t>
            </a:r>
            <a:r>
              <a:rPr lang="en-US" dirty="0">
                <a:solidFill>
                  <a:schemeClr val="accent1"/>
                </a:solidFill>
              </a:rPr>
              <a:t>network</a:t>
            </a:r>
            <a:r>
              <a:rPr lang="en-US" dirty="0"/>
              <a:t> or </a:t>
            </a:r>
            <a:r>
              <a:rPr lang="en-US" dirty="0">
                <a:solidFill>
                  <a:schemeClr val="accent1"/>
                </a:solidFill>
              </a:rPr>
              <a:t>infrastructure</a:t>
            </a:r>
            <a:r>
              <a:rPr lang="en-US" dirty="0"/>
              <a:t> to a larger design encompassing many or all domains. </a:t>
            </a:r>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0"/>
        <p:cNvGrpSpPr/>
        <p:nvPr/>
      </p:nvGrpSpPr>
      <p:grpSpPr>
        <a:xfrm>
          <a:off x="0" y="0"/>
          <a:ext cx="0" cy="0"/>
          <a:chOff x="0" y="0"/>
          <a:chExt cx="0" cy="0"/>
        </a:xfrm>
      </p:grpSpPr>
      <p:sp>
        <p:nvSpPr>
          <p:cNvPr id="1581" name="Google Shape;1581;p85"/>
          <p:cNvSpPr/>
          <p:nvPr/>
        </p:nvSpPr>
        <p:spPr>
          <a:xfrm>
            <a:off x="608010" y="1377916"/>
            <a:ext cx="10972742" cy="4863133"/>
          </a:xfrm>
          <a:prstGeom prst="roundRect">
            <a:avLst>
              <a:gd name="adj" fmla="val 3217"/>
            </a:avLst>
          </a:prstGeom>
          <a:solidFill>
            <a:srgbClr val="F2F2F2"/>
          </a:solidFill>
          <a:ln>
            <a:noFill/>
          </a:ln>
        </p:spPr>
        <p:txBody>
          <a:bodyPr spcFirstLastPara="1" wrap="square" lIns="91410" tIns="45688" rIns="91410" bIns="45688" anchor="ctr" anchorCtr="0">
            <a:noAutofit/>
          </a:bodyPr>
          <a:lstStyle/>
          <a:p>
            <a:pPr algn="ctr"/>
            <a:endParaRPr sz="1200">
              <a:solidFill>
                <a:schemeClr val="lt1"/>
              </a:solidFill>
            </a:endParaRPr>
          </a:p>
        </p:txBody>
      </p:sp>
      <p:sp>
        <p:nvSpPr>
          <p:cNvPr id="1582" name="Google Shape;1582;p85"/>
          <p:cNvSpPr txBox="1">
            <a:spLocks noGrp="1"/>
          </p:cNvSpPr>
          <p:nvPr>
            <p:ph type="title"/>
          </p:nvPr>
        </p:nvSpPr>
        <p:spPr>
          <a:noFill/>
          <a:ln>
            <a:noFill/>
          </a:ln>
        </p:spPr>
        <p:txBody>
          <a:bodyPr spcFirstLastPara="1" vert="horz" wrap="square" lIns="0" tIns="0" rIns="0" bIns="0" rtlCol="0" anchor="b" anchorCtr="0">
            <a:noAutofit/>
          </a:bodyPr>
          <a:lstStyle/>
          <a:p>
            <a:r>
              <a:rPr lang="en-US" dirty="0"/>
              <a:t>VMware Pro Cloud Services for Private Cloud</a:t>
            </a:r>
            <a:endParaRPr lang="en-CA" dirty="0"/>
          </a:p>
        </p:txBody>
      </p:sp>
      <p:sp>
        <p:nvSpPr>
          <p:cNvPr id="3" name="Subtitle 2">
            <a:extLst>
              <a:ext uri="{FF2B5EF4-FFF2-40B4-BE49-F238E27FC236}">
                <a16:creationId xmlns:a16="http://schemas.microsoft.com/office/drawing/2014/main" id="{113FC238-B338-25E5-FF13-2BC480677C1F}"/>
              </a:ext>
            </a:extLst>
          </p:cNvPr>
          <p:cNvSpPr>
            <a:spLocks noGrp="1"/>
          </p:cNvSpPr>
          <p:nvPr>
            <p:ph type="subTitle" idx="10"/>
          </p:nvPr>
        </p:nvSpPr>
        <p:spPr/>
        <p:txBody>
          <a:bodyPr/>
          <a:lstStyle/>
          <a:p>
            <a:r>
              <a:rPr lang="en-US" dirty="0"/>
              <a:t>Conceptual overview</a:t>
            </a:r>
          </a:p>
          <a:p>
            <a:endParaRPr lang="en-US" dirty="0"/>
          </a:p>
        </p:txBody>
      </p:sp>
      <p:sp>
        <p:nvSpPr>
          <p:cNvPr id="1583" name="Google Shape;1583;p85"/>
          <p:cNvSpPr/>
          <p:nvPr/>
        </p:nvSpPr>
        <p:spPr>
          <a:xfrm>
            <a:off x="3008312" y="5757096"/>
            <a:ext cx="6172392" cy="274329"/>
          </a:xfrm>
          <a:prstGeom prst="roundRect">
            <a:avLst>
              <a:gd name="adj" fmla="val 16667"/>
            </a:avLst>
          </a:prstGeom>
          <a:solidFill>
            <a:schemeClr val="dk2"/>
          </a:solidFill>
          <a:ln>
            <a:noFill/>
          </a:ln>
        </p:spPr>
        <p:txBody>
          <a:bodyPr spcFirstLastPara="1" wrap="square" lIns="91410" tIns="91410" rIns="91410" bIns="91410" anchor="ctr" anchorCtr="0">
            <a:noAutofit/>
          </a:bodyPr>
          <a:lstStyle/>
          <a:p>
            <a:pPr algn="ctr"/>
            <a:r>
              <a:rPr lang="en" sz="1066">
                <a:solidFill>
                  <a:schemeClr val="lt1"/>
                </a:solidFill>
              </a:rPr>
              <a:t>Any Hardware</a:t>
            </a:r>
            <a:endParaRPr sz="1066">
              <a:solidFill>
                <a:schemeClr val="lt1"/>
              </a:solidFill>
            </a:endParaRPr>
          </a:p>
        </p:txBody>
      </p:sp>
      <p:grpSp>
        <p:nvGrpSpPr>
          <p:cNvPr id="1584" name="Google Shape;1584;p85"/>
          <p:cNvGrpSpPr/>
          <p:nvPr/>
        </p:nvGrpSpPr>
        <p:grpSpPr>
          <a:xfrm>
            <a:off x="3008627" y="1528013"/>
            <a:ext cx="6171708" cy="274129"/>
            <a:chOff x="3008609" y="1457830"/>
            <a:chExt cx="6171670" cy="274200"/>
          </a:xfrm>
        </p:grpSpPr>
        <p:sp>
          <p:nvSpPr>
            <p:cNvPr id="1585" name="Google Shape;1585;p85"/>
            <p:cNvSpPr/>
            <p:nvPr/>
          </p:nvSpPr>
          <p:spPr>
            <a:xfrm>
              <a:off x="5093494"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Devs and SREs</a:t>
              </a:r>
              <a:endParaRPr sz="1466">
                <a:solidFill>
                  <a:schemeClr val="lt1"/>
                </a:solidFill>
              </a:endParaRPr>
            </a:p>
          </p:txBody>
        </p:sp>
        <p:sp>
          <p:nvSpPr>
            <p:cNvPr id="1586" name="Google Shape;1586;p85"/>
            <p:cNvSpPr/>
            <p:nvPr/>
          </p:nvSpPr>
          <p:spPr>
            <a:xfrm>
              <a:off x="7178379"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Platform Teams</a:t>
              </a:r>
              <a:endParaRPr sz="1466">
                <a:solidFill>
                  <a:schemeClr val="lt1"/>
                </a:solidFill>
              </a:endParaRPr>
            </a:p>
          </p:txBody>
        </p:sp>
        <p:sp>
          <p:nvSpPr>
            <p:cNvPr id="1587" name="Google Shape;1587;p85"/>
            <p:cNvSpPr/>
            <p:nvPr/>
          </p:nvSpPr>
          <p:spPr>
            <a:xfrm>
              <a:off x="3008609"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LOBs</a:t>
              </a:r>
              <a:endParaRPr sz="1466">
                <a:solidFill>
                  <a:schemeClr val="lt1"/>
                </a:solidFill>
              </a:endParaRPr>
            </a:p>
          </p:txBody>
        </p:sp>
      </p:grpSp>
      <p:sp>
        <p:nvSpPr>
          <p:cNvPr id="1588" name="Google Shape;1588;p85"/>
          <p:cNvSpPr/>
          <p:nvPr/>
        </p:nvSpPr>
        <p:spPr>
          <a:xfrm>
            <a:off x="1065213" y="1926407"/>
            <a:ext cx="10058580" cy="274329"/>
          </a:xfrm>
          <a:prstGeom prst="roundRect">
            <a:avLst>
              <a:gd name="adj" fmla="val 16666"/>
            </a:avLst>
          </a:prstGeom>
          <a:gradFill>
            <a:gsLst>
              <a:gs pos="0">
                <a:schemeClr val="accent5"/>
              </a:gs>
              <a:gs pos="37600">
                <a:schemeClr val="accent2"/>
              </a:gs>
              <a:gs pos="69740">
                <a:schemeClr val="accent1"/>
              </a:gs>
              <a:gs pos="100000">
                <a:schemeClr val="accent4"/>
              </a:gs>
            </a:gsLst>
            <a:lin ang="0" scaled="0"/>
          </a:gradFill>
          <a:ln>
            <a:noFill/>
          </a:ln>
        </p:spPr>
        <p:txBody>
          <a:bodyPr spcFirstLastPara="1" wrap="square" lIns="91410" tIns="45688" rIns="91410" bIns="45688" anchor="ctr" anchorCtr="0">
            <a:noAutofit/>
          </a:bodyPr>
          <a:lstStyle/>
          <a:p>
            <a:pPr algn="ctr"/>
            <a:r>
              <a:rPr lang="en" sz="1066">
                <a:solidFill>
                  <a:schemeClr val="lt1"/>
                </a:solidFill>
              </a:rPr>
              <a:t>Integrations and 3rd Party Ecosystem</a:t>
            </a:r>
            <a:endParaRPr sz="1066">
              <a:solidFill>
                <a:schemeClr val="lt1"/>
              </a:solidFill>
            </a:endParaRPr>
          </a:p>
        </p:txBody>
      </p:sp>
      <p:grpSp>
        <p:nvGrpSpPr>
          <p:cNvPr id="1589" name="Google Shape;1589;p85"/>
          <p:cNvGrpSpPr/>
          <p:nvPr/>
        </p:nvGrpSpPr>
        <p:grpSpPr>
          <a:xfrm>
            <a:off x="2615166" y="1049759"/>
            <a:ext cx="6958382" cy="638688"/>
            <a:chOff x="2998776" y="-1275239"/>
            <a:chExt cx="6183542" cy="638854"/>
          </a:xfrm>
        </p:grpSpPr>
        <p:cxnSp>
          <p:nvCxnSpPr>
            <p:cNvPr id="1590" name="Google Shape;1590;p85"/>
            <p:cNvCxnSpPr/>
            <p:nvPr/>
          </p:nvCxnSpPr>
          <p:spPr>
            <a:xfrm rot="10800000">
              <a:off x="2998776" y="-1144871"/>
              <a:ext cx="6176100" cy="0"/>
            </a:xfrm>
            <a:prstGeom prst="straightConnector1">
              <a:avLst/>
            </a:prstGeom>
            <a:noFill/>
            <a:ln w="25400" cap="rnd" cmpd="sng">
              <a:solidFill>
                <a:schemeClr val="dk1"/>
              </a:solidFill>
              <a:prstDash val="dot"/>
              <a:round/>
              <a:headEnd type="none" w="sm" len="sm"/>
              <a:tailEnd type="none" w="sm" len="sm"/>
            </a:ln>
          </p:spPr>
        </p:cxnSp>
        <p:grpSp>
          <p:nvGrpSpPr>
            <p:cNvPr id="1591" name="Google Shape;1591;p85"/>
            <p:cNvGrpSpPr/>
            <p:nvPr/>
          </p:nvGrpSpPr>
          <p:grpSpPr>
            <a:xfrm>
              <a:off x="4732250" y="-1275239"/>
              <a:ext cx="2724300" cy="269618"/>
              <a:chOff x="4625428" y="1468188"/>
              <a:chExt cx="2724300" cy="294600"/>
            </a:xfrm>
          </p:grpSpPr>
          <p:sp>
            <p:nvSpPr>
              <p:cNvPr id="1592" name="Google Shape;1592;p85"/>
              <p:cNvSpPr/>
              <p:nvPr/>
            </p:nvSpPr>
            <p:spPr>
              <a:xfrm>
                <a:off x="4625428" y="1468188"/>
                <a:ext cx="2724300" cy="294600"/>
              </a:xfrm>
              <a:prstGeom prst="roundRect">
                <a:avLst>
                  <a:gd name="adj" fmla="val 0"/>
                </a:avLst>
              </a:prstGeom>
              <a:solidFill>
                <a:schemeClr val="lt1"/>
              </a:solidFill>
              <a:ln>
                <a:noFill/>
              </a:ln>
            </p:spPr>
            <p:txBody>
              <a:bodyPr spcFirstLastPara="1" wrap="square" lIns="182852" tIns="45655" rIns="182852" bIns="45655" anchor="ctr" anchorCtr="0">
                <a:noAutofit/>
              </a:bodyPr>
              <a:lstStyle/>
              <a:p>
                <a:pPr>
                  <a:lnSpc>
                    <a:spcPct val="90000"/>
                  </a:lnSpc>
                </a:pPr>
                <a:endParaRPr sz="1466">
                  <a:solidFill>
                    <a:schemeClr val="lt1"/>
                  </a:solidFill>
                </a:endParaRPr>
              </a:p>
            </p:txBody>
          </p:sp>
          <p:sp>
            <p:nvSpPr>
              <p:cNvPr id="1593" name="Google Shape;1593;p85"/>
              <p:cNvSpPr txBox="1"/>
              <p:nvPr/>
            </p:nvSpPr>
            <p:spPr>
              <a:xfrm>
                <a:off x="4757258" y="1532277"/>
                <a:ext cx="2452800" cy="181646"/>
              </a:xfrm>
              <a:prstGeom prst="rect">
                <a:avLst/>
              </a:prstGeom>
              <a:noFill/>
              <a:ln>
                <a:noFill/>
              </a:ln>
            </p:spPr>
            <p:txBody>
              <a:bodyPr spcFirstLastPara="1" wrap="square" lIns="0" tIns="0" rIns="0" bIns="0" anchor="ctr" anchorCtr="0">
                <a:spAutoFit/>
              </a:bodyPr>
              <a:lstStyle/>
              <a:p>
                <a:pPr algn="ctr">
                  <a:lnSpc>
                    <a:spcPct val="90000"/>
                  </a:lnSpc>
                </a:pPr>
                <a:r>
                  <a:rPr lang="en" sz="1200">
                    <a:solidFill>
                      <a:schemeClr val="dk1"/>
                    </a:solidFill>
                  </a:rPr>
                  <a:t>Multi-Tenant Consumers and Services</a:t>
                </a:r>
                <a:endParaRPr sz="1466"/>
              </a:p>
            </p:txBody>
          </p:sp>
        </p:grpSp>
        <p:grpSp>
          <p:nvGrpSpPr>
            <p:cNvPr id="1594" name="Google Shape;1594;p85"/>
            <p:cNvGrpSpPr/>
            <p:nvPr/>
          </p:nvGrpSpPr>
          <p:grpSpPr>
            <a:xfrm>
              <a:off x="3009245" y="-1094707"/>
              <a:ext cx="6173073" cy="458322"/>
              <a:chOff x="3009245" y="-1094663"/>
              <a:chExt cx="6173073" cy="646800"/>
            </a:xfrm>
          </p:grpSpPr>
          <p:cxnSp>
            <p:nvCxnSpPr>
              <p:cNvPr id="1595" name="Google Shape;1595;p85"/>
              <p:cNvCxnSpPr/>
              <p:nvPr/>
            </p:nvCxnSpPr>
            <p:spPr>
              <a:xfrm>
                <a:off x="9182318" y="-1094663"/>
                <a:ext cx="0" cy="646800"/>
              </a:xfrm>
              <a:prstGeom prst="straightConnector1">
                <a:avLst/>
              </a:prstGeom>
              <a:noFill/>
              <a:ln w="25400" cap="rnd" cmpd="sng">
                <a:solidFill>
                  <a:schemeClr val="dk1"/>
                </a:solidFill>
                <a:prstDash val="dot"/>
                <a:round/>
                <a:headEnd type="none" w="sm" len="sm"/>
                <a:tailEnd type="triangle" w="med" len="med"/>
              </a:ln>
            </p:spPr>
          </p:cxnSp>
          <p:cxnSp>
            <p:nvCxnSpPr>
              <p:cNvPr id="1596" name="Google Shape;1596;p85"/>
              <p:cNvCxnSpPr/>
              <p:nvPr/>
            </p:nvCxnSpPr>
            <p:spPr>
              <a:xfrm>
                <a:off x="3009245" y="-1094663"/>
                <a:ext cx="0" cy="646800"/>
              </a:xfrm>
              <a:prstGeom prst="straightConnector1">
                <a:avLst/>
              </a:prstGeom>
              <a:noFill/>
              <a:ln w="25400" cap="rnd" cmpd="sng">
                <a:solidFill>
                  <a:schemeClr val="dk1"/>
                </a:solidFill>
                <a:prstDash val="dot"/>
                <a:round/>
                <a:headEnd type="none" w="sm" len="sm"/>
                <a:tailEnd type="triangle" w="med" len="med"/>
              </a:ln>
            </p:spPr>
          </p:cxnSp>
        </p:grpSp>
      </p:grpSp>
      <p:grpSp>
        <p:nvGrpSpPr>
          <p:cNvPr id="1597" name="Google Shape;1597;p85"/>
          <p:cNvGrpSpPr/>
          <p:nvPr/>
        </p:nvGrpSpPr>
        <p:grpSpPr>
          <a:xfrm>
            <a:off x="9294770" y="2320716"/>
            <a:ext cx="1828812" cy="2681601"/>
            <a:chOff x="9294713" y="2250737"/>
            <a:chExt cx="1828800" cy="2682300"/>
          </a:xfrm>
        </p:grpSpPr>
        <p:sp>
          <p:nvSpPr>
            <p:cNvPr id="1598" name="Google Shape;1598;p85"/>
            <p:cNvSpPr/>
            <p:nvPr/>
          </p:nvSpPr>
          <p:spPr>
            <a:xfrm>
              <a:off x="9294713" y="2250737"/>
              <a:ext cx="1828800" cy="2682300"/>
            </a:xfrm>
            <a:prstGeom prst="roundRect">
              <a:avLst>
                <a:gd name="adj" fmla="val 4872"/>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sp>
          <p:nvSpPr>
            <p:cNvPr id="1599" name="Google Shape;1599;p85"/>
            <p:cNvSpPr txBox="1"/>
            <p:nvPr/>
          </p:nvSpPr>
          <p:spPr>
            <a:xfrm>
              <a:off x="9397913" y="2706165"/>
              <a:ext cx="1622400" cy="387578"/>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Data Protection </a:t>
              </a:r>
              <a:endParaRPr sz="1466"/>
            </a:p>
            <a:p>
              <a:pPr algn="ctr">
                <a:lnSpc>
                  <a:spcPct val="90000"/>
                </a:lnSpc>
              </a:pPr>
              <a:r>
                <a:rPr lang="en" sz="1066">
                  <a:solidFill>
                    <a:schemeClr val="dk1"/>
                  </a:solidFill>
                </a:rPr>
                <a:t>and Recovery</a:t>
              </a:r>
              <a:endParaRPr sz="1066">
                <a:solidFill>
                  <a:schemeClr val="dk1"/>
                </a:solidFill>
              </a:endParaRPr>
            </a:p>
          </p:txBody>
        </p:sp>
        <p:sp>
          <p:nvSpPr>
            <p:cNvPr id="1600" name="Google Shape;1600;p85"/>
            <p:cNvSpPr/>
            <p:nvPr/>
          </p:nvSpPr>
          <p:spPr>
            <a:xfrm>
              <a:off x="9477593" y="4429275"/>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Ransomware Recovery</a:t>
              </a:r>
              <a:endParaRPr sz="1466"/>
            </a:p>
          </p:txBody>
        </p:sp>
        <p:sp>
          <p:nvSpPr>
            <p:cNvPr id="1601" name="Google Shape;1601;p85"/>
            <p:cNvSpPr/>
            <p:nvPr/>
          </p:nvSpPr>
          <p:spPr>
            <a:xfrm>
              <a:off x="9477593" y="3596869"/>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Disaster Recovery</a:t>
              </a:r>
              <a:endParaRPr sz="1466"/>
            </a:p>
          </p:txBody>
        </p:sp>
        <p:sp>
          <p:nvSpPr>
            <p:cNvPr id="1602" name="Google Shape;1602;p85"/>
            <p:cNvSpPr/>
            <p:nvPr/>
          </p:nvSpPr>
          <p:spPr>
            <a:xfrm>
              <a:off x="9477593" y="3180136"/>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Data Protection</a:t>
              </a:r>
              <a:endParaRPr sz="1466"/>
            </a:p>
          </p:txBody>
        </p:sp>
        <p:sp>
          <p:nvSpPr>
            <p:cNvPr id="1603" name="Google Shape;1603;p85"/>
            <p:cNvSpPr/>
            <p:nvPr/>
          </p:nvSpPr>
          <p:spPr>
            <a:xfrm>
              <a:off x="9477593" y="4013072"/>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Disaster Avoidance</a:t>
              </a:r>
              <a:endParaRPr sz="1466"/>
            </a:p>
          </p:txBody>
        </p:sp>
        <p:sp>
          <p:nvSpPr>
            <p:cNvPr id="1604" name="Google Shape;1604;p85"/>
            <p:cNvSpPr/>
            <p:nvPr/>
          </p:nvSpPr>
          <p:spPr>
            <a:xfrm>
              <a:off x="10059778" y="2368623"/>
              <a:ext cx="273712" cy="273954"/>
            </a:xfrm>
            <a:custGeom>
              <a:avLst/>
              <a:gdLst/>
              <a:ahLst/>
              <a:cxnLst/>
              <a:rect l="l" t="t" r="r" b="b"/>
              <a:pathLst>
                <a:path w="511611" h="512064" extrusionOk="0">
                  <a:moveTo>
                    <a:pt x="104679" y="366149"/>
                  </a:moveTo>
                  <a:lnTo>
                    <a:pt x="127337" y="366149"/>
                  </a:lnTo>
                  <a:lnTo>
                    <a:pt x="127337" y="382009"/>
                  </a:lnTo>
                  <a:lnTo>
                    <a:pt x="143197" y="382009"/>
                  </a:lnTo>
                  <a:lnTo>
                    <a:pt x="143197" y="404667"/>
                  </a:lnTo>
                  <a:lnTo>
                    <a:pt x="104679" y="404667"/>
                  </a:lnTo>
                  <a:close/>
                  <a:moveTo>
                    <a:pt x="360257" y="285034"/>
                  </a:moveTo>
                  <a:cubicBezTo>
                    <a:pt x="372039" y="285034"/>
                    <a:pt x="383142" y="287753"/>
                    <a:pt x="393054" y="292511"/>
                  </a:cubicBezTo>
                  <a:lnTo>
                    <a:pt x="399247" y="297269"/>
                  </a:lnTo>
                  <a:lnTo>
                    <a:pt x="405573" y="297269"/>
                  </a:lnTo>
                  <a:lnTo>
                    <a:pt x="403979" y="300904"/>
                  </a:lnTo>
                  <a:lnTo>
                    <a:pt x="418714" y="312224"/>
                  </a:lnTo>
                  <a:lnTo>
                    <a:pt x="383624" y="347314"/>
                  </a:lnTo>
                  <a:lnTo>
                    <a:pt x="382916" y="348928"/>
                  </a:lnTo>
                  <a:lnTo>
                    <a:pt x="382916" y="348022"/>
                  </a:lnTo>
                  <a:lnTo>
                    <a:pt x="355273" y="375665"/>
                  </a:lnTo>
                  <a:lnTo>
                    <a:pt x="321286" y="342132"/>
                  </a:lnTo>
                  <a:lnTo>
                    <a:pt x="302706" y="360711"/>
                  </a:lnTo>
                  <a:lnTo>
                    <a:pt x="344183" y="402187"/>
                  </a:lnTo>
                  <a:lnTo>
                    <a:pt x="349835" y="404666"/>
                  </a:lnTo>
                  <a:lnTo>
                    <a:pt x="346662" y="404666"/>
                  </a:lnTo>
                  <a:lnTo>
                    <a:pt x="355273" y="413277"/>
                  </a:lnTo>
                  <a:lnTo>
                    <a:pt x="432308" y="335787"/>
                  </a:lnTo>
                  <a:cubicBezTo>
                    <a:pt x="435481" y="343944"/>
                    <a:pt x="437293" y="352554"/>
                    <a:pt x="437293" y="361617"/>
                  </a:cubicBezTo>
                  <a:cubicBezTo>
                    <a:pt x="437293" y="403761"/>
                    <a:pt x="402854" y="438200"/>
                    <a:pt x="360257" y="438200"/>
                  </a:cubicBezTo>
                  <a:cubicBezTo>
                    <a:pt x="338959" y="438200"/>
                    <a:pt x="319700" y="429590"/>
                    <a:pt x="305765" y="415712"/>
                  </a:cubicBezTo>
                  <a:lnTo>
                    <a:pt x="298281" y="404666"/>
                  </a:lnTo>
                  <a:lnTo>
                    <a:pt x="298176" y="404666"/>
                  </a:lnTo>
                  <a:lnTo>
                    <a:pt x="298176" y="404510"/>
                  </a:lnTo>
                  <a:lnTo>
                    <a:pt x="289268" y="391362"/>
                  </a:lnTo>
                  <a:cubicBezTo>
                    <a:pt x="285373" y="382207"/>
                    <a:pt x="283221" y="372153"/>
                    <a:pt x="283221" y="361617"/>
                  </a:cubicBezTo>
                  <a:cubicBezTo>
                    <a:pt x="283221" y="319473"/>
                    <a:pt x="317660" y="285034"/>
                    <a:pt x="360257" y="285034"/>
                  </a:cubicBezTo>
                  <a:close/>
                  <a:moveTo>
                    <a:pt x="360257" y="271892"/>
                  </a:moveTo>
                  <a:cubicBezTo>
                    <a:pt x="310411" y="271892"/>
                    <a:pt x="269626" y="312223"/>
                    <a:pt x="269626" y="362070"/>
                  </a:cubicBezTo>
                  <a:cubicBezTo>
                    <a:pt x="269626" y="411917"/>
                    <a:pt x="310411" y="452248"/>
                    <a:pt x="360257" y="452248"/>
                  </a:cubicBezTo>
                  <a:cubicBezTo>
                    <a:pt x="410104" y="452248"/>
                    <a:pt x="450888" y="411917"/>
                    <a:pt x="450888" y="362070"/>
                  </a:cubicBezTo>
                  <a:lnTo>
                    <a:pt x="450435" y="362523"/>
                  </a:lnTo>
                  <a:cubicBezTo>
                    <a:pt x="450435" y="349382"/>
                    <a:pt x="447716" y="337147"/>
                    <a:pt x="442731" y="325818"/>
                  </a:cubicBezTo>
                  <a:lnTo>
                    <a:pt x="466749" y="301801"/>
                  </a:lnTo>
                  <a:lnTo>
                    <a:pt x="448169" y="283221"/>
                  </a:lnTo>
                  <a:lnTo>
                    <a:pt x="428230" y="303160"/>
                  </a:lnTo>
                  <a:cubicBezTo>
                    <a:pt x="411463" y="284128"/>
                    <a:pt x="387446" y="271892"/>
                    <a:pt x="360257" y="271892"/>
                  </a:cubicBezTo>
                  <a:close/>
                  <a:moveTo>
                    <a:pt x="0" y="261923"/>
                  </a:moveTo>
                  <a:lnTo>
                    <a:pt x="22658" y="261923"/>
                  </a:lnTo>
                  <a:lnTo>
                    <a:pt x="22658" y="277783"/>
                  </a:lnTo>
                  <a:lnTo>
                    <a:pt x="38518" y="277783"/>
                  </a:lnTo>
                  <a:lnTo>
                    <a:pt x="38518" y="300441"/>
                  </a:lnTo>
                  <a:lnTo>
                    <a:pt x="0" y="300441"/>
                  </a:lnTo>
                  <a:close/>
                  <a:moveTo>
                    <a:pt x="104679" y="228842"/>
                  </a:moveTo>
                  <a:lnTo>
                    <a:pt x="127336" y="228842"/>
                  </a:lnTo>
                  <a:lnTo>
                    <a:pt x="127336" y="280502"/>
                  </a:lnTo>
                  <a:lnTo>
                    <a:pt x="107397" y="280502"/>
                  </a:lnTo>
                  <a:lnTo>
                    <a:pt x="107397" y="297269"/>
                  </a:lnTo>
                  <a:lnTo>
                    <a:pt x="127336" y="297269"/>
                  </a:lnTo>
                  <a:lnTo>
                    <a:pt x="127336" y="348928"/>
                  </a:lnTo>
                  <a:lnTo>
                    <a:pt x="104679" y="348928"/>
                  </a:lnTo>
                  <a:lnTo>
                    <a:pt x="104679" y="300441"/>
                  </a:lnTo>
                  <a:lnTo>
                    <a:pt x="55738" y="300441"/>
                  </a:lnTo>
                  <a:lnTo>
                    <a:pt x="55738" y="277784"/>
                  </a:lnTo>
                  <a:lnTo>
                    <a:pt x="104679" y="277784"/>
                  </a:lnTo>
                  <a:close/>
                  <a:moveTo>
                    <a:pt x="405573" y="211622"/>
                  </a:moveTo>
                  <a:lnTo>
                    <a:pt x="405573" y="212076"/>
                  </a:lnTo>
                  <a:lnTo>
                    <a:pt x="511611" y="212076"/>
                  </a:lnTo>
                  <a:lnTo>
                    <a:pt x="511611" y="512064"/>
                  </a:lnTo>
                  <a:lnTo>
                    <a:pt x="210263" y="512064"/>
                  </a:lnTo>
                  <a:lnTo>
                    <a:pt x="210263" y="404666"/>
                  </a:lnTo>
                  <a:lnTo>
                    <a:pt x="160417" y="404666"/>
                  </a:lnTo>
                  <a:lnTo>
                    <a:pt x="160417" y="382009"/>
                  </a:lnTo>
                  <a:lnTo>
                    <a:pt x="210263" y="382009"/>
                  </a:lnTo>
                  <a:lnTo>
                    <a:pt x="210263" y="212076"/>
                  </a:lnTo>
                  <a:lnTo>
                    <a:pt x="404976" y="212076"/>
                  </a:lnTo>
                  <a:close/>
                  <a:moveTo>
                    <a:pt x="0" y="193044"/>
                  </a:moveTo>
                  <a:lnTo>
                    <a:pt x="22657" y="193044"/>
                  </a:lnTo>
                  <a:lnTo>
                    <a:pt x="22657" y="244703"/>
                  </a:lnTo>
                  <a:lnTo>
                    <a:pt x="0" y="244703"/>
                  </a:lnTo>
                  <a:close/>
                  <a:moveTo>
                    <a:pt x="382916" y="159963"/>
                  </a:moveTo>
                  <a:lnTo>
                    <a:pt x="405573" y="159963"/>
                  </a:lnTo>
                  <a:lnTo>
                    <a:pt x="405573" y="211622"/>
                  </a:lnTo>
                  <a:lnTo>
                    <a:pt x="382916" y="211622"/>
                  </a:lnTo>
                  <a:close/>
                  <a:moveTo>
                    <a:pt x="104679" y="159963"/>
                  </a:moveTo>
                  <a:lnTo>
                    <a:pt x="127336" y="159963"/>
                  </a:lnTo>
                  <a:lnTo>
                    <a:pt x="127336" y="211622"/>
                  </a:lnTo>
                  <a:lnTo>
                    <a:pt x="104679" y="211622"/>
                  </a:lnTo>
                  <a:close/>
                  <a:moveTo>
                    <a:pt x="0" y="124618"/>
                  </a:moveTo>
                  <a:lnTo>
                    <a:pt x="22657" y="124618"/>
                  </a:lnTo>
                  <a:lnTo>
                    <a:pt x="22657" y="176277"/>
                  </a:lnTo>
                  <a:lnTo>
                    <a:pt x="0" y="176277"/>
                  </a:lnTo>
                  <a:close/>
                  <a:moveTo>
                    <a:pt x="367054" y="104225"/>
                  </a:moveTo>
                  <a:lnTo>
                    <a:pt x="405572" y="104225"/>
                  </a:lnTo>
                  <a:lnTo>
                    <a:pt x="405572" y="142743"/>
                  </a:lnTo>
                  <a:lnTo>
                    <a:pt x="382914" y="142743"/>
                  </a:lnTo>
                  <a:lnTo>
                    <a:pt x="382914" y="126883"/>
                  </a:lnTo>
                  <a:lnTo>
                    <a:pt x="367054" y="126883"/>
                  </a:lnTo>
                  <a:close/>
                  <a:moveTo>
                    <a:pt x="160417" y="104225"/>
                  </a:moveTo>
                  <a:lnTo>
                    <a:pt x="212076" y="104225"/>
                  </a:lnTo>
                  <a:lnTo>
                    <a:pt x="212076" y="126882"/>
                  </a:lnTo>
                  <a:lnTo>
                    <a:pt x="160417" y="126882"/>
                  </a:lnTo>
                  <a:close/>
                  <a:moveTo>
                    <a:pt x="104679" y="104225"/>
                  </a:moveTo>
                  <a:lnTo>
                    <a:pt x="143197" y="104225"/>
                  </a:lnTo>
                  <a:lnTo>
                    <a:pt x="143197" y="126883"/>
                  </a:lnTo>
                  <a:lnTo>
                    <a:pt x="127337" y="126883"/>
                  </a:lnTo>
                  <a:lnTo>
                    <a:pt x="127337" y="142743"/>
                  </a:lnTo>
                  <a:lnTo>
                    <a:pt x="104679" y="142743"/>
                  </a:lnTo>
                  <a:close/>
                  <a:moveTo>
                    <a:pt x="278690" y="55738"/>
                  </a:moveTo>
                  <a:lnTo>
                    <a:pt x="301347" y="55738"/>
                  </a:lnTo>
                  <a:lnTo>
                    <a:pt x="301347" y="104225"/>
                  </a:lnTo>
                  <a:lnTo>
                    <a:pt x="349835" y="104225"/>
                  </a:lnTo>
                  <a:lnTo>
                    <a:pt x="349835" y="126882"/>
                  </a:lnTo>
                  <a:lnTo>
                    <a:pt x="298176" y="126882"/>
                  </a:lnTo>
                  <a:lnTo>
                    <a:pt x="298176" y="107397"/>
                  </a:lnTo>
                  <a:lnTo>
                    <a:pt x="280956" y="107397"/>
                  </a:lnTo>
                  <a:lnTo>
                    <a:pt x="280956" y="126882"/>
                  </a:lnTo>
                  <a:lnTo>
                    <a:pt x="229296" y="126882"/>
                  </a:lnTo>
                  <a:lnTo>
                    <a:pt x="229296" y="104225"/>
                  </a:lnTo>
                  <a:lnTo>
                    <a:pt x="278690" y="104225"/>
                  </a:lnTo>
                  <a:close/>
                  <a:moveTo>
                    <a:pt x="0" y="55738"/>
                  </a:moveTo>
                  <a:lnTo>
                    <a:pt x="22657" y="55738"/>
                  </a:lnTo>
                  <a:lnTo>
                    <a:pt x="22657" y="107397"/>
                  </a:lnTo>
                  <a:lnTo>
                    <a:pt x="0" y="107397"/>
                  </a:lnTo>
                  <a:close/>
                  <a:moveTo>
                    <a:pt x="262829" y="0"/>
                  </a:moveTo>
                  <a:lnTo>
                    <a:pt x="301347" y="0"/>
                  </a:lnTo>
                  <a:lnTo>
                    <a:pt x="301347" y="38518"/>
                  </a:lnTo>
                  <a:lnTo>
                    <a:pt x="278689" y="38518"/>
                  </a:lnTo>
                  <a:lnTo>
                    <a:pt x="278689" y="22658"/>
                  </a:lnTo>
                  <a:lnTo>
                    <a:pt x="262829" y="22658"/>
                  </a:lnTo>
                  <a:close/>
                  <a:moveTo>
                    <a:pt x="193497" y="0"/>
                  </a:moveTo>
                  <a:lnTo>
                    <a:pt x="245156" y="0"/>
                  </a:lnTo>
                  <a:lnTo>
                    <a:pt x="245156" y="22657"/>
                  </a:lnTo>
                  <a:lnTo>
                    <a:pt x="193497" y="22657"/>
                  </a:lnTo>
                  <a:close/>
                  <a:moveTo>
                    <a:pt x="124617" y="0"/>
                  </a:moveTo>
                  <a:lnTo>
                    <a:pt x="176276" y="0"/>
                  </a:lnTo>
                  <a:lnTo>
                    <a:pt x="176276" y="22657"/>
                  </a:lnTo>
                  <a:lnTo>
                    <a:pt x="124617" y="22657"/>
                  </a:lnTo>
                  <a:close/>
                  <a:moveTo>
                    <a:pt x="55738" y="0"/>
                  </a:moveTo>
                  <a:lnTo>
                    <a:pt x="107397" y="0"/>
                  </a:lnTo>
                  <a:lnTo>
                    <a:pt x="107397" y="22657"/>
                  </a:lnTo>
                  <a:lnTo>
                    <a:pt x="55738" y="22657"/>
                  </a:lnTo>
                  <a:close/>
                  <a:moveTo>
                    <a:pt x="0" y="0"/>
                  </a:moveTo>
                  <a:lnTo>
                    <a:pt x="38518" y="0"/>
                  </a:lnTo>
                  <a:lnTo>
                    <a:pt x="38518" y="22658"/>
                  </a:lnTo>
                  <a:lnTo>
                    <a:pt x="22658" y="22658"/>
                  </a:lnTo>
                  <a:lnTo>
                    <a:pt x="22658" y="38518"/>
                  </a:lnTo>
                  <a:lnTo>
                    <a:pt x="0" y="38518"/>
                  </a:lnTo>
                  <a:close/>
                </a:path>
              </a:pathLst>
            </a:cu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nvGrpSpPr>
          <p:cNvPr id="1605" name="Google Shape;1605;p85"/>
          <p:cNvGrpSpPr/>
          <p:nvPr/>
        </p:nvGrpSpPr>
        <p:grpSpPr>
          <a:xfrm>
            <a:off x="1065220" y="2320714"/>
            <a:ext cx="1833012" cy="3105391"/>
            <a:chOff x="1065213" y="2250736"/>
            <a:chExt cx="1833000" cy="3106200"/>
          </a:xfrm>
        </p:grpSpPr>
        <p:sp>
          <p:nvSpPr>
            <p:cNvPr id="1606" name="Google Shape;1606;p85"/>
            <p:cNvSpPr/>
            <p:nvPr/>
          </p:nvSpPr>
          <p:spPr>
            <a:xfrm>
              <a:off x="1068844" y="2250736"/>
              <a:ext cx="1825800" cy="3106200"/>
            </a:xfrm>
            <a:prstGeom prst="roundRect">
              <a:avLst>
                <a:gd name="adj" fmla="val 5008"/>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sp>
          <p:nvSpPr>
            <p:cNvPr id="1607" name="Google Shape;1607;p85"/>
            <p:cNvSpPr txBox="1"/>
            <p:nvPr/>
          </p:nvSpPr>
          <p:spPr>
            <a:xfrm>
              <a:off x="1065213" y="2701268"/>
              <a:ext cx="1833000" cy="387578"/>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Security Governance </a:t>
              </a:r>
              <a:br>
                <a:rPr lang="en" sz="1066">
                  <a:solidFill>
                    <a:schemeClr val="dk1"/>
                  </a:solidFill>
                </a:rPr>
              </a:br>
              <a:r>
                <a:rPr lang="en" sz="1066">
                  <a:solidFill>
                    <a:schemeClr val="dk1"/>
                  </a:solidFill>
                </a:rPr>
                <a:t>and Compliance</a:t>
              </a:r>
              <a:endParaRPr sz="1066">
                <a:solidFill>
                  <a:schemeClr val="dk1"/>
                </a:solidFill>
              </a:endParaRPr>
            </a:p>
          </p:txBody>
        </p:sp>
        <p:sp>
          <p:nvSpPr>
            <p:cNvPr id="1608" name="Google Shape;1608;p85"/>
            <p:cNvSpPr/>
            <p:nvPr/>
          </p:nvSpPr>
          <p:spPr>
            <a:xfrm>
              <a:off x="1250155" y="4429275"/>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Data Governance</a:t>
              </a:r>
              <a:endParaRPr sz="933">
                <a:solidFill>
                  <a:schemeClr val="lt1"/>
                </a:solidFill>
              </a:endParaRPr>
            </a:p>
          </p:txBody>
        </p:sp>
        <p:sp>
          <p:nvSpPr>
            <p:cNvPr id="1609" name="Google Shape;1609;p85"/>
            <p:cNvSpPr/>
            <p:nvPr/>
          </p:nvSpPr>
          <p:spPr>
            <a:xfrm>
              <a:off x="1250155" y="4845477"/>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Compliance Enforcement</a:t>
              </a:r>
              <a:endParaRPr sz="933">
                <a:solidFill>
                  <a:schemeClr val="lt1"/>
                </a:solidFill>
              </a:endParaRPr>
            </a:p>
          </p:txBody>
        </p:sp>
        <p:sp>
          <p:nvSpPr>
            <p:cNvPr id="1610" name="Google Shape;1610;p85"/>
            <p:cNvSpPr/>
            <p:nvPr/>
          </p:nvSpPr>
          <p:spPr>
            <a:xfrm>
              <a:off x="1250155" y="3596869"/>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Auditing and SIEM</a:t>
              </a:r>
              <a:endParaRPr sz="933">
                <a:solidFill>
                  <a:schemeClr val="lt1"/>
                </a:solidFill>
              </a:endParaRPr>
            </a:p>
          </p:txBody>
        </p:sp>
        <p:sp>
          <p:nvSpPr>
            <p:cNvPr id="1611" name="Google Shape;1611;p85"/>
            <p:cNvSpPr/>
            <p:nvPr/>
          </p:nvSpPr>
          <p:spPr>
            <a:xfrm>
              <a:off x="1250155" y="3180136"/>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Identity and RBAC</a:t>
              </a:r>
              <a:endParaRPr sz="933">
                <a:solidFill>
                  <a:schemeClr val="lt1"/>
                </a:solidFill>
              </a:endParaRPr>
            </a:p>
          </p:txBody>
        </p:sp>
        <p:sp>
          <p:nvSpPr>
            <p:cNvPr id="1612" name="Google Shape;1612;p85"/>
            <p:cNvSpPr/>
            <p:nvPr/>
          </p:nvSpPr>
          <p:spPr>
            <a:xfrm>
              <a:off x="1250155" y="4013072"/>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Constraint-Based Management </a:t>
              </a:r>
              <a:endParaRPr sz="933">
                <a:solidFill>
                  <a:schemeClr val="lt1"/>
                </a:solidFill>
              </a:endParaRPr>
            </a:p>
          </p:txBody>
        </p:sp>
        <p:grpSp>
          <p:nvGrpSpPr>
            <p:cNvPr id="1613" name="Google Shape;1613;p85"/>
            <p:cNvGrpSpPr/>
            <p:nvPr/>
          </p:nvGrpSpPr>
          <p:grpSpPr>
            <a:xfrm>
              <a:off x="1855309" y="2367395"/>
              <a:ext cx="230163" cy="273114"/>
              <a:chOff x="6489698" y="1256705"/>
              <a:chExt cx="534393" cy="634116"/>
            </a:xfrm>
          </p:grpSpPr>
          <p:sp>
            <p:nvSpPr>
              <p:cNvPr id="1614" name="Google Shape;1614;p85"/>
              <p:cNvSpPr/>
              <p:nvPr/>
            </p:nvSpPr>
            <p:spPr>
              <a:xfrm>
                <a:off x="6758109" y="1374578"/>
                <a:ext cx="160697" cy="389934"/>
              </a:xfrm>
              <a:custGeom>
                <a:avLst/>
                <a:gdLst/>
                <a:ahLst/>
                <a:cxnLst/>
                <a:rect l="l" t="t" r="r" b="b"/>
                <a:pathLst>
                  <a:path w="160697" h="389934" extrusionOk="0">
                    <a:moveTo>
                      <a:pt x="0" y="0"/>
                    </a:moveTo>
                    <a:cubicBezTo>
                      <a:pt x="44975" y="26570"/>
                      <a:pt x="94145" y="43396"/>
                      <a:pt x="158924" y="46644"/>
                    </a:cubicBezTo>
                    <a:cubicBezTo>
                      <a:pt x="177239" y="273955"/>
                      <a:pt x="48764" y="365033"/>
                      <a:pt x="0" y="389934"/>
                    </a:cubicBezTo>
                    <a:lnTo>
                      <a:pt x="0" y="0"/>
                    </a:lnTo>
                    <a:close/>
                  </a:path>
                </a:pathLst>
              </a:cu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sp>
            <p:nvSpPr>
              <p:cNvPr id="1615" name="Google Shape;1615;p85"/>
              <p:cNvSpPr/>
              <p:nvPr/>
            </p:nvSpPr>
            <p:spPr>
              <a:xfrm>
                <a:off x="6489698" y="1256705"/>
                <a:ext cx="534393" cy="634116"/>
              </a:xfrm>
              <a:custGeom>
                <a:avLst/>
                <a:gdLst/>
                <a:ahLst/>
                <a:cxnLst/>
                <a:rect l="l" t="t" r="r" b="b"/>
                <a:pathLst>
                  <a:path w="534393" h="634116" extrusionOk="0">
                    <a:moveTo>
                      <a:pt x="267192" y="66763"/>
                    </a:moveTo>
                    <a:cubicBezTo>
                      <a:pt x="306844" y="87244"/>
                      <a:pt x="378840" y="117107"/>
                      <a:pt x="473978" y="125542"/>
                    </a:cubicBezTo>
                    <a:cubicBezTo>
                      <a:pt x="499060" y="423316"/>
                      <a:pt x="327415" y="539295"/>
                      <a:pt x="267192" y="570556"/>
                    </a:cubicBezTo>
                    <a:cubicBezTo>
                      <a:pt x="206970" y="539340"/>
                      <a:pt x="35325" y="423361"/>
                      <a:pt x="60406" y="125542"/>
                    </a:cubicBezTo>
                    <a:cubicBezTo>
                      <a:pt x="155454" y="117152"/>
                      <a:pt x="227450" y="87334"/>
                      <a:pt x="267192" y="66763"/>
                    </a:cubicBezTo>
                    <a:moveTo>
                      <a:pt x="267192" y="0"/>
                    </a:moveTo>
                    <a:lnTo>
                      <a:pt x="267192" y="0"/>
                    </a:lnTo>
                    <a:cubicBezTo>
                      <a:pt x="267192" y="0"/>
                      <a:pt x="267192" y="0"/>
                      <a:pt x="267192" y="0"/>
                    </a:cubicBezTo>
                    <a:cubicBezTo>
                      <a:pt x="266876" y="0"/>
                      <a:pt x="167543" y="69876"/>
                      <a:pt x="8574" y="69876"/>
                    </a:cubicBezTo>
                    <a:cubicBezTo>
                      <a:pt x="-56159" y="514890"/>
                      <a:pt x="266876" y="634117"/>
                      <a:pt x="267192" y="634117"/>
                    </a:cubicBezTo>
                    <a:lnTo>
                      <a:pt x="267192" y="634117"/>
                    </a:lnTo>
                    <a:cubicBezTo>
                      <a:pt x="267463" y="634117"/>
                      <a:pt x="590589" y="514935"/>
                      <a:pt x="525810" y="69876"/>
                    </a:cubicBezTo>
                    <a:cubicBezTo>
                      <a:pt x="366841" y="69876"/>
                      <a:pt x="267508" y="0"/>
                      <a:pt x="267192" y="0"/>
                    </a:cubicBezTo>
                    <a:lnTo>
                      <a:pt x="267192" y="0"/>
                    </a:lnTo>
                    <a:close/>
                  </a:path>
                </a:pathLst>
              </a:cu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grpSp>
        <p:nvGrpSpPr>
          <p:cNvPr id="1616" name="Google Shape;1616;p85"/>
          <p:cNvGrpSpPr/>
          <p:nvPr/>
        </p:nvGrpSpPr>
        <p:grpSpPr>
          <a:xfrm>
            <a:off x="3008626" y="3788542"/>
            <a:ext cx="6171638" cy="1026933"/>
            <a:chOff x="3008609" y="3718946"/>
            <a:chExt cx="6171600" cy="1027200"/>
          </a:xfrm>
        </p:grpSpPr>
        <p:sp>
          <p:nvSpPr>
            <p:cNvPr id="1617" name="Google Shape;1617;p85"/>
            <p:cNvSpPr/>
            <p:nvPr/>
          </p:nvSpPr>
          <p:spPr>
            <a:xfrm>
              <a:off x="3008609" y="3718946"/>
              <a:ext cx="6171600" cy="1027200"/>
            </a:xfrm>
            <a:prstGeom prst="roundRect">
              <a:avLst>
                <a:gd name="adj" fmla="val 8902"/>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18" name="Google Shape;1618;p85"/>
            <p:cNvGrpSpPr/>
            <p:nvPr/>
          </p:nvGrpSpPr>
          <p:grpSpPr>
            <a:xfrm>
              <a:off x="3121090" y="4029466"/>
              <a:ext cx="5947016" cy="600692"/>
              <a:chOff x="3181123" y="4245986"/>
              <a:chExt cx="6115812" cy="540969"/>
            </a:xfrm>
          </p:grpSpPr>
          <p:sp>
            <p:nvSpPr>
              <p:cNvPr id="1619" name="Google Shape;1619;p85"/>
              <p:cNvSpPr/>
              <p:nvPr/>
            </p:nvSpPr>
            <p:spPr>
              <a:xfrm>
                <a:off x="5237479" y="4245986"/>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Visibility and Observability</a:t>
                </a:r>
                <a:endParaRPr sz="933">
                  <a:solidFill>
                    <a:schemeClr val="lt1"/>
                  </a:solidFill>
                </a:endParaRPr>
              </a:p>
            </p:txBody>
          </p:sp>
          <p:sp>
            <p:nvSpPr>
              <p:cNvPr id="1620" name="Google Shape;1620;p85"/>
              <p:cNvSpPr/>
              <p:nvPr/>
            </p:nvSpPr>
            <p:spPr>
              <a:xfrm>
                <a:off x="3181123" y="4245987"/>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Performance Optimization</a:t>
                </a:r>
                <a:endParaRPr sz="933">
                  <a:solidFill>
                    <a:schemeClr val="lt1"/>
                  </a:solidFill>
                </a:endParaRPr>
              </a:p>
            </p:txBody>
          </p:sp>
          <p:sp>
            <p:nvSpPr>
              <p:cNvPr id="1621" name="Google Shape;1621;p85"/>
              <p:cNvSpPr/>
              <p:nvPr/>
            </p:nvSpPr>
            <p:spPr>
              <a:xfrm>
                <a:off x="7293835" y="4245997"/>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Analytics and Reporting</a:t>
                </a:r>
                <a:endParaRPr sz="933">
                  <a:solidFill>
                    <a:schemeClr val="lt1"/>
                  </a:solidFill>
                </a:endParaRPr>
              </a:p>
            </p:txBody>
          </p:sp>
          <p:sp>
            <p:nvSpPr>
              <p:cNvPr id="1622" name="Google Shape;1622;p85"/>
              <p:cNvSpPr/>
              <p:nvPr/>
            </p:nvSpPr>
            <p:spPr>
              <a:xfrm>
                <a:off x="5240029" y="4539736"/>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Capacity Management</a:t>
                </a:r>
                <a:endParaRPr sz="933">
                  <a:solidFill>
                    <a:schemeClr val="lt1"/>
                  </a:solidFill>
                </a:endParaRPr>
              </a:p>
            </p:txBody>
          </p:sp>
          <p:sp>
            <p:nvSpPr>
              <p:cNvPr id="1623" name="Google Shape;1623;p85"/>
              <p:cNvSpPr/>
              <p:nvPr/>
            </p:nvSpPr>
            <p:spPr>
              <a:xfrm>
                <a:off x="3181123" y="4539728"/>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Cost Efficiency Management</a:t>
                </a:r>
                <a:endParaRPr sz="933">
                  <a:solidFill>
                    <a:schemeClr val="lt1"/>
                  </a:solidFill>
                </a:endParaRPr>
              </a:p>
            </p:txBody>
          </p:sp>
          <p:sp>
            <p:nvSpPr>
              <p:cNvPr id="1624" name="Google Shape;1624;p85"/>
              <p:cNvSpPr/>
              <p:nvPr/>
            </p:nvSpPr>
            <p:spPr>
              <a:xfrm>
                <a:off x="7298934" y="4539755"/>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Configuration Management</a:t>
                </a:r>
                <a:endParaRPr sz="933">
                  <a:solidFill>
                    <a:schemeClr val="lt1"/>
                  </a:solidFill>
                </a:endParaRPr>
              </a:p>
            </p:txBody>
          </p:sp>
        </p:grpSp>
        <p:grpSp>
          <p:nvGrpSpPr>
            <p:cNvPr id="1625" name="Google Shape;1625;p85"/>
            <p:cNvGrpSpPr/>
            <p:nvPr/>
          </p:nvGrpSpPr>
          <p:grpSpPr>
            <a:xfrm>
              <a:off x="4714256" y="3766995"/>
              <a:ext cx="2963100" cy="239935"/>
              <a:chOff x="4714256" y="3766995"/>
              <a:chExt cx="2963100" cy="239935"/>
            </a:xfrm>
          </p:grpSpPr>
          <p:sp>
            <p:nvSpPr>
              <p:cNvPr id="1626" name="Google Shape;1626;p85"/>
              <p:cNvSpPr txBox="1"/>
              <p:nvPr/>
            </p:nvSpPr>
            <p:spPr>
              <a:xfrm>
                <a:off x="4714256" y="3766995"/>
                <a:ext cx="2963100" cy="239935"/>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Automated Operations</a:t>
                </a:r>
                <a:endParaRPr sz="1066">
                  <a:solidFill>
                    <a:schemeClr val="dk1"/>
                  </a:solidFill>
                </a:endParaRPr>
              </a:p>
            </p:txBody>
          </p:sp>
          <p:grpSp>
            <p:nvGrpSpPr>
              <p:cNvPr id="1627" name="Google Shape;1627;p85"/>
              <p:cNvGrpSpPr/>
              <p:nvPr/>
            </p:nvGrpSpPr>
            <p:grpSpPr>
              <a:xfrm>
                <a:off x="5164661" y="3774954"/>
                <a:ext cx="214918" cy="215611"/>
                <a:chOff x="9332427" y="1236388"/>
                <a:chExt cx="651268" cy="653368"/>
              </a:xfrm>
            </p:grpSpPr>
            <p:sp>
              <p:nvSpPr>
                <p:cNvPr id="1628" name="Google Shape;1628;p85"/>
                <p:cNvSpPr/>
                <p:nvPr/>
              </p:nvSpPr>
              <p:spPr>
                <a:xfrm>
                  <a:off x="9473938" y="1375006"/>
                  <a:ext cx="368152" cy="376087"/>
                </a:xfrm>
                <a:custGeom>
                  <a:avLst/>
                  <a:gdLst/>
                  <a:ahLst/>
                  <a:cxnLst/>
                  <a:rect l="l" t="t" r="r" b="b"/>
                  <a:pathLst>
                    <a:path w="368152" h="376087" extrusionOk="0">
                      <a:moveTo>
                        <a:pt x="331328" y="173715"/>
                      </a:moveTo>
                      <a:lnTo>
                        <a:pt x="368153" y="149119"/>
                      </a:lnTo>
                      <a:lnTo>
                        <a:pt x="368153" y="147065"/>
                      </a:lnTo>
                      <a:cubicBezTo>
                        <a:pt x="366099" y="140904"/>
                        <a:pt x="364046" y="134790"/>
                        <a:pt x="362039" y="130683"/>
                      </a:cubicBezTo>
                      <a:cubicBezTo>
                        <a:pt x="359985" y="124522"/>
                        <a:pt x="357932" y="118408"/>
                        <a:pt x="355925" y="112247"/>
                      </a:cubicBezTo>
                      <a:lnTo>
                        <a:pt x="355925" y="110194"/>
                      </a:lnTo>
                      <a:lnTo>
                        <a:pt x="310932" y="112247"/>
                      </a:lnTo>
                      <a:cubicBezTo>
                        <a:pt x="306825" y="104033"/>
                        <a:pt x="302765" y="95865"/>
                        <a:pt x="296604" y="89705"/>
                      </a:cubicBezTo>
                      <a:lnTo>
                        <a:pt x="310932" y="48726"/>
                      </a:lnTo>
                      <a:lnTo>
                        <a:pt x="308879" y="46673"/>
                      </a:lnTo>
                      <a:cubicBezTo>
                        <a:pt x="298658" y="38458"/>
                        <a:pt x="290490" y="32344"/>
                        <a:pt x="280269" y="26183"/>
                      </a:cubicBezTo>
                      <a:lnTo>
                        <a:pt x="278215" y="24130"/>
                      </a:lnTo>
                      <a:lnTo>
                        <a:pt x="243444" y="50733"/>
                      </a:lnTo>
                      <a:cubicBezTo>
                        <a:pt x="235276" y="48679"/>
                        <a:pt x="225055" y="44572"/>
                        <a:pt x="216841" y="42519"/>
                      </a:cubicBezTo>
                      <a:lnTo>
                        <a:pt x="204566" y="1540"/>
                      </a:lnTo>
                      <a:lnTo>
                        <a:pt x="202512" y="1540"/>
                      </a:lnTo>
                      <a:cubicBezTo>
                        <a:pt x="190237" y="-513"/>
                        <a:pt x="177962" y="-513"/>
                        <a:pt x="165687" y="1540"/>
                      </a:cubicBezTo>
                      <a:lnTo>
                        <a:pt x="163634" y="1540"/>
                      </a:lnTo>
                      <a:lnTo>
                        <a:pt x="151359" y="42519"/>
                      </a:lnTo>
                      <a:cubicBezTo>
                        <a:pt x="147252" y="44572"/>
                        <a:pt x="143191" y="44572"/>
                        <a:pt x="139084" y="46626"/>
                      </a:cubicBezTo>
                      <a:cubicBezTo>
                        <a:pt x="132970" y="48679"/>
                        <a:pt x="128863" y="48679"/>
                        <a:pt x="124756" y="50733"/>
                      </a:cubicBezTo>
                      <a:lnTo>
                        <a:pt x="89985" y="24130"/>
                      </a:lnTo>
                      <a:lnTo>
                        <a:pt x="87931" y="26183"/>
                      </a:lnTo>
                      <a:cubicBezTo>
                        <a:pt x="77710" y="32344"/>
                        <a:pt x="69542" y="38458"/>
                        <a:pt x="59321" y="46673"/>
                      </a:cubicBezTo>
                      <a:lnTo>
                        <a:pt x="57267" y="48726"/>
                      </a:lnTo>
                      <a:lnTo>
                        <a:pt x="71596" y="89705"/>
                      </a:lnTo>
                      <a:cubicBezTo>
                        <a:pt x="67488" y="95865"/>
                        <a:pt x="61374" y="104033"/>
                        <a:pt x="57267" y="112247"/>
                      </a:cubicBezTo>
                      <a:lnTo>
                        <a:pt x="12275" y="110194"/>
                      </a:lnTo>
                      <a:lnTo>
                        <a:pt x="12275" y="112247"/>
                      </a:lnTo>
                      <a:cubicBezTo>
                        <a:pt x="6161" y="124522"/>
                        <a:pt x="4107" y="134790"/>
                        <a:pt x="0" y="147065"/>
                      </a:cubicBezTo>
                      <a:lnTo>
                        <a:pt x="0" y="149119"/>
                      </a:lnTo>
                      <a:lnTo>
                        <a:pt x="36825" y="173715"/>
                      </a:lnTo>
                      <a:cubicBezTo>
                        <a:pt x="34771" y="183936"/>
                        <a:pt x="34771" y="192151"/>
                        <a:pt x="36825" y="202372"/>
                      </a:cubicBezTo>
                      <a:lnTo>
                        <a:pt x="0" y="226969"/>
                      </a:lnTo>
                      <a:lnTo>
                        <a:pt x="0" y="229022"/>
                      </a:lnTo>
                      <a:cubicBezTo>
                        <a:pt x="2054" y="235183"/>
                        <a:pt x="4107" y="241297"/>
                        <a:pt x="6114" y="245404"/>
                      </a:cubicBezTo>
                      <a:cubicBezTo>
                        <a:pt x="8168" y="251565"/>
                        <a:pt x="10221" y="257679"/>
                        <a:pt x="12228" y="263840"/>
                      </a:cubicBezTo>
                      <a:lnTo>
                        <a:pt x="12228" y="265893"/>
                      </a:lnTo>
                      <a:lnTo>
                        <a:pt x="57221" y="263840"/>
                      </a:lnTo>
                      <a:cubicBezTo>
                        <a:pt x="61328" y="272054"/>
                        <a:pt x="65388" y="280222"/>
                        <a:pt x="71549" y="286383"/>
                      </a:cubicBezTo>
                      <a:lnTo>
                        <a:pt x="57221" y="327361"/>
                      </a:lnTo>
                      <a:lnTo>
                        <a:pt x="59274" y="329415"/>
                      </a:lnTo>
                      <a:cubicBezTo>
                        <a:pt x="69495" y="337629"/>
                        <a:pt x="77663" y="343743"/>
                        <a:pt x="87884" y="349904"/>
                      </a:cubicBezTo>
                      <a:lnTo>
                        <a:pt x="89938" y="351958"/>
                      </a:lnTo>
                      <a:lnTo>
                        <a:pt x="124709" y="325354"/>
                      </a:lnTo>
                      <a:cubicBezTo>
                        <a:pt x="132877" y="327408"/>
                        <a:pt x="143098" y="331515"/>
                        <a:pt x="151312" y="333569"/>
                      </a:cubicBezTo>
                      <a:lnTo>
                        <a:pt x="163587" y="374547"/>
                      </a:lnTo>
                      <a:lnTo>
                        <a:pt x="165641" y="374547"/>
                      </a:lnTo>
                      <a:cubicBezTo>
                        <a:pt x="177916" y="376601"/>
                        <a:pt x="190191" y="376601"/>
                        <a:pt x="202465" y="374547"/>
                      </a:cubicBezTo>
                      <a:lnTo>
                        <a:pt x="204519" y="374547"/>
                      </a:lnTo>
                      <a:lnTo>
                        <a:pt x="216794" y="333569"/>
                      </a:lnTo>
                      <a:cubicBezTo>
                        <a:pt x="220901" y="331515"/>
                        <a:pt x="224962" y="331515"/>
                        <a:pt x="229069" y="329461"/>
                      </a:cubicBezTo>
                      <a:cubicBezTo>
                        <a:pt x="235183" y="327408"/>
                        <a:pt x="239290" y="327408"/>
                        <a:pt x="243397" y="325354"/>
                      </a:cubicBezTo>
                      <a:lnTo>
                        <a:pt x="278168" y="351958"/>
                      </a:lnTo>
                      <a:lnTo>
                        <a:pt x="280222" y="349904"/>
                      </a:lnTo>
                      <a:cubicBezTo>
                        <a:pt x="290443" y="343743"/>
                        <a:pt x="298611" y="337629"/>
                        <a:pt x="308832" y="329415"/>
                      </a:cubicBezTo>
                      <a:lnTo>
                        <a:pt x="310886" y="327361"/>
                      </a:lnTo>
                      <a:lnTo>
                        <a:pt x="296557" y="286383"/>
                      </a:lnTo>
                      <a:cubicBezTo>
                        <a:pt x="300664" y="280222"/>
                        <a:pt x="306779" y="272054"/>
                        <a:pt x="310886" y="263840"/>
                      </a:cubicBezTo>
                      <a:lnTo>
                        <a:pt x="355878" y="265893"/>
                      </a:lnTo>
                      <a:lnTo>
                        <a:pt x="355878" y="263840"/>
                      </a:lnTo>
                      <a:cubicBezTo>
                        <a:pt x="361992" y="251565"/>
                        <a:pt x="364046" y="241297"/>
                        <a:pt x="368153" y="229022"/>
                      </a:cubicBezTo>
                      <a:lnTo>
                        <a:pt x="368153" y="226969"/>
                      </a:lnTo>
                      <a:lnTo>
                        <a:pt x="331328" y="202372"/>
                      </a:lnTo>
                      <a:cubicBezTo>
                        <a:pt x="333382" y="192151"/>
                        <a:pt x="333382" y="183936"/>
                        <a:pt x="331328" y="173715"/>
                      </a:cubicBezTo>
                      <a:lnTo>
                        <a:pt x="331328" y="173715"/>
                      </a:lnTo>
                      <a:close/>
                      <a:moveTo>
                        <a:pt x="184076" y="294550"/>
                      </a:moveTo>
                      <a:cubicBezTo>
                        <a:pt x="124756" y="294550"/>
                        <a:pt x="77756" y="247458"/>
                        <a:pt x="77756" y="188044"/>
                      </a:cubicBezTo>
                      <a:cubicBezTo>
                        <a:pt x="77756" y="128630"/>
                        <a:pt x="124802" y="81537"/>
                        <a:pt x="184076" y="81537"/>
                      </a:cubicBezTo>
                      <a:cubicBezTo>
                        <a:pt x="243351" y="81537"/>
                        <a:pt x="290397" y="128630"/>
                        <a:pt x="290397" y="188044"/>
                      </a:cubicBezTo>
                      <a:cubicBezTo>
                        <a:pt x="290397" y="247458"/>
                        <a:pt x="243351" y="294550"/>
                        <a:pt x="184076" y="294550"/>
                      </a:cubicBezTo>
                      <a:lnTo>
                        <a:pt x="184076" y="294550"/>
                      </a:lnTo>
                      <a:close/>
                      <a:moveTo>
                        <a:pt x="184076" y="102026"/>
                      </a:moveTo>
                      <a:cubicBezTo>
                        <a:pt x="137031" y="102026"/>
                        <a:pt x="98199" y="140951"/>
                        <a:pt x="98199" y="188044"/>
                      </a:cubicBezTo>
                      <a:cubicBezTo>
                        <a:pt x="98199" y="235136"/>
                        <a:pt x="137031" y="274061"/>
                        <a:pt x="184076" y="274061"/>
                      </a:cubicBezTo>
                      <a:cubicBezTo>
                        <a:pt x="231122" y="274061"/>
                        <a:pt x="269954" y="235136"/>
                        <a:pt x="269954" y="188044"/>
                      </a:cubicBezTo>
                      <a:cubicBezTo>
                        <a:pt x="269954" y="140951"/>
                        <a:pt x="231122" y="102026"/>
                        <a:pt x="184076" y="102026"/>
                      </a:cubicBezTo>
                      <a:lnTo>
                        <a:pt x="184076" y="102026"/>
                      </a:lnTo>
                      <a:close/>
                      <a:moveTo>
                        <a:pt x="184076" y="241297"/>
                      </a:moveTo>
                      <a:cubicBezTo>
                        <a:pt x="155466" y="241297"/>
                        <a:pt x="130916" y="216701"/>
                        <a:pt x="130916" y="188044"/>
                      </a:cubicBezTo>
                      <a:cubicBezTo>
                        <a:pt x="130916" y="159387"/>
                        <a:pt x="155466" y="134790"/>
                        <a:pt x="184076" y="134790"/>
                      </a:cubicBezTo>
                      <a:cubicBezTo>
                        <a:pt x="212687" y="134790"/>
                        <a:pt x="237236" y="159387"/>
                        <a:pt x="237236" y="188044"/>
                      </a:cubicBezTo>
                      <a:cubicBezTo>
                        <a:pt x="237236" y="216701"/>
                        <a:pt x="212687" y="241297"/>
                        <a:pt x="184076" y="241297"/>
                      </a:cubicBezTo>
                      <a:lnTo>
                        <a:pt x="184076" y="241297"/>
                      </a:lnTo>
                      <a:close/>
                    </a:path>
                  </a:pathLst>
                </a:custGeom>
                <a:gradFill>
                  <a:gsLst>
                    <a:gs pos="0">
                      <a:srgbClr val="0187A6"/>
                    </a:gs>
                    <a:gs pos="100000">
                      <a:srgbClr val="0F8073"/>
                    </a:gs>
                  </a:gsLst>
                  <a:lin ang="0" scaled="0"/>
                </a:gradFill>
                <a:ln>
                  <a:noFill/>
                </a:ln>
              </p:spPr>
              <p:txBody>
                <a:bodyPr spcFirstLastPara="1" wrap="square" lIns="91410" tIns="45688" rIns="91410" bIns="45688" anchor="ctr" anchorCtr="0">
                  <a:noAutofit/>
                </a:bodyPr>
                <a:lstStyle/>
                <a:p>
                  <a:endParaRPr sz="1866">
                    <a:solidFill>
                      <a:schemeClr val="dk1"/>
                    </a:solidFill>
                  </a:endParaRPr>
                </a:p>
              </p:txBody>
            </p:sp>
            <p:sp>
              <p:nvSpPr>
                <p:cNvPr id="1629" name="Google Shape;1629;p85"/>
                <p:cNvSpPr/>
                <p:nvPr/>
              </p:nvSpPr>
              <p:spPr>
                <a:xfrm>
                  <a:off x="9332427" y="1236388"/>
                  <a:ext cx="651268" cy="653368"/>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gradFill>
                  <a:gsLst>
                    <a:gs pos="0">
                      <a:srgbClr val="0187A6"/>
                    </a:gs>
                    <a:gs pos="100000">
                      <a:srgbClr val="0F8073"/>
                    </a:gs>
                  </a:gsLst>
                  <a:lin ang="0" scaled="0"/>
                </a:gradFill>
                <a:ln>
                  <a:noFill/>
                </a:ln>
              </p:spPr>
              <p:txBody>
                <a:bodyPr spcFirstLastPara="1" wrap="square" lIns="91410" tIns="45688" rIns="91410" bIns="45688" anchor="ctr" anchorCtr="0">
                  <a:noAutofit/>
                </a:bodyPr>
                <a:lstStyle/>
                <a:p>
                  <a:endParaRPr sz="1866">
                    <a:solidFill>
                      <a:schemeClr val="dk1"/>
                    </a:solidFill>
                  </a:endParaRPr>
                </a:p>
              </p:txBody>
            </p:sp>
          </p:grpSp>
        </p:grpSp>
      </p:grpSp>
      <p:grpSp>
        <p:nvGrpSpPr>
          <p:cNvPr id="1630" name="Google Shape;1630;p85"/>
          <p:cNvGrpSpPr/>
          <p:nvPr/>
        </p:nvGrpSpPr>
        <p:grpSpPr>
          <a:xfrm>
            <a:off x="3008626" y="4940191"/>
            <a:ext cx="6171638" cy="703917"/>
            <a:chOff x="3008609" y="4870894"/>
            <a:chExt cx="6171600" cy="704100"/>
          </a:xfrm>
        </p:grpSpPr>
        <p:sp>
          <p:nvSpPr>
            <p:cNvPr id="1631" name="Google Shape;1631;p85"/>
            <p:cNvSpPr/>
            <p:nvPr/>
          </p:nvSpPr>
          <p:spPr>
            <a:xfrm>
              <a:off x="3008609" y="4870894"/>
              <a:ext cx="6171600" cy="704100"/>
            </a:xfrm>
            <a:prstGeom prst="roundRect">
              <a:avLst>
                <a:gd name="adj" fmla="val 12988"/>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32" name="Google Shape;1632;p85"/>
            <p:cNvGrpSpPr/>
            <p:nvPr/>
          </p:nvGrpSpPr>
          <p:grpSpPr>
            <a:xfrm>
              <a:off x="3123361" y="5187517"/>
              <a:ext cx="5942052" cy="274200"/>
              <a:chOff x="3601968" y="5318185"/>
              <a:chExt cx="5181420" cy="274200"/>
            </a:xfrm>
          </p:grpSpPr>
          <p:sp>
            <p:nvSpPr>
              <p:cNvPr id="1633" name="Google Shape;1633;p85"/>
              <p:cNvSpPr/>
              <p:nvPr/>
            </p:nvSpPr>
            <p:spPr>
              <a:xfrm>
                <a:off x="360196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Compute</a:t>
                </a:r>
                <a:endParaRPr sz="933">
                  <a:solidFill>
                    <a:schemeClr val="lt1"/>
                  </a:solidFill>
                </a:endParaRPr>
              </a:p>
            </p:txBody>
          </p:sp>
          <p:sp>
            <p:nvSpPr>
              <p:cNvPr id="1634" name="Google Shape;1634;p85"/>
              <p:cNvSpPr/>
              <p:nvPr/>
            </p:nvSpPr>
            <p:spPr>
              <a:xfrm>
                <a:off x="534352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Storage</a:t>
                </a:r>
                <a:endParaRPr sz="933">
                  <a:solidFill>
                    <a:schemeClr val="lt1"/>
                  </a:solidFill>
                </a:endParaRPr>
              </a:p>
            </p:txBody>
          </p:sp>
          <p:sp>
            <p:nvSpPr>
              <p:cNvPr id="1635" name="Google Shape;1635;p85"/>
              <p:cNvSpPr/>
              <p:nvPr/>
            </p:nvSpPr>
            <p:spPr>
              <a:xfrm>
                <a:off x="708508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Network</a:t>
                </a:r>
                <a:endParaRPr sz="933">
                  <a:solidFill>
                    <a:schemeClr val="lt1"/>
                  </a:solidFill>
                </a:endParaRPr>
              </a:p>
            </p:txBody>
          </p:sp>
        </p:grpSp>
        <p:grpSp>
          <p:nvGrpSpPr>
            <p:cNvPr id="1636" name="Google Shape;1636;p85"/>
            <p:cNvGrpSpPr/>
            <p:nvPr/>
          </p:nvGrpSpPr>
          <p:grpSpPr>
            <a:xfrm>
              <a:off x="4664013" y="4922177"/>
              <a:ext cx="2860800" cy="239935"/>
              <a:chOff x="4664013" y="4922177"/>
              <a:chExt cx="2860800" cy="239935"/>
            </a:xfrm>
          </p:grpSpPr>
          <p:sp>
            <p:nvSpPr>
              <p:cNvPr id="1637" name="Google Shape;1637;p85"/>
              <p:cNvSpPr txBox="1"/>
              <p:nvPr/>
            </p:nvSpPr>
            <p:spPr>
              <a:xfrm>
                <a:off x="4664013" y="4922177"/>
                <a:ext cx="2860800" cy="239935"/>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         Virtualized Infrastructure</a:t>
                </a:r>
                <a:endParaRPr sz="1066">
                  <a:solidFill>
                    <a:schemeClr val="dk1"/>
                  </a:solidFill>
                </a:endParaRPr>
              </a:p>
            </p:txBody>
          </p:sp>
          <p:sp>
            <p:nvSpPr>
              <p:cNvPr id="1638" name="Google Shape;1638;p85"/>
              <p:cNvSpPr/>
              <p:nvPr/>
            </p:nvSpPr>
            <p:spPr>
              <a:xfrm>
                <a:off x="5141095" y="4932906"/>
                <a:ext cx="191901" cy="191928"/>
              </a:xfrm>
              <a:custGeom>
                <a:avLst/>
                <a:gdLst/>
                <a:ahLst/>
                <a:cxnLst/>
                <a:rect l="l" t="t" r="r" b="b"/>
                <a:pathLst>
                  <a:path w="691534" h="691633" extrusionOk="0">
                    <a:moveTo>
                      <a:pt x="252987" y="147330"/>
                    </a:moveTo>
                    <a:lnTo>
                      <a:pt x="246353" y="180652"/>
                    </a:lnTo>
                    <a:cubicBezTo>
                      <a:pt x="233378" y="211759"/>
                      <a:pt x="208803" y="236675"/>
                      <a:pt x="178123" y="249829"/>
                    </a:cubicBezTo>
                    <a:lnTo>
                      <a:pt x="145547" y="256496"/>
                    </a:lnTo>
                    <a:lnTo>
                      <a:pt x="145547" y="435186"/>
                    </a:lnTo>
                    <a:lnTo>
                      <a:pt x="178123" y="441853"/>
                    </a:lnTo>
                    <a:cubicBezTo>
                      <a:pt x="208803" y="455008"/>
                      <a:pt x="233378" y="479924"/>
                      <a:pt x="246353" y="511030"/>
                    </a:cubicBezTo>
                    <a:lnTo>
                      <a:pt x="252967" y="544253"/>
                    </a:lnTo>
                    <a:lnTo>
                      <a:pt x="438567" y="544253"/>
                    </a:lnTo>
                    <a:lnTo>
                      <a:pt x="445181" y="511030"/>
                    </a:lnTo>
                    <a:cubicBezTo>
                      <a:pt x="458156" y="479924"/>
                      <a:pt x="482731" y="455008"/>
                      <a:pt x="513411" y="441853"/>
                    </a:cubicBezTo>
                    <a:lnTo>
                      <a:pt x="545987" y="435186"/>
                    </a:lnTo>
                    <a:lnTo>
                      <a:pt x="545987" y="256496"/>
                    </a:lnTo>
                    <a:lnTo>
                      <a:pt x="513411" y="249829"/>
                    </a:lnTo>
                    <a:cubicBezTo>
                      <a:pt x="482731" y="236675"/>
                      <a:pt x="458156" y="211759"/>
                      <a:pt x="445181" y="180652"/>
                    </a:cubicBezTo>
                    <a:lnTo>
                      <a:pt x="438547" y="147330"/>
                    </a:lnTo>
                    <a:close/>
                    <a:moveTo>
                      <a:pt x="128214" y="0"/>
                    </a:moveTo>
                    <a:cubicBezTo>
                      <a:pt x="141491" y="0"/>
                      <a:pt x="154297" y="2046"/>
                      <a:pt x="166341" y="5845"/>
                    </a:cubicBezTo>
                    <a:lnTo>
                      <a:pt x="173440" y="9305"/>
                    </a:lnTo>
                    <a:lnTo>
                      <a:pt x="178123" y="10263"/>
                    </a:lnTo>
                    <a:lnTo>
                      <a:pt x="184876" y="14879"/>
                    </a:lnTo>
                    <a:lnTo>
                      <a:pt x="199900" y="22202"/>
                    </a:lnTo>
                    <a:lnTo>
                      <a:pt x="212292" y="33618"/>
                    </a:lnTo>
                    <a:lnTo>
                      <a:pt x="218877" y="38120"/>
                    </a:lnTo>
                    <a:lnTo>
                      <a:pt x="221565" y="42162"/>
                    </a:lnTo>
                    <a:lnTo>
                      <a:pt x="227150" y="47307"/>
                    </a:lnTo>
                    <a:cubicBezTo>
                      <a:pt x="234989" y="56938"/>
                      <a:pt x="241486" y="67732"/>
                      <a:pt x="246352" y="79397"/>
                    </a:cubicBezTo>
                    <a:lnTo>
                      <a:pt x="252977" y="112664"/>
                    </a:lnTo>
                    <a:lnTo>
                      <a:pt x="438557" y="112664"/>
                    </a:lnTo>
                    <a:lnTo>
                      <a:pt x="445182" y="79397"/>
                    </a:lnTo>
                    <a:lnTo>
                      <a:pt x="445433" y="79019"/>
                    </a:lnTo>
                    <a:lnTo>
                      <a:pt x="464382" y="47351"/>
                    </a:lnTo>
                    <a:lnTo>
                      <a:pt x="469827" y="42335"/>
                    </a:lnTo>
                    <a:lnTo>
                      <a:pt x="472659" y="38076"/>
                    </a:lnTo>
                    <a:lnTo>
                      <a:pt x="479602" y="33329"/>
                    </a:lnTo>
                    <a:lnTo>
                      <a:pt x="491632" y="22247"/>
                    </a:lnTo>
                    <a:lnTo>
                      <a:pt x="506197" y="15149"/>
                    </a:lnTo>
                    <a:lnTo>
                      <a:pt x="513413" y="10216"/>
                    </a:lnTo>
                    <a:lnTo>
                      <a:pt x="518424" y="9190"/>
                    </a:lnTo>
                    <a:lnTo>
                      <a:pt x="525191" y="5892"/>
                    </a:lnTo>
                    <a:lnTo>
                      <a:pt x="562368" y="195"/>
                    </a:lnTo>
                    <a:lnTo>
                      <a:pt x="563320" y="0"/>
                    </a:lnTo>
                    <a:cubicBezTo>
                      <a:pt x="634131" y="0"/>
                      <a:pt x="691534" y="58202"/>
                      <a:pt x="691534" y="129997"/>
                    </a:cubicBezTo>
                    <a:lnTo>
                      <a:pt x="691529" y="130022"/>
                    </a:lnTo>
                    <a:lnTo>
                      <a:pt x="691534" y="130046"/>
                    </a:lnTo>
                    <a:cubicBezTo>
                      <a:pt x="691534" y="143510"/>
                      <a:pt x="689516" y="156495"/>
                      <a:pt x="685770" y="168708"/>
                    </a:cubicBezTo>
                    <a:lnTo>
                      <a:pt x="682418" y="175779"/>
                    </a:lnTo>
                    <a:lnTo>
                      <a:pt x="681458" y="180598"/>
                    </a:lnTo>
                    <a:lnTo>
                      <a:pt x="676843" y="187539"/>
                    </a:lnTo>
                    <a:lnTo>
                      <a:pt x="669639" y="202734"/>
                    </a:lnTo>
                    <a:lnTo>
                      <a:pt x="658397" y="215278"/>
                    </a:lnTo>
                    <a:lnTo>
                      <a:pt x="653981" y="221919"/>
                    </a:lnTo>
                    <a:lnTo>
                      <a:pt x="650017" y="224629"/>
                    </a:lnTo>
                    <a:lnTo>
                      <a:pt x="644879" y="230362"/>
                    </a:lnTo>
                    <a:cubicBezTo>
                      <a:pt x="635381" y="238309"/>
                      <a:pt x="624734" y="244896"/>
                      <a:pt x="613229" y="249829"/>
                    </a:cubicBezTo>
                    <a:lnTo>
                      <a:pt x="580652" y="256496"/>
                    </a:lnTo>
                    <a:lnTo>
                      <a:pt x="580652" y="435186"/>
                    </a:lnTo>
                    <a:lnTo>
                      <a:pt x="613229" y="441853"/>
                    </a:lnTo>
                    <a:lnTo>
                      <a:pt x="613281" y="441888"/>
                    </a:lnTo>
                    <a:lnTo>
                      <a:pt x="644876" y="461324"/>
                    </a:lnTo>
                    <a:lnTo>
                      <a:pt x="649873" y="466900"/>
                    </a:lnTo>
                    <a:lnTo>
                      <a:pt x="653983" y="469710"/>
                    </a:lnTo>
                    <a:lnTo>
                      <a:pt x="658563" y="476597"/>
                    </a:lnTo>
                    <a:lnTo>
                      <a:pt x="669637" y="488954"/>
                    </a:lnTo>
                    <a:lnTo>
                      <a:pt x="676738" y="503929"/>
                    </a:lnTo>
                    <a:lnTo>
                      <a:pt x="681459" y="511030"/>
                    </a:lnTo>
                    <a:lnTo>
                      <a:pt x="682440" y="515956"/>
                    </a:lnTo>
                    <a:lnTo>
                      <a:pt x="685770" y="522979"/>
                    </a:lnTo>
                    <a:cubicBezTo>
                      <a:pt x="689516" y="535191"/>
                      <a:pt x="691534" y="548175"/>
                      <a:pt x="691534" y="561636"/>
                    </a:cubicBezTo>
                    <a:cubicBezTo>
                      <a:pt x="691534" y="633444"/>
                      <a:pt x="634137" y="691633"/>
                      <a:pt x="563320" y="691633"/>
                    </a:cubicBezTo>
                    <a:cubicBezTo>
                      <a:pt x="550043" y="691633"/>
                      <a:pt x="537237" y="689587"/>
                      <a:pt x="525193" y="685789"/>
                    </a:cubicBezTo>
                    <a:lnTo>
                      <a:pt x="518267" y="682413"/>
                    </a:lnTo>
                    <a:lnTo>
                      <a:pt x="513411" y="681419"/>
                    </a:lnTo>
                    <a:lnTo>
                      <a:pt x="506408" y="676633"/>
                    </a:lnTo>
                    <a:lnTo>
                      <a:pt x="491634" y="669432"/>
                    </a:lnTo>
                    <a:lnTo>
                      <a:pt x="479448" y="658205"/>
                    </a:lnTo>
                    <a:lnTo>
                      <a:pt x="472657" y="653563"/>
                    </a:lnTo>
                    <a:lnTo>
                      <a:pt x="469885" y="649395"/>
                    </a:lnTo>
                    <a:lnTo>
                      <a:pt x="464384" y="644326"/>
                    </a:lnTo>
                    <a:lnTo>
                      <a:pt x="445222" y="612304"/>
                    </a:lnTo>
                    <a:lnTo>
                      <a:pt x="445181" y="612242"/>
                    </a:lnTo>
                    <a:lnTo>
                      <a:pt x="438547" y="578919"/>
                    </a:lnTo>
                    <a:lnTo>
                      <a:pt x="252987" y="578919"/>
                    </a:lnTo>
                    <a:lnTo>
                      <a:pt x="246353" y="612242"/>
                    </a:lnTo>
                    <a:lnTo>
                      <a:pt x="246312" y="612304"/>
                    </a:lnTo>
                    <a:lnTo>
                      <a:pt x="227150" y="644326"/>
                    </a:lnTo>
                    <a:lnTo>
                      <a:pt x="221649" y="649395"/>
                    </a:lnTo>
                    <a:lnTo>
                      <a:pt x="218877" y="653563"/>
                    </a:lnTo>
                    <a:lnTo>
                      <a:pt x="212086" y="658205"/>
                    </a:lnTo>
                    <a:lnTo>
                      <a:pt x="199900" y="669432"/>
                    </a:lnTo>
                    <a:lnTo>
                      <a:pt x="185126" y="676633"/>
                    </a:lnTo>
                    <a:lnTo>
                      <a:pt x="178123" y="681419"/>
                    </a:lnTo>
                    <a:lnTo>
                      <a:pt x="173267" y="682413"/>
                    </a:lnTo>
                    <a:lnTo>
                      <a:pt x="166341" y="685789"/>
                    </a:lnTo>
                    <a:cubicBezTo>
                      <a:pt x="154297" y="689587"/>
                      <a:pt x="141491" y="691633"/>
                      <a:pt x="128214" y="691633"/>
                    </a:cubicBezTo>
                    <a:cubicBezTo>
                      <a:pt x="57397" y="691633"/>
                      <a:pt x="0" y="633444"/>
                      <a:pt x="0" y="561636"/>
                    </a:cubicBezTo>
                    <a:cubicBezTo>
                      <a:pt x="0" y="548175"/>
                      <a:pt x="2018" y="535191"/>
                      <a:pt x="5764" y="522979"/>
                    </a:cubicBezTo>
                    <a:lnTo>
                      <a:pt x="9094" y="515956"/>
                    </a:lnTo>
                    <a:lnTo>
                      <a:pt x="10075" y="511030"/>
                    </a:lnTo>
                    <a:lnTo>
                      <a:pt x="14796" y="503929"/>
                    </a:lnTo>
                    <a:lnTo>
                      <a:pt x="21897" y="488954"/>
                    </a:lnTo>
                    <a:lnTo>
                      <a:pt x="32971" y="476597"/>
                    </a:lnTo>
                    <a:lnTo>
                      <a:pt x="37551" y="469710"/>
                    </a:lnTo>
                    <a:lnTo>
                      <a:pt x="41661" y="466900"/>
                    </a:lnTo>
                    <a:lnTo>
                      <a:pt x="46658" y="461324"/>
                    </a:lnTo>
                    <a:lnTo>
                      <a:pt x="78253" y="441889"/>
                    </a:lnTo>
                    <a:lnTo>
                      <a:pt x="78305" y="441853"/>
                    </a:lnTo>
                    <a:lnTo>
                      <a:pt x="110881" y="435186"/>
                    </a:lnTo>
                    <a:lnTo>
                      <a:pt x="110881" y="256496"/>
                    </a:lnTo>
                    <a:lnTo>
                      <a:pt x="78305" y="249829"/>
                    </a:lnTo>
                    <a:lnTo>
                      <a:pt x="77540" y="249306"/>
                    </a:lnTo>
                    <a:lnTo>
                      <a:pt x="46658" y="230309"/>
                    </a:lnTo>
                    <a:lnTo>
                      <a:pt x="41774" y="224859"/>
                    </a:lnTo>
                    <a:lnTo>
                      <a:pt x="37551" y="221973"/>
                    </a:lnTo>
                    <a:lnTo>
                      <a:pt x="32845" y="214896"/>
                    </a:lnTo>
                    <a:lnTo>
                      <a:pt x="21897" y="202680"/>
                    </a:lnTo>
                    <a:lnTo>
                      <a:pt x="14877" y="187875"/>
                    </a:lnTo>
                    <a:lnTo>
                      <a:pt x="10075" y="180652"/>
                    </a:lnTo>
                    <a:lnTo>
                      <a:pt x="9077" y="175642"/>
                    </a:lnTo>
                    <a:lnTo>
                      <a:pt x="5764" y="168654"/>
                    </a:lnTo>
                    <a:lnTo>
                      <a:pt x="29" y="130192"/>
                    </a:lnTo>
                    <a:lnTo>
                      <a:pt x="0" y="130046"/>
                    </a:lnTo>
                    <a:lnTo>
                      <a:pt x="4" y="130025"/>
                    </a:lnTo>
                    <a:lnTo>
                      <a:pt x="0" y="129997"/>
                    </a:lnTo>
                    <a:cubicBezTo>
                      <a:pt x="0" y="58202"/>
                      <a:pt x="57403" y="0"/>
                      <a:pt x="128214" y="0"/>
                    </a:cubicBezTo>
                    <a:close/>
                  </a:path>
                </a:pathLst>
              </a:cu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grpSp>
        <p:nvGrpSpPr>
          <p:cNvPr id="1641" name="Google Shape;1641;p85"/>
          <p:cNvGrpSpPr/>
          <p:nvPr/>
        </p:nvGrpSpPr>
        <p:grpSpPr>
          <a:xfrm>
            <a:off x="3008626" y="2320714"/>
            <a:ext cx="6171638" cy="1343050"/>
            <a:chOff x="3008609" y="2250736"/>
            <a:chExt cx="6171600" cy="1343400"/>
          </a:xfrm>
        </p:grpSpPr>
        <p:sp>
          <p:nvSpPr>
            <p:cNvPr id="1642" name="Google Shape;1642;p85"/>
            <p:cNvSpPr/>
            <p:nvPr/>
          </p:nvSpPr>
          <p:spPr>
            <a:xfrm>
              <a:off x="3008609" y="2250736"/>
              <a:ext cx="6171600" cy="1343400"/>
            </a:xfrm>
            <a:prstGeom prst="roundRect">
              <a:avLst>
                <a:gd name="adj" fmla="val 6806"/>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43" name="Google Shape;1643;p85"/>
            <p:cNvGrpSpPr/>
            <p:nvPr/>
          </p:nvGrpSpPr>
          <p:grpSpPr>
            <a:xfrm>
              <a:off x="3116449" y="2558141"/>
              <a:ext cx="5956012" cy="925810"/>
              <a:chOff x="3179633" y="2725072"/>
              <a:chExt cx="5956012" cy="925810"/>
            </a:xfrm>
          </p:grpSpPr>
          <p:sp>
            <p:nvSpPr>
              <p:cNvPr id="1644" name="Google Shape;1644;p85"/>
              <p:cNvSpPr/>
              <p:nvPr/>
            </p:nvSpPr>
            <p:spPr>
              <a:xfrm>
                <a:off x="3184059" y="3376682"/>
                <a:ext cx="59514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IaaS     |    CaaS     |     PaaS     |     XaaS</a:t>
                </a:r>
                <a:endParaRPr sz="933">
                  <a:solidFill>
                    <a:schemeClr val="lt1"/>
                  </a:solidFill>
                </a:endParaRPr>
              </a:p>
            </p:txBody>
          </p:sp>
          <p:sp>
            <p:nvSpPr>
              <p:cNvPr id="1645" name="Google Shape;1645;p85"/>
              <p:cNvSpPr/>
              <p:nvPr/>
            </p:nvSpPr>
            <p:spPr>
              <a:xfrm>
                <a:off x="3179633" y="3057755"/>
                <a:ext cx="12522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Data Services</a:t>
                </a:r>
                <a:endParaRPr sz="933">
                  <a:solidFill>
                    <a:schemeClr val="lt1"/>
                  </a:solidFill>
                </a:endParaRPr>
              </a:p>
            </p:txBody>
          </p:sp>
          <p:sp>
            <p:nvSpPr>
              <p:cNvPr id="1646" name="Google Shape;1646;p85"/>
              <p:cNvSpPr/>
              <p:nvPr/>
            </p:nvSpPr>
            <p:spPr>
              <a:xfrm>
                <a:off x="6170586" y="3057756"/>
                <a:ext cx="14676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AI/ML Services </a:t>
                </a:r>
                <a:endParaRPr sz="933">
                  <a:solidFill>
                    <a:schemeClr val="lt1"/>
                  </a:solidFill>
                </a:endParaRPr>
              </a:p>
            </p:txBody>
          </p:sp>
          <p:sp>
            <p:nvSpPr>
              <p:cNvPr id="1647" name="Google Shape;1647;p85"/>
              <p:cNvSpPr/>
              <p:nvPr/>
            </p:nvSpPr>
            <p:spPr>
              <a:xfrm>
                <a:off x="7684683" y="3057756"/>
                <a:ext cx="14508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LBaaS Services</a:t>
                </a:r>
                <a:endParaRPr sz="933">
                  <a:solidFill>
                    <a:schemeClr val="lt1"/>
                  </a:solidFill>
                </a:endParaRPr>
              </a:p>
            </p:txBody>
          </p:sp>
          <p:sp>
            <p:nvSpPr>
              <p:cNvPr id="1648" name="Google Shape;1648;p85"/>
              <p:cNvSpPr/>
              <p:nvPr/>
            </p:nvSpPr>
            <p:spPr>
              <a:xfrm>
                <a:off x="4481236" y="3057756"/>
                <a:ext cx="16404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App Runtime Services</a:t>
                </a:r>
                <a:endParaRPr sz="933">
                  <a:solidFill>
                    <a:schemeClr val="lt1"/>
                  </a:solidFill>
                </a:endParaRPr>
              </a:p>
            </p:txBody>
          </p:sp>
          <p:sp>
            <p:nvSpPr>
              <p:cNvPr id="1649" name="Google Shape;1649;p85"/>
              <p:cNvSpPr/>
              <p:nvPr/>
            </p:nvSpPr>
            <p:spPr>
              <a:xfrm>
                <a:off x="3179633"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Self-Service Portal</a:t>
                </a:r>
                <a:endParaRPr sz="933">
                  <a:solidFill>
                    <a:schemeClr val="lt1"/>
                  </a:solidFill>
                </a:endParaRPr>
              </a:p>
            </p:txBody>
          </p:sp>
          <p:sp>
            <p:nvSpPr>
              <p:cNvPr id="1650" name="Google Shape;1650;p85"/>
              <p:cNvSpPr/>
              <p:nvPr/>
            </p:nvSpPr>
            <p:spPr>
              <a:xfrm>
                <a:off x="5179189"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API | CLI | CI/CD </a:t>
                </a:r>
                <a:endParaRPr sz="933">
                  <a:solidFill>
                    <a:schemeClr val="lt1"/>
                  </a:solidFill>
                </a:endParaRPr>
              </a:p>
            </p:txBody>
          </p:sp>
          <p:sp>
            <p:nvSpPr>
              <p:cNvPr id="1651" name="Google Shape;1651;p85"/>
              <p:cNvSpPr/>
              <p:nvPr/>
            </p:nvSpPr>
            <p:spPr>
              <a:xfrm>
                <a:off x="7178745"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Infra-as-Code</a:t>
                </a:r>
                <a:endParaRPr sz="933">
                  <a:solidFill>
                    <a:schemeClr val="lt1"/>
                  </a:solidFill>
                </a:endParaRPr>
              </a:p>
            </p:txBody>
          </p:sp>
        </p:grpSp>
        <p:grpSp>
          <p:nvGrpSpPr>
            <p:cNvPr id="1652" name="Google Shape;1652;p85"/>
            <p:cNvGrpSpPr/>
            <p:nvPr/>
          </p:nvGrpSpPr>
          <p:grpSpPr>
            <a:xfrm>
              <a:off x="4892013" y="2298173"/>
              <a:ext cx="2632800" cy="239936"/>
              <a:chOff x="4892013" y="2298173"/>
              <a:chExt cx="2632800" cy="239936"/>
            </a:xfrm>
          </p:grpSpPr>
          <p:sp>
            <p:nvSpPr>
              <p:cNvPr id="1653" name="Google Shape;1653;p85"/>
              <p:cNvSpPr txBox="1"/>
              <p:nvPr/>
            </p:nvSpPr>
            <p:spPr>
              <a:xfrm>
                <a:off x="4892013" y="2298173"/>
                <a:ext cx="2632800" cy="239936"/>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dirty="0">
                    <a:solidFill>
                      <a:schemeClr val="dk1"/>
                    </a:solidFill>
                  </a:rPr>
                  <a:t>Consumption</a:t>
                </a:r>
              </a:p>
            </p:txBody>
          </p:sp>
          <p:sp>
            <p:nvSpPr>
              <p:cNvPr id="1654" name="Google Shape;1654;p85"/>
              <p:cNvSpPr/>
              <p:nvPr/>
            </p:nvSpPr>
            <p:spPr>
              <a:xfrm>
                <a:off x="5452007" y="2316219"/>
                <a:ext cx="236670" cy="189913"/>
              </a:xfrm>
              <a:custGeom>
                <a:avLst/>
                <a:gdLst/>
                <a:ahLst/>
                <a:cxnLst/>
                <a:rect l="l" t="t" r="r" b="b"/>
                <a:pathLst>
                  <a:path w="556870" h="446855" extrusionOk="0">
                    <a:moveTo>
                      <a:pt x="272034" y="217227"/>
                    </a:moveTo>
                    <a:cubicBezTo>
                      <a:pt x="303638" y="217227"/>
                      <a:pt x="330041" y="244030"/>
                      <a:pt x="329641" y="275634"/>
                    </a:cubicBezTo>
                    <a:cubicBezTo>
                      <a:pt x="329641" y="308438"/>
                      <a:pt x="302037" y="332841"/>
                      <a:pt x="272034" y="332841"/>
                    </a:cubicBezTo>
                    <a:cubicBezTo>
                      <a:pt x="238429" y="332841"/>
                      <a:pt x="214426" y="305238"/>
                      <a:pt x="214026" y="275634"/>
                    </a:cubicBezTo>
                    <a:cubicBezTo>
                      <a:pt x="213626" y="241630"/>
                      <a:pt x="241230" y="217227"/>
                      <a:pt x="272034" y="217227"/>
                    </a:cubicBezTo>
                    <a:close/>
                    <a:moveTo>
                      <a:pt x="315239" y="138417"/>
                    </a:moveTo>
                    <a:cubicBezTo>
                      <a:pt x="311239" y="136416"/>
                      <a:pt x="308439" y="136816"/>
                      <a:pt x="305238" y="140417"/>
                    </a:cubicBezTo>
                    <a:cubicBezTo>
                      <a:pt x="300438" y="146418"/>
                      <a:pt x="295237" y="152418"/>
                      <a:pt x="289636" y="157619"/>
                    </a:cubicBezTo>
                    <a:cubicBezTo>
                      <a:pt x="287636" y="159619"/>
                      <a:pt x="284036" y="160819"/>
                      <a:pt x="280835" y="161219"/>
                    </a:cubicBezTo>
                    <a:cubicBezTo>
                      <a:pt x="274034" y="162019"/>
                      <a:pt x="267233" y="161219"/>
                      <a:pt x="260433" y="161619"/>
                    </a:cubicBezTo>
                    <a:cubicBezTo>
                      <a:pt x="256032" y="162019"/>
                      <a:pt x="252432" y="161219"/>
                      <a:pt x="249631" y="157619"/>
                    </a:cubicBezTo>
                    <a:cubicBezTo>
                      <a:pt x="244431" y="151618"/>
                      <a:pt x="238830" y="145617"/>
                      <a:pt x="233229" y="140017"/>
                    </a:cubicBezTo>
                    <a:cubicBezTo>
                      <a:pt x="231629" y="138817"/>
                      <a:pt x="228429" y="138016"/>
                      <a:pt x="226428" y="138817"/>
                    </a:cubicBezTo>
                    <a:cubicBezTo>
                      <a:pt x="217627" y="142417"/>
                      <a:pt x="208826" y="146418"/>
                      <a:pt x="200025" y="150018"/>
                    </a:cubicBezTo>
                    <a:cubicBezTo>
                      <a:pt x="200025" y="156019"/>
                      <a:pt x="199225" y="161619"/>
                      <a:pt x="200425" y="167220"/>
                    </a:cubicBezTo>
                    <a:cubicBezTo>
                      <a:pt x="202825" y="178822"/>
                      <a:pt x="198425" y="186422"/>
                      <a:pt x="190424" y="195224"/>
                    </a:cubicBezTo>
                    <a:cubicBezTo>
                      <a:pt x="180823" y="206025"/>
                      <a:pt x="170821" y="209225"/>
                      <a:pt x="157620" y="206825"/>
                    </a:cubicBezTo>
                    <a:cubicBezTo>
                      <a:pt x="156820" y="206825"/>
                      <a:pt x="156420" y="206825"/>
                      <a:pt x="155619" y="206825"/>
                    </a:cubicBezTo>
                    <a:cubicBezTo>
                      <a:pt x="141618" y="205625"/>
                      <a:pt x="144818" y="204825"/>
                      <a:pt x="140018" y="216426"/>
                    </a:cubicBezTo>
                    <a:cubicBezTo>
                      <a:pt x="137217" y="223227"/>
                      <a:pt x="131616" y="231228"/>
                      <a:pt x="133217" y="237229"/>
                    </a:cubicBezTo>
                    <a:cubicBezTo>
                      <a:pt x="134817" y="243230"/>
                      <a:pt x="142818" y="248430"/>
                      <a:pt x="148819" y="252831"/>
                    </a:cubicBezTo>
                    <a:cubicBezTo>
                      <a:pt x="155619" y="258031"/>
                      <a:pt x="158420" y="263632"/>
                      <a:pt x="156420" y="272033"/>
                    </a:cubicBezTo>
                    <a:cubicBezTo>
                      <a:pt x="155619" y="276434"/>
                      <a:pt x="156420" y="281234"/>
                      <a:pt x="157220" y="285635"/>
                    </a:cubicBezTo>
                    <a:cubicBezTo>
                      <a:pt x="158420" y="290836"/>
                      <a:pt x="156820" y="294436"/>
                      <a:pt x="152819" y="297636"/>
                    </a:cubicBezTo>
                    <a:cubicBezTo>
                      <a:pt x="146818" y="302437"/>
                      <a:pt x="141218" y="307638"/>
                      <a:pt x="135617" y="313238"/>
                    </a:cubicBezTo>
                    <a:cubicBezTo>
                      <a:pt x="134417" y="314839"/>
                      <a:pt x="133617" y="318039"/>
                      <a:pt x="134417" y="320039"/>
                    </a:cubicBezTo>
                    <a:cubicBezTo>
                      <a:pt x="137217" y="327240"/>
                      <a:pt x="140818" y="334441"/>
                      <a:pt x="143618" y="342042"/>
                    </a:cubicBezTo>
                    <a:cubicBezTo>
                      <a:pt x="145218" y="346042"/>
                      <a:pt x="147218" y="347243"/>
                      <a:pt x="151219" y="346843"/>
                    </a:cubicBezTo>
                    <a:cubicBezTo>
                      <a:pt x="157220" y="346442"/>
                      <a:pt x="163620" y="346442"/>
                      <a:pt x="169621" y="345642"/>
                    </a:cubicBezTo>
                    <a:cubicBezTo>
                      <a:pt x="176422" y="344442"/>
                      <a:pt x="181623" y="346042"/>
                      <a:pt x="186023" y="352043"/>
                    </a:cubicBezTo>
                    <a:cubicBezTo>
                      <a:pt x="189624" y="356844"/>
                      <a:pt x="194024" y="360444"/>
                      <a:pt x="198425" y="364045"/>
                    </a:cubicBezTo>
                    <a:cubicBezTo>
                      <a:pt x="201625" y="366845"/>
                      <a:pt x="203225" y="369645"/>
                      <a:pt x="202825" y="374046"/>
                    </a:cubicBezTo>
                    <a:cubicBezTo>
                      <a:pt x="202425" y="381647"/>
                      <a:pt x="202025" y="389648"/>
                      <a:pt x="202025" y="397249"/>
                    </a:cubicBezTo>
                    <a:cubicBezTo>
                      <a:pt x="202025" y="399649"/>
                      <a:pt x="204026" y="403250"/>
                      <a:pt x="206026" y="404050"/>
                    </a:cubicBezTo>
                    <a:cubicBezTo>
                      <a:pt x="213227" y="407650"/>
                      <a:pt x="221228" y="410451"/>
                      <a:pt x="228829" y="413251"/>
                    </a:cubicBezTo>
                    <a:cubicBezTo>
                      <a:pt x="231229" y="414051"/>
                      <a:pt x="234829" y="413251"/>
                      <a:pt x="236430" y="411651"/>
                    </a:cubicBezTo>
                    <a:cubicBezTo>
                      <a:pt x="242430" y="406050"/>
                      <a:pt x="247631" y="399249"/>
                      <a:pt x="253232" y="393648"/>
                    </a:cubicBezTo>
                    <a:cubicBezTo>
                      <a:pt x="255232" y="391648"/>
                      <a:pt x="258432" y="390048"/>
                      <a:pt x="261233" y="390048"/>
                    </a:cubicBezTo>
                    <a:cubicBezTo>
                      <a:pt x="268434" y="389648"/>
                      <a:pt x="275634" y="389648"/>
                      <a:pt x="282835" y="390048"/>
                    </a:cubicBezTo>
                    <a:cubicBezTo>
                      <a:pt x="286436" y="390448"/>
                      <a:pt x="290036" y="391648"/>
                      <a:pt x="292437" y="393648"/>
                    </a:cubicBezTo>
                    <a:cubicBezTo>
                      <a:pt x="297637" y="398449"/>
                      <a:pt x="302438" y="403650"/>
                      <a:pt x="306838" y="409250"/>
                    </a:cubicBezTo>
                    <a:cubicBezTo>
                      <a:pt x="310839" y="414051"/>
                      <a:pt x="314439" y="414451"/>
                      <a:pt x="319640" y="411651"/>
                    </a:cubicBezTo>
                    <a:cubicBezTo>
                      <a:pt x="327241" y="407650"/>
                      <a:pt x="338442" y="406050"/>
                      <a:pt x="342043" y="400049"/>
                    </a:cubicBezTo>
                    <a:cubicBezTo>
                      <a:pt x="345643" y="393648"/>
                      <a:pt x="342443" y="383247"/>
                      <a:pt x="341643" y="374446"/>
                    </a:cubicBezTo>
                    <a:cubicBezTo>
                      <a:pt x="341243" y="369245"/>
                      <a:pt x="342843" y="365645"/>
                      <a:pt x="346843" y="362044"/>
                    </a:cubicBezTo>
                    <a:cubicBezTo>
                      <a:pt x="352044" y="357644"/>
                      <a:pt x="356045" y="352443"/>
                      <a:pt x="360845" y="348043"/>
                    </a:cubicBezTo>
                    <a:cubicBezTo>
                      <a:pt x="363245" y="345642"/>
                      <a:pt x="366846" y="344042"/>
                      <a:pt x="370046" y="344042"/>
                    </a:cubicBezTo>
                    <a:cubicBezTo>
                      <a:pt x="377647" y="343642"/>
                      <a:pt x="385648" y="344442"/>
                      <a:pt x="393249" y="344842"/>
                    </a:cubicBezTo>
                    <a:cubicBezTo>
                      <a:pt x="396850" y="345242"/>
                      <a:pt x="399250" y="344042"/>
                      <a:pt x="400450" y="340442"/>
                    </a:cubicBezTo>
                    <a:cubicBezTo>
                      <a:pt x="403250" y="332841"/>
                      <a:pt x="406451" y="325240"/>
                      <a:pt x="409651" y="318039"/>
                    </a:cubicBezTo>
                    <a:cubicBezTo>
                      <a:pt x="411251" y="314438"/>
                      <a:pt x="410851" y="312038"/>
                      <a:pt x="406851" y="310838"/>
                    </a:cubicBezTo>
                    <a:cubicBezTo>
                      <a:pt x="400850" y="305637"/>
                      <a:pt x="394849" y="300437"/>
                      <a:pt x="389249" y="294836"/>
                    </a:cubicBezTo>
                    <a:cubicBezTo>
                      <a:pt x="387248" y="292836"/>
                      <a:pt x="386048" y="288835"/>
                      <a:pt x="385648" y="285635"/>
                    </a:cubicBezTo>
                    <a:cubicBezTo>
                      <a:pt x="385248" y="278834"/>
                      <a:pt x="385248" y="272033"/>
                      <a:pt x="385648" y="265232"/>
                    </a:cubicBezTo>
                    <a:cubicBezTo>
                      <a:pt x="385648" y="262032"/>
                      <a:pt x="386848" y="258031"/>
                      <a:pt x="388849" y="255631"/>
                    </a:cubicBezTo>
                    <a:cubicBezTo>
                      <a:pt x="394049" y="249630"/>
                      <a:pt x="400450" y="244430"/>
                      <a:pt x="406451" y="239229"/>
                    </a:cubicBezTo>
                    <a:cubicBezTo>
                      <a:pt x="409251" y="236429"/>
                      <a:pt x="410051" y="234428"/>
                      <a:pt x="408451" y="230828"/>
                    </a:cubicBezTo>
                    <a:cubicBezTo>
                      <a:pt x="404851" y="223627"/>
                      <a:pt x="401650" y="216426"/>
                      <a:pt x="398850" y="208825"/>
                    </a:cubicBezTo>
                    <a:cubicBezTo>
                      <a:pt x="397250" y="205225"/>
                      <a:pt x="395649" y="204025"/>
                      <a:pt x="392049" y="204425"/>
                    </a:cubicBezTo>
                    <a:cubicBezTo>
                      <a:pt x="383648" y="204825"/>
                      <a:pt x="375647" y="205625"/>
                      <a:pt x="367246" y="205625"/>
                    </a:cubicBezTo>
                    <a:cubicBezTo>
                      <a:pt x="364446" y="205625"/>
                      <a:pt x="361245" y="204025"/>
                      <a:pt x="359245" y="202024"/>
                    </a:cubicBezTo>
                    <a:cubicBezTo>
                      <a:pt x="353644" y="196824"/>
                      <a:pt x="348444" y="191623"/>
                      <a:pt x="343243" y="186022"/>
                    </a:cubicBezTo>
                    <a:cubicBezTo>
                      <a:pt x="341243" y="184022"/>
                      <a:pt x="339642" y="180822"/>
                      <a:pt x="339642" y="178021"/>
                    </a:cubicBezTo>
                    <a:cubicBezTo>
                      <a:pt x="339642" y="170421"/>
                      <a:pt x="340043" y="162420"/>
                      <a:pt x="340843" y="154819"/>
                    </a:cubicBezTo>
                    <a:cubicBezTo>
                      <a:pt x="341243" y="150818"/>
                      <a:pt x="340043" y="148418"/>
                      <a:pt x="335642" y="146818"/>
                    </a:cubicBezTo>
                    <a:cubicBezTo>
                      <a:pt x="328841" y="144417"/>
                      <a:pt x="322040" y="141617"/>
                      <a:pt x="315239" y="138417"/>
                    </a:cubicBezTo>
                    <a:close/>
                    <a:moveTo>
                      <a:pt x="0" y="94411"/>
                    </a:moveTo>
                    <a:lnTo>
                      <a:pt x="556470" y="94411"/>
                    </a:lnTo>
                    <a:cubicBezTo>
                      <a:pt x="556470" y="94411"/>
                      <a:pt x="556470" y="94411"/>
                      <a:pt x="556470" y="429653"/>
                    </a:cubicBezTo>
                    <a:cubicBezTo>
                      <a:pt x="556470" y="438854"/>
                      <a:pt x="548869" y="446855"/>
                      <a:pt x="539267" y="446855"/>
                    </a:cubicBezTo>
                    <a:cubicBezTo>
                      <a:pt x="539267" y="446855"/>
                      <a:pt x="539267" y="446855"/>
                      <a:pt x="15602" y="446855"/>
                    </a:cubicBezTo>
                    <a:cubicBezTo>
                      <a:pt x="6401" y="446855"/>
                      <a:pt x="0" y="439254"/>
                      <a:pt x="0" y="429653"/>
                    </a:cubicBezTo>
                    <a:cubicBezTo>
                      <a:pt x="0" y="429653"/>
                      <a:pt x="0" y="429653"/>
                      <a:pt x="0" y="94411"/>
                    </a:cubicBezTo>
                    <a:close/>
                    <a:moveTo>
                      <a:pt x="137217" y="19202"/>
                    </a:moveTo>
                    <a:cubicBezTo>
                      <a:pt x="129616" y="19202"/>
                      <a:pt x="121615" y="25603"/>
                      <a:pt x="121615" y="35204"/>
                    </a:cubicBezTo>
                    <a:cubicBezTo>
                      <a:pt x="121615" y="43205"/>
                      <a:pt x="129216" y="51206"/>
                      <a:pt x="137217" y="51206"/>
                    </a:cubicBezTo>
                    <a:cubicBezTo>
                      <a:pt x="146418" y="51206"/>
                      <a:pt x="152819" y="43205"/>
                      <a:pt x="152819" y="35204"/>
                    </a:cubicBezTo>
                    <a:cubicBezTo>
                      <a:pt x="152819" y="25603"/>
                      <a:pt x="146818" y="19202"/>
                      <a:pt x="137217" y="19202"/>
                    </a:cubicBezTo>
                    <a:close/>
                    <a:moveTo>
                      <a:pt x="86411" y="19202"/>
                    </a:moveTo>
                    <a:cubicBezTo>
                      <a:pt x="77210" y="19202"/>
                      <a:pt x="70809" y="25603"/>
                      <a:pt x="70809" y="35204"/>
                    </a:cubicBezTo>
                    <a:cubicBezTo>
                      <a:pt x="70809" y="43205"/>
                      <a:pt x="76810" y="51206"/>
                      <a:pt x="86411" y="51206"/>
                    </a:cubicBezTo>
                    <a:cubicBezTo>
                      <a:pt x="94412" y="51206"/>
                      <a:pt x="102413" y="43205"/>
                      <a:pt x="102013" y="35204"/>
                    </a:cubicBezTo>
                    <a:cubicBezTo>
                      <a:pt x="102013" y="25603"/>
                      <a:pt x="94412" y="19202"/>
                      <a:pt x="86411" y="19202"/>
                    </a:cubicBezTo>
                    <a:close/>
                    <a:moveTo>
                      <a:pt x="34404" y="19202"/>
                    </a:moveTo>
                    <a:cubicBezTo>
                      <a:pt x="26803" y="19202"/>
                      <a:pt x="18802" y="25603"/>
                      <a:pt x="18802" y="35204"/>
                    </a:cubicBezTo>
                    <a:cubicBezTo>
                      <a:pt x="18802" y="43205"/>
                      <a:pt x="26403" y="51206"/>
                      <a:pt x="34404" y="51206"/>
                    </a:cubicBezTo>
                    <a:cubicBezTo>
                      <a:pt x="44006" y="51206"/>
                      <a:pt x="52007" y="43205"/>
                      <a:pt x="51606" y="35204"/>
                    </a:cubicBezTo>
                    <a:cubicBezTo>
                      <a:pt x="51606" y="25603"/>
                      <a:pt x="44006" y="19202"/>
                      <a:pt x="34404" y="19202"/>
                    </a:cubicBezTo>
                    <a:close/>
                    <a:moveTo>
                      <a:pt x="0" y="0"/>
                    </a:moveTo>
                    <a:lnTo>
                      <a:pt x="556470" y="0"/>
                    </a:lnTo>
                    <a:cubicBezTo>
                      <a:pt x="556470" y="0"/>
                      <a:pt x="556470" y="0"/>
                      <a:pt x="556870" y="71609"/>
                    </a:cubicBezTo>
                    <a:cubicBezTo>
                      <a:pt x="556870" y="71609"/>
                      <a:pt x="556870" y="71609"/>
                      <a:pt x="0" y="71609"/>
                    </a:cubicBezTo>
                    <a:cubicBezTo>
                      <a:pt x="0" y="71609"/>
                      <a:pt x="0" y="71609"/>
                      <a:pt x="0" y="0"/>
                    </a:cubicBezTo>
                    <a:close/>
                  </a:path>
                </a:pathLst>
              </a:cu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1"/>
        <p:cNvGrpSpPr/>
        <p:nvPr/>
      </p:nvGrpSpPr>
      <p:grpSpPr>
        <a:xfrm>
          <a:off x="0" y="0"/>
          <a:ext cx="0" cy="0"/>
          <a:chOff x="0" y="0"/>
          <a:chExt cx="0" cy="0"/>
        </a:xfrm>
      </p:grpSpPr>
      <p:sp>
        <p:nvSpPr>
          <p:cNvPr id="1223" name="Google Shape;1223;p12"/>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IaaS Conceptual Design</a:t>
            </a:r>
            <a:endParaRPr lang="en-US" dirty="0"/>
          </a:p>
        </p:txBody>
      </p:sp>
      <p:sp>
        <p:nvSpPr>
          <p:cNvPr id="1222" name="Google Shape;1222;p12"/>
          <p:cNvSpPr txBox="1">
            <a:spLocks noGrp="1"/>
          </p:cNvSpPr>
          <p:nvPr>
            <p:ph type="subTitle" idx="10"/>
          </p:nvPr>
        </p:nvSpPr>
        <p:spPr>
          <a:xfrm>
            <a:off x="592866" y="811830"/>
            <a:ext cx="10987947" cy="247743"/>
          </a:xfrm>
          <a:noFill/>
          <a:ln>
            <a:noFill/>
          </a:ln>
        </p:spPr>
        <p:txBody>
          <a:bodyPr spcFirstLastPara="1" wrap="square" lIns="0" tIns="0" rIns="0" bIns="0" anchor="t" anchorCtr="0">
            <a:noAutofit/>
          </a:bodyPr>
          <a:lstStyle/>
          <a:p>
            <a:r>
              <a:rPr lang="en-US"/>
              <a:t>Example Goal: get a compliant VM in less than 30min</a:t>
            </a:r>
          </a:p>
          <a:p>
            <a:pPr lvl="0"/>
            <a:endParaRPr lang="en-US" dirty="0"/>
          </a:p>
        </p:txBody>
      </p:sp>
      <p:sp>
        <p:nvSpPr>
          <p:cNvPr id="1224" name="Google Shape;1224;p12"/>
          <p:cNvSpPr txBox="1">
            <a:spLocks noGrp="1"/>
          </p:cNvSpPr>
          <p:nvPr>
            <p:ph sz="quarter" idx="14"/>
          </p:nvPr>
        </p:nvSpPr>
        <p:spPr>
          <a:xfrm>
            <a:off x="615950" y="1357960"/>
            <a:ext cx="10972800" cy="5186035"/>
          </a:xfrm>
          <a:noFill/>
          <a:ln>
            <a:noFill/>
          </a:ln>
        </p:spPr>
        <p:txBody>
          <a:bodyPr spcFirstLastPara="1" wrap="square" lIns="0" tIns="0" rIns="0" bIns="0" anchor="t" anchorCtr="0">
            <a:spAutoFit/>
          </a:bodyPr>
          <a:lstStyle/>
          <a:p>
            <a:pPr lvl="0">
              <a:spcBef>
                <a:spcPts val="600"/>
              </a:spcBef>
              <a:buNone/>
            </a:pPr>
            <a:r>
              <a:rPr lang="en-US" sz="1600" b="1" dirty="0">
                <a:sym typeface="Arial"/>
              </a:rPr>
              <a:t>Thought Drivers:</a:t>
            </a:r>
            <a:endParaRPr lang="en-US" sz="1600" b="1" dirty="0"/>
          </a:p>
          <a:p>
            <a:pPr marL="457200" lvl="0" indent="-457200">
              <a:spcBef>
                <a:spcPts val="600"/>
              </a:spcBef>
              <a:buClr>
                <a:srgbClr val="53565A"/>
              </a:buClr>
              <a:buFont typeface="+mj-lt"/>
              <a:buAutoNum type="arabicPeriod"/>
            </a:pPr>
            <a:r>
              <a:rPr lang="en-US" sz="1200" dirty="0">
                <a:sym typeface="Arial"/>
              </a:rPr>
              <a:t>Encourage designs to only include integrations that are critical to the service offering.</a:t>
            </a:r>
            <a:endParaRPr lang="en-US" sz="1200" dirty="0"/>
          </a:p>
          <a:p>
            <a:pPr marL="457200" lvl="0" indent="-457200">
              <a:spcBef>
                <a:spcPts val="600"/>
              </a:spcBef>
              <a:buClr>
                <a:srgbClr val="53565A"/>
              </a:buClr>
              <a:buFont typeface="+mj-lt"/>
              <a:buAutoNum type="arabicPeriod"/>
            </a:pPr>
            <a:r>
              <a:rPr lang="en-US" sz="1200" dirty="0">
                <a:sym typeface="Arial"/>
              </a:rPr>
              <a:t>Encourage </a:t>
            </a:r>
            <a:r>
              <a:rPr lang="en-US" sz="1200" b="1" dirty="0">
                <a:solidFill>
                  <a:schemeClr val="accent1"/>
                </a:solidFill>
                <a:sym typeface="Arial"/>
              </a:rPr>
              <a:t>lean as possible </a:t>
            </a:r>
            <a:r>
              <a:rPr lang="en-US" sz="1200" dirty="0">
                <a:sym typeface="Arial"/>
              </a:rPr>
              <a:t>principal for every process to reduce excess wait times of each integration.</a:t>
            </a:r>
            <a:endParaRPr lang="en-US" sz="1200" dirty="0"/>
          </a:p>
          <a:p>
            <a:pPr marL="457200" lvl="0" indent="-457200">
              <a:spcBef>
                <a:spcPts val="600"/>
              </a:spcBef>
              <a:buClr>
                <a:srgbClr val="53565A"/>
              </a:buClr>
              <a:buFont typeface="+mj-lt"/>
              <a:buAutoNum type="arabicPeriod"/>
            </a:pPr>
            <a:r>
              <a:rPr lang="en-US" sz="1200" dirty="0">
                <a:sym typeface="Arial"/>
              </a:rPr>
              <a:t>Shift Left improving consistency, reducing integration risks, and improving reliability (Reference: </a:t>
            </a:r>
            <a:r>
              <a:rPr lang="en-US" sz="1200" dirty="0">
                <a:sym typeface="Arial"/>
                <a:hlinkClick r:id="rId3">
                  <a:extLst>
                    <a:ext uri="{A12FA001-AC4F-418D-AE19-62706E023703}">
                      <ahyp:hlinkClr xmlns:ahyp="http://schemas.microsoft.com/office/drawing/2018/hyperlinkcolor" val="tx"/>
                    </a:ext>
                  </a:extLst>
                </a:hlinkClick>
              </a:rPr>
              <a:t>the Shift Left theory as explained by Dynatrace</a:t>
            </a:r>
            <a:r>
              <a:rPr lang="en-US" sz="1200" dirty="0">
                <a:sym typeface="Arial"/>
              </a:rPr>
              <a:t>).</a:t>
            </a:r>
            <a:br>
              <a:rPr lang="en-US" sz="1200" dirty="0">
                <a:sym typeface="Arial"/>
              </a:rPr>
            </a:br>
            <a:endParaRPr lang="en-US" dirty="0">
              <a:sym typeface="Arial"/>
            </a:endParaRPr>
          </a:p>
          <a:p>
            <a:pPr lvl="0">
              <a:spcBef>
                <a:spcPts val="600"/>
              </a:spcBef>
            </a:pPr>
            <a:r>
              <a:rPr lang="en-US" sz="1600" b="1" dirty="0">
                <a:sym typeface="Arial"/>
              </a:rPr>
              <a:t>Supporting Goals and Decision Log Summary:</a:t>
            </a:r>
            <a:endParaRPr lang="en-US" sz="1600" b="1" dirty="0"/>
          </a:p>
          <a:p>
            <a:pPr marL="342900" lvl="0" indent="-342900">
              <a:spcBef>
                <a:spcPts val="600"/>
              </a:spcBef>
              <a:buClr>
                <a:srgbClr val="53565A"/>
              </a:buClr>
              <a:buFont typeface="Arial" panose="020B0604020202020204" pitchFamily="34" charset="0"/>
              <a:buChar char="•"/>
            </a:pPr>
            <a:r>
              <a:rPr lang="en-US" sz="1200" dirty="0">
                <a:sym typeface="Arial"/>
              </a:rPr>
              <a:t>All build VMs will follow a generated name unique to each build. The VMIAD service team will be the owner of the name generation.</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No remote calls from guest OS. Remove all orchestration from the Guest OS calling to parent orchestration layer.</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No application specific integrations (for example: ISP) for obtaining the status of a VM. Front end will provide status via a pull or a subscription agnostic to the integration that VMIAD service team publishes. Target: migrate all publishing statuses to Kafka.</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Incorporate as much of the “post-configuration” activities into the image using a VM Template.</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No de-registration during the build process. De-register during the decom process only.</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No patching during the build process. Target: maintain a “30 day good” image using an image pipeline.</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Remove application specific build steps from the process. VMIAD process should only include steps to ensure compliance of the Guest OS. </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Ensure Guest OS meets criteria for “Operational Readiness” at the end of a VMIAD build in Non-Prod.</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Use native provider services (for example: VCF Automation Infoblox plugin) for critical endpoint integrations.</a:t>
            </a:r>
            <a:endParaRPr lang="en-US" sz="1200" dirty="0"/>
          </a:p>
          <a:p>
            <a:pPr marL="342900" lvl="0" indent="-342900">
              <a:spcBef>
                <a:spcPts val="600"/>
              </a:spcBef>
              <a:buClr>
                <a:srgbClr val="53565A"/>
              </a:buClr>
              <a:buFont typeface="Arial" panose="020B0604020202020204" pitchFamily="34" charset="0"/>
              <a:buChar char="•"/>
            </a:pPr>
            <a:r>
              <a:rPr lang="en-US" sz="1200" dirty="0">
                <a:sym typeface="Arial"/>
              </a:rPr>
              <a:t>Testing must be automated, and all tests must be coded. At the conclusion of the build, validation checks must ensure the Guest OS meets compliance standards, and validation checks must ensure that the customer is able to access the Guest OS.</a:t>
            </a:r>
            <a:endParaRPr lang="en-US" sz="1200" dirty="0"/>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2" name="Title 1">
            <a:extLst>
              <a:ext uri="{FF2B5EF4-FFF2-40B4-BE49-F238E27FC236}">
                <a16:creationId xmlns:a16="http://schemas.microsoft.com/office/drawing/2014/main" id="{84CC509D-0AAB-E9A4-4561-F53E6F409C8E}"/>
              </a:ext>
            </a:extLst>
          </p:cNvPr>
          <p:cNvSpPr>
            <a:spLocks noGrp="1"/>
          </p:cNvSpPr>
          <p:nvPr>
            <p:ph type="title"/>
          </p:nvPr>
        </p:nvSpPr>
        <p:spPr>
          <a:xfrm>
            <a:off x="588963" y="938213"/>
            <a:ext cx="7337856" cy="1230312"/>
          </a:xfrm>
        </p:spPr>
        <p:txBody>
          <a:bodyPr/>
          <a:lstStyle/>
          <a:p>
            <a:r>
              <a:rPr lang="en-US" dirty="0"/>
              <a:t>VMware Pro Cloud Services for Private Cloud</a:t>
            </a:r>
          </a:p>
        </p:txBody>
      </p:sp>
      <p:sp>
        <p:nvSpPr>
          <p:cNvPr id="1229" name="Google Shape;1229;p121"/>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r>
              <a:rPr lang="en-US" dirty="0"/>
              <a:t>Logical Design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5" name="Google Shape;1235;p14"/>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What is a Logical Design?</a:t>
            </a:r>
          </a:p>
        </p:txBody>
      </p:sp>
      <p:sp>
        <p:nvSpPr>
          <p:cNvPr id="1236" name="Google Shape;1236;p14"/>
          <p:cNvSpPr txBox="1">
            <a:spLocks noGrp="1"/>
          </p:cNvSpPr>
          <p:nvPr>
            <p:ph type="subTitle" idx="10"/>
          </p:nvPr>
        </p:nvSpPr>
        <p:spPr>
          <a:xfrm>
            <a:off x="592866" y="811830"/>
            <a:ext cx="10987947" cy="247743"/>
          </a:xfrm>
          <a:noFill/>
          <a:ln>
            <a:noFill/>
          </a:ln>
        </p:spPr>
        <p:txBody>
          <a:bodyPr spcFirstLastPara="1" wrap="square" lIns="0" tIns="0" rIns="0" bIns="0" anchor="t" anchorCtr="0">
            <a:spAutoFit/>
          </a:bodyPr>
          <a:lstStyle/>
          <a:p>
            <a:pPr lvl="0"/>
            <a:r>
              <a:rPr lang="en-US"/>
              <a:t>Terms and Definitions</a:t>
            </a:r>
          </a:p>
          <a:p>
            <a:pPr lvl="0"/>
            <a:endParaRPr lang="en-US"/>
          </a:p>
        </p:txBody>
      </p:sp>
      <p:sp>
        <p:nvSpPr>
          <p:cNvPr id="5" name="Content Placeholder 4">
            <a:extLst>
              <a:ext uri="{FF2B5EF4-FFF2-40B4-BE49-F238E27FC236}">
                <a16:creationId xmlns:a16="http://schemas.microsoft.com/office/drawing/2014/main" id="{5AAD8D95-C0C1-1DD7-6EE6-9CE6A19240B8}"/>
              </a:ext>
            </a:extLst>
          </p:cNvPr>
          <p:cNvSpPr>
            <a:spLocks noGrp="1"/>
          </p:cNvSpPr>
          <p:nvPr>
            <p:ph sz="quarter" idx="14"/>
          </p:nvPr>
        </p:nvSpPr>
        <p:spPr/>
        <p:txBody>
          <a:bodyPr/>
          <a:lstStyle/>
          <a:p>
            <a:pPr marL="0" lvl="0" indent="0" algn="l" rtl="0">
              <a:lnSpc>
                <a:spcPct val="90000"/>
              </a:lnSpc>
              <a:spcBef>
                <a:spcPts val="1200"/>
              </a:spcBef>
              <a:spcAft>
                <a:spcPts val="0"/>
              </a:spcAft>
              <a:buSzPts val="2000"/>
              <a:buNone/>
            </a:pPr>
            <a:r>
              <a:rPr lang="en-US" sz="2000" dirty="0">
                <a:solidFill>
                  <a:srgbClr val="53565A"/>
                </a:solidFill>
              </a:rPr>
              <a:t>A</a:t>
            </a:r>
            <a:r>
              <a:rPr lang="en-US" sz="2000" dirty="0">
                <a:solidFill>
                  <a:schemeClr val="lt2"/>
                </a:solidFill>
              </a:rPr>
              <a:t> </a:t>
            </a:r>
            <a:r>
              <a:rPr lang="en-US" sz="2000" b="1" dirty="0">
                <a:solidFill>
                  <a:schemeClr val="accent3">
                    <a:lumMod val="75000"/>
                  </a:schemeClr>
                </a:solidFill>
              </a:rPr>
              <a:t>Logical Design </a:t>
            </a:r>
            <a:r>
              <a:rPr lang="en-US" sz="2000" dirty="0">
                <a:solidFill>
                  <a:srgbClr val="53565A"/>
                </a:solidFill>
              </a:rPr>
              <a:t>is an element of the High-Level Design that provides a point in time snapshot to a specific element of a </a:t>
            </a:r>
            <a:r>
              <a:rPr lang="en-US" sz="2000" b="1" dirty="0">
                <a:solidFill>
                  <a:schemeClr val="accent1"/>
                </a:solidFill>
              </a:rPr>
              <a:t>conceptual design</a:t>
            </a:r>
            <a:r>
              <a:rPr lang="en-US" sz="2000" dirty="0">
                <a:solidFill>
                  <a:schemeClr val="lt2"/>
                </a:solidFill>
              </a:rPr>
              <a:t>. </a:t>
            </a:r>
            <a:r>
              <a:rPr lang="en-US" sz="2000" dirty="0">
                <a:solidFill>
                  <a:srgbClr val="53565A"/>
                </a:solidFill>
              </a:rPr>
              <a:t>For example, if the </a:t>
            </a:r>
            <a:r>
              <a:rPr lang="en-US" sz="2000" b="1" dirty="0">
                <a:solidFill>
                  <a:schemeClr val="accent1"/>
                </a:solidFill>
              </a:rPr>
              <a:t>conceptual design</a:t>
            </a:r>
            <a:r>
              <a:rPr lang="en-US" sz="2000" dirty="0">
                <a:solidFill>
                  <a:schemeClr val="dk2"/>
                </a:solidFill>
              </a:rPr>
              <a:t> </a:t>
            </a:r>
            <a:r>
              <a:rPr lang="en-US" sz="2000" dirty="0">
                <a:solidFill>
                  <a:srgbClr val="53565A"/>
                </a:solidFill>
              </a:rPr>
              <a:t>outlines the goals and structure for a </a:t>
            </a:r>
            <a:r>
              <a:rPr lang="en-US" sz="2000" b="1" dirty="0">
                <a:solidFill>
                  <a:schemeClr val="accent1"/>
                </a:solidFill>
              </a:rPr>
              <a:t>network</a:t>
            </a:r>
            <a:r>
              <a:rPr lang="en-US" sz="2000" dirty="0">
                <a:solidFill>
                  <a:srgbClr val="53565A"/>
                </a:solidFill>
              </a:rPr>
              <a:t>, the logical design may provide </a:t>
            </a:r>
            <a:r>
              <a:rPr lang="en-US" sz="2000" b="1" dirty="0">
                <a:solidFill>
                  <a:schemeClr val="accent1"/>
                </a:solidFill>
              </a:rPr>
              <a:t>vendor details</a:t>
            </a:r>
            <a:r>
              <a:rPr lang="en-US" sz="2000" dirty="0">
                <a:solidFill>
                  <a:srgbClr val="53565A"/>
                </a:solidFill>
              </a:rPr>
              <a:t>,</a:t>
            </a:r>
            <a:r>
              <a:rPr lang="en-US" sz="2000" dirty="0">
                <a:solidFill>
                  <a:schemeClr val="lt2"/>
                </a:solidFill>
              </a:rPr>
              <a:t> </a:t>
            </a:r>
            <a:r>
              <a:rPr lang="en-US" sz="2000" b="1" dirty="0">
                <a:solidFill>
                  <a:schemeClr val="accent1"/>
                </a:solidFill>
              </a:rPr>
              <a:t>integration points</a:t>
            </a:r>
            <a:r>
              <a:rPr lang="en-US" sz="2000" dirty="0">
                <a:solidFill>
                  <a:srgbClr val="53565A"/>
                </a:solidFill>
              </a:rPr>
              <a:t>,</a:t>
            </a:r>
            <a:r>
              <a:rPr lang="en-US" sz="2000" dirty="0">
                <a:solidFill>
                  <a:schemeClr val="lt2"/>
                </a:solidFill>
              </a:rPr>
              <a:t> </a:t>
            </a:r>
            <a:r>
              <a:rPr lang="en-US" sz="2000" b="1" dirty="0">
                <a:solidFill>
                  <a:schemeClr val="accent1"/>
                </a:solidFill>
              </a:rPr>
              <a:t>network flow</a:t>
            </a:r>
            <a:r>
              <a:rPr lang="en-US" sz="2000" dirty="0">
                <a:solidFill>
                  <a:srgbClr val="53565A"/>
                </a:solidFill>
              </a:rPr>
              <a:t>, and similar configurations that are associated with the </a:t>
            </a:r>
            <a:r>
              <a:rPr lang="en-US" sz="2000" b="1" dirty="0">
                <a:solidFill>
                  <a:schemeClr val="accent1"/>
                </a:solidFill>
              </a:rPr>
              <a:t>network design</a:t>
            </a:r>
            <a:r>
              <a:rPr lang="en-US" sz="2000" dirty="0">
                <a:solidFill>
                  <a:srgbClr val="53565A"/>
                </a:solidFill>
              </a:rPr>
              <a:t>.</a:t>
            </a:r>
          </a:p>
          <a:p>
            <a:pPr marL="228531" lvl="0" indent="-101531" algn="l" rtl="0">
              <a:lnSpc>
                <a:spcPct val="90000"/>
              </a:lnSpc>
              <a:spcBef>
                <a:spcPts val="1200"/>
              </a:spcBef>
              <a:spcAft>
                <a:spcPts val="0"/>
              </a:spcAft>
              <a:buSzPts val="2000"/>
              <a:buNone/>
            </a:pPr>
            <a:endParaRPr lang="en-US" sz="2000" dirty="0">
              <a:solidFill>
                <a:schemeClr val="lt2"/>
              </a:solidFill>
            </a:endParaRPr>
          </a:p>
          <a:p>
            <a:pPr marL="0" lvl="0" indent="0" algn="l" rtl="0">
              <a:lnSpc>
                <a:spcPct val="90000"/>
              </a:lnSpc>
              <a:spcBef>
                <a:spcPts val="1200"/>
              </a:spcBef>
              <a:spcAft>
                <a:spcPts val="0"/>
              </a:spcAft>
              <a:buSzPts val="2000"/>
              <a:buNone/>
            </a:pPr>
            <a:r>
              <a:rPr lang="en-US" sz="2000" dirty="0">
                <a:solidFill>
                  <a:srgbClr val="53565A"/>
                </a:solidFill>
              </a:rPr>
              <a:t>The </a:t>
            </a:r>
            <a:r>
              <a:rPr lang="en-US" sz="2000" b="1" dirty="0">
                <a:solidFill>
                  <a:schemeClr val="accent1"/>
                </a:solidFill>
              </a:rPr>
              <a:t>logical design </a:t>
            </a:r>
            <a:r>
              <a:rPr lang="en-US" sz="2000" dirty="0">
                <a:solidFill>
                  <a:srgbClr val="53565A"/>
                </a:solidFill>
              </a:rPr>
              <a:t>is the lowest level of detail in the High-Level Design. The logical design should provide enough information to start a draft of a Low-Level Design. A Low-Level Design typically provides the </a:t>
            </a:r>
            <a:r>
              <a:rPr lang="en-US" sz="2000" b="1" dirty="0">
                <a:solidFill>
                  <a:schemeClr val="accent1"/>
                </a:solidFill>
              </a:rPr>
              <a:t>configuration level detail </a:t>
            </a:r>
            <a:r>
              <a:rPr lang="en-US" sz="2000" dirty="0">
                <a:solidFill>
                  <a:srgbClr val="53565A"/>
                </a:solidFill>
              </a:rPr>
              <a:t>of a design. It is typically developed in conjunction with the</a:t>
            </a:r>
            <a:r>
              <a:rPr lang="en-US" sz="2000" dirty="0">
                <a:solidFill>
                  <a:schemeClr val="lt2"/>
                </a:solidFill>
              </a:rPr>
              <a:t> </a:t>
            </a:r>
            <a:r>
              <a:rPr lang="en-US" sz="2000" b="1" dirty="0">
                <a:solidFill>
                  <a:schemeClr val="accent1"/>
                </a:solidFill>
              </a:rPr>
              <a:t>build</a:t>
            </a:r>
            <a:r>
              <a:rPr lang="en-US" sz="2000" dirty="0">
                <a:solidFill>
                  <a:schemeClr val="lt2"/>
                </a:solidFill>
              </a:rPr>
              <a:t> </a:t>
            </a:r>
            <a:r>
              <a:rPr lang="en-US" sz="2000" dirty="0">
                <a:solidFill>
                  <a:srgbClr val="53565A"/>
                </a:solidFill>
              </a:rPr>
              <a:t>of the system itself. Therefore, the logical design in the High-Level Design must contain enough information to start the</a:t>
            </a:r>
            <a:r>
              <a:rPr lang="en-US" sz="2000" dirty="0">
                <a:solidFill>
                  <a:schemeClr val="lt2"/>
                </a:solidFill>
              </a:rPr>
              <a:t> </a:t>
            </a:r>
            <a:r>
              <a:rPr lang="en-US" sz="2000" b="1" dirty="0">
                <a:solidFill>
                  <a:schemeClr val="accent1"/>
                </a:solidFill>
              </a:rPr>
              <a:t>build</a:t>
            </a:r>
            <a:r>
              <a:rPr lang="en-US" sz="2000" dirty="0">
                <a:solidFill>
                  <a:srgbClr val="53565A"/>
                </a:solidFill>
              </a:rPr>
              <a:t>.</a:t>
            </a:r>
            <a:endParaRPr lang="en-US" dirty="0">
              <a:solidFill>
                <a:srgbClr val="53565A"/>
              </a:solidFill>
            </a:endParaRP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sp>
        <p:nvSpPr>
          <p:cNvPr id="1242" name="Google Shape;1242;p15"/>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Logical Role Design</a:t>
            </a:r>
          </a:p>
        </p:txBody>
      </p:sp>
      <p:sp>
        <p:nvSpPr>
          <p:cNvPr id="1243" name="Google Shape;1243;p15"/>
          <p:cNvSpPr txBox="1">
            <a:spLocks noGrp="1"/>
          </p:cNvSpPr>
          <p:nvPr>
            <p:ph type="subTitle" idx="10"/>
          </p:nvPr>
        </p:nvSpPr>
        <p:spPr>
          <a:xfrm>
            <a:off x="592866" y="811830"/>
            <a:ext cx="10962687" cy="247743"/>
          </a:xfrm>
          <a:noFill/>
          <a:ln>
            <a:noFill/>
          </a:ln>
        </p:spPr>
        <p:txBody>
          <a:bodyPr spcFirstLastPara="1" wrap="square" lIns="0" tIns="0" rIns="0" bIns="0" anchor="t" anchorCtr="0">
            <a:spAutoFit/>
          </a:bodyPr>
          <a:lstStyle/>
          <a:p>
            <a:pPr lvl="0"/>
            <a:r>
              <a:rPr lang="en-US"/>
              <a:t>Delivering IaaS with VMware Cloud Foundation</a:t>
            </a:r>
          </a:p>
          <a:p>
            <a:pPr lvl="0"/>
            <a:endParaRPr lang="en-US"/>
          </a:p>
        </p:txBody>
      </p:sp>
      <p:pic>
        <p:nvPicPr>
          <p:cNvPr id="1244" name="Google Shape;1244;p15"/>
          <p:cNvPicPr preferRelativeResize="0"/>
          <p:nvPr/>
        </p:nvPicPr>
        <p:blipFill>
          <a:blip r:embed="rId3"/>
          <a:srcRect/>
          <a:stretch/>
        </p:blipFill>
        <p:spPr>
          <a:xfrm>
            <a:off x="2927568" y="1166453"/>
            <a:ext cx="6333687" cy="515816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9"/>
        <p:cNvGrpSpPr/>
        <p:nvPr/>
      </p:nvGrpSpPr>
      <p:grpSpPr>
        <a:xfrm>
          <a:off x="0" y="0"/>
          <a:ext cx="0" cy="0"/>
          <a:chOff x="0" y="0"/>
          <a:chExt cx="0" cy="0"/>
        </a:xfrm>
      </p:grpSpPr>
      <p:pic>
        <p:nvPicPr>
          <p:cNvPr id="1250" name="Google Shape;1250;p122"/>
          <p:cNvPicPr preferRelativeResize="0"/>
          <p:nvPr/>
        </p:nvPicPr>
        <p:blipFill>
          <a:blip r:embed="rId3"/>
          <a:srcRect/>
          <a:stretch/>
        </p:blipFill>
        <p:spPr>
          <a:xfrm>
            <a:off x="854999" y="1234759"/>
            <a:ext cx="6065104" cy="4982049"/>
          </a:xfrm>
          <a:prstGeom prst="rect">
            <a:avLst/>
          </a:prstGeom>
          <a:noFill/>
          <a:ln>
            <a:noFill/>
          </a:ln>
        </p:spPr>
      </p:pic>
      <p:sp>
        <p:nvSpPr>
          <p:cNvPr id="1251" name="Google Shape;1251;p122"/>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Logical Role Design</a:t>
            </a:r>
          </a:p>
        </p:txBody>
      </p:sp>
      <p:sp>
        <p:nvSpPr>
          <p:cNvPr id="1252" name="Google Shape;1252;p122"/>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Delivering IaaS with VMware Cloud Foundation</a:t>
            </a:r>
          </a:p>
        </p:txBody>
      </p:sp>
      <p:sp>
        <p:nvSpPr>
          <p:cNvPr id="1253" name="Google Shape;1253;p122"/>
          <p:cNvSpPr txBox="1"/>
          <p:nvPr/>
        </p:nvSpPr>
        <p:spPr>
          <a:xfrm>
            <a:off x="7733745" y="1479542"/>
            <a:ext cx="4042330" cy="4561249"/>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1200"/>
              <a:buFont typeface="Arial"/>
              <a:buNone/>
            </a:pPr>
            <a:r>
              <a:rPr lang="en-US" sz="1200" b="1" i="0" u="none" strike="noStrike" cap="none" dirty="0">
                <a:solidFill>
                  <a:srgbClr val="E68C28"/>
                </a:solidFill>
                <a:latin typeface="Arial"/>
                <a:ea typeface="Arial"/>
                <a:cs typeface="Arial"/>
                <a:sym typeface="Arial"/>
              </a:rPr>
              <a:t>IaaS Administrator</a:t>
            </a:r>
            <a:endParaRPr sz="1200" b="1" i="0" u="none" strike="noStrike" cap="none" dirty="0">
              <a:solidFill>
                <a:srgbClr val="E68C28"/>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Deploys</a:t>
            </a:r>
            <a:r>
              <a:rPr lang="en-US" sz="1200" b="0" i="0" u="none" strike="noStrike" cap="none" dirty="0">
                <a:solidFill>
                  <a:schemeClr val="lt2"/>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ESX Hosts </a:t>
            </a:r>
            <a:r>
              <a:rPr lang="en-US" sz="1200" b="0" i="0" u="none" strike="noStrike" cap="none" dirty="0">
                <a:solidFill>
                  <a:srgbClr val="53565A"/>
                </a:solidFill>
                <a:latin typeface="Arial"/>
                <a:ea typeface="Arial"/>
                <a:cs typeface="Arial"/>
                <a:sym typeface="Arial"/>
              </a:rPr>
              <a:t>for Management Domain with already provisioned hardware.</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VCF Installer is used to deploy the Management Domain specific components including</a:t>
            </a:r>
            <a:r>
              <a:rPr lang="en-US" sz="1200" b="1" i="0" u="none" strike="noStrike" cap="none" dirty="0">
                <a:solidFill>
                  <a:schemeClr val="accent1"/>
                </a:solidFill>
                <a:latin typeface="Arial"/>
                <a:ea typeface="Arial"/>
                <a:cs typeface="Arial"/>
                <a:sym typeface="Arial"/>
              </a:rPr>
              <a:t>: vCenter Server</a:t>
            </a:r>
            <a:r>
              <a:rPr lang="en-US" sz="1200" b="1" i="0" u="none" strike="noStrike" cap="none" dirty="0">
                <a:solidFill>
                  <a:srgbClr val="53565A"/>
                </a:solidFill>
                <a:latin typeface="Arial"/>
                <a:ea typeface="Arial"/>
                <a:cs typeface="Arial"/>
                <a:sym typeface="Arial"/>
              </a:rPr>
              <a:t>,</a:t>
            </a:r>
            <a:r>
              <a:rPr lang="en-US" sz="1200" b="0" i="0" u="none" strike="noStrike" cap="none" dirty="0">
                <a:solidFill>
                  <a:schemeClr val="lt2"/>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NSX Managers</a:t>
            </a:r>
            <a:r>
              <a:rPr lang="en-US" sz="1200" b="0" i="0" u="none" strike="noStrike" cap="none" dirty="0">
                <a:solidFill>
                  <a:srgbClr val="53565A"/>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SDDC Manager</a:t>
            </a:r>
            <a:r>
              <a:rPr lang="en-US" sz="1200" dirty="0">
                <a:solidFill>
                  <a:srgbClr val="53565A"/>
                </a:solidFill>
              </a:rPr>
              <a:t>, </a:t>
            </a:r>
            <a:r>
              <a:rPr lang="en-US" sz="1200" b="1" i="0" u="none" strike="noStrike" cap="none" dirty="0">
                <a:solidFill>
                  <a:schemeClr val="accent1"/>
                </a:solidFill>
                <a:latin typeface="Arial"/>
                <a:ea typeface="Arial"/>
                <a:cs typeface="Arial"/>
                <a:sym typeface="Arial"/>
              </a:rPr>
              <a:t>VCF Operations</a:t>
            </a:r>
            <a:r>
              <a:rPr lang="en-US" sz="1200" b="0" i="0" u="none" strike="noStrike" cap="none" dirty="0">
                <a:solidFill>
                  <a:srgbClr val="53565A"/>
                </a:solidFill>
                <a:latin typeface="Arial"/>
                <a:ea typeface="Arial"/>
                <a:cs typeface="Arial"/>
                <a:sym typeface="Arial"/>
              </a:rPr>
              <a:t>, and </a:t>
            </a:r>
            <a:r>
              <a:rPr lang="en-US" sz="1200" b="1" i="0" u="none" strike="noStrike" cap="none" dirty="0">
                <a:solidFill>
                  <a:schemeClr val="accent1"/>
                </a:solidFill>
                <a:latin typeface="Arial"/>
                <a:ea typeface="Arial"/>
                <a:cs typeface="Arial"/>
                <a:sym typeface="Arial"/>
              </a:rPr>
              <a:t>VCF Operations Fleet Manager</a:t>
            </a:r>
            <a:r>
              <a:rPr lang="en-US" sz="1200" b="0" i="0" u="none" strike="noStrike" cap="none" dirty="0">
                <a:solidFill>
                  <a:srgbClr val="53565A"/>
                </a:solidFill>
                <a:latin typeface="Arial"/>
                <a:ea typeface="Arial"/>
                <a:cs typeface="Arial"/>
                <a:sym typeface="Arial"/>
              </a:rPr>
              <a:t>.</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Base configuration of </a:t>
            </a:r>
            <a:r>
              <a:rPr lang="en-US" sz="1200" b="1" i="0" u="none" strike="noStrike" cap="none" dirty="0">
                <a:solidFill>
                  <a:schemeClr val="accent1"/>
                </a:solidFill>
                <a:latin typeface="Arial"/>
                <a:ea typeface="Arial"/>
                <a:cs typeface="Arial"/>
                <a:sym typeface="Arial"/>
              </a:rPr>
              <a:t>NSX Edge</a:t>
            </a:r>
            <a:r>
              <a:rPr lang="en-US" sz="1200" b="0" i="0" u="none" strike="noStrike" cap="none" dirty="0">
                <a:solidFill>
                  <a:srgbClr val="53565A"/>
                </a:solidFill>
                <a:latin typeface="Arial"/>
                <a:ea typeface="Arial"/>
                <a:cs typeface="Arial"/>
                <a:sym typeface="Arial"/>
              </a:rPr>
              <a:t>, and </a:t>
            </a:r>
            <a:r>
              <a:rPr lang="en-US" sz="1200" b="1" i="0" u="none" strike="noStrike" cap="none" dirty="0">
                <a:solidFill>
                  <a:schemeClr val="accent1"/>
                </a:solidFill>
                <a:latin typeface="Arial"/>
                <a:ea typeface="Arial"/>
                <a:cs typeface="Arial"/>
                <a:sym typeface="Arial"/>
              </a:rPr>
              <a:t>Virtual Networking</a:t>
            </a:r>
            <a:r>
              <a:rPr lang="en-US" sz="1200" b="0" i="0" u="none" strike="noStrike" cap="none" dirty="0">
                <a:solidFill>
                  <a:srgbClr val="53565A"/>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VCF Automation</a:t>
            </a:r>
            <a:r>
              <a:rPr lang="en-US" sz="1200" b="0" i="0" u="none" strike="noStrike" cap="none" dirty="0">
                <a:solidFill>
                  <a:srgbClr val="53565A"/>
                </a:solidFill>
                <a:latin typeface="Arial"/>
                <a:ea typeface="Arial"/>
                <a:cs typeface="Arial"/>
                <a:sym typeface="Arial"/>
              </a:rPr>
              <a:t>, and</a:t>
            </a:r>
            <a:r>
              <a:rPr lang="en-US" sz="1200" b="0" i="0" u="none" strike="noStrike" cap="none" dirty="0">
                <a:solidFill>
                  <a:schemeClr val="lt2"/>
                </a:solidFill>
                <a:latin typeface="Arial"/>
                <a:ea typeface="Arial"/>
                <a:cs typeface="Arial"/>
                <a:sym typeface="Arial"/>
              </a:rPr>
              <a:t> </a:t>
            </a:r>
            <a:r>
              <a:rPr lang="en-US" sz="1200" b="1" i="0" u="none" strike="noStrike" cap="none" dirty="0">
                <a:solidFill>
                  <a:schemeClr val="accent1"/>
                </a:solidFill>
                <a:latin typeface="Arial"/>
                <a:ea typeface="Arial"/>
                <a:cs typeface="Arial"/>
                <a:sym typeface="Arial"/>
              </a:rPr>
              <a:t>Automation Tooling </a:t>
            </a:r>
            <a:r>
              <a:rPr lang="en-US" sz="1200" b="0" i="0" u="none" strike="noStrike" cap="none" dirty="0">
                <a:solidFill>
                  <a:srgbClr val="53565A"/>
                </a:solidFill>
                <a:latin typeface="Arial"/>
                <a:ea typeface="Arial"/>
                <a:cs typeface="Arial"/>
                <a:sym typeface="Arial"/>
              </a:rPr>
              <a:t>completed for the Management Workload Domain.</a:t>
            </a:r>
            <a:endParaRPr sz="1200" b="0" i="0" u="none" strike="noStrike" cap="none" dirty="0">
              <a:solidFill>
                <a:srgbClr val="53565A"/>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br>
              <a:rPr lang="en-US" sz="1200" b="0" i="0" u="none" strike="noStrike" cap="none" dirty="0">
                <a:solidFill>
                  <a:schemeClr val="accent4"/>
                </a:solidFill>
                <a:latin typeface="Arial"/>
                <a:ea typeface="Arial"/>
                <a:cs typeface="Arial"/>
                <a:sym typeface="Arial"/>
              </a:rPr>
            </a:br>
            <a:endParaRPr sz="1200" b="0" i="0" u="none" strike="noStrike" cap="none" dirty="0">
              <a:solidFill>
                <a:schemeClr val="accent4"/>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r>
              <a:rPr lang="en-US" sz="1200" b="1" i="0" u="none" strike="noStrike" cap="none" dirty="0">
                <a:solidFill>
                  <a:schemeClr val="accent4"/>
                </a:solidFill>
                <a:latin typeface="Arial"/>
                <a:ea typeface="Arial"/>
                <a:cs typeface="Arial"/>
                <a:sym typeface="Arial"/>
              </a:rPr>
              <a:t>IaaS Developer </a:t>
            </a:r>
            <a:endParaRPr sz="1200" b="1" i="0" u="none" strike="noStrike" cap="none" dirty="0">
              <a:solidFill>
                <a:schemeClr val="accent4"/>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Works with the </a:t>
            </a:r>
            <a:r>
              <a:rPr lang="en-US" sz="1200" b="0" i="0" u="none" strike="noStrike" cap="none" dirty="0">
                <a:solidFill>
                  <a:srgbClr val="E68C28"/>
                </a:solidFill>
                <a:latin typeface="Arial"/>
                <a:ea typeface="Arial"/>
                <a:cs typeface="Arial"/>
                <a:sym typeface="Arial"/>
              </a:rPr>
              <a:t>IaaS Administrator</a:t>
            </a:r>
            <a:r>
              <a:rPr lang="en-US" sz="1200" b="0" i="0" u="none" strike="noStrike" cap="none" dirty="0">
                <a:solidFill>
                  <a:srgbClr val="53565A"/>
                </a:solidFill>
                <a:latin typeface="Arial"/>
                <a:ea typeface="Arial"/>
                <a:cs typeface="Arial"/>
                <a:sym typeface="Arial"/>
              </a:rPr>
              <a:t> persona to create the automation for Automation of </a:t>
            </a:r>
            <a:r>
              <a:rPr lang="en-US" sz="1200" b="1" i="0" u="none" strike="noStrike" cap="none" dirty="0">
                <a:solidFill>
                  <a:schemeClr val="accent1"/>
                </a:solidFill>
                <a:latin typeface="Arial"/>
                <a:ea typeface="Arial"/>
                <a:cs typeface="Arial"/>
                <a:sym typeface="Arial"/>
              </a:rPr>
              <a:t>Tenant Pods</a:t>
            </a:r>
            <a:r>
              <a:rPr lang="en-US" sz="1200" b="0" i="0" u="none" strike="noStrike" cap="none" dirty="0">
                <a:solidFill>
                  <a:schemeClr val="accent1"/>
                </a:solidFill>
                <a:latin typeface="Arial"/>
                <a:ea typeface="Arial"/>
                <a:cs typeface="Arial"/>
                <a:sym typeface="Arial"/>
              </a:rPr>
              <a:t>.</a:t>
            </a:r>
            <a:endParaRPr sz="1200" b="0" i="0" u="none" strike="noStrike" cap="none" dirty="0">
              <a:solidFill>
                <a:schemeClr val="accent1"/>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400"/>
              <a:buFont typeface="Arial"/>
              <a:buAutoNum type="arabicPeriod"/>
            </a:pPr>
            <a:r>
              <a:rPr lang="en-US" sz="1200" b="0" i="0" u="none" strike="noStrike" cap="none" dirty="0">
                <a:solidFill>
                  <a:srgbClr val="53565A"/>
                </a:solidFill>
                <a:latin typeface="Arial"/>
                <a:ea typeface="Arial"/>
                <a:cs typeface="Arial"/>
                <a:sym typeface="Arial"/>
              </a:rPr>
              <a:t>Tenant Pods deployed via </a:t>
            </a:r>
            <a:r>
              <a:rPr lang="en-US" sz="1200" b="1" i="0" u="none" strike="noStrike" cap="none" dirty="0">
                <a:solidFill>
                  <a:schemeClr val="accent1"/>
                </a:solidFill>
                <a:latin typeface="Arial"/>
                <a:ea typeface="Arial"/>
                <a:cs typeface="Arial"/>
                <a:sym typeface="Arial"/>
              </a:rPr>
              <a:t>environmental specifications</a:t>
            </a:r>
            <a:r>
              <a:rPr lang="en-US" sz="1200" b="0" i="0" u="none" strike="noStrike" cap="none" dirty="0">
                <a:solidFill>
                  <a:schemeClr val="lt2"/>
                </a:solidFill>
                <a:latin typeface="Arial"/>
                <a:ea typeface="Arial"/>
                <a:cs typeface="Arial"/>
                <a:sym typeface="Arial"/>
              </a:rPr>
              <a:t> </a:t>
            </a:r>
            <a:r>
              <a:rPr lang="en-US" sz="1200" b="0" i="0" u="none" strike="noStrike" cap="none" dirty="0">
                <a:solidFill>
                  <a:srgbClr val="53565A"/>
                </a:solidFill>
                <a:latin typeface="Arial"/>
                <a:ea typeface="Arial"/>
                <a:cs typeface="Arial"/>
                <a:sym typeface="Arial"/>
              </a:rPr>
              <a:t>for tenant workloads to provide </a:t>
            </a:r>
            <a:r>
              <a:rPr lang="en-US" sz="1200" b="0" i="0" u="none" strike="noStrike" cap="none" dirty="0">
                <a:solidFill>
                  <a:srgbClr val="E68C28"/>
                </a:solidFill>
                <a:latin typeface="Arial"/>
                <a:ea typeface="Arial"/>
                <a:cs typeface="Arial"/>
                <a:sym typeface="Arial"/>
              </a:rPr>
              <a:t>IaaS Administrators </a:t>
            </a:r>
            <a:r>
              <a:rPr lang="en-US" sz="1200" b="0" i="0" u="none" strike="noStrike" cap="none" dirty="0">
                <a:solidFill>
                  <a:srgbClr val="53565A"/>
                </a:solidFill>
                <a:latin typeface="Arial"/>
                <a:ea typeface="Arial"/>
                <a:cs typeface="Arial"/>
                <a:sym typeface="Arial"/>
              </a:rPr>
              <a:t>with consistent operations.</a:t>
            </a:r>
            <a:endParaRPr sz="1200" b="0" i="0" u="none" strike="noStrike" cap="none" dirty="0">
              <a:solidFill>
                <a:srgbClr val="53565A"/>
              </a:solidFill>
              <a:latin typeface="Arial"/>
              <a:ea typeface="Arial"/>
              <a:cs typeface="Arial"/>
              <a:sym typeface="Arial"/>
            </a:endParaRPr>
          </a:p>
        </p:txBody>
      </p:sp>
      <p:sp>
        <p:nvSpPr>
          <p:cNvPr id="1254" name="Google Shape;1254;p122"/>
          <p:cNvSpPr/>
          <p:nvPr/>
        </p:nvSpPr>
        <p:spPr>
          <a:xfrm>
            <a:off x="1050364" y="5480366"/>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1</a:t>
            </a:r>
            <a:endParaRPr sz="1400" b="0" i="0" u="none" strike="noStrike" cap="none">
              <a:solidFill>
                <a:srgbClr val="E68C28"/>
              </a:solidFill>
              <a:latin typeface="Arial"/>
              <a:ea typeface="Arial"/>
              <a:cs typeface="Arial"/>
              <a:sym typeface="Arial"/>
            </a:endParaRPr>
          </a:p>
        </p:txBody>
      </p:sp>
      <p:sp>
        <p:nvSpPr>
          <p:cNvPr id="1255" name="Google Shape;1255;p122"/>
          <p:cNvSpPr/>
          <p:nvPr/>
        </p:nvSpPr>
        <p:spPr>
          <a:xfrm>
            <a:off x="2213283" y="4760486"/>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2</a:t>
            </a:r>
            <a:endParaRPr sz="1400" b="0" i="0" u="none" strike="noStrike" cap="none">
              <a:solidFill>
                <a:srgbClr val="E68C28"/>
              </a:solidFill>
              <a:latin typeface="Arial"/>
              <a:ea typeface="Arial"/>
              <a:cs typeface="Arial"/>
              <a:sym typeface="Arial"/>
            </a:endParaRPr>
          </a:p>
        </p:txBody>
      </p:sp>
      <p:sp>
        <p:nvSpPr>
          <p:cNvPr id="1256" name="Google Shape;1256;p122"/>
          <p:cNvSpPr/>
          <p:nvPr/>
        </p:nvSpPr>
        <p:spPr>
          <a:xfrm>
            <a:off x="1207527" y="3942676"/>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2</a:t>
            </a:r>
            <a:endParaRPr sz="1400" b="0" i="0" u="none" strike="noStrike" cap="none">
              <a:solidFill>
                <a:srgbClr val="E68C28"/>
              </a:solidFill>
              <a:latin typeface="Arial"/>
              <a:ea typeface="Arial"/>
              <a:cs typeface="Arial"/>
              <a:sym typeface="Arial"/>
            </a:endParaRPr>
          </a:p>
        </p:txBody>
      </p:sp>
      <p:sp>
        <p:nvSpPr>
          <p:cNvPr id="1257" name="Google Shape;1257;p122"/>
          <p:cNvSpPr/>
          <p:nvPr/>
        </p:nvSpPr>
        <p:spPr>
          <a:xfrm>
            <a:off x="3487817" y="4075762"/>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3</a:t>
            </a:r>
            <a:endParaRPr sz="1400" b="0" i="0" u="none" strike="noStrike" cap="none">
              <a:solidFill>
                <a:srgbClr val="E68C28"/>
              </a:solidFill>
              <a:latin typeface="Arial"/>
              <a:ea typeface="Arial"/>
              <a:cs typeface="Arial"/>
              <a:sym typeface="Arial"/>
            </a:endParaRPr>
          </a:p>
        </p:txBody>
      </p:sp>
      <p:sp>
        <p:nvSpPr>
          <p:cNvPr id="1258" name="Google Shape;1258;p122"/>
          <p:cNvSpPr/>
          <p:nvPr/>
        </p:nvSpPr>
        <p:spPr>
          <a:xfrm>
            <a:off x="1207526" y="2629574"/>
            <a:ext cx="314325" cy="285750"/>
          </a:xfrm>
          <a:prstGeom prst="ellipse">
            <a:avLst/>
          </a:prstGeom>
          <a:solidFill>
            <a:schemeClr val="lt1"/>
          </a:solidFill>
          <a:ln w="28575" cap="flat" cmpd="sng">
            <a:solidFill>
              <a:srgbClr val="E68C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68C28"/>
                </a:solidFill>
                <a:latin typeface="Arial"/>
                <a:ea typeface="Arial"/>
                <a:cs typeface="Arial"/>
                <a:sym typeface="Arial"/>
              </a:rPr>
              <a:t>3</a:t>
            </a:r>
            <a:endParaRPr sz="1400" b="0" i="0" u="none" strike="noStrike" cap="none">
              <a:solidFill>
                <a:srgbClr val="E68C28"/>
              </a:solidFill>
              <a:latin typeface="Arial"/>
              <a:ea typeface="Arial"/>
              <a:cs typeface="Arial"/>
              <a:sym typeface="Arial"/>
            </a:endParaRPr>
          </a:p>
        </p:txBody>
      </p:sp>
      <p:sp>
        <p:nvSpPr>
          <p:cNvPr id="1259" name="Google Shape;1259;p122"/>
          <p:cNvSpPr/>
          <p:nvPr/>
        </p:nvSpPr>
        <p:spPr>
          <a:xfrm>
            <a:off x="5872841" y="1357159"/>
            <a:ext cx="314325" cy="28575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accent4"/>
                </a:solidFill>
                <a:latin typeface="Arial"/>
                <a:ea typeface="Arial"/>
                <a:cs typeface="Arial"/>
                <a:sym typeface="Arial"/>
              </a:rPr>
              <a:t>1</a:t>
            </a:r>
            <a:endParaRPr sz="1400" b="0" i="0" u="none" strike="noStrike" cap="none">
              <a:solidFill>
                <a:schemeClr val="accent4"/>
              </a:solidFill>
              <a:latin typeface="Arial"/>
              <a:ea typeface="Arial"/>
              <a:cs typeface="Arial"/>
              <a:sym typeface="Arial"/>
            </a:endParaRPr>
          </a:p>
        </p:txBody>
      </p:sp>
      <p:sp>
        <p:nvSpPr>
          <p:cNvPr id="1260" name="Google Shape;1260;p122"/>
          <p:cNvSpPr/>
          <p:nvPr/>
        </p:nvSpPr>
        <p:spPr>
          <a:xfrm>
            <a:off x="4054642" y="2101306"/>
            <a:ext cx="314325" cy="28575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accent4"/>
                </a:solidFill>
                <a:latin typeface="Arial"/>
                <a:ea typeface="Arial"/>
                <a:cs typeface="Arial"/>
                <a:sym typeface="Arial"/>
              </a:rPr>
              <a:t>2</a:t>
            </a:r>
            <a:endParaRPr sz="1400" b="0" i="0" u="none" strike="noStrike" cap="none">
              <a:solidFill>
                <a:schemeClr val="accent4"/>
              </a:solidFill>
              <a:latin typeface="Arial"/>
              <a:ea typeface="Arial"/>
              <a:cs typeface="Arial"/>
              <a:sym typeface="Arial"/>
            </a:endParaRPr>
          </a:p>
        </p:txBody>
      </p:sp>
      <p:sp>
        <p:nvSpPr>
          <p:cNvPr id="1261" name="Google Shape;1261;p122"/>
          <p:cNvSpPr/>
          <p:nvPr/>
        </p:nvSpPr>
        <p:spPr>
          <a:xfrm>
            <a:off x="3257231" y="3348886"/>
            <a:ext cx="314325" cy="28575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accent4"/>
                </a:solidFill>
                <a:latin typeface="Arial"/>
                <a:ea typeface="Arial"/>
                <a:cs typeface="Arial"/>
                <a:sym typeface="Arial"/>
              </a:rPr>
              <a:t>2</a:t>
            </a:r>
            <a:endParaRPr sz="1400" b="0" i="0" u="none" strike="noStrike" cap="none">
              <a:solidFill>
                <a:schemeClr val="accent4"/>
              </a:solidFill>
              <a:latin typeface="Arial"/>
              <a:ea typeface="Arial"/>
              <a:cs typeface="Arial"/>
              <a:sym typeface="Arial"/>
            </a:endParaRPr>
          </a:p>
        </p:txBody>
      </p:sp>
      <p:sp>
        <p:nvSpPr>
          <p:cNvPr id="1262" name="Google Shape;1262;p122"/>
          <p:cNvSpPr/>
          <p:nvPr/>
        </p:nvSpPr>
        <p:spPr>
          <a:xfrm>
            <a:off x="4054642" y="4146416"/>
            <a:ext cx="314325" cy="28575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accent4"/>
                </a:solidFill>
                <a:latin typeface="Arial"/>
                <a:ea typeface="Arial"/>
                <a:cs typeface="Arial"/>
                <a:sym typeface="Arial"/>
              </a:rPr>
              <a:t>2</a:t>
            </a:r>
            <a:endParaRPr sz="1400" b="0" i="0" u="none" strike="noStrike" cap="none">
              <a:solidFill>
                <a:schemeClr val="accent4"/>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pic>
        <p:nvPicPr>
          <p:cNvPr id="1268" name="Google Shape;1268;p16"/>
          <p:cNvPicPr preferRelativeResize="0"/>
          <p:nvPr/>
        </p:nvPicPr>
        <p:blipFill rotWithShape="1">
          <a:blip r:embed="rId3">
            <a:alphaModFix/>
          </a:blip>
          <a:srcRect/>
          <a:stretch/>
        </p:blipFill>
        <p:spPr>
          <a:xfrm>
            <a:off x="412750" y="1533186"/>
            <a:ext cx="6869621" cy="4579747"/>
          </a:xfrm>
          <a:prstGeom prst="rect">
            <a:avLst/>
          </a:prstGeom>
          <a:noFill/>
          <a:ln>
            <a:noFill/>
          </a:ln>
        </p:spPr>
      </p:pic>
      <p:sp>
        <p:nvSpPr>
          <p:cNvPr id="1269" name="Google Shape;1269;p16"/>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Logical Role Design for SDN</a:t>
            </a:r>
          </a:p>
        </p:txBody>
      </p:sp>
      <p:sp>
        <p:nvSpPr>
          <p:cNvPr id="1270" name="Google Shape;1270;p16"/>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Delivering IaaS with NSX </a:t>
            </a:r>
          </a:p>
        </p:txBody>
      </p:sp>
      <p:sp>
        <p:nvSpPr>
          <p:cNvPr id="1271" name="Google Shape;1271;p16"/>
          <p:cNvSpPr txBox="1"/>
          <p:nvPr/>
        </p:nvSpPr>
        <p:spPr>
          <a:xfrm>
            <a:off x="7466618" y="2159373"/>
            <a:ext cx="4495800" cy="3174972"/>
          </a:xfrm>
          <a:prstGeom prst="rect">
            <a:avLst/>
          </a:prstGeom>
          <a:noFill/>
          <a:ln>
            <a:noFill/>
          </a:ln>
        </p:spPr>
        <p:txBody>
          <a:bodyPr spcFirstLastPara="1" wrap="square" lIns="0" tIns="0" rIns="0" bIns="0" anchor="t" anchorCtr="0">
            <a:spAutoFit/>
          </a:bodyPr>
          <a:lstStyle/>
          <a:p>
            <a:pPr marL="342900" marR="0" lvl="0" indent="-342900" algn="l" rtl="0">
              <a:lnSpc>
                <a:spcPct val="130000"/>
              </a:lnSpc>
              <a:spcBef>
                <a:spcPts val="0"/>
              </a:spcBef>
              <a:spcAft>
                <a:spcPts val="0"/>
              </a:spcAft>
              <a:buClr>
                <a:schemeClr val="dk2"/>
              </a:buClr>
              <a:buSzPts val="1600"/>
              <a:buFont typeface="Arial"/>
              <a:buAutoNum type="arabicPeriod"/>
            </a:pPr>
            <a:r>
              <a:rPr lang="en-US" sz="1600" b="0" i="0" u="none" strike="noStrike" cap="none" dirty="0">
                <a:solidFill>
                  <a:srgbClr val="53565A"/>
                </a:solidFill>
                <a:latin typeface="Arial"/>
                <a:ea typeface="Arial"/>
                <a:cs typeface="Arial"/>
                <a:sym typeface="Arial"/>
              </a:rPr>
              <a:t>Deploy</a:t>
            </a:r>
            <a:r>
              <a:rPr lang="en-US" sz="1600" b="0" i="0" u="none" strike="noStrike" cap="none" dirty="0">
                <a:solidFill>
                  <a:schemeClr val="lt2"/>
                </a:solidFill>
                <a:latin typeface="Arial"/>
                <a:ea typeface="Arial"/>
                <a:cs typeface="Arial"/>
                <a:sym typeface="Arial"/>
              </a:rPr>
              <a:t> </a:t>
            </a:r>
            <a:r>
              <a:rPr lang="en-US" sz="1600" b="1" i="0" u="none" strike="noStrike" cap="none" dirty="0">
                <a:solidFill>
                  <a:schemeClr val="accent1"/>
                </a:solidFill>
                <a:latin typeface="Arial"/>
                <a:ea typeface="Arial"/>
                <a:cs typeface="Arial"/>
                <a:sym typeface="Arial"/>
              </a:rPr>
              <a:t>NSX Edge Cluster </a:t>
            </a:r>
            <a:r>
              <a:rPr lang="en-US" sz="1600" b="0" i="0" u="none" strike="noStrike" cap="none" dirty="0">
                <a:solidFill>
                  <a:srgbClr val="53565A"/>
                </a:solidFill>
                <a:latin typeface="Arial"/>
                <a:ea typeface="Arial"/>
                <a:cs typeface="Arial"/>
                <a:sym typeface="Arial"/>
              </a:rPr>
              <a:t>for Workload Domain with Automation (</a:t>
            </a:r>
            <a:r>
              <a:rPr lang="en-US" sz="1600" b="1" i="0" u="none" strike="noStrike" cap="none" dirty="0">
                <a:solidFill>
                  <a:schemeClr val="accent1"/>
                </a:solidFill>
                <a:latin typeface="Arial"/>
                <a:ea typeface="Arial"/>
                <a:cs typeface="Arial"/>
                <a:sym typeface="Arial"/>
              </a:rPr>
              <a:t>Uplink Profile - Transport Zone - Uplink Segments</a:t>
            </a:r>
            <a:r>
              <a:rPr lang="en-US" sz="1600" b="0" i="0" u="none" strike="noStrike" cap="none" dirty="0">
                <a:solidFill>
                  <a:srgbClr val="53565A"/>
                </a:solidFill>
                <a:latin typeface="Arial"/>
                <a:ea typeface="Arial"/>
                <a:cs typeface="Arial"/>
                <a:sym typeface="Arial"/>
              </a:rPr>
              <a:t>)</a:t>
            </a:r>
            <a:endParaRPr sz="14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600" b="0" i="0" u="none" strike="noStrike" cap="none" dirty="0">
                <a:solidFill>
                  <a:srgbClr val="53565A"/>
                </a:solidFill>
                <a:latin typeface="Arial"/>
                <a:ea typeface="Arial"/>
                <a:cs typeface="Arial"/>
                <a:sym typeface="Arial"/>
              </a:rPr>
              <a:t>Deploy </a:t>
            </a:r>
            <a:r>
              <a:rPr lang="en-US" sz="1600" b="1" i="0" u="none" strike="noStrike" cap="none" dirty="0">
                <a:solidFill>
                  <a:schemeClr val="accent1"/>
                </a:solidFill>
                <a:latin typeface="Arial"/>
                <a:ea typeface="Arial"/>
                <a:cs typeface="Arial"/>
                <a:sym typeface="Arial"/>
              </a:rPr>
              <a:t>NSX Edge-VMs</a:t>
            </a:r>
            <a:endParaRPr sz="1400" b="1" i="0" u="none" strike="noStrike" cap="none" dirty="0">
              <a:solidFill>
                <a:schemeClr val="accent1"/>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600" b="0" i="0" u="none" strike="noStrike" cap="none" dirty="0">
                <a:solidFill>
                  <a:srgbClr val="53565A"/>
                </a:solidFill>
                <a:latin typeface="Arial"/>
                <a:ea typeface="Arial"/>
                <a:cs typeface="Arial"/>
                <a:sym typeface="Arial"/>
              </a:rPr>
              <a:t>Base Configuration for Logical-Routing configuration leveraging </a:t>
            </a:r>
            <a:r>
              <a:rPr lang="en-US" sz="1600" b="1" i="0" u="none" strike="noStrike" cap="none" dirty="0">
                <a:solidFill>
                  <a:schemeClr val="accent1"/>
                </a:solidFill>
                <a:latin typeface="Arial"/>
                <a:ea typeface="Arial"/>
                <a:cs typeface="Arial"/>
                <a:sym typeface="Arial"/>
              </a:rPr>
              <a:t>BGP (ECMP) </a:t>
            </a:r>
            <a:r>
              <a:rPr lang="en-US" sz="1600" b="0" i="0" u="none" strike="noStrike" cap="none" dirty="0">
                <a:solidFill>
                  <a:srgbClr val="53565A"/>
                </a:solidFill>
                <a:latin typeface="Arial"/>
                <a:ea typeface="Arial"/>
                <a:cs typeface="Arial"/>
                <a:sym typeface="Arial"/>
              </a:rPr>
              <a:t>for Management and Workload Domain</a:t>
            </a:r>
            <a:endParaRPr sz="18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600" b="0" i="0" u="none" strike="noStrike" cap="none" dirty="0">
                <a:solidFill>
                  <a:srgbClr val="53565A"/>
                </a:solidFill>
                <a:latin typeface="Arial"/>
                <a:ea typeface="Arial"/>
                <a:cs typeface="Arial"/>
                <a:sym typeface="Arial"/>
              </a:rPr>
              <a:t>Deploy base </a:t>
            </a:r>
            <a:r>
              <a:rPr lang="en-US" sz="1600" b="1" i="0" u="none" strike="noStrike" cap="none" dirty="0">
                <a:solidFill>
                  <a:schemeClr val="accent1"/>
                </a:solidFill>
                <a:latin typeface="Arial"/>
                <a:ea typeface="Arial"/>
                <a:cs typeface="Arial"/>
                <a:sym typeface="Arial"/>
              </a:rPr>
              <a:t>DFW</a:t>
            </a:r>
            <a:r>
              <a:rPr lang="en-US" sz="1600" b="0" i="0" u="none" strike="noStrike" cap="none" dirty="0">
                <a:solidFill>
                  <a:schemeClr val="lt2"/>
                </a:solidFill>
                <a:latin typeface="Arial"/>
                <a:ea typeface="Arial"/>
                <a:cs typeface="Arial"/>
                <a:sym typeface="Arial"/>
              </a:rPr>
              <a:t> </a:t>
            </a:r>
            <a:r>
              <a:rPr lang="en-US" sz="1600" b="0" i="0" u="none" strike="noStrike" cap="none" dirty="0">
                <a:solidFill>
                  <a:srgbClr val="53565A"/>
                </a:solidFill>
                <a:latin typeface="Arial"/>
                <a:ea typeface="Arial"/>
                <a:cs typeface="Arial"/>
                <a:sym typeface="Arial"/>
              </a:rPr>
              <a:t>configuration for </a:t>
            </a:r>
            <a:r>
              <a:rPr lang="en-US" sz="1600" b="1" i="0" u="none" strike="noStrike" cap="none" dirty="0">
                <a:solidFill>
                  <a:schemeClr val="accent1"/>
                </a:solidFill>
                <a:latin typeface="Arial"/>
                <a:ea typeface="Arial"/>
                <a:cs typeface="Arial"/>
                <a:sym typeface="Arial"/>
              </a:rPr>
              <a:t>Macro-Segmentation</a:t>
            </a:r>
            <a:r>
              <a:rPr lang="en-US" sz="1600" b="0" i="0" u="none" strike="noStrike" cap="none" dirty="0">
                <a:solidFill>
                  <a:schemeClr val="lt2"/>
                </a:solidFill>
                <a:latin typeface="Arial"/>
                <a:ea typeface="Arial"/>
                <a:cs typeface="Arial"/>
                <a:sym typeface="Arial"/>
              </a:rPr>
              <a:t> </a:t>
            </a:r>
            <a:r>
              <a:rPr lang="en-US" sz="1600" b="0" i="0" u="none" strike="noStrike" cap="none" dirty="0">
                <a:solidFill>
                  <a:srgbClr val="53565A"/>
                </a:solidFill>
                <a:latin typeface="Arial"/>
                <a:ea typeface="Arial"/>
                <a:cs typeface="Arial"/>
                <a:sym typeface="Arial"/>
              </a:rPr>
              <a:t>for basic shared services</a:t>
            </a:r>
            <a:endParaRPr sz="1400" b="0" i="0" u="none" strike="noStrike" cap="none" dirty="0">
              <a:solidFill>
                <a:srgbClr val="53565A"/>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600"/>
              <a:buFont typeface="Arial"/>
              <a:buNone/>
            </a:pPr>
            <a:endParaRPr sz="1600" b="0" i="0" u="none" strike="noStrike" cap="none" dirty="0">
              <a:solidFill>
                <a:schemeClr val="lt2"/>
              </a:solidFill>
              <a:latin typeface="Arial"/>
              <a:ea typeface="Arial"/>
              <a:cs typeface="Arial"/>
              <a:sym typeface="Arial"/>
            </a:endParaRPr>
          </a:p>
        </p:txBody>
      </p:sp>
      <p:sp>
        <p:nvSpPr>
          <p:cNvPr id="1272" name="Google Shape;1272;p16"/>
          <p:cNvSpPr/>
          <p:nvPr/>
        </p:nvSpPr>
        <p:spPr>
          <a:xfrm>
            <a:off x="3867831" y="2858487"/>
            <a:ext cx="314325" cy="285750"/>
          </a:xfrm>
          <a:prstGeom prst="ellipse">
            <a:avLst/>
          </a:prstGeom>
          <a:solidFill>
            <a:schemeClr val="lt1"/>
          </a:solidFill>
          <a:ln w="28575" cap="flat" cmpd="sng">
            <a:solidFill>
              <a:srgbClr val="EC77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B75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273" name="Google Shape;1273;p16"/>
          <p:cNvSpPr/>
          <p:nvPr/>
        </p:nvSpPr>
        <p:spPr>
          <a:xfrm>
            <a:off x="3986180" y="3378508"/>
            <a:ext cx="314325" cy="285750"/>
          </a:xfrm>
          <a:prstGeom prst="ellipse">
            <a:avLst/>
          </a:prstGeom>
          <a:solidFill>
            <a:schemeClr val="lt1"/>
          </a:solidFill>
          <a:ln w="28575" cap="flat" cmpd="sng">
            <a:solidFill>
              <a:srgbClr val="EC77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B75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274" name="Google Shape;1274;p16"/>
          <p:cNvSpPr/>
          <p:nvPr/>
        </p:nvSpPr>
        <p:spPr>
          <a:xfrm>
            <a:off x="5419108" y="3946186"/>
            <a:ext cx="314325" cy="285750"/>
          </a:xfrm>
          <a:prstGeom prst="ellipse">
            <a:avLst/>
          </a:prstGeom>
          <a:solidFill>
            <a:schemeClr val="lt1"/>
          </a:solidFill>
          <a:ln w="28575" cap="flat" cmpd="sng">
            <a:solidFill>
              <a:srgbClr val="EC77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B75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275" name="Google Shape;1275;p16"/>
          <p:cNvSpPr/>
          <p:nvPr/>
        </p:nvSpPr>
        <p:spPr>
          <a:xfrm>
            <a:off x="4181594" y="4762654"/>
            <a:ext cx="314325" cy="285750"/>
          </a:xfrm>
          <a:prstGeom prst="ellipse">
            <a:avLst/>
          </a:prstGeom>
          <a:solidFill>
            <a:schemeClr val="lt1"/>
          </a:solidFill>
          <a:ln w="28575" cap="flat" cmpd="sng">
            <a:solidFill>
              <a:srgbClr val="EC77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EB75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0"/>
        <p:cNvGrpSpPr/>
        <p:nvPr/>
      </p:nvGrpSpPr>
      <p:grpSpPr>
        <a:xfrm>
          <a:off x="0" y="0"/>
          <a:ext cx="0" cy="0"/>
          <a:chOff x="0" y="0"/>
          <a:chExt cx="0" cy="0"/>
        </a:xfrm>
      </p:grpSpPr>
      <p:pic>
        <p:nvPicPr>
          <p:cNvPr id="1281" name="Google Shape;1281;p17"/>
          <p:cNvPicPr preferRelativeResize="0"/>
          <p:nvPr/>
        </p:nvPicPr>
        <p:blipFill>
          <a:blip r:embed="rId3"/>
          <a:srcRect/>
          <a:stretch/>
        </p:blipFill>
        <p:spPr>
          <a:xfrm>
            <a:off x="2022713" y="1209057"/>
            <a:ext cx="5836277" cy="5309642"/>
          </a:xfrm>
          <a:prstGeom prst="rect">
            <a:avLst/>
          </a:prstGeom>
          <a:noFill/>
          <a:ln>
            <a:noFill/>
          </a:ln>
        </p:spPr>
      </p:pic>
      <p:sp>
        <p:nvSpPr>
          <p:cNvPr id="1282" name="Google Shape;1282;p17"/>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Assembly Logical Role Design</a:t>
            </a:r>
          </a:p>
        </p:txBody>
      </p:sp>
      <p:sp>
        <p:nvSpPr>
          <p:cNvPr id="1283" name="Google Shape;1283;p17"/>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Delivering IaaS with VCF Automation</a:t>
            </a:r>
          </a:p>
        </p:txBody>
      </p:sp>
      <p:sp>
        <p:nvSpPr>
          <p:cNvPr id="1284" name="Google Shape;1284;p17"/>
          <p:cNvSpPr txBox="1"/>
          <p:nvPr/>
        </p:nvSpPr>
        <p:spPr>
          <a:xfrm>
            <a:off x="8442835" y="1767955"/>
            <a:ext cx="3406532" cy="3961084"/>
          </a:xfrm>
          <a:prstGeom prst="rect">
            <a:avLst/>
          </a:prstGeom>
          <a:noFill/>
          <a:ln>
            <a:noFill/>
          </a:ln>
        </p:spPr>
        <p:txBody>
          <a:bodyPr spcFirstLastPara="1" wrap="square" lIns="0" tIns="0" rIns="0" bIns="0" anchor="t" anchorCtr="0">
            <a:spAutoFit/>
          </a:bodyPr>
          <a:lstStyle/>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Download</a:t>
            </a:r>
            <a:r>
              <a:rPr lang="en-US" sz="1400" b="0" i="0" u="none" strike="noStrike" cap="none" dirty="0">
                <a:solidFill>
                  <a:schemeClr val="lt2"/>
                </a:solidFill>
                <a:latin typeface="Arial"/>
                <a:ea typeface="Arial"/>
                <a:cs typeface="Arial"/>
                <a:sym typeface="Arial"/>
              </a:rPr>
              <a:t> </a:t>
            </a:r>
            <a:r>
              <a:rPr lang="en-US" sz="1400" b="1" i="0" u="none" strike="noStrike" cap="none" dirty="0">
                <a:solidFill>
                  <a:schemeClr val="accent1"/>
                </a:solidFill>
                <a:latin typeface="Arial"/>
                <a:ea typeface="Arial"/>
                <a:cs typeface="Arial"/>
                <a:sym typeface="Arial"/>
              </a:rPr>
              <a:t>VMware Pro cloud service config</a:t>
            </a:r>
            <a:r>
              <a:rPr lang="en-US" sz="1400" b="0" i="0" u="none" strike="noStrike" cap="none" dirty="0">
                <a:solidFill>
                  <a:schemeClr val="lt2"/>
                </a:solidFill>
                <a:latin typeface="Arial"/>
                <a:ea typeface="Arial"/>
                <a:cs typeface="Arial"/>
                <a:sym typeface="Arial"/>
              </a:rPr>
              <a:t> </a:t>
            </a:r>
            <a:r>
              <a:rPr lang="en-US" sz="1400" b="0" i="0" u="none" strike="noStrike" cap="none" dirty="0">
                <a:solidFill>
                  <a:srgbClr val="53565A"/>
                </a:solidFill>
                <a:latin typeface="Arial"/>
                <a:ea typeface="Arial"/>
                <a:cs typeface="Arial"/>
                <a:sym typeface="Arial"/>
              </a:rPr>
              <a:t>files from git.</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Download packages from Artifactory for application deployment.</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Use the </a:t>
            </a:r>
            <a:r>
              <a:rPr lang="en-US" sz="1400" b="1" i="0" u="none" strike="noStrike" cap="none" dirty="0">
                <a:solidFill>
                  <a:schemeClr val="accent1"/>
                </a:solidFill>
                <a:latin typeface="Arial"/>
                <a:ea typeface="Arial"/>
                <a:cs typeface="Arial"/>
                <a:sym typeface="Arial"/>
              </a:rPr>
              <a:t>VCF Automation Cloud Template </a:t>
            </a:r>
            <a:r>
              <a:rPr lang="en-US" sz="1400" b="0" i="0" u="none" strike="noStrike" cap="none" dirty="0">
                <a:solidFill>
                  <a:srgbClr val="53565A"/>
                </a:solidFill>
                <a:latin typeface="Arial"/>
                <a:ea typeface="Arial"/>
                <a:cs typeface="Arial"/>
                <a:sym typeface="Arial"/>
              </a:rPr>
              <a:t>to provision virtual server(s) or application stack.</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Apply </a:t>
            </a:r>
            <a:r>
              <a:rPr lang="en-US" sz="1400" b="1" i="0" u="none" strike="noStrike" cap="none" dirty="0">
                <a:solidFill>
                  <a:schemeClr val="accent1"/>
                </a:solidFill>
                <a:latin typeface="Arial"/>
                <a:ea typeface="Arial"/>
                <a:cs typeface="Arial"/>
                <a:sym typeface="Arial"/>
              </a:rPr>
              <a:t>VCF Automation Config</a:t>
            </a:r>
            <a:r>
              <a:rPr lang="en-US" sz="1400" b="0" i="0" u="none" strike="noStrike" cap="none" dirty="0">
                <a:solidFill>
                  <a:srgbClr val="53565A"/>
                </a:solidFill>
                <a:latin typeface="Arial"/>
                <a:ea typeface="Arial"/>
                <a:cs typeface="Arial"/>
                <a:sym typeface="Arial"/>
              </a:rPr>
              <a:t> state file to configure the servers and applications.</a:t>
            </a:r>
            <a:endParaRPr sz="1200" b="0" i="0" u="none" strike="noStrike" cap="none" dirty="0">
              <a:solidFill>
                <a:srgbClr val="53565A"/>
              </a:solidFill>
              <a:latin typeface="Arial"/>
              <a:ea typeface="Arial"/>
              <a:cs typeface="Arial"/>
              <a:sym typeface="Arial"/>
            </a:endParaRPr>
          </a:p>
          <a:p>
            <a:pPr marL="342900" marR="0" lvl="0" indent="-342900" algn="l" rtl="0">
              <a:lnSpc>
                <a:spcPct val="130000"/>
              </a:lnSpc>
              <a:spcBef>
                <a:spcPts val="0"/>
              </a:spcBef>
              <a:spcAft>
                <a:spcPts val="0"/>
              </a:spcAft>
              <a:buClr>
                <a:schemeClr val="dk2"/>
              </a:buClr>
              <a:buSzPts val="1600"/>
              <a:buFont typeface="Arial"/>
              <a:buAutoNum type="arabicPeriod"/>
            </a:pPr>
            <a:r>
              <a:rPr lang="en-US" sz="1400" b="0" i="0" u="none" strike="noStrike" cap="none" dirty="0">
                <a:solidFill>
                  <a:srgbClr val="53565A"/>
                </a:solidFill>
                <a:latin typeface="Arial"/>
                <a:ea typeface="Arial"/>
                <a:cs typeface="Arial"/>
                <a:sym typeface="Arial"/>
              </a:rPr>
              <a:t>Apply appropriate</a:t>
            </a:r>
            <a:r>
              <a:rPr lang="en-US" sz="1400" b="1" i="0" u="none" strike="noStrike" cap="none" dirty="0">
                <a:solidFill>
                  <a:schemeClr val="accent1"/>
                </a:solidFill>
                <a:latin typeface="Arial"/>
                <a:ea typeface="Arial"/>
                <a:cs typeface="Arial"/>
                <a:sym typeface="Arial"/>
              </a:rPr>
              <a:t> VCF Automation Config</a:t>
            </a:r>
            <a:r>
              <a:rPr lang="en-US" sz="1400" b="0" i="0" u="none" strike="noStrike" cap="none" dirty="0">
                <a:solidFill>
                  <a:schemeClr val="lt2"/>
                </a:solidFill>
                <a:latin typeface="Arial"/>
                <a:ea typeface="Arial"/>
                <a:cs typeface="Arial"/>
                <a:sym typeface="Arial"/>
              </a:rPr>
              <a:t> </a:t>
            </a:r>
            <a:r>
              <a:rPr lang="en-US" sz="1400" i="0" u="none" strike="noStrike" cap="none" dirty="0">
                <a:solidFill>
                  <a:srgbClr val="53565A"/>
                </a:solidFill>
                <a:latin typeface="Arial"/>
                <a:ea typeface="Arial"/>
                <a:cs typeface="Arial"/>
                <a:sym typeface="Arial"/>
              </a:rPr>
              <a:t>state file to maintain desired state of the application/VM.</a:t>
            </a:r>
            <a:endParaRPr sz="1200" i="0" u="none" strike="noStrike" cap="none" dirty="0">
              <a:solidFill>
                <a:srgbClr val="53565A"/>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400"/>
              <a:buFont typeface="Arial"/>
              <a:buNone/>
            </a:pPr>
            <a:endParaRPr sz="1400" b="0" i="0" u="none" strike="noStrike" cap="none" dirty="0">
              <a:solidFill>
                <a:schemeClr val="lt2"/>
              </a:solidFill>
              <a:latin typeface="Arial"/>
              <a:ea typeface="Arial"/>
              <a:cs typeface="Arial"/>
              <a:sym typeface="Arial"/>
            </a:endParaRPr>
          </a:p>
        </p:txBody>
      </p:sp>
      <p:sp>
        <p:nvSpPr>
          <p:cNvPr id="1285" name="Google Shape;1285;p17"/>
          <p:cNvSpPr/>
          <p:nvPr/>
        </p:nvSpPr>
        <p:spPr>
          <a:xfrm>
            <a:off x="4940929" y="1447882"/>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1</a:t>
            </a:r>
            <a:endParaRPr sz="1400" b="0" i="0" u="none" strike="noStrike" cap="none">
              <a:solidFill>
                <a:schemeClr val="dk2"/>
              </a:solidFill>
              <a:latin typeface="Arial"/>
              <a:ea typeface="Arial"/>
              <a:cs typeface="Arial"/>
              <a:sym typeface="Arial"/>
            </a:endParaRPr>
          </a:p>
        </p:txBody>
      </p:sp>
      <p:sp>
        <p:nvSpPr>
          <p:cNvPr id="1286" name="Google Shape;1286;p17"/>
          <p:cNvSpPr/>
          <p:nvPr/>
        </p:nvSpPr>
        <p:spPr>
          <a:xfrm>
            <a:off x="6815329" y="2268387"/>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2</a:t>
            </a:r>
            <a:endParaRPr sz="1400" b="0" i="0" u="none" strike="noStrike" cap="none">
              <a:solidFill>
                <a:schemeClr val="dk2"/>
              </a:solidFill>
              <a:latin typeface="Arial"/>
              <a:ea typeface="Arial"/>
              <a:cs typeface="Arial"/>
              <a:sym typeface="Arial"/>
            </a:endParaRPr>
          </a:p>
        </p:txBody>
      </p:sp>
      <p:sp>
        <p:nvSpPr>
          <p:cNvPr id="1287" name="Google Shape;1287;p17"/>
          <p:cNvSpPr/>
          <p:nvPr/>
        </p:nvSpPr>
        <p:spPr>
          <a:xfrm>
            <a:off x="3522810" y="4948995"/>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4</a:t>
            </a:r>
            <a:endParaRPr sz="1400" b="0" i="0" u="none" strike="noStrike" cap="none">
              <a:solidFill>
                <a:schemeClr val="dk2"/>
              </a:solidFill>
              <a:latin typeface="Arial"/>
              <a:ea typeface="Arial"/>
              <a:cs typeface="Arial"/>
              <a:sym typeface="Arial"/>
            </a:endParaRPr>
          </a:p>
        </p:txBody>
      </p:sp>
      <p:sp>
        <p:nvSpPr>
          <p:cNvPr id="1288" name="Google Shape;1288;p17"/>
          <p:cNvSpPr/>
          <p:nvPr/>
        </p:nvSpPr>
        <p:spPr>
          <a:xfrm>
            <a:off x="7317036" y="3863878"/>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3</a:t>
            </a:r>
            <a:endParaRPr sz="1400" b="0" i="0" u="none" strike="noStrike" cap="none">
              <a:solidFill>
                <a:schemeClr val="dk2"/>
              </a:solidFill>
              <a:latin typeface="Arial"/>
              <a:ea typeface="Arial"/>
              <a:cs typeface="Arial"/>
              <a:sym typeface="Arial"/>
            </a:endParaRPr>
          </a:p>
        </p:txBody>
      </p:sp>
      <p:sp>
        <p:nvSpPr>
          <p:cNvPr id="1289" name="Google Shape;1289;p17"/>
          <p:cNvSpPr/>
          <p:nvPr/>
        </p:nvSpPr>
        <p:spPr>
          <a:xfrm>
            <a:off x="3761039" y="5531624"/>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5</a:t>
            </a:r>
            <a:endParaRPr sz="1400" b="0" i="0" u="none" strike="noStrike" cap="none">
              <a:solidFill>
                <a:schemeClr val="dk2"/>
              </a:solidFill>
              <a:latin typeface="Arial"/>
              <a:ea typeface="Arial"/>
              <a:cs typeface="Arial"/>
              <a:sym typeface="Arial"/>
            </a:endParaRPr>
          </a:p>
        </p:txBody>
      </p:sp>
      <p:sp>
        <p:nvSpPr>
          <p:cNvPr id="1290" name="Google Shape;1290;p17"/>
          <p:cNvSpPr/>
          <p:nvPr/>
        </p:nvSpPr>
        <p:spPr>
          <a:xfrm>
            <a:off x="6276137" y="1436235"/>
            <a:ext cx="314325" cy="285750"/>
          </a:xfrm>
          <a:prstGeom prst="ellipse">
            <a:avLst/>
          </a:prstGeom>
          <a:solidFill>
            <a:schemeClr val="lt1"/>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2"/>
                </a:solidFill>
                <a:latin typeface="Arial"/>
                <a:ea typeface="Arial"/>
                <a:cs typeface="Arial"/>
                <a:sym typeface="Arial"/>
              </a:rPr>
              <a:t>1</a:t>
            </a:r>
            <a:endParaRPr sz="1400" b="0" i="0" u="none" strike="noStrike" cap="none">
              <a:solidFill>
                <a:schemeClr val="dk2"/>
              </a:solidFill>
              <a:latin typeface="Arial"/>
              <a:ea typeface="Arial"/>
              <a:cs typeface="Arial"/>
              <a:sym typeface="Arial"/>
            </a:endParaRPr>
          </a:p>
        </p:txBody>
      </p:sp>
      <p:sp>
        <p:nvSpPr>
          <p:cNvPr id="1291" name="Google Shape;1291;p17"/>
          <p:cNvSpPr txBox="1"/>
          <p:nvPr/>
        </p:nvSpPr>
        <p:spPr>
          <a:xfrm>
            <a:off x="267036" y="5168811"/>
            <a:ext cx="3079713" cy="960263"/>
          </a:xfrm>
          <a:prstGeom prst="rect">
            <a:avLst/>
          </a:prstGeom>
          <a:noFill/>
          <a:ln>
            <a:noFill/>
          </a:ln>
        </p:spPr>
        <p:txBody>
          <a:bodyPr spcFirstLastPara="1" wrap="square" lIns="0" tIns="0" rIns="0" bIns="0" anchor="t" anchorCtr="0">
            <a:spAutoFit/>
          </a:bodyPr>
          <a:lstStyle/>
          <a:p>
            <a:pPr lvl="1">
              <a:lnSpc>
                <a:spcPct val="130000"/>
              </a:lnSpc>
              <a:buClr>
                <a:schemeClr val="dk2"/>
              </a:buClr>
              <a:buSzPts val="1400"/>
            </a:pPr>
            <a:r>
              <a:rPr lang="en-US" sz="1200" b="0" i="0" u="none" strike="noStrike" cap="none" dirty="0">
                <a:solidFill>
                  <a:srgbClr val="53565A"/>
                </a:solidFill>
                <a:latin typeface="Arial"/>
                <a:ea typeface="Arial"/>
                <a:cs typeface="Arial"/>
                <a:sym typeface="Arial"/>
              </a:rPr>
              <a:t>Delivers Complete Operational Transparency of Cost, Operations and Compliance to both </a:t>
            </a:r>
            <a:r>
              <a:rPr lang="en-US" sz="1200" b="1" i="0" u="none" strike="noStrike" cap="none" dirty="0">
                <a:solidFill>
                  <a:srgbClr val="53565A"/>
                </a:solidFill>
                <a:latin typeface="Arial"/>
                <a:ea typeface="Arial"/>
                <a:cs typeface="Arial"/>
                <a:sym typeface="Arial"/>
              </a:rPr>
              <a:t>IaaS Approver</a:t>
            </a:r>
            <a:r>
              <a:rPr lang="en-US" sz="1200" b="0" i="0" u="none" strike="noStrike" cap="none" dirty="0">
                <a:solidFill>
                  <a:srgbClr val="53565A"/>
                </a:solidFill>
                <a:latin typeface="Arial"/>
                <a:ea typeface="Arial"/>
                <a:cs typeface="Arial"/>
                <a:sym typeface="Arial"/>
              </a:rPr>
              <a:t> and</a:t>
            </a:r>
            <a:r>
              <a:rPr lang="en-US" sz="1200" b="0" i="0" u="none" strike="noStrike" cap="none" dirty="0">
                <a:solidFill>
                  <a:schemeClr val="lt2"/>
                </a:solidFill>
                <a:latin typeface="Arial"/>
                <a:ea typeface="Arial"/>
                <a:cs typeface="Arial"/>
                <a:sym typeface="Arial"/>
              </a:rPr>
              <a:t> </a:t>
            </a:r>
            <a:r>
              <a:rPr lang="en-US" sz="1200" b="1" i="0" u="none" strike="noStrike" cap="none" dirty="0">
                <a:solidFill>
                  <a:schemeClr val="accent4"/>
                </a:solidFill>
                <a:latin typeface="Arial"/>
                <a:ea typeface="Arial"/>
                <a:cs typeface="Arial"/>
                <a:sym typeface="Arial"/>
              </a:rPr>
              <a:t>IaaS Administrators</a:t>
            </a:r>
            <a:r>
              <a:rPr lang="en-US" sz="1000" b="0" i="0" u="none" strike="noStrike" cap="none" dirty="0">
                <a:solidFill>
                  <a:schemeClr val="lt2"/>
                </a:solidFill>
                <a:latin typeface="Arial"/>
                <a:ea typeface="Arial"/>
                <a:cs typeface="Arial"/>
                <a:sym typeface="Arial"/>
              </a:rPr>
              <a:t>.</a:t>
            </a:r>
            <a:endParaRPr sz="1200" b="0" i="0" u="none" strike="noStrike" cap="none" dirty="0">
              <a:solidFill>
                <a:schemeClr val="l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2" name="Title 1">
            <a:extLst>
              <a:ext uri="{FF2B5EF4-FFF2-40B4-BE49-F238E27FC236}">
                <a16:creationId xmlns:a16="http://schemas.microsoft.com/office/drawing/2014/main" id="{7CB5A6E0-BB26-CD2D-2FE2-0BB96065DFC1}"/>
              </a:ext>
            </a:extLst>
          </p:cNvPr>
          <p:cNvSpPr>
            <a:spLocks noGrp="1"/>
          </p:cNvSpPr>
          <p:nvPr>
            <p:ph type="title"/>
          </p:nvPr>
        </p:nvSpPr>
        <p:spPr>
          <a:xfrm>
            <a:off x="589107" y="938794"/>
            <a:ext cx="6838235" cy="1229360"/>
          </a:xfrm>
        </p:spPr>
        <p:txBody>
          <a:bodyPr/>
          <a:lstStyle/>
          <a:p>
            <a:r>
              <a:rPr lang="en-US" dirty="0"/>
              <a:t>VMware Pro Cloud Services for Private Cloud</a:t>
            </a:r>
          </a:p>
        </p:txBody>
      </p:sp>
      <p:sp>
        <p:nvSpPr>
          <p:cNvPr id="1296" name="Google Shape;1296;p123"/>
          <p:cNvSpPr txBox="1">
            <a:spLocks noGrp="1"/>
          </p:cNvSpPr>
          <p:nvPr>
            <p:ph type="subTitle" idx="10"/>
          </p:nvPr>
        </p:nvSpPr>
        <p:spPr>
          <a:xfrm>
            <a:off x="602966" y="2267711"/>
            <a:ext cx="6408402" cy="872304"/>
          </a:xfrm>
          <a:prstGeom prst="rect">
            <a:avLst/>
          </a:prstGeom>
          <a:noFill/>
          <a:ln>
            <a:noFill/>
          </a:ln>
        </p:spPr>
        <p:txBody>
          <a:bodyPr spcFirstLastPara="1" wrap="square" lIns="0" tIns="0" rIns="0" bIns="0" anchor="b" anchorCtr="0">
            <a:normAutofit fontScale="92500" lnSpcReduction="20000"/>
          </a:bodyPr>
          <a:lstStyle/>
          <a:p>
            <a:pPr marL="0" marR="0" lvl="0" indent="0" algn="l" rtl="0">
              <a:lnSpc>
                <a:spcPct val="85000"/>
              </a:lnSpc>
              <a:spcBef>
                <a:spcPts val="1200"/>
              </a:spcBef>
              <a:spcAft>
                <a:spcPts val="0"/>
              </a:spcAft>
              <a:buClr>
                <a:schemeClr val="dk2"/>
              </a:buClr>
              <a:buSzPts val="3100"/>
              <a:buFont typeface="Arial"/>
              <a:buNone/>
            </a:pPr>
            <a:r>
              <a:rPr lang="en-US" dirty="0">
                <a:solidFill>
                  <a:schemeClr val="dk2"/>
                </a:solidFill>
              </a:rPr>
              <a:t>VMware Cloud Foundation</a:t>
            </a:r>
            <a:br>
              <a:rPr lang="en-US" dirty="0">
                <a:solidFill>
                  <a:schemeClr val="dk2"/>
                </a:solidFill>
              </a:rPr>
            </a:br>
            <a:r>
              <a:rPr lang="en-US" dirty="0">
                <a:solidFill>
                  <a:schemeClr val="dk2"/>
                </a:solidFill>
              </a:rPr>
              <a:t> </a:t>
            </a:r>
            <a:br>
              <a:rPr lang="en-US" dirty="0">
                <a:solidFill>
                  <a:schemeClr val="dk2"/>
                </a:solidFill>
              </a:rPr>
            </a:br>
            <a:r>
              <a:rPr lang="en-US" dirty="0">
                <a:solidFill>
                  <a:schemeClr val="dk2"/>
                </a:solidFill>
              </a:rPr>
              <a:t>Logical Architecture Patterns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19"/>
          <p:cNvSpPr/>
          <p:nvPr/>
        </p:nvSpPr>
        <p:spPr>
          <a:xfrm>
            <a:off x="0" y="4531027"/>
            <a:ext cx="12188825" cy="1442367"/>
          </a:xfrm>
          <a:prstGeom prst="rect">
            <a:avLst/>
          </a:prstGeom>
          <a:gradFill>
            <a:gsLst>
              <a:gs pos="0">
                <a:srgbClr val="F4F8FA"/>
              </a:gs>
              <a:gs pos="55000">
                <a:srgbClr val="F4F8FA"/>
              </a:gs>
              <a:gs pos="100000">
                <a:srgbClr val="F4F8FA">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02" name="Google Shape;1302;p19"/>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a:t>Scale-Aligned Implementation(s)</a:t>
            </a:r>
          </a:p>
        </p:txBody>
      </p:sp>
      <p:pic>
        <p:nvPicPr>
          <p:cNvPr id="1303" name="Google Shape;1303;p19"/>
          <p:cNvPicPr preferRelativeResize="0"/>
          <p:nvPr/>
        </p:nvPicPr>
        <p:blipFill rotWithShape="1">
          <a:blip r:embed="rId3">
            <a:alphaModFix/>
          </a:blip>
          <a:srcRect/>
          <a:stretch/>
        </p:blipFill>
        <p:spPr>
          <a:xfrm>
            <a:off x="513506" y="1745327"/>
            <a:ext cx="3228773" cy="2565874"/>
          </a:xfrm>
          <a:prstGeom prst="rect">
            <a:avLst/>
          </a:prstGeom>
          <a:noFill/>
          <a:ln>
            <a:noFill/>
          </a:ln>
        </p:spPr>
      </p:pic>
      <p:sp>
        <p:nvSpPr>
          <p:cNvPr id="1304" name="Google Shape;1304;p19"/>
          <p:cNvSpPr/>
          <p:nvPr/>
        </p:nvSpPr>
        <p:spPr>
          <a:xfrm>
            <a:off x="513505" y="4601224"/>
            <a:ext cx="3228774" cy="1301973"/>
          </a:xfrm>
          <a:prstGeom prst="rect">
            <a:avLst/>
          </a:prstGeom>
          <a:noFill/>
          <a:ln>
            <a:noFill/>
          </a:ln>
        </p:spPr>
        <p:txBody>
          <a:bodyPr spcFirstLastPara="1" wrap="square" lIns="274300" tIns="274300" rIns="274300" bIns="18287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accent1"/>
                </a:solidFill>
                <a:latin typeface="Arial"/>
                <a:ea typeface="Arial"/>
                <a:cs typeface="Arial"/>
                <a:sym typeface="Arial"/>
              </a:rPr>
              <a:t>Prescriptive Reference Architecture</a:t>
            </a:r>
            <a:endParaRPr sz="1400" b="0" i="0" u="none" strike="noStrike" cap="none" dirty="0">
              <a:solidFill>
                <a:schemeClr val="accen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r>
              <a:rPr lang="en-US" sz="1200" b="0" i="0" u="none" strike="noStrike" cap="none" dirty="0">
                <a:solidFill>
                  <a:srgbClr val="53565A"/>
                </a:solidFill>
                <a:latin typeface="Arial"/>
                <a:ea typeface="Arial"/>
                <a:cs typeface="Arial"/>
                <a:sym typeface="Arial"/>
              </a:rPr>
              <a:t>Built from our breadth of customer deployments and best practices</a:t>
            </a:r>
            <a:endParaRPr sz="1400" b="0" i="0" u="none" strike="noStrike" cap="none" dirty="0">
              <a:solidFill>
                <a:srgbClr val="53565A"/>
              </a:solidFill>
              <a:latin typeface="Arial"/>
              <a:ea typeface="Arial"/>
              <a:cs typeface="Arial"/>
              <a:sym typeface="Arial"/>
            </a:endParaRPr>
          </a:p>
        </p:txBody>
      </p:sp>
      <p:sp>
        <p:nvSpPr>
          <p:cNvPr id="1305" name="Google Shape;1305;p19"/>
          <p:cNvSpPr/>
          <p:nvPr/>
        </p:nvSpPr>
        <p:spPr>
          <a:xfrm>
            <a:off x="5945187" y="4758838"/>
            <a:ext cx="5784551" cy="986745"/>
          </a:xfrm>
          <a:prstGeom prst="rect">
            <a:avLst/>
          </a:prstGeom>
          <a:noFill/>
          <a:ln>
            <a:noFill/>
          </a:ln>
        </p:spPr>
        <p:txBody>
          <a:bodyPr spcFirstLastPara="1" wrap="square" lIns="182875" tIns="45700" rIns="64007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accent1"/>
                </a:solidFill>
                <a:latin typeface="Arial"/>
                <a:ea typeface="Arial"/>
                <a:cs typeface="Arial"/>
                <a:sym typeface="Arial"/>
              </a:rPr>
              <a:t>Flexible Delivery Model</a:t>
            </a:r>
            <a:endParaRPr sz="1400" b="0" i="0" u="none" strike="noStrike" cap="none" dirty="0">
              <a:solidFill>
                <a:schemeClr val="accent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400"/>
              <a:buFont typeface="Arial"/>
              <a:buNone/>
            </a:pPr>
            <a:r>
              <a:rPr lang="en-US" sz="1400" b="0" i="0" u="none" strike="noStrike" cap="none" dirty="0">
                <a:solidFill>
                  <a:srgbClr val="53565A"/>
                </a:solidFill>
                <a:latin typeface="Arial"/>
                <a:ea typeface="Arial"/>
                <a:cs typeface="Arial"/>
                <a:sym typeface="Arial"/>
              </a:rPr>
              <a:t>Combines a prescriptive approach with flexibility to adapt to your deployment needs.  Seamlessly transition FSA/FSD to PSO deployment teams for rapid deployment.</a:t>
            </a:r>
            <a:endParaRPr sz="1400" b="0" i="0" u="none" strike="noStrike" cap="none" dirty="0">
              <a:solidFill>
                <a:srgbClr val="53565A"/>
              </a:solidFill>
              <a:latin typeface="Arial"/>
              <a:ea typeface="Arial"/>
              <a:cs typeface="Arial"/>
              <a:sym typeface="Arial"/>
            </a:endParaRPr>
          </a:p>
        </p:txBody>
      </p:sp>
      <p:grpSp>
        <p:nvGrpSpPr>
          <p:cNvPr id="1306" name="Google Shape;1306;p19" descr="Roadmap&#10;"/>
          <p:cNvGrpSpPr/>
          <p:nvPr/>
        </p:nvGrpSpPr>
        <p:grpSpPr>
          <a:xfrm>
            <a:off x="4255784" y="4779754"/>
            <a:ext cx="935845" cy="944914"/>
            <a:chOff x="3169302" y="3187004"/>
            <a:chExt cx="587555" cy="593248"/>
          </a:xfrm>
        </p:grpSpPr>
        <p:grpSp>
          <p:nvGrpSpPr>
            <p:cNvPr id="1307" name="Google Shape;1307;p19"/>
            <p:cNvGrpSpPr/>
            <p:nvPr/>
          </p:nvGrpSpPr>
          <p:grpSpPr>
            <a:xfrm>
              <a:off x="3295162" y="3369153"/>
              <a:ext cx="461695" cy="411099"/>
              <a:chOff x="3295162" y="3369153"/>
              <a:chExt cx="461695" cy="411099"/>
            </a:xfrm>
          </p:grpSpPr>
          <p:sp>
            <p:nvSpPr>
              <p:cNvPr id="1308" name="Google Shape;1308;p19"/>
              <p:cNvSpPr/>
              <p:nvPr/>
            </p:nvSpPr>
            <p:spPr>
              <a:xfrm>
                <a:off x="3572179" y="3369153"/>
                <a:ext cx="7589" cy="15811"/>
              </a:xfrm>
              <a:custGeom>
                <a:avLst/>
                <a:gdLst/>
                <a:ahLst/>
                <a:cxnLst/>
                <a:rect l="l" t="t" r="r" b="b"/>
                <a:pathLst>
                  <a:path w="7589" h="15811" extrusionOk="0">
                    <a:moveTo>
                      <a:pt x="0" y="0"/>
                    </a:moveTo>
                    <a:lnTo>
                      <a:pt x="7590" y="0"/>
                    </a:lnTo>
                    <a:lnTo>
                      <a:pt x="7590" y="15812"/>
                    </a:lnTo>
                    <a:lnTo>
                      <a:pt x="0" y="1581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1309" name="Google Shape;1309;p19"/>
              <p:cNvSpPr/>
              <p:nvPr/>
            </p:nvSpPr>
            <p:spPr>
              <a:xfrm>
                <a:off x="3319828" y="3369153"/>
                <a:ext cx="437029" cy="411099"/>
              </a:xfrm>
              <a:custGeom>
                <a:avLst/>
                <a:gdLst/>
                <a:ahLst/>
                <a:cxnLst/>
                <a:rect l="l" t="t" r="r" b="b"/>
                <a:pathLst>
                  <a:path w="437029" h="411099" extrusionOk="0">
                    <a:moveTo>
                      <a:pt x="386433" y="411099"/>
                    </a:moveTo>
                    <a:cubicBezTo>
                      <a:pt x="386433" y="411099"/>
                      <a:pt x="386433" y="411099"/>
                      <a:pt x="386433" y="411099"/>
                    </a:cubicBezTo>
                    <a:lnTo>
                      <a:pt x="379476" y="411099"/>
                    </a:lnTo>
                    <a:lnTo>
                      <a:pt x="379476" y="395288"/>
                    </a:lnTo>
                    <a:lnTo>
                      <a:pt x="386433" y="395288"/>
                    </a:lnTo>
                    <a:cubicBezTo>
                      <a:pt x="386433" y="395288"/>
                      <a:pt x="386433" y="395288"/>
                      <a:pt x="386433" y="395288"/>
                    </a:cubicBezTo>
                    <a:cubicBezTo>
                      <a:pt x="388963" y="395288"/>
                      <a:pt x="390860" y="395288"/>
                      <a:pt x="393390" y="394655"/>
                    </a:cubicBezTo>
                    <a:lnTo>
                      <a:pt x="396552" y="409834"/>
                    </a:lnTo>
                    <a:cubicBezTo>
                      <a:pt x="393390" y="410467"/>
                      <a:pt x="390228" y="411099"/>
                      <a:pt x="386433" y="411099"/>
                    </a:cubicBezTo>
                    <a:close/>
                    <a:moveTo>
                      <a:pt x="363665" y="411099"/>
                    </a:moveTo>
                    <a:lnTo>
                      <a:pt x="347853" y="411099"/>
                    </a:lnTo>
                    <a:lnTo>
                      <a:pt x="347853" y="395288"/>
                    </a:lnTo>
                    <a:lnTo>
                      <a:pt x="363665" y="395288"/>
                    </a:lnTo>
                    <a:lnTo>
                      <a:pt x="363665" y="411099"/>
                    </a:lnTo>
                    <a:close/>
                    <a:moveTo>
                      <a:pt x="332042" y="411099"/>
                    </a:moveTo>
                    <a:lnTo>
                      <a:pt x="316230" y="411099"/>
                    </a:lnTo>
                    <a:lnTo>
                      <a:pt x="316230" y="395288"/>
                    </a:lnTo>
                    <a:lnTo>
                      <a:pt x="332042" y="395288"/>
                    </a:lnTo>
                    <a:lnTo>
                      <a:pt x="332042" y="411099"/>
                    </a:lnTo>
                    <a:close/>
                    <a:moveTo>
                      <a:pt x="300419" y="411099"/>
                    </a:moveTo>
                    <a:lnTo>
                      <a:pt x="284607" y="411099"/>
                    </a:lnTo>
                    <a:lnTo>
                      <a:pt x="284607" y="395288"/>
                    </a:lnTo>
                    <a:lnTo>
                      <a:pt x="300419" y="395288"/>
                    </a:lnTo>
                    <a:lnTo>
                      <a:pt x="300419" y="411099"/>
                    </a:lnTo>
                    <a:close/>
                    <a:moveTo>
                      <a:pt x="268796" y="411099"/>
                    </a:moveTo>
                    <a:lnTo>
                      <a:pt x="252984" y="411099"/>
                    </a:lnTo>
                    <a:lnTo>
                      <a:pt x="252984" y="395288"/>
                    </a:lnTo>
                    <a:lnTo>
                      <a:pt x="268796" y="395288"/>
                    </a:lnTo>
                    <a:lnTo>
                      <a:pt x="268796" y="411099"/>
                    </a:lnTo>
                    <a:close/>
                    <a:moveTo>
                      <a:pt x="237173" y="411099"/>
                    </a:moveTo>
                    <a:lnTo>
                      <a:pt x="221361" y="411099"/>
                    </a:lnTo>
                    <a:lnTo>
                      <a:pt x="221361" y="395288"/>
                    </a:lnTo>
                    <a:lnTo>
                      <a:pt x="237173" y="395288"/>
                    </a:lnTo>
                    <a:lnTo>
                      <a:pt x="237173" y="411099"/>
                    </a:lnTo>
                    <a:close/>
                    <a:moveTo>
                      <a:pt x="205550" y="411099"/>
                    </a:moveTo>
                    <a:lnTo>
                      <a:pt x="189738" y="411099"/>
                    </a:lnTo>
                    <a:lnTo>
                      <a:pt x="189738" y="395288"/>
                    </a:lnTo>
                    <a:lnTo>
                      <a:pt x="205550" y="395288"/>
                    </a:lnTo>
                    <a:lnTo>
                      <a:pt x="205550" y="411099"/>
                    </a:lnTo>
                    <a:close/>
                    <a:moveTo>
                      <a:pt x="173927" y="411099"/>
                    </a:moveTo>
                    <a:lnTo>
                      <a:pt x="158115" y="411099"/>
                    </a:lnTo>
                    <a:lnTo>
                      <a:pt x="158115" y="395288"/>
                    </a:lnTo>
                    <a:lnTo>
                      <a:pt x="173927" y="395288"/>
                    </a:lnTo>
                    <a:lnTo>
                      <a:pt x="173927" y="411099"/>
                    </a:lnTo>
                    <a:close/>
                    <a:moveTo>
                      <a:pt x="142304" y="411099"/>
                    </a:moveTo>
                    <a:lnTo>
                      <a:pt x="126492" y="411099"/>
                    </a:lnTo>
                    <a:lnTo>
                      <a:pt x="126492" y="395288"/>
                    </a:lnTo>
                    <a:lnTo>
                      <a:pt x="142304" y="395288"/>
                    </a:lnTo>
                    <a:lnTo>
                      <a:pt x="142304" y="411099"/>
                    </a:lnTo>
                    <a:close/>
                    <a:moveTo>
                      <a:pt x="110681" y="411099"/>
                    </a:moveTo>
                    <a:lnTo>
                      <a:pt x="94869" y="411099"/>
                    </a:lnTo>
                    <a:lnTo>
                      <a:pt x="94869" y="395288"/>
                    </a:lnTo>
                    <a:lnTo>
                      <a:pt x="110681" y="395288"/>
                    </a:lnTo>
                    <a:lnTo>
                      <a:pt x="110681" y="411099"/>
                    </a:lnTo>
                    <a:close/>
                    <a:moveTo>
                      <a:pt x="79058" y="411099"/>
                    </a:moveTo>
                    <a:lnTo>
                      <a:pt x="63246" y="411099"/>
                    </a:lnTo>
                    <a:lnTo>
                      <a:pt x="63246" y="395288"/>
                    </a:lnTo>
                    <a:lnTo>
                      <a:pt x="79058" y="395288"/>
                    </a:lnTo>
                    <a:lnTo>
                      <a:pt x="79058" y="411099"/>
                    </a:lnTo>
                    <a:close/>
                    <a:moveTo>
                      <a:pt x="47435" y="411099"/>
                    </a:moveTo>
                    <a:lnTo>
                      <a:pt x="31623" y="411099"/>
                    </a:lnTo>
                    <a:lnTo>
                      <a:pt x="31623" y="395288"/>
                    </a:lnTo>
                    <a:lnTo>
                      <a:pt x="47435" y="395288"/>
                    </a:lnTo>
                    <a:lnTo>
                      <a:pt x="47435" y="411099"/>
                    </a:lnTo>
                    <a:close/>
                    <a:moveTo>
                      <a:pt x="15812" y="411099"/>
                    </a:moveTo>
                    <a:lnTo>
                      <a:pt x="0" y="411099"/>
                    </a:lnTo>
                    <a:lnTo>
                      <a:pt x="0" y="395288"/>
                    </a:lnTo>
                    <a:lnTo>
                      <a:pt x="15812" y="395288"/>
                    </a:lnTo>
                    <a:lnTo>
                      <a:pt x="15812" y="411099"/>
                    </a:lnTo>
                    <a:close/>
                    <a:moveTo>
                      <a:pt x="414261" y="402245"/>
                    </a:moveTo>
                    <a:lnTo>
                      <a:pt x="405407" y="388963"/>
                    </a:lnTo>
                    <a:cubicBezTo>
                      <a:pt x="409202" y="386433"/>
                      <a:pt x="412364" y="383271"/>
                      <a:pt x="414894" y="380108"/>
                    </a:cubicBezTo>
                    <a:lnTo>
                      <a:pt x="427543" y="388963"/>
                    </a:lnTo>
                    <a:cubicBezTo>
                      <a:pt x="423748" y="394655"/>
                      <a:pt x="419321" y="399082"/>
                      <a:pt x="414261" y="402245"/>
                    </a:cubicBezTo>
                    <a:close/>
                    <a:moveTo>
                      <a:pt x="435133" y="372519"/>
                    </a:moveTo>
                    <a:lnTo>
                      <a:pt x="419953" y="368092"/>
                    </a:lnTo>
                    <a:cubicBezTo>
                      <a:pt x="420586" y="364929"/>
                      <a:pt x="421218" y="361135"/>
                      <a:pt x="421218" y="357972"/>
                    </a:cubicBezTo>
                    <a:lnTo>
                      <a:pt x="421218" y="354810"/>
                    </a:lnTo>
                    <a:lnTo>
                      <a:pt x="437030" y="354810"/>
                    </a:lnTo>
                    <a:lnTo>
                      <a:pt x="437030" y="357972"/>
                    </a:lnTo>
                    <a:cubicBezTo>
                      <a:pt x="437030" y="363032"/>
                      <a:pt x="436397" y="368092"/>
                      <a:pt x="435133" y="372519"/>
                    </a:cubicBezTo>
                    <a:close/>
                    <a:moveTo>
                      <a:pt x="421218" y="340263"/>
                    </a:moveTo>
                    <a:cubicBezTo>
                      <a:pt x="420586" y="335836"/>
                      <a:pt x="419321" y="331409"/>
                      <a:pt x="417424" y="327614"/>
                    </a:cubicBezTo>
                    <a:lnTo>
                      <a:pt x="431338" y="320657"/>
                    </a:lnTo>
                    <a:cubicBezTo>
                      <a:pt x="433868" y="326349"/>
                      <a:pt x="435765" y="332042"/>
                      <a:pt x="436397" y="338366"/>
                    </a:cubicBezTo>
                    <a:lnTo>
                      <a:pt x="421218" y="340263"/>
                    </a:lnTo>
                    <a:close/>
                    <a:moveTo>
                      <a:pt x="409834" y="316862"/>
                    </a:moveTo>
                    <a:cubicBezTo>
                      <a:pt x="406672" y="313700"/>
                      <a:pt x="402877" y="311803"/>
                      <a:pt x="399082" y="309905"/>
                    </a:cubicBezTo>
                    <a:lnTo>
                      <a:pt x="404774" y="295359"/>
                    </a:lnTo>
                    <a:cubicBezTo>
                      <a:pt x="410467" y="297889"/>
                      <a:pt x="415526" y="301051"/>
                      <a:pt x="420586" y="305478"/>
                    </a:cubicBezTo>
                    <a:lnTo>
                      <a:pt x="409834" y="316862"/>
                    </a:lnTo>
                    <a:close/>
                    <a:moveTo>
                      <a:pt x="386433" y="308008"/>
                    </a:moveTo>
                    <a:lnTo>
                      <a:pt x="370622" y="308008"/>
                    </a:lnTo>
                    <a:lnTo>
                      <a:pt x="370622" y="292197"/>
                    </a:lnTo>
                    <a:lnTo>
                      <a:pt x="386433" y="292197"/>
                    </a:lnTo>
                    <a:lnTo>
                      <a:pt x="386433" y="308008"/>
                    </a:lnTo>
                    <a:close/>
                    <a:moveTo>
                      <a:pt x="354810" y="308008"/>
                    </a:moveTo>
                    <a:lnTo>
                      <a:pt x="338999" y="308008"/>
                    </a:lnTo>
                    <a:lnTo>
                      <a:pt x="338999" y="292197"/>
                    </a:lnTo>
                    <a:lnTo>
                      <a:pt x="354810" y="292197"/>
                    </a:lnTo>
                    <a:lnTo>
                      <a:pt x="354810" y="308008"/>
                    </a:lnTo>
                    <a:close/>
                    <a:moveTo>
                      <a:pt x="323187" y="308008"/>
                    </a:moveTo>
                    <a:lnTo>
                      <a:pt x="307376" y="308008"/>
                    </a:lnTo>
                    <a:lnTo>
                      <a:pt x="307376" y="292197"/>
                    </a:lnTo>
                    <a:lnTo>
                      <a:pt x="323187" y="292197"/>
                    </a:lnTo>
                    <a:lnTo>
                      <a:pt x="323187" y="308008"/>
                    </a:lnTo>
                    <a:close/>
                    <a:moveTo>
                      <a:pt x="291564" y="308008"/>
                    </a:moveTo>
                    <a:lnTo>
                      <a:pt x="275753" y="308008"/>
                    </a:lnTo>
                    <a:lnTo>
                      <a:pt x="275753" y="292197"/>
                    </a:lnTo>
                    <a:lnTo>
                      <a:pt x="291564" y="292197"/>
                    </a:lnTo>
                    <a:lnTo>
                      <a:pt x="291564" y="308008"/>
                    </a:lnTo>
                    <a:close/>
                    <a:moveTo>
                      <a:pt x="259941" y="308008"/>
                    </a:moveTo>
                    <a:lnTo>
                      <a:pt x="244130" y="308008"/>
                    </a:lnTo>
                    <a:lnTo>
                      <a:pt x="244130" y="292197"/>
                    </a:lnTo>
                    <a:lnTo>
                      <a:pt x="259941" y="292197"/>
                    </a:lnTo>
                    <a:lnTo>
                      <a:pt x="259941" y="308008"/>
                    </a:lnTo>
                    <a:close/>
                    <a:moveTo>
                      <a:pt x="228318" y="308008"/>
                    </a:moveTo>
                    <a:lnTo>
                      <a:pt x="212507" y="308008"/>
                    </a:lnTo>
                    <a:lnTo>
                      <a:pt x="212507" y="292197"/>
                    </a:lnTo>
                    <a:lnTo>
                      <a:pt x="228318" y="292197"/>
                    </a:lnTo>
                    <a:lnTo>
                      <a:pt x="228318" y="308008"/>
                    </a:lnTo>
                    <a:close/>
                    <a:moveTo>
                      <a:pt x="196695" y="308008"/>
                    </a:moveTo>
                    <a:lnTo>
                      <a:pt x="180884" y="308008"/>
                    </a:lnTo>
                    <a:lnTo>
                      <a:pt x="180884" y="292197"/>
                    </a:lnTo>
                    <a:lnTo>
                      <a:pt x="196695" y="292197"/>
                    </a:lnTo>
                    <a:lnTo>
                      <a:pt x="196695" y="308008"/>
                    </a:lnTo>
                    <a:close/>
                    <a:moveTo>
                      <a:pt x="165072" y="307376"/>
                    </a:moveTo>
                    <a:cubicBezTo>
                      <a:pt x="158747" y="306743"/>
                      <a:pt x="152423" y="305478"/>
                      <a:pt x="146731" y="302948"/>
                    </a:cubicBezTo>
                    <a:lnTo>
                      <a:pt x="153688" y="288402"/>
                    </a:lnTo>
                    <a:cubicBezTo>
                      <a:pt x="157483" y="290299"/>
                      <a:pt x="161910" y="291564"/>
                      <a:pt x="165705" y="291564"/>
                    </a:cubicBezTo>
                    <a:lnTo>
                      <a:pt x="165072" y="307376"/>
                    </a:lnTo>
                    <a:close/>
                    <a:moveTo>
                      <a:pt x="131552" y="292197"/>
                    </a:moveTo>
                    <a:cubicBezTo>
                      <a:pt x="127124" y="287769"/>
                      <a:pt x="123962" y="282710"/>
                      <a:pt x="121432" y="277017"/>
                    </a:cubicBezTo>
                    <a:lnTo>
                      <a:pt x="135979" y="270693"/>
                    </a:lnTo>
                    <a:cubicBezTo>
                      <a:pt x="137876" y="274488"/>
                      <a:pt x="140406" y="278282"/>
                      <a:pt x="142936" y="281445"/>
                    </a:cubicBezTo>
                    <a:lnTo>
                      <a:pt x="131552" y="292197"/>
                    </a:lnTo>
                    <a:close/>
                    <a:moveTo>
                      <a:pt x="117005" y="258676"/>
                    </a:moveTo>
                    <a:cubicBezTo>
                      <a:pt x="117005" y="257411"/>
                      <a:pt x="117005" y="256146"/>
                      <a:pt x="117005" y="254881"/>
                    </a:cubicBezTo>
                    <a:lnTo>
                      <a:pt x="117005" y="247924"/>
                    </a:lnTo>
                    <a:cubicBezTo>
                      <a:pt x="117005" y="245394"/>
                      <a:pt x="117005" y="243497"/>
                      <a:pt x="117638" y="241600"/>
                    </a:cubicBezTo>
                    <a:lnTo>
                      <a:pt x="133449" y="243497"/>
                    </a:lnTo>
                    <a:cubicBezTo>
                      <a:pt x="133449" y="244762"/>
                      <a:pt x="133449" y="246659"/>
                      <a:pt x="133449" y="247924"/>
                    </a:cubicBezTo>
                    <a:lnTo>
                      <a:pt x="133449" y="254881"/>
                    </a:lnTo>
                    <a:cubicBezTo>
                      <a:pt x="133449" y="255514"/>
                      <a:pt x="133449" y="256779"/>
                      <a:pt x="133449" y="257411"/>
                    </a:cubicBezTo>
                    <a:lnTo>
                      <a:pt x="117005" y="258676"/>
                    </a:lnTo>
                    <a:close/>
                    <a:moveTo>
                      <a:pt x="137244" y="230848"/>
                    </a:moveTo>
                    <a:lnTo>
                      <a:pt x="123330" y="223891"/>
                    </a:lnTo>
                    <a:cubicBezTo>
                      <a:pt x="125860" y="218199"/>
                      <a:pt x="129654" y="213139"/>
                      <a:pt x="134714" y="209344"/>
                    </a:cubicBezTo>
                    <a:lnTo>
                      <a:pt x="145466" y="220729"/>
                    </a:lnTo>
                    <a:cubicBezTo>
                      <a:pt x="141671" y="223258"/>
                      <a:pt x="139141" y="227053"/>
                      <a:pt x="137244" y="230848"/>
                    </a:cubicBezTo>
                    <a:close/>
                    <a:moveTo>
                      <a:pt x="155585" y="213771"/>
                    </a:moveTo>
                    <a:lnTo>
                      <a:pt x="149893" y="199225"/>
                    </a:lnTo>
                    <a:cubicBezTo>
                      <a:pt x="155585" y="196695"/>
                      <a:pt x="161910" y="196063"/>
                      <a:pt x="168234" y="196063"/>
                    </a:cubicBezTo>
                    <a:lnTo>
                      <a:pt x="168234" y="211874"/>
                    </a:lnTo>
                    <a:lnTo>
                      <a:pt x="168234" y="211874"/>
                    </a:lnTo>
                    <a:cubicBezTo>
                      <a:pt x="163807" y="211242"/>
                      <a:pt x="159380" y="211874"/>
                      <a:pt x="155585" y="213771"/>
                    </a:cubicBezTo>
                    <a:close/>
                    <a:moveTo>
                      <a:pt x="343426" y="211242"/>
                    </a:moveTo>
                    <a:lnTo>
                      <a:pt x="342161" y="211242"/>
                    </a:lnTo>
                    <a:lnTo>
                      <a:pt x="342161" y="195430"/>
                    </a:lnTo>
                    <a:lnTo>
                      <a:pt x="343426" y="195430"/>
                    </a:lnTo>
                    <a:cubicBezTo>
                      <a:pt x="347221" y="195430"/>
                      <a:pt x="351015" y="194798"/>
                      <a:pt x="354810" y="193533"/>
                    </a:cubicBezTo>
                    <a:lnTo>
                      <a:pt x="360502" y="208079"/>
                    </a:lnTo>
                    <a:cubicBezTo>
                      <a:pt x="354810" y="209977"/>
                      <a:pt x="349118" y="211242"/>
                      <a:pt x="343426" y="211242"/>
                    </a:cubicBezTo>
                    <a:close/>
                    <a:moveTo>
                      <a:pt x="326349" y="211242"/>
                    </a:moveTo>
                    <a:lnTo>
                      <a:pt x="310538" y="211242"/>
                    </a:lnTo>
                    <a:lnTo>
                      <a:pt x="310538" y="195430"/>
                    </a:lnTo>
                    <a:lnTo>
                      <a:pt x="326349" y="195430"/>
                    </a:lnTo>
                    <a:lnTo>
                      <a:pt x="326349" y="211242"/>
                    </a:lnTo>
                    <a:close/>
                    <a:moveTo>
                      <a:pt x="294726" y="211242"/>
                    </a:moveTo>
                    <a:lnTo>
                      <a:pt x="278915" y="211242"/>
                    </a:lnTo>
                    <a:lnTo>
                      <a:pt x="278915" y="195430"/>
                    </a:lnTo>
                    <a:lnTo>
                      <a:pt x="294726" y="195430"/>
                    </a:lnTo>
                    <a:lnTo>
                      <a:pt x="294726" y="211242"/>
                    </a:lnTo>
                    <a:close/>
                    <a:moveTo>
                      <a:pt x="263103" y="211242"/>
                    </a:moveTo>
                    <a:lnTo>
                      <a:pt x="247292" y="211242"/>
                    </a:lnTo>
                    <a:lnTo>
                      <a:pt x="247292" y="195430"/>
                    </a:lnTo>
                    <a:lnTo>
                      <a:pt x="263103" y="195430"/>
                    </a:lnTo>
                    <a:lnTo>
                      <a:pt x="263103" y="211242"/>
                    </a:lnTo>
                    <a:close/>
                    <a:moveTo>
                      <a:pt x="231480" y="211242"/>
                    </a:moveTo>
                    <a:lnTo>
                      <a:pt x="215669" y="211242"/>
                    </a:lnTo>
                    <a:lnTo>
                      <a:pt x="215669" y="195430"/>
                    </a:lnTo>
                    <a:lnTo>
                      <a:pt x="231480" y="195430"/>
                    </a:lnTo>
                    <a:lnTo>
                      <a:pt x="231480" y="211242"/>
                    </a:lnTo>
                    <a:close/>
                    <a:moveTo>
                      <a:pt x="199857" y="211242"/>
                    </a:moveTo>
                    <a:lnTo>
                      <a:pt x="184046" y="211242"/>
                    </a:lnTo>
                    <a:lnTo>
                      <a:pt x="184046" y="195430"/>
                    </a:lnTo>
                    <a:lnTo>
                      <a:pt x="199857" y="195430"/>
                    </a:lnTo>
                    <a:lnTo>
                      <a:pt x="199857" y="211242"/>
                    </a:lnTo>
                    <a:close/>
                    <a:moveTo>
                      <a:pt x="376314" y="198592"/>
                    </a:moveTo>
                    <a:lnTo>
                      <a:pt x="365562" y="187208"/>
                    </a:lnTo>
                    <a:cubicBezTo>
                      <a:pt x="368724" y="184046"/>
                      <a:pt x="371254" y="180884"/>
                      <a:pt x="373784" y="177089"/>
                    </a:cubicBezTo>
                    <a:lnTo>
                      <a:pt x="387698" y="184678"/>
                    </a:lnTo>
                    <a:cubicBezTo>
                      <a:pt x="384536" y="189738"/>
                      <a:pt x="380741" y="194798"/>
                      <a:pt x="376314" y="198592"/>
                    </a:cubicBezTo>
                    <a:close/>
                    <a:moveTo>
                      <a:pt x="393390" y="166969"/>
                    </a:moveTo>
                    <a:lnTo>
                      <a:pt x="377579" y="164440"/>
                    </a:lnTo>
                    <a:cubicBezTo>
                      <a:pt x="377579" y="162542"/>
                      <a:pt x="378211" y="160645"/>
                      <a:pt x="378211" y="158747"/>
                    </a:cubicBezTo>
                    <a:lnTo>
                      <a:pt x="378211" y="149893"/>
                    </a:lnTo>
                    <a:lnTo>
                      <a:pt x="394023" y="149893"/>
                    </a:lnTo>
                    <a:lnTo>
                      <a:pt x="394023" y="158747"/>
                    </a:lnTo>
                    <a:cubicBezTo>
                      <a:pt x="394023" y="161277"/>
                      <a:pt x="394023" y="163807"/>
                      <a:pt x="393390" y="166969"/>
                    </a:cubicBezTo>
                    <a:close/>
                    <a:moveTo>
                      <a:pt x="377579" y="135346"/>
                    </a:moveTo>
                    <a:cubicBezTo>
                      <a:pt x="376946" y="130919"/>
                      <a:pt x="375049" y="127124"/>
                      <a:pt x="373151" y="123330"/>
                    </a:cubicBezTo>
                    <a:lnTo>
                      <a:pt x="387066" y="115740"/>
                    </a:lnTo>
                    <a:cubicBezTo>
                      <a:pt x="390228" y="120800"/>
                      <a:pt x="392125" y="127124"/>
                      <a:pt x="393390" y="132817"/>
                    </a:cubicBezTo>
                    <a:lnTo>
                      <a:pt x="377579" y="135346"/>
                    </a:lnTo>
                    <a:close/>
                    <a:moveTo>
                      <a:pt x="364929" y="113210"/>
                    </a:moveTo>
                    <a:cubicBezTo>
                      <a:pt x="361767" y="110681"/>
                      <a:pt x="357972" y="108151"/>
                      <a:pt x="353545" y="106886"/>
                    </a:cubicBezTo>
                    <a:lnTo>
                      <a:pt x="358605" y="91707"/>
                    </a:lnTo>
                    <a:cubicBezTo>
                      <a:pt x="364297" y="93604"/>
                      <a:pt x="369989" y="96766"/>
                      <a:pt x="375049" y="100561"/>
                    </a:cubicBezTo>
                    <a:lnTo>
                      <a:pt x="364929" y="113210"/>
                    </a:lnTo>
                    <a:close/>
                    <a:moveTo>
                      <a:pt x="340264" y="105621"/>
                    </a:moveTo>
                    <a:lnTo>
                      <a:pt x="324452" y="105621"/>
                    </a:lnTo>
                    <a:lnTo>
                      <a:pt x="324452" y="89809"/>
                    </a:lnTo>
                    <a:lnTo>
                      <a:pt x="340264" y="89809"/>
                    </a:lnTo>
                    <a:lnTo>
                      <a:pt x="340264" y="105621"/>
                    </a:lnTo>
                    <a:close/>
                    <a:moveTo>
                      <a:pt x="308641" y="105621"/>
                    </a:moveTo>
                    <a:lnTo>
                      <a:pt x="292829" y="105621"/>
                    </a:lnTo>
                    <a:lnTo>
                      <a:pt x="292829" y="89809"/>
                    </a:lnTo>
                    <a:lnTo>
                      <a:pt x="308641" y="89809"/>
                    </a:lnTo>
                    <a:lnTo>
                      <a:pt x="308641" y="105621"/>
                    </a:lnTo>
                    <a:close/>
                    <a:moveTo>
                      <a:pt x="277018" y="105621"/>
                    </a:moveTo>
                    <a:lnTo>
                      <a:pt x="261206" y="105621"/>
                    </a:lnTo>
                    <a:lnTo>
                      <a:pt x="261206" y="89809"/>
                    </a:lnTo>
                    <a:lnTo>
                      <a:pt x="277018" y="89809"/>
                    </a:lnTo>
                    <a:lnTo>
                      <a:pt x="277018" y="105621"/>
                    </a:lnTo>
                    <a:close/>
                    <a:moveTo>
                      <a:pt x="245395" y="105621"/>
                    </a:moveTo>
                    <a:lnTo>
                      <a:pt x="229583" y="105621"/>
                    </a:lnTo>
                    <a:lnTo>
                      <a:pt x="229583" y="89809"/>
                    </a:lnTo>
                    <a:lnTo>
                      <a:pt x="245395" y="89809"/>
                    </a:lnTo>
                    <a:lnTo>
                      <a:pt x="245395" y="105621"/>
                    </a:lnTo>
                    <a:close/>
                    <a:moveTo>
                      <a:pt x="213772" y="105621"/>
                    </a:moveTo>
                    <a:lnTo>
                      <a:pt x="197960" y="105621"/>
                    </a:lnTo>
                    <a:lnTo>
                      <a:pt x="197960" y="89809"/>
                    </a:lnTo>
                    <a:lnTo>
                      <a:pt x="213772" y="89809"/>
                    </a:lnTo>
                    <a:lnTo>
                      <a:pt x="213772" y="105621"/>
                    </a:lnTo>
                    <a:close/>
                    <a:moveTo>
                      <a:pt x="182149" y="105621"/>
                    </a:moveTo>
                    <a:lnTo>
                      <a:pt x="175191" y="105621"/>
                    </a:lnTo>
                    <a:cubicBezTo>
                      <a:pt x="172029" y="105621"/>
                      <a:pt x="168234" y="104988"/>
                      <a:pt x="165072" y="104356"/>
                    </a:cubicBezTo>
                    <a:lnTo>
                      <a:pt x="168234" y="89177"/>
                    </a:lnTo>
                    <a:cubicBezTo>
                      <a:pt x="170764" y="89809"/>
                      <a:pt x="172662" y="89809"/>
                      <a:pt x="175191" y="89809"/>
                    </a:cubicBezTo>
                    <a:lnTo>
                      <a:pt x="182149" y="89809"/>
                    </a:lnTo>
                    <a:lnTo>
                      <a:pt x="182149" y="105621"/>
                    </a:lnTo>
                    <a:close/>
                    <a:moveTo>
                      <a:pt x="147996" y="96766"/>
                    </a:moveTo>
                    <a:cubicBezTo>
                      <a:pt x="142936" y="93604"/>
                      <a:pt x="138509" y="89177"/>
                      <a:pt x="134714" y="84117"/>
                    </a:cubicBezTo>
                    <a:lnTo>
                      <a:pt x="147363" y="74630"/>
                    </a:lnTo>
                    <a:cubicBezTo>
                      <a:pt x="149893" y="78425"/>
                      <a:pt x="153055" y="80955"/>
                      <a:pt x="156850" y="83485"/>
                    </a:cubicBezTo>
                    <a:lnTo>
                      <a:pt x="147996" y="96766"/>
                    </a:lnTo>
                    <a:close/>
                    <a:moveTo>
                      <a:pt x="126492" y="67673"/>
                    </a:moveTo>
                    <a:cubicBezTo>
                      <a:pt x="125227" y="63246"/>
                      <a:pt x="124595" y="58186"/>
                      <a:pt x="124595" y="53127"/>
                    </a:cubicBezTo>
                    <a:cubicBezTo>
                      <a:pt x="124595" y="51862"/>
                      <a:pt x="124595" y="50597"/>
                      <a:pt x="124595" y="49332"/>
                    </a:cubicBezTo>
                    <a:lnTo>
                      <a:pt x="140406" y="50597"/>
                    </a:lnTo>
                    <a:cubicBezTo>
                      <a:pt x="140406" y="51229"/>
                      <a:pt x="140406" y="52494"/>
                      <a:pt x="140406" y="53127"/>
                    </a:cubicBezTo>
                    <a:cubicBezTo>
                      <a:pt x="140406" y="56921"/>
                      <a:pt x="141039" y="60084"/>
                      <a:pt x="141671" y="63246"/>
                    </a:cubicBezTo>
                    <a:lnTo>
                      <a:pt x="126492" y="67673"/>
                    </a:lnTo>
                    <a:close/>
                    <a:moveTo>
                      <a:pt x="143568" y="37315"/>
                    </a:moveTo>
                    <a:lnTo>
                      <a:pt x="129022" y="30991"/>
                    </a:lnTo>
                    <a:cubicBezTo>
                      <a:pt x="131552" y="25298"/>
                      <a:pt x="134714" y="20239"/>
                      <a:pt x="139141" y="15812"/>
                    </a:cubicBezTo>
                    <a:lnTo>
                      <a:pt x="150526" y="26563"/>
                    </a:lnTo>
                    <a:cubicBezTo>
                      <a:pt x="147996" y="29726"/>
                      <a:pt x="145466" y="33520"/>
                      <a:pt x="143568" y="37315"/>
                    </a:cubicBezTo>
                    <a:close/>
                    <a:moveTo>
                      <a:pt x="161277" y="18974"/>
                    </a:moveTo>
                    <a:lnTo>
                      <a:pt x="154320" y="4427"/>
                    </a:lnTo>
                    <a:cubicBezTo>
                      <a:pt x="160012" y="1897"/>
                      <a:pt x="166337" y="0"/>
                      <a:pt x="172662" y="0"/>
                    </a:cubicBezTo>
                    <a:lnTo>
                      <a:pt x="173294" y="15812"/>
                    </a:lnTo>
                    <a:cubicBezTo>
                      <a:pt x="168867" y="16444"/>
                      <a:pt x="165072" y="17709"/>
                      <a:pt x="161277" y="18974"/>
                    </a:cubicBezTo>
                    <a:close/>
                    <a:moveTo>
                      <a:pt x="236540" y="15812"/>
                    </a:moveTo>
                    <a:lnTo>
                      <a:pt x="220729" y="15812"/>
                    </a:lnTo>
                    <a:lnTo>
                      <a:pt x="220729" y="0"/>
                    </a:lnTo>
                    <a:lnTo>
                      <a:pt x="236540" y="0"/>
                    </a:lnTo>
                    <a:lnTo>
                      <a:pt x="236540" y="15812"/>
                    </a:lnTo>
                    <a:close/>
                    <a:moveTo>
                      <a:pt x="204917" y="15812"/>
                    </a:moveTo>
                    <a:lnTo>
                      <a:pt x="189106" y="15812"/>
                    </a:lnTo>
                    <a:lnTo>
                      <a:pt x="189106" y="0"/>
                    </a:lnTo>
                    <a:lnTo>
                      <a:pt x="204917" y="0"/>
                    </a:lnTo>
                    <a:lnTo>
                      <a:pt x="204917" y="1581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1310" name="Google Shape;1310;p19"/>
              <p:cNvSpPr/>
              <p:nvPr/>
            </p:nvSpPr>
            <p:spPr>
              <a:xfrm>
                <a:off x="3295162" y="3764440"/>
                <a:ext cx="7589" cy="15811"/>
              </a:xfrm>
              <a:custGeom>
                <a:avLst/>
                <a:gdLst/>
                <a:ahLst/>
                <a:cxnLst/>
                <a:rect l="l" t="t" r="r" b="b"/>
                <a:pathLst>
                  <a:path w="7589" h="15811" extrusionOk="0">
                    <a:moveTo>
                      <a:pt x="0" y="0"/>
                    </a:moveTo>
                    <a:lnTo>
                      <a:pt x="7590" y="0"/>
                    </a:lnTo>
                    <a:lnTo>
                      <a:pt x="7590" y="15812"/>
                    </a:lnTo>
                    <a:lnTo>
                      <a:pt x="0" y="1581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grpSp>
        <p:grpSp>
          <p:nvGrpSpPr>
            <p:cNvPr id="1311" name="Google Shape;1311;p19"/>
            <p:cNvGrpSpPr/>
            <p:nvPr/>
          </p:nvGrpSpPr>
          <p:grpSpPr>
            <a:xfrm>
              <a:off x="3169302" y="3448210"/>
              <a:ext cx="189737" cy="316230"/>
              <a:chOff x="3169302" y="3448210"/>
              <a:chExt cx="189737" cy="316230"/>
            </a:xfrm>
          </p:grpSpPr>
          <p:sp>
            <p:nvSpPr>
              <p:cNvPr id="1312" name="Google Shape;1312;p19"/>
              <p:cNvSpPr/>
              <p:nvPr/>
            </p:nvSpPr>
            <p:spPr>
              <a:xfrm>
                <a:off x="3232548" y="3524105"/>
                <a:ext cx="63246" cy="63246"/>
              </a:xfrm>
              <a:custGeom>
                <a:avLst/>
                <a:gdLst/>
                <a:ahLst/>
                <a:cxnLst/>
                <a:rect l="l" t="t" r="r" b="b"/>
                <a:pathLst>
                  <a:path w="63246" h="63246" extrusionOk="0">
                    <a:moveTo>
                      <a:pt x="31623" y="15812"/>
                    </a:moveTo>
                    <a:cubicBezTo>
                      <a:pt x="40477" y="15812"/>
                      <a:pt x="47435" y="22769"/>
                      <a:pt x="47435" y="31623"/>
                    </a:cubicBezTo>
                    <a:cubicBezTo>
                      <a:pt x="47435" y="40477"/>
                      <a:pt x="40477" y="47435"/>
                      <a:pt x="31623" y="47435"/>
                    </a:cubicBezTo>
                    <a:cubicBezTo>
                      <a:pt x="22769" y="47435"/>
                      <a:pt x="15812" y="40477"/>
                      <a:pt x="15812" y="31623"/>
                    </a:cubicBezTo>
                    <a:cubicBezTo>
                      <a:pt x="15812" y="22769"/>
                      <a:pt x="23401" y="15812"/>
                      <a:pt x="31623" y="15812"/>
                    </a:cubicBezTo>
                    <a:moveTo>
                      <a:pt x="31623" y="0"/>
                    </a:moveTo>
                    <a:cubicBezTo>
                      <a:pt x="13914" y="0"/>
                      <a:pt x="0" y="13914"/>
                      <a:pt x="0" y="31623"/>
                    </a:cubicBezTo>
                    <a:cubicBezTo>
                      <a:pt x="0" y="49332"/>
                      <a:pt x="13914" y="63246"/>
                      <a:pt x="31623" y="63246"/>
                    </a:cubicBezTo>
                    <a:cubicBezTo>
                      <a:pt x="49332" y="63246"/>
                      <a:pt x="63246" y="49332"/>
                      <a:pt x="63246" y="31623"/>
                    </a:cubicBezTo>
                    <a:cubicBezTo>
                      <a:pt x="63246" y="13914"/>
                      <a:pt x="49332" y="0"/>
                      <a:pt x="31623" y="0"/>
                    </a:cubicBezTo>
                    <a:lnTo>
                      <a:pt x="3162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1313" name="Google Shape;1313;p19"/>
              <p:cNvSpPr/>
              <p:nvPr/>
            </p:nvSpPr>
            <p:spPr>
              <a:xfrm>
                <a:off x="3169302" y="3448210"/>
                <a:ext cx="189737" cy="316230"/>
              </a:xfrm>
              <a:custGeom>
                <a:avLst/>
                <a:gdLst/>
                <a:ahLst/>
                <a:cxnLst/>
                <a:rect l="l" t="t" r="r" b="b"/>
                <a:pathLst>
                  <a:path w="189737" h="316230" extrusionOk="0">
                    <a:moveTo>
                      <a:pt x="94869" y="316230"/>
                    </a:moveTo>
                    <a:cubicBezTo>
                      <a:pt x="92339" y="316230"/>
                      <a:pt x="89177" y="314965"/>
                      <a:pt x="87912" y="312435"/>
                    </a:cubicBezTo>
                    <a:cubicBezTo>
                      <a:pt x="84117" y="306111"/>
                      <a:pt x="0" y="161277"/>
                      <a:pt x="0" y="105621"/>
                    </a:cubicBezTo>
                    <a:cubicBezTo>
                      <a:pt x="0" y="47435"/>
                      <a:pt x="42375" y="0"/>
                      <a:pt x="94869" y="0"/>
                    </a:cubicBezTo>
                    <a:cubicBezTo>
                      <a:pt x="147363" y="0"/>
                      <a:pt x="189738" y="47435"/>
                      <a:pt x="189738" y="105621"/>
                    </a:cubicBezTo>
                    <a:cubicBezTo>
                      <a:pt x="189738" y="161277"/>
                      <a:pt x="104988" y="306111"/>
                      <a:pt x="101826" y="312435"/>
                    </a:cubicBezTo>
                    <a:cubicBezTo>
                      <a:pt x="100561" y="314333"/>
                      <a:pt x="98031" y="316230"/>
                      <a:pt x="94869" y="316230"/>
                    </a:cubicBezTo>
                    <a:close/>
                    <a:moveTo>
                      <a:pt x="94869" y="15812"/>
                    </a:moveTo>
                    <a:cubicBezTo>
                      <a:pt x="51229" y="15812"/>
                      <a:pt x="15812" y="56289"/>
                      <a:pt x="15812" y="105621"/>
                    </a:cubicBezTo>
                    <a:cubicBezTo>
                      <a:pt x="15812" y="147996"/>
                      <a:pt x="74630" y="256146"/>
                      <a:pt x="94869" y="292197"/>
                    </a:cubicBezTo>
                    <a:cubicBezTo>
                      <a:pt x="115108" y="256146"/>
                      <a:pt x="173927" y="147996"/>
                      <a:pt x="173927" y="105621"/>
                    </a:cubicBezTo>
                    <a:cubicBezTo>
                      <a:pt x="173927" y="56289"/>
                      <a:pt x="138509" y="15812"/>
                      <a:pt x="94869" y="1581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grpSp>
        <p:grpSp>
          <p:nvGrpSpPr>
            <p:cNvPr id="1314" name="Google Shape;1314;p19"/>
            <p:cNvGrpSpPr/>
            <p:nvPr/>
          </p:nvGrpSpPr>
          <p:grpSpPr>
            <a:xfrm>
              <a:off x="3548146" y="3187004"/>
              <a:ext cx="126492" cy="189737"/>
              <a:chOff x="3548146" y="3187004"/>
              <a:chExt cx="126492" cy="189737"/>
            </a:xfrm>
          </p:grpSpPr>
          <p:sp>
            <p:nvSpPr>
              <p:cNvPr id="1315" name="Google Shape;1315;p19"/>
              <p:cNvSpPr/>
              <p:nvPr/>
            </p:nvSpPr>
            <p:spPr>
              <a:xfrm>
                <a:off x="3595580" y="3231909"/>
                <a:ext cx="31623" cy="31623"/>
              </a:xfrm>
              <a:custGeom>
                <a:avLst/>
                <a:gdLst/>
                <a:ahLst/>
                <a:cxnLst/>
                <a:rect l="l" t="t" r="r" b="b"/>
                <a:pathLst>
                  <a:path w="31623" h="31623" extrusionOk="0">
                    <a:moveTo>
                      <a:pt x="15812" y="0"/>
                    </a:moveTo>
                    <a:cubicBezTo>
                      <a:pt x="6957" y="0"/>
                      <a:pt x="0" y="6957"/>
                      <a:pt x="0" y="15812"/>
                    </a:cubicBezTo>
                    <a:cubicBezTo>
                      <a:pt x="0" y="24666"/>
                      <a:pt x="6957" y="31623"/>
                      <a:pt x="15812" y="31623"/>
                    </a:cubicBezTo>
                    <a:cubicBezTo>
                      <a:pt x="24666" y="31623"/>
                      <a:pt x="31623" y="24666"/>
                      <a:pt x="31623" y="15812"/>
                    </a:cubicBezTo>
                    <a:cubicBezTo>
                      <a:pt x="31623" y="6957"/>
                      <a:pt x="24666" y="0"/>
                      <a:pt x="15812" y="0"/>
                    </a:cubicBezTo>
                    <a:lnTo>
                      <a:pt x="15812"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sp>
            <p:nvSpPr>
              <p:cNvPr id="1316" name="Google Shape;1316;p19"/>
              <p:cNvSpPr/>
              <p:nvPr/>
            </p:nvSpPr>
            <p:spPr>
              <a:xfrm>
                <a:off x="3548146" y="3187004"/>
                <a:ext cx="126492" cy="189737"/>
              </a:xfrm>
              <a:custGeom>
                <a:avLst/>
                <a:gdLst/>
                <a:ahLst/>
                <a:cxnLst/>
                <a:rect l="l" t="t" r="r" b="b"/>
                <a:pathLst>
                  <a:path w="126492" h="189737" extrusionOk="0">
                    <a:moveTo>
                      <a:pt x="63246" y="189738"/>
                    </a:moveTo>
                    <a:cubicBezTo>
                      <a:pt x="60716" y="189738"/>
                      <a:pt x="58186" y="188473"/>
                      <a:pt x="56289" y="185943"/>
                    </a:cubicBezTo>
                    <a:cubicBezTo>
                      <a:pt x="50597" y="177089"/>
                      <a:pt x="0" y="96766"/>
                      <a:pt x="0" y="64511"/>
                    </a:cubicBezTo>
                    <a:cubicBezTo>
                      <a:pt x="0" y="29093"/>
                      <a:pt x="28461" y="0"/>
                      <a:pt x="63246" y="0"/>
                    </a:cubicBezTo>
                    <a:cubicBezTo>
                      <a:pt x="98031" y="0"/>
                      <a:pt x="126492" y="29093"/>
                      <a:pt x="126492" y="64511"/>
                    </a:cubicBezTo>
                    <a:cubicBezTo>
                      <a:pt x="126492" y="97399"/>
                      <a:pt x="75895" y="177089"/>
                      <a:pt x="70203" y="185943"/>
                    </a:cubicBezTo>
                    <a:cubicBezTo>
                      <a:pt x="68306" y="188473"/>
                      <a:pt x="65776" y="189738"/>
                      <a:pt x="63246" y="189738"/>
                    </a:cubicBezTo>
                    <a:close/>
                    <a:moveTo>
                      <a:pt x="63246" y="15812"/>
                    </a:moveTo>
                    <a:cubicBezTo>
                      <a:pt x="37315" y="15812"/>
                      <a:pt x="15812" y="37315"/>
                      <a:pt x="15812" y="64511"/>
                    </a:cubicBezTo>
                    <a:cubicBezTo>
                      <a:pt x="15812" y="85382"/>
                      <a:pt x="45537" y="138509"/>
                      <a:pt x="63246" y="166969"/>
                    </a:cubicBezTo>
                    <a:cubicBezTo>
                      <a:pt x="80955" y="138509"/>
                      <a:pt x="110681" y="85382"/>
                      <a:pt x="110681" y="64511"/>
                    </a:cubicBezTo>
                    <a:cubicBezTo>
                      <a:pt x="110681" y="37315"/>
                      <a:pt x="89177" y="15812"/>
                      <a:pt x="63246" y="1581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717074"/>
                  </a:solidFill>
                  <a:latin typeface="Arial"/>
                  <a:ea typeface="Arial"/>
                  <a:cs typeface="Arial"/>
                  <a:sym typeface="Arial"/>
                </a:endParaRPr>
              </a:p>
            </p:txBody>
          </p:sp>
        </p:grpSp>
      </p:grpSp>
      <p:sp>
        <p:nvSpPr>
          <p:cNvPr id="1317" name="Google Shape;1317;p19"/>
          <p:cNvSpPr/>
          <p:nvPr/>
        </p:nvSpPr>
        <p:spPr>
          <a:xfrm>
            <a:off x="-14102" y="997706"/>
            <a:ext cx="12188825" cy="381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Starting platform minimums to enable customers and PSO delivery teams.</a:t>
            </a:r>
            <a:endParaRPr sz="1200" b="0" i="0" u="none" strike="noStrike" cap="none">
              <a:solidFill>
                <a:schemeClr val="lt1"/>
              </a:solidFill>
              <a:latin typeface="Arial"/>
              <a:ea typeface="Arial"/>
              <a:cs typeface="Arial"/>
              <a:sym typeface="Arial"/>
            </a:endParaRPr>
          </a:p>
        </p:txBody>
      </p:sp>
      <p:pic>
        <p:nvPicPr>
          <p:cNvPr id="1297" name="Picture 1296">
            <a:extLst>
              <a:ext uri="{FF2B5EF4-FFF2-40B4-BE49-F238E27FC236}">
                <a16:creationId xmlns:a16="http://schemas.microsoft.com/office/drawing/2014/main" id="{64FBC99A-1622-CBF1-8454-A7369A3CB586}"/>
              </a:ext>
            </a:extLst>
          </p:cNvPr>
          <p:cNvPicPr>
            <a:picLocks noChangeAspect="1"/>
          </p:cNvPicPr>
          <p:nvPr/>
        </p:nvPicPr>
        <p:blipFill>
          <a:blip r:embed="rId4"/>
          <a:stretch>
            <a:fillRect/>
          </a:stretch>
        </p:blipFill>
        <p:spPr>
          <a:xfrm>
            <a:off x="4747491" y="1415967"/>
            <a:ext cx="6726051" cy="31150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D4344-DBDE-6FE8-000C-9EF9A9876859}"/>
            </a:ext>
          </a:extLst>
        </p:cNvPr>
        <p:cNvGrpSpPr/>
        <p:nvPr/>
      </p:nvGrpSpPr>
      <p:grpSpPr>
        <a:xfrm>
          <a:off x="0" y="0"/>
          <a:ext cx="0" cy="0"/>
          <a:chOff x="0" y="0"/>
          <a:chExt cx="0" cy="0"/>
        </a:xfrm>
      </p:grpSpPr>
      <p:sp>
        <p:nvSpPr>
          <p:cNvPr id="48" name="Google Shape;6705;g2d30ebb658d_0_19789">
            <a:extLst>
              <a:ext uri="{FF2B5EF4-FFF2-40B4-BE49-F238E27FC236}">
                <a16:creationId xmlns:a16="http://schemas.microsoft.com/office/drawing/2014/main" id="{1C7C82BD-EC4C-283F-6B26-C9068D7EE23A}"/>
              </a:ext>
            </a:extLst>
          </p:cNvPr>
          <p:cNvSpPr/>
          <p:nvPr/>
        </p:nvSpPr>
        <p:spPr>
          <a:xfrm>
            <a:off x="3381931" y="1697311"/>
            <a:ext cx="1662975"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49" name="Google Shape;6705;g2d30ebb658d_0_19789">
            <a:extLst>
              <a:ext uri="{FF2B5EF4-FFF2-40B4-BE49-F238E27FC236}">
                <a16:creationId xmlns:a16="http://schemas.microsoft.com/office/drawing/2014/main" id="{1D863FD3-B5A7-E331-8311-015E14EABCCD}"/>
              </a:ext>
            </a:extLst>
          </p:cNvPr>
          <p:cNvSpPr/>
          <p:nvPr/>
        </p:nvSpPr>
        <p:spPr>
          <a:xfrm>
            <a:off x="3383862" y="1502543"/>
            <a:ext cx="1661044" cy="144193"/>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grpSp>
        <p:nvGrpSpPr>
          <p:cNvPr id="2" name="Group 1">
            <a:extLst>
              <a:ext uri="{FF2B5EF4-FFF2-40B4-BE49-F238E27FC236}">
                <a16:creationId xmlns:a16="http://schemas.microsoft.com/office/drawing/2014/main" id="{37A3C9C6-6102-E65C-C7A8-1E0B468B9E0C}"/>
              </a:ext>
            </a:extLst>
          </p:cNvPr>
          <p:cNvGrpSpPr/>
          <p:nvPr/>
        </p:nvGrpSpPr>
        <p:grpSpPr>
          <a:xfrm>
            <a:off x="3184188" y="1239653"/>
            <a:ext cx="2078703" cy="4835977"/>
            <a:chOff x="3913053" y="1239653"/>
            <a:chExt cx="2078703" cy="4835977"/>
          </a:xfrm>
        </p:grpSpPr>
        <p:sp>
          <p:nvSpPr>
            <p:cNvPr id="52" name="Google Shape;6678;g2d30ebb658d_0_19789">
              <a:extLst>
                <a:ext uri="{FF2B5EF4-FFF2-40B4-BE49-F238E27FC236}">
                  <a16:creationId xmlns:a16="http://schemas.microsoft.com/office/drawing/2014/main" id="{6C186BC9-9CFD-9F4B-B182-14CFAC2036DC}"/>
                </a:ext>
              </a:extLst>
            </p:cNvPr>
            <p:cNvSpPr/>
            <p:nvPr/>
          </p:nvSpPr>
          <p:spPr>
            <a:xfrm>
              <a:off x="3913053" y="1239653"/>
              <a:ext cx="2078703" cy="4835977"/>
            </a:xfrm>
            <a:prstGeom prst="roundRect">
              <a:avLst>
                <a:gd name="adj" fmla="val 2356"/>
              </a:avLst>
            </a:prstGeom>
            <a:solidFill>
              <a:schemeClr val="accent5">
                <a:alpha val="9770"/>
              </a:schemeClr>
            </a:solidFill>
            <a:ln w="9525">
              <a:gradFill>
                <a:gsLst>
                  <a:gs pos="0">
                    <a:schemeClr val="accent1">
                      <a:lumMod val="5000"/>
                      <a:lumOff val="95000"/>
                    </a:schemeClr>
                  </a:gs>
                  <a:gs pos="0">
                    <a:schemeClr val="accent2"/>
                  </a:gs>
                  <a:gs pos="100000">
                    <a:schemeClr val="accent5"/>
                  </a:gs>
                  <a:gs pos="100000">
                    <a:schemeClr val="accent1">
                      <a:lumMod val="30000"/>
                      <a:lumOff val="70000"/>
                    </a:schemeClr>
                  </a:gs>
                </a:gsLst>
                <a:lin ang="5400000" scaled="1"/>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3" name="TextBox 52">
              <a:extLst>
                <a:ext uri="{FF2B5EF4-FFF2-40B4-BE49-F238E27FC236}">
                  <a16:creationId xmlns:a16="http://schemas.microsoft.com/office/drawing/2014/main" id="{45FE6AD2-3819-1A62-F384-3A1ACD60ECF0}"/>
                </a:ext>
              </a:extLst>
            </p:cNvPr>
            <p:cNvSpPr txBox="1"/>
            <p:nvPr/>
          </p:nvSpPr>
          <p:spPr>
            <a:xfrm>
              <a:off x="4642128" y="128040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grpSp>
      <p:sp>
        <p:nvSpPr>
          <p:cNvPr id="119" name="Google Shape;6678;g2d30ebb658d_0_19789">
            <a:extLst>
              <a:ext uri="{FF2B5EF4-FFF2-40B4-BE49-F238E27FC236}">
                <a16:creationId xmlns:a16="http://schemas.microsoft.com/office/drawing/2014/main" id="{4FF52D57-F132-109F-28C6-B01091FBBDBF}"/>
              </a:ext>
            </a:extLst>
          </p:cNvPr>
          <p:cNvSpPr/>
          <p:nvPr/>
        </p:nvSpPr>
        <p:spPr>
          <a:xfrm>
            <a:off x="702366" y="1006110"/>
            <a:ext cx="7063409" cy="5142546"/>
          </a:xfrm>
          <a:prstGeom prst="roundRect">
            <a:avLst>
              <a:gd name="adj" fmla="val 2356"/>
            </a:avLst>
          </a:prstGeom>
          <a:noFill/>
          <a:ln w="9525">
            <a:solidFill>
              <a:schemeClr val="bg1">
                <a:lumMod val="75000"/>
              </a:schemeClr>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7" name="Group 16">
            <a:extLst>
              <a:ext uri="{FF2B5EF4-FFF2-40B4-BE49-F238E27FC236}">
                <a16:creationId xmlns:a16="http://schemas.microsoft.com/office/drawing/2014/main" id="{4FC9958E-CC08-EFC1-2D33-84CBE7A550E3}"/>
              </a:ext>
            </a:extLst>
          </p:cNvPr>
          <p:cNvGrpSpPr/>
          <p:nvPr/>
        </p:nvGrpSpPr>
        <p:grpSpPr>
          <a:xfrm>
            <a:off x="828981" y="1239652"/>
            <a:ext cx="2078703" cy="4835977"/>
            <a:chOff x="1809095" y="1387022"/>
            <a:chExt cx="2078703" cy="4835977"/>
          </a:xfrm>
        </p:grpSpPr>
        <p:grpSp>
          <p:nvGrpSpPr>
            <p:cNvPr id="14" name="Group 13">
              <a:extLst>
                <a:ext uri="{FF2B5EF4-FFF2-40B4-BE49-F238E27FC236}">
                  <a16:creationId xmlns:a16="http://schemas.microsoft.com/office/drawing/2014/main" id="{11F246DD-8504-733B-160F-2F00DD265ABC}"/>
                </a:ext>
              </a:extLst>
            </p:cNvPr>
            <p:cNvGrpSpPr/>
            <p:nvPr/>
          </p:nvGrpSpPr>
          <p:grpSpPr>
            <a:xfrm>
              <a:off x="1809095" y="1387022"/>
              <a:ext cx="2078703" cy="4835977"/>
              <a:chOff x="1809095" y="1387022"/>
              <a:chExt cx="2078703" cy="4835977"/>
            </a:xfrm>
          </p:grpSpPr>
          <p:grpSp>
            <p:nvGrpSpPr>
              <p:cNvPr id="167" name="Group 166">
                <a:extLst>
                  <a:ext uri="{FF2B5EF4-FFF2-40B4-BE49-F238E27FC236}">
                    <a16:creationId xmlns:a16="http://schemas.microsoft.com/office/drawing/2014/main" id="{3D328903-DC9F-96E3-D7B2-820AE6B7903D}"/>
                  </a:ext>
                </a:extLst>
              </p:cNvPr>
              <p:cNvGrpSpPr/>
              <p:nvPr/>
            </p:nvGrpSpPr>
            <p:grpSpPr>
              <a:xfrm>
                <a:off x="1809095" y="1387022"/>
                <a:ext cx="2078703" cy="4835977"/>
                <a:chOff x="1806861" y="1387023"/>
                <a:chExt cx="2078703" cy="4835977"/>
              </a:xfrm>
            </p:grpSpPr>
            <p:sp>
              <p:nvSpPr>
                <p:cNvPr id="120" name="Google Shape;6678;g2d30ebb658d_0_19789">
                  <a:extLst>
                    <a:ext uri="{FF2B5EF4-FFF2-40B4-BE49-F238E27FC236}">
                      <a16:creationId xmlns:a16="http://schemas.microsoft.com/office/drawing/2014/main" id="{1AD979A9-79CC-8C9D-A3D8-2D5C771B1636}"/>
                    </a:ext>
                  </a:extLst>
                </p:cNvPr>
                <p:cNvSpPr/>
                <p:nvPr/>
              </p:nvSpPr>
              <p:spPr>
                <a:xfrm>
                  <a:off x="1806861" y="1387023"/>
                  <a:ext cx="2078703" cy="4835977"/>
                </a:xfrm>
                <a:prstGeom prst="roundRect">
                  <a:avLst>
                    <a:gd name="adj" fmla="val 2356"/>
                  </a:avLst>
                </a:prstGeom>
                <a:solidFill>
                  <a:schemeClr val="accent3">
                    <a:alpha val="10000"/>
                  </a:schemeClr>
                </a:solidFill>
                <a:ln w="9525">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1" name="Google Shape;6705;g2d30ebb658d_0_19789">
                  <a:extLst>
                    <a:ext uri="{FF2B5EF4-FFF2-40B4-BE49-F238E27FC236}">
                      <a16:creationId xmlns:a16="http://schemas.microsoft.com/office/drawing/2014/main" id="{FC0C90E9-93AE-87D8-DEE7-57CA80517639}"/>
                    </a:ext>
                  </a:extLst>
                </p:cNvPr>
                <p:cNvSpPr/>
                <p:nvPr/>
              </p:nvSpPr>
              <p:spPr>
                <a:xfrm>
                  <a:off x="2004604" y="1844681"/>
                  <a:ext cx="1662975"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2" name="Google Shape;6705;g2d30ebb658d_0_19789">
                  <a:extLst>
                    <a:ext uri="{FF2B5EF4-FFF2-40B4-BE49-F238E27FC236}">
                      <a16:creationId xmlns:a16="http://schemas.microsoft.com/office/drawing/2014/main" id="{B053D66E-ADA9-4B44-49AB-648FF1D6B4FA}"/>
                    </a:ext>
                  </a:extLst>
                </p:cNvPr>
                <p:cNvSpPr/>
                <p:nvPr/>
              </p:nvSpPr>
              <p:spPr>
                <a:xfrm>
                  <a:off x="2006535" y="1649913"/>
                  <a:ext cx="1661044" cy="144193"/>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23" name="TextBox 122">
                  <a:extLst>
                    <a:ext uri="{FF2B5EF4-FFF2-40B4-BE49-F238E27FC236}">
                      <a16:creationId xmlns:a16="http://schemas.microsoft.com/office/drawing/2014/main" id="{274CB646-466D-FB95-71CB-B6443F8F8912}"/>
                    </a:ext>
                  </a:extLst>
                </p:cNvPr>
                <p:cNvSpPr txBox="1"/>
                <p:nvPr/>
              </p:nvSpPr>
              <p:spPr>
                <a:xfrm>
                  <a:off x="2551092"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124" name="Google Shape;6678;g2d30ebb658d_0_19789">
                  <a:extLst>
                    <a:ext uri="{FF2B5EF4-FFF2-40B4-BE49-F238E27FC236}">
                      <a16:creationId xmlns:a16="http://schemas.microsoft.com/office/drawing/2014/main" id="{81C144A0-D9B2-73EF-447E-BD9E3FC724BE}"/>
                    </a:ext>
                  </a:extLst>
                </p:cNvPr>
                <p:cNvSpPr/>
                <p:nvPr/>
              </p:nvSpPr>
              <p:spPr>
                <a:xfrm>
                  <a:off x="1885819"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25" name="Group 124">
                  <a:extLst>
                    <a:ext uri="{FF2B5EF4-FFF2-40B4-BE49-F238E27FC236}">
                      <a16:creationId xmlns:a16="http://schemas.microsoft.com/office/drawing/2014/main" id="{A93701A8-91ED-A973-B5DB-EC167D0B6AAC}"/>
                    </a:ext>
                  </a:extLst>
                </p:cNvPr>
                <p:cNvGrpSpPr/>
                <p:nvPr/>
              </p:nvGrpSpPr>
              <p:grpSpPr>
                <a:xfrm>
                  <a:off x="1887963" y="2081242"/>
                  <a:ext cx="1909145" cy="3700692"/>
                  <a:chOff x="4353920" y="2081242"/>
                  <a:chExt cx="1909145" cy="3700692"/>
                </a:xfrm>
              </p:grpSpPr>
              <p:sp>
                <p:nvSpPr>
                  <p:cNvPr id="126" name="Google Shape;6678;g2d30ebb658d_0_19789">
                    <a:extLst>
                      <a:ext uri="{FF2B5EF4-FFF2-40B4-BE49-F238E27FC236}">
                        <a16:creationId xmlns:a16="http://schemas.microsoft.com/office/drawing/2014/main" id="{DE60C71D-9224-DE63-7861-8E9C40DF9F7E}"/>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7" name="Google Shape;6678;g2d30ebb658d_0_19789">
                    <a:extLst>
                      <a:ext uri="{FF2B5EF4-FFF2-40B4-BE49-F238E27FC236}">
                        <a16:creationId xmlns:a16="http://schemas.microsoft.com/office/drawing/2014/main" id="{6119EAC4-F719-F850-0D54-65B3DA7BCBED}"/>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28" name="Google Shape;6705;g2d30ebb658d_0_19789">
                    <a:extLst>
                      <a:ext uri="{FF2B5EF4-FFF2-40B4-BE49-F238E27FC236}">
                        <a16:creationId xmlns:a16="http://schemas.microsoft.com/office/drawing/2014/main" id="{C0CFAF2C-5B17-9997-9CBB-090A4F9E0EC6}"/>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29" name="Google Shape;6707;g2d30ebb658d_0_19789">
                    <a:extLst>
                      <a:ext uri="{FF2B5EF4-FFF2-40B4-BE49-F238E27FC236}">
                        <a16:creationId xmlns:a16="http://schemas.microsoft.com/office/drawing/2014/main" id="{9E6319B2-7C99-C851-18B5-937193AD1A08}"/>
                      </a:ext>
                    </a:extLst>
                  </p:cNvPr>
                  <p:cNvGrpSpPr/>
                  <p:nvPr/>
                </p:nvGrpSpPr>
                <p:grpSpPr>
                  <a:xfrm>
                    <a:off x="5721290" y="3680282"/>
                    <a:ext cx="283155" cy="283154"/>
                    <a:chOff x="10722212" y="2729558"/>
                    <a:chExt cx="663407" cy="663407"/>
                  </a:xfrm>
                </p:grpSpPr>
                <p:sp>
                  <p:nvSpPr>
                    <p:cNvPr id="145" name="Google Shape;6708;g2d30ebb658d_0_19789">
                      <a:extLst>
                        <a:ext uri="{FF2B5EF4-FFF2-40B4-BE49-F238E27FC236}">
                          <a16:creationId xmlns:a16="http://schemas.microsoft.com/office/drawing/2014/main" id="{84DCBD67-5FE3-0961-0685-925423308292}"/>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6" name="Google Shape;6709;g2d30ebb658d_0_19789">
                      <a:extLst>
                        <a:ext uri="{FF2B5EF4-FFF2-40B4-BE49-F238E27FC236}">
                          <a16:creationId xmlns:a16="http://schemas.microsoft.com/office/drawing/2014/main" id="{4A6CBD63-5C6C-D1CA-6A1E-43EC68055E73}"/>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0" name="Google Shape;6710;g2d30ebb658d_0_19789">
                    <a:extLst>
                      <a:ext uri="{FF2B5EF4-FFF2-40B4-BE49-F238E27FC236}">
                        <a16:creationId xmlns:a16="http://schemas.microsoft.com/office/drawing/2014/main" id="{62FD5AB3-42C9-1817-6820-5AA4FAF5C043}"/>
                      </a:ext>
                    </a:extLst>
                  </p:cNvPr>
                  <p:cNvGrpSpPr/>
                  <p:nvPr/>
                </p:nvGrpSpPr>
                <p:grpSpPr>
                  <a:xfrm>
                    <a:off x="4576370" y="3680163"/>
                    <a:ext cx="283155" cy="283154"/>
                    <a:chOff x="572541" y="5475121"/>
                    <a:chExt cx="663407" cy="663407"/>
                  </a:xfrm>
                </p:grpSpPr>
                <p:sp>
                  <p:nvSpPr>
                    <p:cNvPr id="143" name="Google Shape;6711;g2d30ebb658d_0_19789">
                      <a:extLst>
                        <a:ext uri="{FF2B5EF4-FFF2-40B4-BE49-F238E27FC236}">
                          <a16:creationId xmlns:a16="http://schemas.microsoft.com/office/drawing/2014/main" id="{8FE95685-7777-17C2-B67B-5B08F13BE916}"/>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4" name="Google Shape;6712;g2d30ebb658d_0_19789">
                      <a:extLst>
                        <a:ext uri="{FF2B5EF4-FFF2-40B4-BE49-F238E27FC236}">
                          <a16:creationId xmlns:a16="http://schemas.microsoft.com/office/drawing/2014/main" id="{B48DC54E-12CE-B574-36F7-1F639C4B2B9D}"/>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31" name="Google Shape;6713;g2d30ebb658d_0_19789">
                    <a:extLst>
                      <a:ext uri="{FF2B5EF4-FFF2-40B4-BE49-F238E27FC236}">
                        <a16:creationId xmlns:a16="http://schemas.microsoft.com/office/drawing/2014/main" id="{5BD8FD0B-9FD6-A40C-114C-D5469F8A0C91}"/>
                      </a:ext>
                    </a:extLst>
                  </p:cNvPr>
                  <p:cNvGrpSpPr/>
                  <p:nvPr/>
                </p:nvGrpSpPr>
                <p:grpSpPr>
                  <a:xfrm>
                    <a:off x="5144738" y="3680164"/>
                    <a:ext cx="283155" cy="283154"/>
                    <a:chOff x="9272259" y="5475121"/>
                    <a:chExt cx="663407" cy="663407"/>
                  </a:xfrm>
                </p:grpSpPr>
                <p:sp>
                  <p:nvSpPr>
                    <p:cNvPr id="141" name="Google Shape;6714;g2d30ebb658d_0_19789">
                      <a:extLst>
                        <a:ext uri="{FF2B5EF4-FFF2-40B4-BE49-F238E27FC236}">
                          <a16:creationId xmlns:a16="http://schemas.microsoft.com/office/drawing/2014/main" id="{ACA63D17-F166-4210-D1E0-53E9CECEBC49}"/>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42" name="Google Shape;6715;g2d30ebb658d_0_19789">
                      <a:extLst>
                        <a:ext uri="{FF2B5EF4-FFF2-40B4-BE49-F238E27FC236}">
                          <a16:creationId xmlns:a16="http://schemas.microsoft.com/office/drawing/2014/main" id="{76618E30-B7B3-F8B5-3BCE-360A264E691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32" name="Google Shape;6704;g2d30ebb658d_0_19789">
                    <a:extLst>
                      <a:ext uri="{FF2B5EF4-FFF2-40B4-BE49-F238E27FC236}">
                        <a16:creationId xmlns:a16="http://schemas.microsoft.com/office/drawing/2014/main" id="{4EC5FDCB-A382-C526-465F-A733C1CF37C6}"/>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TextBox 132">
                    <a:extLst>
                      <a:ext uri="{FF2B5EF4-FFF2-40B4-BE49-F238E27FC236}">
                        <a16:creationId xmlns:a16="http://schemas.microsoft.com/office/drawing/2014/main" id="{3A080E48-55F8-BA23-5362-ABCEE1125B82}"/>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34" name="Google Shape;6705;g2d30ebb658d_0_19789">
                    <a:extLst>
                      <a:ext uri="{FF2B5EF4-FFF2-40B4-BE49-F238E27FC236}">
                        <a16:creationId xmlns:a16="http://schemas.microsoft.com/office/drawing/2014/main" id="{EE0F3305-FC3D-5B2A-E372-F3CE6F1A0EE7}"/>
                      </a:ext>
                    </a:extLst>
                  </p:cNvPr>
                  <p:cNvSpPr/>
                  <p:nvPr/>
                </p:nvSpPr>
                <p:spPr>
                  <a:xfrm>
                    <a:off x="4738816" y="2666396"/>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35" name="Google Shape;6678;g2d30ebb658d_0_19789">
                    <a:extLst>
                      <a:ext uri="{FF2B5EF4-FFF2-40B4-BE49-F238E27FC236}">
                        <a16:creationId xmlns:a16="http://schemas.microsoft.com/office/drawing/2014/main" id="{5AE5C421-52ED-D772-DF86-86AE6F9D59BC}"/>
                      </a:ext>
                    </a:extLst>
                  </p:cNvPr>
                  <p:cNvSpPr/>
                  <p:nvPr/>
                </p:nvSpPr>
                <p:spPr>
                  <a:xfrm>
                    <a:off x="4989674" y="3264891"/>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36" name="Google Shape;6678;g2d30ebb658d_0_19789">
                    <a:extLst>
                      <a:ext uri="{FF2B5EF4-FFF2-40B4-BE49-F238E27FC236}">
                        <a16:creationId xmlns:a16="http://schemas.microsoft.com/office/drawing/2014/main" id="{C5E41503-2425-531B-62D8-1B9E7E9F4B22}"/>
                      </a:ext>
                    </a:extLst>
                  </p:cNvPr>
                  <p:cNvSpPr/>
                  <p:nvPr/>
                </p:nvSpPr>
                <p:spPr>
                  <a:xfrm>
                    <a:off x="4738816" y="2868207"/>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37" name="TextBox 136">
                    <a:extLst>
                      <a:ext uri="{FF2B5EF4-FFF2-40B4-BE49-F238E27FC236}">
                        <a16:creationId xmlns:a16="http://schemas.microsoft.com/office/drawing/2014/main" id="{7F8E08C6-9DA1-BCED-ABCA-27D08019BFB9}"/>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138" name="Google Shape;6705;g2d30ebb658d_0_19789">
                    <a:extLst>
                      <a:ext uri="{FF2B5EF4-FFF2-40B4-BE49-F238E27FC236}">
                        <a16:creationId xmlns:a16="http://schemas.microsoft.com/office/drawing/2014/main" id="{3FDBCAB3-A349-E48C-6549-CBD1A8BFAAB8}"/>
                      </a:ext>
                    </a:extLst>
                  </p:cNvPr>
                  <p:cNvSpPr/>
                  <p:nvPr/>
                </p:nvSpPr>
                <p:spPr>
                  <a:xfrm>
                    <a:off x="4738816" y="3064305"/>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140" name="Google Shape;6699;p92">
                    <a:extLst>
                      <a:ext uri="{FF2B5EF4-FFF2-40B4-BE49-F238E27FC236}">
                        <a16:creationId xmlns:a16="http://schemas.microsoft.com/office/drawing/2014/main" id="{68193A9A-F8FE-6967-A79E-0E328B2D62AB}"/>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147" name="TextBox 146">
                  <a:extLst>
                    <a:ext uri="{FF2B5EF4-FFF2-40B4-BE49-F238E27FC236}">
                      <a16:creationId xmlns:a16="http://schemas.microsoft.com/office/drawing/2014/main" id="{E4B9F7CC-F3E1-A33B-E775-9106EFDF8E44}"/>
                    </a:ext>
                  </a:extLst>
                </p:cNvPr>
                <p:cNvSpPr txBox="1"/>
                <p:nvPr/>
              </p:nvSpPr>
              <p:spPr>
                <a:xfrm>
                  <a:off x="2268613"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148" name="Google Shape;6699;p92">
                  <a:extLst>
                    <a:ext uri="{FF2B5EF4-FFF2-40B4-BE49-F238E27FC236}">
                      <a16:creationId xmlns:a16="http://schemas.microsoft.com/office/drawing/2014/main" id="{A1CC8EB6-F929-E1CA-0065-50DCDCD33905}"/>
                    </a:ext>
                  </a:extLst>
                </p:cNvPr>
                <p:cNvPicPr preferRelativeResize="0">
                  <a:picLocks noChangeAspect="1"/>
                </p:cNvPicPr>
                <p:nvPr/>
              </p:nvPicPr>
              <p:blipFill rotWithShape="1">
                <a:blip r:embed="rId3">
                  <a:alphaModFix/>
                </a:blip>
                <a:srcRect/>
                <a:stretch/>
              </p:blipFill>
              <p:spPr>
                <a:xfrm>
                  <a:off x="1991069" y="5894009"/>
                  <a:ext cx="220483" cy="220483"/>
                </a:xfrm>
                <a:prstGeom prst="rect">
                  <a:avLst/>
                </a:prstGeom>
                <a:noFill/>
                <a:ln>
                  <a:noFill/>
                </a:ln>
              </p:spPr>
            </p:pic>
            <p:grpSp>
              <p:nvGrpSpPr>
                <p:cNvPr id="149" name="Group 148">
                  <a:extLst>
                    <a:ext uri="{FF2B5EF4-FFF2-40B4-BE49-F238E27FC236}">
                      <a16:creationId xmlns:a16="http://schemas.microsoft.com/office/drawing/2014/main" id="{027EF744-1FB1-57F1-CB09-211CFA29DE54}"/>
                    </a:ext>
                  </a:extLst>
                </p:cNvPr>
                <p:cNvGrpSpPr/>
                <p:nvPr/>
              </p:nvGrpSpPr>
              <p:grpSpPr>
                <a:xfrm>
                  <a:off x="1951273" y="4189923"/>
                  <a:ext cx="1769718" cy="1537778"/>
                  <a:chOff x="4421988" y="4189923"/>
                  <a:chExt cx="1769718" cy="1537778"/>
                </a:xfrm>
              </p:grpSpPr>
              <p:sp>
                <p:nvSpPr>
                  <p:cNvPr id="150" name="Google Shape;6678;g2d30ebb658d_0_19789">
                    <a:extLst>
                      <a:ext uri="{FF2B5EF4-FFF2-40B4-BE49-F238E27FC236}">
                        <a16:creationId xmlns:a16="http://schemas.microsoft.com/office/drawing/2014/main" id="{49BF8234-790C-F987-36C9-D6F008157534}"/>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51" name="Google Shape;6705;g2d30ebb658d_0_19789">
                    <a:extLst>
                      <a:ext uri="{FF2B5EF4-FFF2-40B4-BE49-F238E27FC236}">
                        <a16:creationId xmlns:a16="http://schemas.microsoft.com/office/drawing/2014/main" id="{0ACD48D5-6019-BA06-886D-0C9763439B18}"/>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52" name="Google Shape;6707;g2d30ebb658d_0_19789">
                    <a:extLst>
                      <a:ext uri="{FF2B5EF4-FFF2-40B4-BE49-F238E27FC236}">
                        <a16:creationId xmlns:a16="http://schemas.microsoft.com/office/drawing/2014/main" id="{8C9213FD-4951-ED2A-43B7-3C8C0FF30626}"/>
                      </a:ext>
                    </a:extLst>
                  </p:cNvPr>
                  <p:cNvGrpSpPr/>
                  <p:nvPr/>
                </p:nvGrpSpPr>
                <p:grpSpPr>
                  <a:xfrm>
                    <a:off x="5721290" y="5324870"/>
                    <a:ext cx="283155" cy="283154"/>
                    <a:chOff x="10722212" y="2729558"/>
                    <a:chExt cx="663407" cy="663407"/>
                  </a:xfrm>
                </p:grpSpPr>
                <p:sp>
                  <p:nvSpPr>
                    <p:cNvPr id="165" name="Google Shape;6708;g2d30ebb658d_0_19789">
                      <a:extLst>
                        <a:ext uri="{FF2B5EF4-FFF2-40B4-BE49-F238E27FC236}">
                          <a16:creationId xmlns:a16="http://schemas.microsoft.com/office/drawing/2014/main" id="{60AB1B3A-CBFD-A2F4-DFA8-6EE61F1AA4FF}"/>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6" name="Google Shape;6709;g2d30ebb658d_0_19789">
                      <a:extLst>
                        <a:ext uri="{FF2B5EF4-FFF2-40B4-BE49-F238E27FC236}">
                          <a16:creationId xmlns:a16="http://schemas.microsoft.com/office/drawing/2014/main" id="{27CD4B5C-A7DE-65C8-7151-2327D780EBDD}"/>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3" name="Google Shape;6710;g2d30ebb658d_0_19789">
                    <a:extLst>
                      <a:ext uri="{FF2B5EF4-FFF2-40B4-BE49-F238E27FC236}">
                        <a16:creationId xmlns:a16="http://schemas.microsoft.com/office/drawing/2014/main" id="{87A74CB0-F33D-E0BE-A2C9-BCFA8DB2315E}"/>
                      </a:ext>
                    </a:extLst>
                  </p:cNvPr>
                  <p:cNvGrpSpPr/>
                  <p:nvPr/>
                </p:nvGrpSpPr>
                <p:grpSpPr>
                  <a:xfrm>
                    <a:off x="4576370" y="5324751"/>
                    <a:ext cx="283155" cy="283154"/>
                    <a:chOff x="572541" y="5475121"/>
                    <a:chExt cx="663407" cy="663407"/>
                  </a:xfrm>
                </p:grpSpPr>
                <p:sp>
                  <p:nvSpPr>
                    <p:cNvPr id="163" name="Google Shape;6711;g2d30ebb658d_0_19789">
                      <a:extLst>
                        <a:ext uri="{FF2B5EF4-FFF2-40B4-BE49-F238E27FC236}">
                          <a16:creationId xmlns:a16="http://schemas.microsoft.com/office/drawing/2014/main" id="{743F06C4-23D6-304B-680C-1A3B4E603FA7}"/>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4" name="Google Shape;6712;g2d30ebb658d_0_19789">
                      <a:extLst>
                        <a:ext uri="{FF2B5EF4-FFF2-40B4-BE49-F238E27FC236}">
                          <a16:creationId xmlns:a16="http://schemas.microsoft.com/office/drawing/2014/main" id="{84322CC0-1B68-4DD5-93B8-5DFFE8CDF5F3}"/>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54" name="Google Shape;6713;g2d30ebb658d_0_19789">
                    <a:extLst>
                      <a:ext uri="{FF2B5EF4-FFF2-40B4-BE49-F238E27FC236}">
                        <a16:creationId xmlns:a16="http://schemas.microsoft.com/office/drawing/2014/main" id="{D4B876E7-9F7B-0F62-243B-ABE3CDED4354}"/>
                      </a:ext>
                    </a:extLst>
                  </p:cNvPr>
                  <p:cNvGrpSpPr/>
                  <p:nvPr/>
                </p:nvGrpSpPr>
                <p:grpSpPr>
                  <a:xfrm>
                    <a:off x="5144738" y="5324752"/>
                    <a:ext cx="283155" cy="283154"/>
                    <a:chOff x="9272259" y="5475121"/>
                    <a:chExt cx="663407" cy="663407"/>
                  </a:xfrm>
                </p:grpSpPr>
                <p:sp>
                  <p:nvSpPr>
                    <p:cNvPr id="161" name="Google Shape;6714;g2d30ebb658d_0_19789">
                      <a:extLst>
                        <a:ext uri="{FF2B5EF4-FFF2-40B4-BE49-F238E27FC236}">
                          <a16:creationId xmlns:a16="http://schemas.microsoft.com/office/drawing/2014/main" id="{1216A436-EBB3-FBAB-8717-1F186BEBE049}"/>
                        </a:ext>
                      </a:extLst>
                    </p:cNvPr>
                    <p:cNvSpPr>
                      <a:spLocks noChangeAspect="1"/>
                    </p:cNvSpPr>
                    <p:nvPr/>
                  </p:nvSpPr>
                  <p:spPr>
                    <a:xfrm>
                      <a:off x="9272259" y="5475121"/>
                      <a:ext cx="663407" cy="663407"/>
                    </a:xfrm>
                    <a:prstGeom prst="ellipse">
                      <a:avLst/>
                    </a:prstGeom>
                    <a:gradFill>
                      <a:gsLst>
                        <a:gs pos="0">
                          <a:schemeClr val="accent3"/>
                        </a:gs>
                        <a:gs pos="0">
                          <a:schemeClr val="accent2"/>
                        </a:gs>
                        <a:gs pos="100000">
                          <a:schemeClr val="accent2"/>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62" name="Google Shape;6715;g2d30ebb658d_0_19789">
                      <a:extLst>
                        <a:ext uri="{FF2B5EF4-FFF2-40B4-BE49-F238E27FC236}">
                          <a16:creationId xmlns:a16="http://schemas.microsoft.com/office/drawing/2014/main" id="{0E836C87-C7C0-5D1B-C6E4-321A362058D8}"/>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55" name="Google Shape;6704;g2d30ebb658d_0_19789">
                    <a:extLst>
                      <a:ext uri="{FF2B5EF4-FFF2-40B4-BE49-F238E27FC236}">
                        <a16:creationId xmlns:a16="http://schemas.microsoft.com/office/drawing/2014/main" id="{57D62825-72A9-B0B4-2500-415AE695EC26}"/>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56" name="TextBox 155">
                    <a:extLst>
                      <a:ext uri="{FF2B5EF4-FFF2-40B4-BE49-F238E27FC236}">
                        <a16:creationId xmlns:a16="http://schemas.microsoft.com/office/drawing/2014/main" id="{CB184788-54D5-F366-C095-6FFD09EC225D}"/>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57" name="Google Shape;6678;g2d30ebb658d_0_19789">
                    <a:extLst>
                      <a:ext uri="{FF2B5EF4-FFF2-40B4-BE49-F238E27FC236}">
                        <a16:creationId xmlns:a16="http://schemas.microsoft.com/office/drawing/2014/main" id="{BA43957B-E64B-203C-E194-05F145D30B5C}"/>
                      </a:ext>
                    </a:extLst>
                  </p:cNvPr>
                  <p:cNvSpPr/>
                  <p:nvPr/>
                </p:nvSpPr>
                <p:spPr>
                  <a:xfrm>
                    <a:off x="4735103" y="4725882"/>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8" name="Google Shape;6678;g2d30ebb658d_0_19789">
                    <a:extLst>
                      <a:ext uri="{FF2B5EF4-FFF2-40B4-BE49-F238E27FC236}">
                        <a16:creationId xmlns:a16="http://schemas.microsoft.com/office/drawing/2014/main" id="{E80B7B0C-7F02-A7E4-45BD-F3D9C2A4FD76}"/>
                      </a:ext>
                    </a:extLst>
                  </p:cNvPr>
                  <p:cNvSpPr/>
                  <p:nvPr/>
                </p:nvSpPr>
                <p:spPr>
                  <a:xfrm>
                    <a:off x="4738816" y="4535240"/>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9" name="Google Shape;6678;g2d30ebb658d_0_19789">
                    <a:extLst>
                      <a:ext uri="{FF2B5EF4-FFF2-40B4-BE49-F238E27FC236}">
                        <a16:creationId xmlns:a16="http://schemas.microsoft.com/office/drawing/2014/main" id="{C6E4DD65-688A-EF1F-8E2F-2DD37421BC01}"/>
                      </a:ext>
                    </a:extLst>
                  </p:cNvPr>
                  <p:cNvSpPr/>
                  <p:nvPr/>
                </p:nvSpPr>
                <p:spPr>
                  <a:xfrm>
                    <a:off x="4978293" y="4921845"/>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sp>
            <p:nvSpPr>
              <p:cNvPr id="171" name="Google Shape;6678;g2d30ebb658d_0_19789">
                <a:extLst>
                  <a:ext uri="{FF2B5EF4-FFF2-40B4-BE49-F238E27FC236}">
                    <a16:creationId xmlns:a16="http://schemas.microsoft.com/office/drawing/2014/main" id="{368B4976-8213-F710-F0C4-595C4EE69801}"/>
                  </a:ext>
                </a:extLst>
              </p:cNvPr>
              <p:cNvSpPr/>
              <p:nvPr/>
            </p:nvSpPr>
            <p:spPr>
              <a:xfrm>
                <a:off x="2447528" y="4966926"/>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98C7"/>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98C7"/>
                  </a:solidFill>
                  <a:effectLst/>
                  <a:uLnTx/>
                  <a:uFillTx/>
                  <a:latin typeface="Arial"/>
                  <a:ea typeface="Arial"/>
                  <a:cs typeface="Arial"/>
                  <a:sym typeface="Arial"/>
                </a:endParaRPr>
              </a:p>
            </p:txBody>
          </p:sp>
        </p:grpSp>
        <p:sp>
          <p:nvSpPr>
            <p:cNvPr id="173" name="Google Shape;6678;g2d30ebb658d_0_19789">
              <a:extLst>
                <a:ext uri="{FF2B5EF4-FFF2-40B4-BE49-F238E27FC236}">
                  <a16:creationId xmlns:a16="http://schemas.microsoft.com/office/drawing/2014/main" id="{C4CF7AFB-4468-A60E-A21D-8F1A535EC765}"/>
                </a:ext>
              </a:extLst>
            </p:cNvPr>
            <p:cNvSpPr/>
            <p:nvPr/>
          </p:nvSpPr>
          <p:spPr>
            <a:xfrm>
              <a:off x="2463667" y="330997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20" name="Group 19">
            <a:extLst>
              <a:ext uri="{FF2B5EF4-FFF2-40B4-BE49-F238E27FC236}">
                <a16:creationId xmlns:a16="http://schemas.microsoft.com/office/drawing/2014/main" id="{FD32A1B7-7EC8-F275-D7CF-B6D5E0705C0C}"/>
              </a:ext>
            </a:extLst>
          </p:cNvPr>
          <p:cNvGrpSpPr/>
          <p:nvPr/>
        </p:nvGrpSpPr>
        <p:grpSpPr>
          <a:xfrm>
            <a:off x="5544694" y="1239653"/>
            <a:ext cx="2078703" cy="4835977"/>
            <a:chOff x="6736954" y="1387023"/>
            <a:chExt cx="2078703" cy="4835977"/>
          </a:xfrm>
        </p:grpSpPr>
        <p:grpSp>
          <p:nvGrpSpPr>
            <p:cNvPr id="15" name="Group 14">
              <a:extLst>
                <a:ext uri="{FF2B5EF4-FFF2-40B4-BE49-F238E27FC236}">
                  <a16:creationId xmlns:a16="http://schemas.microsoft.com/office/drawing/2014/main" id="{86F9849E-55C9-5ACE-9502-B71B5FE26888}"/>
                </a:ext>
              </a:extLst>
            </p:cNvPr>
            <p:cNvGrpSpPr/>
            <p:nvPr/>
          </p:nvGrpSpPr>
          <p:grpSpPr>
            <a:xfrm>
              <a:off x="6736954" y="1387023"/>
              <a:ext cx="2078703" cy="4835977"/>
              <a:chOff x="6736954" y="1387023"/>
              <a:chExt cx="2078703" cy="4835977"/>
            </a:xfrm>
          </p:grpSpPr>
          <p:grpSp>
            <p:nvGrpSpPr>
              <p:cNvPr id="169" name="Group 168">
                <a:extLst>
                  <a:ext uri="{FF2B5EF4-FFF2-40B4-BE49-F238E27FC236}">
                    <a16:creationId xmlns:a16="http://schemas.microsoft.com/office/drawing/2014/main" id="{E8B15927-106D-A389-D649-EDEFEFBB46FD}"/>
                  </a:ext>
                </a:extLst>
              </p:cNvPr>
              <p:cNvGrpSpPr/>
              <p:nvPr/>
            </p:nvGrpSpPr>
            <p:grpSpPr>
              <a:xfrm>
                <a:off x="6736954" y="1387023"/>
                <a:ext cx="2078703" cy="4835977"/>
                <a:chOff x="6736954" y="1387023"/>
                <a:chExt cx="2078703" cy="4835977"/>
              </a:xfrm>
            </p:grpSpPr>
            <p:sp>
              <p:nvSpPr>
                <p:cNvPr id="70" name="Google Shape;6678;g2d30ebb658d_0_19789">
                  <a:extLst>
                    <a:ext uri="{FF2B5EF4-FFF2-40B4-BE49-F238E27FC236}">
                      <a16:creationId xmlns:a16="http://schemas.microsoft.com/office/drawing/2014/main" id="{5B40CC5E-4983-C601-0E31-7D673129F134}"/>
                    </a:ext>
                  </a:extLst>
                </p:cNvPr>
                <p:cNvSpPr/>
                <p:nvPr/>
              </p:nvSpPr>
              <p:spPr>
                <a:xfrm>
                  <a:off x="6736954" y="1387023"/>
                  <a:ext cx="2078703" cy="4835977"/>
                </a:xfrm>
                <a:prstGeom prst="roundRect">
                  <a:avLst>
                    <a:gd name="adj" fmla="val 2356"/>
                  </a:avLst>
                </a:prstGeom>
                <a:solidFill>
                  <a:schemeClr val="accent1">
                    <a:alpha val="9746"/>
                  </a:schemeClr>
                </a:solidFill>
                <a:ln w="9525">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1" name="Google Shape;6705;g2d30ebb658d_0_19789">
                  <a:extLst>
                    <a:ext uri="{FF2B5EF4-FFF2-40B4-BE49-F238E27FC236}">
                      <a16:creationId xmlns:a16="http://schemas.microsoft.com/office/drawing/2014/main" id="{BEC9F77C-5586-FE0B-11C2-723032C01917}"/>
                    </a:ext>
                  </a:extLst>
                </p:cNvPr>
                <p:cNvSpPr/>
                <p:nvPr/>
              </p:nvSpPr>
              <p:spPr>
                <a:xfrm>
                  <a:off x="6934697" y="1844681"/>
                  <a:ext cx="1662975"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72" name="Google Shape;6705;g2d30ebb658d_0_19789">
                  <a:extLst>
                    <a:ext uri="{FF2B5EF4-FFF2-40B4-BE49-F238E27FC236}">
                      <a16:creationId xmlns:a16="http://schemas.microsoft.com/office/drawing/2014/main" id="{A1C718E2-4D9F-C5E8-1821-225F3BFAF361}"/>
                    </a:ext>
                  </a:extLst>
                </p:cNvPr>
                <p:cNvSpPr/>
                <p:nvPr/>
              </p:nvSpPr>
              <p:spPr>
                <a:xfrm>
                  <a:off x="6936628" y="1649913"/>
                  <a:ext cx="1661044" cy="144193"/>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73" name="TextBox 72">
                  <a:extLst>
                    <a:ext uri="{FF2B5EF4-FFF2-40B4-BE49-F238E27FC236}">
                      <a16:creationId xmlns:a16="http://schemas.microsoft.com/office/drawing/2014/main" id="{7E65EABA-AA25-E687-C796-BD1D78731DF7}"/>
                    </a:ext>
                  </a:extLst>
                </p:cNvPr>
                <p:cNvSpPr txBox="1"/>
                <p:nvPr/>
              </p:nvSpPr>
              <p:spPr>
                <a:xfrm>
                  <a:off x="7481185"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Fleet</a:t>
                  </a:r>
                </a:p>
              </p:txBody>
            </p:sp>
            <p:sp>
              <p:nvSpPr>
                <p:cNvPr id="76" name="Google Shape;6678;g2d30ebb658d_0_19789">
                  <a:extLst>
                    <a:ext uri="{FF2B5EF4-FFF2-40B4-BE49-F238E27FC236}">
                      <a16:creationId xmlns:a16="http://schemas.microsoft.com/office/drawing/2014/main" id="{D13C3B15-FB70-F7A0-E6EF-7763CA5E2A04}"/>
                    </a:ext>
                  </a:extLst>
                </p:cNvPr>
                <p:cNvSpPr/>
                <p:nvPr/>
              </p:nvSpPr>
              <p:spPr>
                <a:xfrm>
                  <a:off x="6815912"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77" name="Group 76">
                  <a:extLst>
                    <a:ext uri="{FF2B5EF4-FFF2-40B4-BE49-F238E27FC236}">
                      <a16:creationId xmlns:a16="http://schemas.microsoft.com/office/drawing/2014/main" id="{02F22A55-0F23-FDD3-536F-D25CD72B926D}"/>
                    </a:ext>
                  </a:extLst>
                </p:cNvPr>
                <p:cNvGrpSpPr/>
                <p:nvPr/>
              </p:nvGrpSpPr>
              <p:grpSpPr>
                <a:xfrm>
                  <a:off x="6818056" y="2081242"/>
                  <a:ext cx="1909145" cy="3700692"/>
                  <a:chOff x="4353920" y="2081242"/>
                  <a:chExt cx="1909145" cy="3700692"/>
                </a:xfrm>
              </p:grpSpPr>
              <p:sp>
                <p:nvSpPr>
                  <p:cNvPr id="78" name="Google Shape;6678;g2d30ebb658d_0_19789">
                    <a:extLst>
                      <a:ext uri="{FF2B5EF4-FFF2-40B4-BE49-F238E27FC236}">
                        <a16:creationId xmlns:a16="http://schemas.microsoft.com/office/drawing/2014/main" id="{3B523E2A-4F1F-BC02-F62E-B4D391F5FA56}"/>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79" name="Google Shape;6678;g2d30ebb658d_0_19789">
                    <a:extLst>
                      <a:ext uri="{FF2B5EF4-FFF2-40B4-BE49-F238E27FC236}">
                        <a16:creationId xmlns:a16="http://schemas.microsoft.com/office/drawing/2014/main" id="{2CA52A52-1B22-F0AD-8063-157AC55EBDD9}"/>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80" name="Google Shape;6705;g2d30ebb658d_0_19789">
                    <a:extLst>
                      <a:ext uri="{FF2B5EF4-FFF2-40B4-BE49-F238E27FC236}">
                        <a16:creationId xmlns:a16="http://schemas.microsoft.com/office/drawing/2014/main" id="{0D5A46E9-004E-F8BF-19CE-E21F8C78B83C}"/>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81" name="Google Shape;6707;g2d30ebb658d_0_19789">
                    <a:extLst>
                      <a:ext uri="{FF2B5EF4-FFF2-40B4-BE49-F238E27FC236}">
                        <a16:creationId xmlns:a16="http://schemas.microsoft.com/office/drawing/2014/main" id="{1B29AD32-FBC8-2365-1852-2B30D07F7CA2}"/>
                      </a:ext>
                    </a:extLst>
                  </p:cNvPr>
                  <p:cNvGrpSpPr/>
                  <p:nvPr/>
                </p:nvGrpSpPr>
                <p:grpSpPr>
                  <a:xfrm>
                    <a:off x="5721290" y="3680282"/>
                    <a:ext cx="283155" cy="283154"/>
                    <a:chOff x="10722212" y="2729558"/>
                    <a:chExt cx="663407" cy="663407"/>
                  </a:xfrm>
                </p:grpSpPr>
                <p:sp>
                  <p:nvSpPr>
                    <p:cNvPr id="97" name="Google Shape;6708;g2d30ebb658d_0_19789">
                      <a:extLst>
                        <a:ext uri="{FF2B5EF4-FFF2-40B4-BE49-F238E27FC236}">
                          <a16:creationId xmlns:a16="http://schemas.microsoft.com/office/drawing/2014/main" id="{CCB43C7B-4FB1-E889-CA7F-03B3183A9049}"/>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8" name="Google Shape;6709;g2d30ebb658d_0_19789">
                      <a:extLst>
                        <a:ext uri="{FF2B5EF4-FFF2-40B4-BE49-F238E27FC236}">
                          <a16:creationId xmlns:a16="http://schemas.microsoft.com/office/drawing/2014/main" id="{6582DED3-D8A6-3A5A-D258-B592A3F87796}"/>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2" name="Google Shape;6710;g2d30ebb658d_0_19789">
                    <a:extLst>
                      <a:ext uri="{FF2B5EF4-FFF2-40B4-BE49-F238E27FC236}">
                        <a16:creationId xmlns:a16="http://schemas.microsoft.com/office/drawing/2014/main" id="{01D9E5FA-5403-9028-93D9-CF8EF840A5C3}"/>
                      </a:ext>
                    </a:extLst>
                  </p:cNvPr>
                  <p:cNvGrpSpPr/>
                  <p:nvPr/>
                </p:nvGrpSpPr>
                <p:grpSpPr>
                  <a:xfrm>
                    <a:off x="4576370" y="3680163"/>
                    <a:ext cx="283155" cy="283154"/>
                    <a:chOff x="572541" y="5475121"/>
                    <a:chExt cx="663407" cy="663407"/>
                  </a:xfrm>
                </p:grpSpPr>
                <p:sp>
                  <p:nvSpPr>
                    <p:cNvPr id="95" name="Google Shape;6711;g2d30ebb658d_0_19789">
                      <a:extLst>
                        <a:ext uri="{FF2B5EF4-FFF2-40B4-BE49-F238E27FC236}">
                          <a16:creationId xmlns:a16="http://schemas.microsoft.com/office/drawing/2014/main" id="{2763DC11-2FA4-12FD-B89B-AFA2B78036C5}"/>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6" name="Google Shape;6712;g2d30ebb658d_0_19789">
                      <a:extLst>
                        <a:ext uri="{FF2B5EF4-FFF2-40B4-BE49-F238E27FC236}">
                          <a16:creationId xmlns:a16="http://schemas.microsoft.com/office/drawing/2014/main" id="{AE034C8C-D257-98F4-F928-2A673D989166}"/>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3" name="Google Shape;6713;g2d30ebb658d_0_19789">
                    <a:extLst>
                      <a:ext uri="{FF2B5EF4-FFF2-40B4-BE49-F238E27FC236}">
                        <a16:creationId xmlns:a16="http://schemas.microsoft.com/office/drawing/2014/main" id="{77379FAD-AB49-C377-996F-5E566916594C}"/>
                      </a:ext>
                    </a:extLst>
                  </p:cNvPr>
                  <p:cNvGrpSpPr/>
                  <p:nvPr/>
                </p:nvGrpSpPr>
                <p:grpSpPr>
                  <a:xfrm>
                    <a:off x="5144738" y="3680164"/>
                    <a:ext cx="283155" cy="283154"/>
                    <a:chOff x="9272259" y="5475121"/>
                    <a:chExt cx="663407" cy="663407"/>
                  </a:xfrm>
                </p:grpSpPr>
                <p:sp>
                  <p:nvSpPr>
                    <p:cNvPr id="93" name="Google Shape;6714;g2d30ebb658d_0_19789">
                      <a:extLst>
                        <a:ext uri="{FF2B5EF4-FFF2-40B4-BE49-F238E27FC236}">
                          <a16:creationId xmlns:a16="http://schemas.microsoft.com/office/drawing/2014/main" id="{5BF8FB6A-89C6-39C3-9C7D-5323EB8BA037}"/>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94" name="Google Shape;6715;g2d30ebb658d_0_19789">
                      <a:extLst>
                        <a:ext uri="{FF2B5EF4-FFF2-40B4-BE49-F238E27FC236}">
                          <a16:creationId xmlns:a16="http://schemas.microsoft.com/office/drawing/2014/main" id="{ED93F7FF-CB55-AB65-5866-50DE86A2E512}"/>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84" name="Google Shape;6704;g2d30ebb658d_0_19789">
                    <a:extLst>
                      <a:ext uri="{FF2B5EF4-FFF2-40B4-BE49-F238E27FC236}">
                        <a16:creationId xmlns:a16="http://schemas.microsoft.com/office/drawing/2014/main" id="{8C325503-013A-5470-0066-FF0C770C3D01}"/>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5" name="TextBox 84">
                    <a:extLst>
                      <a:ext uri="{FF2B5EF4-FFF2-40B4-BE49-F238E27FC236}">
                        <a16:creationId xmlns:a16="http://schemas.microsoft.com/office/drawing/2014/main" id="{E4848FBB-980E-0919-F76F-5E63575DC978}"/>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86" name="Google Shape;6705;g2d30ebb658d_0_19789">
                    <a:extLst>
                      <a:ext uri="{FF2B5EF4-FFF2-40B4-BE49-F238E27FC236}">
                        <a16:creationId xmlns:a16="http://schemas.microsoft.com/office/drawing/2014/main" id="{4BEA1847-5185-AB1B-51EB-CBED65BB0644}"/>
                      </a:ext>
                    </a:extLst>
                  </p:cNvPr>
                  <p:cNvSpPr/>
                  <p:nvPr/>
                </p:nvSpPr>
                <p:spPr>
                  <a:xfrm>
                    <a:off x="4738816" y="2666396"/>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87" name="Google Shape;6678;g2d30ebb658d_0_19789">
                    <a:extLst>
                      <a:ext uri="{FF2B5EF4-FFF2-40B4-BE49-F238E27FC236}">
                        <a16:creationId xmlns:a16="http://schemas.microsoft.com/office/drawing/2014/main" id="{882C9A6A-2941-F0F4-F328-D4EB42E6F760}"/>
                      </a:ext>
                    </a:extLst>
                  </p:cNvPr>
                  <p:cNvSpPr/>
                  <p:nvPr/>
                </p:nvSpPr>
                <p:spPr>
                  <a:xfrm>
                    <a:off x="4989674" y="3264891"/>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007B8C"/>
                      </a:solidFill>
                      <a:effectLst/>
                      <a:uLnTx/>
                      <a:uFillTx/>
                      <a:latin typeface="Arial"/>
                      <a:ea typeface="Arial"/>
                      <a:cs typeface="Arial"/>
                      <a:sym typeface="Arial"/>
                    </a:endParaRPr>
                  </a:p>
                </p:txBody>
              </p:sp>
              <p:sp>
                <p:nvSpPr>
                  <p:cNvPr id="88" name="Google Shape;6678;g2d30ebb658d_0_19789">
                    <a:extLst>
                      <a:ext uri="{FF2B5EF4-FFF2-40B4-BE49-F238E27FC236}">
                        <a16:creationId xmlns:a16="http://schemas.microsoft.com/office/drawing/2014/main" id="{99672C8F-CDC3-C80F-E1CE-162896B5BF6C}"/>
                      </a:ext>
                    </a:extLst>
                  </p:cNvPr>
                  <p:cNvSpPr/>
                  <p:nvPr/>
                </p:nvSpPr>
                <p:spPr>
                  <a:xfrm>
                    <a:off x="4738816" y="2868207"/>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9" name="TextBox 88">
                    <a:extLst>
                      <a:ext uri="{FF2B5EF4-FFF2-40B4-BE49-F238E27FC236}">
                        <a16:creationId xmlns:a16="http://schemas.microsoft.com/office/drawing/2014/main" id="{14F51078-1E8B-252F-E5FA-87536805979C}"/>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90" name="Google Shape;6705;g2d30ebb658d_0_19789">
                    <a:extLst>
                      <a:ext uri="{FF2B5EF4-FFF2-40B4-BE49-F238E27FC236}">
                        <a16:creationId xmlns:a16="http://schemas.microsoft.com/office/drawing/2014/main" id="{3CDD6E36-2182-D782-358F-D85A8F592C29}"/>
                      </a:ext>
                    </a:extLst>
                  </p:cNvPr>
                  <p:cNvSpPr/>
                  <p:nvPr/>
                </p:nvSpPr>
                <p:spPr>
                  <a:xfrm>
                    <a:off x="4738816" y="3064305"/>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pic>
                <p:nvPicPr>
                  <p:cNvPr id="92" name="Google Shape;6699;p92">
                    <a:extLst>
                      <a:ext uri="{FF2B5EF4-FFF2-40B4-BE49-F238E27FC236}">
                        <a16:creationId xmlns:a16="http://schemas.microsoft.com/office/drawing/2014/main" id="{A3CC6D17-63A6-8E06-E52D-F512E557CEE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99" name="TextBox 98">
                  <a:extLst>
                    <a:ext uri="{FF2B5EF4-FFF2-40B4-BE49-F238E27FC236}">
                      <a16:creationId xmlns:a16="http://schemas.microsoft.com/office/drawing/2014/main" id="{40EDD8FF-C059-1429-4ED0-6837A5F3534A}"/>
                    </a:ext>
                  </a:extLst>
                </p:cNvPr>
                <p:cNvSpPr txBox="1"/>
                <p:nvPr/>
              </p:nvSpPr>
              <p:spPr>
                <a:xfrm>
                  <a:off x="7198706"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100" name="Google Shape;6699;p92">
                  <a:extLst>
                    <a:ext uri="{FF2B5EF4-FFF2-40B4-BE49-F238E27FC236}">
                      <a16:creationId xmlns:a16="http://schemas.microsoft.com/office/drawing/2014/main" id="{7C40815C-A673-65CA-F9D2-19B3CC22C9DA}"/>
                    </a:ext>
                  </a:extLst>
                </p:cNvPr>
                <p:cNvPicPr preferRelativeResize="0">
                  <a:picLocks noChangeAspect="1"/>
                </p:cNvPicPr>
                <p:nvPr/>
              </p:nvPicPr>
              <p:blipFill rotWithShape="1">
                <a:blip r:embed="rId3">
                  <a:alphaModFix/>
                </a:blip>
                <a:srcRect/>
                <a:stretch/>
              </p:blipFill>
              <p:spPr>
                <a:xfrm>
                  <a:off x="6921162" y="5894009"/>
                  <a:ext cx="220483" cy="220483"/>
                </a:xfrm>
                <a:prstGeom prst="rect">
                  <a:avLst/>
                </a:prstGeom>
                <a:noFill/>
                <a:ln>
                  <a:noFill/>
                </a:ln>
              </p:spPr>
            </p:pic>
            <p:grpSp>
              <p:nvGrpSpPr>
                <p:cNvPr id="101" name="Group 100">
                  <a:extLst>
                    <a:ext uri="{FF2B5EF4-FFF2-40B4-BE49-F238E27FC236}">
                      <a16:creationId xmlns:a16="http://schemas.microsoft.com/office/drawing/2014/main" id="{6C151793-07FB-B812-1CF5-0A814A6BD97B}"/>
                    </a:ext>
                  </a:extLst>
                </p:cNvPr>
                <p:cNvGrpSpPr/>
                <p:nvPr/>
              </p:nvGrpSpPr>
              <p:grpSpPr>
                <a:xfrm>
                  <a:off x="6881366" y="4189923"/>
                  <a:ext cx="1769718" cy="1537778"/>
                  <a:chOff x="4421988" y="4189923"/>
                  <a:chExt cx="1769718" cy="1537778"/>
                </a:xfrm>
              </p:grpSpPr>
              <p:sp>
                <p:nvSpPr>
                  <p:cNvPr id="102" name="Google Shape;6678;g2d30ebb658d_0_19789">
                    <a:extLst>
                      <a:ext uri="{FF2B5EF4-FFF2-40B4-BE49-F238E27FC236}">
                        <a16:creationId xmlns:a16="http://schemas.microsoft.com/office/drawing/2014/main" id="{279A0C4D-194D-62CE-5AAB-6DB2507A3D0D}"/>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03" name="Google Shape;6705;g2d30ebb658d_0_19789">
                    <a:extLst>
                      <a:ext uri="{FF2B5EF4-FFF2-40B4-BE49-F238E27FC236}">
                        <a16:creationId xmlns:a16="http://schemas.microsoft.com/office/drawing/2014/main" id="{D4C7FDA5-5422-3857-B877-E324C20790AC}"/>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04" name="Google Shape;6707;g2d30ebb658d_0_19789">
                    <a:extLst>
                      <a:ext uri="{FF2B5EF4-FFF2-40B4-BE49-F238E27FC236}">
                        <a16:creationId xmlns:a16="http://schemas.microsoft.com/office/drawing/2014/main" id="{6B0B36CB-780F-B85D-C0A9-C20E5A0A100B}"/>
                      </a:ext>
                    </a:extLst>
                  </p:cNvPr>
                  <p:cNvGrpSpPr/>
                  <p:nvPr/>
                </p:nvGrpSpPr>
                <p:grpSpPr>
                  <a:xfrm>
                    <a:off x="5721290" y="5324870"/>
                    <a:ext cx="283155" cy="283154"/>
                    <a:chOff x="10722212" y="2729558"/>
                    <a:chExt cx="663407" cy="663407"/>
                  </a:xfrm>
                </p:grpSpPr>
                <p:sp>
                  <p:nvSpPr>
                    <p:cNvPr id="117" name="Google Shape;6708;g2d30ebb658d_0_19789">
                      <a:extLst>
                        <a:ext uri="{FF2B5EF4-FFF2-40B4-BE49-F238E27FC236}">
                          <a16:creationId xmlns:a16="http://schemas.microsoft.com/office/drawing/2014/main" id="{4522B2BE-6F10-6903-D85F-4CCB57BA3310}"/>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8" name="Google Shape;6709;g2d30ebb658d_0_19789">
                      <a:extLst>
                        <a:ext uri="{FF2B5EF4-FFF2-40B4-BE49-F238E27FC236}">
                          <a16:creationId xmlns:a16="http://schemas.microsoft.com/office/drawing/2014/main" id="{31B2C12A-3C90-F40F-0558-2A053D55BBF9}"/>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05" name="Google Shape;6710;g2d30ebb658d_0_19789">
                    <a:extLst>
                      <a:ext uri="{FF2B5EF4-FFF2-40B4-BE49-F238E27FC236}">
                        <a16:creationId xmlns:a16="http://schemas.microsoft.com/office/drawing/2014/main" id="{CDBC1376-0BB3-5583-0AC1-DE5EC8DBB828}"/>
                      </a:ext>
                    </a:extLst>
                  </p:cNvPr>
                  <p:cNvGrpSpPr/>
                  <p:nvPr/>
                </p:nvGrpSpPr>
                <p:grpSpPr>
                  <a:xfrm>
                    <a:off x="4576370" y="5324751"/>
                    <a:ext cx="283155" cy="283154"/>
                    <a:chOff x="572541" y="5475121"/>
                    <a:chExt cx="663407" cy="663407"/>
                  </a:xfrm>
                </p:grpSpPr>
                <p:sp>
                  <p:nvSpPr>
                    <p:cNvPr id="115" name="Google Shape;6711;g2d30ebb658d_0_19789">
                      <a:extLst>
                        <a:ext uri="{FF2B5EF4-FFF2-40B4-BE49-F238E27FC236}">
                          <a16:creationId xmlns:a16="http://schemas.microsoft.com/office/drawing/2014/main" id="{08E61F22-603E-61FD-04CB-8C204C9CABFA}"/>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6" name="Google Shape;6712;g2d30ebb658d_0_19789">
                      <a:extLst>
                        <a:ext uri="{FF2B5EF4-FFF2-40B4-BE49-F238E27FC236}">
                          <a16:creationId xmlns:a16="http://schemas.microsoft.com/office/drawing/2014/main" id="{2B0F9C20-4A24-534F-5CB0-E5E95A270088}"/>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106" name="Google Shape;6713;g2d30ebb658d_0_19789">
                    <a:extLst>
                      <a:ext uri="{FF2B5EF4-FFF2-40B4-BE49-F238E27FC236}">
                        <a16:creationId xmlns:a16="http://schemas.microsoft.com/office/drawing/2014/main" id="{CC42CF3D-C460-D414-A494-A3C6458F19BB}"/>
                      </a:ext>
                    </a:extLst>
                  </p:cNvPr>
                  <p:cNvGrpSpPr/>
                  <p:nvPr/>
                </p:nvGrpSpPr>
                <p:grpSpPr>
                  <a:xfrm>
                    <a:off x="5144738" y="5324752"/>
                    <a:ext cx="283155" cy="283154"/>
                    <a:chOff x="9272259" y="5475121"/>
                    <a:chExt cx="663407" cy="663407"/>
                  </a:xfrm>
                </p:grpSpPr>
                <p:sp>
                  <p:nvSpPr>
                    <p:cNvPr id="113" name="Google Shape;6714;g2d30ebb658d_0_19789">
                      <a:extLst>
                        <a:ext uri="{FF2B5EF4-FFF2-40B4-BE49-F238E27FC236}">
                          <a16:creationId xmlns:a16="http://schemas.microsoft.com/office/drawing/2014/main" id="{D225208F-CBD6-DE26-F925-219A6B41B571}"/>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114" name="Google Shape;6715;g2d30ebb658d_0_19789">
                      <a:extLst>
                        <a:ext uri="{FF2B5EF4-FFF2-40B4-BE49-F238E27FC236}">
                          <a16:creationId xmlns:a16="http://schemas.microsoft.com/office/drawing/2014/main" id="{971E4CCF-37B7-8333-C677-C6EB43FE7D5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07" name="Google Shape;6704;g2d30ebb658d_0_19789">
                    <a:extLst>
                      <a:ext uri="{FF2B5EF4-FFF2-40B4-BE49-F238E27FC236}">
                        <a16:creationId xmlns:a16="http://schemas.microsoft.com/office/drawing/2014/main" id="{960D4A6D-F8A0-4F8E-84A0-DEEFB1647E08}"/>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8" name="TextBox 107">
                    <a:extLst>
                      <a:ext uri="{FF2B5EF4-FFF2-40B4-BE49-F238E27FC236}">
                        <a16:creationId xmlns:a16="http://schemas.microsoft.com/office/drawing/2014/main" id="{A256EE99-1901-C872-02B4-10B6668F7E3B}"/>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09" name="Google Shape;6678;g2d30ebb658d_0_19789">
                    <a:extLst>
                      <a:ext uri="{FF2B5EF4-FFF2-40B4-BE49-F238E27FC236}">
                        <a16:creationId xmlns:a16="http://schemas.microsoft.com/office/drawing/2014/main" id="{0F8B8B9C-4C50-05FA-1A1D-0863DC0BBE6D}"/>
                      </a:ext>
                    </a:extLst>
                  </p:cNvPr>
                  <p:cNvSpPr/>
                  <p:nvPr/>
                </p:nvSpPr>
                <p:spPr>
                  <a:xfrm>
                    <a:off x="4735103" y="4725882"/>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0" name="Google Shape;6678;g2d30ebb658d_0_19789">
                    <a:extLst>
                      <a:ext uri="{FF2B5EF4-FFF2-40B4-BE49-F238E27FC236}">
                        <a16:creationId xmlns:a16="http://schemas.microsoft.com/office/drawing/2014/main" id="{B915B6BC-0365-C8C2-7B41-D586ED0109A7}"/>
                      </a:ext>
                    </a:extLst>
                  </p:cNvPr>
                  <p:cNvSpPr/>
                  <p:nvPr/>
                </p:nvSpPr>
                <p:spPr>
                  <a:xfrm>
                    <a:off x="4738816" y="4535240"/>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1" name="Google Shape;6678;g2d30ebb658d_0_19789">
                    <a:extLst>
                      <a:ext uri="{FF2B5EF4-FFF2-40B4-BE49-F238E27FC236}">
                        <a16:creationId xmlns:a16="http://schemas.microsoft.com/office/drawing/2014/main" id="{3534BA1A-4B3B-EBE0-5789-CE04DBE600BD}"/>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grpSp>
          <p:sp>
            <p:nvSpPr>
              <p:cNvPr id="174" name="Google Shape;6678;g2d30ebb658d_0_19789">
                <a:extLst>
                  <a:ext uri="{FF2B5EF4-FFF2-40B4-BE49-F238E27FC236}">
                    <a16:creationId xmlns:a16="http://schemas.microsoft.com/office/drawing/2014/main" id="{AA117159-3787-17D3-CF0B-D56F533908FB}"/>
                  </a:ext>
                </a:extLst>
              </p:cNvPr>
              <p:cNvSpPr/>
              <p:nvPr/>
            </p:nvSpPr>
            <p:spPr>
              <a:xfrm>
                <a:off x="7375387"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sp>
          <p:nvSpPr>
            <p:cNvPr id="176" name="Google Shape;6678;g2d30ebb658d_0_19789">
              <a:extLst>
                <a:ext uri="{FF2B5EF4-FFF2-40B4-BE49-F238E27FC236}">
                  <a16:creationId xmlns:a16="http://schemas.microsoft.com/office/drawing/2014/main" id="{EEDF50E6-5BED-511B-EF9C-071AC4AF42C2}"/>
                </a:ext>
              </a:extLst>
            </p:cNvPr>
            <p:cNvSpPr/>
            <p:nvPr/>
          </p:nvSpPr>
          <p:spPr>
            <a:xfrm>
              <a:off x="7391526" y="3309973"/>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7B8C"/>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7B8C"/>
                </a:solidFill>
                <a:effectLst/>
                <a:uLnTx/>
                <a:uFillTx/>
                <a:latin typeface="Arial"/>
                <a:ea typeface="Arial"/>
                <a:cs typeface="Arial"/>
                <a:sym typeface="Arial"/>
              </a:endParaRPr>
            </a:p>
          </p:txBody>
        </p:sp>
      </p:grpSp>
      <p:grpSp>
        <p:nvGrpSpPr>
          <p:cNvPr id="10" name="Group 9">
            <a:extLst>
              <a:ext uri="{FF2B5EF4-FFF2-40B4-BE49-F238E27FC236}">
                <a16:creationId xmlns:a16="http://schemas.microsoft.com/office/drawing/2014/main" id="{BFC47AE8-37D8-0A27-3F29-3C4496D14FA5}"/>
              </a:ext>
            </a:extLst>
          </p:cNvPr>
          <p:cNvGrpSpPr/>
          <p:nvPr/>
        </p:nvGrpSpPr>
        <p:grpSpPr>
          <a:xfrm>
            <a:off x="3268966" y="5695141"/>
            <a:ext cx="1909145" cy="308820"/>
            <a:chOff x="4357596" y="5842511"/>
            <a:chExt cx="1909145" cy="308820"/>
          </a:xfrm>
        </p:grpSpPr>
        <p:sp>
          <p:nvSpPr>
            <p:cNvPr id="63" name="Google Shape;6678;g2d30ebb658d_0_19789">
              <a:extLst>
                <a:ext uri="{FF2B5EF4-FFF2-40B4-BE49-F238E27FC236}">
                  <a16:creationId xmlns:a16="http://schemas.microsoft.com/office/drawing/2014/main" id="{F4ECE781-2551-D918-9E3B-D392FB5EF5D5}"/>
                </a:ext>
              </a:extLst>
            </p:cNvPr>
            <p:cNvSpPr/>
            <p:nvPr/>
          </p:nvSpPr>
          <p:spPr>
            <a:xfrm>
              <a:off x="4357596" y="5842511"/>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6" name="TextBox 65">
              <a:extLst>
                <a:ext uri="{FF2B5EF4-FFF2-40B4-BE49-F238E27FC236}">
                  <a16:creationId xmlns:a16="http://schemas.microsoft.com/office/drawing/2014/main" id="{2C0C836B-13FF-D6E9-109C-C95B0E9E4DC1}"/>
                </a:ext>
              </a:extLst>
            </p:cNvPr>
            <p:cNvSpPr txBox="1"/>
            <p:nvPr/>
          </p:nvSpPr>
          <p:spPr>
            <a:xfrm>
              <a:off x="4734570"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Additional VCF Instances</a:t>
              </a:r>
            </a:p>
          </p:txBody>
        </p:sp>
        <p:pic>
          <p:nvPicPr>
            <p:cNvPr id="67" name="Google Shape;6699;p92">
              <a:extLst>
                <a:ext uri="{FF2B5EF4-FFF2-40B4-BE49-F238E27FC236}">
                  <a16:creationId xmlns:a16="http://schemas.microsoft.com/office/drawing/2014/main" id="{00BB943B-95BB-06F7-345B-C44A14F5311D}"/>
                </a:ext>
              </a:extLst>
            </p:cNvPr>
            <p:cNvPicPr preferRelativeResize="0">
              <a:picLocks noChangeAspect="1"/>
            </p:cNvPicPr>
            <p:nvPr/>
          </p:nvPicPr>
          <p:blipFill rotWithShape="1">
            <a:blip r:embed="rId3">
              <a:alphaModFix/>
            </a:blip>
            <a:srcRect/>
            <a:stretch/>
          </p:blipFill>
          <p:spPr>
            <a:xfrm>
              <a:off x="4457026" y="5894009"/>
              <a:ext cx="220483" cy="220483"/>
            </a:xfrm>
            <a:prstGeom prst="rect">
              <a:avLst/>
            </a:prstGeom>
            <a:noFill/>
            <a:ln>
              <a:noFill/>
            </a:ln>
          </p:spPr>
        </p:pic>
      </p:grpSp>
      <p:sp>
        <p:nvSpPr>
          <p:cNvPr id="27" name="Google Shape;6678;g2d30ebb658d_0_19789">
            <a:extLst>
              <a:ext uri="{FF2B5EF4-FFF2-40B4-BE49-F238E27FC236}">
                <a16:creationId xmlns:a16="http://schemas.microsoft.com/office/drawing/2014/main" id="{837F91DB-0DF8-670E-44C6-F855845CEC03}"/>
              </a:ext>
            </a:extLst>
          </p:cNvPr>
          <p:cNvSpPr/>
          <p:nvPr/>
        </p:nvSpPr>
        <p:spPr>
          <a:xfrm>
            <a:off x="3265638" y="1928580"/>
            <a:ext cx="1909145" cy="370598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11" name="Group 10">
            <a:extLst>
              <a:ext uri="{FF2B5EF4-FFF2-40B4-BE49-F238E27FC236}">
                <a16:creationId xmlns:a16="http://schemas.microsoft.com/office/drawing/2014/main" id="{22DA4097-4B09-D270-74C5-156910F90706}"/>
              </a:ext>
            </a:extLst>
          </p:cNvPr>
          <p:cNvGrpSpPr/>
          <p:nvPr/>
        </p:nvGrpSpPr>
        <p:grpSpPr>
          <a:xfrm>
            <a:off x="3328600" y="4042553"/>
            <a:ext cx="1769718" cy="1537778"/>
            <a:chOff x="4417230" y="4189923"/>
            <a:chExt cx="1769718" cy="1537778"/>
          </a:xfrm>
        </p:grpSpPr>
        <p:grpSp>
          <p:nvGrpSpPr>
            <p:cNvPr id="69" name="Group 68">
              <a:extLst>
                <a:ext uri="{FF2B5EF4-FFF2-40B4-BE49-F238E27FC236}">
                  <a16:creationId xmlns:a16="http://schemas.microsoft.com/office/drawing/2014/main" id="{1790CC3B-2A32-D767-FCC9-3D77D860104A}"/>
                </a:ext>
              </a:extLst>
            </p:cNvPr>
            <p:cNvGrpSpPr/>
            <p:nvPr/>
          </p:nvGrpSpPr>
          <p:grpSpPr>
            <a:xfrm>
              <a:off x="4417230" y="4189923"/>
              <a:ext cx="1769718" cy="1537778"/>
              <a:chOff x="4421988" y="4189923"/>
              <a:chExt cx="1769718" cy="1537778"/>
            </a:xfrm>
          </p:grpSpPr>
          <p:sp>
            <p:nvSpPr>
              <p:cNvPr id="28" name="Google Shape;6678;g2d30ebb658d_0_19789">
                <a:extLst>
                  <a:ext uri="{FF2B5EF4-FFF2-40B4-BE49-F238E27FC236}">
                    <a16:creationId xmlns:a16="http://schemas.microsoft.com/office/drawing/2014/main" id="{39803164-A91A-99DD-0C5B-2DB9253DE1FC}"/>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9" name="Google Shape;6705;g2d30ebb658d_0_19789">
                <a:extLst>
                  <a:ext uri="{FF2B5EF4-FFF2-40B4-BE49-F238E27FC236}">
                    <a16:creationId xmlns:a16="http://schemas.microsoft.com/office/drawing/2014/main" id="{555C0D33-D79C-B44F-D06E-F2A9798256A2}"/>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30" name="Google Shape;6707;g2d30ebb658d_0_19789">
                <a:extLst>
                  <a:ext uri="{FF2B5EF4-FFF2-40B4-BE49-F238E27FC236}">
                    <a16:creationId xmlns:a16="http://schemas.microsoft.com/office/drawing/2014/main" id="{AF7246D2-F5BE-6FCD-9A06-971663D18FEA}"/>
                  </a:ext>
                </a:extLst>
              </p:cNvPr>
              <p:cNvGrpSpPr/>
              <p:nvPr/>
            </p:nvGrpSpPr>
            <p:grpSpPr>
              <a:xfrm>
                <a:off x="5721290" y="5324870"/>
                <a:ext cx="283155" cy="283154"/>
                <a:chOff x="10722212" y="2729558"/>
                <a:chExt cx="663407" cy="663407"/>
              </a:xfrm>
            </p:grpSpPr>
            <p:sp>
              <p:nvSpPr>
                <p:cNvPr id="46" name="Google Shape;6708;g2d30ebb658d_0_19789">
                  <a:extLst>
                    <a:ext uri="{FF2B5EF4-FFF2-40B4-BE49-F238E27FC236}">
                      <a16:creationId xmlns:a16="http://schemas.microsoft.com/office/drawing/2014/main" id="{4CD60187-EC56-464C-D8B2-DA72D17A286D}"/>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7" name="Google Shape;6709;g2d30ebb658d_0_19789">
                  <a:extLst>
                    <a:ext uri="{FF2B5EF4-FFF2-40B4-BE49-F238E27FC236}">
                      <a16:creationId xmlns:a16="http://schemas.microsoft.com/office/drawing/2014/main" id="{5D85698E-055D-16C4-19B5-0CA01C518772}"/>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1" name="Google Shape;6710;g2d30ebb658d_0_19789">
                <a:extLst>
                  <a:ext uri="{FF2B5EF4-FFF2-40B4-BE49-F238E27FC236}">
                    <a16:creationId xmlns:a16="http://schemas.microsoft.com/office/drawing/2014/main" id="{325E6790-3ED9-1A03-09C8-DF4E701271CE}"/>
                  </a:ext>
                </a:extLst>
              </p:cNvPr>
              <p:cNvGrpSpPr/>
              <p:nvPr/>
            </p:nvGrpSpPr>
            <p:grpSpPr>
              <a:xfrm>
                <a:off x="4576370" y="5324751"/>
                <a:ext cx="283155" cy="283154"/>
                <a:chOff x="572541" y="5475121"/>
                <a:chExt cx="663407" cy="663407"/>
              </a:xfrm>
            </p:grpSpPr>
            <p:sp>
              <p:nvSpPr>
                <p:cNvPr id="44" name="Google Shape;6711;g2d30ebb658d_0_19789">
                  <a:extLst>
                    <a:ext uri="{FF2B5EF4-FFF2-40B4-BE49-F238E27FC236}">
                      <a16:creationId xmlns:a16="http://schemas.microsoft.com/office/drawing/2014/main" id="{561BFAB0-CDE7-30A4-13AC-EFB4936F219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5" name="Google Shape;6712;g2d30ebb658d_0_19789">
                  <a:extLst>
                    <a:ext uri="{FF2B5EF4-FFF2-40B4-BE49-F238E27FC236}">
                      <a16:creationId xmlns:a16="http://schemas.microsoft.com/office/drawing/2014/main" id="{24164179-407E-1F51-EACE-5BF4006AEE1B}"/>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2" name="Google Shape;6713;g2d30ebb658d_0_19789">
                <a:extLst>
                  <a:ext uri="{FF2B5EF4-FFF2-40B4-BE49-F238E27FC236}">
                    <a16:creationId xmlns:a16="http://schemas.microsoft.com/office/drawing/2014/main" id="{A7090253-86C8-3C65-C714-4C924F243B35}"/>
                  </a:ext>
                </a:extLst>
              </p:cNvPr>
              <p:cNvGrpSpPr/>
              <p:nvPr/>
            </p:nvGrpSpPr>
            <p:grpSpPr>
              <a:xfrm>
                <a:off x="5144738" y="5324752"/>
                <a:ext cx="283155" cy="283154"/>
                <a:chOff x="9272259" y="5475121"/>
                <a:chExt cx="663407" cy="663407"/>
              </a:xfrm>
            </p:grpSpPr>
            <p:sp>
              <p:nvSpPr>
                <p:cNvPr id="42" name="Google Shape;6714;g2d30ebb658d_0_19789">
                  <a:extLst>
                    <a:ext uri="{FF2B5EF4-FFF2-40B4-BE49-F238E27FC236}">
                      <a16:creationId xmlns:a16="http://schemas.microsoft.com/office/drawing/2014/main" id="{189B6AB4-BDE5-E06B-CAE5-25279B946816}"/>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3" name="Google Shape;6715;g2d30ebb658d_0_19789">
                  <a:extLst>
                    <a:ext uri="{FF2B5EF4-FFF2-40B4-BE49-F238E27FC236}">
                      <a16:creationId xmlns:a16="http://schemas.microsoft.com/office/drawing/2014/main" id="{4CB5F54B-A1B8-225E-0A60-ED1C129E261A}"/>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40" name="Google Shape;6704;g2d30ebb658d_0_19789">
                <a:extLst>
                  <a:ext uri="{FF2B5EF4-FFF2-40B4-BE49-F238E27FC236}">
                    <a16:creationId xmlns:a16="http://schemas.microsoft.com/office/drawing/2014/main" id="{81DE2F23-B806-8B71-D282-F54305D53B5D}"/>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Additional Workload Domains</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5" name="TextBox 34">
                <a:extLst>
                  <a:ext uri="{FF2B5EF4-FFF2-40B4-BE49-F238E27FC236}">
                    <a16:creationId xmlns:a16="http://schemas.microsoft.com/office/drawing/2014/main" id="{45DFB385-26B1-1DEC-AC5B-008F652027F6}"/>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38" name="Google Shape;6678;g2d30ebb658d_0_19789">
                <a:extLst>
                  <a:ext uri="{FF2B5EF4-FFF2-40B4-BE49-F238E27FC236}">
                    <a16:creationId xmlns:a16="http://schemas.microsoft.com/office/drawing/2014/main" id="{243BF956-E2F1-8E9E-F9E4-1524062C6BFB}"/>
                  </a:ext>
                </a:extLst>
              </p:cNvPr>
              <p:cNvSpPr/>
              <p:nvPr/>
            </p:nvSpPr>
            <p:spPr>
              <a:xfrm>
                <a:off x="4735103" y="4725882"/>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9" name="Google Shape;6678;g2d30ebb658d_0_19789">
                <a:extLst>
                  <a:ext uri="{FF2B5EF4-FFF2-40B4-BE49-F238E27FC236}">
                    <a16:creationId xmlns:a16="http://schemas.microsoft.com/office/drawing/2014/main" id="{24958900-517D-DBD5-5F82-8BCDCFC1BE7A}"/>
                  </a:ext>
                </a:extLst>
              </p:cNvPr>
              <p:cNvSpPr/>
              <p:nvPr/>
            </p:nvSpPr>
            <p:spPr>
              <a:xfrm>
                <a:off x="4738816" y="4535240"/>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1" name="Google Shape;6678;g2d30ebb658d_0_19789">
                <a:extLst>
                  <a:ext uri="{FF2B5EF4-FFF2-40B4-BE49-F238E27FC236}">
                    <a16:creationId xmlns:a16="http://schemas.microsoft.com/office/drawing/2014/main" id="{0A150F9E-8208-D9CC-1B5C-C5EA9F976242}"/>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grpSp>
        <p:sp>
          <p:nvSpPr>
            <p:cNvPr id="170" name="Google Shape;6678;g2d30ebb658d_0_19789">
              <a:extLst>
                <a:ext uri="{FF2B5EF4-FFF2-40B4-BE49-F238E27FC236}">
                  <a16:creationId xmlns:a16="http://schemas.microsoft.com/office/drawing/2014/main" id="{F8F4918D-FD35-6641-9D70-FA2B7648DD3E}"/>
                </a:ext>
              </a:extLst>
            </p:cNvPr>
            <p:cNvSpPr/>
            <p:nvPr/>
          </p:nvSpPr>
          <p:spPr>
            <a:xfrm>
              <a:off x="4911251"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68" name="Group 67">
            <a:extLst>
              <a:ext uri="{FF2B5EF4-FFF2-40B4-BE49-F238E27FC236}">
                <a16:creationId xmlns:a16="http://schemas.microsoft.com/office/drawing/2014/main" id="{AF419C36-1B7C-AA19-E0D4-09F178F3F694}"/>
              </a:ext>
            </a:extLst>
          </p:cNvPr>
          <p:cNvGrpSpPr/>
          <p:nvPr/>
        </p:nvGrpSpPr>
        <p:grpSpPr>
          <a:xfrm>
            <a:off x="3265290" y="1933872"/>
            <a:ext cx="1909145" cy="2029026"/>
            <a:chOff x="4353920" y="2081242"/>
            <a:chExt cx="1909145" cy="2029026"/>
          </a:xfrm>
        </p:grpSpPr>
        <p:sp>
          <p:nvSpPr>
            <p:cNvPr id="50" name="Google Shape;6678;g2d30ebb658d_0_19789">
              <a:extLst>
                <a:ext uri="{FF2B5EF4-FFF2-40B4-BE49-F238E27FC236}">
                  <a16:creationId xmlns:a16="http://schemas.microsoft.com/office/drawing/2014/main" id="{8A20B4BE-2D71-22C7-7A42-B0E0FF1B1CA5}"/>
                </a:ext>
              </a:extLst>
            </p:cNvPr>
            <p:cNvSpPr/>
            <p:nvPr/>
          </p:nvSpPr>
          <p:spPr>
            <a:xfrm>
              <a:off x="4353920" y="2081242"/>
              <a:ext cx="1909145" cy="2029026"/>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 name="Google Shape;6678;g2d30ebb658d_0_19789">
              <a:extLst>
                <a:ext uri="{FF2B5EF4-FFF2-40B4-BE49-F238E27FC236}">
                  <a16:creationId xmlns:a16="http://schemas.microsoft.com/office/drawing/2014/main" id="{01E90415-022F-E11A-7540-2E34EA3DA150}"/>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6" name="Google Shape;6705;g2d30ebb658d_0_19789">
              <a:extLst>
                <a:ext uri="{FF2B5EF4-FFF2-40B4-BE49-F238E27FC236}">
                  <a16:creationId xmlns:a16="http://schemas.microsoft.com/office/drawing/2014/main" id="{CAEEEDD3-BFA7-ED18-4E60-76FCC7B7CE17}"/>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latin typeface="Arial"/>
                <a:ea typeface="Arial"/>
                <a:cs typeface="Arial"/>
                <a:sym typeface="Arial"/>
              </a:endParaRPr>
            </a:p>
          </p:txBody>
        </p:sp>
        <p:grpSp>
          <p:nvGrpSpPr>
            <p:cNvPr id="7" name="Google Shape;6707;g2d30ebb658d_0_19789">
              <a:extLst>
                <a:ext uri="{FF2B5EF4-FFF2-40B4-BE49-F238E27FC236}">
                  <a16:creationId xmlns:a16="http://schemas.microsoft.com/office/drawing/2014/main" id="{8E5B26DF-0B2A-6939-F043-1D2D6EA43331}"/>
                </a:ext>
              </a:extLst>
            </p:cNvPr>
            <p:cNvGrpSpPr/>
            <p:nvPr/>
          </p:nvGrpSpPr>
          <p:grpSpPr>
            <a:xfrm>
              <a:off x="5721290" y="3680282"/>
              <a:ext cx="283155" cy="283154"/>
              <a:chOff x="10722212" y="2729558"/>
              <a:chExt cx="663407" cy="663407"/>
            </a:xfrm>
          </p:grpSpPr>
          <p:sp>
            <p:nvSpPr>
              <p:cNvPr id="25" name="Google Shape;6708;g2d30ebb658d_0_19789">
                <a:extLst>
                  <a:ext uri="{FF2B5EF4-FFF2-40B4-BE49-F238E27FC236}">
                    <a16:creationId xmlns:a16="http://schemas.microsoft.com/office/drawing/2014/main" id="{97C91FD0-26BF-AFF8-22C9-AE8989715F6C}"/>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6" name="Google Shape;6709;g2d30ebb658d_0_19789">
                <a:extLst>
                  <a:ext uri="{FF2B5EF4-FFF2-40B4-BE49-F238E27FC236}">
                    <a16:creationId xmlns:a16="http://schemas.microsoft.com/office/drawing/2014/main" id="{FF54E1EA-0AC8-3E7B-B799-A9756E63CB45}"/>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8" name="Google Shape;6710;g2d30ebb658d_0_19789">
              <a:extLst>
                <a:ext uri="{FF2B5EF4-FFF2-40B4-BE49-F238E27FC236}">
                  <a16:creationId xmlns:a16="http://schemas.microsoft.com/office/drawing/2014/main" id="{C888EC39-6021-3219-5F41-A04A5EE8A30F}"/>
                </a:ext>
              </a:extLst>
            </p:cNvPr>
            <p:cNvGrpSpPr/>
            <p:nvPr/>
          </p:nvGrpSpPr>
          <p:grpSpPr>
            <a:xfrm>
              <a:off x="4576370" y="3680163"/>
              <a:ext cx="283155" cy="283154"/>
              <a:chOff x="572541" y="5475121"/>
              <a:chExt cx="663407" cy="663407"/>
            </a:xfrm>
          </p:grpSpPr>
          <p:sp>
            <p:nvSpPr>
              <p:cNvPr id="23" name="Google Shape;6711;g2d30ebb658d_0_19789">
                <a:extLst>
                  <a:ext uri="{FF2B5EF4-FFF2-40B4-BE49-F238E27FC236}">
                    <a16:creationId xmlns:a16="http://schemas.microsoft.com/office/drawing/2014/main" id="{89DB2B95-4A8E-26CB-F7AB-F747976CD98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4" name="Google Shape;6712;g2d30ebb658d_0_19789">
                <a:extLst>
                  <a:ext uri="{FF2B5EF4-FFF2-40B4-BE49-F238E27FC236}">
                    <a16:creationId xmlns:a16="http://schemas.microsoft.com/office/drawing/2014/main" id="{F73FE333-8A86-5D95-BC70-B6685FE8C3BA}"/>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9" name="Google Shape;6713;g2d30ebb658d_0_19789">
              <a:extLst>
                <a:ext uri="{FF2B5EF4-FFF2-40B4-BE49-F238E27FC236}">
                  <a16:creationId xmlns:a16="http://schemas.microsoft.com/office/drawing/2014/main" id="{C292F2BC-B74F-734D-088D-29A48C4AF3F3}"/>
                </a:ext>
              </a:extLst>
            </p:cNvPr>
            <p:cNvGrpSpPr/>
            <p:nvPr/>
          </p:nvGrpSpPr>
          <p:grpSpPr>
            <a:xfrm>
              <a:off x="5144738" y="3680164"/>
              <a:ext cx="283155" cy="283154"/>
              <a:chOff x="9272259" y="5475121"/>
              <a:chExt cx="663407" cy="663407"/>
            </a:xfrm>
          </p:grpSpPr>
          <p:sp>
            <p:nvSpPr>
              <p:cNvPr id="21" name="Google Shape;6714;g2d30ebb658d_0_19789">
                <a:extLst>
                  <a:ext uri="{FF2B5EF4-FFF2-40B4-BE49-F238E27FC236}">
                    <a16:creationId xmlns:a16="http://schemas.microsoft.com/office/drawing/2014/main" id="{9874D9C4-3F89-8519-DCC1-A0054D178B6A}"/>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2" name="Google Shape;6715;g2d30ebb658d_0_19789">
                <a:extLst>
                  <a:ext uri="{FF2B5EF4-FFF2-40B4-BE49-F238E27FC236}">
                    <a16:creationId xmlns:a16="http://schemas.microsoft.com/office/drawing/2014/main" id="{E972F1FE-6828-77C4-C77C-9952AC216E90}"/>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19" name="Google Shape;6704;g2d30ebb658d_0_19789">
              <a:extLst>
                <a:ext uri="{FF2B5EF4-FFF2-40B4-BE49-F238E27FC236}">
                  <a16:creationId xmlns:a16="http://schemas.microsoft.com/office/drawing/2014/main" id="{BB0AA4E2-28A4-28FD-9E1E-01CBA1A23B6E}"/>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latin typeface="Arial" panose="020B0604020202020204"/>
                  <a:ea typeface="+mn-ea"/>
                  <a:cs typeface="+mn-cs"/>
                </a:rPr>
                <a:t>Management Domain</a:t>
              </a:r>
              <a:endParaRPr kumimoji="0" sz="7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F52D9E0A-B33E-8F1B-5E2A-F50B981B1C3F}"/>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latin typeface="Arial" panose="020B0604020202020204"/>
                  <a:ea typeface="+mn-ea"/>
                  <a:cs typeface="+mn-cs"/>
                </a:rPr>
                <a:t>Core Infrastructure</a:t>
              </a:r>
            </a:p>
          </p:txBody>
        </p:sp>
        <p:sp>
          <p:nvSpPr>
            <p:cNvPr id="13" name="Google Shape;6705;g2d30ebb658d_0_19789">
              <a:extLst>
                <a:ext uri="{FF2B5EF4-FFF2-40B4-BE49-F238E27FC236}">
                  <a16:creationId xmlns:a16="http://schemas.microsoft.com/office/drawing/2014/main" id="{CE36526F-7158-1070-D532-3F1C3A784D03}"/>
                </a:ext>
              </a:extLst>
            </p:cNvPr>
            <p:cNvSpPr/>
            <p:nvPr/>
          </p:nvSpPr>
          <p:spPr>
            <a:xfrm>
              <a:off x="4738816" y="2666396"/>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vCenter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16" name="Google Shape;6678;g2d30ebb658d_0_19789">
              <a:extLst>
                <a:ext uri="{FF2B5EF4-FFF2-40B4-BE49-F238E27FC236}">
                  <a16:creationId xmlns:a16="http://schemas.microsoft.com/office/drawing/2014/main" id="{850725BF-446D-83D7-99E3-D45A2B309657}"/>
                </a:ext>
              </a:extLst>
            </p:cNvPr>
            <p:cNvSpPr/>
            <p:nvPr/>
          </p:nvSpPr>
          <p:spPr>
            <a:xfrm>
              <a:off x="4989674" y="3264891"/>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8" name="Google Shape;6678;g2d30ebb658d_0_19789">
              <a:extLst>
                <a:ext uri="{FF2B5EF4-FFF2-40B4-BE49-F238E27FC236}">
                  <a16:creationId xmlns:a16="http://schemas.microsoft.com/office/drawing/2014/main" id="{FF0390D5-1A03-0B6D-08A1-A7438B2482DF}"/>
                </a:ext>
              </a:extLst>
            </p:cNvPr>
            <p:cNvSpPr/>
            <p:nvPr/>
          </p:nvSpPr>
          <p:spPr>
            <a:xfrm>
              <a:off x="4738816" y="2868207"/>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latin typeface="Arial"/>
                  <a:ea typeface="Arial"/>
                  <a:cs typeface="Arial"/>
                  <a:sym typeface="Arial"/>
                </a:rPr>
                <a:t>NSX</a:t>
              </a:r>
              <a:endParaRPr kumimoji="0" sz="7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1" name="TextBox 50">
              <a:extLst>
                <a:ext uri="{FF2B5EF4-FFF2-40B4-BE49-F238E27FC236}">
                  <a16:creationId xmlns:a16="http://schemas.microsoft.com/office/drawing/2014/main" id="{AF323A8D-1FB6-C002-21AB-624DB28AC2AD}"/>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VCF Instance</a:t>
              </a:r>
            </a:p>
          </p:txBody>
        </p:sp>
        <p:sp>
          <p:nvSpPr>
            <p:cNvPr id="57" name="Google Shape;6705;g2d30ebb658d_0_19789">
              <a:extLst>
                <a:ext uri="{FF2B5EF4-FFF2-40B4-BE49-F238E27FC236}">
                  <a16:creationId xmlns:a16="http://schemas.microsoft.com/office/drawing/2014/main" id="{F7C9026B-3E09-291A-DBBC-64B3A6CCCBFE}"/>
                </a:ext>
              </a:extLst>
            </p:cNvPr>
            <p:cNvSpPr/>
            <p:nvPr/>
          </p:nvSpPr>
          <p:spPr>
            <a:xfrm>
              <a:off x="4738816" y="3064305"/>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latin typeface="Arial" panose="020B0604020202020204"/>
                <a:ea typeface="Arial"/>
                <a:cs typeface="Arial"/>
                <a:sym typeface="Arial"/>
              </a:endParaRPr>
            </a:p>
          </p:txBody>
        </p:sp>
        <p:sp>
          <p:nvSpPr>
            <p:cNvPr id="58" name="Google Shape;6678;g2d30ebb658d_0_19789">
              <a:extLst>
                <a:ext uri="{FF2B5EF4-FFF2-40B4-BE49-F238E27FC236}">
                  <a16:creationId xmlns:a16="http://schemas.microsoft.com/office/drawing/2014/main" id="{A611CBCF-C11E-576A-211C-BC361E4B1BF4}"/>
                </a:ext>
              </a:extLst>
            </p:cNvPr>
            <p:cNvSpPr/>
            <p:nvPr/>
          </p:nvSpPr>
          <p:spPr>
            <a:xfrm>
              <a:off x="4927390" y="3309973"/>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latin typeface="Arial"/>
                  <a:ea typeface="Arial"/>
                  <a:cs typeface="Arial"/>
                  <a:sym typeface="Arial"/>
                </a:rPr>
                <a:t>Clusters</a:t>
              </a:r>
              <a:endParaRPr kumimoji="0" sz="700" b="0" i="0" u="none" strike="noStrike" kern="1200" cap="none" spc="0" normalizeH="0" baseline="0" noProof="0" dirty="0">
                <a:ln>
                  <a:noFill/>
                </a:ln>
                <a:solidFill>
                  <a:srgbClr val="6C4B94"/>
                </a:solidFill>
                <a:effectLst/>
                <a:uLnTx/>
                <a:uFillTx/>
                <a:latin typeface="Arial"/>
                <a:ea typeface="Arial"/>
                <a:cs typeface="Arial"/>
                <a:sym typeface="Arial"/>
              </a:endParaRPr>
            </a:p>
          </p:txBody>
        </p:sp>
        <p:pic>
          <p:nvPicPr>
            <p:cNvPr id="65" name="Google Shape;6699;p92">
              <a:extLst>
                <a:ext uri="{FF2B5EF4-FFF2-40B4-BE49-F238E27FC236}">
                  <a16:creationId xmlns:a16="http://schemas.microsoft.com/office/drawing/2014/main" id="{7DE76168-25AB-06F7-AD25-2ACE95EAAA3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33" name="Rectangle 32">
            <a:extLst>
              <a:ext uri="{FF2B5EF4-FFF2-40B4-BE49-F238E27FC236}">
                <a16:creationId xmlns:a16="http://schemas.microsoft.com/office/drawing/2014/main" id="{DE80A7AC-20E1-1569-C5DB-7EE95606447D}"/>
              </a:ext>
            </a:extLst>
          </p:cNvPr>
          <p:cNvSpPr/>
          <p:nvPr/>
        </p:nvSpPr>
        <p:spPr bwMode="gray">
          <a:xfrm>
            <a:off x="3271988" y="3913455"/>
            <a:ext cx="1897199" cy="92075"/>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4" name="Title 1">
            <a:extLst>
              <a:ext uri="{FF2B5EF4-FFF2-40B4-BE49-F238E27FC236}">
                <a16:creationId xmlns:a16="http://schemas.microsoft.com/office/drawing/2014/main" id="{1137FACF-B016-7E7C-7605-56BD7402D638}"/>
              </a:ext>
            </a:extLst>
          </p:cNvPr>
          <p:cNvSpPr txBox="1">
            <a:spLocks/>
          </p:cNvSpPr>
          <p:nvPr/>
        </p:nvSpPr>
        <p:spPr>
          <a:xfrm>
            <a:off x="579809" y="412751"/>
            <a:ext cx="11001004" cy="381000"/>
          </a:xfrm>
          <a:prstGeom prst="rect">
            <a:avLst/>
          </a:prstGeom>
        </p:spPr>
        <p:txBody>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005C8A"/>
                </a:solidFill>
                <a:effectLst/>
                <a:uLnTx/>
                <a:uFillTx/>
                <a:latin typeface="Arial" panose="020B0604020202020204"/>
                <a:ea typeface="+mj-ea"/>
                <a:cs typeface="+mj-cs"/>
              </a:rPr>
              <a:t>Private Cloud Logical Design within VMware Cloud Foundation</a:t>
            </a:r>
          </a:p>
        </p:txBody>
      </p:sp>
      <p:sp>
        <p:nvSpPr>
          <p:cNvPr id="74" name="TextBox 73">
            <a:extLst>
              <a:ext uri="{FF2B5EF4-FFF2-40B4-BE49-F238E27FC236}">
                <a16:creationId xmlns:a16="http://schemas.microsoft.com/office/drawing/2014/main" id="{E44043A2-371C-1F0A-7837-7DCCD6641019}"/>
              </a:ext>
            </a:extLst>
          </p:cNvPr>
          <p:cNvSpPr txBox="1"/>
          <p:nvPr/>
        </p:nvSpPr>
        <p:spPr>
          <a:xfrm>
            <a:off x="3628521" y="934860"/>
            <a:ext cx="1192771" cy="15388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latin typeface="Arial" panose="020B0604020202020204"/>
                <a:ea typeface="+mn-ea"/>
                <a:cs typeface="+mn-cs"/>
              </a:rPr>
              <a:t> VCF Private Cloud </a:t>
            </a:r>
          </a:p>
        </p:txBody>
      </p:sp>
      <p:sp>
        <p:nvSpPr>
          <p:cNvPr id="3" name="Rectangle 2">
            <a:extLst>
              <a:ext uri="{FF2B5EF4-FFF2-40B4-BE49-F238E27FC236}">
                <a16:creationId xmlns:a16="http://schemas.microsoft.com/office/drawing/2014/main" id="{749D52C0-12E6-39D1-123B-9EEA72781FBB}"/>
              </a:ext>
            </a:extLst>
          </p:cNvPr>
          <p:cNvSpPr/>
          <p:nvPr/>
        </p:nvSpPr>
        <p:spPr bwMode="gray">
          <a:xfrm>
            <a:off x="8076361" y="1266442"/>
            <a:ext cx="4112464" cy="4881505"/>
          </a:xfrm>
          <a:prstGeom prst="rect">
            <a:avLst/>
          </a:prstGeom>
          <a:solidFill>
            <a:srgbClr val="F4F8FA"/>
          </a:solidFill>
        </p:spPr>
        <p:txBody>
          <a:bodyPr vert="horz" lIns="274249" tIns="457081" rIns="457081" bIns="457081" rtlCol="0">
            <a:noAutofit/>
          </a:bodyPr>
          <a:lstStyle/>
          <a:p>
            <a:pPr defTabSz="914126">
              <a:spcAft>
                <a:spcPts val="1200"/>
              </a:spcAft>
              <a:buClr>
                <a:srgbClr val="000000">
                  <a:lumMod val="60000"/>
                  <a:lumOff val="40000"/>
                </a:srgbClr>
              </a:buClr>
              <a:buSzPct val="90000"/>
              <a:buFont typeface="Arial" panose="020B0604020202020204" pitchFamily="34" charset="0"/>
              <a:buChar char="​"/>
            </a:pPr>
            <a:endParaRPr lang="en-IN" sz="1799" dirty="0">
              <a:solidFill>
                <a:srgbClr val="005C8A"/>
              </a:solidFill>
              <a:latin typeface="Arial" panose="020B0604020202020204"/>
            </a:endParaRPr>
          </a:p>
        </p:txBody>
      </p:sp>
      <p:cxnSp>
        <p:nvCxnSpPr>
          <p:cNvPr id="4" name="Straight Connector 3">
            <a:extLst>
              <a:ext uri="{FF2B5EF4-FFF2-40B4-BE49-F238E27FC236}">
                <a16:creationId xmlns:a16="http://schemas.microsoft.com/office/drawing/2014/main" id="{D9376460-1490-746C-CF64-3313BE2C5710}"/>
              </a:ext>
            </a:extLst>
          </p:cNvPr>
          <p:cNvCxnSpPr>
            <a:cxnSpLocks/>
          </p:cNvCxnSpPr>
          <p:nvPr/>
        </p:nvCxnSpPr>
        <p:spPr bwMode="gray">
          <a:xfrm>
            <a:off x="8076361" y="1280962"/>
            <a:ext cx="4112464" cy="0"/>
          </a:xfrm>
          <a:prstGeom prst="line">
            <a:avLst/>
          </a:prstGeom>
          <a:ln w="3175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1" name="Text Placeholder 3">
            <a:extLst>
              <a:ext uri="{FF2B5EF4-FFF2-40B4-BE49-F238E27FC236}">
                <a16:creationId xmlns:a16="http://schemas.microsoft.com/office/drawing/2014/main" id="{55BB311B-42C0-A145-C95E-22E3788DF4A2}"/>
              </a:ext>
            </a:extLst>
          </p:cNvPr>
          <p:cNvSpPr txBox="1">
            <a:spLocks/>
          </p:cNvSpPr>
          <p:nvPr/>
        </p:nvSpPr>
        <p:spPr>
          <a:xfrm>
            <a:off x="8218018" y="1671390"/>
            <a:ext cx="3947763" cy="1733693"/>
          </a:xfrm>
          <a:prstGeom prst="rect">
            <a:avLst/>
          </a:prstGeom>
        </p:spPr>
        <p:txBody>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Management Domain</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Workload Domains</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Fleet</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One or more 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Common VCF Operations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Common VCF Automation Instance</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VCF Private Clouds</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latin typeface="Arial" panose="020B0604020202020204"/>
                <a:ea typeface="+mn-ea"/>
                <a:cs typeface="+mn-cs"/>
              </a:rPr>
              <a:t>One or more VCF Fleets </a:t>
            </a:r>
          </a:p>
          <a:p>
            <a:pPr marL="0" marR="0" lvl="0" indent="0" algn="l"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6254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dissolve">
                                      <p:cBhvr>
                                        <p:cTn id="7" dur="500"/>
                                        <p:tgtEl>
                                          <p:spTgt spid="41">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1">
                                            <p:txEl>
                                              <p:pRg st="1" end="1"/>
                                            </p:txEl>
                                          </p:spTgt>
                                        </p:tgtEl>
                                        <p:attrNameLst>
                                          <p:attrName>style.visibility</p:attrName>
                                        </p:attrNameLst>
                                      </p:cBhvr>
                                      <p:to>
                                        <p:strVal val="visible"/>
                                      </p:to>
                                    </p:set>
                                    <p:animEffect transition="in" filter="dissolve">
                                      <p:cBhvr>
                                        <p:cTn id="11" dur="500"/>
                                        <p:tgtEl>
                                          <p:spTgt spid="41">
                                            <p:txEl>
                                              <p:pRg st="1" end="1"/>
                                            </p:txEl>
                                          </p:spTgt>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dissolve">
                                      <p:cBhvr>
                                        <p:cTn id="15" dur="500"/>
                                        <p:tgtEl>
                                          <p:spTgt spid="6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dissolve">
                                      <p:cBhvr>
                                        <p:cTn id="19" dur="500"/>
                                        <p:tgtEl>
                                          <p:spTgt spid="48"/>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1">
                                            <p:txEl>
                                              <p:pRg st="2" end="2"/>
                                            </p:txEl>
                                          </p:spTgt>
                                        </p:tgtEl>
                                        <p:attrNameLst>
                                          <p:attrName>style.visibility</p:attrName>
                                        </p:attrNameLst>
                                      </p:cBhvr>
                                      <p:to>
                                        <p:strVal val="visible"/>
                                      </p:to>
                                    </p:set>
                                    <p:animEffect transition="in" filter="dissolve">
                                      <p:cBhvr>
                                        <p:cTn id="28" dur="500"/>
                                        <p:tgtEl>
                                          <p:spTgt spid="41">
                                            <p:txEl>
                                              <p:pRg st="2" end="2"/>
                                            </p:txEl>
                                          </p:spTgt>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dissolve">
                                      <p:cBhvr>
                                        <p:cTn id="32" dur="500"/>
                                        <p:tgtEl>
                                          <p:spTgt spid="33"/>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up)">
                                      <p:cBhvr>
                                        <p:cTn id="35" dur="500"/>
                                        <p:tgtEl>
                                          <p:spTgt spid="27"/>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41">
                                            <p:txEl>
                                              <p:pRg st="5" end="5"/>
                                            </p:txEl>
                                          </p:spTgt>
                                        </p:tgtEl>
                                        <p:attrNameLst>
                                          <p:attrName>style.visibility</p:attrName>
                                        </p:attrNameLst>
                                      </p:cBhvr>
                                      <p:to>
                                        <p:strVal val="visible"/>
                                      </p:to>
                                    </p:set>
                                    <p:animEffect transition="in" filter="dissolve">
                                      <p:cBhvr>
                                        <p:cTn id="44" dur="500"/>
                                        <p:tgtEl>
                                          <p:spTgt spid="41">
                                            <p:txEl>
                                              <p:pRg st="5" end="5"/>
                                            </p:txEl>
                                          </p:spTgt>
                                        </p:tgtEl>
                                      </p:cBhvr>
                                    </p:animEffect>
                                  </p:childTnLst>
                                </p:cTn>
                              </p:par>
                            </p:childTnLst>
                          </p:cTn>
                        </p:par>
                        <p:par>
                          <p:cTn id="45" fill="hold">
                            <p:stCondLst>
                              <p:cond delay="500"/>
                            </p:stCondLst>
                            <p:childTnLst>
                              <p:par>
                                <p:cTn id="46" presetID="9" presetClass="entr" presetSubtype="0" fill="hold" nodeType="afterEffect">
                                  <p:stCondLst>
                                    <p:cond delay="0"/>
                                  </p:stCondLst>
                                  <p:childTnLst>
                                    <p:set>
                                      <p:cBhvr>
                                        <p:cTn id="47" dur="1" fill="hold">
                                          <p:stCondLst>
                                            <p:cond delay="0"/>
                                          </p:stCondLst>
                                        </p:cTn>
                                        <p:tgtEl>
                                          <p:spTgt spid="41">
                                            <p:txEl>
                                              <p:pRg st="6" end="6"/>
                                            </p:txEl>
                                          </p:spTgt>
                                        </p:tgtEl>
                                        <p:attrNameLst>
                                          <p:attrName>style.visibility</p:attrName>
                                        </p:attrNameLst>
                                      </p:cBhvr>
                                      <p:to>
                                        <p:strVal val="visible"/>
                                      </p:to>
                                    </p:set>
                                    <p:animEffect transition="in" filter="dissolve">
                                      <p:cBhvr>
                                        <p:cTn id="48" dur="500"/>
                                        <p:tgtEl>
                                          <p:spTgt spid="41">
                                            <p:txEl>
                                              <p:pRg st="6" end="6"/>
                                            </p:txEl>
                                          </p:spTgt>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41">
                                            <p:txEl>
                                              <p:pRg st="7" end="7"/>
                                            </p:txEl>
                                          </p:spTgt>
                                        </p:tgtEl>
                                        <p:attrNameLst>
                                          <p:attrName>style.visibility</p:attrName>
                                        </p:attrNameLst>
                                      </p:cBhvr>
                                      <p:to>
                                        <p:strVal val="visible"/>
                                      </p:to>
                                    </p:set>
                                    <p:animEffect transition="in" filter="dissolve">
                                      <p:cBhvr>
                                        <p:cTn id="52" dur="500"/>
                                        <p:tgtEl>
                                          <p:spTgt spid="41">
                                            <p:txEl>
                                              <p:pRg st="7" end="7"/>
                                            </p:txEl>
                                          </p:spTgt>
                                        </p:tgtEl>
                                      </p:cBhvr>
                                    </p:animEffect>
                                  </p:childTnLst>
                                </p:cTn>
                              </p:par>
                            </p:childTnLst>
                          </p:cTn>
                        </p:par>
                        <p:par>
                          <p:cTn id="53" fill="hold">
                            <p:stCondLst>
                              <p:cond delay="1500"/>
                            </p:stCondLst>
                            <p:childTnLst>
                              <p:par>
                                <p:cTn id="54" presetID="9" presetClass="entr" presetSubtype="0" fill="hold" nodeType="afterEffect">
                                  <p:stCondLst>
                                    <p:cond delay="0"/>
                                  </p:stCondLst>
                                  <p:childTnLst>
                                    <p:set>
                                      <p:cBhvr>
                                        <p:cTn id="55" dur="1" fill="hold">
                                          <p:stCondLst>
                                            <p:cond delay="0"/>
                                          </p:stCondLst>
                                        </p:cTn>
                                        <p:tgtEl>
                                          <p:spTgt spid="41">
                                            <p:txEl>
                                              <p:pRg st="8" end="8"/>
                                            </p:txEl>
                                          </p:spTgt>
                                        </p:tgtEl>
                                        <p:attrNameLst>
                                          <p:attrName>style.visibility</p:attrName>
                                        </p:attrNameLst>
                                      </p:cBhvr>
                                      <p:to>
                                        <p:strVal val="visible"/>
                                      </p:to>
                                    </p:set>
                                    <p:animEffect transition="in" filter="dissolve">
                                      <p:cBhvr>
                                        <p:cTn id="56" dur="500"/>
                                        <p:tgtEl>
                                          <p:spTgt spid="41">
                                            <p:txEl>
                                              <p:pRg st="8" end="8"/>
                                            </p:txEl>
                                          </p:spTgt>
                                        </p:tgtEl>
                                      </p:cBhvr>
                                    </p:animEffect>
                                  </p:childTnLst>
                                </p:cTn>
                              </p:par>
                            </p:childTnLst>
                          </p:cTn>
                        </p:par>
                        <p:par>
                          <p:cTn id="57" fill="hold">
                            <p:stCondLst>
                              <p:cond delay="2000"/>
                            </p:stCondLst>
                            <p:childTnLst>
                              <p:par>
                                <p:cTn id="58" presetID="16" presetClass="entr" presetSubtype="37"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arn(outVertical)">
                                      <p:cBhvr>
                                        <p:cTn id="60" dur="500"/>
                                        <p:tgtEl>
                                          <p:spTgt spid="2"/>
                                        </p:tgtEl>
                                      </p:cBhvr>
                                    </p:animEffect>
                                  </p:childTnLst>
                                </p:cTn>
                              </p:par>
                            </p:childTnLst>
                          </p:cTn>
                        </p:par>
                        <p:par>
                          <p:cTn id="61" fill="hold">
                            <p:stCondLst>
                              <p:cond delay="2500"/>
                            </p:stCondLst>
                            <p:childTnLst>
                              <p:par>
                                <p:cTn id="62" presetID="9" presetClass="entr" presetSubtype="0" fill="hold" nodeType="afterEffect">
                                  <p:stCondLst>
                                    <p:cond delay="500"/>
                                  </p:stCondLst>
                                  <p:childTnLst>
                                    <p:set>
                                      <p:cBhvr>
                                        <p:cTn id="63" dur="1" fill="hold">
                                          <p:stCondLst>
                                            <p:cond delay="0"/>
                                          </p:stCondLst>
                                        </p:cTn>
                                        <p:tgtEl>
                                          <p:spTgt spid="10"/>
                                        </p:tgtEl>
                                        <p:attrNameLst>
                                          <p:attrName>style.visibility</p:attrName>
                                        </p:attrNameLst>
                                      </p:cBhvr>
                                      <p:to>
                                        <p:strVal val="visible"/>
                                      </p:to>
                                    </p:set>
                                    <p:animEffect transition="in" filter="dissolve">
                                      <p:cBhvr>
                                        <p:cTn id="64" dur="500"/>
                                        <p:tgtEl>
                                          <p:spTgt spid="10"/>
                                        </p:tgtEl>
                                      </p:cBhvr>
                                    </p:animEffect>
                                  </p:childTnLst>
                                </p:cTn>
                              </p:par>
                            </p:childTnLst>
                          </p:cTn>
                        </p:par>
                        <p:par>
                          <p:cTn id="65" fill="hold">
                            <p:stCondLst>
                              <p:cond delay="3500"/>
                            </p:stCondLst>
                            <p:childTnLst>
                              <p:par>
                                <p:cTn id="66" presetID="26" presetClass="emph" presetSubtype="0" fill="hold" nodeType="afterEffect">
                                  <p:stCondLst>
                                    <p:cond delay="0"/>
                                  </p:stCondLst>
                                  <p:childTnLst>
                                    <p:animEffect transition="out" filter="fade">
                                      <p:cBhvr>
                                        <p:cTn id="67" dur="500" tmFilter="0, 0; .2, .5; .8, .5; 1, 0"/>
                                        <p:tgtEl>
                                          <p:spTgt spid="10"/>
                                        </p:tgtEl>
                                      </p:cBhvr>
                                    </p:animEffect>
                                    <p:animScale>
                                      <p:cBhvr>
                                        <p:cTn id="68" dur="250" autoRev="1" fill="hold"/>
                                        <p:tgtEl>
                                          <p:spTgt spid="10"/>
                                        </p:tgtEl>
                                      </p:cBhvr>
                                      <p:by x="105000" y="105000"/>
                                    </p:animScale>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41">
                                            <p:txEl>
                                              <p:pRg st="11" end="11"/>
                                            </p:txEl>
                                          </p:spTgt>
                                        </p:tgtEl>
                                        <p:attrNameLst>
                                          <p:attrName>style.visibility</p:attrName>
                                        </p:attrNameLst>
                                      </p:cBhvr>
                                      <p:to>
                                        <p:strVal val="visible"/>
                                      </p:to>
                                    </p:set>
                                    <p:animEffect transition="in" filter="dissolve">
                                      <p:cBhvr>
                                        <p:cTn id="73" dur="500"/>
                                        <p:tgtEl>
                                          <p:spTgt spid="41">
                                            <p:txEl>
                                              <p:pRg st="11" end="11"/>
                                            </p:txEl>
                                          </p:spTgt>
                                        </p:tgtEl>
                                      </p:cBhvr>
                                    </p:animEffect>
                                  </p:childTnLst>
                                </p:cTn>
                              </p:par>
                            </p:childTnLst>
                          </p:cTn>
                        </p:par>
                        <p:par>
                          <p:cTn id="74" fill="hold">
                            <p:stCondLst>
                              <p:cond delay="500"/>
                            </p:stCondLst>
                            <p:childTnLst>
                              <p:par>
                                <p:cTn id="75" presetID="9" presetClass="entr" presetSubtype="0" fill="hold" nodeType="afterEffect">
                                  <p:stCondLst>
                                    <p:cond delay="0"/>
                                  </p:stCondLst>
                                  <p:childTnLst>
                                    <p:set>
                                      <p:cBhvr>
                                        <p:cTn id="76" dur="1" fill="hold">
                                          <p:stCondLst>
                                            <p:cond delay="0"/>
                                          </p:stCondLst>
                                        </p:cTn>
                                        <p:tgtEl>
                                          <p:spTgt spid="41">
                                            <p:txEl>
                                              <p:pRg st="12" end="12"/>
                                            </p:txEl>
                                          </p:spTgt>
                                        </p:tgtEl>
                                        <p:attrNameLst>
                                          <p:attrName>style.visibility</p:attrName>
                                        </p:attrNameLst>
                                      </p:cBhvr>
                                      <p:to>
                                        <p:strVal val="visible"/>
                                      </p:to>
                                    </p:set>
                                    <p:animEffect transition="in" filter="dissolve">
                                      <p:cBhvr>
                                        <p:cTn id="77" dur="500"/>
                                        <p:tgtEl>
                                          <p:spTgt spid="41">
                                            <p:txEl>
                                              <p:pRg st="12" end="12"/>
                                            </p:txEl>
                                          </p:spTgt>
                                        </p:tgtEl>
                                      </p:cBhvr>
                                    </p:animEffect>
                                  </p:childTnLst>
                                </p:cTn>
                              </p:par>
                              <p:par>
                                <p:cTn id="78" presetID="16" presetClass="entr" presetSubtype="37" fill="hold" grpId="0" nodeType="withEffect">
                                  <p:stCondLst>
                                    <p:cond delay="0"/>
                                  </p:stCondLst>
                                  <p:childTnLst>
                                    <p:set>
                                      <p:cBhvr>
                                        <p:cTn id="79" dur="1" fill="hold">
                                          <p:stCondLst>
                                            <p:cond delay="0"/>
                                          </p:stCondLst>
                                        </p:cTn>
                                        <p:tgtEl>
                                          <p:spTgt spid="74"/>
                                        </p:tgtEl>
                                        <p:attrNameLst>
                                          <p:attrName>style.visibility</p:attrName>
                                        </p:attrNameLst>
                                      </p:cBhvr>
                                      <p:to>
                                        <p:strVal val="visible"/>
                                      </p:to>
                                    </p:set>
                                    <p:animEffect transition="in" filter="barn(outVertical)">
                                      <p:cBhvr>
                                        <p:cTn id="80" dur="500"/>
                                        <p:tgtEl>
                                          <p:spTgt spid="74"/>
                                        </p:tgtEl>
                                      </p:cBhvr>
                                    </p:animEffect>
                                  </p:childTnLst>
                                </p:cTn>
                              </p:par>
                              <p:par>
                                <p:cTn id="81" presetID="16" presetClass="entr" presetSubtype="37" fill="hold" grpId="0" nodeType="withEffect">
                                  <p:stCondLst>
                                    <p:cond delay="0"/>
                                  </p:stCondLst>
                                  <p:childTnLst>
                                    <p:set>
                                      <p:cBhvr>
                                        <p:cTn id="82" dur="1" fill="hold">
                                          <p:stCondLst>
                                            <p:cond delay="0"/>
                                          </p:stCondLst>
                                        </p:cTn>
                                        <p:tgtEl>
                                          <p:spTgt spid="119"/>
                                        </p:tgtEl>
                                        <p:attrNameLst>
                                          <p:attrName>style.visibility</p:attrName>
                                        </p:attrNameLst>
                                      </p:cBhvr>
                                      <p:to>
                                        <p:strVal val="visible"/>
                                      </p:to>
                                    </p:set>
                                    <p:animEffect transition="in" filter="barn(outVertical)">
                                      <p:cBhvr>
                                        <p:cTn id="83" dur="500"/>
                                        <p:tgtEl>
                                          <p:spTgt spid="119"/>
                                        </p:tgtEl>
                                      </p:cBhvr>
                                    </p:animEffect>
                                  </p:childTnLst>
                                </p:cTn>
                              </p:par>
                            </p:childTnLst>
                          </p:cTn>
                        </p:par>
                        <p:par>
                          <p:cTn id="84" fill="hold">
                            <p:stCondLst>
                              <p:cond delay="1000"/>
                            </p:stCondLst>
                            <p:childTnLst>
                              <p:par>
                                <p:cTn id="85" presetID="22" presetClass="entr" presetSubtype="1" fill="hold" nodeType="after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up)">
                                      <p:cBhvr>
                                        <p:cTn id="87" dur="500"/>
                                        <p:tgtEl>
                                          <p:spTgt spid="17"/>
                                        </p:tgtEl>
                                      </p:cBhvr>
                                    </p:animEffect>
                                  </p:childTnLst>
                                </p:cTn>
                              </p:par>
                            </p:childTnLst>
                          </p:cTn>
                        </p:par>
                        <p:par>
                          <p:cTn id="88" fill="hold">
                            <p:stCondLst>
                              <p:cond delay="1500"/>
                            </p:stCondLst>
                            <p:childTnLst>
                              <p:par>
                                <p:cTn id="89" presetID="22" presetClass="entr" presetSubtype="1" fill="hold" nodeType="after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wipe(up)">
                                      <p:cBhvr>
                                        <p:cTn id="9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119" grpId="0" animBg="1"/>
      <p:bldP spid="27" grpId="0" animBg="1"/>
      <p:bldP spid="33" grpId="0" animBg="1"/>
      <p:bldP spid="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CB389-F9BB-52C3-4513-B315F81CDA9A}"/>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E043EF6B-45CE-1B1D-65A3-CCB736767848}"/>
              </a:ext>
            </a:extLst>
          </p:cNvPr>
          <p:cNvSpPr/>
          <p:nvPr/>
        </p:nvSpPr>
        <p:spPr>
          <a:xfrm>
            <a:off x="670" y="895687"/>
            <a:ext cx="12187628" cy="5273102"/>
          </a:xfrm>
          <a:prstGeom prst="roundRect">
            <a:avLst>
              <a:gd name="adj" fmla="val 0"/>
            </a:avLst>
          </a:prstGeom>
          <a:solidFill>
            <a:srgbClr val="F4F8FA"/>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AAEBA3F8-4731-5EB2-DC45-E40AF135836C}"/>
              </a:ext>
            </a:extLst>
          </p:cNvPr>
          <p:cNvSpPr>
            <a:spLocks noGrp="1"/>
          </p:cNvSpPr>
          <p:nvPr>
            <p:ph type="title"/>
          </p:nvPr>
        </p:nvSpPr>
        <p:spPr/>
        <p:txBody>
          <a:bodyPr/>
          <a:lstStyle/>
          <a:p>
            <a:r>
              <a:rPr lang="en-US" dirty="0"/>
              <a:t>Workload Domain and Cluster Topologies</a:t>
            </a:r>
          </a:p>
        </p:txBody>
      </p:sp>
      <p:sp>
        <p:nvSpPr>
          <p:cNvPr id="50" name="Rectangle: Rounded Corners 171">
            <a:extLst>
              <a:ext uri="{FF2B5EF4-FFF2-40B4-BE49-F238E27FC236}">
                <a16:creationId xmlns:a16="http://schemas.microsoft.com/office/drawing/2014/main" id="{8D84430E-8395-6667-95D5-B85DCB8F2974}"/>
              </a:ext>
            </a:extLst>
          </p:cNvPr>
          <p:cNvSpPr/>
          <p:nvPr/>
        </p:nvSpPr>
        <p:spPr>
          <a:xfrm>
            <a:off x="495602" y="1028100"/>
            <a:ext cx="3473498" cy="4990868"/>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4" name="Rectangle: Rounded Corners 171">
            <a:extLst>
              <a:ext uri="{FF2B5EF4-FFF2-40B4-BE49-F238E27FC236}">
                <a16:creationId xmlns:a16="http://schemas.microsoft.com/office/drawing/2014/main" id="{1ADDE1EC-E18C-360B-BC20-CA9A25E1714F}"/>
              </a:ext>
            </a:extLst>
          </p:cNvPr>
          <p:cNvSpPr/>
          <p:nvPr/>
        </p:nvSpPr>
        <p:spPr>
          <a:xfrm>
            <a:off x="4187022" y="1028100"/>
            <a:ext cx="7393786" cy="4990868"/>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304" rtl="0" eaLnBrk="1" fontAlgn="auto" latinLnBrk="0" hangingPunct="1">
              <a:lnSpc>
                <a:spcPct val="100000"/>
              </a:lnSpc>
              <a:spcBef>
                <a:spcPts val="0"/>
              </a:spcBef>
              <a:spcAft>
                <a:spcPts val="600"/>
              </a:spcAft>
              <a:buClrTx/>
              <a:buSzTx/>
              <a:buFontTx/>
              <a:buNone/>
              <a:tabLst/>
              <a:defRPr/>
            </a:pPr>
            <a:endParaRPr kumimoji="0" lang="en-US" sz="100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4" name="Rectangle: Rounded Corners 174">
            <a:extLst>
              <a:ext uri="{FF2B5EF4-FFF2-40B4-BE49-F238E27FC236}">
                <a16:creationId xmlns:a16="http://schemas.microsoft.com/office/drawing/2014/main" id="{C93D5947-0128-6CBE-694E-A44D72175F71}"/>
              </a:ext>
            </a:extLst>
          </p:cNvPr>
          <p:cNvSpPr/>
          <p:nvPr/>
        </p:nvSpPr>
        <p:spPr>
          <a:xfrm>
            <a:off x="4422869" y="1870794"/>
            <a:ext cx="5064625" cy="3699280"/>
          </a:xfrm>
          <a:prstGeom prst="roundRect">
            <a:avLst>
              <a:gd name="adj" fmla="val 2320"/>
            </a:avLst>
          </a:prstGeom>
          <a:noFill/>
          <a:ln w="25400">
            <a:solidFill>
              <a:schemeClr val="tx1"/>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1" name="Rectangle: Rounded Corners 174">
            <a:extLst>
              <a:ext uri="{FF2B5EF4-FFF2-40B4-BE49-F238E27FC236}">
                <a16:creationId xmlns:a16="http://schemas.microsoft.com/office/drawing/2014/main" id="{DD7FC8CE-2849-C2AA-1E8F-7F6E6DC5379C}"/>
              </a:ext>
            </a:extLst>
          </p:cNvPr>
          <p:cNvSpPr/>
          <p:nvPr/>
        </p:nvSpPr>
        <p:spPr>
          <a:xfrm>
            <a:off x="4511880" y="2149384"/>
            <a:ext cx="1539668" cy="3391496"/>
          </a:xfrm>
          <a:prstGeom prst="roundRect">
            <a:avLst>
              <a:gd name="adj" fmla="val 2320"/>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2" name="Rectangle 141">
            <a:extLst>
              <a:ext uri="{FF2B5EF4-FFF2-40B4-BE49-F238E27FC236}">
                <a16:creationId xmlns:a16="http://schemas.microsoft.com/office/drawing/2014/main" id="{E6A25293-5C3B-884C-A000-A4DB20AB4B99}"/>
              </a:ext>
            </a:extLst>
          </p:cNvPr>
          <p:cNvSpPr/>
          <p:nvPr/>
        </p:nvSpPr>
        <p:spPr>
          <a:xfrm>
            <a:off x="4511880" y="2233653"/>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8" name="Rectangle: Rounded Corners 174">
            <a:extLst>
              <a:ext uri="{FF2B5EF4-FFF2-40B4-BE49-F238E27FC236}">
                <a16:creationId xmlns:a16="http://schemas.microsoft.com/office/drawing/2014/main" id="{4C659A7C-7FCB-BDAE-0C89-7EF6B5AF85B6}"/>
              </a:ext>
            </a:extLst>
          </p:cNvPr>
          <p:cNvSpPr/>
          <p:nvPr/>
        </p:nvSpPr>
        <p:spPr>
          <a:xfrm>
            <a:off x="6196620" y="2140186"/>
            <a:ext cx="1539668" cy="3391496"/>
          </a:xfrm>
          <a:prstGeom prst="roundRect">
            <a:avLst>
              <a:gd name="adj" fmla="val 2771"/>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49" name="Rectangle 148">
            <a:extLst>
              <a:ext uri="{FF2B5EF4-FFF2-40B4-BE49-F238E27FC236}">
                <a16:creationId xmlns:a16="http://schemas.microsoft.com/office/drawing/2014/main" id="{AE99CD0F-8199-941D-1D55-2DC763C3162C}"/>
              </a:ext>
            </a:extLst>
          </p:cNvPr>
          <p:cNvSpPr/>
          <p:nvPr/>
        </p:nvSpPr>
        <p:spPr>
          <a:xfrm>
            <a:off x="6196620" y="2224455"/>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5" name="Rectangle: Rounded Corners 174">
            <a:extLst>
              <a:ext uri="{FF2B5EF4-FFF2-40B4-BE49-F238E27FC236}">
                <a16:creationId xmlns:a16="http://schemas.microsoft.com/office/drawing/2014/main" id="{E3A3D7C0-1E06-F917-315B-86BFFCD0AAFE}"/>
              </a:ext>
            </a:extLst>
          </p:cNvPr>
          <p:cNvSpPr/>
          <p:nvPr/>
        </p:nvSpPr>
        <p:spPr>
          <a:xfrm>
            <a:off x="7861132" y="2140959"/>
            <a:ext cx="1539668" cy="3391496"/>
          </a:xfrm>
          <a:prstGeom prst="roundRect">
            <a:avLst>
              <a:gd name="adj" fmla="val 2771"/>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6" name="Rectangle 155">
            <a:extLst>
              <a:ext uri="{FF2B5EF4-FFF2-40B4-BE49-F238E27FC236}">
                <a16:creationId xmlns:a16="http://schemas.microsoft.com/office/drawing/2014/main" id="{6D137B25-3400-0E87-F938-14A130EAE395}"/>
              </a:ext>
            </a:extLst>
          </p:cNvPr>
          <p:cNvSpPr/>
          <p:nvPr/>
        </p:nvSpPr>
        <p:spPr>
          <a:xfrm>
            <a:off x="7861132" y="2225228"/>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7" name="Group 16">
            <a:extLst>
              <a:ext uri="{FF2B5EF4-FFF2-40B4-BE49-F238E27FC236}">
                <a16:creationId xmlns:a16="http://schemas.microsoft.com/office/drawing/2014/main" id="{0D7DE672-DC80-C0AE-04A8-F8AA2EC4FE43}"/>
              </a:ext>
            </a:extLst>
          </p:cNvPr>
          <p:cNvGrpSpPr/>
          <p:nvPr/>
        </p:nvGrpSpPr>
        <p:grpSpPr>
          <a:xfrm>
            <a:off x="4610979" y="2429103"/>
            <a:ext cx="1342795" cy="1028166"/>
            <a:chOff x="4610979" y="2429103"/>
            <a:chExt cx="1342795" cy="1028166"/>
          </a:xfrm>
        </p:grpSpPr>
        <p:sp>
          <p:nvSpPr>
            <p:cNvPr id="169" name="Rectangle: Rounded Corners 174">
              <a:extLst>
                <a:ext uri="{FF2B5EF4-FFF2-40B4-BE49-F238E27FC236}">
                  <a16:creationId xmlns:a16="http://schemas.microsoft.com/office/drawing/2014/main" id="{841E6A13-1DB4-F799-CFAB-6C40E8C57977}"/>
                </a:ext>
              </a:extLst>
            </p:cNvPr>
            <p:cNvSpPr/>
            <p:nvPr/>
          </p:nvSpPr>
          <p:spPr>
            <a:xfrm>
              <a:off x="4610979" y="2429103"/>
              <a:ext cx="1342794" cy="1028166"/>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0" name="Rectangle 169">
              <a:extLst>
                <a:ext uri="{FF2B5EF4-FFF2-40B4-BE49-F238E27FC236}">
                  <a16:creationId xmlns:a16="http://schemas.microsoft.com/office/drawing/2014/main" id="{EFF8D3EF-FE4A-7E15-4352-35B7A47BCC94}"/>
                </a:ext>
              </a:extLst>
            </p:cNvPr>
            <p:cNvSpPr/>
            <p:nvPr/>
          </p:nvSpPr>
          <p:spPr>
            <a:xfrm>
              <a:off x="4610980" y="2516365"/>
              <a:ext cx="1342794"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1</a:t>
              </a:r>
            </a:p>
          </p:txBody>
        </p:sp>
        <p:sp>
          <p:nvSpPr>
            <p:cNvPr id="171" name="Rectangle 170">
              <a:extLst>
                <a:ext uri="{FF2B5EF4-FFF2-40B4-BE49-F238E27FC236}">
                  <a16:creationId xmlns:a16="http://schemas.microsoft.com/office/drawing/2014/main" id="{F69C9EA6-0A3D-17B9-E0DA-8635276A3A19}"/>
                </a:ext>
              </a:extLst>
            </p:cNvPr>
            <p:cNvSpPr/>
            <p:nvPr/>
          </p:nvSpPr>
          <p:spPr bwMode="gray">
            <a:xfrm>
              <a:off x="4716674" y="2738890"/>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grpSp>
      <p:sp>
        <p:nvSpPr>
          <p:cNvPr id="172" name="Rectangle 171">
            <a:extLst>
              <a:ext uri="{FF2B5EF4-FFF2-40B4-BE49-F238E27FC236}">
                <a16:creationId xmlns:a16="http://schemas.microsoft.com/office/drawing/2014/main" id="{FF027082-3F1B-61CF-C883-797D35C1AC17}"/>
              </a:ext>
            </a:extLst>
          </p:cNvPr>
          <p:cNvSpPr/>
          <p:nvPr/>
        </p:nvSpPr>
        <p:spPr bwMode="gray">
          <a:xfrm>
            <a:off x="4716674" y="3081647"/>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grpSp>
        <p:nvGrpSpPr>
          <p:cNvPr id="28" name="Group 27">
            <a:extLst>
              <a:ext uri="{FF2B5EF4-FFF2-40B4-BE49-F238E27FC236}">
                <a16:creationId xmlns:a16="http://schemas.microsoft.com/office/drawing/2014/main" id="{F8C55893-7408-ABFD-1609-996E22219CCC}"/>
              </a:ext>
            </a:extLst>
          </p:cNvPr>
          <p:cNvGrpSpPr/>
          <p:nvPr/>
        </p:nvGrpSpPr>
        <p:grpSpPr>
          <a:xfrm>
            <a:off x="4620430" y="4753966"/>
            <a:ext cx="3050698" cy="702869"/>
            <a:chOff x="4620430" y="4753966"/>
            <a:chExt cx="3050698" cy="702869"/>
          </a:xfrm>
        </p:grpSpPr>
        <p:sp>
          <p:nvSpPr>
            <p:cNvPr id="178" name="Rectangle: Rounded Corners 174">
              <a:extLst>
                <a:ext uri="{FF2B5EF4-FFF2-40B4-BE49-F238E27FC236}">
                  <a16:creationId xmlns:a16="http://schemas.microsoft.com/office/drawing/2014/main" id="{B7B7B673-2025-197B-78AF-9ABD0F57F64A}"/>
                </a:ext>
              </a:extLst>
            </p:cNvPr>
            <p:cNvSpPr/>
            <p:nvPr/>
          </p:nvSpPr>
          <p:spPr>
            <a:xfrm>
              <a:off x="4620430" y="4753966"/>
              <a:ext cx="3050698" cy="702869"/>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9" name="Rectangle 178">
              <a:extLst>
                <a:ext uri="{FF2B5EF4-FFF2-40B4-BE49-F238E27FC236}">
                  <a16:creationId xmlns:a16="http://schemas.microsoft.com/office/drawing/2014/main" id="{764BF49F-4F7E-FAA7-394A-2FB8F6C83DED}"/>
                </a:ext>
              </a:extLst>
            </p:cNvPr>
            <p:cNvSpPr/>
            <p:nvPr/>
          </p:nvSpPr>
          <p:spPr>
            <a:xfrm>
              <a:off x="4620432" y="4812987"/>
              <a:ext cx="1342794"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3</a:t>
              </a:r>
            </a:p>
          </p:txBody>
        </p:sp>
      </p:grpSp>
      <p:sp>
        <p:nvSpPr>
          <p:cNvPr id="180" name="Rectangle 179">
            <a:extLst>
              <a:ext uri="{FF2B5EF4-FFF2-40B4-BE49-F238E27FC236}">
                <a16:creationId xmlns:a16="http://schemas.microsoft.com/office/drawing/2014/main" id="{2A4A8F29-F677-45A2-B513-DBC9DC36B780}"/>
              </a:ext>
            </a:extLst>
          </p:cNvPr>
          <p:cNvSpPr/>
          <p:nvPr/>
        </p:nvSpPr>
        <p:spPr bwMode="gray">
          <a:xfrm>
            <a:off x="4726126" y="5031652"/>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Storage Cluster</a:t>
            </a:r>
          </a:p>
        </p:txBody>
      </p:sp>
      <p:sp>
        <p:nvSpPr>
          <p:cNvPr id="182" name="Rectangle 181">
            <a:extLst>
              <a:ext uri="{FF2B5EF4-FFF2-40B4-BE49-F238E27FC236}">
                <a16:creationId xmlns:a16="http://schemas.microsoft.com/office/drawing/2014/main" id="{680100E0-0351-4B2D-0B5A-7E88C4ECC271}"/>
              </a:ext>
            </a:extLst>
          </p:cNvPr>
          <p:cNvSpPr/>
          <p:nvPr/>
        </p:nvSpPr>
        <p:spPr bwMode="gray">
          <a:xfrm>
            <a:off x="6369540" y="5023090"/>
            <a:ext cx="117359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Compute Cluster</a:t>
            </a:r>
          </a:p>
        </p:txBody>
      </p:sp>
      <p:sp>
        <p:nvSpPr>
          <p:cNvPr id="187" name="Rectangle 186">
            <a:extLst>
              <a:ext uri="{FF2B5EF4-FFF2-40B4-BE49-F238E27FC236}">
                <a16:creationId xmlns:a16="http://schemas.microsoft.com/office/drawing/2014/main" id="{6DFA625C-6250-8A6F-BB09-E15280161B0C}"/>
              </a:ext>
            </a:extLst>
          </p:cNvPr>
          <p:cNvSpPr/>
          <p:nvPr/>
        </p:nvSpPr>
        <p:spPr>
          <a:xfrm>
            <a:off x="6196620" y="1923152"/>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Availability Zone 1</a:t>
            </a:r>
          </a:p>
        </p:txBody>
      </p:sp>
      <p:grpSp>
        <p:nvGrpSpPr>
          <p:cNvPr id="23" name="Group 22">
            <a:extLst>
              <a:ext uri="{FF2B5EF4-FFF2-40B4-BE49-F238E27FC236}">
                <a16:creationId xmlns:a16="http://schemas.microsoft.com/office/drawing/2014/main" id="{4F2C644E-FD7E-713A-9FD9-1BC90F012ADB}"/>
              </a:ext>
            </a:extLst>
          </p:cNvPr>
          <p:cNvGrpSpPr/>
          <p:nvPr/>
        </p:nvGrpSpPr>
        <p:grpSpPr>
          <a:xfrm>
            <a:off x="9593189" y="1876050"/>
            <a:ext cx="1733954" cy="3694483"/>
            <a:chOff x="9593189" y="1876050"/>
            <a:chExt cx="1733954" cy="3694483"/>
          </a:xfrm>
        </p:grpSpPr>
        <p:sp>
          <p:nvSpPr>
            <p:cNvPr id="162" name="Rectangle: Rounded Corners 174">
              <a:extLst>
                <a:ext uri="{FF2B5EF4-FFF2-40B4-BE49-F238E27FC236}">
                  <a16:creationId xmlns:a16="http://schemas.microsoft.com/office/drawing/2014/main" id="{AD88FDA2-5492-484E-E517-1AD6046733F0}"/>
                </a:ext>
              </a:extLst>
            </p:cNvPr>
            <p:cNvSpPr/>
            <p:nvPr/>
          </p:nvSpPr>
          <p:spPr>
            <a:xfrm>
              <a:off x="9682958" y="2140186"/>
              <a:ext cx="1539668" cy="3391496"/>
            </a:xfrm>
            <a:prstGeom prst="roundRect">
              <a:avLst>
                <a:gd name="adj" fmla="val 2771"/>
              </a:avLst>
            </a:prstGeom>
            <a:solidFill>
              <a:schemeClr val="bg1">
                <a:lumMod val="95000"/>
              </a:schemeClr>
            </a:solidFill>
            <a:ln w="12700">
              <a:solidFill>
                <a:schemeClr val="bg2">
                  <a:lumMod val="50000"/>
                </a:scheme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3" name="Rectangle 162">
              <a:extLst>
                <a:ext uri="{FF2B5EF4-FFF2-40B4-BE49-F238E27FC236}">
                  <a16:creationId xmlns:a16="http://schemas.microsoft.com/office/drawing/2014/main" id="{5940E426-8E6C-3513-4B1E-57A35895C84E}"/>
                </a:ext>
              </a:extLst>
            </p:cNvPr>
            <p:cNvSpPr/>
            <p:nvPr/>
          </p:nvSpPr>
          <p:spPr>
            <a:xfrm>
              <a:off x="9682958" y="2224455"/>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Rack</a:t>
              </a:r>
              <a:endPar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5" name="Rectangle: Rounded Corners 174">
              <a:extLst>
                <a:ext uri="{FF2B5EF4-FFF2-40B4-BE49-F238E27FC236}">
                  <a16:creationId xmlns:a16="http://schemas.microsoft.com/office/drawing/2014/main" id="{FDB31F55-6E9D-2F58-FD40-0C789A794DE8}"/>
                </a:ext>
              </a:extLst>
            </p:cNvPr>
            <p:cNvSpPr/>
            <p:nvPr/>
          </p:nvSpPr>
          <p:spPr>
            <a:xfrm>
              <a:off x="9593189" y="1876050"/>
              <a:ext cx="1733954" cy="3694483"/>
            </a:xfrm>
            <a:prstGeom prst="roundRect">
              <a:avLst>
                <a:gd name="adj" fmla="val 2320"/>
              </a:avLst>
            </a:prstGeom>
            <a:noFill/>
            <a:ln w="25400">
              <a:solidFill>
                <a:schemeClr val="tx1"/>
              </a:solidFill>
              <a:prstDash val="sysDash"/>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88" name="Rectangle 187">
              <a:extLst>
                <a:ext uri="{FF2B5EF4-FFF2-40B4-BE49-F238E27FC236}">
                  <a16:creationId xmlns:a16="http://schemas.microsoft.com/office/drawing/2014/main" id="{49D7540B-3B97-C292-51D0-7992FF6A9073}"/>
                </a:ext>
              </a:extLst>
            </p:cNvPr>
            <p:cNvSpPr/>
            <p:nvPr/>
          </p:nvSpPr>
          <p:spPr>
            <a:xfrm>
              <a:off x="9754362" y="1917898"/>
              <a:ext cx="1429192"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Availability Zone 2</a:t>
              </a:r>
            </a:p>
          </p:txBody>
        </p:sp>
      </p:grpSp>
      <p:sp>
        <p:nvSpPr>
          <p:cNvPr id="189" name="Rectangle: Rounded Corners 174">
            <a:extLst>
              <a:ext uri="{FF2B5EF4-FFF2-40B4-BE49-F238E27FC236}">
                <a16:creationId xmlns:a16="http://schemas.microsoft.com/office/drawing/2014/main" id="{EF2C9CE9-FB4F-B25F-5BD6-4D303BD33374}"/>
              </a:ext>
            </a:extLst>
          </p:cNvPr>
          <p:cNvSpPr/>
          <p:nvPr/>
        </p:nvSpPr>
        <p:spPr>
          <a:xfrm>
            <a:off x="4335949" y="1578326"/>
            <a:ext cx="7082893" cy="4082735"/>
          </a:xfrm>
          <a:prstGeom prst="roundRect">
            <a:avLst>
              <a:gd name="adj" fmla="val 2320"/>
            </a:avLst>
          </a:prstGeom>
          <a:noFill/>
          <a:ln w="9525">
            <a:solidFill>
              <a:schemeClr val="tx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0" name="Rectangle 189">
            <a:extLst>
              <a:ext uri="{FF2B5EF4-FFF2-40B4-BE49-F238E27FC236}">
                <a16:creationId xmlns:a16="http://schemas.microsoft.com/office/drawing/2014/main" id="{26593C2A-21B0-2887-0CFE-FCCC10A6FF28}"/>
              </a:ext>
            </a:extLst>
          </p:cNvPr>
          <p:cNvSpPr/>
          <p:nvPr/>
        </p:nvSpPr>
        <p:spPr>
          <a:xfrm>
            <a:off x="7021692" y="1618282"/>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solidFill>
                  <a:srgbClr val="000001"/>
                </a:solidFill>
                <a:latin typeface="Arial" panose="020B0604020202020204" pitchFamily="34" charset="0"/>
              </a:rPr>
              <a:t>VCF Instance</a:t>
            </a:r>
            <a:endParaRPr kumimoji="0" lang="en-US" sz="12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5" name="Rectangle 194">
            <a:extLst>
              <a:ext uri="{FF2B5EF4-FFF2-40B4-BE49-F238E27FC236}">
                <a16:creationId xmlns:a16="http://schemas.microsoft.com/office/drawing/2014/main" id="{ED2779F9-1901-094D-F835-CB44F9C704B7}"/>
              </a:ext>
            </a:extLst>
          </p:cNvPr>
          <p:cNvSpPr/>
          <p:nvPr/>
        </p:nvSpPr>
        <p:spPr>
          <a:xfrm>
            <a:off x="527302" y="1242374"/>
            <a:ext cx="1608775" cy="369332"/>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effectLst/>
                <a:uLnTx/>
                <a:uFillTx/>
                <a:latin typeface="Arial" panose="020B0604020202020204" pitchFamily="34" charset="0"/>
                <a:ea typeface="+mn-ea"/>
                <a:cs typeface="+mn-cs"/>
              </a:rPr>
              <a:t>Management &amp; Workload Domains </a:t>
            </a:r>
          </a:p>
        </p:txBody>
      </p:sp>
      <p:sp>
        <p:nvSpPr>
          <p:cNvPr id="197" name="Rectangle 196">
            <a:extLst>
              <a:ext uri="{FF2B5EF4-FFF2-40B4-BE49-F238E27FC236}">
                <a16:creationId xmlns:a16="http://schemas.microsoft.com/office/drawing/2014/main" id="{6398CE9B-0E90-9720-4AA5-AB750A6F3131}"/>
              </a:ext>
            </a:extLst>
          </p:cNvPr>
          <p:cNvSpPr/>
          <p:nvPr/>
        </p:nvSpPr>
        <p:spPr>
          <a:xfrm>
            <a:off x="4479028" y="1242571"/>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Standard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198" name="Rectangle 197">
            <a:extLst>
              <a:ext uri="{FF2B5EF4-FFF2-40B4-BE49-F238E27FC236}">
                <a16:creationId xmlns:a16="http://schemas.microsoft.com/office/drawing/2014/main" id="{9FBE9D91-0140-B3AD-7482-D052F7A9C373}"/>
              </a:ext>
            </a:extLst>
          </p:cNvPr>
          <p:cNvSpPr/>
          <p:nvPr/>
        </p:nvSpPr>
        <p:spPr>
          <a:xfrm>
            <a:off x="6429639" y="1240786"/>
            <a:ext cx="1828437"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Multi-rack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199" name="Rectangle 198">
            <a:extLst>
              <a:ext uri="{FF2B5EF4-FFF2-40B4-BE49-F238E27FC236}">
                <a16:creationId xmlns:a16="http://schemas.microsoft.com/office/drawing/2014/main" id="{8EAB8078-4920-44CB-817B-EE70FAEFD088}"/>
              </a:ext>
            </a:extLst>
          </p:cNvPr>
          <p:cNvSpPr/>
          <p:nvPr/>
        </p:nvSpPr>
        <p:spPr>
          <a:xfrm>
            <a:off x="8634624" y="1238417"/>
            <a:ext cx="1828436"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Stretched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201" name="Rectangle 200">
            <a:extLst>
              <a:ext uri="{FF2B5EF4-FFF2-40B4-BE49-F238E27FC236}">
                <a16:creationId xmlns:a16="http://schemas.microsoft.com/office/drawing/2014/main" id="{6F2E490C-7A2C-14A0-2D33-2B8DDC7E23A4}"/>
              </a:ext>
            </a:extLst>
          </p:cNvPr>
          <p:cNvSpPr/>
          <p:nvPr/>
        </p:nvSpPr>
        <p:spPr>
          <a:xfrm>
            <a:off x="4458092" y="5743769"/>
            <a:ext cx="1620350"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Storage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sp>
        <p:nvSpPr>
          <p:cNvPr id="202" name="Rectangle 201">
            <a:extLst>
              <a:ext uri="{FF2B5EF4-FFF2-40B4-BE49-F238E27FC236}">
                <a16:creationId xmlns:a16="http://schemas.microsoft.com/office/drawing/2014/main" id="{2E4EF353-D5BD-8949-127D-9A937ADEC729}"/>
              </a:ext>
            </a:extLst>
          </p:cNvPr>
          <p:cNvSpPr/>
          <p:nvPr/>
        </p:nvSpPr>
        <p:spPr>
          <a:xfrm>
            <a:off x="6159124" y="5738766"/>
            <a:ext cx="1620350"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latin typeface="Arial" panose="020B0604020202020204" pitchFamily="34" charset="0"/>
              </a:rPr>
              <a:t>Compute Cluster</a:t>
            </a:r>
            <a:endParaRPr kumimoji="0" lang="en-US" sz="1200" u="none" strike="noStrike" kern="0" cap="none" spc="0" normalizeH="0" baseline="0" noProof="0" dirty="0">
              <a:ln>
                <a:noFill/>
              </a:ln>
              <a:effectLst/>
              <a:uLnTx/>
              <a:uFillTx/>
              <a:latin typeface="Arial" panose="020B0604020202020204" pitchFamily="34" charset="0"/>
              <a:ea typeface="+mn-ea"/>
              <a:cs typeface="+mn-cs"/>
            </a:endParaRPr>
          </a:p>
        </p:txBody>
      </p:sp>
      <p:grpSp>
        <p:nvGrpSpPr>
          <p:cNvPr id="11" name="Group 10">
            <a:extLst>
              <a:ext uri="{FF2B5EF4-FFF2-40B4-BE49-F238E27FC236}">
                <a16:creationId xmlns:a16="http://schemas.microsoft.com/office/drawing/2014/main" id="{BD1F994D-D96F-FDDE-ED93-351C11A2097C}"/>
              </a:ext>
            </a:extLst>
          </p:cNvPr>
          <p:cNvGrpSpPr/>
          <p:nvPr/>
        </p:nvGrpSpPr>
        <p:grpSpPr>
          <a:xfrm>
            <a:off x="709673" y="3783791"/>
            <a:ext cx="1211169" cy="1542060"/>
            <a:chOff x="709673" y="3783791"/>
            <a:chExt cx="1211169" cy="1542060"/>
          </a:xfrm>
        </p:grpSpPr>
        <p:sp>
          <p:nvSpPr>
            <p:cNvPr id="104" name="Rectangle: Rounded Corners 174">
              <a:extLst>
                <a:ext uri="{FF2B5EF4-FFF2-40B4-BE49-F238E27FC236}">
                  <a16:creationId xmlns:a16="http://schemas.microsoft.com/office/drawing/2014/main" id="{869AD080-F065-0158-EEE4-76D2B78C2AAB}"/>
                </a:ext>
              </a:extLst>
            </p:cNvPr>
            <p:cNvSpPr/>
            <p:nvPr/>
          </p:nvSpPr>
          <p:spPr>
            <a:xfrm>
              <a:off x="709673" y="3783791"/>
              <a:ext cx="1211169" cy="1542060"/>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5" name="Rectangle 14">
              <a:extLst>
                <a:ext uri="{FF2B5EF4-FFF2-40B4-BE49-F238E27FC236}">
                  <a16:creationId xmlns:a16="http://schemas.microsoft.com/office/drawing/2014/main" id="{E3B51F9D-D1EE-9617-37E2-765D1EA5BC29}"/>
                </a:ext>
              </a:extLst>
            </p:cNvPr>
            <p:cNvSpPr/>
            <p:nvPr/>
          </p:nvSpPr>
          <p:spPr>
            <a:xfrm>
              <a:off x="855412" y="3905216"/>
              <a:ext cx="949276" cy="307777"/>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Cluster</a:t>
              </a:r>
            </a:p>
          </p:txBody>
        </p:sp>
        <p:grpSp>
          <p:nvGrpSpPr>
            <p:cNvPr id="25" name="Group 24">
              <a:extLst>
                <a:ext uri="{FF2B5EF4-FFF2-40B4-BE49-F238E27FC236}">
                  <a16:creationId xmlns:a16="http://schemas.microsoft.com/office/drawing/2014/main" id="{F36C2F81-315D-1DBE-A767-FCC7A2806951}"/>
                </a:ext>
              </a:extLst>
            </p:cNvPr>
            <p:cNvGrpSpPr/>
            <p:nvPr/>
          </p:nvGrpSpPr>
          <p:grpSpPr>
            <a:xfrm>
              <a:off x="965200" y="4315077"/>
              <a:ext cx="712005" cy="906161"/>
              <a:chOff x="928971" y="4196892"/>
              <a:chExt cx="385619" cy="490773"/>
            </a:xfrm>
            <a:solidFill>
              <a:schemeClr val="accent2"/>
            </a:solidFill>
          </p:grpSpPr>
          <p:sp>
            <p:nvSpPr>
              <p:cNvPr id="26" name="Graphic 47">
                <a:extLst>
                  <a:ext uri="{FF2B5EF4-FFF2-40B4-BE49-F238E27FC236}">
                    <a16:creationId xmlns:a16="http://schemas.microsoft.com/office/drawing/2014/main" id="{3BC91B60-7CDC-06AB-67A4-E82AD6A0C70B}"/>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7" name="Graphic 47">
                <a:extLst>
                  <a:ext uri="{FF2B5EF4-FFF2-40B4-BE49-F238E27FC236}">
                    <a16:creationId xmlns:a16="http://schemas.microsoft.com/office/drawing/2014/main" id="{988A9EB2-3C9E-5817-6A8E-7867196150A9}"/>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3" name="Graphic 47">
                <a:extLst>
                  <a:ext uri="{FF2B5EF4-FFF2-40B4-BE49-F238E27FC236}">
                    <a16:creationId xmlns:a16="http://schemas.microsoft.com/office/drawing/2014/main" id="{AC814C4A-6301-51E2-B1D6-05822C346AAC}"/>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4" name="Graphic 47">
                <a:extLst>
                  <a:ext uri="{FF2B5EF4-FFF2-40B4-BE49-F238E27FC236}">
                    <a16:creationId xmlns:a16="http://schemas.microsoft.com/office/drawing/2014/main" id="{033DF1E3-F441-D32F-7DC0-2E0113F04829}"/>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10" name="Group 9">
            <a:extLst>
              <a:ext uri="{FF2B5EF4-FFF2-40B4-BE49-F238E27FC236}">
                <a16:creationId xmlns:a16="http://schemas.microsoft.com/office/drawing/2014/main" id="{542AB780-5432-360E-F40B-23AAA2A0758E}"/>
              </a:ext>
            </a:extLst>
          </p:cNvPr>
          <p:cNvGrpSpPr/>
          <p:nvPr/>
        </p:nvGrpSpPr>
        <p:grpSpPr>
          <a:xfrm>
            <a:off x="599335" y="1817406"/>
            <a:ext cx="1429192" cy="3639430"/>
            <a:chOff x="599335" y="1817406"/>
            <a:chExt cx="1429192" cy="3639430"/>
          </a:xfrm>
        </p:grpSpPr>
        <p:sp>
          <p:nvSpPr>
            <p:cNvPr id="194" name="Rectangle 193">
              <a:extLst>
                <a:ext uri="{FF2B5EF4-FFF2-40B4-BE49-F238E27FC236}">
                  <a16:creationId xmlns:a16="http://schemas.microsoft.com/office/drawing/2014/main" id="{7C041D15-8384-0429-5C97-742644C53B48}"/>
                </a:ext>
              </a:extLst>
            </p:cNvPr>
            <p:cNvSpPr/>
            <p:nvPr/>
          </p:nvSpPr>
          <p:spPr>
            <a:xfrm>
              <a:off x="599335" y="1863612"/>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solidFill>
                    <a:srgbClr val="000001"/>
                  </a:solidFill>
                  <a:latin typeface="Arial" panose="020B0604020202020204" pitchFamily="34" charset="0"/>
                </a:rPr>
                <a:t>VCF Instance</a:t>
              </a:r>
              <a:endParaRPr kumimoji="0" lang="en-US" sz="12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3" name="Rectangle: Rounded Corners 174">
              <a:extLst>
                <a:ext uri="{FF2B5EF4-FFF2-40B4-BE49-F238E27FC236}">
                  <a16:creationId xmlns:a16="http://schemas.microsoft.com/office/drawing/2014/main" id="{8ADEEE0B-C844-ECD5-E9D8-32A4844A7A27}"/>
                </a:ext>
              </a:extLst>
            </p:cNvPr>
            <p:cNvSpPr/>
            <p:nvPr/>
          </p:nvSpPr>
          <p:spPr>
            <a:xfrm>
              <a:off x="709674" y="2111612"/>
              <a:ext cx="1211169" cy="1542060"/>
            </a:xfrm>
            <a:prstGeom prst="roundRect">
              <a:avLst>
                <a:gd name="adj" fmla="val 7958"/>
              </a:avLst>
            </a:prstGeom>
            <a:solidFill>
              <a:srgbClr val="F4F8FA"/>
            </a:solidFill>
            <a:ln w="25400">
              <a:solidFill>
                <a:schemeClr val="accent3"/>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6" name="Rectangle 15">
              <a:extLst>
                <a:ext uri="{FF2B5EF4-FFF2-40B4-BE49-F238E27FC236}">
                  <a16:creationId xmlns:a16="http://schemas.microsoft.com/office/drawing/2014/main" id="{39BDF6C8-A9F7-7AFF-5D27-C4BA6031B9ED}"/>
                </a:ext>
              </a:extLst>
            </p:cNvPr>
            <p:cNvSpPr/>
            <p:nvPr/>
          </p:nvSpPr>
          <p:spPr>
            <a:xfrm>
              <a:off x="803736" y="2195881"/>
              <a:ext cx="1026905" cy="307777"/>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Management</a:t>
              </a: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 Domain Cluster</a:t>
              </a:r>
            </a:p>
          </p:txBody>
        </p:sp>
        <p:sp>
          <p:nvSpPr>
            <p:cNvPr id="192" name="Rectangle: Rounded Corners 174">
              <a:extLst>
                <a:ext uri="{FF2B5EF4-FFF2-40B4-BE49-F238E27FC236}">
                  <a16:creationId xmlns:a16="http://schemas.microsoft.com/office/drawing/2014/main" id="{82B3815A-A403-7552-73EF-52BB978408B0}"/>
                </a:ext>
              </a:extLst>
            </p:cNvPr>
            <p:cNvSpPr/>
            <p:nvPr/>
          </p:nvSpPr>
          <p:spPr>
            <a:xfrm>
              <a:off x="637201" y="1817406"/>
              <a:ext cx="1344274" cy="3639430"/>
            </a:xfrm>
            <a:prstGeom prst="roundRect">
              <a:avLst>
                <a:gd name="adj" fmla="val 2320"/>
              </a:avLst>
            </a:prstGeom>
            <a:noFill/>
            <a:ln w="9525">
              <a:solidFill>
                <a:schemeClr val="tx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35" name="Group 34">
              <a:extLst>
                <a:ext uri="{FF2B5EF4-FFF2-40B4-BE49-F238E27FC236}">
                  <a16:creationId xmlns:a16="http://schemas.microsoft.com/office/drawing/2014/main" id="{5A667D9A-8349-B3B8-8378-400D82B97EC1}"/>
                </a:ext>
              </a:extLst>
            </p:cNvPr>
            <p:cNvGrpSpPr/>
            <p:nvPr/>
          </p:nvGrpSpPr>
          <p:grpSpPr>
            <a:xfrm>
              <a:off x="949122" y="2642693"/>
              <a:ext cx="712005" cy="906161"/>
              <a:chOff x="928971" y="4196892"/>
              <a:chExt cx="385619" cy="490773"/>
            </a:xfrm>
            <a:solidFill>
              <a:schemeClr val="accent3"/>
            </a:solidFill>
          </p:grpSpPr>
          <p:sp>
            <p:nvSpPr>
              <p:cNvPr id="36" name="Graphic 47">
                <a:extLst>
                  <a:ext uri="{FF2B5EF4-FFF2-40B4-BE49-F238E27FC236}">
                    <a16:creationId xmlns:a16="http://schemas.microsoft.com/office/drawing/2014/main" id="{39CCF6F8-F0C8-45CF-D216-7C652F596B52}"/>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7" name="Graphic 47">
                <a:extLst>
                  <a:ext uri="{FF2B5EF4-FFF2-40B4-BE49-F238E27FC236}">
                    <a16:creationId xmlns:a16="http://schemas.microsoft.com/office/drawing/2014/main" id="{3D8CBFF1-9692-2265-8E31-B2CBFD4D54DE}"/>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8" name="Graphic 47">
                <a:extLst>
                  <a:ext uri="{FF2B5EF4-FFF2-40B4-BE49-F238E27FC236}">
                    <a16:creationId xmlns:a16="http://schemas.microsoft.com/office/drawing/2014/main" id="{77500CAC-768D-5C75-16A2-32B506121238}"/>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39" name="Graphic 47">
                <a:extLst>
                  <a:ext uri="{FF2B5EF4-FFF2-40B4-BE49-F238E27FC236}">
                    <a16:creationId xmlns:a16="http://schemas.microsoft.com/office/drawing/2014/main" id="{A0A5A9E7-0B50-0257-C480-2BE09FC93457}"/>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grpSp>
      <p:grpSp>
        <p:nvGrpSpPr>
          <p:cNvPr id="14" name="Group 13">
            <a:extLst>
              <a:ext uri="{FF2B5EF4-FFF2-40B4-BE49-F238E27FC236}">
                <a16:creationId xmlns:a16="http://schemas.microsoft.com/office/drawing/2014/main" id="{D6CFA3DE-1437-D9B6-3AE9-7FF6D2DACF74}"/>
              </a:ext>
            </a:extLst>
          </p:cNvPr>
          <p:cNvGrpSpPr/>
          <p:nvPr/>
        </p:nvGrpSpPr>
        <p:grpSpPr>
          <a:xfrm>
            <a:off x="2097077" y="1242371"/>
            <a:ext cx="1735120" cy="4214464"/>
            <a:chOff x="2097077" y="1242371"/>
            <a:chExt cx="1735120" cy="4214464"/>
          </a:xfrm>
        </p:grpSpPr>
        <p:sp>
          <p:nvSpPr>
            <p:cNvPr id="40" name="Rectangle: Rounded Corners 174">
              <a:extLst>
                <a:ext uri="{FF2B5EF4-FFF2-40B4-BE49-F238E27FC236}">
                  <a16:creationId xmlns:a16="http://schemas.microsoft.com/office/drawing/2014/main" id="{A1424890-03B8-E3F9-2779-085F73E76A86}"/>
                </a:ext>
              </a:extLst>
            </p:cNvPr>
            <p:cNvSpPr/>
            <p:nvPr/>
          </p:nvSpPr>
          <p:spPr>
            <a:xfrm>
              <a:off x="2443456" y="2124535"/>
              <a:ext cx="1297195" cy="2669208"/>
            </a:xfrm>
            <a:prstGeom prst="roundRect">
              <a:avLst>
                <a:gd name="adj" fmla="val 7958"/>
              </a:avLst>
            </a:prstGeom>
            <a:solidFill>
              <a:srgbClr val="F4F8FA"/>
            </a:solidFill>
            <a:ln w="25400">
              <a:solidFill>
                <a:schemeClr val="accent3"/>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2" name="Group 11">
              <a:extLst>
                <a:ext uri="{FF2B5EF4-FFF2-40B4-BE49-F238E27FC236}">
                  <a16:creationId xmlns:a16="http://schemas.microsoft.com/office/drawing/2014/main" id="{470029DE-49AE-A56F-1C5A-345BDDB4E956}"/>
                </a:ext>
              </a:extLst>
            </p:cNvPr>
            <p:cNvGrpSpPr/>
            <p:nvPr/>
          </p:nvGrpSpPr>
          <p:grpSpPr>
            <a:xfrm>
              <a:off x="2097077" y="1242371"/>
              <a:ext cx="1735120" cy="4214464"/>
              <a:chOff x="2097077" y="1242371"/>
              <a:chExt cx="1735120" cy="4214464"/>
            </a:xfrm>
          </p:grpSpPr>
          <p:sp>
            <p:nvSpPr>
              <p:cNvPr id="43" name="Rectangle 42">
                <a:extLst>
                  <a:ext uri="{FF2B5EF4-FFF2-40B4-BE49-F238E27FC236}">
                    <a16:creationId xmlns:a16="http://schemas.microsoft.com/office/drawing/2014/main" id="{F449E45F-3983-A680-034D-F68D113335E4}"/>
                  </a:ext>
                </a:extLst>
              </p:cNvPr>
              <p:cNvSpPr/>
              <p:nvPr/>
            </p:nvSpPr>
            <p:spPr>
              <a:xfrm>
                <a:off x="2377238" y="2209136"/>
                <a:ext cx="1429192" cy="615553"/>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000" kern="0" dirty="0">
                    <a:solidFill>
                      <a:srgbClr val="000001"/>
                    </a:solidFill>
                    <a:latin typeface="Arial" panose="020B0604020202020204" pitchFamily="34" charset="0"/>
                  </a:rPr>
                  <a:t>Consolidated Management</a:t>
                </a: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 and Workload Domain Clusters</a:t>
                </a:r>
              </a:p>
            </p:txBody>
          </p:sp>
          <p:sp>
            <p:nvSpPr>
              <p:cNvPr id="191" name="Rectangle: Rounded Corners 174">
                <a:extLst>
                  <a:ext uri="{FF2B5EF4-FFF2-40B4-BE49-F238E27FC236}">
                    <a16:creationId xmlns:a16="http://schemas.microsoft.com/office/drawing/2014/main" id="{B24E4515-906E-2D6D-7F31-E76A22BEFF0A}"/>
                  </a:ext>
                </a:extLst>
              </p:cNvPr>
              <p:cNvSpPr/>
              <p:nvPr/>
            </p:nvSpPr>
            <p:spPr>
              <a:xfrm>
                <a:off x="2351970" y="1810342"/>
                <a:ext cx="1480227" cy="3108264"/>
              </a:xfrm>
              <a:prstGeom prst="roundRect">
                <a:avLst>
                  <a:gd name="adj" fmla="val 2320"/>
                </a:avLst>
              </a:prstGeom>
              <a:noFill/>
              <a:ln w="9525">
                <a:solidFill>
                  <a:schemeClr val="tx1"/>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3" name="Rectangle 192">
                <a:extLst>
                  <a:ext uri="{FF2B5EF4-FFF2-40B4-BE49-F238E27FC236}">
                    <a16:creationId xmlns:a16="http://schemas.microsoft.com/office/drawing/2014/main" id="{2E87FF88-92DE-2140-9990-B033508E9151}"/>
                  </a:ext>
                </a:extLst>
              </p:cNvPr>
              <p:cNvSpPr/>
              <p:nvPr/>
            </p:nvSpPr>
            <p:spPr>
              <a:xfrm>
                <a:off x="2373659" y="1863612"/>
                <a:ext cx="1429192" cy="184666"/>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lang="en-US" sz="1200" kern="0" dirty="0">
                    <a:solidFill>
                      <a:srgbClr val="000001"/>
                    </a:solidFill>
                    <a:latin typeface="Arial" panose="020B0604020202020204" pitchFamily="34" charset="0"/>
                  </a:rPr>
                  <a:t>VCF Instance</a:t>
                </a:r>
                <a:endParaRPr kumimoji="0" lang="en-US" sz="1200" u="none" strike="noStrike" kern="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96" name="Rectangle 195">
                <a:extLst>
                  <a:ext uri="{FF2B5EF4-FFF2-40B4-BE49-F238E27FC236}">
                    <a16:creationId xmlns:a16="http://schemas.microsoft.com/office/drawing/2014/main" id="{92E92592-EBBC-36DC-8A3A-C07FDE0145C1}"/>
                  </a:ext>
                </a:extLst>
              </p:cNvPr>
              <p:cNvSpPr/>
              <p:nvPr/>
            </p:nvSpPr>
            <p:spPr>
              <a:xfrm>
                <a:off x="2355757" y="1242371"/>
                <a:ext cx="1429192" cy="369332"/>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200" u="none" strike="noStrike" kern="0" cap="none" spc="0" normalizeH="0" baseline="0" noProof="0" dirty="0">
                    <a:ln>
                      <a:noFill/>
                    </a:ln>
                    <a:effectLst/>
                    <a:uLnTx/>
                    <a:uFillTx/>
                    <a:latin typeface="Arial" panose="020B0604020202020204" pitchFamily="34" charset="0"/>
                    <a:ea typeface="+mn-ea"/>
                    <a:cs typeface="+mn-cs"/>
                  </a:rPr>
                  <a:t>Consolidated  Domain</a:t>
                </a:r>
              </a:p>
            </p:txBody>
          </p:sp>
          <p:grpSp>
            <p:nvGrpSpPr>
              <p:cNvPr id="41" name="Group 40">
                <a:extLst>
                  <a:ext uri="{FF2B5EF4-FFF2-40B4-BE49-F238E27FC236}">
                    <a16:creationId xmlns:a16="http://schemas.microsoft.com/office/drawing/2014/main" id="{F26AFF75-F0C1-08E2-EFF9-3CD7875658E4}"/>
                  </a:ext>
                </a:extLst>
              </p:cNvPr>
              <p:cNvGrpSpPr/>
              <p:nvPr/>
            </p:nvGrpSpPr>
            <p:grpSpPr>
              <a:xfrm>
                <a:off x="2737598" y="2911393"/>
                <a:ext cx="712005" cy="906161"/>
                <a:chOff x="928971" y="4196892"/>
                <a:chExt cx="385619" cy="490773"/>
              </a:xfrm>
              <a:solidFill>
                <a:schemeClr val="accent3"/>
              </a:solidFill>
            </p:grpSpPr>
            <p:sp>
              <p:nvSpPr>
                <p:cNvPr id="42" name="Graphic 47">
                  <a:extLst>
                    <a:ext uri="{FF2B5EF4-FFF2-40B4-BE49-F238E27FC236}">
                      <a16:creationId xmlns:a16="http://schemas.microsoft.com/office/drawing/2014/main" id="{E6B6F7E1-A71D-87E4-8707-EBD55F03F829}"/>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4" name="Graphic 47">
                  <a:extLst>
                    <a:ext uri="{FF2B5EF4-FFF2-40B4-BE49-F238E27FC236}">
                      <a16:creationId xmlns:a16="http://schemas.microsoft.com/office/drawing/2014/main" id="{DE362755-54CC-73CF-098D-7E0FFE9CE857}"/>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5" name="Graphic 47">
                  <a:extLst>
                    <a:ext uri="{FF2B5EF4-FFF2-40B4-BE49-F238E27FC236}">
                      <a16:creationId xmlns:a16="http://schemas.microsoft.com/office/drawing/2014/main" id="{4432EC99-5CB6-BA71-3C78-93100C36FC41}"/>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6" name="Graphic 47">
                  <a:extLst>
                    <a:ext uri="{FF2B5EF4-FFF2-40B4-BE49-F238E27FC236}">
                      <a16:creationId xmlns:a16="http://schemas.microsoft.com/office/drawing/2014/main" id="{A3BE861B-0C68-F17F-A423-185700FBD36A}"/>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sp>
            <p:nvSpPr>
              <p:cNvPr id="47" name="Graphic 47">
                <a:extLst>
                  <a:ext uri="{FF2B5EF4-FFF2-40B4-BE49-F238E27FC236}">
                    <a16:creationId xmlns:a16="http://schemas.microsoft.com/office/drawing/2014/main" id="{05217D3A-E0A0-B1E3-80A6-87B00F2D0AE8}"/>
                  </a:ext>
                </a:extLst>
              </p:cNvPr>
              <p:cNvSpPr/>
              <p:nvPr/>
            </p:nvSpPr>
            <p:spPr>
              <a:xfrm>
                <a:off x="2740747" y="4380881"/>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3"/>
              </a:solid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8" name="Graphic 47">
                <a:extLst>
                  <a:ext uri="{FF2B5EF4-FFF2-40B4-BE49-F238E27FC236}">
                    <a16:creationId xmlns:a16="http://schemas.microsoft.com/office/drawing/2014/main" id="{0C6B05C2-E810-0DF2-451E-27A9671060FB}"/>
                  </a:ext>
                </a:extLst>
              </p:cNvPr>
              <p:cNvSpPr/>
              <p:nvPr/>
            </p:nvSpPr>
            <p:spPr>
              <a:xfrm>
                <a:off x="2740747" y="4141285"/>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3"/>
              </a:solid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49" name="Graphic 47">
                <a:extLst>
                  <a:ext uri="{FF2B5EF4-FFF2-40B4-BE49-F238E27FC236}">
                    <a16:creationId xmlns:a16="http://schemas.microsoft.com/office/drawing/2014/main" id="{1F01AC97-2FBE-2B89-0377-AB0D40030CA2}"/>
                  </a:ext>
                </a:extLst>
              </p:cNvPr>
              <p:cNvSpPr/>
              <p:nvPr/>
            </p:nvSpPr>
            <p:spPr>
              <a:xfrm>
                <a:off x="2740747" y="3901687"/>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3"/>
              </a:solidFill>
              <a:ln w="10524" cap="flat">
                <a:noFill/>
                <a:prstDash val="solid"/>
                <a:miter/>
              </a:ln>
            </p:spPr>
            <p:txBody>
              <a:bodyPr tIns="0"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cxnSp>
            <p:nvCxnSpPr>
              <p:cNvPr id="5" name="Straight Connector 4">
                <a:extLst>
                  <a:ext uri="{FF2B5EF4-FFF2-40B4-BE49-F238E27FC236}">
                    <a16:creationId xmlns:a16="http://schemas.microsoft.com/office/drawing/2014/main" id="{5A9D9B03-C693-1CA8-D674-749C6C4F691F}"/>
                  </a:ext>
                </a:extLst>
              </p:cNvPr>
              <p:cNvCxnSpPr>
                <a:cxnSpLocks/>
              </p:cNvCxnSpPr>
              <p:nvPr/>
            </p:nvCxnSpPr>
            <p:spPr bwMode="gray">
              <a:xfrm>
                <a:off x="2167116" y="1863612"/>
                <a:ext cx="0" cy="3593223"/>
              </a:xfrm>
              <a:prstGeom prst="line">
                <a:avLst/>
              </a:prstGeom>
              <a:ln w="19050">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06602AC-38C1-FCFA-2C62-618503685858}"/>
                  </a:ext>
                </a:extLst>
              </p:cNvPr>
              <p:cNvSpPr txBox="1"/>
              <p:nvPr/>
            </p:nvSpPr>
            <p:spPr>
              <a:xfrm>
                <a:off x="2097077" y="1346139"/>
                <a:ext cx="192360" cy="153888"/>
              </a:xfrm>
              <a:prstGeom prst="rect">
                <a:avLst/>
              </a:prstGeom>
              <a:noFill/>
            </p:spPr>
            <p:txBody>
              <a:bodyPr wrap="none" lIns="0" tIns="0" rIns="0" bIns="0" rtlCol="0">
                <a:spAutoFit/>
              </a:bodyPr>
              <a:lstStyle/>
              <a:p>
                <a:pPr algn="l"/>
                <a:r>
                  <a:rPr lang="en-US" sz="1000" dirty="0">
                    <a:solidFill>
                      <a:schemeClr val="bg2">
                        <a:lumMod val="50000"/>
                      </a:schemeClr>
                    </a:solidFill>
                  </a:rPr>
                  <a:t>OR</a:t>
                </a:r>
              </a:p>
            </p:txBody>
          </p:sp>
        </p:grpSp>
      </p:grpSp>
      <p:sp>
        <p:nvSpPr>
          <p:cNvPr id="20" name="Rectangle: Rounded Corners 174">
            <a:extLst>
              <a:ext uri="{FF2B5EF4-FFF2-40B4-BE49-F238E27FC236}">
                <a16:creationId xmlns:a16="http://schemas.microsoft.com/office/drawing/2014/main" id="{F4A5C575-58E1-C390-41F5-9F1FE249357E}"/>
              </a:ext>
            </a:extLst>
          </p:cNvPr>
          <p:cNvSpPr/>
          <p:nvPr/>
        </p:nvSpPr>
        <p:spPr>
          <a:xfrm>
            <a:off x="4620430" y="3525115"/>
            <a:ext cx="6543245" cy="1144806"/>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grpSp>
        <p:nvGrpSpPr>
          <p:cNvPr id="18" name="Group 17">
            <a:extLst>
              <a:ext uri="{FF2B5EF4-FFF2-40B4-BE49-F238E27FC236}">
                <a16:creationId xmlns:a16="http://schemas.microsoft.com/office/drawing/2014/main" id="{0FD1A8D5-A691-513B-9D38-FF11CE38EE7C}"/>
              </a:ext>
            </a:extLst>
          </p:cNvPr>
          <p:cNvGrpSpPr/>
          <p:nvPr/>
        </p:nvGrpSpPr>
        <p:grpSpPr>
          <a:xfrm>
            <a:off x="4610979" y="3530360"/>
            <a:ext cx="4733744" cy="1140212"/>
            <a:chOff x="4610979" y="3532563"/>
            <a:chExt cx="4733744" cy="591227"/>
          </a:xfrm>
        </p:grpSpPr>
        <p:sp>
          <p:nvSpPr>
            <p:cNvPr id="173" name="Rectangle: Rounded Corners 174">
              <a:extLst>
                <a:ext uri="{FF2B5EF4-FFF2-40B4-BE49-F238E27FC236}">
                  <a16:creationId xmlns:a16="http://schemas.microsoft.com/office/drawing/2014/main" id="{77BA50E0-F504-512E-7103-646FAA15D9F8}"/>
                </a:ext>
              </a:extLst>
            </p:cNvPr>
            <p:cNvSpPr/>
            <p:nvPr/>
          </p:nvSpPr>
          <p:spPr>
            <a:xfrm>
              <a:off x="4610979" y="3532563"/>
              <a:ext cx="4733744" cy="591227"/>
            </a:xfrm>
            <a:prstGeom prst="roundRect">
              <a:avLst>
                <a:gd name="adj" fmla="val 7958"/>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90" tIns="60844" rIns="121690" bIns="60844" rtlCol="0" anchor="ct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667"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74" name="Rectangle 173">
              <a:extLst>
                <a:ext uri="{FF2B5EF4-FFF2-40B4-BE49-F238E27FC236}">
                  <a16:creationId xmlns:a16="http://schemas.microsoft.com/office/drawing/2014/main" id="{163CCCE6-EBB0-CC0B-DDB7-EE35F22BA5B3}"/>
                </a:ext>
              </a:extLst>
            </p:cNvPr>
            <p:cNvSpPr/>
            <p:nvPr/>
          </p:nvSpPr>
          <p:spPr>
            <a:xfrm>
              <a:off x="4610980" y="3596112"/>
              <a:ext cx="1342794" cy="153888"/>
            </a:xfrm>
            <a:prstGeom prst="rect">
              <a:avLst/>
            </a:prstGeom>
          </p:spPr>
          <p:txBody>
            <a:bodyPr wrap="square" lIns="0" tIns="0" rIns="0" bIns="0">
              <a:spAutoFit/>
            </a:bodyPr>
            <a:lstStyle/>
            <a:p>
              <a:pPr marL="0" marR="0" lvl="0" indent="0" algn="ctr" defTabSz="912482" rtl="0" eaLnBrk="1" fontAlgn="auto" latinLnBrk="0" hangingPunct="1">
                <a:lnSpc>
                  <a:spcPct val="100000"/>
                </a:lnSpc>
                <a:spcBef>
                  <a:spcPts val="0"/>
                </a:spcBef>
                <a:spcAft>
                  <a:spcPts val="0"/>
                </a:spcAft>
                <a:buClrTx/>
                <a:buSzTx/>
                <a:buFontTx/>
                <a:buNone/>
                <a:tabLst/>
                <a:defRPr/>
              </a:pPr>
              <a:r>
                <a:rPr kumimoji="0" lang="en-US" sz="1000" u="none" strike="noStrike" kern="0" cap="none" spc="0" normalizeH="0" baseline="0" noProof="0" dirty="0">
                  <a:ln>
                    <a:noFill/>
                  </a:ln>
                  <a:solidFill>
                    <a:srgbClr val="000001"/>
                  </a:solidFill>
                  <a:effectLst/>
                  <a:uLnTx/>
                  <a:uFillTx/>
                  <a:latin typeface="Arial" panose="020B0604020202020204" pitchFamily="34" charset="0"/>
                  <a:ea typeface="+mn-ea"/>
                  <a:cs typeface="+mn-cs"/>
                </a:rPr>
                <a:t>Workload Domain 2</a:t>
              </a:r>
            </a:p>
          </p:txBody>
        </p:sp>
        <p:sp>
          <p:nvSpPr>
            <p:cNvPr id="175" name="Rectangle 174">
              <a:extLst>
                <a:ext uri="{FF2B5EF4-FFF2-40B4-BE49-F238E27FC236}">
                  <a16:creationId xmlns:a16="http://schemas.microsoft.com/office/drawing/2014/main" id="{C071CAE8-EF33-5CDA-FE9A-FF61A288963D}"/>
                </a:ext>
              </a:extLst>
            </p:cNvPr>
            <p:cNvSpPr/>
            <p:nvPr/>
          </p:nvSpPr>
          <p:spPr bwMode="gray">
            <a:xfrm>
              <a:off x="6387815" y="3584321"/>
              <a:ext cx="1173599" cy="131593"/>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grpSp>
      <p:sp>
        <p:nvSpPr>
          <p:cNvPr id="176" name="Rectangle 175">
            <a:extLst>
              <a:ext uri="{FF2B5EF4-FFF2-40B4-BE49-F238E27FC236}">
                <a16:creationId xmlns:a16="http://schemas.microsoft.com/office/drawing/2014/main" id="{E1013E6F-6441-1979-1183-884AAC17D038}"/>
              </a:ext>
            </a:extLst>
          </p:cNvPr>
          <p:cNvSpPr/>
          <p:nvPr/>
        </p:nvSpPr>
        <p:spPr bwMode="gray">
          <a:xfrm>
            <a:off x="4716677" y="3961674"/>
            <a:ext cx="4475449"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Multi-rack Cluster</a:t>
            </a:r>
          </a:p>
        </p:txBody>
      </p:sp>
      <p:sp>
        <p:nvSpPr>
          <p:cNvPr id="177" name="Rectangle 176">
            <a:extLst>
              <a:ext uri="{FF2B5EF4-FFF2-40B4-BE49-F238E27FC236}">
                <a16:creationId xmlns:a16="http://schemas.microsoft.com/office/drawing/2014/main" id="{9DCBA31E-FA08-FE3E-B594-0666AB1C8574}"/>
              </a:ext>
            </a:extLst>
          </p:cNvPr>
          <p:cNvSpPr/>
          <p:nvPr/>
        </p:nvSpPr>
        <p:spPr bwMode="gray">
          <a:xfrm>
            <a:off x="4716674" y="4304431"/>
            <a:ext cx="1173599" cy="252060"/>
          </a:xfrm>
          <a:prstGeom prst="rect">
            <a:avLst/>
          </a:prstGeom>
          <a:solidFill>
            <a:schemeClr val="bg1"/>
          </a:solidFill>
          <a:ln w="254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Standard Cluster</a:t>
            </a:r>
          </a:p>
        </p:txBody>
      </p:sp>
      <p:sp>
        <p:nvSpPr>
          <p:cNvPr id="22" name="Rectangle 21">
            <a:extLst>
              <a:ext uri="{FF2B5EF4-FFF2-40B4-BE49-F238E27FC236}">
                <a16:creationId xmlns:a16="http://schemas.microsoft.com/office/drawing/2014/main" id="{9C9D2BC6-BDD3-FB2C-BC48-F053E603484F}"/>
              </a:ext>
            </a:extLst>
          </p:cNvPr>
          <p:cNvSpPr/>
          <p:nvPr/>
        </p:nvSpPr>
        <p:spPr bwMode="gray">
          <a:xfrm>
            <a:off x="9226340" y="3539329"/>
            <a:ext cx="294652" cy="1116000"/>
          </a:xfrm>
          <a:prstGeom prst="rect">
            <a:avLst/>
          </a:prstGeom>
          <a:solidFill>
            <a:srgbClr val="F4F9FB"/>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3" name="Rectangle 182">
            <a:extLst>
              <a:ext uri="{FF2B5EF4-FFF2-40B4-BE49-F238E27FC236}">
                <a16:creationId xmlns:a16="http://schemas.microsoft.com/office/drawing/2014/main" id="{B86CE822-C5D8-3C32-D1F0-8CBE49B176F5}"/>
              </a:ext>
            </a:extLst>
          </p:cNvPr>
          <p:cNvSpPr/>
          <p:nvPr/>
        </p:nvSpPr>
        <p:spPr bwMode="gray">
          <a:xfrm>
            <a:off x="8053691" y="4299176"/>
            <a:ext cx="2984946" cy="252060"/>
          </a:xfrm>
          <a:prstGeom prst="rect">
            <a:avLst/>
          </a:prstGeom>
          <a:solidFill>
            <a:schemeClr val="bg1"/>
          </a:solidFill>
          <a:ln w="25400">
            <a:solidFill>
              <a:schemeClr val="accent4"/>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dirty="0">
                <a:solidFill>
                  <a:schemeClr val="tx1"/>
                </a:solidFill>
              </a:rPr>
              <a:t>Stretched Cluster</a:t>
            </a:r>
          </a:p>
        </p:txBody>
      </p:sp>
    </p:spTree>
    <p:extLst>
      <p:ext uri="{BB962C8B-B14F-4D97-AF65-F5344CB8AC3E}">
        <p14:creationId xmlns:p14="http://schemas.microsoft.com/office/powerpoint/2010/main" val="141583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500"/>
                            </p:stCondLst>
                            <p:childTnLst>
                              <p:par>
                                <p:cTn id="9" presetID="9" presetClass="entr" presetSubtype="0" fill="hold"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dissolve">
                                      <p:cBhvr>
                                        <p:cTn id="21" dur="500"/>
                                        <p:tgtEl>
                                          <p:spTgt spid="24"/>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89"/>
                                        </p:tgtEl>
                                        <p:attrNameLst>
                                          <p:attrName>style.visibility</p:attrName>
                                        </p:attrNameLst>
                                      </p:cBhvr>
                                      <p:to>
                                        <p:strVal val="visible"/>
                                      </p:to>
                                    </p:set>
                                    <p:animEffect transition="in" filter="dissolve">
                                      <p:cBhvr>
                                        <p:cTn id="24" dur="500"/>
                                        <p:tgtEl>
                                          <p:spTgt spid="189"/>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41"/>
                                        </p:tgtEl>
                                        <p:attrNameLst>
                                          <p:attrName>style.visibility</p:attrName>
                                        </p:attrNameLst>
                                      </p:cBhvr>
                                      <p:to>
                                        <p:strVal val="visible"/>
                                      </p:to>
                                    </p:set>
                                    <p:animEffect transition="in" filter="dissolve">
                                      <p:cBhvr>
                                        <p:cTn id="27" dur="500"/>
                                        <p:tgtEl>
                                          <p:spTgt spid="141"/>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48"/>
                                        </p:tgtEl>
                                        <p:attrNameLst>
                                          <p:attrName>style.visibility</p:attrName>
                                        </p:attrNameLst>
                                      </p:cBhvr>
                                      <p:to>
                                        <p:strVal val="visible"/>
                                      </p:to>
                                    </p:set>
                                    <p:animEffect transition="in" filter="dissolve">
                                      <p:cBhvr>
                                        <p:cTn id="30" dur="500"/>
                                        <p:tgtEl>
                                          <p:spTgt spid="148"/>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55"/>
                                        </p:tgtEl>
                                        <p:attrNameLst>
                                          <p:attrName>style.visibility</p:attrName>
                                        </p:attrNameLst>
                                      </p:cBhvr>
                                      <p:to>
                                        <p:strVal val="visible"/>
                                      </p:to>
                                    </p:set>
                                    <p:animEffect transition="in" filter="dissolve">
                                      <p:cBhvr>
                                        <p:cTn id="33" dur="500"/>
                                        <p:tgtEl>
                                          <p:spTgt spid="155"/>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84"/>
                                        </p:tgtEl>
                                        <p:attrNameLst>
                                          <p:attrName>style.visibility</p:attrName>
                                        </p:attrNameLst>
                                      </p:cBhvr>
                                      <p:to>
                                        <p:strVal val="visible"/>
                                      </p:to>
                                    </p:set>
                                    <p:animEffect transition="in" filter="dissolve">
                                      <p:cBhvr>
                                        <p:cTn id="36" dur="500"/>
                                        <p:tgtEl>
                                          <p:spTgt spid="184"/>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97"/>
                                        </p:tgtEl>
                                        <p:attrNameLst>
                                          <p:attrName>style.visibility</p:attrName>
                                        </p:attrNameLst>
                                      </p:cBhvr>
                                      <p:to>
                                        <p:strVal val="visible"/>
                                      </p:to>
                                    </p:set>
                                    <p:animEffect transition="in" filter="dissolve">
                                      <p:cBhvr>
                                        <p:cTn id="39" dur="500"/>
                                        <p:tgtEl>
                                          <p:spTgt spid="197"/>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90"/>
                                        </p:tgtEl>
                                        <p:attrNameLst>
                                          <p:attrName>style.visibility</p:attrName>
                                        </p:attrNameLst>
                                      </p:cBhvr>
                                      <p:to>
                                        <p:strVal val="visible"/>
                                      </p:to>
                                    </p:set>
                                    <p:animEffect transition="in" filter="dissolve">
                                      <p:cBhvr>
                                        <p:cTn id="42" dur="500"/>
                                        <p:tgtEl>
                                          <p:spTgt spid="190"/>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142"/>
                                        </p:tgtEl>
                                        <p:attrNameLst>
                                          <p:attrName>style.visibility</p:attrName>
                                        </p:attrNameLst>
                                      </p:cBhvr>
                                      <p:to>
                                        <p:strVal val="visible"/>
                                      </p:to>
                                    </p:set>
                                    <p:animEffect transition="in" filter="dissolve">
                                      <p:cBhvr>
                                        <p:cTn id="45" dur="500"/>
                                        <p:tgtEl>
                                          <p:spTgt spid="142"/>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49"/>
                                        </p:tgtEl>
                                        <p:attrNameLst>
                                          <p:attrName>style.visibility</p:attrName>
                                        </p:attrNameLst>
                                      </p:cBhvr>
                                      <p:to>
                                        <p:strVal val="visible"/>
                                      </p:to>
                                    </p:set>
                                    <p:animEffect transition="in" filter="dissolve">
                                      <p:cBhvr>
                                        <p:cTn id="48" dur="500"/>
                                        <p:tgtEl>
                                          <p:spTgt spid="149"/>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56"/>
                                        </p:tgtEl>
                                        <p:attrNameLst>
                                          <p:attrName>style.visibility</p:attrName>
                                        </p:attrNameLst>
                                      </p:cBhvr>
                                      <p:to>
                                        <p:strVal val="visible"/>
                                      </p:to>
                                    </p:set>
                                    <p:animEffect transition="in" filter="dissolve">
                                      <p:cBhvr>
                                        <p:cTn id="51" dur="500"/>
                                        <p:tgtEl>
                                          <p:spTgt spid="156"/>
                                        </p:tgtEl>
                                      </p:cBhvr>
                                    </p:animEffect>
                                  </p:childTnLst>
                                </p:cTn>
                              </p:par>
                            </p:childTnLst>
                          </p:cTn>
                        </p:par>
                        <p:par>
                          <p:cTn id="52" fill="hold">
                            <p:stCondLst>
                              <p:cond delay="500"/>
                            </p:stCondLst>
                            <p:childTnLst>
                              <p:par>
                                <p:cTn id="53" presetID="22" presetClass="entr" presetSubtype="8" fill="hold" nodeType="afterEffect">
                                  <p:stCondLst>
                                    <p:cond delay="50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187"/>
                                        </p:tgtEl>
                                        <p:attrNameLst>
                                          <p:attrName>style.visibility</p:attrName>
                                        </p:attrNameLst>
                                      </p:cBhvr>
                                      <p:to>
                                        <p:strVal val="visible"/>
                                      </p:to>
                                    </p:set>
                                    <p:animEffect transition="in" filter="dissolve">
                                      <p:cBhvr>
                                        <p:cTn id="58" dur="500"/>
                                        <p:tgtEl>
                                          <p:spTgt spid="187"/>
                                        </p:tgtEl>
                                      </p:cBhvr>
                                    </p:animEffect>
                                  </p:childTnLst>
                                </p:cTn>
                              </p:par>
                            </p:childTnLst>
                          </p:cTn>
                        </p:par>
                        <p:par>
                          <p:cTn id="59" fill="hold">
                            <p:stCondLst>
                              <p:cond delay="1500"/>
                            </p:stCondLst>
                            <p:childTnLst>
                              <p:par>
                                <p:cTn id="60" presetID="9" presetClass="entr" presetSubtype="0" fill="hold" grpId="0" nodeType="afterEffect">
                                  <p:stCondLst>
                                    <p:cond delay="0"/>
                                  </p:stCondLst>
                                  <p:childTnLst>
                                    <p:set>
                                      <p:cBhvr>
                                        <p:cTn id="61" dur="1" fill="hold">
                                          <p:stCondLst>
                                            <p:cond delay="0"/>
                                          </p:stCondLst>
                                        </p:cTn>
                                        <p:tgtEl>
                                          <p:spTgt spid="172"/>
                                        </p:tgtEl>
                                        <p:attrNameLst>
                                          <p:attrName>style.visibility</p:attrName>
                                        </p:attrNameLst>
                                      </p:cBhvr>
                                      <p:to>
                                        <p:strVal val="visible"/>
                                      </p:to>
                                    </p:set>
                                    <p:animEffect transition="in" filter="dissolve">
                                      <p:cBhvr>
                                        <p:cTn id="62" dur="500"/>
                                        <p:tgtEl>
                                          <p:spTgt spid="17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77"/>
                                        </p:tgtEl>
                                        <p:attrNameLst>
                                          <p:attrName>style.visibility</p:attrName>
                                        </p:attrNameLst>
                                      </p:cBhvr>
                                      <p:to>
                                        <p:strVal val="visible"/>
                                      </p:to>
                                    </p:set>
                                    <p:animEffect transition="in" filter="wipe(left)">
                                      <p:cBhvr>
                                        <p:cTn id="70" dur="500"/>
                                        <p:tgtEl>
                                          <p:spTgt spid="177"/>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198"/>
                                        </p:tgtEl>
                                        <p:attrNameLst>
                                          <p:attrName>style.visibility</p:attrName>
                                        </p:attrNameLst>
                                      </p:cBhvr>
                                      <p:to>
                                        <p:strVal val="visible"/>
                                      </p:to>
                                    </p:set>
                                    <p:animEffect transition="in" filter="dissolve">
                                      <p:cBhvr>
                                        <p:cTn id="73" dur="500"/>
                                        <p:tgtEl>
                                          <p:spTgt spid="198"/>
                                        </p:tgtEl>
                                      </p:cBhvr>
                                    </p:animEffect>
                                  </p:childTnLst>
                                </p:cTn>
                              </p:par>
                            </p:childTnLst>
                          </p:cTn>
                        </p:par>
                        <p:par>
                          <p:cTn id="74" fill="hold">
                            <p:stCondLst>
                              <p:cond delay="500"/>
                            </p:stCondLst>
                            <p:childTnLst>
                              <p:par>
                                <p:cTn id="75" presetID="22" presetClass="entr" presetSubtype="8" fill="hold" grpId="0" nodeType="afterEffect">
                                  <p:stCondLst>
                                    <p:cond delay="500"/>
                                  </p:stCondLst>
                                  <p:childTnLst>
                                    <p:set>
                                      <p:cBhvr>
                                        <p:cTn id="76" dur="1" fill="hold">
                                          <p:stCondLst>
                                            <p:cond delay="0"/>
                                          </p:stCondLst>
                                        </p:cTn>
                                        <p:tgtEl>
                                          <p:spTgt spid="176"/>
                                        </p:tgtEl>
                                        <p:attrNameLst>
                                          <p:attrName>style.visibility</p:attrName>
                                        </p:attrNameLst>
                                      </p:cBhvr>
                                      <p:to>
                                        <p:strVal val="visible"/>
                                      </p:to>
                                    </p:set>
                                    <p:animEffect transition="in" filter="wipe(left)">
                                      <p:cBhvr>
                                        <p:cTn id="77" dur="500"/>
                                        <p:tgtEl>
                                          <p:spTgt spid="176"/>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99"/>
                                        </p:tgtEl>
                                        <p:attrNameLst>
                                          <p:attrName>style.visibility</p:attrName>
                                        </p:attrNameLst>
                                      </p:cBhvr>
                                      <p:to>
                                        <p:strVal val="visible"/>
                                      </p:to>
                                    </p:set>
                                    <p:animEffect transition="in" filter="dissolve">
                                      <p:cBhvr>
                                        <p:cTn id="82" dur="500"/>
                                        <p:tgtEl>
                                          <p:spTgt spid="199"/>
                                        </p:tgtEl>
                                      </p:cBhvr>
                                    </p:animEffect>
                                  </p:childTnLst>
                                </p:cTn>
                              </p:par>
                              <p:par>
                                <p:cTn id="83" presetID="22" presetClass="entr" presetSubtype="2"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wipe(right)">
                                      <p:cBhvr>
                                        <p:cTn id="85" dur="500"/>
                                        <p:tgtEl>
                                          <p:spTgt spid="23"/>
                                        </p:tgtEl>
                                      </p:cBhvr>
                                    </p:animEffect>
                                  </p:childTnLst>
                                </p:cTn>
                              </p:par>
                            </p:childTnLst>
                          </p:cTn>
                        </p:par>
                        <p:par>
                          <p:cTn id="86" fill="hold">
                            <p:stCondLst>
                              <p:cond delay="500"/>
                            </p:stCondLst>
                            <p:childTnLst>
                              <p:par>
                                <p:cTn id="87" presetID="9" presetClass="entr" presetSubtype="0" fill="hold" grpId="0" nodeType="after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dissolve">
                                      <p:cBhvr>
                                        <p:cTn id="89" dur="500"/>
                                        <p:tgtEl>
                                          <p:spTgt spid="22"/>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wipe(left)">
                                      <p:cBhvr>
                                        <p:cTn id="92" dur="500"/>
                                        <p:tgtEl>
                                          <p:spTgt spid="20"/>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183"/>
                                        </p:tgtEl>
                                        <p:attrNameLst>
                                          <p:attrName>style.visibility</p:attrName>
                                        </p:attrNameLst>
                                      </p:cBhvr>
                                      <p:to>
                                        <p:strVal val="visible"/>
                                      </p:to>
                                    </p:set>
                                    <p:animEffect transition="in" filter="wipe(left)">
                                      <p:cBhvr>
                                        <p:cTn id="95" dur="500"/>
                                        <p:tgtEl>
                                          <p:spTgt spid="183"/>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8"/>
                                        </p:tgtEl>
                                        <p:attrNameLst>
                                          <p:attrName>style.visibility</p:attrName>
                                        </p:attrNameLst>
                                      </p:cBhvr>
                                      <p:to>
                                        <p:strVal val="visible"/>
                                      </p:to>
                                    </p:set>
                                    <p:animEffect transition="in" filter="wipe(left)">
                                      <p:cBhvr>
                                        <p:cTn id="100" dur="500"/>
                                        <p:tgtEl>
                                          <p:spTgt spid="28"/>
                                        </p:tgtEl>
                                      </p:cBhvr>
                                    </p:animEffect>
                                  </p:childTnLst>
                                </p:cTn>
                              </p:par>
                            </p:childTnLst>
                          </p:cTn>
                        </p:par>
                        <p:par>
                          <p:cTn id="101" fill="hold">
                            <p:stCondLst>
                              <p:cond delay="500"/>
                            </p:stCondLst>
                            <p:childTnLst>
                              <p:par>
                                <p:cTn id="102" presetID="9" presetClass="entr" presetSubtype="0" fill="hold" grpId="0" nodeType="afterEffect">
                                  <p:stCondLst>
                                    <p:cond delay="0"/>
                                  </p:stCondLst>
                                  <p:childTnLst>
                                    <p:set>
                                      <p:cBhvr>
                                        <p:cTn id="103" dur="1" fill="hold">
                                          <p:stCondLst>
                                            <p:cond delay="0"/>
                                          </p:stCondLst>
                                        </p:cTn>
                                        <p:tgtEl>
                                          <p:spTgt spid="180"/>
                                        </p:tgtEl>
                                        <p:attrNameLst>
                                          <p:attrName>style.visibility</p:attrName>
                                        </p:attrNameLst>
                                      </p:cBhvr>
                                      <p:to>
                                        <p:strVal val="visible"/>
                                      </p:to>
                                    </p:set>
                                    <p:animEffect transition="in" filter="dissolve">
                                      <p:cBhvr>
                                        <p:cTn id="104" dur="500"/>
                                        <p:tgtEl>
                                          <p:spTgt spid="180"/>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201"/>
                                        </p:tgtEl>
                                        <p:attrNameLst>
                                          <p:attrName>style.visibility</p:attrName>
                                        </p:attrNameLst>
                                      </p:cBhvr>
                                      <p:to>
                                        <p:strVal val="visible"/>
                                      </p:to>
                                    </p:set>
                                    <p:animEffect transition="in" filter="dissolve">
                                      <p:cBhvr>
                                        <p:cTn id="107" dur="500"/>
                                        <p:tgtEl>
                                          <p:spTgt spid="201"/>
                                        </p:tgtEl>
                                      </p:cBhvr>
                                    </p:animEffect>
                                  </p:childTnLst>
                                </p:cTn>
                              </p:par>
                            </p:childTnLst>
                          </p:cTn>
                        </p:par>
                        <p:par>
                          <p:cTn id="108" fill="hold">
                            <p:stCondLst>
                              <p:cond delay="1000"/>
                            </p:stCondLst>
                            <p:childTnLst>
                              <p:par>
                                <p:cTn id="109" presetID="9" presetClass="entr" presetSubtype="0" fill="hold" grpId="0" nodeType="afterEffect">
                                  <p:stCondLst>
                                    <p:cond delay="0"/>
                                  </p:stCondLst>
                                  <p:childTnLst>
                                    <p:set>
                                      <p:cBhvr>
                                        <p:cTn id="110" dur="1" fill="hold">
                                          <p:stCondLst>
                                            <p:cond delay="0"/>
                                          </p:stCondLst>
                                        </p:cTn>
                                        <p:tgtEl>
                                          <p:spTgt spid="182"/>
                                        </p:tgtEl>
                                        <p:attrNameLst>
                                          <p:attrName>style.visibility</p:attrName>
                                        </p:attrNameLst>
                                      </p:cBhvr>
                                      <p:to>
                                        <p:strVal val="visible"/>
                                      </p:to>
                                    </p:set>
                                    <p:animEffect transition="in" filter="dissolve">
                                      <p:cBhvr>
                                        <p:cTn id="111" dur="500"/>
                                        <p:tgtEl>
                                          <p:spTgt spid="182"/>
                                        </p:tgtEl>
                                      </p:cBhvr>
                                    </p:animEffect>
                                  </p:childTnLst>
                                </p:cTn>
                              </p:par>
                              <p:par>
                                <p:cTn id="112" presetID="9" presetClass="entr" presetSubtype="0" fill="hold" grpId="0" nodeType="withEffect">
                                  <p:stCondLst>
                                    <p:cond delay="0"/>
                                  </p:stCondLst>
                                  <p:childTnLst>
                                    <p:set>
                                      <p:cBhvr>
                                        <p:cTn id="113" dur="1" fill="hold">
                                          <p:stCondLst>
                                            <p:cond delay="0"/>
                                          </p:stCondLst>
                                        </p:cTn>
                                        <p:tgtEl>
                                          <p:spTgt spid="202"/>
                                        </p:tgtEl>
                                        <p:attrNameLst>
                                          <p:attrName>style.visibility</p:attrName>
                                        </p:attrNameLst>
                                      </p:cBhvr>
                                      <p:to>
                                        <p:strVal val="visible"/>
                                      </p:to>
                                    </p:set>
                                    <p:animEffect transition="in" filter="dissolve">
                                      <p:cBhvr>
                                        <p:cTn id="114" dur="50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84" grpId="0" animBg="1"/>
      <p:bldP spid="141" grpId="0" animBg="1"/>
      <p:bldP spid="142" grpId="0"/>
      <p:bldP spid="148" grpId="0" animBg="1"/>
      <p:bldP spid="149" grpId="0"/>
      <p:bldP spid="155" grpId="0" animBg="1"/>
      <p:bldP spid="156" grpId="0"/>
      <p:bldP spid="172" grpId="0" animBg="1"/>
      <p:bldP spid="180" grpId="0" animBg="1"/>
      <p:bldP spid="182" grpId="0" animBg="1"/>
      <p:bldP spid="187" grpId="0"/>
      <p:bldP spid="189" grpId="0" animBg="1"/>
      <p:bldP spid="190" grpId="0"/>
      <p:bldP spid="197" grpId="0"/>
      <p:bldP spid="198" grpId="0"/>
      <p:bldP spid="199" grpId="0"/>
      <p:bldP spid="201" grpId="0"/>
      <p:bldP spid="202" grpId="0"/>
      <p:bldP spid="20" grpId="0" animBg="1"/>
      <p:bldP spid="176" grpId="0" animBg="1"/>
      <p:bldP spid="177" grpId="0" animBg="1"/>
      <p:bldP spid="22" grpId="0" animBg="1"/>
      <p:bldP spid="18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957C6-603E-357E-8068-1521D969542F}"/>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1F062DC5-F980-AFE2-70DA-90361FB630D4}"/>
              </a:ext>
            </a:extLst>
          </p:cNvPr>
          <p:cNvSpPr/>
          <p:nvPr/>
        </p:nvSpPr>
        <p:spPr>
          <a:xfrm>
            <a:off x="2785" y="1601373"/>
            <a:ext cx="8238181" cy="4610526"/>
          </a:xfrm>
          <a:prstGeom prst="roundRect">
            <a:avLst>
              <a:gd name="adj" fmla="val 0"/>
            </a:avLst>
          </a:prstGeom>
          <a:solidFill>
            <a:srgbClr val="F4F8FA"/>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578">
              <a:spcAft>
                <a:spcPts val="600"/>
              </a:spcAft>
              <a:defRPr/>
            </a:pPr>
            <a:endParaRPr lang="en-US" sz="1200" dirty="0">
              <a:solidFill>
                <a:srgbClr val="FFFFFF"/>
              </a:solidFill>
              <a:latin typeface="Arial" panose="020B0604020202020204" pitchFamily="34" charset="0"/>
            </a:endParaRPr>
          </a:p>
        </p:txBody>
      </p:sp>
      <p:sp>
        <p:nvSpPr>
          <p:cNvPr id="6" name="Rectangle: Rounded Corners 171">
            <a:extLst>
              <a:ext uri="{FF2B5EF4-FFF2-40B4-BE49-F238E27FC236}">
                <a16:creationId xmlns:a16="http://schemas.microsoft.com/office/drawing/2014/main" id="{2CFAD192-4330-1156-1CFF-94669D39ABF0}"/>
              </a:ext>
            </a:extLst>
          </p:cNvPr>
          <p:cNvSpPr/>
          <p:nvPr/>
        </p:nvSpPr>
        <p:spPr>
          <a:xfrm>
            <a:off x="497060" y="1754710"/>
            <a:ext cx="7627507" cy="4344116"/>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algn="ctr" defTabSz="913030">
              <a:spcAft>
                <a:spcPts val="600"/>
              </a:spcAft>
              <a:defRPr/>
            </a:pPr>
            <a:endParaRPr lang="en-US" sz="1000" dirty="0">
              <a:solidFill>
                <a:srgbClr val="000001"/>
              </a:solidFill>
              <a:latin typeface="Arial" panose="020B0604020202020204" pitchFamily="34" charset="0"/>
            </a:endParaRPr>
          </a:p>
        </p:txBody>
      </p:sp>
      <p:grpSp>
        <p:nvGrpSpPr>
          <p:cNvPr id="14" name="Group 13">
            <a:extLst>
              <a:ext uri="{FF2B5EF4-FFF2-40B4-BE49-F238E27FC236}">
                <a16:creationId xmlns:a16="http://schemas.microsoft.com/office/drawing/2014/main" id="{247ADE71-0779-134C-838C-5ABD3C2E717E}"/>
              </a:ext>
            </a:extLst>
          </p:cNvPr>
          <p:cNvGrpSpPr/>
          <p:nvPr/>
        </p:nvGrpSpPr>
        <p:grpSpPr>
          <a:xfrm>
            <a:off x="4006678" y="2963512"/>
            <a:ext cx="4000381" cy="2192897"/>
            <a:chOff x="4006133" y="2963391"/>
            <a:chExt cx="4001423" cy="2193468"/>
          </a:xfrm>
        </p:grpSpPr>
        <p:sp>
          <p:nvSpPr>
            <p:cNvPr id="196" name="Freeform: Shape 129">
              <a:extLst>
                <a:ext uri="{FF2B5EF4-FFF2-40B4-BE49-F238E27FC236}">
                  <a16:creationId xmlns:a16="http://schemas.microsoft.com/office/drawing/2014/main" id="{82B939D7-BB4B-F327-265C-DB94B2E3F4D2}"/>
                </a:ext>
              </a:extLst>
            </p:cNvPr>
            <p:cNvSpPr/>
            <p:nvPr/>
          </p:nvSpPr>
          <p:spPr>
            <a:xfrm>
              <a:off x="4006133" y="2963391"/>
              <a:ext cx="2658603" cy="603602"/>
            </a:xfrm>
            <a:custGeom>
              <a:avLst/>
              <a:gdLst>
                <a:gd name="connsiteX0" fmla="*/ 0 w 459581"/>
                <a:gd name="connsiteY0" fmla="*/ 155972 h 158353"/>
                <a:gd name="connsiteX1" fmla="*/ 0 w 459581"/>
                <a:gd name="connsiteY1" fmla="*/ 0 h 158353"/>
                <a:gd name="connsiteX2" fmla="*/ 459581 w 459581"/>
                <a:gd name="connsiteY2" fmla="*/ 0 h 158353"/>
                <a:gd name="connsiteX3" fmla="*/ 459581 w 459581"/>
                <a:gd name="connsiteY3" fmla="*/ 158353 h 158353"/>
              </a:gdLst>
              <a:ahLst/>
              <a:cxnLst>
                <a:cxn ang="0">
                  <a:pos x="connsiteX0" y="connsiteY0"/>
                </a:cxn>
                <a:cxn ang="0">
                  <a:pos x="connsiteX1" y="connsiteY1"/>
                </a:cxn>
                <a:cxn ang="0">
                  <a:pos x="connsiteX2" y="connsiteY2"/>
                </a:cxn>
                <a:cxn ang="0">
                  <a:pos x="connsiteX3" y="connsiteY3"/>
                </a:cxn>
              </a:cxnLst>
              <a:rect l="l" t="t" r="r" b="b"/>
              <a:pathLst>
                <a:path w="459581" h="158353">
                  <a:moveTo>
                    <a:pt x="0" y="155972"/>
                  </a:moveTo>
                  <a:lnTo>
                    <a:pt x="0" y="0"/>
                  </a:lnTo>
                  <a:lnTo>
                    <a:pt x="459581" y="0"/>
                  </a:lnTo>
                  <a:lnTo>
                    <a:pt x="459581" y="158353"/>
                  </a:lnTo>
                </a:path>
              </a:pathLst>
            </a:cu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grpSp>
          <p:nvGrpSpPr>
            <p:cNvPr id="13" name="Group 12">
              <a:extLst>
                <a:ext uri="{FF2B5EF4-FFF2-40B4-BE49-F238E27FC236}">
                  <a16:creationId xmlns:a16="http://schemas.microsoft.com/office/drawing/2014/main" id="{120553F0-359A-78EF-1550-4E8909014B56}"/>
                </a:ext>
              </a:extLst>
            </p:cNvPr>
            <p:cNvGrpSpPr/>
            <p:nvPr/>
          </p:nvGrpSpPr>
          <p:grpSpPr>
            <a:xfrm>
              <a:off x="5297311" y="3300495"/>
              <a:ext cx="2710245" cy="1856364"/>
              <a:chOff x="5297311" y="3300495"/>
              <a:chExt cx="2710245" cy="1856364"/>
            </a:xfrm>
          </p:grpSpPr>
          <p:grpSp>
            <p:nvGrpSpPr>
              <p:cNvPr id="209" name="Group 208">
                <a:extLst>
                  <a:ext uri="{FF2B5EF4-FFF2-40B4-BE49-F238E27FC236}">
                    <a16:creationId xmlns:a16="http://schemas.microsoft.com/office/drawing/2014/main" id="{4B5DDF4D-797D-44F9-6789-411890F456AE}"/>
                  </a:ext>
                </a:extLst>
              </p:cNvPr>
              <p:cNvGrpSpPr/>
              <p:nvPr/>
            </p:nvGrpSpPr>
            <p:grpSpPr>
              <a:xfrm>
                <a:off x="5468720" y="3300495"/>
                <a:ext cx="2350762" cy="1489443"/>
                <a:chOff x="5390342" y="2948043"/>
                <a:chExt cx="2350762" cy="1489443"/>
              </a:xfrm>
            </p:grpSpPr>
            <p:sp>
              <p:nvSpPr>
                <p:cNvPr id="211" name="Rectangle: Rounded Corners 122">
                  <a:extLst>
                    <a:ext uri="{FF2B5EF4-FFF2-40B4-BE49-F238E27FC236}">
                      <a16:creationId xmlns:a16="http://schemas.microsoft.com/office/drawing/2014/main" id="{989E938E-B164-3201-73DC-D2AFD21B76FE}"/>
                    </a:ext>
                  </a:extLst>
                </p:cNvPr>
                <p:cNvSpPr/>
                <p:nvPr/>
              </p:nvSpPr>
              <p:spPr>
                <a:xfrm>
                  <a:off x="5390342" y="2948043"/>
                  <a:ext cx="2350762" cy="1489443"/>
                </a:xfrm>
                <a:prstGeom prst="roundRect">
                  <a:avLst>
                    <a:gd name="adj" fmla="val 6821"/>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212" name="Rectangle 211">
                  <a:extLst>
                    <a:ext uri="{FF2B5EF4-FFF2-40B4-BE49-F238E27FC236}">
                      <a16:creationId xmlns:a16="http://schemas.microsoft.com/office/drawing/2014/main" id="{C157A412-E98D-8F1D-DC2B-1325183D5538}"/>
                    </a:ext>
                  </a:extLst>
                </p:cNvPr>
                <p:cNvSpPr/>
                <p:nvPr/>
              </p:nvSpPr>
              <p:spPr>
                <a:xfrm>
                  <a:off x="5615628" y="3003659"/>
                  <a:ext cx="1970176" cy="184666"/>
                </a:xfrm>
                <a:prstGeom prst="rect">
                  <a:avLst/>
                </a:prstGeom>
              </p:spPr>
              <p:txBody>
                <a:bodyPr wrap="square" lIns="0" tIns="0" rIns="0" bIns="0">
                  <a:spAutoFit/>
                </a:bodyPr>
                <a:lstStyle/>
                <a:p>
                  <a:pPr algn="ctr" defTabSz="912208">
                    <a:defRPr/>
                  </a:pPr>
                  <a:r>
                    <a:rPr lang="en-US" sz="1200" kern="0" dirty="0">
                      <a:solidFill>
                        <a:srgbClr val="000001"/>
                      </a:solidFill>
                      <a:latin typeface="Arial" panose="020B0604020202020204" pitchFamily="34" charset="0"/>
                    </a:rPr>
                    <a:t>Workload Domain</a:t>
                  </a:r>
                </a:p>
              </p:txBody>
            </p:sp>
          </p:grpSp>
          <p:sp>
            <p:nvSpPr>
              <p:cNvPr id="22" name="Rounded Rectangle 21">
                <a:extLst>
                  <a:ext uri="{FF2B5EF4-FFF2-40B4-BE49-F238E27FC236}">
                    <a16:creationId xmlns:a16="http://schemas.microsoft.com/office/drawing/2014/main" id="{7118AABB-A159-1129-86B6-4AE4E9412CD7}"/>
                  </a:ext>
                </a:extLst>
              </p:cNvPr>
              <p:cNvSpPr/>
              <p:nvPr/>
            </p:nvSpPr>
            <p:spPr bwMode="gray">
              <a:xfrm>
                <a:off x="5547643" y="3592668"/>
                <a:ext cx="1046905" cy="1319221"/>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sp>
            <p:nvSpPr>
              <p:cNvPr id="23" name="Rounded Rectangle 22">
                <a:extLst>
                  <a:ext uri="{FF2B5EF4-FFF2-40B4-BE49-F238E27FC236}">
                    <a16:creationId xmlns:a16="http://schemas.microsoft.com/office/drawing/2014/main" id="{01637103-0F4F-0E73-E6A0-52A3E0F80087}"/>
                  </a:ext>
                </a:extLst>
              </p:cNvPr>
              <p:cNvSpPr/>
              <p:nvPr/>
            </p:nvSpPr>
            <p:spPr bwMode="gray">
              <a:xfrm>
                <a:off x="6700340" y="3585424"/>
                <a:ext cx="1046905" cy="1319221"/>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sp>
            <p:nvSpPr>
              <p:cNvPr id="24" name="Graphic 47">
                <a:extLst>
                  <a:ext uri="{FF2B5EF4-FFF2-40B4-BE49-F238E27FC236}">
                    <a16:creationId xmlns:a16="http://schemas.microsoft.com/office/drawing/2014/main" id="{1DF34E31-94F7-AA95-7CE8-6866DB41DD4E}"/>
                  </a:ext>
                </a:extLst>
              </p:cNvPr>
              <p:cNvSpPr/>
              <p:nvPr/>
            </p:nvSpPr>
            <p:spPr>
              <a:xfrm>
                <a:off x="5715827" y="4252008"/>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5" name="Graphic 47">
                <a:extLst>
                  <a:ext uri="{FF2B5EF4-FFF2-40B4-BE49-F238E27FC236}">
                    <a16:creationId xmlns:a16="http://schemas.microsoft.com/office/drawing/2014/main" id="{42E61245-6536-5A86-FCFE-AEDB074F5DB9}"/>
                  </a:ext>
                </a:extLst>
              </p:cNvPr>
              <p:cNvSpPr/>
              <p:nvPr/>
            </p:nvSpPr>
            <p:spPr>
              <a:xfrm>
                <a:off x="5715827" y="4012412"/>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6" name="Graphic 47">
                <a:extLst>
                  <a:ext uri="{FF2B5EF4-FFF2-40B4-BE49-F238E27FC236}">
                    <a16:creationId xmlns:a16="http://schemas.microsoft.com/office/drawing/2014/main" id="{6F512062-2302-AA8C-37DB-322F1113D23E}"/>
                  </a:ext>
                </a:extLst>
              </p:cNvPr>
              <p:cNvSpPr/>
              <p:nvPr/>
            </p:nvSpPr>
            <p:spPr>
              <a:xfrm>
                <a:off x="5715827" y="3772814"/>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7" name="Rectangle: Rounded Corners 122">
                <a:extLst>
                  <a:ext uri="{FF2B5EF4-FFF2-40B4-BE49-F238E27FC236}">
                    <a16:creationId xmlns:a16="http://schemas.microsoft.com/office/drawing/2014/main" id="{41346479-F1B6-E19F-30F3-9D9D89EACE49}"/>
                  </a:ext>
                </a:extLst>
              </p:cNvPr>
              <p:cNvSpPr/>
              <p:nvPr/>
            </p:nvSpPr>
            <p:spPr>
              <a:xfrm>
                <a:off x="5641446" y="3690453"/>
                <a:ext cx="856716" cy="1026542"/>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28" name="Graphic 47">
                <a:extLst>
                  <a:ext uri="{FF2B5EF4-FFF2-40B4-BE49-F238E27FC236}">
                    <a16:creationId xmlns:a16="http://schemas.microsoft.com/office/drawing/2014/main" id="{A26986E6-A6EF-F869-6686-33C2CE0FDF9F}"/>
                  </a:ext>
                </a:extLst>
              </p:cNvPr>
              <p:cNvSpPr/>
              <p:nvPr/>
            </p:nvSpPr>
            <p:spPr>
              <a:xfrm>
                <a:off x="6872778" y="4252008"/>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9" name="Graphic 47">
                <a:extLst>
                  <a:ext uri="{FF2B5EF4-FFF2-40B4-BE49-F238E27FC236}">
                    <a16:creationId xmlns:a16="http://schemas.microsoft.com/office/drawing/2014/main" id="{10334561-DA8F-245D-BF2A-6142A878CDBD}"/>
                  </a:ext>
                </a:extLst>
              </p:cNvPr>
              <p:cNvSpPr/>
              <p:nvPr/>
            </p:nvSpPr>
            <p:spPr>
              <a:xfrm>
                <a:off x="6872778" y="4012412"/>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30" name="Graphic 47">
                <a:extLst>
                  <a:ext uri="{FF2B5EF4-FFF2-40B4-BE49-F238E27FC236}">
                    <a16:creationId xmlns:a16="http://schemas.microsoft.com/office/drawing/2014/main" id="{7E139CA9-B5AA-6E46-42CC-7D1C911B2104}"/>
                  </a:ext>
                </a:extLst>
              </p:cNvPr>
              <p:cNvSpPr/>
              <p:nvPr/>
            </p:nvSpPr>
            <p:spPr>
              <a:xfrm>
                <a:off x="6872778" y="3772814"/>
                <a:ext cx="712005" cy="187370"/>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solidFill>
                <a:schemeClr val="accent2"/>
              </a:solid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31" name="Rectangle: Rounded Corners 122">
                <a:extLst>
                  <a:ext uri="{FF2B5EF4-FFF2-40B4-BE49-F238E27FC236}">
                    <a16:creationId xmlns:a16="http://schemas.microsoft.com/office/drawing/2014/main" id="{EFF70DB0-B009-CF3A-27E1-443A8DD8DE0E}"/>
                  </a:ext>
                </a:extLst>
              </p:cNvPr>
              <p:cNvSpPr/>
              <p:nvPr/>
            </p:nvSpPr>
            <p:spPr>
              <a:xfrm>
                <a:off x="6798397" y="3690453"/>
                <a:ext cx="856716" cy="1026542"/>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32" name="Rectangle 31">
                <a:extLst>
                  <a:ext uri="{FF2B5EF4-FFF2-40B4-BE49-F238E27FC236}">
                    <a16:creationId xmlns:a16="http://schemas.microsoft.com/office/drawing/2014/main" id="{D2177834-0924-3890-792F-264E4878C634}"/>
                  </a:ext>
                </a:extLst>
              </p:cNvPr>
              <p:cNvSpPr/>
              <p:nvPr/>
            </p:nvSpPr>
            <p:spPr>
              <a:xfrm>
                <a:off x="5297311" y="4510251"/>
                <a:ext cx="1544986" cy="15388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33" name="Rectangle 32">
                <a:extLst>
                  <a:ext uri="{FF2B5EF4-FFF2-40B4-BE49-F238E27FC236}">
                    <a16:creationId xmlns:a16="http://schemas.microsoft.com/office/drawing/2014/main" id="{9D55A9D3-F22E-ACD2-9C69-609B630B622A}"/>
                  </a:ext>
                </a:extLst>
              </p:cNvPr>
              <p:cNvSpPr/>
              <p:nvPr/>
            </p:nvSpPr>
            <p:spPr>
              <a:xfrm>
                <a:off x="6462570" y="4510251"/>
                <a:ext cx="1544986" cy="15388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242" name="Oval 241">
                <a:extLst>
                  <a:ext uri="{FF2B5EF4-FFF2-40B4-BE49-F238E27FC236}">
                    <a16:creationId xmlns:a16="http://schemas.microsoft.com/office/drawing/2014/main" id="{D293065D-3B5B-C1D0-A51C-19F79BEE79F9}"/>
                  </a:ext>
                </a:extLst>
              </p:cNvPr>
              <p:cNvSpPr/>
              <p:nvPr/>
            </p:nvSpPr>
            <p:spPr>
              <a:xfrm>
                <a:off x="5905975" y="4820847"/>
                <a:ext cx="338704" cy="335690"/>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34" name="Graphic 32">
                <a:extLst>
                  <a:ext uri="{FF2B5EF4-FFF2-40B4-BE49-F238E27FC236}">
                    <a16:creationId xmlns:a16="http://schemas.microsoft.com/office/drawing/2014/main" id="{4B47925C-F6BB-B8D4-04E8-39179151081D}"/>
                  </a:ext>
                </a:extLst>
              </p:cNvPr>
              <p:cNvSpPr/>
              <p:nvPr/>
            </p:nvSpPr>
            <p:spPr>
              <a:xfrm>
                <a:off x="5979474" y="4870627"/>
                <a:ext cx="191704" cy="236129"/>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245" name="Oval 244">
                <a:extLst>
                  <a:ext uri="{FF2B5EF4-FFF2-40B4-BE49-F238E27FC236}">
                    <a16:creationId xmlns:a16="http://schemas.microsoft.com/office/drawing/2014/main" id="{DD382209-3EEB-C7A1-C8DD-51819FB8D17D}"/>
                  </a:ext>
                </a:extLst>
              </p:cNvPr>
              <p:cNvSpPr/>
              <p:nvPr/>
            </p:nvSpPr>
            <p:spPr>
              <a:xfrm>
                <a:off x="7048239" y="4821169"/>
                <a:ext cx="338704" cy="335690"/>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35" name="Graphic 32">
                <a:extLst>
                  <a:ext uri="{FF2B5EF4-FFF2-40B4-BE49-F238E27FC236}">
                    <a16:creationId xmlns:a16="http://schemas.microsoft.com/office/drawing/2014/main" id="{4D048B47-1713-0FC5-88A9-8AE80AFD5B8D}"/>
                  </a:ext>
                </a:extLst>
              </p:cNvPr>
              <p:cNvSpPr/>
              <p:nvPr/>
            </p:nvSpPr>
            <p:spPr>
              <a:xfrm>
                <a:off x="7121738" y="4870949"/>
                <a:ext cx="191704" cy="236129"/>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grpSp>
      <p:sp>
        <p:nvSpPr>
          <p:cNvPr id="21" name="Rounded Rectangle 20">
            <a:extLst>
              <a:ext uri="{FF2B5EF4-FFF2-40B4-BE49-F238E27FC236}">
                <a16:creationId xmlns:a16="http://schemas.microsoft.com/office/drawing/2014/main" id="{5FBA233F-26EE-5E32-DE7A-EF46C339BA63}"/>
              </a:ext>
            </a:extLst>
          </p:cNvPr>
          <p:cNvSpPr/>
          <p:nvPr/>
        </p:nvSpPr>
        <p:spPr bwMode="gray">
          <a:xfrm>
            <a:off x="2910948" y="3183341"/>
            <a:ext cx="2208157" cy="1728162"/>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sp>
        <p:nvSpPr>
          <p:cNvPr id="2" name="Title 1">
            <a:extLst>
              <a:ext uri="{FF2B5EF4-FFF2-40B4-BE49-F238E27FC236}">
                <a16:creationId xmlns:a16="http://schemas.microsoft.com/office/drawing/2014/main" id="{7D9423CA-949F-108D-E74F-AC8102B51624}"/>
              </a:ext>
            </a:extLst>
          </p:cNvPr>
          <p:cNvSpPr>
            <a:spLocks noGrp="1"/>
          </p:cNvSpPr>
          <p:nvPr>
            <p:ph type="title"/>
          </p:nvPr>
        </p:nvSpPr>
        <p:spPr/>
        <p:txBody>
          <a:bodyPr/>
          <a:lstStyle/>
          <a:p>
            <a:r>
              <a:rPr lang="en-US" dirty="0">
                <a:latin typeface="Arial" panose="020B0604020202020204" pitchFamily="34" charset="0"/>
              </a:rPr>
              <a:t>Remote Site Topologies</a:t>
            </a:r>
          </a:p>
        </p:txBody>
      </p:sp>
      <p:sp>
        <p:nvSpPr>
          <p:cNvPr id="3" name="Subtitle 2">
            <a:extLst>
              <a:ext uri="{FF2B5EF4-FFF2-40B4-BE49-F238E27FC236}">
                <a16:creationId xmlns:a16="http://schemas.microsoft.com/office/drawing/2014/main" id="{A161EEF8-ADB4-630F-8C93-6AD51D480DCB}"/>
              </a:ext>
            </a:extLst>
          </p:cNvPr>
          <p:cNvSpPr>
            <a:spLocks noGrp="1"/>
          </p:cNvSpPr>
          <p:nvPr>
            <p:ph type="subTitle" idx="10"/>
          </p:nvPr>
        </p:nvSpPr>
        <p:spPr/>
        <p:txBody>
          <a:bodyPr/>
          <a:lstStyle/>
          <a:p>
            <a:r>
              <a:rPr lang="en-US" dirty="0"/>
              <a:t>Configure a Remote Workload Domain or a Remote Cluster</a:t>
            </a:r>
          </a:p>
        </p:txBody>
      </p:sp>
      <p:sp>
        <p:nvSpPr>
          <p:cNvPr id="4" name="Text Placeholder 3">
            <a:extLst>
              <a:ext uri="{FF2B5EF4-FFF2-40B4-BE49-F238E27FC236}">
                <a16:creationId xmlns:a16="http://schemas.microsoft.com/office/drawing/2014/main" id="{6CF5054D-9BE6-B0B2-4B7F-8634093C8638}"/>
              </a:ext>
            </a:extLst>
          </p:cNvPr>
          <p:cNvSpPr>
            <a:spLocks noGrp="1"/>
          </p:cNvSpPr>
          <p:nvPr>
            <p:ph type="body" sz="quarter" idx="17"/>
          </p:nvPr>
        </p:nvSpPr>
        <p:spPr>
          <a:xfrm>
            <a:off x="8424776" y="1600676"/>
            <a:ext cx="3762463" cy="4570809"/>
          </a:xfrm>
        </p:spPr>
        <p:txBody>
          <a:bodyPr/>
          <a:lstStyle/>
          <a:p>
            <a:pPr>
              <a:buNone/>
            </a:pPr>
            <a:r>
              <a:rPr lang="en-US" dirty="0"/>
              <a:t>Provide presence for remote sites through centralized management</a:t>
            </a:r>
          </a:p>
          <a:p>
            <a:pPr>
              <a:buNone/>
            </a:pPr>
            <a:r>
              <a:rPr lang="en-US" dirty="0"/>
              <a:t>Place resources close to workers</a:t>
            </a:r>
          </a:p>
          <a:p>
            <a:pPr>
              <a:buNone/>
            </a:pPr>
            <a:r>
              <a:rPr lang="en-US" dirty="0"/>
              <a:t>Use VCF Operations to perform Fleet Management operations for each remote site</a:t>
            </a:r>
          </a:p>
          <a:p>
            <a:pPr>
              <a:buNone/>
            </a:pPr>
            <a:r>
              <a:rPr lang="en-US" dirty="0"/>
              <a:t>Choose the topology that best suits your requirements for:</a:t>
            </a:r>
          </a:p>
          <a:p>
            <a:pPr marL="285664" indent="-285664">
              <a:buFont typeface="Arial" panose="020B0604020202020204" pitchFamily="34" charset="0"/>
              <a:buChar char="•"/>
            </a:pPr>
            <a:r>
              <a:rPr lang="en-US" sz="1400" dirty="0"/>
              <a:t>Management</a:t>
            </a:r>
          </a:p>
          <a:p>
            <a:pPr marL="285664" indent="-285664">
              <a:buFont typeface="Arial" panose="020B0604020202020204" pitchFamily="34" charset="0"/>
              <a:buChar char="•"/>
            </a:pPr>
            <a:r>
              <a:rPr lang="en-US" sz="1400" dirty="0"/>
              <a:t>Scale</a:t>
            </a:r>
          </a:p>
          <a:p>
            <a:pPr marL="285664" indent="-285664">
              <a:buFont typeface="Arial" panose="020B0604020202020204" pitchFamily="34" charset="0"/>
              <a:buChar char="•"/>
            </a:pPr>
            <a:r>
              <a:rPr lang="en-US" sz="1400" dirty="0"/>
              <a:t>Networking</a:t>
            </a:r>
            <a:br>
              <a:rPr lang="en-US" sz="1400" dirty="0"/>
            </a:br>
            <a:endParaRPr lang="en-US" sz="1400" dirty="0"/>
          </a:p>
          <a:p>
            <a:pPr>
              <a:buNone/>
            </a:pPr>
            <a:r>
              <a:rPr lang="en-US" sz="1400" dirty="0"/>
              <a:t>Bandwidth &amp; latency requirements apply</a:t>
            </a:r>
          </a:p>
        </p:txBody>
      </p:sp>
      <p:cxnSp>
        <p:nvCxnSpPr>
          <p:cNvPr id="47" name="Straight Connector 46">
            <a:extLst>
              <a:ext uri="{FF2B5EF4-FFF2-40B4-BE49-F238E27FC236}">
                <a16:creationId xmlns:a16="http://schemas.microsoft.com/office/drawing/2014/main" id="{37F080B7-DDC0-A7F2-B60F-EFD4705494BB}"/>
              </a:ext>
            </a:extLst>
          </p:cNvPr>
          <p:cNvCxnSpPr>
            <a:cxnSpLocks/>
          </p:cNvCxnSpPr>
          <p:nvPr/>
        </p:nvCxnSpPr>
        <p:spPr bwMode="gray">
          <a:xfrm>
            <a:off x="4006681" y="3061206"/>
            <a:ext cx="0" cy="492844"/>
          </a:xfrm>
          <a:prstGeom prst="line">
            <a:avLst/>
          </a:pr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163BCAF-4391-73D0-0C07-2543944038C2}"/>
              </a:ext>
            </a:extLst>
          </p:cNvPr>
          <p:cNvSpPr txBox="1"/>
          <p:nvPr/>
        </p:nvSpPr>
        <p:spPr>
          <a:xfrm>
            <a:off x="658597" y="4991428"/>
            <a:ext cx="2637755" cy="1125336"/>
          </a:xfrm>
          <a:prstGeom prst="rect">
            <a:avLst/>
          </a:prstGeom>
        </p:spPr>
        <p:txBody>
          <a:bodyPr wrap="square" lIns="0" tIns="0" rIns="0" bIns="0" rtlCol="0">
            <a:spAutoFit/>
          </a:bodyPr>
          <a:lstStyle/>
          <a:p>
            <a:pPr defTabSz="913578">
              <a:lnSpc>
                <a:spcPct val="150000"/>
              </a:lnSpc>
              <a:spcAft>
                <a:spcPts val="600"/>
              </a:spcAft>
              <a:buClr>
                <a:srgbClr val="F2F2F2">
                  <a:lumMod val="50000"/>
                </a:srgbClr>
              </a:buClr>
              <a:defRPr/>
            </a:pPr>
            <a:br>
              <a:rPr lang="en-US" sz="1000" dirty="0">
                <a:solidFill>
                  <a:srgbClr val="1B1E35"/>
                </a:solidFill>
                <a:latin typeface="Arial" panose="020B0604020202020204" pitchFamily="34" charset="0"/>
              </a:rPr>
            </a:br>
            <a:r>
              <a:rPr lang="en-US" sz="1000" b="1" dirty="0">
                <a:solidFill>
                  <a:schemeClr val="accent2"/>
                </a:solidFill>
                <a:latin typeface="Arial" panose="020B0604020202020204" pitchFamily="34" charset="0"/>
              </a:rPr>
              <a:t>Remote Workload Domain Example</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Workload Domain: 1 per site</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Clusters: 1 x cluster per domain</a:t>
            </a:r>
            <a:br>
              <a:rPr lang="en-US" sz="1000" dirty="0">
                <a:solidFill>
                  <a:srgbClr val="1B1E35"/>
                </a:solidFill>
                <a:latin typeface="Arial" panose="020B0604020202020204" pitchFamily="34" charset="0"/>
              </a:rPr>
            </a:br>
            <a:endParaRPr lang="en-US" sz="1000" dirty="0">
              <a:solidFill>
                <a:srgbClr val="1B1E35"/>
              </a:solidFill>
              <a:latin typeface="Arial" panose="020B0604020202020204" pitchFamily="34" charset="0"/>
            </a:endParaRPr>
          </a:p>
        </p:txBody>
      </p:sp>
      <p:grpSp>
        <p:nvGrpSpPr>
          <p:cNvPr id="5" name="Group 4">
            <a:extLst>
              <a:ext uri="{FF2B5EF4-FFF2-40B4-BE49-F238E27FC236}">
                <a16:creationId xmlns:a16="http://schemas.microsoft.com/office/drawing/2014/main" id="{1B7DE121-796C-7A07-D6E8-2CD549CF8573}"/>
              </a:ext>
            </a:extLst>
          </p:cNvPr>
          <p:cNvGrpSpPr/>
          <p:nvPr/>
        </p:nvGrpSpPr>
        <p:grpSpPr>
          <a:xfrm>
            <a:off x="802742" y="2963514"/>
            <a:ext cx="3203936" cy="2203741"/>
            <a:chOff x="801362" y="2963391"/>
            <a:chExt cx="3204771" cy="2204315"/>
          </a:xfrm>
        </p:grpSpPr>
        <p:sp>
          <p:nvSpPr>
            <p:cNvPr id="20" name="Rounded Rectangle 19">
              <a:extLst>
                <a:ext uri="{FF2B5EF4-FFF2-40B4-BE49-F238E27FC236}">
                  <a16:creationId xmlns:a16="http://schemas.microsoft.com/office/drawing/2014/main" id="{9FDBCFB2-C873-F3AF-B5B0-2D847D42CA50}"/>
                </a:ext>
              </a:extLst>
            </p:cNvPr>
            <p:cNvSpPr/>
            <p:nvPr/>
          </p:nvSpPr>
          <p:spPr bwMode="gray">
            <a:xfrm>
              <a:off x="801362" y="3188866"/>
              <a:ext cx="1751712" cy="1728612"/>
            </a:xfrm>
            <a:prstGeom prst="roundRect">
              <a:avLst>
                <a:gd name="adj" fmla="val 6450"/>
              </a:avLst>
            </a:prstGeom>
            <a:solidFill>
              <a:schemeClr val="bg1">
                <a:lumMod val="95000"/>
              </a:schemeClr>
            </a:solidFill>
            <a:ln w="9525">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dirty="0">
                <a:solidFill>
                  <a:schemeClr val="bg1"/>
                </a:solidFill>
              </a:endParaRPr>
            </a:p>
          </p:txBody>
        </p:sp>
        <p:grpSp>
          <p:nvGrpSpPr>
            <p:cNvPr id="256" name="Group 255">
              <a:extLst>
                <a:ext uri="{FF2B5EF4-FFF2-40B4-BE49-F238E27FC236}">
                  <a16:creationId xmlns:a16="http://schemas.microsoft.com/office/drawing/2014/main" id="{5358A539-1408-51E4-4E82-7D51C6A75D73}"/>
                </a:ext>
              </a:extLst>
            </p:cNvPr>
            <p:cNvGrpSpPr/>
            <p:nvPr/>
          </p:nvGrpSpPr>
          <p:grpSpPr>
            <a:xfrm>
              <a:off x="875750" y="2963391"/>
              <a:ext cx="3130383" cy="2204315"/>
              <a:chOff x="823498" y="2360969"/>
              <a:chExt cx="3130383" cy="2204315"/>
            </a:xfrm>
          </p:grpSpPr>
          <p:sp>
            <p:nvSpPr>
              <p:cNvPr id="197" name="Freeform: Shape 129">
                <a:extLst>
                  <a:ext uri="{FF2B5EF4-FFF2-40B4-BE49-F238E27FC236}">
                    <a16:creationId xmlns:a16="http://schemas.microsoft.com/office/drawing/2014/main" id="{34965152-4EC7-EF58-B753-C5B10A8F0069}"/>
                  </a:ext>
                </a:extLst>
              </p:cNvPr>
              <p:cNvSpPr/>
              <p:nvPr/>
            </p:nvSpPr>
            <p:spPr>
              <a:xfrm>
                <a:off x="1840742" y="2360969"/>
                <a:ext cx="2113139" cy="581402"/>
              </a:xfrm>
              <a:custGeom>
                <a:avLst/>
                <a:gdLst>
                  <a:gd name="connsiteX0" fmla="*/ 0 w 459581"/>
                  <a:gd name="connsiteY0" fmla="*/ 155972 h 158353"/>
                  <a:gd name="connsiteX1" fmla="*/ 0 w 459581"/>
                  <a:gd name="connsiteY1" fmla="*/ 0 h 158353"/>
                  <a:gd name="connsiteX2" fmla="*/ 459581 w 459581"/>
                  <a:gd name="connsiteY2" fmla="*/ 0 h 158353"/>
                  <a:gd name="connsiteX3" fmla="*/ 459581 w 459581"/>
                  <a:gd name="connsiteY3" fmla="*/ 158353 h 158353"/>
                </a:gdLst>
                <a:ahLst/>
                <a:cxnLst>
                  <a:cxn ang="0">
                    <a:pos x="connsiteX0" y="connsiteY0"/>
                  </a:cxn>
                  <a:cxn ang="0">
                    <a:pos x="connsiteX1" y="connsiteY1"/>
                  </a:cxn>
                  <a:cxn ang="0">
                    <a:pos x="connsiteX2" y="connsiteY2"/>
                  </a:cxn>
                  <a:cxn ang="0">
                    <a:pos x="connsiteX3" y="connsiteY3"/>
                  </a:cxn>
                </a:cxnLst>
                <a:rect l="l" t="t" r="r" b="b"/>
                <a:pathLst>
                  <a:path w="459581" h="158353">
                    <a:moveTo>
                      <a:pt x="0" y="155972"/>
                    </a:moveTo>
                    <a:lnTo>
                      <a:pt x="0" y="0"/>
                    </a:lnTo>
                    <a:lnTo>
                      <a:pt x="459581" y="0"/>
                    </a:lnTo>
                    <a:lnTo>
                      <a:pt x="459581" y="158353"/>
                    </a:lnTo>
                  </a:path>
                </a:pathLst>
              </a:cu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146" name="Rectangle: Rounded Corners 122">
                <a:extLst>
                  <a:ext uri="{FF2B5EF4-FFF2-40B4-BE49-F238E27FC236}">
                    <a16:creationId xmlns:a16="http://schemas.microsoft.com/office/drawing/2014/main" id="{39C08AF3-7EB0-46F2-3DE3-0CB824687C8E}"/>
                  </a:ext>
                </a:extLst>
              </p:cNvPr>
              <p:cNvSpPr/>
              <p:nvPr/>
            </p:nvSpPr>
            <p:spPr>
              <a:xfrm>
                <a:off x="851053" y="2698141"/>
                <a:ext cx="1544986" cy="1489443"/>
              </a:xfrm>
              <a:prstGeom prst="roundRect">
                <a:avLst>
                  <a:gd name="adj" fmla="val 6821"/>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147" name="Rectangle 146">
                <a:extLst>
                  <a:ext uri="{FF2B5EF4-FFF2-40B4-BE49-F238E27FC236}">
                    <a16:creationId xmlns:a16="http://schemas.microsoft.com/office/drawing/2014/main" id="{0745B1D8-9C5C-EF8E-B3AE-FB00C0CCF29A}"/>
                  </a:ext>
                </a:extLst>
              </p:cNvPr>
              <p:cNvSpPr/>
              <p:nvPr/>
            </p:nvSpPr>
            <p:spPr>
              <a:xfrm>
                <a:off x="851053" y="2753757"/>
                <a:ext cx="1544986" cy="184666"/>
              </a:xfrm>
              <a:prstGeom prst="rect">
                <a:avLst/>
              </a:prstGeom>
            </p:spPr>
            <p:txBody>
              <a:bodyPr wrap="square" lIns="0" tIns="0" rIns="0" bIns="0">
                <a:spAutoFit/>
              </a:bodyPr>
              <a:lstStyle/>
              <a:p>
                <a:pPr algn="ctr" defTabSz="912208">
                  <a:defRPr/>
                </a:pPr>
                <a:r>
                  <a:rPr lang="en-US" sz="1200" kern="0" dirty="0">
                    <a:solidFill>
                      <a:srgbClr val="000001"/>
                    </a:solidFill>
                    <a:latin typeface="Arial" panose="020B0604020202020204" pitchFamily="34" charset="0"/>
                  </a:rPr>
                  <a:t>Workload Domain</a:t>
                </a:r>
              </a:p>
            </p:txBody>
          </p:sp>
          <p:grpSp>
            <p:nvGrpSpPr>
              <p:cNvPr id="148" name="Group 147">
                <a:extLst>
                  <a:ext uri="{FF2B5EF4-FFF2-40B4-BE49-F238E27FC236}">
                    <a16:creationId xmlns:a16="http://schemas.microsoft.com/office/drawing/2014/main" id="{C428A37A-95EE-2F77-E665-C68CD2634BBE}"/>
                  </a:ext>
                </a:extLst>
              </p:cNvPr>
              <p:cNvGrpSpPr/>
              <p:nvPr/>
            </p:nvGrpSpPr>
            <p:grpSpPr>
              <a:xfrm>
                <a:off x="1239439" y="3170460"/>
                <a:ext cx="712005" cy="666564"/>
                <a:chOff x="928971" y="4326657"/>
                <a:chExt cx="385619" cy="361008"/>
              </a:xfrm>
              <a:solidFill>
                <a:schemeClr val="accent2"/>
              </a:solidFill>
            </p:grpSpPr>
            <p:sp>
              <p:nvSpPr>
                <p:cNvPr id="149" name="Graphic 47">
                  <a:extLst>
                    <a:ext uri="{FF2B5EF4-FFF2-40B4-BE49-F238E27FC236}">
                      <a16:creationId xmlns:a16="http://schemas.microsoft.com/office/drawing/2014/main" id="{61BCDD75-C4C1-1268-997A-0FF0A7686AD4}"/>
                    </a:ext>
                  </a:extLst>
                </p:cNvPr>
                <p:cNvSpPr/>
                <p:nvPr/>
              </p:nvSpPr>
              <p:spPr>
                <a:xfrm>
                  <a:off x="928971" y="4586186"/>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50" name="Graphic 47">
                  <a:extLst>
                    <a:ext uri="{FF2B5EF4-FFF2-40B4-BE49-F238E27FC236}">
                      <a16:creationId xmlns:a16="http://schemas.microsoft.com/office/drawing/2014/main" id="{3422D2BB-B22A-876E-5063-C5F5DCC4B25E}"/>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51" name="Graphic 47">
                  <a:extLst>
                    <a:ext uri="{FF2B5EF4-FFF2-40B4-BE49-F238E27FC236}">
                      <a16:creationId xmlns:a16="http://schemas.microsoft.com/office/drawing/2014/main" id="{37F9EEE3-3C94-E734-8116-B0B7801632E4}"/>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159" name="Rectangle: Rounded Corners 122">
                <a:extLst>
                  <a:ext uri="{FF2B5EF4-FFF2-40B4-BE49-F238E27FC236}">
                    <a16:creationId xmlns:a16="http://schemas.microsoft.com/office/drawing/2014/main" id="{7DBB4A95-B158-E7EE-B8CD-0E00FD35986F}"/>
                  </a:ext>
                </a:extLst>
              </p:cNvPr>
              <p:cNvSpPr/>
              <p:nvPr/>
            </p:nvSpPr>
            <p:spPr>
              <a:xfrm>
                <a:off x="1165058" y="3088099"/>
                <a:ext cx="856716" cy="1026542"/>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grpSp>
            <p:nvGrpSpPr>
              <p:cNvPr id="238" name="Group 237">
                <a:extLst>
                  <a:ext uri="{FF2B5EF4-FFF2-40B4-BE49-F238E27FC236}">
                    <a16:creationId xmlns:a16="http://schemas.microsoft.com/office/drawing/2014/main" id="{044FC1D0-2FC0-142A-986D-1701070C5434}"/>
                  </a:ext>
                </a:extLst>
              </p:cNvPr>
              <p:cNvGrpSpPr/>
              <p:nvPr/>
            </p:nvGrpSpPr>
            <p:grpSpPr>
              <a:xfrm>
                <a:off x="1426397" y="4229594"/>
                <a:ext cx="338704" cy="335690"/>
                <a:chOff x="10557745" y="5096347"/>
                <a:chExt cx="369015" cy="369015"/>
              </a:xfrm>
            </p:grpSpPr>
            <p:sp>
              <p:nvSpPr>
                <p:cNvPr id="239" name="Oval 238">
                  <a:extLst>
                    <a:ext uri="{FF2B5EF4-FFF2-40B4-BE49-F238E27FC236}">
                      <a16:creationId xmlns:a16="http://schemas.microsoft.com/office/drawing/2014/main" id="{E2F8DA2C-3994-F7C2-D0AA-53DC5540FF3C}"/>
                    </a:ext>
                  </a:extLst>
                </p:cNvPr>
                <p:cNvSpPr/>
                <p:nvPr/>
              </p:nvSpPr>
              <p:spPr>
                <a:xfrm>
                  <a:off x="10557745" y="5096347"/>
                  <a:ext cx="369015" cy="369015"/>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240" name="Graphic 32">
                  <a:extLst>
                    <a:ext uri="{FF2B5EF4-FFF2-40B4-BE49-F238E27FC236}">
                      <a16:creationId xmlns:a16="http://schemas.microsoft.com/office/drawing/2014/main" id="{6A4201DF-883F-4DD4-B3BD-9757526BF6F5}"/>
                    </a:ext>
                  </a:extLst>
                </p:cNvPr>
                <p:cNvSpPr/>
                <p:nvPr/>
              </p:nvSpPr>
              <p:spPr>
                <a:xfrm>
                  <a:off x="10637822" y="5151069"/>
                  <a:ext cx="208860" cy="259570"/>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247" name="Rectangle 246">
                <a:extLst>
                  <a:ext uri="{FF2B5EF4-FFF2-40B4-BE49-F238E27FC236}">
                    <a16:creationId xmlns:a16="http://schemas.microsoft.com/office/drawing/2014/main" id="{CC23BE79-C466-A475-D402-180CD24347B8}"/>
                  </a:ext>
                </a:extLst>
              </p:cNvPr>
              <p:cNvSpPr/>
              <p:nvPr/>
            </p:nvSpPr>
            <p:spPr>
              <a:xfrm>
                <a:off x="823498" y="3911300"/>
                <a:ext cx="1544986" cy="15388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grpSp>
      </p:grpSp>
      <p:sp>
        <p:nvSpPr>
          <p:cNvPr id="248" name="Rectangle 247">
            <a:extLst>
              <a:ext uri="{FF2B5EF4-FFF2-40B4-BE49-F238E27FC236}">
                <a16:creationId xmlns:a16="http://schemas.microsoft.com/office/drawing/2014/main" id="{08452BCE-39E2-10CF-447A-80E81F5A1D3A}"/>
              </a:ext>
            </a:extLst>
          </p:cNvPr>
          <p:cNvSpPr/>
          <p:nvPr/>
        </p:nvSpPr>
        <p:spPr>
          <a:xfrm>
            <a:off x="2759125" y="4505640"/>
            <a:ext cx="1544584" cy="15384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grpSp>
        <p:nvGrpSpPr>
          <p:cNvPr id="74" name="Group 73">
            <a:extLst>
              <a:ext uri="{FF2B5EF4-FFF2-40B4-BE49-F238E27FC236}">
                <a16:creationId xmlns:a16="http://schemas.microsoft.com/office/drawing/2014/main" id="{C32DC7D5-6EED-8E5F-FAFC-30E8D7C43C6F}"/>
              </a:ext>
            </a:extLst>
          </p:cNvPr>
          <p:cNvGrpSpPr/>
          <p:nvPr/>
        </p:nvGrpSpPr>
        <p:grpSpPr>
          <a:xfrm>
            <a:off x="3826530" y="4823047"/>
            <a:ext cx="338616" cy="335603"/>
            <a:chOff x="10557745" y="5096347"/>
            <a:chExt cx="369015" cy="369015"/>
          </a:xfrm>
        </p:grpSpPr>
        <p:sp>
          <p:nvSpPr>
            <p:cNvPr id="75" name="Oval 74">
              <a:extLst>
                <a:ext uri="{FF2B5EF4-FFF2-40B4-BE49-F238E27FC236}">
                  <a16:creationId xmlns:a16="http://schemas.microsoft.com/office/drawing/2014/main" id="{F3155FFC-FAC4-326F-2094-96BC7A4D0E86}"/>
                </a:ext>
              </a:extLst>
            </p:cNvPr>
            <p:cNvSpPr/>
            <p:nvPr/>
          </p:nvSpPr>
          <p:spPr>
            <a:xfrm>
              <a:off x="10557745" y="5096347"/>
              <a:ext cx="369015" cy="369015"/>
            </a:xfrm>
            <a:prstGeom prst="ellipse">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algn="ctr" defTabSz="913304">
                <a:spcAft>
                  <a:spcPts val="600"/>
                </a:spcAft>
                <a:defRPr/>
              </a:pPr>
              <a:endParaRPr lang="en-US" sz="1200" dirty="0">
                <a:solidFill>
                  <a:srgbClr val="000001"/>
                </a:solidFill>
                <a:latin typeface="Arial" panose="020B0604020202020204" pitchFamily="34" charset="0"/>
              </a:endParaRPr>
            </a:p>
          </p:txBody>
        </p:sp>
        <p:sp>
          <p:nvSpPr>
            <p:cNvPr id="76" name="Graphic 32">
              <a:extLst>
                <a:ext uri="{FF2B5EF4-FFF2-40B4-BE49-F238E27FC236}">
                  <a16:creationId xmlns:a16="http://schemas.microsoft.com/office/drawing/2014/main" id="{1F522A21-DFE8-10DF-FAA2-5B68BE808CDC}"/>
                </a:ext>
              </a:extLst>
            </p:cNvPr>
            <p:cNvSpPr/>
            <p:nvPr/>
          </p:nvSpPr>
          <p:spPr>
            <a:xfrm>
              <a:off x="10637822" y="5151069"/>
              <a:ext cx="208860" cy="259570"/>
            </a:xfrm>
            <a:custGeom>
              <a:avLst/>
              <a:gdLst>
                <a:gd name="connsiteX0" fmla="*/ 449737 w 899474"/>
                <a:gd name="connsiteY0" fmla="*/ 0 h 1117872"/>
                <a:gd name="connsiteX1" fmla="*/ 0 w 899474"/>
                <a:gd name="connsiteY1" fmla="*/ 445121 h 1117872"/>
                <a:gd name="connsiteX2" fmla="*/ 106891 w 899474"/>
                <a:gd name="connsiteY2" fmla="*/ 732939 h 1117872"/>
                <a:gd name="connsiteX3" fmla="*/ 109877 w 899474"/>
                <a:gd name="connsiteY3" fmla="*/ 736559 h 1117872"/>
                <a:gd name="connsiteX4" fmla="*/ 449737 w 899474"/>
                <a:gd name="connsiteY4" fmla="*/ 1117872 h 1117872"/>
                <a:gd name="connsiteX5" fmla="*/ 789597 w 899474"/>
                <a:gd name="connsiteY5" fmla="*/ 736559 h 1117872"/>
                <a:gd name="connsiteX6" fmla="*/ 792584 w 899474"/>
                <a:gd name="connsiteY6" fmla="*/ 732939 h 1117872"/>
                <a:gd name="connsiteX7" fmla="*/ 899474 w 899474"/>
                <a:gd name="connsiteY7" fmla="*/ 445121 h 1117872"/>
                <a:gd name="connsiteX8" fmla="*/ 449737 w 899474"/>
                <a:gd name="connsiteY8" fmla="*/ 0 h 1117872"/>
                <a:gd name="connsiteX9" fmla="*/ 769957 w 899474"/>
                <a:gd name="connsiteY9" fmla="*/ 714204 h 1117872"/>
                <a:gd name="connsiteX10" fmla="*/ 767332 w 899474"/>
                <a:gd name="connsiteY10" fmla="*/ 717371 h 1117872"/>
                <a:gd name="connsiteX11" fmla="*/ 449737 w 899474"/>
                <a:gd name="connsiteY11" fmla="*/ 1073613 h 1117872"/>
                <a:gd name="connsiteX12" fmla="*/ 132233 w 899474"/>
                <a:gd name="connsiteY12" fmla="*/ 717371 h 1117872"/>
                <a:gd name="connsiteX13" fmla="*/ 129246 w 899474"/>
                <a:gd name="connsiteY13" fmla="*/ 713842 h 1117872"/>
                <a:gd name="connsiteX14" fmla="*/ 29415 w 899474"/>
                <a:gd name="connsiteY14" fmla="*/ 445121 h 1117872"/>
                <a:gd name="connsiteX15" fmla="*/ 449737 w 899474"/>
                <a:gd name="connsiteY15" fmla="*/ 29415 h 1117872"/>
                <a:gd name="connsiteX16" fmla="*/ 870059 w 899474"/>
                <a:gd name="connsiteY16" fmla="*/ 445121 h 1117872"/>
                <a:gd name="connsiteX17" fmla="*/ 769957 w 899474"/>
                <a:gd name="connsiteY17" fmla="*/ 714204 h 1117872"/>
                <a:gd name="connsiteX18" fmla="*/ 485217 w 899474"/>
                <a:gd name="connsiteY18" fmla="*/ 263380 h 1117872"/>
                <a:gd name="connsiteX19" fmla="*/ 295330 w 899474"/>
                <a:gd name="connsiteY19" fmla="*/ 263380 h 1117872"/>
                <a:gd name="connsiteX20" fmla="*/ 295330 w 899474"/>
                <a:gd name="connsiteY20" fmla="*/ 645236 h 1117872"/>
                <a:gd name="connsiteX21" fmla="*/ 265914 w 899474"/>
                <a:gd name="connsiteY21" fmla="*/ 645236 h 1117872"/>
                <a:gd name="connsiteX22" fmla="*/ 265914 w 899474"/>
                <a:gd name="connsiteY22" fmla="*/ 233965 h 1117872"/>
                <a:gd name="connsiteX23" fmla="*/ 514722 w 899474"/>
                <a:gd name="connsiteY23" fmla="*/ 233965 h 1117872"/>
                <a:gd name="connsiteX24" fmla="*/ 514722 w 899474"/>
                <a:gd name="connsiteY24" fmla="*/ 402854 h 1117872"/>
                <a:gd name="connsiteX25" fmla="*/ 485307 w 899474"/>
                <a:gd name="connsiteY25" fmla="*/ 402854 h 1117872"/>
                <a:gd name="connsiteX26" fmla="*/ 485307 w 899474"/>
                <a:gd name="connsiteY26" fmla="*/ 263380 h 1117872"/>
                <a:gd name="connsiteX27" fmla="*/ 424938 w 899474"/>
                <a:gd name="connsiteY27" fmla="*/ 432179 h 1117872"/>
                <a:gd name="connsiteX28" fmla="*/ 633741 w 899474"/>
                <a:gd name="connsiteY28" fmla="*/ 432179 h 1117872"/>
                <a:gd name="connsiteX29" fmla="*/ 633741 w 899474"/>
                <a:gd name="connsiteY29" fmla="*/ 645146 h 1117872"/>
                <a:gd name="connsiteX30" fmla="*/ 604326 w 899474"/>
                <a:gd name="connsiteY30" fmla="*/ 645146 h 1117872"/>
                <a:gd name="connsiteX31" fmla="*/ 604326 w 899474"/>
                <a:gd name="connsiteY31" fmla="*/ 461594 h 1117872"/>
                <a:gd name="connsiteX32" fmla="*/ 454353 w 899474"/>
                <a:gd name="connsiteY32" fmla="*/ 461594 h 1117872"/>
                <a:gd name="connsiteX33" fmla="*/ 454353 w 899474"/>
                <a:gd name="connsiteY33" fmla="*/ 645146 h 1117872"/>
                <a:gd name="connsiteX34" fmla="*/ 424938 w 899474"/>
                <a:gd name="connsiteY34" fmla="*/ 645146 h 1117872"/>
                <a:gd name="connsiteX35" fmla="*/ 424938 w 899474"/>
                <a:gd name="connsiteY35" fmla="*/ 432179 h 111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99474" h="1117872">
                  <a:moveTo>
                    <a:pt x="449737" y="0"/>
                  </a:moveTo>
                  <a:cubicBezTo>
                    <a:pt x="201382" y="0"/>
                    <a:pt x="0" y="199300"/>
                    <a:pt x="0" y="445121"/>
                  </a:cubicBezTo>
                  <a:cubicBezTo>
                    <a:pt x="0" y="554818"/>
                    <a:pt x="40186" y="655101"/>
                    <a:pt x="106891" y="732939"/>
                  </a:cubicBezTo>
                  <a:lnTo>
                    <a:pt x="109877" y="736559"/>
                  </a:lnTo>
                  <a:lnTo>
                    <a:pt x="449737" y="1117872"/>
                  </a:lnTo>
                  <a:lnTo>
                    <a:pt x="789597" y="736559"/>
                  </a:lnTo>
                  <a:lnTo>
                    <a:pt x="792584" y="732939"/>
                  </a:lnTo>
                  <a:cubicBezTo>
                    <a:pt x="859379" y="655101"/>
                    <a:pt x="899474" y="554818"/>
                    <a:pt x="899474" y="445121"/>
                  </a:cubicBezTo>
                  <a:cubicBezTo>
                    <a:pt x="899565" y="199300"/>
                    <a:pt x="698183" y="0"/>
                    <a:pt x="449737" y="0"/>
                  </a:cubicBezTo>
                  <a:close/>
                  <a:moveTo>
                    <a:pt x="769957" y="714204"/>
                  </a:moveTo>
                  <a:lnTo>
                    <a:pt x="767332" y="717371"/>
                  </a:lnTo>
                  <a:lnTo>
                    <a:pt x="449737" y="1073613"/>
                  </a:lnTo>
                  <a:lnTo>
                    <a:pt x="132233" y="717371"/>
                  </a:lnTo>
                  <a:lnTo>
                    <a:pt x="129246" y="713842"/>
                  </a:lnTo>
                  <a:cubicBezTo>
                    <a:pt x="64895" y="638719"/>
                    <a:pt x="29415" y="543323"/>
                    <a:pt x="29415" y="445121"/>
                  </a:cubicBezTo>
                  <a:cubicBezTo>
                    <a:pt x="29415" y="215954"/>
                    <a:pt x="218035" y="29415"/>
                    <a:pt x="449737" y="29415"/>
                  </a:cubicBezTo>
                  <a:cubicBezTo>
                    <a:pt x="681530" y="29415"/>
                    <a:pt x="870059" y="215863"/>
                    <a:pt x="870059" y="445121"/>
                  </a:cubicBezTo>
                  <a:cubicBezTo>
                    <a:pt x="870150" y="543323"/>
                    <a:pt x="834670" y="638719"/>
                    <a:pt x="769957" y="714204"/>
                  </a:cubicBezTo>
                  <a:close/>
                  <a:moveTo>
                    <a:pt x="485217" y="263380"/>
                  </a:moveTo>
                  <a:lnTo>
                    <a:pt x="295330" y="263380"/>
                  </a:lnTo>
                  <a:lnTo>
                    <a:pt x="295330" y="645236"/>
                  </a:lnTo>
                  <a:lnTo>
                    <a:pt x="265914" y="645236"/>
                  </a:lnTo>
                  <a:lnTo>
                    <a:pt x="265914" y="233965"/>
                  </a:lnTo>
                  <a:lnTo>
                    <a:pt x="514722" y="233965"/>
                  </a:lnTo>
                  <a:lnTo>
                    <a:pt x="514722" y="402854"/>
                  </a:lnTo>
                  <a:lnTo>
                    <a:pt x="485307" y="402854"/>
                  </a:lnTo>
                  <a:lnTo>
                    <a:pt x="485307" y="263380"/>
                  </a:lnTo>
                  <a:close/>
                  <a:moveTo>
                    <a:pt x="424938" y="432179"/>
                  </a:moveTo>
                  <a:lnTo>
                    <a:pt x="633741" y="432179"/>
                  </a:lnTo>
                  <a:lnTo>
                    <a:pt x="633741" y="645146"/>
                  </a:lnTo>
                  <a:lnTo>
                    <a:pt x="604326" y="645146"/>
                  </a:lnTo>
                  <a:lnTo>
                    <a:pt x="604326" y="461594"/>
                  </a:lnTo>
                  <a:lnTo>
                    <a:pt x="454353" y="461594"/>
                  </a:lnTo>
                  <a:lnTo>
                    <a:pt x="454353" y="645146"/>
                  </a:lnTo>
                  <a:lnTo>
                    <a:pt x="424938" y="645146"/>
                  </a:lnTo>
                  <a:lnTo>
                    <a:pt x="424938" y="432179"/>
                  </a:lnTo>
                  <a:close/>
                </a:path>
              </a:pathLst>
            </a:custGeom>
            <a:solidFill>
              <a:schemeClr val="tx1"/>
            </a:solidFill>
            <a:ln w="904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252" name="TextBox 251">
            <a:extLst>
              <a:ext uri="{FF2B5EF4-FFF2-40B4-BE49-F238E27FC236}">
                <a16:creationId xmlns:a16="http://schemas.microsoft.com/office/drawing/2014/main" id="{DC498DCC-4A54-D465-139C-6CF024800278}"/>
              </a:ext>
            </a:extLst>
          </p:cNvPr>
          <p:cNvSpPr txBox="1"/>
          <p:nvPr/>
        </p:nvSpPr>
        <p:spPr>
          <a:xfrm>
            <a:off x="2901024" y="4979995"/>
            <a:ext cx="2227769" cy="707061"/>
          </a:xfrm>
          <a:prstGeom prst="rect">
            <a:avLst/>
          </a:prstGeom>
        </p:spPr>
        <p:txBody>
          <a:bodyPr wrap="square" lIns="0" tIns="0" rIns="0" bIns="0" rtlCol="0">
            <a:spAutoFit/>
          </a:bodyPr>
          <a:lstStyle/>
          <a:p>
            <a:pPr algn="ctr" defTabSz="913578">
              <a:lnSpc>
                <a:spcPct val="150000"/>
              </a:lnSpc>
              <a:spcAft>
                <a:spcPts val="600"/>
              </a:spcAft>
              <a:buClr>
                <a:srgbClr val="F2F2F2">
                  <a:lumMod val="50000"/>
                </a:srgbClr>
              </a:buClr>
              <a:defRPr/>
            </a:pP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Central VCF DC Site</a:t>
            </a:r>
            <a:br>
              <a:rPr lang="en-US" sz="1000" dirty="0">
                <a:solidFill>
                  <a:srgbClr val="1B1E35"/>
                </a:solidFill>
                <a:latin typeface="Arial" panose="020B0604020202020204" pitchFamily="34" charset="0"/>
              </a:rPr>
            </a:br>
            <a:endParaRPr lang="en-US" sz="1200" dirty="0">
              <a:solidFill>
                <a:srgbClr val="1B1E35"/>
              </a:solidFill>
              <a:latin typeface="Arial" panose="020B0604020202020204" pitchFamily="34" charset="0"/>
            </a:endParaRPr>
          </a:p>
        </p:txBody>
      </p:sp>
      <p:sp>
        <p:nvSpPr>
          <p:cNvPr id="258" name="TextBox 257">
            <a:extLst>
              <a:ext uri="{FF2B5EF4-FFF2-40B4-BE49-F238E27FC236}">
                <a16:creationId xmlns:a16="http://schemas.microsoft.com/office/drawing/2014/main" id="{31B8130F-2C32-6927-A847-1B0C78F4789E}"/>
              </a:ext>
            </a:extLst>
          </p:cNvPr>
          <p:cNvSpPr txBox="1"/>
          <p:nvPr/>
        </p:nvSpPr>
        <p:spPr>
          <a:xfrm>
            <a:off x="5312603" y="4991427"/>
            <a:ext cx="2889148" cy="1165784"/>
          </a:xfrm>
          <a:prstGeom prst="rect">
            <a:avLst/>
          </a:prstGeom>
        </p:spPr>
        <p:txBody>
          <a:bodyPr wrap="square" lIns="0" tIns="0" rIns="0" bIns="0" rtlCol="0">
            <a:spAutoFit/>
          </a:bodyPr>
          <a:lstStyle/>
          <a:p>
            <a:pPr defTabSz="913578">
              <a:lnSpc>
                <a:spcPct val="150000"/>
              </a:lnSpc>
              <a:spcAft>
                <a:spcPts val="600"/>
              </a:spcAft>
              <a:buClr>
                <a:srgbClr val="F2F2F2">
                  <a:lumMod val="50000"/>
                </a:srgbClr>
              </a:buClr>
              <a:defRPr/>
            </a:pPr>
            <a:br>
              <a:rPr lang="en-US" sz="1000" dirty="0">
                <a:solidFill>
                  <a:srgbClr val="1B1E35"/>
                </a:solidFill>
                <a:latin typeface="Arial" panose="020B0604020202020204" pitchFamily="34" charset="0"/>
              </a:rPr>
            </a:br>
            <a:r>
              <a:rPr lang="en-US" sz="1000" b="1" dirty="0">
                <a:solidFill>
                  <a:schemeClr val="accent2"/>
                </a:solidFill>
                <a:latin typeface="Arial" panose="020B0604020202020204" pitchFamily="34" charset="0"/>
              </a:rPr>
              <a:t>Remote Cluster Example</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Workload Domain: Per site or across sites</a:t>
            </a:r>
            <a:br>
              <a:rPr lang="en-US" sz="1000" dirty="0">
                <a:solidFill>
                  <a:srgbClr val="1B1E35"/>
                </a:solidFill>
                <a:latin typeface="Arial" panose="020B0604020202020204" pitchFamily="34" charset="0"/>
              </a:rPr>
            </a:br>
            <a:r>
              <a:rPr lang="en-US" sz="1000" dirty="0">
                <a:solidFill>
                  <a:srgbClr val="1B1E35"/>
                </a:solidFill>
                <a:latin typeface="Arial" panose="020B0604020202020204" pitchFamily="34" charset="0"/>
              </a:rPr>
              <a:t>Clusters: Multiple per domain</a:t>
            </a:r>
            <a:br>
              <a:rPr lang="en-US" sz="1000" dirty="0">
                <a:solidFill>
                  <a:srgbClr val="1B1E35"/>
                </a:solidFill>
                <a:latin typeface="Arial" panose="020B0604020202020204" pitchFamily="34" charset="0"/>
              </a:rPr>
            </a:br>
            <a:endParaRPr lang="en-US" sz="1200" dirty="0">
              <a:solidFill>
                <a:srgbClr val="1B1E35"/>
              </a:solidFill>
              <a:latin typeface="Arial" panose="020B0604020202020204" pitchFamily="34" charset="0"/>
            </a:endParaRPr>
          </a:p>
        </p:txBody>
      </p:sp>
      <p:sp>
        <p:nvSpPr>
          <p:cNvPr id="65" name="Rectangle 64">
            <a:extLst>
              <a:ext uri="{FF2B5EF4-FFF2-40B4-BE49-F238E27FC236}">
                <a16:creationId xmlns:a16="http://schemas.microsoft.com/office/drawing/2014/main" id="{62F89B87-8828-779B-B573-517F1FC93AE3}"/>
              </a:ext>
            </a:extLst>
          </p:cNvPr>
          <p:cNvSpPr/>
          <p:nvPr/>
        </p:nvSpPr>
        <p:spPr>
          <a:xfrm>
            <a:off x="3101256" y="2619546"/>
            <a:ext cx="1818335" cy="464347"/>
          </a:xfrm>
          <a:prstGeom prst="rect">
            <a:avLst/>
          </a:prstGeom>
          <a:solidFill>
            <a:schemeClr val="bg1"/>
          </a:solidFill>
          <a:ln w="254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algn="ctr">
              <a:spcAft>
                <a:spcPts val="600"/>
              </a:spcAft>
              <a:defRPr/>
            </a:pPr>
            <a:r>
              <a:rPr lang="en-US" sz="1200" dirty="0">
                <a:solidFill>
                  <a:srgbClr val="000001"/>
                </a:solidFill>
                <a:latin typeface="Arial" panose="020B0604020202020204" pitchFamily="34" charset="0"/>
              </a:rPr>
              <a:t>SDDC Manager</a:t>
            </a:r>
          </a:p>
        </p:txBody>
      </p:sp>
      <p:sp>
        <p:nvSpPr>
          <p:cNvPr id="69" name="Rectangle: Rounded Corners 122">
            <a:extLst>
              <a:ext uri="{FF2B5EF4-FFF2-40B4-BE49-F238E27FC236}">
                <a16:creationId xmlns:a16="http://schemas.microsoft.com/office/drawing/2014/main" id="{0C091F68-5D89-FFFC-FC41-1B9164B8679A}"/>
              </a:ext>
            </a:extLst>
          </p:cNvPr>
          <p:cNvSpPr/>
          <p:nvPr/>
        </p:nvSpPr>
        <p:spPr>
          <a:xfrm>
            <a:off x="3022542" y="3306640"/>
            <a:ext cx="1969669" cy="1489055"/>
          </a:xfrm>
          <a:prstGeom prst="roundRect">
            <a:avLst>
              <a:gd name="adj" fmla="val 6821"/>
            </a:avLst>
          </a:prstGeom>
          <a:solidFill>
            <a:srgbClr val="F4F8FA"/>
          </a:solid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grpSp>
        <p:nvGrpSpPr>
          <p:cNvPr id="81" name="Group 80">
            <a:extLst>
              <a:ext uri="{FF2B5EF4-FFF2-40B4-BE49-F238E27FC236}">
                <a16:creationId xmlns:a16="http://schemas.microsoft.com/office/drawing/2014/main" id="{21D20C7D-E69F-2DD8-41A3-1D0FAF5F1553}"/>
              </a:ext>
            </a:extLst>
          </p:cNvPr>
          <p:cNvGrpSpPr/>
          <p:nvPr/>
        </p:nvGrpSpPr>
        <p:grpSpPr>
          <a:xfrm>
            <a:off x="3177518" y="3753563"/>
            <a:ext cx="711820" cy="666392"/>
            <a:chOff x="928971" y="4196892"/>
            <a:chExt cx="385619" cy="361009"/>
          </a:xfrm>
          <a:solidFill>
            <a:schemeClr val="accent2"/>
          </a:solidFill>
        </p:grpSpPr>
        <p:sp>
          <p:nvSpPr>
            <p:cNvPr id="88" name="Graphic 47">
              <a:extLst>
                <a:ext uri="{FF2B5EF4-FFF2-40B4-BE49-F238E27FC236}">
                  <a16:creationId xmlns:a16="http://schemas.microsoft.com/office/drawing/2014/main" id="{BF635F45-2A9A-6769-1814-EAB05B791115}"/>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89" name="Graphic 47">
              <a:extLst>
                <a:ext uri="{FF2B5EF4-FFF2-40B4-BE49-F238E27FC236}">
                  <a16:creationId xmlns:a16="http://schemas.microsoft.com/office/drawing/2014/main" id="{34885672-4F2F-096E-695B-1D6013E60484}"/>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90" name="Graphic 47">
              <a:extLst>
                <a:ext uri="{FF2B5EF4-FFF2-40B4-BE49-F238E27FC236}">
                  <a16:creationId xmlns:a16="http://schemas.microsoft.com/office/drawing/2014/main" id="{5A746AD9-70B6-2E81-FEAB-0F6C11FBE002}"/>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70" name="Rectangle 69">
            <a:extLst>
              <a:ext uri="{FF2B5EF4-FFF2-40B4-BE49-F238E27FC236}">
                <a16:creationId xmlns:a16="http://schemas.microsoft.com/office/drawing/2014/main" id="{42441751-7680-A58A-3D42-DD3BEB391A13}"/>
              </a:ext>
            </a:extLst>
          </p:cNvPr>
          <p:cNvSpPr/>
          <p:nvPr/>
        </p:nvSpPr>
        <p:spPr>
          <a:xfrm>
            <a:off x="3296352" y="3362240"/>
            <a:ext cx="1428820" cy="184618"/>
          </a:xfrm>
          <a:prstGeom prst="rect">
            <a:avLst/>
          </a:prstGeom>
        </p:spPr>
        <p:txBody>
          <a:bodyPr wrap="square" lIns="0" tIns="0" rIns="0" bIns="0">
            <a:spAutoFit/>
          </a:bodyPr>
          <a:lstStyle/>
          <a:p>
            <a:pPr algn="ctr" defTabSz="912208">
              <a:defRPr/>
            </a:pPr>
            <a:r>
              <a:rPr lang="en-US" sz="1200" kern="0" dirty="0">
                <a:solidFill>
                  <a:srgbClr val="000001"/>
                </a:solidFill>
                <a:latin typeface="Arial" panose="020B0604020202020204" pitchFamily="34" charset="0"/>
              </a:rPr>
              <a:t>Workload Domain</a:t>
            </a:r>
          </a:p>
        </p:txBody>
      </p:sp>
      <p:sp>
        <p:nvSpPr>
          <p:cNvPr id="125" name="Rectangle: Rounded Corners 122">
            <a:extLst>
              <a:ext uri="{FF2B5EF4-FFF2-40B4-BE49-F238E27FC236}">
                <a16:creationId xmlns:a16="http://schemas.microsoft.com/office/drawing/2014/main" id="{89DE4025-B02F-B04D-9E40-3C34C41759EC}"/>
              </a:ext>
            </a:extLst>
          </p:cNvPr>
          <p:cNvSpPr/>
          <p:nvPr/>
        </p:nvSpPr>
        <p:spPr>
          <a:xfrm>
            <a:off x="3103156" y="3675543"/>
            <a:ext cx="860133" cy="1045925"/>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grpSp>
        <p:nvGrpSpPr>
          <p:cNvPr id="126" name="Group 125">
            <a:extLst>
              <a:ext uri="{FF2B5EF4-FFF2-40B4-BE49-F238E27FC236}">
                <a16:creationId xmlns:a16="http://schemas.microsoft.com/office/drawing/2014/main" id="{9D0BB13E-CD9D-5EDD-920A-1297B24C8F35}"/>
              </a:ext>
            </a:extLst>
          </p:cNvPr>
          <p:cNvGrpSpPr/>
          <p:nvPr/>
        </p:nvGrpSpPr>
        <p:grpSpPr>
          <a:xfrm>
            <a:off x="4120021" y="3753563"/>
            <a:ext cx="711820" cy="666392"/>
            <a:chOff x="928971" y="4196892"/>
            <a:chExt cx="385619" cy="361009"/>
          </a:xfrm>
          <a:solidFill>
            <a:schemeClr val="accent2"/>
          </a:solidFill>
        </p:grpSpPr>
        <p:sp>
          <p:nvSpPr>
            <p:cNvPr id="128" name="Graphic 47">
              <a:extLst>
                <a:ext uri="{FF2B5EF4-FFF2-40B4-BE49-F238E27FC236}">
                  <a16:creationId xmlns:a16="http://schemas.microsoft.com/office/drawing/2014/main" id="{3ACD5410-D69B-F69E-D794-9BDC627E072F}"/>
                </a:ext>
              </a:extLst>
            </p:cNvPr>
            <p:cNvSpPr/>
            <p:nvPr/>
          </p:nvSpPr>
          <p:spPr>
            <a:xfrm>
              <a:off x="928971" y="445642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29" name="Graphic 47">
              <a:extLst>
                <a:ext uri="{FF2B5EF4-FFF2-40B4-BE49-F238E27FC236}">
                  <a16:creationId xmlns:a16="http://schemas.microsoft.com/office/drawing/2014/main" id="{8A619D12-167F-F6E5-9148-03F24D1AE0DA}"/>
                </a:ext>
              </a:extLst>
            </p:cNvPr>
            <p:cNvSpPr/>
            <p:nvPr/>
          </p:nvSpPr>
          <p:spPr>
            <a:xfrm>
              <a:off x="928971" y="4326657"/>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sp>
          <p:nvSpPr>
            <p:cNvPr id="130" name="Graphic 47">
              <a:extLst>
                <a:ext uri="{FF2B5EF4-FFF2-40B4-BE49-F238E27FC236}">
                  <a16:creationId xmlns:a16="http://schemas.microsoft.com/office/drawing/2014/main" id="{79255606-4DB4-B292-CBF3-E26F64B92E07}"/>
                </a:ext>
              </a:extLst>
            </p:cNvPr>
            <p:cNvSpPr/>
            <p:nvPr/>
          </p:nvSpPr>
          <p:spPr>
            <a:xfrm>
              <a:off x="928971" y="4196892"/>
              <a:ext cx="385619" cy="101479"/>
            </a:xfrm>
            <a:custGeom>
              <a:avLst/>
              <a:gdLst>
                <a:gd name="connsiteX0" fmla="*/ 1270658 w 1305216"/>
                <a:gd name="connsiteY0" fmla="*/ 34348 h 343477"/>
                <a:gd name="connsiteX1" fmla="*/ 1269072 w 1305216"/>
                <a:gd name="connsiteY1" fmla="*/ 309130 h 343477"/>
                <a:gd name="connsiteX2" fmla="*/ 34559 w 1305216"/>
                <a:gd name="connsiteY2" fmla="*/ 309130 h 343477"/>
                <a:gd name="connsiteX3" fmla="*/ 36144 w 1305216"/>
                <a:gd name="connsiteY3" fmla="*/ 34348 h 343477"/>
                <a:gd name="connsiteX4" fmla="*/ 1270658 w 1305216"/>
                <a:gd name="connsiteY4" fmla="*/ 34348 h 343477"/>
                <a:gd name="connsiteX5" fmla="*/ 1305217 w 1305216"/>
                <a:gd name="connsiteY5" fmla="*/ 0 h 343477"/>
                <a:gd name="connsiteX6" fmla="*/ 2008 w 1305216"/>
                <a:gd name="connsiteY6" fmla="*/ 0 h 343477"/>
                <a:gd name="connsiteX7" fmla="*/ 0 w 1305216"/>
                <a:gd name="connsiteY7" fmla="*/ 343478 h 343477"/>
                <a:gd name="connsiteX8" fmla="*/ 1303209 w 1305216"/>
                <a:gd name="connsiteY8" fmla="*/ 343478 h 343477"/>
                <a:gd name="connsiteX9" fmla="*/ 1305217 w 1305216"/>
                <a:gd name="connsiteY9" fmla="*/ 0 h 343477"/>
                <a:gd name="connsiteX10" fmla="*/ 1305217 w 1305216"/>
                <a:gd name="connsiteY10" fmla="*/ 0 h 343477"/>
                <a:gd name="connsiteX11" fmla="*/ 1193190 w 1305216"/>
                <a:gd name="connsiteY11" fmla="*/ 103043 h 343477"/>
                <a:gd name="connsiteX12" fmla="*/ 1158842 w 1305216"/>
                <a:gd name="connsiteY12" fmla="*/ 103043 h 343477"/>
                <a:gd name="connsiteX13" fmla="*/ 1158842 w 1305216"/>
                <a:gd name="connsiteY13" fmla="*/ 240434 h 343477"/>
                <a:gd name="connsiteX14" fmla="*/ 1193190 w 1305216"/>
                <a:gd name="connsiteY14" fmla="*/ 240434 h 343477"/>
                <a:gd name="connsiteX15" fmla="*/ 1193190 w 1305216"/>
                <a:gd name="connsiteY15" fmla="*/ 103043 h 343477"/>
                <a:gd name="connsiteX16" fmla="*/ 1124494 w 1305216"/>
                <a:gd name="connsiteY16" fmla="*/ 103043 h 343477"/>
                <a:gd name="connsiteX17" fmla="*/ 1090147 w 1305216"/>
                <a:gd name="connsiteY17" fmla="*/ 103043 h 343477"/>
                <a:gd name="connsiteX18" fmla="*/ 1090147 w 1305216"/>
                <a:gd name="connsiteY18" fmla="*/ 240434 h 343477"/>
                <a:gd name="connsiteX19" fmla="*/ 1124494 w 1305216"/>
                <a:gd name="connsiteY19" fmla="*/ 240434 h 343477"/>
                <a:gd name="connsiteX20" fmla="*/ 1124494 w 1305216"/>
                <a:gd name="connsiteY20" fmla="*/ 103043 h 343477"/>
                <a:gd name="connsiteX21" fmla="*/ 1055799 w 1305216"/>
                <a:gd name="connsiteY21" fmla="*/ 103043 h 343477"/>
                <a:gd name="connsiteX22" fmla="*/ 1021451 w 1305216"/>
                <a:gd name="connsiteY22" fmla="*/ 103043 h 343477"/>
                <a:gd name="connsiteX23" fmla="*/ 1021451 w 1305216"/>
                <a:gd name="connsiteY23" fmla="*/ 240434 h 343477"/>
                <a:gd name="connsiteX24" fmla="*/ 1055799 w 1305216"/>
                <a:gd name="connsiteY24" fmla="*/ 240434 h 343477"/>
                <a:gd name="connsiteX25" fmla="*/ 1055799 w 1305216"/>
                <a:gd name="connsiteY25" fmla="*/ 103043 h 343477"/>
                <a:gd name="connsiteX26" fmla="*/ 987103 w 1305216"/>
                <a:gd name="connsiteY26" fmla="*/ 103043 h 343477"/>
                <a:gd name="connsiteX27" fmla="*/ 952755 w 1305216"/>
                <a:gd name="connsiteY27" fmla="*/ 103043 h 343477"/>
                <a:gd name="connsiteX28" fmla="*/ 952755 w 1305216"/>
                <a:gd name="connsiteY28" fmla="*/ 240434 h 343477"/>
                <a:gd name="connsiteX29" fmla="*/ 987103 w 1305216"/>
                <a:gd name="connsiteY29" fmla="*/ 240434 h 343477"/>
                <a:gd name="connsiteX30" fmla="*/ 987103 w 1305216"/>
                <a:gd name="connsiteY30" fmla="*/ 103043 h 343477"/>
                <a:gd name="connsiteX31" fmla="*/ 170154 w 1305216"/>
                <a:gd name="connsiteY31" fmla="*/ 137814 h 343477"/>
                <a:gd name="connsiteX32" fmla="*/ 135806 w 1305216"/>
                <a:gd name="connsiteY32" fmla="*/ 172162 h 343477"/>
                <a:gd name="connsiteX33" fmla="*/ 170154 w 1305216"/>
                <a:gd name="connsiteY33" fmla="*/ 206509 h 343477"/>
                <a:gd name="connsiteX34" fmla="*/ 204502 w 1305216"/>
                <a:gd name="connsiteY34" fmla="*/ 172162 h 343477"/>
                <a:gd name="connsiteX35" fmla="*/ 170154 w 1305216"/>
                <a:gd name="connsiteY35" fmla="*/ 137814 h 343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05216" h="343477">
                  <a:moveTo>
                    <a:pt x="1270658" y="34348"/>
                  </a:moveTo>
                  <a:lnTo>
                    <a:pt x="1269072" y="309130"/>
                  </a:lnTo>
                  <a:lnTo>
                    <a:pt x="34559" y="309130"/>
                  </a:lnTo>
                  <a:lnTo>
                    <a:pt x="36144" y="34348"/>
                  </a:lnTo>
                  <a:lnTo>
                    <a:pt x="1270658" y="34348"/>
                  </a:lnTo>
                  <a:moveTo>
                    <a:pt x="1305217" y="0"/>
                  </a:moveTo>
                  <a:lnTo>
                    <a:pt x="2008" y="0"/>
                  </a:lnTo>
                  <a:lnTo>
                    <a:pt x="0" y="343478"/>
                  </a:lnTo>
                  <a:lnTo>
                    <a:pt x="1303209" y="343478"/>
                  </a:lnTo>
                  <a:lnTo>
                    <a:pt x="1305217" y="0"/>
                  </a:lnTo>
                  <a:lnTo>
                    <a:pt x="1305217" y="0"/>
                  </a:lnTo>
                  <a:close/>
                  <a:moveTo>
                    <a:pt x="1193190" y="103043"/>
                  </a:moveTo>
                  <a:lnTo>
                    <a:pt x="1158842" y="103043"/>
                  </a:lnTo>
                  <a:lnTo>
                    <a:pt x="1158842" y="240434"/>
                  </a:lnTo>
                  <a:lnTo>
                    <a:pt x="1193190" y="240434"/>
                  </a:lnTo>
                  <a:lnTo>
                    <a:pt x="1193190" y="103043"/>
                  </a:lnTo>
                  <a:close/>
                  <a:moveTo>
                    <a:pt x="1124494" y="103043"/>
                  </a:moveTo>
                  <a:lnTo>
                    <a:pt x="1090147" y="103043"/>
                  </a:lnTo>
                  <a:lnTo>
                    <a:pt x="1090147" y="240434"/>
                  </a:lnTo>
                  <a:lnTo>
                    <a:pt x="1124494" y="240434"/>
                  </a:lnTo>
                  <a:lnTo>
                    <a:pt x="1124494" y="103043"/>
                  </a:lnTo>
                  <a:close/>
                  <a:moveTo>
                    <a:pt x="1055799" y="103043"/>
                  </a:moveTo>
                  <a:lnTo>
                    <a:pt x="1021451" y="103043"/>
                  </a:lnTo>
                  <a:lnTo>
                    <a:pt x="1021451" y="240434"/>
                  </a:lnTo>
                  <a:lnTo>
                    <a:pt x="1055799" y="240434"/>
                  </a:lnTo>
                  <a:lnTo>
                    <a:pt x="1055799" y="103043"/>
                  </a:lnTo>
                  <a:close/>
                  <a:moveTo>
                    <a:pt x="987103" y="103043"/>
                  </a:moveTo>
                  <a:lnTo>
                    <a:pt x="952755" y="103043"/>
                  </a:lnTo>
                  <a:lnTo>
                    <a:pt x="952755" y="240434"/>
                  </a:lnTo>
                  <a:lnTo>
                    <a:pt x="987103" y="240434"/>
                  </a:lnTo>
                  <a:lnTo>
                    <a:pt x="987103" y="103043"/>
                  </a:lnTo>
                  <a:close/>
                  <a:moveTo>
                    <a:pt x="170154" y="137814"/>
                  </a:moveTo>
                  <a:cubicBezTo>
                    <a:pt x="151236" y="137814"/>
                    <a:pt x="135806" y="153244"/>
                    <a:pt x="135806" y="172162"/>
                  </a:cubicBezTo>
                  <a:cubicBezTo>
                    <a:pt x="135806" y="191079"/>
                    <a:pt x="151236" y="206509"/>
                    <a:pt x="170154" y="206509"/>
                  </a:cubicBezTo>
                  <a:cubicBezTo>
                    <a:pt x="189071" y="206509"/>
                    <a:pt x="204502" y="191079"/>
                    <a:pt x="204502" y="172162"/>
                  </a:cubicBezTo>
                  <a:cubicBezTo>
                    <a:pt x="204502" y="153244"/>
                    <a:pt x="189177" y="137814"/>
                    <a:pt x="170154" y="137814"/>
                  </a:cubicBezTo>
                  <a:close/>
                </a:path>
              </a:pathLst>
            </a:custGeom>
            <a:grpFill/>
            <a:ln w="10524" cap="flat">
              <a:noFill/>
              <a:prstDash val="solid"/>
              <a:miter/>
            </a:ln>
          </p:spPr>
          <p:txBody>
            <a:bodyPr tIns="0" rtlCol="0" anchor="ctr"/>
            <a:lstStyle/>
            <a:p>
              <a:pPr defTabSz="913304">
                <a:defRPr/>
              </a:pPr>
              <a:endParaRPr lang="en-US" sz="1796" dirty="0">
                <a:solidFill>
                  <a:srgbClr val="000001"/>
                </a:solidFill>
                <a:latin typeface="Arial" panose="020B0604020202020204" pitchFamily="34" charset="0"/>
              </a:endParaRPr>
            </a:p>
          </p:txBody>
        </p:sp>
      </p:grpSp>
      <p:sp>
        <p:nvSpPr>
          <p:cNvPr id="131" name="Rectangle: Rounded Corners 122">
            <a:extLst>
              <a:ext uri="{FF2B5EF4-FFF2-40B4-BE49-F238E27FC236}">
                <a16:creationId xmlns:a16="http://schemas.microsoft.com/office/drawing/2014/main" id="{F139702D-C85F-72C4-8D5D-4681173CB203}"/>
              </a:ext>
            </a:extLst>
          </p:cNvPr>
          <p:cNvSpPr/>
          <p:nvPr/>
        </p:nvSpPr>
        <p:spPr>
          <a:xfrm>
            <a:off x="4045658" y="3675543"/>
            <a:ext cx="860133" cy="1045925"/>
          </a:xfrm>
          <a:prstGeom prst="roundRect">
            <a:avLst>
              <a:gd name="adj" fmla="val 0"/>
            </a:avLst>
          </a:prstGeom>
          <a:noFill/>
          <a:ln w="25400">
            <a:solidFill>
              <a:schemeClr val="accent2"/>
            </a:solidFill>
            <a:prstDash val="solid"/>
            <a:miter lim="800000"/>
          </a:ln>
          <a:effectLst/>
        </p:spPr>
        <p:style>
          <a:lnRef idx="1">
            <a:schemeClr val="accent1"/>
          </a:lnRef>
          <a:fillRef idx="3">
            <a:schemeClr val="accent1"/>
          </a:fillRef>
          <a:effectRef idx="2">
            <a:schemeClr val="accent1"/>
          </a:effectRef>
          <a:fontRef idx="minor">
            <a:schemeClr val="lt1"/>
          </a:fontRef>
        </p:style>
        <p:txBody>
          <a:bodyPr lIns="121658" tIns="60828" rIns="121658" bIns="60828" rtlCol="0" anchor="ctr"/>
          <a:lstStyle/>
          <a:p>
            <a:pPr algn="ctr" defTabSz="913304">
              <a:defRPr/>
            </a:pPr>
            <a:endParaRPr lang="en-US" sz="667" dirty="0">
              <a:solidFill>
                <a:srgbClr val="000001"/>
              </a:solidFill>
              <a:latin typeface="Arial" panose="020B0604020202020204" pitchFamily="34" charset="0"/>
            </a:endParaRPr>
          </a:p>
        </p:txBody>
      </p:sp>
      <p:sp>
        <p:nvSpPr>
          <p:cNvPr id="249" name="Rectangle 248">
            <a:extLst>
              <a:ext uri="{FF2B5EF4-FFF2-40B4-BE49-F238E27FC236}">
                <a16:creationId xmlns:a16="http://schemas.microsoft.com/office/drawing/2014/main" id="{8735A1BE-25DF-1FBC-2A4C-C6F1D1FAC461}"/>
              </a:ext>
            </a:extLst>
          </p:cNvPr>
          <p:cNvSpPr/>
          <p:nvPr/>
        </p:nvSpPr>
        <p:spPr>
          <a:xfrm>
            <a:off x="3705333" y="4503283"/>
            <a:ext cx="1544584" cy="15384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255" name="Rectangle 254">
            <a:extLst>
              <a:ext uri="{FF2B5EF4-FFF2-40B4-BE49-F238E27FC236}">
                <a16:creationId xmlns:a16="http://schemas.microsoft.com/office/drawing/2014/main" id="{C5C54848-0855-5903-7991-ACE9DB9C3417}"/>
              </a:ext>
            </a:extLst>
          </p:cNvPr>
          <p:cNvSpPr/>
          <p:nvPr/>
        </p:nvSpPr>
        <p:spPr>
          <a:xfrm>
            <a:off x="2773404" y="4505965"/>
            <a:ext cx="1544584" cy="153848"/>
          </a:xfrm>
          <a:prstGeom prst="rect">
            <a:avLst/>
          </a:prstGeom>
        </p:spPr>
        <p:txBody>
          <a:bodyPr wrap="square" lIns="0" tIns="0" rIns="0" bIns="0">
            <a:spAutoFit/>
          </a:bodyPr>
          <a:lstStyle/>
          <a:p>
            <a:pPr algn="ctr" defTabSz="912208">
              <a:defRPr/>
            </a:pPr>
            <a:r>
              <a:rPr lang="en-US" sz="1000" kern="0" dirty="0">
                <a:solidFill>
                  <a:srgbClr val="000001"/>
                </a:solidFill>
                <a:latin typeface="Arial" panose="020B0604020202020204" pitchFamily="34" charset="0"/>
              </a:rPr>
              <a:t>Cluster</a:t>
            </a:r>
          </a:p>
        </p:txBody>
      </p:sp>
      <p:sp>
        <p:nvSpPr>
          <p:cNvPr id="9" name="Rectangle 8">
            <a:extLst>
              <a:ext uri="{FF2B5EF4-FFF2-40B4-BE49-F238E27FC236}">
                <a16:creationId xmlns:a16="http://schemas.microsoft.com/office/drawing/2014/main" id="{8F21647A-7BBE-F8E5-25A4-A53EAE841EB8}"/>
              </a:ext>
            </a:extLst>
          </p:cNvPr>
          <p:cNvSpPr/>
          <p:nvPr/>
        </p:nvSpPr>
        <p:spPr>
          <a:xfrm>
            <a:off x="3107883" y="1977174"/>
            <a:ext cx="1818335" cy="464347"/>
          </a:xfrm>
          <a:prstGeom prst="rect">
            <a:avLst/>
          </a:prstGeom>
          <a:solidFill>
            <a:schemeClr val="bg1"/>
          </a:solidFill>
          <a:ln w="254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68" tIns="45684" rIns="91368" bIns="45684" numCol="1" spcCol="0" rtlCol="0" fromWordArt="0" anchor="ctr" anchorCtr="0" forceAA="0" compatLnSpc="1">
            <a:prstTxWarp prst="textNoShape">
              <a:avLst/>
            </a:prstTxWarp>
            <a:noAutofit/>
          </a:bodyPr>
          <a:lstStyle/>
          <a:p>
            <a:pPr algn="ctr">
              <a:spcAft>
                <a:spcPts val="600"/>
              </a:spcAft>
              <a:defRPr/>
            </a:pPr>
            <a:r>
              <a:rPr lang="en-US" sz="1200" dirty="0">
                <a:solidFill>
                  <a:srgbClr val="000001"/>
                </a:solidFill>
                <a:latin typeface="Arial" panose="020B0604020202020204" pitchFamily="34" charset="0"/>
              </a:rPr>
              <a:t>VCF Operations</a:t>
            </a:r>
          </a:p>
        </p:txBody>
      </p:sp>
      <p:cxnSp>
        <p:nvCxnSpPr>
          <p:cNvPr id="10" name="Straight Connector 9">
            <a:extLst>
              <a:ext uri="{FF2B5EF4-FFF2-40B4-BE49-F238E27FC236}">
                <a16:creationId xmlns:a16="http://schemas.microsoft.com/office/drawing/2014/main" id="{1AC7B21E-9644-1802-7130-624E890E0C20}"/>
              </a:ext>
            </a:extLst>
          </p:cNvPr>
          <p:cNvCxnSpPr>
            <a:cxnSpLocks/>
          </p:cNvCxnSpPr>
          <p:nvPr/>
        </p:nvCxnSpPr>
        <p:spPr bwMode="gray">
          <a:xfrm flipH="1">
            <a:off x="4010776" y="2439419"/>
            <a:ext cx="1" cy="159369"/>
          </a:xfrm>
          <a:prstGeom prst="line">
            <a:avLst/>
          </a:prstGeom>
          <a:ln w="19050">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4899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par>
                          <p:cTn id="8" fill="hold">
                            <p:stCondLst>
                              <p:cond delay="500"/>
                            </p:stCondLst>
                            <p:childTnLst>
                              <p:par>
                                <p:cTn id="9" presetID="9" presetClass="entr" presetSubtype="0" fill="hold" grpId="0" nodeType="afterEffect">
                                  <p:stCondLst>
                                    <p:cond delay="500"/>
                                  </p:stCondLst>
                                  <p:childTnLst>
                                    <p:set>
                                      <p:cBhvr>
                                        <p:cTn id="10" dur="1" fill="hold">
                                          <p:stCondLst>
                                            <p:cond delay="0"/>
                                          </p:stCondLst>
                                        </p:cTn>
                                        <p:tgtEl>
                                          <p:spTgt spid="50"/>
                                        </p:tgtEl>
                                        <p:attrNameLst>
                                          <p:attrName>style.visibility</p:attrName>
                                        </p:attrNameLst>
                                      </p:cBhvr>
                                      <p:to>
                                        <p:strVal val="visible"/>
                                      </p:to>
                                    </p:set>
                                    <p:animEffect transition="in" filter="dissolve">
                                      <p:cBhvr>
                                        <p:cTn id="11" dur="1000"/>
                                        <p:tgtEl>
                                          <p:spTgt spid="5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par>
                          <p:cTn id="17" fill="hold">
                            <p:stCondLst>
                              <p:cond delay="500"/>
                            </p:stCondLst>
                            <p:childTnLst>
                              <p:par>
                                <p:cTn id="18" presetID="9" presetClass="entr" presetSubtype="0" fill="hold" grpId="0" nodeType="afterEffect">
                                  <p:stCondLst>
                                    <p:cond delay="500"/>
                                  </p:stCondLst>
                                  <p:childTnLst>
                                    <p:set>
                                      <p:cBhvr>
                                        <p:cTn id="19" dur="1" fill="hold">
                                          <p:stCondLst>
                                            <p:cond delay="0"/>
                                          </p:stCondLst>
                                        </p:cTn>
                                        <p:tgtEl>
                                          <p:spTgt spid="258"/>
                                        </p:tgtEl>
                                        <p:attrNameLst>
                                          <p:attrName>style.visibility</p:attrName>
                                        </p:attrNameLst>
                                      </p:cBhvr>
                                      <p:to>
                                        <p:strVal val="visible"/>
                                      </p:to>
                                    </p:set>
                                    <p:animEffect transition="in" filter="dissolve">
                                      <p:cBhvr>
                                        <p:cTn id="20" dur="1000"/>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25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5322-EEC5-4B4F-3C2E-392269798B6D}"/>
              </a:ext>
            </a:extLst>
          </p:cNvPr>
          <p:cNvSpPr>
            <a:spLocks noGrp="1"/>
          </p:cNvSpPr>
          <p:nvPr>
            <p:ph type="title"/>
          </p:nvPr>
        </p:nvSpPr>
        <p:spPr/>
        <p:txBody>
          <a:bodyPr/>
          <a:lstStyle/>
          <a:p>
            <a:r>
              <a:rPr lang="en-US" dirty="0"/>
              <a:t>VCF Design</a:t>
            </a:r>
          </a:p>
        </p:txBody>
      </p:sp>
      <p:sp>
        <p:nvSpPr>
          <p:cNvPr id="3" name="Subtitle 2">
            <a:extLst>
              <a:ext uri="{FF2B5EF4-FFF2-40B4-BE49-F238E27FC236}">
                <a16:creationId xmlns:a16="http://schemas.microsoft.com/office/drawing/2014/main" id="{82E61524-8D02-AD05-8413-D99714EBDB64}"/>
              </a:ext>
            </a:extLst>
          </p:cNvPr>
          <p:cNvSpPr>
            <a:spLocks noGrp="1"/>
          </p:cNvSpPr>
          <p:nvPr>
            <p:ph type="subTitle" idx="10"/>
          </p:nvPr>
        </p:nvSpPr>
        <p:spPr/>
        <p:txBody>
          <a:bodyPr/>
          <a:lstStyle/>
          <a:p>
            <a:r>
              <a:rPr lang="en-US" dirty="0"/>
              <a:t>Logical Design - VCF Fleet in a Single Site with Minimal Footprint</a:t>
            </a:r>
          </a:p>
        </p:txBody>
      </p:sp>
      <p:pic>
        <p:nvPicPr>
          <p:cNvPr id="7" name="Content Placeholder 6">
            <a:extLst>
              <a:ext uri="{FF2B5EF4-FFF2-40B4-BE49-F238E27FC236}">
                <a16:creationId xmlns:a16="http://schemas.microsoft.com/office/drawing/2014/main" id="{C2B88728-60D8-4775-FD71-785A3B637460}"/>
              </a:ext>
            </a:extLst>
          </p:cNvPr>
          <p:cNvPicPr>
            <a:picLocks noGrp="1" noChangeAspect="1"/>
          </p:cNvPicPr>
          <p:nvPr>
            <p:ph sz="quarter" idx="14"/>
          </p:nvPr>
        </p:nvPicPr>
        <p:blipFill>
          <a:blip r:embed="rId2"/>
          <a:stretch>
            <a:fillRect/>
          </a:stretch>
        </p:blipFill>
        <p:spPr>
          <a:xfrm>
            <a:off x="592866" y="1600200"/>
            <a:ext cx="7410450" cy="4167095"/>
          </a:xfrm>
        </p:spPr>
      </p:pic>
      <p:sp>
        <p:nvSpPr>
          <p:cNvPr id="5" name="Text Placeholder 4">
            <a:extLst>
              <a:ext uri="{FF2B5EF4-FFF2-40B4-BE49-F238E27FC236}">
                <a16:creationId xmlns:a16="http://schemas.microsoft.com/office/drawing/2014/main" id="{F9876CF1-FB34-1231-5F98-68E03C6E2C8B}"/>
              </a:ext>
            </a:extLst>
          </p:cNvPr>
          <p:cNvSpPr>
            <a:spLocks noGrp="1"/>
          </p:cNvSpPr>
          <p:nvPr>
            <p:ph type="body" sz="quarter" idx="17"/>
          </p:nvPr>
        </p:nvSpPr>
        <p:spPr>
          <a:xfrm>
            <a:off x="8380413" y="1402233"/>
            <a:ext cx="3808412" cy="4572000"/>
          </a:xfrm>
        </p:spPr>
        <p:txBody>
          <a:bodyPr/>
          <a:lstStyle/>
          <a:p>
            <a:pPr>
              <a:spcBef>
                <a:spcPts val="300"/>
              </a:spcBef>
            </a:pPr>
            <a:r>
              <a:rPr lang="en-US" dirty="0"/>
              <a:t>Physical Site Configuration:</a:t>
            </a:r>
          </a:p>
          <a:p>
            <a:pPr lvl="1">
              <a:spcBef>
                <a:spcPts val="300"/>
              </a:spcBef>
            </a:pPr>
            <a:r>
              <a:rPr lang="en-US" dirty="0"/>
              <a:t>Single Site (Single Instance)</a:t>
            </a:r>
          </a:p>
          <a:p>
            <a:pPr>
              <a:spcBef>
                <a:spcPts val="300"/>
              </a:spcBef>
            </a:pPr>
            <a:r>
              <a:rPr lang="en-US" dirty="0"/>
              <a:t>Availability</a:t>
            </a:r>
          </a:p>
          <a:p>
            <a:pPr lvl="1">
              <a:spcBef>
                <a:spcPts val="300"/>
              </a:spcBef>
            </a:pPr>
            <a:r>
              <a:rPr lang="en-US" dirty="0"/>
              <a:t>Tolerates failure of a single ESX host</a:t>
            </a:r>
          </a:p>
          <a:p>
            <a:pPr lvl="1">
              <a:spcBef>
                <a:spcPts val="300"/>
              </a:spcBef>
            </a:pPr>
            <a:r>
              <a:rPr lang="en-CA" b="0" i="0" dirty="0">
                <a:effectLst/>
              </a:rPr>
              <a:t>Tolerates failure of an individual network path</a:t>
            </a:r>
          </a:p>
          <a:p>
            <a:pPr>
              <a:spcBef>
                <a:spcPts val="300"/>
              </a:spcBef>
            </a:pPr>
            <a:r>
              <a:rPr lang="en-US" dirty="0"/>
              <a:t>Isolation</a:t>
            </a:r>
          </a:p>
          <a:p>
            <a:pPr lvl="1">
              <a:spcBef>
                <a:spcPts val="300"/>
              </a:spcBef>
            </a:pPr>
            <a:r>
              <a:rPr lang="en-US" dirty="0"/>
              <a:t>Hypervisor-Based (Logical Isolation)</a:t>
            </a:r>
          </a:p>
          <a:p>
            <a:pPr lvl="1">
              <a:spcBef>
                <a:spcPts val="300"/>
              </a:spcBef>
            </a:pPr>
            <a:r>
              <a:rPr lang="en-US" dirty="0"/>
              <a:t>Tenant / Tenant Isolation</a:t>
            </a:r>
          </a:p>
          <a:p>
            <a:pPr>
              <a:spcBef>
                <a:spcPts val="300"/>
              </a:spcBef>
            </a:pPr>
            <a:r>
              <a:rPr lang="en-US" dirty="0"/>
              <a:t>Recoverability</a:t>
            </a:r>
          </a:p>
          <a:p>
            <a:pPr lvl="1">
              <a:spcBef>
                <a:spcPts val="300"/>
              </a:spcBef>
            </a:pPr>
            <a:r>
              <a:rPr lang="en-CA" b="0" i="0" dirty="0">
                <a:effectLst/>
              </a:rPr>
              <a:t>Not well suited for adding a disaster recovery solution. </a:t>
            </a:r>
          </a:p>
          <a:p>
            <a:pPr lvl="1">
              <a:spcBef>
                <a:spcPts val="300"/>
              </a:spcBef>
            </a:pPr>
            <a:r>
              <a:rPr lang="en-CA" b="0" i="0" dirty="0">
                <a:effectLst/>
              </a:rPr>
              <a:t>Backup and restore functionality can provide a recovery option</a:t>
            </a:r>
            <a:endParaRPr lang="en-US" dirty="0"/>
          </a:p>
        </p:txBody>
      </p:sp>
    </p:spTree>
    <p:extLst>
      <p:ext uri="{BB962C8B-B14F-4D97-AF65-F5344CB8AC3E}">
        <p14:creationId xmlns:p14="http://schemas.microsoft.com/office/powerpoint/2010/main" val="298107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E4948-6899-71AD-4C71-09E5F47DD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71EFE-A462-FB3B-46B7-EE7523D67377}"/>
              </a:ext>
            </a:extLst>
          </p:cNvPr>
          <p:cNvSpPr>
            <a:spLocks noGrp="1"/>
          </p:cNvSpPr>
          <p:nvPr>
            <p:ph type="title"/>
          </p:nvPr>
        </p:nvSpPr>
        <p:spPr/>
        <p:txBody>
          <a:bodyPr/>
          <a:lstStyle/>
          <a:p>
            <a:r>
              <a:rPr lang="en-US" dirty="0"/>
              <a:t>VCF Design</a:t>
            </a:r>
          </a:p>
        </p:txBody>
      </p:sp>
      <p:sp>
        <p:nvSpPr>
          <p:cNvPr id="3" name="Subtitle 2">
            <a:extLst>
              <a:ext uri="{FF2B5EF4-FFF2-40B4-BE49-F238E27FC236}">
                <a16:creationId xmlns:a16="http://schemas.microsoft.com/office/drawing/2014/main" id="{6FDFB4A8-C391-87C6-BFDB-265E1482EBC3}"/>
              </a:ext>
            </a:extLst>
          </p:cNvPr>
          <p:cNvSpPr>
            <a:spLocks noGrp="1"/>
          </p:cNvSpPr>
          <p:nvPr>
            <p:ph type="subTitle" idx="10"/>
          </p:nvPr>
        </p:nvSpPr>
        <p:spPr/>
        <p:txBody>
          <a:bodyPr/>
          <a:lstStyle/>
          <a:p>
            <a:r>
              <a:rPr lang="en-US" dirty="0"/>
              <a:t>Logical Design - VCF Fleet in a Single Site</a:t>
            </a:r>
          </a:p>
        </p:txBody>
      </p:sp>
      <p:sp>
        <p:nvSpPr>
          <p:cNvPr id="5" name="Text Placeholder 4">
            <a:extLst>
              <a:ext uri="{FF2B5EF4-FFF2-40B4-BE49-F238E27FC236}">
                <a16:creationId xmlns:a16="http://schemas.microsoft.com/office/drawing/2014/main" id="{A35814BB-826B-7AC0-7181-96B3CF1DB44F}"/>
              </a:ext>
            </a:extLst>
          </p:cNvPr>
          <p:cNvSpPr>
            <a:spLocks noGrp="1"/>
          </p:cNvSpPr>
          <p:nvPr>
            <p:ph type="body" sz="quarter" idx="17"/>
          </p:nvPr>
        </p:nvSpPr>
        <p:spPr>
          <a:xfrm>
            <a:off x="8380413" y="1282045"/>
            <a:ext cx="3808412" cy="4692188"/>
          </a:xfrm>
        </p:spPr>
        <p:txBody>
          <a:bodyPr/>
          <a:lstStyle/>
          <a:p>
            <a:pPr>
              <a:spcBef>
                <a:spcPts val="300"/>
              </a:spcBef>
            </a:pPr>
            <a:r>
              <a:rPr lang="en-US" dirty="0"/>
              <a:t>Physical Site Configuration:</a:t>
            </a:r>
          </a:p>
          <a:p>
            <a:pPr lvl="1">
              <a:spcBef>
                <a:spcPts val="300"/>
              </a:spcBef>
            </a:pPr>
            <a:r>
              <a:rPr lang="en-US" dirty="0"/>
              <a:t>Single Site (Single Instance)</a:t>
            </a:r>
          </a:p>
          <a:p>
            <a:pPr>
              <a:spcBef>
                <a:spcPts val="300"/>
              </a:spcBef>
            </a:pPr>
            <a:r>
              <a:rPr lang="en-US" dirty="0"/>
              <a:t>Availability</a:t>
            </a:r>
          </a:p>
          <a:p>
            <a:pPr lvl="1">
              <a:spcBef>
                <a:spcPts val="300"/>
              </a:spcBef>
            </a:pPr>
            <a:r>
              <a:rPr lang="en-US" dirty="0"/>
              <a:t>Tolerates failure of a single ESX host</a:t>
            </a:r>
          </a:p>
          <a:p>
            <a:pPr lvl="1">
              <a:spcBef>
                <a:spcPts val="300"/>
              </a:spcBef>
            </a:pPr>
            <a:r>
              <a:rPr lang="en-CA" b="0" i="0" dirty="0">
                <a:effectLst/>
              </a:rPr>
              <a:t>Tolerates failure of an individual network path</a:t>
            </a:r>
          </a:p>
          <a:p>
            <a:pPr lvl="1">
              <a:spcBef>
                <a:spcPts val="300"/>
              </a:spcBef>
            </a:pPr>
            <a:r>
              <a:rPr lang="en-CA" b="0" i="0" dirty="0">
                <a:effectLst/>
              </a:rPr>
              <a:t>Tolerates failure of a single rack *</a:t>
            </a:r>
          </a:p>
          <a:p>
            <a:pPr lvl="1">
              <a:spcBef>
                <a:spcPts val="300"/>
              </a:spcBef>
            </a:pPr>
            <a:r>
              <a:rPr lang="en-CA" b="0" i="0" dirty="0">
                <a:effectLst/>
              </a:rPr>
              <a:t>Tolerates failure of a single management component</a:t>
            </a:r>
          </a:p>
          <a:p>
            <a:pPr>
              <a:spcBef>
                <a:spcPts val="300"/>
              </a:spcBef>
            </a:pPr>
            <a:r>
              <a:rPr lang="en-US" dirty="0"/>
              <a:t>Isolation</a:t>
            </a:r>
          </a:p>
          <a:p>
            <a:pPr lvl="1">
              <a:spcBef>
                <a:spcPts val="300"/>
              </a:spcBef>
            </a:pPr>
            <a:r>
              <a:rPr lang="en-US" dirty="0"/>
              <a:t>Hypervisor-Based (Logical Isolation)</a:t>
            </a:r>
          </a:p>
          <a:p>
            <a:pPr lvl="1">
              <a:spcBef>
                <a:spcPts val="300"/>
              </a:spcBef>
            </a:pPr>
            <a:r>
              <a:rPr lang="en-US" dirty="0"/>
              <a:t>Network traffic type isolation</a:t>
            </a:r>
          </a:p>
          <a:p>
            <a:pPr lvl="1">
              <a:spcBef>
                <a:spcPts val="300"/>
              </a:spcBef>
            </a:pPr>
            <a:r>
              <a:rPr lang="en-US" dirty="0"/>
              <a:t>Cluster-based (physical isolation)</a:t>
            </a:r>
          </a:p>
          <a:p>
            <a:pPr lvl="1">
              <a:spcBef>
                <a:spcPts val="300"/>
              </a:spcBef>
            </a:pPr>
            <a:r>
              <a:rPr lang="en-US" dirty="0"/>
              <a:t>Tenant / Tenant Isolation</a:t>
            </a:r>
          </a:p>
          <a:p>
            <a:pPr>
              <a:spcBef>
                <a:spcPts val="300"/>
              </a:spcBef>
            </a:pPr>
            <a:r>
              <a:rPr lang="en-US" dirty="0"/>
              <a:t>Recoverability</a:t>
            </a:r>
          </a:p>
          <a:p>
            <a:pPr lvl="1">
              <a:spcBef>
                <a:spcPts val="300"/>
              </a:spcBef>
            </a:pPr>
            <a:r>
              <a:rPr lang="en-CA" b="0" i="0" dirty="0">
                <a:effectLst/>
              </a:rPr>
              <a:t>Not well suited for adding a disaster recovery solution. </a:t>
            </a:r>
          </a:p>
          <a:p>
            <a:pPr lvl="1">
              <a:spcBef>
                <a:spcPts val="300"/>
              </a:spcBef>
            </a:pPr>
            <a:r>
              <a:rPr lang="en-CA" b="0" i="0" dirty="0">
                <a:effectLst/>
              </a:rPr>
              <a:t>Backup and restore functionality can provide a recovery option</a:t>
            </a:r>
            <a:endParaRPr lang="en-US" dirty="0"/>
          </a:p>
        </p:txBody>
      </p:sp>
      <p:pic>
        <p:nvPicPr>
          <p:cNvPr id="9" name="Content Placeholder 8">
            <a:extLst>
              <a:ext uri="{FF2B5EF4-FFF2-40B4-BE49-F238E27FC236}">
                <a16:creationId xmlns:a16="http://schemas.microsoft.com/office/drawing/2014/main" id="{91A3D6AF-B846-7497-1875-F6E83B808208}"/>
              </a:ext>
            </a:extLst>
          </p:cNvPr>
          <p:cNvPicPr>
            <a:picLocks noGrp="1" noChangeAspect="1"/>
          </p:cNvPicPr>
          <p:nvPr>
            <p:ph sz="quarter" idx="14"/>
          </p:nvPr>
        </p:nvPicPr>
        <p:blipFill>
          <a:blip r:embed="rId2"/>
          <a:stretch>
            <a:fillRect/>
          </a:stretch>
        </p:blipFill>
        <p:spPr>
          <a:xfrm>
            <a:off x="592866" y="1345452"/>
            <a:ext cx="7410450" cy="4167095"/>
          </a:xfrm>
        </p:spPr>
      </p:pic>
    </p:spTree>
    <p:extLst>
      <p:ext uri="{BB962C8B-B14F-4D97-AF65-F5344CB8AC3E}">
        <p14:creationId xmlns:p14="http://schemas.microsoft.com/office/powerpoint/2010/main" val="2667348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4200-E7F6-FD56-98F8-2F9CCBD13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0876B-2253-E6FE-7EC9-3D815BCA573D}"/>
              </a:ext>
            </a:extLst>
          </p:cNvPr>
          <p:cNvSpPr>
            <a:spLocks noGrp="1"/>
          </p:cNvSpPr>
          <p:nvPr>
            <p:ph type="title"/>
          </p:nvPr>
        </p:nvSpPr>
        <p:spPr/>
        <p:txBody>
          <a:bodyPr/>
          <a:lstStyle/>
          <a:p>
            <a:r>
              <a:rPr lang="en-US" dirty="0"/>
              <a:t>VCF Design</a:t>
            </a:r>
          </a:p>
        </p:txBody>
      </p:sp>
      <p:sp>
        <p:nvSpPr>
          <p:cNvPr id="3" name="Subtitle 2">
            <a:extLst>
              <a:ext uri="{FF2B5EF4-FFF2-40B4-BE49-F238E27FC236}">
                <a16:creationId xmlns:a16="http://schemas.microsoft.com/office/drawing/2014/main" id="{B8141977-00EF-EE1B-7AD8-18F097B4337E}"/>
              </a:ext>
            </a:extLst>
          </p:cNvPr>
          <p:cNvSpPr>
            <a:spLocks noGrp="1"/>
          </p:cNvSpPr>
          <p:nvPr>
            <p:ph type="subTitle" idx="10"/>
          </p:nvPr>
        </p:nvSpPr>
        <p:spPr/>
        <p:txBody>
          <a:bodyPr/>
          <a:lstStyle/>
          <a:p>
            <a:r>
              <a:rPr lang="en-US" dirty="0"/>
              <a:t>Logical Design - VCF Fleet with Multiple Sites in a Single Region</a:t>
            </a:r>
          </a:p>
        </p:txBody>
      </p:sp>
      <p:sp>
        <p:nvSpPr>
          <p:cNvPr id="5" name="Text Placeholder 4">
            <a:extLst>
              <a:ext uri="{FF2B5EF4-FFF2-40B4-BE49-F238E27FC236}">
                <a16:creationId xmlns:a16="http://schemas.microsoft.com/office/drawing/2014/main" id="{4DBE2662-9D07-FABD-4294-A4826F69D356}"/>
              </a:ext>
            </a:extLst>
          </p:cNvPr>
          <p:cNvSpPr>
            <a:spLocks noGrp="1"/>
          </p:cNvSpPr>
          <p:nvPr>
            <p:ph type="body" sz="quarter" idx="17"/>
          </p:nvPr>
        </p:nvSpPr>
        <p:spPr>
          <a:xfrm>
            <a:off x="8380413" y="1282045"/>
            <a:ext cx="3808412" cy="4692188"/>
          </a:xfrm>
        </p:spPr>
        <p:txBody>
          <a:bodyPr/>
          <a:lstStyle/>
          <a:p>
            <a:pPr>
              <a:spcBef>
                <a:spcPts val="300"/>
              </a:spcBef>
            </a:pPr>
            <a:r>
              <a:rPr lang="en-US" dirty="0"/>
              <a:t>Physical Site Configuration:</a:t>
            </a:r>
          </a:p>
          <a:p>
            <a:pPr lvl="1">
              <a:spcBef>
                <a:spcPts val="300"/>
              </a:spcBef>
            </a:pPr>
            <a:r>
              <a:rPr lang="en-US" dirty="0"/>
              <a:t>Multiple Sites within a single region (Single instance, stretched cluster between the sites for maximum availability)</a:t>
            </a:r>
          </a:p>
          <a:p>
            <a:pPr>
              <a:spcBef>
                <a:spcPts val="300"/>
              </a:spcBef>
            </a:pPr>
            <a:r>
              <a:rPr lang="en-US" dirty="0"/>
              <a:t>Availability</a:t>
            </a:r>
          </a:p>
          <a:p>
            <a:pPr lvl="1">
              <a:spcBef>
                <a:spcPts val="300"/>
              </a:spcBef>
            </a:pPr>
            <a:r>
              <a:rPr lang="en-US" dirty="0"/>
              <a:t>Tolerates failure of a single ESX host</a:t>
            </a:r>
          </a:p>
          <a:p>
            <a:pPr lvl="1">
              <a:spcBef>
                <a:spcPts val="300"/>
              </a:spcBef>
            </a:pPr>
            <a:r>
              <a:rPr lang="en-CA" b="0" i="0" dirty="0">
                <a:effectLst/>
              </a:rPr>
              <a:t>Tolerates failure of an individual network path</a:t>
            </a:r>
          </a:p>
          <a:p>
            <a:pPr lvl="1">
              <a:spcBef>
                <a:spcPts val="300"/>
              </a:spcBef>
            </a:pPr>
            <a:r>
              <a:rPr lang="en-CA" b="0" i="0" dirty="0">
                <a:effectLst/>
              </a:rPr>
              <a:t>Tolerates failure of a single rack *</a:t>
            </a:r>
          </a:p>
          <a:p>
            <a:pPr lvl="1">
              <a:spcBef>
                <a:spcPts val="300"/>
              </a:spcBef>
            </a:pPr>
            <a:r>
              <a:rPr lang="en-CA" b="0" i="0" dirty="0">
                <a:effectLst/>
              </a:rPr>
              <a:t>Tolerates failure of a single management component</a:t>
            </a:r>
          </a:p>
          <a:p>
            <a:pPr>
              <a:spcBef>
                <a:spcPts val="300"/>
              </a:spcBef>
            </a:pPr>
            <a:r>
              <a:rPr lang="en-US" dirty="0"/>
              <a:t>Isolation</a:t>
            </a:r>
          </a:p>
          <a:p>
            <a:pPr lvl="1">
              <a:spcBef>
                <a:spcPts val="300"/>
              </a:spcBef>
            </a:pPr>
            <a:r>
              <a:rPr lang="en-US" dirty="0"/>
              <a:t>Hypervisor-Based (Logical Isolation)</a:t>
            </a:r>
          </a:p>
          <a:p>
            <a:pPr lvl="1">
              <a:spcBef>
                <a:spcPts val="300"/>
              </a:spcBef>
            </a:pPr>
            <a:r>
              <a:rPr lang="en-US" dirty="0"/>
              <a:t>Network traffic type isolation</a:t>
            </a:r>
          </a:p>
          <a:p>
            <a:pPr lvl="1">
              <a:spcBef>
                <a:spcPts val="300"/>
              </a:spcBef>
            </a:pPr>
            <a:r>
              <a:rPr lang="en-US" dirty="0"/>
              <a:t>Cluster-based (physical isolation)</a:t>
            </a:r>
          </a:p>
          <a:p>
            <a:pPr lvl="1">
              <a:spcBef>
                <a:spcPts val="300"/>
              </a:spcBef>
            </a:pPr>
            <a:r>
              <a:rPr lang="en-US" dirty="0"/>
              <a:t>Tenant / Tenant Isolation</a:t>
            </a:r>
          </a:p>
          <a:p>
            <a:pPr>
              <a:spcBef>
                <a:spcPts val="300"/>
              </a:spcBef>
            </a:pPr>
            <a:r>
              <a:rPr lang="en-US" dirty="0"/>
              <a:t>Recoverability</a:t>
            </a:r>
          </a:p>
          <a:p>
            <a:pPr lvl="1">
              <a:spcBef>
                <a:spcPts val="300"/>
              </a:spcBef>
            </a:pPr>
            <a:r>
              <a:rPr lang="en-CA" b="0" i="0" dirty="0">
                <a:effectLst/>
              </a:rPr>
              <a:t>Not well suited for adding a disaster recovery solution. </a:t>
            </a:r>
          </a:p>
          <a:p>
            <a:pPr lvl="1">
              <a:spcBef>
                <a:spcPts val="300"/>
              </a:spcBef>
            </a:pPr>
            <a:r>
              <a:rPr lang="en-CA" b="0" i="0" dirty="0">
                <a:effectLst/>
              </a:rPr>
              <a:t>Backup and restore functionality can provide a recovery option</a:t>
            </a:r>
            <a:endParaRPr lang="en-US" dirty="0"/>
          </a:p>
        </p:txBody>
      </p:sp>
      <p:pic>
        <p:nvPicPr>
          <p:cNvPr id="8" name="Content Placeholder 7">
            <a:extLst>
              <a:ext uri="{FF2B5EF4-FFF2-40B4-BE49-F238E27FC236}">
                <a16:creationId xmlns:a16="http://schemas.microsoft.com/office/drawing/2014/main" id="{D4DFB167-5D37-955F-5167-E66D3D783DDB}"/>
              </a:ext>
            </a:extLst>
          </p:cNvPr>
          <p:cNvPicPr>
            <a:picLocks noGrp="1" noChangeAspect="1"/>
          </p:cNvPicPr>
          <p:nvPr>
            <p:ph sz="quarter" idx="14"/>
          </p:nvPr>
        </p:nvPicPr>
        <p:blipFill>
          <a:blip r:embed="rId2"/>
          <a:stretch>
            <a:fillRect/>
          </a:stretch>
        </p:blipFill>
        <p:spPr>
          <a:xfrm>
            <a:off x="579809" y="1544591"/>
            <a:ext cx="7410450" cy="4167095"/>
          </a:xfrm>
        </p:spPr>
      </p:pic>
    </p:spTree>
    <p:extLst>
      <p:ext uri="{BB962C8B-B14F-4D97-AF65-F5344CB8AC3E}">
        <p14:creationId xmlns:p14="http://schemas.microsoft.com/office/powerpoint/2010/main" val="1012489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2" name="Title 1">
            <a:extLst>
              <a:ext uri="{FF2B5EF4-FFF2-40B4-BE49-F238E27FC236}">
                <a16:creationId xmlns:a16="http://schemas.microsoft.com/office/drawing/2014/main" id="{7B7C6E9E-1F4E-4C29-A0DB-CCA79A13B555}"/>
              </a:ext>
            </a:extLst>
          </p:cNvPr>
          <p:cNvSpPr>
            <a:spLocks noGrp="1"/>
          </p:cNvSpPr>
          <p:nvPr>
            <p:ph type="title"/>
          </p:nvPr>
        </p:nvSpPr>
        <p:spPr>
          <a:xfrm>
            <a:off x="589108" y="938794"/>
            <a:ext cx="6427626" cy="1229360"/>
          </a:xfrm>
        </p:spPr>
        <p:txBody>
          <a:bodyPr/>
          <a:lstStyle/>
          <a:p>
            <a:r>
              <a:rPr lang="en-US" dirty="0"/>
              <a:t>VMware Pro Cloud Services for Private Cloud Infrastructure</a:t>
            </a:r>
          </a:p>
        </p:txBody>
      </p:sp>
      <p:sp>
        <p:nvSpPr>
          <p:cNvPr id="1442" name="Google Shape;1442;p131"/>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VCF Automation Architecture Patterns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46"/>
        <p:cNvGrpSpPr/>
        <p:nvPr/>
      </p:nvGrpSpPr>
      <p:grpSpPr>
        <a:xfrm>
          <a:off x="0" y="0"/>
          <a:ext cx="0" cy="0"/>
          <a:chOff x="0" y="0"/>
          <a:chExt cx="0" cy="0"/>
        </a:xfrm>
      </p:grpSpPr>
      <p:sp>
        <p:nvSpPr>
          <p:cNvPr id="1447" name="Google Shape;1447;p39"/>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48" name="Google Shape;1448;p39"/>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Logical Design</a:t>
            </a:r>
          </a:p>
        </p:txBody>
      </p:sp>
      <p:pic>
        <p:nvPicPr>
          <p:cNvPr id="2" name="Google Shape;1533;p6">
            <a:extLst>
              <a:ext uri="{FF2B5EF4-FFF2-40B4-BE49-F238E27FC236}">
                <a16:creationId xmlns:a16="http://schemas.microsoft.com/office/drawing/2014/main" id="{E94AB3A2-D64A-4566-EA94-A068F5E7362F}"/>
              </a:ext>
            </a:extLst>
          </p:cNvPr>
          <p:cNvPicPr preferRelativeResize="0"/>
          <p:nvPr/>
        </p:nvPicPr>
        <p:blipFill rotWithShape="1">
          <a:blip r:embed="rId3">
            <a:alphaModFix/>
          </a:blip>
          <a:srcRect/>
          <a:stretch/>
        </p:blipFill>
        <p:spPr>
          <a:xfrm>
            <a:off x="1031362" y="1341092"/>
            <a:ext cx="10360501" cy="454121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46"/>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 (2)</a:t>
            </a:r>
          </a:p>
        </p:txBody>
      </p:sp>
      <p:sp>
        <p:nvSpPr>
          <p:cNvPr id="1592" name="Google Shape;1592;p46"/>
          <p:cNvSpPr txBox="1">
            <a:spLocks noGrp="1"/>
          </p:cNvSpPr>
          <p:nvPr>
            <p:ph type="subTitle" idx="10"/>
          </p:nvPr>
        </p:nvSpPr>
        <p:spPr>
          <a:xfrm>
            <a:off x="592866" y="811830"/>
            <a:ext cx="10987947" cy="247743"/>
          </a:xfrm>
          <a:noFill/>
          <a:ln>
            <a:noFill/>
          </a:ln>
        </p:spPr>
        <p:txBody>
          <a:bodyPr spcFirstLastPara="1" wrap="square" lIns="0" tIns="0" rIns="0" bIns="0" anchor="t" anchorCtr="0">
            <a:noAutofit/>
          </a:bodyPr>
          <a:lstStyle/>
          <a:p>
            <a:r>
              <a:rPr lang="en-US" dirty="0"/>
              <a:t>Logical Design</a:t>
            </a:r>
          </a:p>
          <a:p>
            <a:pPr lvl="0"/>
            <a:endParaRPr lang="en-US" dirty="0"/>
          </a:p>
        </p:txBody>
      </p:sp>
      <p:pic>
        <p:nvPicPr>
          <p:cNvPr id="1593" name="Google Shape;1593;p46"/>
          <p:cNvPicPr preferRelativeResize="0"/>
          <p:nvPr/>
        </p:nvPicPr>
        <p:blipFill rotWithShape="1">
          <a:blip r:embed="rId3">
            <a:alphaModFix/>
          </a:blip>
          <a:srcRect/>
          <a:stretch/>
        </p:blipFill>
        <p:spPr>
          <a:xfrm>
            <a:off x="1381400" y="1303143"/>
            <a:ext cx="9426025" cy="464191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53"/>
        <p:cNvGrpSpPr/>
        <p:nvPr/>
      </p:nvGrpSpPr>
      <p:grpSpPr>
        <a:xfrm>
          <a:off x="0" y="0"/>
          <a:ext cx="0" cy="0"/>
          <a:chOff x="0" y="0"/>
          <a:chExt cx="0" cy="0"/>
        </a:xfrm>
      </p:grpSpPr>
      <p:sp>
        <p:nvSpPr>
          <p:cNvPr id="1454" name="Google Shape;1454;p40"/>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55" name="Google Shape;1455;p40"/>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Organizational Construct Hierarchy Object Flow</a:t>
            </a:r>
          </a:p>
        </p:txBody>
      </p:sp>
      <p:pic>
        <p:nvPicPr>
          <p:cNvPr id="2" name="Google Shape;1621;p74">
            <a:extLst>
              <a:ext uri="{FF2B5EF4-FFF2-40B4-BE49-F238E27FC236}">
                <a16:creationId xmlns:a16="http://schemas.microsoft.com/office/drawing/2014/main" id="{22C167B4-B59F-1F6C-81E5-A99E01088D03}"/>
              </a:ext>
            </a:extLst>
          </p:cNvPr>
          <p:cNvPicPr preferRelativeResize="0"/>
          <p:nvPr/>
        </p:nvPicPr>
        <p:blipFill rotWithShape="1">
          <a:blip r:embed="rId3">
            <a:alphaModFix/>
          </a:blip>
          <a:srcRect/>
          <a:stretch/>
        </p:blipFill>
        <p:spPr>
          <a:xfrm>
            <a:off x="1120317" y="1640724"/>
            <a:ext cx="9756139" cy="401215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60"/>
        <p:cNvGrpSpPr/>
        <p:nvPr/>
      </p:nvGrpSpPr>
      <p:grpSpPr>
        <a:xfrm>
          <a:off x="0" y="0"/>
          <a:ext cx="0" cy="0"/>
          <a:chOff x="0" y="0"/>
          <a:chExt cx="0" cy="0"/>
        </a:xfrm>
      </p:grpSpPr>
      <p:sp>
        <p:nvSpPr>
          <p:cNvPr id="1461" name="Google Shape;1461;p41"/>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62" name="Google Shape;1462;p41"/>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Org Hierarchy with VPCs</a:t>
            </a:r>
          </a:p>
        </p:txBody>
      </p:sp>
      <p:pic>
        <p:nvPicPr>
          <p:cNvPr id="2" name="Google Shape;1689;p76">
            <a:extLst>
              <a:ext uri="{FF2B5EF4-FFF2-40B4-BE49-F238E27FC236}">
                <a16:creationId xmlns:a16="http://schemas.microsoft.com/office/drawing/2014/main" id="{A49F71C4-8DA1-1D79-7F36-16AEF4FFF2CF}"/>
              </a:ext>
            </a:extLst>
          </p:cNvPr>
          <p:cNvPicPr preferRelativeResize="0"/>
          <p:nvPr/>
        </p:nvPicPr>
        <p:blipFill rotWithShape="1">
          <a:blip r:embed="rId3">
            <a:alphaModFix/>
          </a:blip>
          <a:srcRect/>
          <a:stretch/>
        </p:blipFill>
        <p:spPr>
          <a:xfrm>
            <a:off x="743329" y="1660701"/>
            <a:ext cx="10725860" cy="369507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60">
          <a:extLst>
            <a:ext uri="{FF2B5EF4-FFF2-40B4-BE49-F238E27FC236}">
              <a16:creationId xmlns:a16="http://schemas.microsoft.com/office/drawing/2014/main" id="{D491223E-EAF3-90EE-48AB-0914DD338A95}"/>
            </a:ext>
          </a:extLst>
        </p:cNvPr>
        <p:cNvGrpSpPr/>
        <p:nvPr/>
      </p:nvGrpSpPr>
      <p:grpSpPr>
        <a:xfrm>
          <a:off x="0" y="0"/>
          <a:ext cx="0" cy="0"/>
          <a:chOff x="0" y="0"/>
          <a:chExt cx="0" cy="0"/>
        </a:xfrm>
      </p:grpSpPr>
      <p:sp>
        <p:nvSpPr>
          <p:cNvPr id="1461" name="Google Shape;1461;p41">
            <a:extLst>
              <a:ext uri="{FF2B5EF4-FFF2-40B4-BE49-F238E27FC236}">
                <a16:creationId xmlns:a16="http://schemas.microsoft.com/office/drawing/2014/main" id="{030FA162-78A7-061D-310D-C1DB10829649}"/>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62" name="Google Shape;1462;p41">
            <a:extLst>
              <a:ext uri="{FF2B5EF4-FFF2-40B4-BE49-F238E27FC236}">
                <a16:creationId xmlns:a16="http://schemas.microsoft.com/office/drawing/2014/main" id="{597F36AB-B4B3-5A60-04C4-20101103753A}"/>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Provider Consumption Org Flowchart</a:t>
            </a:r>
          </a:p>
        </p:txBody>
      </p:sp>
      <p:pic>
        <p:nvPicPr>
          <p:cNvPr id="3" name="Google Shape;1715;p78">
            <a:extLst>
              <a:ext uri="{FF2B5EF4-FFF2-40B4-BE49-F238E27FC236}">
                <a16:creationId xmlns:a16="http://schemas.microsoft.com/office/drawing/2014/main" id="{038BEA93-0CFE-1755-DE8A-0E7EA017EEEC}"/>
              </a:ext>
            </a:extLst>
          </p:cNvPr>
          <p:cNvPicPr preferRelativeResize="0"/>
          <p:nvPr/>
        </p:nvPicPr>
        <p:blipFill rotWithShape="1">
          <a:blip r:embed="rId3">
            <a:alphaModFix/>
          </a:blip>
          <a:srcRect/>
          <a:stretch/>
        </p:blipFill>
        <p:spPr>
          <a:xfrm>
            <a:off x="2746975" y="1460125"/>
            <a:ext cx="6388976" cy="4586045"/>
          </a:xfrm>
          <a:prstGeom prst="rect">
            <a:avLst/>
          </a:prstGeom>
          <a:noFill/>
          <a:ln>
            <a:noFill/>
          </a:ln>
        </p:spPr>
      </p:pic>
    </p:spTree>
    <p:extLst>
      <p:ext uri="{BB962C8B-B14F-4D97-AF65-F5344CB8AC3E}">
        <p14:creationId xmlns:p14="http://schemas.microsoft.com/office/powerpoint/2010/main" val="256243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60">
          <a:extLst>
            <a:ext uri="{FF2B5EF4-FFF2-40B4-BE49-F238E27FC236}">
              <a16:creationId xmlns:a16="http://schemas.microsoft.com/office/drawing/2014/main" id="{38256353-D9D2-0DC9-B6DD-B0889EEB0F11}"/>
            </a:ext>
          </a:extLst>
        </p:cNvPr>
        <p:cNvGrpSpPr/>
        <p:nvPr/>
      </p:nvGrpSpPr>
      <p:grpSpPr>
        <a:xfrm>
          <a:off x="0" y="0"/>
          <a:ext cx="0" cy="0"/>
          <a:chOff x="0" y="0"/>
          <a:chExt cx="0" cy="0"/>
        </a:xfrm>
      </p:grpSpPr>
      <p:sp>
        <p:nvSpPr>
          <p:cNvPr id="1461" name="Google Shape;1461;p41">
            <a:extLst>
              <a:ext uri="{FF2B5EF4-FFF2-40B4-BE49-F238E27FC236}">
                <a16:creationId xmlns:a16="http://schemas.microsoft.com/office/drawing/2014/main" id="{55A7A092-6D31-1FE8-0A4D-F0BED291CECF}"/>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62" name="Google Shape;1462;p41">
            <a:extLst>
              <a:ext uri="{FF2B5EF4-FFF2-40B4-BE49-F238E27FC236}">
                <a16:creationId xmlns:a16="http://schemas.microsoft.com/office/drawing/2014/main" id="{90EF1CF9-D2E7-2D6A-24D5-5352B95D670A}"/>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Example: Supervisor to Organization Relationship</a:t>
            </a:r>
          </a:p>
        </p:txBody>
      </p:sp>
      <p:pic>
        <p:nvPicPr>
          <p:cNvPr id="2" name="Graphic 1">
            <a:extLst>
              <a:ext uri="{FF2B5EF4-FFF2-40B4-BE49-F238E27FC236}">
                <a16:creationId xmlns:a16="http://schemas.microsoft.com/office/drawing/2014/main" id="{B132AEAC-CBCE-0798-D5F2-B3A44B65BF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0999" y="1281689"/>
            <a:ext cx="11538754" cy="4763799"/>
          </a:xfrm>
          <a:prstGeom prst="rect">
            <a:avLst/>
          </a:prstGeom>
        </p:spPr>
      </p:pic>
    </p:spTree>
    <p:extLst>
      <p:ext uri="{BB962C8B-B14F-4D97-AF65-F5344CB8AC3E}">
        <p14:creationId xmlns:p14="http://schemas.microsoft.com/office/powerpoint/2010/main" val="243459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60">
          <a:extLst>
            <a:ext uri="{FF2B5EF4-FFF2-40B4-BE49-F238E27FC236}">
              <a16:creationId xmlns:a16="http://schemas.microsoft.com/office/drawing/2014/main" id="{8BBCBC63-84D7-7C09-3969-DB542AE765E1}"/>
            </a:ext>
          </a:extLst>
        </p:cNvPr>
        <p:cNvGrpSpPr/>
        <p:nvPr/>
      </p:nvGrpSpPr>
      <p:grpSpPr>
        <a:xfrm>
          <a:off x="0" y="0"/>
          <a:ext cx="0" cy="0"/>
          <a:chOff x="0" y="0"/>
          <a:chExt cx="0" cy="0"/>
        </a:xfrm>
      </p:grpSpPr>
      <p:sp>
        <p:nvSpPr>
          <p:cNvPr id="1461" name="Google Shape;1461;p41">
            <a:extLst>
              <a:ext uri="{FF2B5EF4-FFF2-40B4-BE49-F238E27FC236}">
                <a16:creationId xmlns:a16="http://schemas.microsoft.com/office/drawing/2014/main" id="{D15062EC-7EF2-BAD9-B89F-D610447E276F}"/>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 VCF Automation</a:t>
            </a:r>
          </a:p>
        </p:txBody>
      </p:sp>
      <p:sp>
        <p:nvSpPr>
          <p:cNvPr id="1462" name="Google Shape;1462;p41">
            <a:extLst>
              <a:ext uri="{FF2B5EF4-FFF2-40B4-BE49-F238E27FC236}">
                <a16:creationId xmlns:a16="http://schemas.microsoft.com/office/drawing/2014/main" id="{F92F591F-C559-CE99-05F3-5BD1462AFF20}"/>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Org / Tenant Model</a:t>
            </a:r>
          </a:p>
        </p:txBody>
      </p:sp>
      <p:pic>
        <p:nvPicPr>
          <p:cNvPr id="3" name="Graphic 2">
            <a:extLst>
              <a:ext uri="{FF2B5EF4-FFF2-40B4-BE49-F238E27FC236}">
                <a16:creationId xmlns:a16="http://schemas.microsoft.com/office/drawing/2014/main" id="{0984C8C0-7E5C-D4E9-FE3E-C7DC4E3525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07509" y="1231584"/>
            <a:ext cx="9161933" cy="4814586"/>
          </a:xfrm>
          <a:prstGeom prst="rect">
            <a:avLst/>
          </a:prstGeom>
        </p:spPr>
      </p:pic>
    </p:spTree>
    <p:extLst>
      <p:ext uri="{BB962C8B-B14F-4D97-AF65-F5344CB8AC3E}">
        <p14:creationId xmlns:p14="http://schemas.microsoft.com/office/powerpoint/2010/main" val="4019954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86">
          <a:extLst>
            <a:ext uri="{FF2B5EF4-FFF2-40B4-BE49-F238E27FC236}">
              <a16:creationId xmlns:a16="http://schemas.microsoft.com/office/drawing/2014/main" id="{55269112-7665-AD66-3680-EC2E17A67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D938C-C948-F07A-6C9E-EE1933F69B91}"/>
              </a:ext>
            </a:extLst>
          </p:cNvPr>
          <p:cNvSpPr>
            <a:spLocks noGrp="1"/>
          </p:cNvSpPr>
          <p:nvPr>
            <p:ph type="title"/>
          </p:nvPr>
        </p:nvSpPr>
        <p:spPr>
          <a:xfrm>
            <a:off x="588963" y="938213"/>
            <a:ext cx="6933271" cy="1230312"/>
          </a:xfrm>
        </p:spPr>
        <p:txBody>
          <a:bodyPr/>
          <a:lstStyle/>
          <a:p>
            <a:r>
              <a:rPr lang="en-US" dirty="0"/>
              <a:t>VMware Pro Cloud Services for Private Cloud</a:t>
            </a:r>
          </a:p>
        </p:txBody>
      </p:sp>
      <p:sp>
        <p:nvSpPr>
          <p:cNvPr id="1487" name="Google Shape;1487;p133">
            <a:extLst>
              <a:ext uri="{FF2B5EF4-FFF2-40B4-BE49-F238E27FC236}">
                <a16:creationId xmlns:a16="http://schemas.microsoft.com/office/drawing/2014/main" id="{61B1C619-5E8F-9AEE-A192-409028715928}"/>
              </a:ext>
            </a:extLst>
          </p:cNvPr>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US" dirty="0"/>
              <a:t>VCF Operations for Networks Architecture Patterns</a:t>
            </a:r>
          </a:p>
        </p:txBody>
      </p:sp>
    </p:spTree>
    <p:extLst>
      <p:ext uri="{BB962C8B-B14F-4D97-AF65-F5344CB8AC3E}">
        <p14:creationId xmlns:p14="http://schemas.microsoft.com/office/powerpoint/2010/main" val="58853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91">
          <a:extLst>
            <a:ext uri="{FF2B5EF4-FFF2-40B4-BE49-F238E27FC236}">
              <a16:creationId xmlns:a16="http://schemas.microsoft.com/office/drawing/2014/main" id="{62EEC8DA-D377-A849-6396-1F4812A37C3C}"/>
            </a:ext>
          </a:extLst>
        </p:cNvPr>
        <p:cNvGrpSpPr/>
        <p:nvPr/>
      </p:nvGrpSpPr>
      <p:grpSpPr>
        <a:xfrm>
          <a:off x="0" y="0"/>
          <a:ext cx="0" cy="0"/>
          <a:chOff x="0" y="0"/>
          <a:chExt cx="0" cy="0"/>
        </a:xfrm>
      </p:grpSpPr>
      <p:sp>
        <p:nvSpPr>
          <p:cNvPr id="1492" name="Google Shape;1492;p46">
            <a:extLst>
              <a:ext uri="{FF2B5EF4-FFF2-40B4-BE49-F238E27FC236}">
                <a16:creationId xmlns:a16="http://schemas.microsoft.com/office/drawing/2014/main" id="{AB6E6698-5A34-F270-8055-0A17D937266B}"/>
              </a:ext>
            </a:extLst>
          </p:cNvPr>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Private Cloud Infrastructure – VCF Operations for Networks</a:t>
            </a:r>
          </a:p>
        </p:txBody>
      </p:sp>
      <p:sp>
        <p:nvSpPr>
          <p:cNvPr id="1493" name="Google Shape;1493;p46">
            <a:extLst>
              <a:ext uri="{FF2B5EF4-FFF2-40B4-BE49-F238E27FC236}">
                <a16:creationId xmlns:a16="http://schemas.microsoft.com/office/drawing/2014/main" id="{F67467FC-4D11-E95B-8658-85A5CABBB1F9}"/>
              </a:ext>
            </a:extLst>
          </p:cNvPr>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a:t>Logical Design</a:t>
            </a:r>
          </a:p>
        </p:txBody>
      </p:sp>
      <p:pic>
        <p:nvPicPr>
          <p:cNvPr id="3" name="Google Shape;1443;p65">
            <a:extLst>
              <a:ext uri="{FF2B5EF4-FFF2-40B4-BE49-F238E27FC236}">
                <a16:creationId xmlns:a16="http://schemas.microsoft.com/office/drawing/2014/main" id="{D2C58055-29DF-C670-E691-D475D9ACC769}"/>
              </a:ext>
            </a:extLst>
          </p:cNvPr>
          <p:cNvPicPr preferRelativeResize="0"/>
          <p:nvPr/>
        </p:nvPicPr>
        <p:blipFill rotWithShape="1">
          <a:blip r:embed="rId3">
            <a:alphaModFix/>
          </a:blip>
          <a:srcRect/>
          <a:stretch/>
        </p:blipFill>
        <p:spPr>
          <a:xfrm>
            <a:off x="1488276" y="1210491"/>
            <a:ext cx="9212271" cy="5005027"/>
          </a:xfrm>
          <a:prstGeom prst="rect">
            <a:avLst/>
          </a:prstGeom>
          <a:noFill/>
          <a:ln>
            <a:noFill/>
          </a:ln>
        </p:spPr>
      </p:pic>
    </p:spTree>
    <p:extLst>
      <p:ext uri="{BB962C8B-B14F-4D97-AF65-F5344CB8AC3E}">
        <p14:creationId xmlns:p14="http://schemas.microsoft.com/office/powerpoint/2010/main" val="2495756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26"/>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1_VMware_white_16x9">
  <a:themeElements>
    <a:clrScheme name="Custom 1">
      <a:dk1>
        <a:srgbClr val="000001"/>
      </a:dk1>
      <a:lt1>
        <a:srgbClr val="FFFFFF"/>
      </a:lt1>
      <a:dk2>
        <a:srgbClr val="1B1E35"/>
      </a:dk2>
      <a:lt2>
        <a:srgbClr val="F2F2F2"/>
      </a:lt2>
      <a:accent1>
        <a:srgbClr val="007B8C"/>
      </a:accent1>
      <a:accent2>
        <a:srgbClr val="005C8A"/>
      </a:accent2>
      <a:accent3>
        <a:srgbClr val="0098C7"/>
      </a:accent3>
      <a:accent4>
        <a:srgbClr val="61A60E"/>
      </a:accent4>
      <a:accent5>
        <a:srgbClr val="6C4B93"/>
      </a:accent5>
      <a:accent6>
        <a:srgbClr val="EDB516"/>
      </a:accent6>
      <a:hlink>
        <a:srgbClr val="005B83"/>
      </a:hlink>
      <a:folHlink>
        <a:srgbClr val="005B83"/>
      </a:folHlink>
    </a:clrScheme>
    <a:fontScheme name="Custom 19">
      <a:majorFont>
        <a:latin typeface="Metropolis Light"/>
        <a:ea typeface=""/>
        <a:cs typeface=""/>
      </a:majorFont>
      <a:minorFont>
        <a:latin typeface="Metropoli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30000"/>
          </a:lnSpc>
          <a:defRPr sz="1800" dirty="0" err="1" smtClean="0">
            <a:solidFill>
              <a:schemeClr val="tx2"/>
            </a:solidFill>
          </a:defRPr>
        </a:defPPr>
      </a:lstStyle>
    </a:txDef>
  </a:objectDefaults>
  <a:extraClrSchemeLst/>
  <a:custClrLst>
    <a:custClr name="Orange">
      <a:srgbClr val="E18728"/>
    </a:custClr>
    <a:custClr name="Red">
      <a:srgbClr val="B72835"/>
    </a:custClr>
    <a:custClr name="Light Grey">
      <a:srgbClr val="E8E8EA"/>
    </a:custClr>
    <a:custClr name="Dark Grey">
      <a:srgbClr val="53565A"/>
    </a:custClr>
  </a:custClrLst>
  <a:extLst>
    <a:ext uri="{05A4C25C-085E-4340-85A3-A5531E510DB2}">
      <thm15:themeFamily xmlns:thm15="http://schemas.microsoft.com/office/thememl/2012/main" name="skinny-PPT-Light-June-2020-ACCESSIBLE" id="{0CECDBDA-90D1-134F-87E2-EE3800325540}" vid="{7B09F0D8-43AA-FF47-8B59-F16F1FFE8153}"/>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pc="http://schemas.microsoft.com/office/infopath/2007/PartnerControls" xmlns:xsi="http://www.w3.org/2001/XMLSchema-instance">
  <documentManagement>
    <TaxCatchAll xmlns="78c16552-cbf3-4f1f-97ed-388b5d2a083d" xsi:nil="true"/>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B80039-BDE9-4D8D-86A9-6166091E27F4}">
  <ds:schemaRefs>
    <ds:schemaRef ds:uri="http://schemas.microsoft.com/sharepoint/v3/contenttype/forms"/>
  </ds:schemaRefs>
</ds:datastoreItem>
</file>

<file path=customXml/itemProps2.xml><?xml version="1.0" encoding="utf-8"?>
<ds:datastoreItem xmlns:ds="http://schemas.openxmlformats.org/officeDocument/2006/customXml" ds:itemID="{0AB1E906-DDF9-4A3D-94EC-712787EFD874}">
  <ds:schemaRefs>
    <ds:schemaRef ds:uri="http://schemas.microsoft.com/office/2006/metadata/properties"/>
    <ds:schemaRef ds:uri="http://schemas.microsoft.com/office/infopath/2007/PartnerControls"/>
    <ds:schemaRef ds:uri="eb3a237d-4129-4a2a-8fb3-b20be8ca4bd3"/>
    <ds:schemaRef ds:uri="f698bbf4-22fc-464f-b3bf-42aa93b7dda6"/>
    <ds:schemaRef ds:uri="94b33151-80fa-4b06-b3dc-d54c842f0d2a"/>
  </ds:schemaRefs>
</ds:datastoreItem>
</file>

<file path=customXml/itemProps3.xml><?xml version="1.0" encoding="utf-8"?>
<ds:datastoreItem xmlns:ds="http://schemas.openxmlformats.org/officeDocument/2006/customXml" ds:itemID="{6B7BC75A-0E07-4552-9D41-DD86484B5167}"/>
</file>

<file path=docProps/app.xml><?xml version="1.0" encoding="utf-8"?>
<Properties xmlns="http://schemas.openxmlformats.org/officeDocument/2006/extended-properties" xmlns:vt="http://schemas.openxmlformats.org/officeDocument/2006/docPropsVTypes">
  <Template>VMware_white_16x9</Template>
  <TotalTime>0</TotalTime>
  <Words>4993</Words>
  <Application>Microsoft Macintosh PowerPoint</Application>
  <PresentationFormat>Custom</PresentationFormat>
  <Paragraphs>612</Paragraphs>
  <Slides>38</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Arial</vt:lpstr>
      <vt:lpstr>Camphor Std</vt:lpstr>
      <vt:lpstr>Google Sans</vt:lpstr>
      <vt:lpstr>Helvetica Neue</vt:lpstr>
      <vt:lpstr>Metropolis</vt:lpstr>
      <vt:lpstr>Metropolis Light</vt:lpstr>
      <vt:lpstr>Metropolis-Regular</vt:lpstr>
      <vt:lpstr>Open Sans</vt:lpstr>
      <vt:lpstr>System Font Regular</vt:lpstr>
      <vt:lpstr>1_VMware_white_16x9</vt:lpstr>
      <vt:lpstr>VMware Pro Cloud Services for Private Cloud</vt:lpstr>
      <vt:lpstr>PowerPoint Presentation</vt:lpstr>
      <vt:lpstr>VMware Pro Cloud Services</vt:lpstr>
      <vt:lpstr>VMware Pro Cloud Services</vt:lpstr>
      <vt:lpstr>A Standardized, Repeatable and Prescriptive Approach</vt:lpstr>
      <vt:lpstr>Delivered By a Team of Experts Spanning Diverse Functions</vt:lpstr>
      <vt:lpstr>General Terms and Definitions</vt:lpstr>
      <vt:lpstr>VMware Pro Cloud Services</vt:lpstr>
      <vt:lpstr>What is IaaS?</vt:lpstr>
      <vt:lpstr>Running IaaS on VMware</vt:lpstr>
      <vt:lpstr>What is a Conceptual Design?</vt:lpstr>
      <vt:lpstr>VMware Pro Cloud Services for Private Cloud</vt:lpstr>
      <vt:lpstr>IaaS Conceptual Design</vt:lpstr>
      <vt:lpstr>VMware Pro Cloud Services for Private Cloud</vt:lpstr>
      <vt:lpstr>What is a Logical Design?</vt:lpstr>
      <vt:lpstr>Private Cloud Logical Role Design</vt:lpstr>
      <vt:lpstr>Private Cloud Logical Role Design</vt:lpstr>
      <vt:lpstr>Private Cloud Logical Role Design for SDN</vt:lpstr>
      <vt:lpstr>Private Cloud Assembly Logical Role Design</vt:lpstr>
      <vt:lpstr>VMware Pro Cloud Services for Private Cloud</vt:lpstr>
      <vt:lpstr>Scale-Aligned Implementation(s)</vt:lpstr>
      <vt:lpstr>PowerPoint Presentation</vt:lpstr>
      <vt:lpstr>Workload Domain and Cluster Topologies</vt:lpstr>
      <vt:lpstr>Remote Site Topologies</vt:lpstr>
      <vt:lpstr>VCF Design</vt:lpstr>
      <vt:lpstr>VCF Design</vt:lpstr>
      <vt:lpstr>VCF Design</vt:lpstr>
      <vt:lpstr>VMware Pro Cloud Services for Private Cloud Infrastructure</vt:lpstr>
      <vt:lpstr>Private Cloud – VCF Automation</vt:lpstr>
      <vt:lpstr>Private Cloud – VCF Automation (2)</vt:lpstr>
      <vt:lpstr>Private Cloud – VCF Automation</vt:lpstr>
      <vt:lpstr>Private Cloud – VCF Automation</vt:lpstr>
      <vt:lpstr>Private Cloud – VCF Automation</vt:lpstr>
      <vt:lpstr>Private Cloud – VCF Automation</vt:lpstr>
      <vt:lpstr>Private Cloud – VCF Automation</vt:lpstr>
      <vt:lpstr>VMware Pro Cloud Services for Private Cloud</vt:lpstr>
      <vt:lpstr>Private Cloud Infrastructure – VCF Operations for Networks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2019-03-26T18:26:35Z</dcterms:created>
  <dcterms:modified xsi:type="dcterms:W3CDTF">2025-10-07T15:17:48Z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VMW Product">
    <vt:lpwstr/>
  </property>
  <property fmtid="{D5CDD505-2E9C-101B-9397-08002B2CF9AE}" pid="4" name="Association">
    <vt:lpwstr>229;#ALL|9c44ab2d-3a43-467f-830a-d5560c6fd4a6</vt:lpwstr>
  </property>
</Properties>
</file>